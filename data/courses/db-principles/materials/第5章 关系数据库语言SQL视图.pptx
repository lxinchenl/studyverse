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sldIdLst>
    <p:sldId id="495" r:id="rId2"/>
    <p:sldId id="496" r:id="rId3"/>
    <p:sldId id="471" r:id="rId4"/>
    <p:sldId id="361" r:id="rId5"/>
    <p:sldId id="362" r:id="rId6"/>
    <p:sldId id="363" r:id="rId7"/>
    <p:sldId id="457" r:id="rId8"/>
    <p:sldId id="365" r:id="rId9"/>
    <p:sldId id="462" r:id="rId10"/>
    <p:sldId id="364" r:id="rId11"/>
    <p:sldId id="367" r:id="rId12"/>
    <p:sldId id="368" r:id="rId13"/>
    <p:sldId id="369" r:id="rId14"/>
    <p:sldId id="472" r:id="rId15"/>
    <p:sldId id="370" r:id="rId16"/>
    <p:sldId id="371" r:id="rId17"/>
    <p:sldId id="372" r:id="rId18"/>
    <p:sldId id="373" r:id="rId19"/>
    <p:sldId id="374" r:id="rId20"/>
    <p:sldId id="375" r:id="rId21"/>
    <p:sldId id="376" r:id="rId22"/>
  </p:sldIdLst>
  <p:sldSz cx="9144000" cy="6858000" type="screen4x3"/>
  <p:notesSz cx="6858000" cy="9144000"/>
  <p:defaultTextStyle>
    <a:defPPr>
      <a:defRPr lang="zh-CN"/>
    </a:defPPr>
    <a:lvl1pPr algn="l" rtl="0" fontAlgn="base">
      <a:spcBef>
        <a:spcPct val="20000"/>
      </a:spcBef>
      <a:spcAft>
        <a:spcPct val="0"/>
      </a:spcAft>
      <a:buSzPct val="100000"/>
      <a:buFont typeface="Wingdings" panose="05000000000000000000" pitchFamily="2" charset="2"/>
      <a:buChar char="•"/>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20000"/>
      </a:spcBef>
      <a:spcAft>
        <a:spcPct val="0"/>
      </a:spcAft>
      <a:buSzPct val="100000"/>
      <a:buFont typeface="Wingdings" panose="05000000000000000000" pitchFamily="2" charset="2"/>
      <a:buChar char="•"/>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20000"/>
      </a:spcBef>
      <a:spcAft>
        <a:spcPct val="0"/>
      </a:spcAft>
      <a:buSzPct val="100000"/>
      <a:buFont typeface="Wingdings" panose="05000000000000000000" pitchFamily="2" charset="2"/>
      <a:buChar char="•"/>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20000"/>
      </a:spcBef>
      <a:spcAft>
        <a:spcPct val="0"/>
      </a:spcAft>
      <a:buSzPct val="100000"/>
      <a:buFont typeface="Wingdings" panose="05000000000000000000" pitchFamily="2" charset="2"/>
      <a:buChar char="•"/>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20000"/>
      </a:spcBef>
      <a:spcAft>
        <a:spcPct val="0"/>
      </a:spcAft>
      <a:buSzPct val="100000"/>
      <a:buFont typeface="Wingdings" panose="05000000000000000000" pitchFamily="2" charset="2"/>
      <a:buChar char="•"/>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66"/>
    <a:srgbClr val="660033"/>
    <a:srgbClr val="003300"/>
    <a:srgbClr val="0066CC"/>
    <a:srgbClr val="000066"/>
    <a:srgbClr val="003366"/>
    <a:srgbClr val="006699"/>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62" autoAdjust="0"/>
    <p:restoredTop sz="94660"/>
  </p:normalViewPr>
  <p:slideViewPr>
    <p:cSldViewPr>
      <p:cViewPr varScale="1">
        <p:scale>
          <a:sx n="125" d="100"/>
          <a:sy n="125" d="100"/>
        </p:scale>
        <p:origin x="1668"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45442" name="Group 2">
            <a:extLst>
              <a:ext uri="{FF2B5EF4-FFF2-40B4-BE49-F238E27FC236}">
                <a16:creationId xmlns:a16="http://schemas.microsoft.com/office/drawing/2014/main" id="{7BDD3404-FB1A-46CE-AC34-7771ACA680F4}"/>
              </a:ext>
            </a:extLst>
          </p:cNvPr>
          <p:cNvGrpSpPr>
            <a:grpSpLocks/>
          </p:cNvGrpSpPr>
          <p:nvPr/>
        </p:nvGrpSpPr>
        <p:grpSpPr bwMode="auto">
          <a:xfrm>
            <a:off x="0" y="1819275"/>
            <a:ext cx="9009063" cy="1052513"/>
            <a:chOff x="0" y="1536"/>
            <a:chExt cx="5675" cy="663"/>
          </a:xfrm>
        </p:grpSpPr>
        <p:grpSp>
          <p:nvGrpSpPr>
            <p:cNvPr id="445443" name="Group 3">
              <a:extLst>
                <a:ext uri="{FF2B5EF4-FFF2-40B4-BE49-F238E27FC236}">
                  <a16:creationId xmlns:a16="http://schemas.microsoft.com/office/drawing/2014/main" id="{A223B7BE-79F6-4FDC-A0C3-571688F69D2A}"/>
                </a:ext>
              </a:extLst>
            </p:cNvPr>
            <p:cNvGrpSpPr>
              <a:grpSpLocks/>
            </p:cNvGrpSpPr>
            <p:nvPr/>
          </p:nvGrpSpPr>
          <p:grpSpPr bwMode="auto">
            <a:xfrm>
              <a:off x="183" y="1604"/>
              <a:ext cx="448" cy="299"/>
              <a:chOff x="720" y="336"/>
              <a:chExt cx="624" cy="432"/>
            </a:xfrm>
          </p:grpSpPr>
          <p:sp>
            <p:nvSpPr>
              <p:cNvPr id="445444" name="Rectangle 4">
                <a:extLst>
                  <a:ext uri="{FF2B5EF4-FFF2-40B4-BE49-F238E27FC236}">
                    <a16:creationId xmlns:a16="http://schemas.microsoft.com/office/drawing/2014/main" id="{848B69F3-CCFD-4127-9F42-DFE7E7E8D37D}"/>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5445" name="Rectangle 5">
                <a:extLst>
                  <a:ext uri="{FF2B5EF4-FFF2-40B4-BE49-F238E27FC236}">
                    <a16:creationId xmlns:a16="http://schemas.microsoft.com/office/drawing/2014/main" id="{6375EA52-C8D5-4E98-A521-5BA13AD74F87}"/>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45446" name="Group 6">
              <a:extLst>
                <a:ext uri="{FF2B5EF4-FFF2-40B4-BE49-F238E27FC236}">
                  <a16:creationId xmlns:a16="http://schemas.microsoft.com/office/drawing/2014/main" id="{4DBC0907-ED72-419B-B95A-9B268B63EC53}"/>
                </a:ext>
              </a:extLst>
            </p:cNvPr>
            <p:cNvGrpSpPr>
              <a:grpSpLocks/>
            </p:cNvGrpSpPr>
            <p:nvPr/>
          </p:nvGrpSpPr>
          <p:grpSpPr bwMode="auto">
            <a:xfrm>
              <a:off x="261" y="1870"/>
              <a:ext cx="465" cy="299"/>
              <a:chOff x="912" y="2640"/>
              <a:chExt cx="672" cy="432"/>
            </a:xfrm>
          </p:grpSpPr>
          <p:sp>
            <p:nvSpPr>
              <p:cNvPr id="445447" name="Rectangle 7">
                <a:extLst>
                  <a:ext uri="{FF2B5EF4-FFF2-40B4-BE49-F238E27FC236}">
                    <a16:creationId xmlns:a16="http://schemas.microsoft.com/office/drawing/2014/main" id="{1DAC6B63-A731-465E-BAD2-460974E6D23C}"/>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5448" name="Rectangle 8">
                <a:extLst>
                  <a:ext uri="{FF2B5EF4-FFF2-40B4-BE49-F238E27FC236}">
                    <a16:creationId xmlns:a16="http://schemas.microsoft.com/office/drawing/2014/main" id="{107AD833-69BB-4777-B28F-3C394974DEFE}"/>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45449" name="Rectangle 9">
              <a:extLst>
                <a:ext uri="{FF2B5EF4-FFF2-40B4-BE49-F238E27FC236}">
                  <a16:creationId xmlns:a16="http://schemas.microsoft.com/office/drawing/2014/main" id="{73201F48-2F54-467D-A11F-DA1D6BCC0D87}"/>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5450" name="Rectangle 10">
              <a:extLst>
                <a:ext uri="{FF2B5EF4-FFF2-40B4-BE49-F238E27FC236}">
                  <a16:creationId xmlns:a16="http://schemas.microsoft.com/office/drawing/2014/main" id="{9C9238AE-E1B2-44EA-9375-0A714F3FD15F}"/>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5451" name="Rectangle 11">
              <a:extLst>
                <a:ext uri="{FF2B5EF4-FFF2-40B4-BE49-F238E27FC236}">
                  <a16:creationId xmlns:a16="http://schemas.microsoft.com/office/drawing/2014/main" id="{E078B1FE-BC18-4283-A78F-94D6D1344C06}"/>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45452" name="Rectangle 12">
            <a:extLst>
              <a:ext uri="{FF2B5EF4-FFF2-40B4-BE49-F238E27FC236}">
                <a16:creationId xmlns:a16="http://schemas.microsoft.com/office/drawing/2014/main" id="{4A20AFCE-E41F-45D0-8BAC-37719EDBB5C6}"/>
              </a:ext>
            </a:extLst>
          </p:cNvPr>
          <p:cNvSpPr>
            <a:spLocks noGrp="1" noChangeArrowheads="1"/>
          </p:cNvSpPr>
          <p:nvPr>
            <p:ph type="ctrTitle"/>
          </p:nvPr>
        </p:nvSpPr>
        <p:spPr>
          <a:xfrm>
            <a:off x="827088" y="1268413"/>
            <a:ext cx="8137525" cy="1462087"/>
          </a:xfrm>
        </p:spPr>
        <p:txBody>
          <a:bodyPr/>
          <a:lstStyle>
            <a:lvl1pPr algn="ctr">
              <a:defRPr sz="4800">
                <a:ea typeface="隶书" panose="02010509060101010101" pitchFamily="49" charset="-122"/>
              </a:defRPr>
            </a:lvl1pPr>
          </a:lstStyle>
          <a:p>
            <a:pPr lvl="0"/>
            <a:r>
              <a:rPr lang="zh-CN" altLang="en-US" noProof="0"/>
              <a:t>单击此处编辑母版标题样式</a:t>
            </a:r>
          </a:p>
        </p:txBody>
      </p:sp>
      <p:sp>
        <p:nvSpPr>
          <p:cNvPr id="445453" name="Rectangle 13">
            <a:extLst>
              <a:ext uri="{FF2B5EF4-FFF2-40B4-BE49-F238E27FC236}">
                <a16:creationId xmlns:a16="http://schemas.microsoft.com/office/drawing/2014/main" id="{31D36F34-872B-487C-B4A5-91FFD003D383}"/>
              </a:ext>
            </a:extLst>
          </p:cNvPr>
          <p:cNvSpPr>
            <a:spLocks noGrp="1" noChangeArrowheads="1"/>
          </p:cNvSpPr>
          <p:nvPr>
            <p:ph type="subTitle" idx="1"/>
          </p:nvPr>
        </p:nvSpPr>
        <p:spPr>
          <a:xfrm>
            <a:off x="1371600" y="3886200"/>
            <a:ext cx="6400800" cy="1752600"/>
          </a:xfrm>
        </p:spPr>
        <p:txBody>
          <a:bodyPr/>
          <a:lstStyle>
            <a:lvl1pPr marL="0" indent="0" algn="ctr">
              <a:defRPr/>
            </a:lvl1pPr>
          </a:lstStyle>
          <a:p>
            <a:pPr lvl="0"/>
            <a:r>
              <a:rPr lang="zh-CN" altLang="en-US" noProof="0"/>
              <a:t>单击此处编辑母版副标题样式</a:t>
            </a:r>
          </a:p>
        </p:txBody>
      </p:sp>
      <p:sp>
        <p:nvSpPr>
          <p:cNvPr id="445454" name="Rectangle 14">
            <a:extLst>
              <a:ext uri="{FF2B5EF4-FFF2-40B4-BE49-F238E27FC236}">
                <a16:creationId xmlns:a16="http://schemas.microsoft.com/office/drawing/2014/main" id="{8733B0AA-6ED1-4B82-8DF1-970D7EB25ACF}"/>
              </a:ext>
            </a:extLst>
          </p:cNvPr>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endParaRPr lang="en-US" altLang="zh-CN"/>
          </a:p>
        </p:txBody>
      </p:sp>
      <p:sp>
        <p:nvSpPr>
          <p:cNvPr id="445455" name="Rectangle 15">
            <a:extLst>
              <a:ext uri="{FF2B5EF4-FFF2-40B4-BE49-F238E27FC236}">
                <a16:creationId xmlns:a16="http://schemas.microsoft.com/office/drawing/2014/main" id="{DE25A244-CBB3-480C-960C-04C547C5549A}"/>
              </a:ext>
            </a:extLst>
          </p:cNvPr>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endParaRPr lang="en-US" altLang="zh-CN"/>
          </a:p>
        </p:txBody>
      </p:sp>
      <p:sp>
        <p:nvSpPr>
          <p:cNvPr id="445456" name="Rectangle 16">
            <a:extLst>
              <a:ext uri="{FF2B5EF4-FFF2-40B4-BE49-F238E27FC236}">
                <a16:creationId xmlns:a16="http://schemas.microsoft.com/office/drawing/2014/main" id="{3FD78D4A-8E85-4B03-B891-8B9A7FFA6AF6}"/>
              </a:ext>
            </a:extLst>
          </p:cNvPr>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endParaRPr lang="zh-CN"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445452"/>
                                        </p:tgtEl>
                                        <p:attrNameLst>
                                          <p:attrName>style.visibility</p:attrName>
                                        </p:attrNameLst>
                                      </p:cBhvr>
                                      <p:to>
                                        <p:strVal val="visible"/>
                                      </p:to>
                                    </p:set>
                                    <p:animEffect transition="in" filter="plus(in)">
                                      <p:cBhvr>
                                        <p:cTn id="7" dur="1000"/>
                                        <p:tgtEl>
                                          <p:spTgt spid="445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452"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10783-C448-4C43-B4AF-0FAF49AA1E1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9E0EAFE-490B-460F-B8F7-76E6C401729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ED8EC78-3CD2-413C-9DEA-8DF82B63886D}"/>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56014873-60D5-4002-B4D4-5201AB3D9743}"/>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33E8127D-A6E2-4A9B-8D92-AF396C7A2E81}"/>
              </a:ext>
            </a:extLst>
          </p:cNvPr>
          <p:cNvSpPr>
            <a:spLocks noGrp="1"/>
          </p:cNvSpPr>
          <p:nvPr>
            <p:ph type="sldNum" sz="quarter" idx="12"/>
          </p:nvPr>
        </p:nvSpPr>
        <p:spPr/>
        <p:txBody>
          <a:bodyPr/>
          <a:lstStyle>
            <a:lvl1pPr>
              <a:defRPr/>
            </a:lvl1pPr>
          </a:lstStyle>
          <a:p>
            <a:endParaRPr lang="zh-CN" altLang="zh-CN"/>
          </a:p>
        </p:txBody>
      </p:sp>
    </p:spTree>
    <p:extLst>
      <p:ext uri="{BB962C8B-B14F-4D97-AF65-F5344CB8AC3E}">
        <p14:creationId xmlns:p14="http://schemas.microsoft.com/office/powerpoint/2010/main" val="17119062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5E4F28-8696-4D65-9396-489808742243}"/>
              </a:ext>
            </a:extLst>
          </p:cNvPr>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DA301F2-349B-47B8-A651-1E9CF2CBC1C7}"/>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5A61BB2-DF81-4992-8F72-95ADCCDC8DC4}"/>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875555C4-EE4D-4999-8E57-CADDC143066E}"/>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12BA0F78-F19D-4A10-BA6C-1EE8046237B3}"/>
              </a:ext>
            </a:extLst>
          </p:cNvPr>
          <p:cNvSpPr>
            <a:spLocks noGrp="1"/>
          </p:cNvSpPr>
          <p:nvPr>
            <p:ph type="sldNum" sz="quarter" idx="12"/>
          </p:nvPr>
        </p:nvSpPr>
        <p:spPr/>
        <p:txBody>
          <a:bodyPr/>
          <a:lstStyle>
            <a:lvl1pPr>
              <a:defRPr/>
            </a:lvl1pPr>
          </a:lstStyle>
          <a:p>
            <a:endParaRPr lang="zh-CN" altLang="zh-CN"/>
          </a:p>
        </p:txBody>
      </p:sp>
    </p:spTree>
    <p:extLst>
      <p:ext uri="{BB962C8B-B14F-4D97-AF65-F5344CB8AC3E}">
        <p14:creationId xmlns:p14="http://schemas.microsoft.com/office/powerpoint/2010/main" val="3117823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485DB2-ABFA-4238-9369-421B5D55B15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44B7DB4-2ED4-4B08-846D-9EA8A37A2D7A}"/>
              </a:ext>
            </a:extLst>
          </p:cNvPr>
          <p:cNvSpPr>
            <a:spLocks noGrp="1"/>
          </p:cNvSpPr>
          <p:nvPr>
            <p:ph sz="half" idx="1"/>
          </p:nvPr>
        </p:nvSpPr>
        <p:spPr>
          <a:xfrm>
            <a:off x="611188" y="1258888"/>
            <a:ext cx="3919537" cy="53387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03106DE-EBA1-4A31-885A-21C54A280391}"/>
              </a:ext>
            </a:extLst>
          </p:cNvPr>
          <p:cNvSpPr>
            <a:spLocks noGrp="1"/>
          </p:cNvSpPr>
          <p:nvPr>
            <p:ph sz="half" idx="2"/>
          </p:nvPr>
        </p:nvSpPr>
        <p:spPr>
          <a:xfrm>
            <a:off x="4683125" y="1258888"/>
            <a:ext cx="3921125" cy="53387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945C432-B4F9-4982-9B2B-ECA00A65DDEF}"/>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F66B6300-B260-432A-84D7-9ED5E8DACFFE}"/>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915626D7-6D2D-4D57-B164-CC7D97F975C4}"/>
              </a:ext>
            </a:extLst>
          </p:cNvPr>
          <p:cNvSpPr>
            <a:spLocks noGrp="1"/>
          </p:cNvSpPr>
          <p:nvPr>
            <p:ph type="sldNum" sz="quarter" idx="12"/>
          </p:nvPr>
        </p:nvSpPr>
        <p:spPr/>
        <p:txBody>
          <a:bodyPr/>
          <a:lstStyle>
            <a:lvl1pPr>
              <a:defRPr/>
            </a:lvl1pPr>
          </a:lstStyle>
          <a:p>
            <a:endParaRPr lang="zh-CN" altLang="zh-CN"/>
          </a:p>
        </p:txBody>
      </p:sp>
    </p:spTree>
    <p:extLst>
      <p:ext uri="{BB962C8B-B14F-4D97-AF65-F5344CB8AC3E}">
        <p14:creationId xmlns:p14="http://schemas.microsoft.com/office/powerpoint/2010/main" val="1030149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F8BB80-14C8-4528-95BE-3A2FCB97E8B8}"/>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248BDB0-ADAB-40E8-82ED-6D1F658205A2}"/>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DFD50FB-7511-40FB-8386-A979DAC6554B}"/>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3550DD1-35D9-4C1D-BF52-15548149553A}"/>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1212797-7B75-43FD-A930-B0A0A846677A}"/>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4943F1A-5D6D-4496-8590-074691FAF5E3}"/>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AF890ADB-A872-4793-A132-29EBB65C0237}"/>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F34AC465-9527-4436-B315-67738E8D3AA4}"/>
              </a:ext>
            </a:extLst>
          </p:cNvPr>
          <p:cNvSpPr>
            <a:spLocks noGrp="1"/>
          </p:cNvSpPr>
          <p:nvPr>
            <p:ph type="sldNum" sz="quarter" idx="12"/>
          </p:nvPr>
        </p:nvSpPr>
        <p:spPr/>
        <p:txBody>
          <a:bodyPr/>
          <a:lstStyle>
            <a:lvl1pPr>
              <a:defRPr/>
            </a:lvl1pPr>
          </a:lstStyle>
          <a:p>
            <a:endParaRPr lang="zh-CN" altLang="zh-CN"/>
          </a:p>
        </p:txBody>
      </p:sp>
    </p:spTree>
    <p:extLst>
      <p:ext uri="{BB962C8B-B14F-4D97-AF65-F5344CB8AC3E}">
        <p14:creationId xmlns:p14="http://schemas.microsoft.com/office/powerpoint/2010/main" val="77800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3B8384-47A7-4D96-92D2-AEED1BE84D1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37B2B6A-0C9A-43BF-A9B3-C06158D8854C}"/>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9682C467-3358-4D5F-B4C0-B94D61AC00A3}"/>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31B34236-4F85-454E-93A9-39696C9F42F5}"/>
              </a:ext>
            </a:extLst>
          </p:cNvPr>
          <p:cNvSpPr>
            <a:spLocks noGrp="1"/>
          </p:cNvSpPr>
          <p:nvPr>
            <p:ph type="sldNum" sz="quarter" idx="12"/>
          </p:nvPr>
        </p:nvSpPr>
        <p:spPr/>
        <p:txBody>
          <a:bodyPr/>
          <a:lstStyle>
            <a:lvl1pPr>
              <a:defRPr/>
            </a:lvl1pPr>
          </a:lstStyle>
          <a:p>
            <a:endParaRPr lang="zh-CN" altLang="zh-CN"/>
          </a:p>
        </p:txBody>
      </p:sp>
    </p:spTree>
    <p:extLst>
      <p:ext uri="{BB962C8B-B14F-4D97-AF65-F5344CB8AC3E}">
        <p14:creationId xmlns:p14="http://schemas.microsoft.com/office/powerpoint/2010/main" val="2567377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A03BD73-AB30-486E-A240-C893C14A0840}"/>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3E6381A6-CA2E-41D6-8147-54FA1441AA7A}"/>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F425290B-4CA6-4A2C-BC06-5AA4BAB0235E}"/>
              </a:ext>
            </a:extLst>
          </p:cNvPr>
          <p:cNvSpPr>
            <a:spLocks noGrp="1"/>
          </p:cNvSpPr>
          <p:nvPr>
            <p:ph type="sldNum" sz="quarter" idx="12"/>
          </p:nvPr>
        </p:nvSpPr>
        <p:spPr/>
        <p:txBody>
          <a:bodyPr/>
          <a:lstStyle>
            <a:lvl1pPr>
              <a:defRPr/>
            </a:lvl1pPr>
          </a:lstStyle>
          <a:p>
            <a:endParaRPr lang="zh-CN" altLang="zh-CN"/>
          </a:p>
        </p:txBody>
      </p:sp>
    </p:spTree>
    <p:extLst>
      <p:ext uri="{BB962C8B-B14F-4D97-AF65-F5344CB8AC3E}">
        <p14:creationId xmlns:p14="http://schemas.microsoft.com/office/powerpoint/2010/main" val="2586673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6C6165-97AC-4B65-ADBE-CC0E996C76D0}"/>
              </a:ext>
            </a:extLst>
          </p:cNvPr>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0CBF285-E4A1-44D1-A7B7-66EA802789C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ED0F19D9-A6E8-4425-BEF3-104A002C114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65255B4-F177-4047-A769-F332B56F47FE}"/>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C9821565-9EA0-4B04-9EF3-B70AEFD5EBD4}"/>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9FB1C9B7-F45B-4E67-8D8B-29F9428FFDA5}"/>
              </a:ext>
            </a:extLst>
          </p:cNvPr>
          <p:cNvSpPr>
            <a:spLocks noGrp="1"/>
          </p:cNvSpPr>
          <p:nvPr>
            <p:ph type="sldNum" sz="quarter" idx="12"/>
          </p:nvPr>
        </p:nvSpPr>
        <p:spPr/>
        <p:txBody>
          <a:bodyPr/>
          <a:lstStyle>
            <a:lvl1pPr>
              <a:defRPr/>
            </a:lvl1pPr>
          </a:lstStyle>
          <a:p>
            <a:endParaRPr lang="zh-CN" altLang="zh-CN"/>
          </a:p>
        </p:txBody>
      </p:sp>
    </p:spTree>
    <p:extLst>
      <p:ext uri="{BB962C8B-B14F-4D97-AF65-F5344CB8AC3E}">
        <p14:creationId xmlns:p14="http://schemas.microsoft.com/office/powerpoint/2010/main" val="1878412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62668C-2D25-4BA6-9717-3C1DB46E93FE}"/>
              </a:ext>
            </a:extLst>
          </p:cNvPr>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C6420DA-2E2E-49D0-B3F1-35BD0D177704}"/>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1873715-518D-4365-AB52-E5FAE516D6C3}"/>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5ED5888-1F5C-4495-BF38-0591A0252627}"/>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1C8765D8-BC9D-48C6-AC76-A7EF896D64FC}"/>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1E1E959B-5FD8-4BD7-A96D-1384E98D8C91}"/>
              </a:ext>
            </a:extLst>
          </p:cNvPr>
          <p:cNvSpPr>
            <a:spLocks noGrp="1"/>
          </p:cNvSpPr>
          <p:nvPr>
            <p:ph type="sldNum" sz="quarter" idx="12"/>
          </p:nvPr>
        </p:nvSpPr>
        <p:spPr/>
        <p:txBody>
          <a:bodyPr/>
          <a:lstStyle>
            <a:lvl1pPr>
              <a:defRPr/>
            </a:lvl1pPr>
          </a:lstStyle>
          <a:p>
            <a:endParaRPr lang="zh-CN" altLang="zh-CN"/>
          </a:p>
        </p:txBody>
      </p:sp>
    </p:spTree>
    <p:extLst>
      <p:ext uri="{BB962C8B-B14F-4D97-AF65-F5344CB8AC3E}">
        <p14:creationId xmlns:p14="http://schemas.microsoft.com/office/powerpoint/2010/main" val="2332884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1005D0-21F3-451E-9D29-2BDC5602545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C5ACBAD-C1C7-4C9B-A511-893CA1FBAC9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44BC679-9E0C-42A8-9949-BE7BB9FD183A}"/>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8C4BEEEC-8F81-4B87-89DD-D93D6E34F3ED}"/>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E4F1DE9A-0E9D-4804-B4EA-1B74F58579E8}"/>
              </a:ext>
            </a:extLst>
          </p:cNvPr>
          <p:cNvSpPr>
            <a:spLocks noGrp="1"/>
          </p:cNvSpPr>
          <p:nvPr>
            <p:ph type="sldNum" sz="quarter" idx="12"/>
          </p:nvPr>
        </p:nvSpPr>
        <p:spPr/>
        <p:txBody>
          <a:bodyPr/>
          <a:lstStyle>
            <a:lvl1pPr>
              <a:defRPr/>
            </a:lvl1pPr>
          </a:lstStyle>
          <a:p>
            <a:endParaRPr lang="zh-CN" altLang="zh-CN"/>
          </a:p>
        </p:txBody>
      </p:sp>
    </p:spTree>
    <p:extLst>
      <p:ext uri="{BB962C8B-B14F-4D97-AF65-F5344CB8AC3E}">
        <p14:creationId xmlns:p14="http://schemas.microsoft.com/office/powerpoint/2010/main" val="2223880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77AA4CF-5DF5-4A90-8619-0EA0BB87EF71}"/>
              </a:ext>
            </a:extLst>
          </p:cNvPr>
          <p:cNvSpPr>
            <a:spLocks noGrp="1"/>
          </p:cNvSpPr>
          <p:nvPr>
            <p:ph type="title" orient="vert"/>
          </p:nvPr>
        </p:nvSpPr>
        <p:spPr>
          <a:xfrm>
            <a:off x="6861175" y="214313"/>
            <a:ext cx="2082800" cy="6383337"/>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BD16632-8F96-45A7-B600-51C26D6C5423}"/>
              </a:ext>
            </a:extLst>
          </p:cNvPr>
          <p:cNvSpPr>
            <a:spLocks noGrp="1"/>
          </p:cNvSpPr>
          <p:nvPr>
            <p:ph type="body" orient="vert" idx="1"/>
          </p:nvPr>
        </p:nvSpPr>
        <p:spPr>
          <a:xfrm>
            <a:off x="611188" y="214313"/>
            <a:ext cx="6097587" cy="638333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7826337-4565-425B-9F27-6E417519E8C7}"/>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E92CDDD7-E22D-46CA-95EE-72B078D2F82B}"/>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C3AA77C0-AA68-4759-A0C2-9018152B0D9A}"/>
              </a:ext>
            </a:extLst>
          </p:cNvPr>
          <p:cNvSpPr>
            <a:spLocks noGrp="1"/>
          </p:cNvSpPr>
          <p:nvPr>
            <p:ph type="sldNum" sz="quarter" idx="12"/>
          </p:nvPr>
        </p:nvSpPr>
        <p:spPr/>
        <p:txBody>
          <a:bodyPr/>
          <a:lstStyle>
            <a:lvl1pPr>
              <a:defRPr/>
            </a:lvl1pPr>
          </a:lstStyle>
          <a:p>
            <a:endParaRPr lang="zh-CN" altLang="zh-CN"/>
          </a:p>
        </p:txBody>
      </p:sp>
    </p:spTree>
    <p:extLst>
      <p:ext uri="{BB962C8B-B14F-4D97-AF65-F5344CB8AC3E}">
        <p14:creationId xmlns:p14="http://schemas.microsoft.com/office/powerpoint/2010/main" val="3189313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44418" name="Rectangle 2">
            <a:extLst>
              <a:ext uri="{FF2B5EF4-FFF2-40B4-BE49-F238E27FC236}">
                <a16:creationId xmlns:a16="http://schemas.microsoft.com/office/drawing/2014/main" id="{10448FDF-8A94-49D8-801C-FD9F1DA46FD3}"/>
              </a:ext>
            </a:extLst>
          </p:cNvPr>
          <p:cNvSpPr>
            <a:spLocks noChangeArrowheads="1"/>
          </p:cNvSpPr>
          <p:nvPr/>
        </p:nvSpPr>
        <p:spPr bwMode="ltGray">
          <a:xfrm>
            <a:off x="417513" y="252413"/>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SzTx/>
              <a:buFontTx/>
              <a:buNone/>
            </a:pPr>
            <a:endParaRPr kumimoji="1" lang="zh-CN" altLang="zh-CN" sz="2400">
              <a:latin typeface="Tahoma" panose="020B0604030504040204" pitchFamily="34" charset="0"/>
            </a:endParaRPr>
          </a:p>
        </p:txBody>
      </p:sp>
      <p:sp>
        <p:nvSpPr>
          <p:cNvPr id="444419" name="Rectangle 3">
            <a:extLst>
              <a:ext uri="{FF2B5EF4-FFF2-40B4-BE49-F238E27FC236}">
                <a16:creationId xmlns:a16="http://schemas.microsoft.com/office/drawing/2014/main" id="{322C429C-25D7-4A1C-B5F9-E050277A64F6}"/>
              </a:ext>
            </a:extLst>
          </p:cNvPr>
          <p:cNvSpPr>
            <a:spLocks noChangeArrowheads="1"/>
          </p:cNvSpPr>
          <p:nvPr/>
        </p:nvSpPr>
        <p:spPr bwMode="ltGray">
          <a:xfrm>
            <a:off x="800100" y="252413"/>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SzTx/>
              <a:buFontTx/>
              <a:buNone/>
            </a:pPr>
            <a:endParaRPr kumimoji="1" lang="zh-CN" altLang="zh-CN" sz="2400">
              <a:latin typeface="Tahoma" panose="020B0604030504040204" pitchFamily="34" charset="0"/>
            </a:endParaRPr>
          </a:p>
        </p:txBody>
      </p:sp>
      <p:sp>
        <p:nvSpPr>
          <p:cNvPr id="444420" name="Rectangle 4">
            <a:extLst>
              <a:ext uri="{FF2B5EF4-FFF2-40B4-BE49-F238E27FC236}">
                <a16:creationId xmlns:a16="http://schemas.microsoft.com/office/drawing/2014/main" id="{B8E120BC-C900-4663-9220-E91236F17E48}"/>
              </a:ext>
            </a:extLst>
          </p:cNvPr>
          <p:cNvSpPr>
            <a:spLocks noChangeArrowheads="1"/>
          </p:cNvSpPr>
          <p:nvPr/>
        </p:nvSpPr>
        <p:spPr bwMode="ltGray">
          <a:xfrm>
            <a:off x="541338" y="674688"/>
            <a:ext cx="422275" cy="47466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SzTx/>
              <a:buFontTx/>
              <a:buNone/>
            </a:pPr>
            <a:endParaRPr kumimoji="1" lang="zh-CN" altLang="zh-CN" sz="2400">
              <a:latin typeface="Tahoma" panose="020B0604030504040204" pitchFamily="34" charset="0"/>
            </a:endParaRPr>
          </a:p>
        </p:txBody>
      </p:sp>
      <p:sp>
        <p:nvSpPr>
          <p:cNvPr id="444421" name="Rectangle 5">
            <a:extLst>
              <a:ext uri="{FF2B5EF4-FFF2-40B4-BE49-F238E27FC236}">
                <a16:creationId xmlns:a16="http://schemas.microsoft.com/office/drawing/2014/main" id="{80A01A8B-7CDF-424C-8600-6F86688D2E3D}"/>
              </a:ext>
            </a:extLst>
          </p:cNvPr>
          <p:cNvSpPr>
            <a:spLocks noChangeArrowheads="1"/>
          </p:cNvSpPr>
          <p:nvPr/>
        </p:nvSpPr>
        <p:spPr bwMode="ltGray">
          <a:xfrm>
            <a:off x="911225" y="674688"/>
            <a:ext cx="368300" cy="47466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SzTx/>
              <a:buFontTx/>
              <a:buNone/>
            </a:pPr>
            <a:endParaRPr kumimoji="1" lang="zh-CN" altLang="zh-CN" sz="2400">
              <a:latin typeface="Tahoma" panose="020B0604030504040204" pitchFamily="34" charset="0"/>
            </a:endParaRPr>
          </a:p>
        </p:txBody>
      </p:sp>
      <p:sp>
        <p:nvSpPr>
          <p:cNvPr id="444422" name="Rectangle 6">
            <a:extLst>
              <a:ext uri="{FF2B5EF4-FFF2-40B4-BE49-F238E27FC236}">
                <a16:creationId xmlns:a16="http://schemas.microsoft.com/office/drawing/2014/main" id="{7F5412B0-D682-4811-BA20-1BC3DCAD224D}"/>
              </a:ext>
            </a:extLst>
          </p:cNvPr>
          <p:cNvSpPr>
            <a:spLocks noChangeArrowheads="1"/>
          </p:cNvSpPr>
          <p:nvPr/>
        </p:nvSpPr>
        <p:spPr bwMode="ltGray">
          <a:xfrm>
            <a:off x="127000" y="601663"/>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SzTx/>
              <a:buFontTx/>
              <a:buNone/>
            </a:pPr>
            <a:endParaRPr kumimoji="1" lang="zh-CN" altLang="zh-CN" sz="2400">
              <a:latin typeface="Tahoma" panose="020B0604030504040204" pitchFamily="34" charset="0"/>
            </a:endParaRPr>
          </a:p>
        </p:txBody>
      </p:sp>
      <p:sp>
        <p:nvSpPr>
          <p:cNvPr id="444423" name="Rectangle 7">
            <a:extLst>
              <a:ext uri="{FF2B5EF4-FFF2-40B4-BE49-F238E27FC236}">
                <a16:creationId xmlns:a16="http://schemas.microsoft.com/office/drawing/2014/main" id="{D84C430A-4C6B-4D48-9A68-976F759C3C64}"/>
              </a:ext>
            </a:extLst>
          </p:cNvPr>
          <p:cNvSpPr>
            <a:spLocks noChangeArrowheads="1"/>
          </p:cNvSpPr>
          <p:nvPr/>
        </p:nvSpPr>
        <p:spPr bwMode="gray">
          <a:xfrm>
            <a:off x="762000" y="144463"/>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SzTx/>
              <a:buFontTx/>
              <a:buNone/>
            </a:pPr>
            <a:endParaRPr kumimoji="1" lang="zh-CN" altLang="zh-CN" sz="2400">
              <a:latin typeface="Tahoma" panose="020B0604030504040204" pitchFamily="34" charset="0"/>
            </a:endParaRPr>
          </a:p>
        </p:txBody>
      </p:sp>
      <p:sp>
        <p:nvSpPr>
          <p:cNvPr id="444424" name="Rectangle 8">
            <a:extLst>
              <a:ext uri="{FF2B5EF4-FFF2-40B4-BE49-F238E27FC236}">
                <a16:creationId xmlns:a16="http://schemas.microsoft.com/office/drawing/2014/main" id="{6FCDF61D-51B4-44E1-AD42-4F475FA66FF4}"/>
              </a:ext>
            </a:extLst>
          </p:cNvPr>
          <p:cNvSpPr>
            <a:spLocks noChangeArrowheads="1"/>
          </p:cNvSpPr>
          <p:nvPr/>
        </p:nvSpPr>
        <p:spPr bwMode="gray">
          <a:xfrm>
            <a:off x="442913" y="935038"/>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SzTx/>
              <a:buFontTx/>
              <a:buNone/>
            </a:pPr>
            <a:endParaRPr kumimoji="1" lang="zh-CN" altLang="zh-CN" sz="2400">
              <a:latin typeface="Tahoma" panose="020B0604030504040204" pitchFamily="34" charset="0"/>
            </a:endParaRPr>
          </a:p>
        </p:txBody>
      </p:sp>
      <p:sp>
        <p:nvSpPr>
          <p:cNvPr id="444425" name="Rectangle 9">
            <a:extLst>
              <a:ext uri="{FF2B5EF4-FFF2-40B4-BE49-F238E27FC236}">
                <a16:creationId xmlns:a16="http://schemas.microsoft.com/office/drawing/2014/main" id="{2F854101-8CAE-4DA1-971E-78A0106F7F3E}"/>
              </a:ext>
            </a:extLst>
          </p:cNvPr>
          <p:cNvSpPr>
            <a:spLocks noGrp="1" noChangeArrowheads="1"/>
          </p:cNvSpPr>
          <p:nvPr>
            <p:ph type="title"/>
          </p:nvPr>
        </p:nvSpPr>
        <p:spPr bwMode="auto">
          <a:xfrm>
            <a:off x="1150938" y="214313"/>
            <a:ext cx="7793037"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444426" name="Rectangle 10">
            <a:extLst>
              <a:ext uri="{FF2B5EF4-FFF2-40B4-BE49-F238E27FC236}">
                <a16:creationId xmlns:a16="http://schemas.microsoft.com/office/drawing/2014/main" id="{12A87269-D776-4578-AB3E-EE3E419B52F2}"/>
              </a:ext>
            </a:extLst>
          </p:cNvPr>
          <p:cNvSpPr>
            <a:spLocks noGrp="1" noChangeArrowheads="1"/>
          </p:cNvSpPr>
          <p:nvPr>
            <p:ph type="body" idx="1"/>
          </p:nvPr>
        </p:nvSpPr>
        <p:spPr bwMode="auto">
          <a:xfrm>
            <a:off x="611188" y="1258888"/>
            <a:ext cx="7993062" cy="533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44427" name="Rectangle 11">
            <a:extLst>
              <a:ext uri="{FF2B5EF4-FFF2-40B4-BE49-F238E27FC236}">
                <a16:creationId xmlns:a16="http://schemas.microsoft.com/office/drawing/2014/main" id="{2DBAB0F5-CA0D-4786-AB28-0A4B996F4141}"/>
              </a:ext>
            </a:extLst>
          </p:cNvPr>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SzTx/>
              <a:buFontTx/>
              <a:buNone/>
              <a:defRPr sz="1400">
                <a:latin typeface="+mn-lt"/>
              </a:defRPr>
            </a:lvl1pPr>
          </a:lstStyle>
          <a:p>
            <a:endParaRPr lang="en-US" altLang="zh-CN"/>
          </a:p>
        </p:txBody>
      </p:sp>
      <p:sp>
        <p:nvSpPr>
          <p:cNvPr id="444428" name="Rectangle 12">
            <a:extLst>
              <a:ext uri="{FF2B5EF4-FFF2-40B4-BE49-F238E27FC236}">
                <a16:creationId xmlns:a16="http://schemas.microsoft.com/office/drawing/2014/main" id="{FA4069AC-E93B-4C9F-92C9-47F6018E0A1A}"/>
              </a:ext>
            </a:extLst>
          </p:cNvPr>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spcBef>
                <a:spcPct val="0"/>
              </a:spcBef>
              <a:buSzTx/>
              <a:buFontTx/>
              <a:buNone/>
              <a:defRPr sz="1400">
                <a:latin typeface="+mn-lt"/>
              </a:defRPr>
            </a:lvl1pPr>
          </a:lstStyle>
          <a:p>
            <a:endParaRPr lang="en-US" altLang="zh-CN"/>
          </a:p>
        </p:txBody>
      </p:sp>
      <p:sp>
        <p:nvSpPr>
          <p:cNvPr id="444429" name="Rectangle 13">
            <a:extLst>
              <a:ext uri="{FF2B5EF4-FFF2-40B4-BE49-F238E27FC236}">
                <a16:creationId xmlns:a16="http://schemas.microsoft.com/office/drawing/2014/main" id="{B54C46A1-A754-4BCB-9BA7-38ECBE3A6826}"/>
              </a:ext>
            </a:extLst>
          </p:cNvPr>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SzTx/>
              <a:buFontTx/>
              <a:buNone/>
              <a:defRPr sz="1400">
                <a:latin typeface="+mn-lt"/>
              </a:defRPr>
            </a:lvl1pPr>
          </a:lstStyle>
          <a:p>
            <a:endParaRPr lang="zh-CN" altLang="zh-CN"/>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l" rtl="0" fontAlgn="base">
        <a:spcBef>
          <a:spcPct val="0"/>
        </a:spcBef>
        <a:spcAft>
          <a:spcPct val="0"/>
        </a:spcAft>
        <a:defRPr sz="3600" b="1" kern="1200">
          <a:solidFill>
            <a:schemeClr val="tx2"/>
          </a:solidFill>
          <a:effectLst>
            <a:outerShdw blurRad="38100" dist="38100" dir="2700000" algn="tl">
              <a:srgbClr val="C0C0C0"/>
            </a:outerShdw>
          </a:effectLst>
          <a:latin typeface="+mj-lt"/>
          <a:ea typeface="+mj-ea"/>
          <a:cs typeface="+mj-cs"/>
        </a:defRPr>
      </a:lvl1pPr>
      <a:lvl2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p:titleStyle>
    <p:bodyStyle>
      <a:lvl1pPr marL="342900" indent="-342900" algn="l" rtl="0" fontAlgn="base">
        <a:lnSpc>
          <a:spcPct val="120000"/>
        </a:lnSpc>
        <a:spcBef>
          <a:spcPct val="20000"/>
        </a:spcBef>
        <a:spcAft>
          <a:spcPct val="0"/>
        </a:spcAft>
        <a:buClr>
          <a:schemeClr val="folHlink"/>
        </a:buClr>
        <a:buSzPct val="60000"/>
        <a:buFont typeface="Wingdings" panose="05000000000000000000" pitchFamily="2" charset="2"/>
        <a:defRPr sz="2800" b="1"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lnSpc>
          <a:spcPct val="120000"/>
        </a:lnSpc>
        <a:spcBef>
          <a:spcPct val="20000"/>
        </a:spcBef>
        <a:spcAft>
          <a:spcPct val="0"/>
        </a:spcAft>
        <a:buClr>
          <a:schemeClr val="hlink"/>
        </a:buClr>
        <a:buSzPct val="55000"/>
        <a:buFont typeface="Wingdings" panose="05000000000000000000" pitchFamily="2" charset="2"/>
        <a:buChar char="n"/>
        <a:defRPr sz="2800" b="1"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lnSpc>
          <a:spcPct val="120000"/>
        </a:lnSpc>
        <a:spcBef>
          <a:spcPct val="20000"/>
        </a:spcBef>
        <a:spcAft>
          <a:spcPct val="0"/>
        </a:spcAft>
        <a:buClr>
          <a:schemeClr val="folHlink"/>
        </a:buClr>
        <a:buSzPct val="50000"/>
        <a:buFont typeface="Wingdings" panose="05000000000000000000" pitchFamily="2" charset="2"/>
        <a:buChar char="n"/>
        <a:defRPr sz="2400" b="1"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lnSpc>
          <a:spcPct val="120000"/>
        </a:lnSpc>
        <a:spcBef>
          <a:spcPct val="20000"/>
        </a:spcBef>
        <a:spcAft>
          <a:spcPct val="0"/>
        </a:spcAft>
        <a:buClr>
          <a:schemeClr val="accent2"/>
        </a:buClr>
        <a:buSzPct val="55000"/>
        <a:buFont typeface="Wingdings" panose="05000000000000000000" pitchFamily="2" charset="2"/>
        <a:buChar char="n"/>
        <a:defRPr sz="2000" b="1"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sz="2000" b="1"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3" name="Rectangle 3">
            <a:extLst>
              <a:ext uri="{FF2B5EF4-FFF2-40B4-BE49-F238E27FC236}">
                <a16:creationId xmlns:a16="http://schemas.microsoft.com/office/drawing/2014/main" id="{5453F2E9-CA64-41B6-AD98-8C75913F6132}"/>
              </a:ext>
            </a:extLst>
          </p:cNvPr>
          <p:cNvSpPr>
            <a:spLocks noGrp="1" noChangeArrowheads="1"/>
          </p:cNvSpPr>
          <p:nvPr>
            <p:ph type="ctrTitle"/>
          </p:nvPr>
        </p:nvSpPr>
        <p:spPr>
          <a:xfrm>
            <a:off x="684213" y="1219200"/>
            <a:ext cx="8137525" cy="1462088"/>
          </a:xfrm>
          <a:noFill/>
          <a:ln/>
        </p:spPr>
        <p:txBody>
          <a:bodyPr/>
          <a:lstStyle/>
          <a:p>
            <a:r>
              <a:rPr lang="zh-CN" altLang="en-US" sz="4400"/>
              <a:t>第</a:t>
            </a:r>
            <a:r>
              <a:rPr lang="en-US" altLang="zh-CN" sz="4400"/>
              <a:t>5</a:t>
            </a:r>
            <a:r>
              <a:rPr lang="zh-CN" altLang="en-US" sz="4400"/>
              <a:t>章 关系数据库语言</a:t>
            </a:r>
            <a:r>
              <a:rPr lang="en-US" altLang="zh-CN" sz="4400"/>
              <a:t>SQL</a:t>
            </a:r>
            <a:r>
              <a:rPr lang="en-US" altLang="zh-CN"/>
              <a:t> </a:t>
            </a:r>
          </a:p>
        </p:txBody>
      </p:sp>
      <p:sp>
        <p:nvSpPr>
          <p:cNvPr id="476164" name="Rectangle 4">
            <a:extLst>
              <a:ext uri="{FF2B5EF4-FFF2-40B4-BE49-F238E27FC236}">
                <a16:creationId xmlns:a16="http://schemas.microsoft.com/office/drawing/2014/main" id="{0F203B55-37E1-4ACF-B8B0-D8A1D1F8D726}"/>
              </a:ext>
            </a:extLst>
          </p:cNvPr>
          <p:cNvSpPr>
            <a:spLocks noChangeArrowheads="1"/>
          </p:cNvSpPr>
          <p:nvPr/>
        </p:nvSpPr>
        <p:spPr bwMode="auto">
          <a:xfrm>
            <a:off x="107950" y="80963"/>
            <a:ext cx="4159250" cy="574675"/>
          </a:xfrm>
          <a:prstGeom prst="rect">
            <a:avLst/>
          </a:prstGeom>
          <a:gradFill rotWithShape="1">
            <a:gsLst>
              <a:gs pos="0">
                <a:srgbClr val="C0C0C0"/>
              </a:gs>
              <a:gs pos="100000">
                <a:srgbClr val="C0C0C0">
                  <a:gamma/>
                  <a:tint val="0"/>
                  <a:invGamma/>
                </a:srgbClr>
              </a:gs>
            </a:gsLst>
            <a:path path="shape">
              <a:fillToRect l="50000" t="50000" r="50000" b="50000"/>
            </a:path>
          </a:gra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2000" anchor="ctr" anchorCtr="1">
            <a:spAutoFit/>
          </a:bodyPr>
          <a:lstStyle/>
          <a:p>
            <a:pPr algn="ctr">
              <a:spcBef>
                <a:spcPct val="0"/>
              </a:spcBef>
              <a:buSzTx/>
              <a:buFontTx/>
              <a:buNone/>
            </a:pPr>
            <a:r>
              <a:rPr lang="zh-CN" altLang="en-US" sz="2800" b="1">
                <a:solidFill>
                  <a:srgbClr val="993300"/>
                </a:solidFill>
                <a:effectLst>
                  <a:outerShdw blurRad="38100" dist="38100" dir="2700000" algn="tl">
                    <a:srgbClr val="000000"/>
                  </a:outerShdw>
                </a:effectLst>
                <a:ea typeface="隶书" panose="02010509060101010101" pitchFamily="49" charset="-122"/>
              </a:rPr>
              <a:t>数据库系统原理与设计</a:t>
            </a:r>
            <a:endParaRPr kumimoji="1" lang="zh-CN" altLang="en-US" sz="3000" b="1">
              <a:solidFill>
                <a:srgbClr val="000000"/>
              </a:solidFill>
              <a:effectLst>
                <a:outerShdw blurRad="38100" dist="38100" dir="2700000" algn="tl">
                  <a:srgbClr val="FFFFFF"/>
                </a:outerShdw>
              </a:effectLst>
              <a:latin typeface="Times New Roman" panose="02020603050405020304" pitchFamily="18" charset="0"/>
              <a:ea typeface="楷体_GB2312" pitchFamily="49" charset="-122"/>
            </a:endParaRPr>
          </a:p>
        </p:txBody>
      </p:sp>
      <p:sp>
        <p:nvSpPr>
          <p:cNvPr id="476168" name="Text Box 8">
            <a:extLst>
              <a:ext uri="{FF2B5EF4-FFF2-40B4-BE49-F238E27FC236}">
                <a16:creationId xmlns:a16="http://schemas.microsoft.com/office/drawing/2014/main" id="{0550B81A-EC66-45A7-BF60-458526E54F53}"/>
              </a:ext>
            </a:extLst>
          </p:cNvPr>
          <p:cNvSpPr txBox="1">
            <a:spLocks noChangeArrowheads="1"/>
          </p:cNvSpPr>
          <p:nvPr/>
        </p:nvSpPr>
        <p:spPr bwMode="auto">
          <a:xfrm>
            <a:off x="2514600" y="3957638"/>
            <a:ext cx="468153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buSzTx/>
              <a:buFontTx/>
              <a:buNone/>
            </a:pPr>
            <a:r>
              <a:rPr lang="en-US" altLang="zh-CN" sz="4000" b="1" dirty="0">
                <a:solidFill>
                  <a:srgbClr val="003366"/>
                </a:solidFill>
                <a:effectLst>
                  <a:outerShdw blurRad="38100" dist="38100" dir="2700000" algn="tl">
                    <a:srgbClr val="C0C0C0"/>
                  </a:outerShdw>
                </a:effectLst>
                <a:latin typeface="华文新魏" panose="02010800040101010101" pitchFamily="2" charset="-122"/>
                <a:ea typeface="华文新魏" panose="02010800040101010101" pitchFamily="2" charset="-122"/>
              </a:rPr>
              <a:t>     </a:t>
            </a:r>
            <a:endParaRPr lang="zh-CN" altLang="en-US" sz="4400" b="1" dirty="0">
              <a:solidFill>
                <a:srgbClr val="660033"/>
              </a:solidFill>
              <a:effectLst>
                <a:outerShdw blurRad="38100" dist="38100" dir="2700000" algn="tl">
                  <a:srgbClr val="C0C0C0"/>
                </a:outerShdw>
              </a:effectLst>
              <a:latin typeface="隶书" panose="02010509060101010101" pitchFamily="49" charset="-122"/>
              <a:ea typeface="隶书" panose="02010509060101010101" pitchFamily="49" charset="-122"/>
            </a:endParaRPr>
          </a:p>
        </p:txBody>
      </p:sp>
      <p:pic>
        <p:nvPicPr>
          <p:cNvPr id="476169" name="Picture 9">
            <a:extLst>
              <a:ext uri="{FF2B5EF4-FFF2-40B4-BE49-F238E27FC236}">
                <a16:creationId xmlns:a16="http://schemas.microsoft.com/office/drawing/2014/main" id="{B764E362-0841-4CF4-8124-20C33E1415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70363"/>
            <a:ext cx="2700338" cy="2687637"/>
          </a:xfrm>
          <a:prstGeom prst="rect">
            <a:avLst/>
          </a:prstGeom>
          <a:noFill/>
          <a:extLst>
            <a:ext uri="{909E8E84-426E-40DD-AFC4-6F175D3DCCD1}">
              <a14:hiddenFill xmlns:a14="http://schemas.microsoft.com/office/drawing/2010/main">
                <a:solidFill>
                  <a:srgbClr val="FFFFFF"/>
                </a:solidFill>
              </a14:hiddenFill>
            </a:ext>
          </a:extLst>
        </p:spPr>
      </p:pic>
      <p:sp>
        <p:nvSpPr>
          <p:cNvPr id="476170" name="Text Box 10">
            <a:extLst>
              <a:ext uri="{FF2B5EF4-FFF2-40B4-BE49-F238E27FC236}">
                <a16:creationId xmlns:a16="http://schemas.microsoft.com/office/drawing/2014/main" id="{BFB42F69-8067-4337-8D62-54A483BA22A4}"/>
              </a:ext>
            </a:extLst>
          </p:cNvPr>
          <p:cNvSpPr txBox="1">
            <a:spLocks noChangeArrowheads="1"/>
          </p:cNvSpPr>
          <p:nvPr/>
        </p:nvSpPr>
        <p:spPr bwMode="auto">
          <a:xfrm>
            <a:off x="2338388" y="2708275"/>
            <a:ext cx="46815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0"/>
              </a:spcBef>
              <a:buSzTx/>
              <a:buFontTx/>
              <a:buNone/>
            </a:pPr>
            <a:r>
              <a:rPr lang="zh-CN" altLang="en-US" sz="4000" b="1">
                <a:solidFill>
                  <a:srgbClr val="003366"/>
                </a:solidFill>
                <a:effectLst>
                  <a:outerShdw blurRad="38100" dist="38100" dir="2700000" algn="tl">
                    <a:srgbClr val="C0C0C0"/>
                  </a:outerShdw>
                </a:effectLst>
                <a:latin typeface="华文新魏" panose="02010800040101010101" pitchFamily="2" charset="-122"/>
                <a:ea typeface="华文新魏" panose="02010800040101010101" pitchFamily="2" charset="-122"/>
              </a:rPr>
              <a:t>（第三讲）</a:t>
            </a:r>
            <a:endParaRPr lang="zh-CN" altLang="en-US" sz="4400" b="1">
              <a:solidFill>
                <a:srgbClr val="006699"/>
              </a:solidFill>
              <a:effectLst>
                <a:outerShdw blurRad="38100" dist="38100" dir="2700000" algn="tl">
                  <a:srgbClr val="C0C0C0"/>
                </a:outerShdw>
              </a:effectLst>
              <a:latin typeface="隶书" panose="02010509060101010101" pitchFamily="49" charset="-122"/>
              <a:ea typeface="隶书" panose="020105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4020"/>
    </mc:Choice>
    <mc:Fallback xmlns="">
      <p:transition spd="slow" advTm="4020"/>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76164"/>
                                        </p:tgtEl>
                                        <p:attrNameLst>
                                          <p:attrName>style.visibility</p:attrName>
                                        </p:attrNameLst>
                                      </p:cBhvr>
                                      <p:to>
                                        <p:strVal val="visible"/>
                                      </p:to>
                                    </p:set>
                                    <p:animEffect transition="in" filter="wipe(left)">
                                      <p:cBhvr>
                                        <p:cTn id="7" dur="1000"/>
                                        <p:tgtEl>
                                          <p:spTgt spid="476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2" name="Rectangle 4">
            <a:extLst>
              <a:ext uri="{FF2B5EF4-FFF2-40B4-BE49-F238E27FC236}">
                <a16:creationId xmlns:a16="http://schemas.microsoft.com/office/drawing/2014/main" id="{5C93288B-0D76-40C2-B43B-1E0B3BCDA43A}"/>
              </a:ext>
            </a:extLst>
          </p:cNvPr>
          <p:cNvSpPr>
            <a:spLocks noChangeArrowheads="1"/>
          </p:cNvSpPr>
          <p:nvPr/>
        </p:nvSpPr>
        <p:spPr bwMode="auto">
          <a:xfrm>
            <a:off x="755650" y="214313"/>
            <a:ext cx="7793038"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lgn="ctr">
              <a:buSzTx/>
              <a:buFontTx/>
              <a:buNone/>
            </a:pPr>
            <a:r>
              <a:rPr lang="zh-CN" altLang="en-US" sz="4000">
                <a:ea typeface="华文隶书" panose="02010800040101010101" pitchFamily="2" charset="-122"/>
              </a:rPr>
              <a:t>主要内容</a:t>
            </a:r>
          </a:p>
        </p:txBody>
      </p:sp>
      <p:sp>
        <p:nvSpPr>
          <p:cNvPr id="483333" name="Rectangle 5">
            <a:extLst>
              <a:ext uri="{FF2B5EF4-FFF2-40B4-BE49-F238E27FC236}">
                <a16:creationId xmlns:a16="http://schemas.microsoft.com/office/drawing/2014/main" id="{94F7D860-7979-4084-BCD3-D5875B56054B}"/>
              </a:ext>
            </a:extLst>
          </p:cNvPr>
          <p:cNvSpPr>
            <a:spLocks noChangeArrowheads="1"/>
          </p:cNvSpPr>
          <p:nvPr/>
        </p:nvSpPr>
        <p:spPr bwMode="auto">
          <a:xfrm>
            <a:off x="468313" y="1125538"/>
            <a:ext cx="8207375" cy="533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lnSpc>
                <a:spcPct val="90000"/>
              </a:lnSpc>
              <a:spcBef>
                <a:spcPct val="0"/>
              </a:spcBef>
              <a:buFont typeface="Wingdings" panose="05000000000000000000" pitchFamily="2" charset="2"/>
              <a:buNone/>
            </a:pPr>
            <a:endParaRPr lang="en-US" altLang="zh-CN" sz="1000">
              <a:effectLst/>
              <a:latin typeface="黑体" panose="02010609060101010101" pitchFamily="49" charset="-122"/>
              <a:ea typeface="黑体" panose="02010609060101010101" pitchFamily="49" charset="-122"/>
            </a:endParaRPr>
          </a:p>
          <a:p>
            <a:pPr>
              <a:spcBef>
                <a:spcPct val="70000"/>
              </a:spcBef>
              <a:buFont typeface="Wingdings" panose="05000000000000000000" pitchFamily="2" charset="2"/>
              <a:buNone/>
            </a:pPr>
            <a:r>
              <a:rPr lang="en-US" altLang="zh-CN">
                <a:effectLst/>
                <a:latin typeface="黑体" panose="02010609060101010101" pitchFamily="49" charset="-122"/>
                <a:ea typeface="黑体" panose="02010609060101010101" pitchFamily="49" charset="-122"/>
              </a:rPr>
              <a:t>     </a:t>
            </a:r>
            <a:r>
              <a:rPr lang="en-US" altLang="zh-CN" sz="3600">
                <a:solidFill>
                  <a:srgbClr val="006699"/>
                </a:solidFill>
                <a:latin typeface="隶书" panose="02010509060101010101" pitchFamily="49" charset="-122"/>
                <a:ea typeface="隶书" panose="02010509060101010101" pitchFamily="49" charset="-122"/>
              </a:rPr>
              <a:t>5.4  SQL</a:t>
            </a:r>
            <a:r>
              <a:rPr lang="zh-CN" altLang="en-US" sz="3600">
                <a:solidFill>
                  <a:srgbClr val="006699"/>
                </a:solidFill>
                <a:latin typeface="隶书" panose="02010509060101010101" pitchFamily="49" charset="-122"/>
                <a:ea typeface="隶书" panose="02010509060101010101" pitchFamily="49" charset="-122"/>
              </a:rPr>
              <a:t>的视图操作</a:t>
            </a:r>
          </a:p>
          <a:p>
            <a:pPr>
              <a:spcBef>
                <a:spcPct val="70000"/>
              </a:spcBef>
              <a:buFont typeface="Wingdings" panose="05000000000000000000" pitchFamily="2" charset="2"/>
              <a:buNone/>
            </a:pPr>
            <a:r>
              <a:rPr lang="zh-CN" altLang="en-US" sz="3600">
                <a:solidFill>
                  <a:srgbClr val="006699"/>
                </a:solidFill>
                <a:latin typeface="隶书" panose="02010509060101010101" pitchFamily="49" charset="-122"/>
                <a:ea typeface="隶书" panose="02010509060101010101" pitchFamily="49" charset="-122"/>
              </a:rPr>
              <a:t>    </a:t>
            </a:r>
            <a:r>
              <a:rPr lang="en-US" altLang="zh-CN" sz="3600">
                <a:solidFill>
                  <a:srgbClr val="006699"/>
                </a:solidFill>
                <a:latin typeface="隶书" panose="02010509060101010101" pitchFamily="49" charset="-122"/>
                <a:ea typeface="隶书" panose="02010509060101010101" pitchFamily="49" charset="-122"/>
              </a:rPr>
              <a:t>5.5  SQL</a:t>
            </a:r>
            <a:r>
              <a:rPr lang="zh-CN" altLang="en-US" sz="3600">
                <a:solidFill>
                  <a:srgbClr val="006699"/>
                </a:solidFill>
                <a:latin typeface="隶书" panose="02010509060101010101" pitchFamily="49" charset="-122"/>
                <a:ea typeface="隶书" panose="02010509060101010101" pitchFamily="49" charset="-122"/>
              </a:rPr>
              <a:t>中带有子查询的数据更新</a:t>
            </a:r>
          </a:p>
          <a:p>
            <a:pPr>
              <a:spcBef>
                <a:spcPct val="70000"/>
              </a:spcBef>
              <a:buFont typeface="Wingdings" panose="05000000000000000000" pitchFamily="2" charset="2"/>
              <a:buNone/>
            </a:pPr>
            <a:r>
              <a:rPr lang="zh-CN" altLang="en-US" sz="3600">
                <a:solidFill>
                  <a:srgbClr val="006699"/>
                </a:solidFill>
                <a:latin typeface="隶书" panose="02010509060101010101" pitchFamily="49" charset="-122"/>
                <a:ea typeface="隶书" panose="02010509060101010101" pitchFamily="49" charset="-122"/>
              </a:rPr>
              <a:t>    </a:t>
            </a:r>
            <a:r>
              <a:rPr lang="en-US" altLang="zh-CN" sz="3600">
                <a:solidFill>
                  <a:srgbClr val="006699"/>
                </a:solidFill>
                <a:latin typeface="隶书" panose="02010509060101010101" pitchFamily="49" charset="-122"/>
                <a:ea typeface="隶书" panose="02010509060101010101" pitchFamily="49" charset="-122"/>
              </a:rPr>
              <a:t>5.6  </a:t>
            </a:r>
            <a:r>
              <a:rPr lang="zh-CN" altLang="en-US" sz="3600">
                <a:solidFill>
                  <a:srgbClr val="006699"/>
                </a:solidFill>
                <a:latin typeface="隶书" panose="02010509060101010101" pitchFamily="49" charset="-122"/>
                <a:ea typeface="隶书" panose="02010509060101010101" pitchFamily="49" charset="-122"/>
              </a:rPr>
              <a:t>嵌入式</a:t>
            </a:r>
            <a:r>
              <a:rPr lang="en-US" altLang="zh-CN" sz="3600">
                <a:solidFill>
                  <a:srgbClr val="006699"/>
                </a:solidFill>
                <a:latin typeface="隶书" panose="02010509060101010101" pitchFamily="49" charset="-122"/>
                <a:ea typeface="隶书" panose="02010509060101010101" pitchFamily="49" charset="-122"/>
              </a:rPr>
              <a:t>SQL</a:t>
            </a:r>
            <a:r>
              <a:rPr lang="zh-CN" altLang="en-US" sz="3600">
                <a:solidFill>
                  <a:srgbClr val="006699"/>
                </a:solidFill>
                <a:latin typeface="隶书" panose="02010509060101010101" pitchFamily="49" charset="-122"/>
                <a:ea typeface="隶书" panose="02010509060101010101" pitchFamily="49" charset="-122"/>
              </a:rPr>
              <a:t>与游标应用 </a:t>
            </a:r>
          </a:p>
        </p:txBody>
      </p:sp>
    </p:spTree>
  </p:cSld>
  <p:clrMapOvr>
    <a:masterClrMapping/>
  </p:clrMapOvr>
  <mc:AlternateContent xmlns:mc="http://schemas.openxmlformats.org/markup-compatibility/2006" xmlns:p14="http://schemas.microsoft.com/office/powerpoint/2010/main">
    <mc:Choice Requires="p14">
      <p:transition spd="slow" p14:dur="2000" advTm="18217"/>
    </mc:Choice>
    <mc:Fallback xmlns="">
      <p:transition spd="slow" advTm="18217"/>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83333">
                                            <p:txEl>
                                              <p:pRg st="1" end="1"/>
                                            </p:txEl>
                                          </p:spTgt>
                                        </p:tgtEl>
                                        <p:attrNameLst>
                                          <p:attrName>style.visibility</p:attrName>
                                        </p:attrNameLst>
                                      </p:cBhvr>
                                      <p:to>
                                        <p:strVal val="visible"/>
                                      </p:to>
                                    </p:set>
                                    <p:animEffect transition="in" filter="wipe(left)">
                                      <p:cBhvr>
                                        <p:cTn id="7" dur="1000"/>
                                        <p:tgtEl>
                                          <p:spTgt spid="483333">
                                            <p:txEl>
                                              <p:pRg st="1" end="1"/>
                                            </p:txEl>
                                          </p:spTgt>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483333">
                                            <p:txEl>
                                              <p:pRg st="2" end="2"/>
                                            </p:txEl>
                                          </p:spTgt>
                                        </p:tgtEl>
                                        <p:attrNameLst>
                                          <p:attrName>style.visibility</p:attrName>
                                        </p:attrNameLst>
                                      </p:cBhvr>
                                      <p:to>
                                        <p:strVal val="visible"/>
                                      </p:to>
                                    </p:set>
                                    <p:animEffect transition="in" filter="wipe(left)">
                                      <p:cBhvr>
                                        <p:cTn id="11" dur="1000"/>
                                        <p:tgtEl>
                                          <p:spTgt spid="483333">
                                            <p:txEl>
                                              <p:pRg st="2" end="2"/>
                                            </p:txEl>
                                          </p:spTgt>
                                        </p:tgtEl>
                                      </p:cBhvr>
                                    </p:animEffect>
                                  </p:childTnLst>
                                </p:cTn>
                              </p:par>
                            </p:childTnLst>
                          </p:cTn>
                        </p:par>
                        <p:par>
                          <p:cTn id="12" fill="hold" nodeType="afterGroup">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483333">
                                            <p:txEl>
                                              <p:pRg st="3" end="3"/>
                                            </p:txEl>
                                          </p:spTgt>
                                        </p:tgtEl>
                                        <p:attrNameLst>
                                          <p:attrName>style.visibility</p:attrName>
                                        </p:attrNameLst>
                                      </p:cBhvr>
                                      <p:to>
                                        <p:strVal val="visible"/>
                                      </p:to>
                                    </p:set>
                                    <p:animEffect transition="in" filter="wipe(left)">
                                      <p:cBhvr>
                                        <p:cTn id="15" dur="1000"/>
                                        <p:tgtEl>
                                          <p:spTgt spid="48333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333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7" name="Rectangle 3">
            <a:extLst>
              <a:ext uri="{FF2B5EF4-FFF2-40B4-BE49-F238E27FC236}">
                <a16:creationId xmlns:a16="http://schemas.microsoft.com/office/drawing/2014/main" id="{74EE6A46-9E8D-42FC-ADC8-98F76E6C9E7D}"/>
              </a:ext>
            </a:extLst>
          </p:cNvPr>
          <p:cNvSpPr>
            <a:spLocks noChangeArrowheads="1"/>
          </p:cNvSpPr>
          <p:nvPr/>
        </p:nvSpPr>
        <p:spPr bwMode="auto">
          <a:xfrm>
            <a:off x="71438" y="73025"/>
            <a:ext cx="4119562" cy="544513"/>
          </a:xfrm>
          <a:prstGeom prst="rect">
            <a:avLst/>
          </a:prstGeom>
          <a:gradFill rotWithShape="1">
            <a:gsLst>
              <a:gs pos="0">
                <a:srgbClr val="C0C0C0"/>
              </a:gs>
              <a:gs pos="100000">
                <a:srgbClr val="C0C0C0">
                  <a:gamma/>
                  <a:tint val="0"/>
                  <a:invGamma/>
                </a:srgbClr>
              </a:gs>
            </a:gsLst>
            <a:path path="shape">
              <a:fillToRect l="50000" t="50000" r="50000" b="50000"/>
            </a:path>
          </a:gra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2000" anchor="ctr" anchorCtr="1">
            <a:spAutoFit/>
          </a:bodyPr>
          <a:lstStyle/>
          <a:p>
            <a:pPr>
              <a:spcBef>
                <a:spcPct val="0"/>
              </a:spcBef>
              <a:buSzTx/>
              <a:buFontTx/>
              <a:buNone/>
            </a:pPr>
            <a:r>
              <a:rPr lang="zh-CN" altLang="en-US" sz="2600" b="1">
                <a:solidFill>
                  <a:srgbClr val="993300"/>
                </a:solidFill>
                <a:effectLst>
                  <a:outerShdw blurRad="38100" dist="38100" dir="2700000" algn="tl">
                    <a:srgbClr val="000000"/>
                  </a:outerShdw>
                </a:effectLst>
                <a:ea typeface="隶书" panose="02010509060101010101" pitchFamily="49" charset="-122"/>
              </a:rPr>
              <a:t>第</a:t>
            </a:r>
            <a:r>
              <a:rPr lang="en-US" altLang="zh-CN" sz="2600" b="1">
                <a:solidFill>
                  <a:srgbClr val="993300"/>
                </a:solidFill>
                <a:effectLst>
                  <a:outerShdw blurRad="38100" dist="38100" dir="2700000" algn="tl">
                    <a:srgbClr val="000000"/>
                  </a:outerShdw>
                </a:effectLst>
                <a:ea typeface="隶书" panose="02010509060101010101" pitchFamily="49" charset="-122"/>
              </a:rPr>
              <a:t>5</a:t>
            </a:r>
            <a:r>
              <a:rPr lang="zh-CN" altLang="en-US" sz="2600" b="1">
                <a:solidFill>
                  <a:srgbClr val="993300"/>
                </a:solidFill>
                <a:effectLst>
                  <a:outerShdw blurRad="38100" dist="38100" dir="2700000" algn="tl">
                    <a:srgbClr val="000000"/>
                  </a:outerShdw>
                </a:effectLst>
                <a:ea typeface="隶书" panose="02010509060101010101" pitchFamily="49" charset="-122"/>
              </a:rPr>
              <a:t>章 关系数据库语言</a:t>
            </a:r>
            <a:r>
              <a:rPr lang="en-US" altLang="zh-CN" sz="2600" b="1">
                <a:solidFill>
                  <a:srgbClr val="993300"/>
                </a:solidFill>
                <a:effectLst>
                  <a:outerShdw blurRad="38100" dist="38100" dir="2700000" algn="tl">
                    <a:srgbClr val="000000"/>
                  </a:outerShdw>
                </a:effectLst>
                <a:ea typeface="隶书" panose="02010509060101010101" pitchFamily="49" charset="-122"/>
              </a:rPr>
              <a:t>SQL</a:t>
            </a:r>
            <a:r>
              <a:rPr lang="en-US" altLang="zh-CN"/>
              <a:t> </a:t>
            </a:r>
          </a:p>
        </p:txBody>
      </p:sp>
      <p:sp>
        <p:nvSpPr>
          <p:cNvPr id="451588" name="Rectangle 4">
            <a:extLst>
              <a:ext uri="{FF2B5EF4-FFF2-40B4-BE49-F238E27FC236}">
                <a16:creationId xmlns:a16="http://schemas.microsoft.com/office/drawing/2014/main" id="{89AF4786-B632-4AE4-BE84-470AE3A49810}"/>
              </a:ext>
            </a:extLst>
          </p:cNvPr>
          <p:cNvSpPr>
            <a:spLocks noGrp="1" noChangeArrowheads="1"/>
          </p:cNvSpPr>
          <p:nvPr>
            <p:ph type="ctrTitle"/>
          </p:nvPr>
        </p:nvSpPr>
        <p:spPr>
          <a:xfrm>
            <a:off x="684213" y="1209675"/>
            <a:ext cx="8137525" cy="1462088"/>
          </a:xfrm>
          <a:noFill/>
          <a:ln/>
        </p:spPr>
        <p:txBody>
          <a:bodyPr/>
          <a:lstStyle/>
          <a:p>
            <a:r>
              <a:rPr lang="en-US" altLang="zh-CN"/>
              <a:t>5.4  SQL</a:t>
            </a:r>
            <a:r>
              <a:rPr lang="zh-CN" altLang="en-US"/>
              <a:t>的视图操作 </a:t>
            </a:r>
          </a:p>
        </p:txBody>
      </p:sp>
    </p:spTree>
  </p:cSld>
  <p:clrMapOvr>
    <a:masterClrMapping/>
  </p:clrMapOvr>
  <mc:AlternateContent xmlns:mc="http://schemas.openxmlformats.org/markup-compatibility/2006" xmlns:p14="http://schemas.microsoft.com/office/powerpoint/2010/main">
    <mc:Choice Requires="p14">
      <p:transition spd="slow" p14:dur="2000" advTm="4079"/>
    </mc:Choice>
    <mc:Fallback xmlns="">
      <p:transition spd="slow" advTm="4079"/>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451587"/>
                                        </p:tgtEl>
                                        <p:attrNameLst>
                                          <p:attrName>style.visibility</p:attrName>
                                        </p:attrNameLst>
                                      </p:cBhvr>
                                      <p:to>
                                        <p:strVal val="visible"/>
                                      </p:to>
                                    </p:set>
                                    <p:animEffect transition="in" filter="box(out)">
                                      <p:cBhvr>
                                        <p:cTn id="7" dur="1000"/>
                                        <p:tgtEl>
                                          <p:spTgt spid="451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58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ext Box 2">
            <a:extLst>
              <a:ext uri="{FF2B5EF4-FFF2-40B4-BE49-F238E27FC236}">
                <a16:creationId xmlns:a16="http://schemas.microsoft.com/office/drawing/2014/main" id="{AE18D2DD-5557-481B-BE51-CD82F775905D}"/>
              </a:ext>
            </a:extLst>
          </p:cNvPr>
          <p:cNvSpPr txBox="1">
            <a:spLocks noChangeArrowheads="1"/>
          </p:cNvSpPr>
          <p:nvPr/>
        </p:nvSpPr>
        <p:spPr bwMode="auto">
          <a:xfrm>
            <a:off x="368300" y="1171575"/>
            <a:ext cx="8470900" cy="4151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spcBef>
                <a:spcPct val="10000"/>
              </a:spcBef>
              <a:buSzTx/>
              <a:buFontTx/>
              <a:buNone/>
            </a:pPr>
            <a:r>
              <a:rPr lang="en-US" altLang="zh-CN" sz="2800" b="1">
                <a:latin typeface="黑体" panose="02010609060101010101" pitchFamily="49" charset="-122"/>
                <a:ea typeface="黑体" panose="02010609060101010101" pitchFamily="49" charset="-122"/>
              </a:rPr>
              <a:t>    </a:t>
            </a:r>
            <a:r>
              <a:rPr lang="zh-CN" altLang="en-US" sz="28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视图是由数据库中满足一定条件约束的数据组成的</a:t>
            </a:r>
            <a:r>
              <a:rPr lang="zh-CN" altLang="en-US" sz="2800" b="1">
                <a:solidFill>
                  <a:srgbClr val="003366"/>
                </a:solidFill>
                <a:effectLst>
                  <a:outerShdw blurRad="38100" dist="38100" dir="2700000" algn="tl">
                    <a:srgbClr val="C0C0C0"/>
                  </a:outerShdw>
                </a:effectLst>
                <a:latin typeface="宋体" panose="02010600030101010101" pitchFamily="2" charset="-122"/>
                <a:ea typeface="黑体" panose="02010609060101010101" pitchFamily="49" charset="-122"/>
              </a:rPr>
              <a:t>“</a:t>
            </a:r>
            <a:r>
              <a:rPr lang="zh-CN" altLang="en-US" sz="28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虚表</a:t>
            </a:r>
            <a:r>
              <a:rPr lang="zh-CN" altLang="en-US" sz="2800" b="1">
                <a:solidFill>
                  <a:srgbClr val="003366"/>
                </a:solidFill>
                <a:effectLst>
                  <a:outerShdw blurRad="38100" dist="38100" dir="2700000" algn="tl">
                    <a:srgbClr val="C0C0C0"/>
                  </a:outerShdw>
                </a:effectLst>
                <a:latin typeface="宋体" panose="02010600030101010101" pitchFamily="2" charset="-122"/>
                <a:ea typeface="黑体" panose="02010609060101010101" pitchFamily="49" charset="-122"/>
              </a:rPr>
              <a:t>”</a:t>
            </a:r>
            <a:r>
              <a:rPr lang="zh-CN" altLang="en-US" sz="28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a:t>
            </a:r>
          </a:p>
          <a:p>
            <a:pPr algn="just">
              <a:lnSpc>
                <a:spcPct val="130000"/>
              </a:lnSpc>
              <a:spcBef>
                <a:spcPct val="10000"/>
              </a:spcBef>
              <a:buSzTx/>
              <a:buFontTx/>
              <a:buNone/>
            </a:pPr>
            <a:r>
              <a:rPr lang="zh-CN" altLang="en-US" sz="28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    视图可以由某个表中满足一定条件的行组成，也可以由某个（或某些）表的某些列组成，还可以由若干个表中的数据经过某种运算处理而形成。</a:t>
            </a:r>
          </a:p>
          <a:p>
            <a:pPr algn="just">
              <a:lnSpc>
                <a:spcPct val="145000"/>
              </a:lnSpc>
              <a:spcBef>
                <a:spcPct val="0"/>
              </a:spcBef>
              <a:buSzTx/>
              <a:buFontTx/>
              <a:buNone/>
            </a:pPr>
            <a:r>
              <a:rPr lang="zh-CN" altLang="en-US" sz="28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800" b="1">
                <a:solidFill>
                  <a:srgbClr val="660033"/>
                </a:solidFill>
                <a:effectLst>
                  <a:outerShdw blurRad="38100" dist="38100" dir="2700000" algn="tl">
                    <a:srgbClr val="C0C0C0"/>
                  </a:outerShdw>
                </a:effectLst>
                <a:latin typeface="楷体_GB2312" pitchFamily="49" charset="-122"/>
                <a:ea typeface="楷体_GB2312" pitchFamily="49" charset="-122"/>
              </a:rPr>
              <a:t>视图一旦定义，就可以把它看作表一样在其上进行查询操作。</a:t>
            </a:r>
            <a:endParaRPr lang="zh-CN" altLang="en-US" sz="28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419842" name="Rectangle 2">
            <a:extLst>
              <a:ext uri="{FF2B5EF4-FFF2-40B4-BE49-F238E27FC236}">
                <a16:creationId xmlns:a16="http://schemas.microsoft.com/office/drawing/2014/main" id="{7469E213-191A-4C93-802A-D5DD1E209D8D}"/>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一、视图的概念</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9304"/>
    </mc:Choice>
    <mc:Fallback xmlns="">
      <p:transition spd="slow" advTm="109304"/>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32098">
                                            <p:txEl>
                                              <p:pRg st="0" end="0"/>
                                            </p:txEl>
                                          </p:spTgt>
                                        </p:tgtEl>
                                        <p:attrNameLst>
                                          <p:attrName>style.visibility</p:attrName>
                                        </p:attrNameLst>
                                      </p:cBhvr>
                                      <p:to>
                                        <p:strVal val="visible"/>
                                      </p:to>
                                    </p:set>
                                    <p:animEffect transition="in" filter="box(in)">
                                      <p:cBhvr>
                                        <p:cTn id="7" dur="500"/>
                                        <p:tgtEl>
                                          <p:spTgt spid="13209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32098">
                                            <p:txEl>
                                              <p:pRg st="1" end="1"/>
                                            </p:txEl>
                                          </p:spTgt>
                                        </p:tgtEl>
                                        <p:attrNameLst>
                                          <p:attrName>style.visibility</p:attrName>
                                        </p:attrNameLst>
                                      </p:cBhvr>
                                      <p:to>
                                        <p:strVal val="visible"/>
                                      </p:to>
                                    </p:set>
                                    <p:animEffect transition="in" filter="box(in)">
                                      <p:cBhvr>
                                        <p:cTn id="12" dur="500"/>
                                        <p:tgtEl>
                                          <p:spTgt spid="13209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32098">
                                            <p:txEl>
                                              <p:pRg st="2" end="2"/>
                                            </p:txEl>
                                          </p:spTgt>
                                        </p:tgtEl>
                                        <p:attrNameLst>
                                          <p:attrName>style.visibility</p:attrName>
                                        </p:attrNameLst>
                                      </p:cBhvr>
                                      <p:to>
                                        <p:strVal val="visible"/>
                                      </p:to>
                                    </p:set>
                                    <p:animEffect transition="in" filter="wipe(up)">
                                      <p:cBhvr>
                                        <p:cTn id="17" dur="500"/>
                                        <p:tgtEl>
                                          <p:spTgt spid="13209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ext Box 2">
            <a:extLst>
              <a:ext uri="{FF2B5EF4-FFF2-40B4-BE49-F238E27FC236}">
                <a16:creationId xmlns:a16="http://schemas.microsoft.com/office/drawing/2014/main" id="{5F79139A-0660-45B9-AADE-FC3913BB39B5}"/>
              </a:ext>
            </a:extLst>
          </p:cNvPr>
          <p:cNvSpPr txBox="1">
            <a:spLocks noChangeArrowheads="1"/>
          </p:cNvSpPr>
          <p:nvPr/>
        </p:nvSpPr>
        <p:spPr bwMode="auto">
          <a:xfrm>
            <a:off x="381000" y="1143000"/>
            <a:ext cx="8458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spcBef>
                <a:spcPct val="10000"/>
              </a:spcBef>
              <a:buSzTx/>
              <a:buFontTx/>
              <a:buNone/>
            </a:pPr>
            <a:r>
              <a:rPr lang="en-US" altLang="zh-CN" sz="2800" b="1">
                <a:solidFill>
                  <a:srgbClr val="A50021"/>
                </a:solidFill>
                <a:latin typeface="黑体" panose="02010609060101010101" pitchFamily="49" charset="-122"/>
                <a:ea typeface="黑体" panose="02010609060101010101" pitchFamily="49" charset="-122"/>
              </a:rPr>
              <a:t>  </a:t>
            </a:r>
            <a:r>
              <a:rPr lang="zh-CN" altLang="en-US" sz="2800" b="1">
                <a:solidFill>
                  <a:srgbClr val="A50021"/>
                </a:solidFill>
                <a:latin typeface="黑体" panose="02010609060101010101" pitchFamily="49" charset="-122"/>
                <a:ea typeface="黑体" panose="02010609060101010101" pitchFamily="49" charset="-122"/>
              </a:rPr>
              <a:t>视图的定义语句格式为： </a:t>
            </a:r>
            <a:endParaRPr lang="zh-CN" altLang="en-US" sz="2800" b="1">
              <a:latin typeface="黑体" panose="02010609060101010101" pitchFamily="49" charset="-122"/>
              <a:ea typeface="黑体" panose="02010609060101010101" pitchFamily="49" charset="-122"/>
            </a:endParaRPr>
          </a:p>
          <a:p>
            <a:pPr algn="just">
              <a:lnSpc>
                <a:spcPct val="130000"/>
              </a:lnSpc>
              <a:spcBef>
                <a:spcPct val="30000"/>
              </a:spcBef>
              <a:buSzTx/>
              <a:buFontTx/>
              <a:buNone/>
            </a:pPr>
            <a:r>
              <a:rPr lang="zh-CN" altLang="en-US" sz="2800" b="1">
                <a:latin typeface="宋体" panose="02010600030101010101" pitchFamily="2" charset="-122"/>
              </a:rPr>
              <a:t>   </a:t>
            </a:r>
            <a:r>
              <a:rPr lang="en-US" altLang="zh-CN" sz="2600" b="1">
                <a:solidFill>
                  <a:srgbClr val="000000"/>
                </a:solidFill>
                <a:latin typeface="黑体" panose="02010609060101010101" pitchFamily="49" charset="-122"/>
                <a:ea typeface="黑体" panose="02010609060101010101" pitchFamily="49" charset="-122"/>
              </a:rPr>
              <a:t>CREATE VIEW &lt;</a:t>
            </a:r>
            <a:r>
              <a:rPr lang="zh-CN" altLang="en-US" sz="2600" b="1">
                <a:solidFill>
                  <a:srgbClr val="000000"/>
                </a:solidFill>
                <a:latin typeface="黑体" panose="02010609060101010101" pitchFamily="49" charset="-122"/>
                <a:ea typeface="黑体" panose="02010609060101010101" pitchFamily="49" charset="-122"/>
              </a:rPr>
              <a:t>视图名</a:t>
            </a:r>
            <a:r>
              <a:rPr lang="en-US" altLang="zh-CN" sz="2600" b="1">
                <a:solidFill>
                  <a:srgbClr val="000000"/>
                </a:solidFill>
                <a:latin typeface="黑体" panose="02010609060101010101" pitchFamily="49" charset="-122"/>
                <a:ea typeface="黑体" panose="02010609060101010101" pitchFamily="49" charset="-122"/>
              </a:rPr>
              <a:t>&gt; [(&lt;</a:t>
            </a:r>
            <a:r>
              <a:rPr lang="zh-CN" altLang="en-US" sz="2600" b="1">
                <a:solidFill>
                  <a:srgbClr val="000000"/>
                </a:solidFill>
                <a:latin typeface="黑体" panose="02010609060101010101" pitchFamily="49" charset="-122"/>
                <a:ea typeface="黑体" panose="02010609060101010101" pitchFamily="49" charset="-122"/>
              </a:rPr>
              <a:t>列名表</a:t>
            </a:r>
            <a:r>
              <a:rPr lang="en-US" altLang="zh-CN" sz="2600" b="1">
                <a:solidFill>
                  <a:srgbClr val="000000"/>
                </a:solidFill>
                <a:latin typeface="黑体" panose="02010609060101010101" pitchFamily="49" charset="-122"/>
                <a:ea typeface="黑体" panose="02010609060101010101" pitchFamily="49" charset="-122"/>
              </a:rPr>
              <a:t>&gt;)]</a:t>
            </a:r>
          </a:p>
          <a:p>
            <a:pPr algn="just">
              <a:lnSpc>
                <a:spcPct val="130000"/>
              </a:lnSpc>
              <a:spcBef>
                <a:spcPct val="10000"/>
              </a:spcBef>
              <a:buSzTx/>
              <a:buFontTx/>
              <a:buNone/>
            </a:pPr>
            <a:r>
              <a:rPr lang="en-US" altLang="zh-CN" sz="2600" b="1">
                <a:solidFill>
                  <a:srgbClr val="000000"/>
                </a:solidFill>
                <a:latin typeface="黑体" panose="02010609060101010101" pitchFamily="49" charset="-122"/>
                <a:ea typeface="黑体" panose="02010609060101010101" pitchFamily="49" charset="-122"/>
              </a:rPr>
              <a:t>       AS &lt;SELECT </a:t>
            </a:r>
            <a:r>
              <a:rPr lang="zh-CN" altLang="en-US" sz="2600" b="1">
                <a:solidFill>
                  <a:srgbClr val="000000"/>
                </a:solidFill>
                <a:latin typeface="黑体" panose="02010609060101010101" pitchFamily="49" charset="-122"/>
                <a:ea typeface="黑体" panose="02010609060101010101" pitchFamily="49" charset="-122"/>
              </a:rPr>
              <a:t>语句</a:t>
            </a:r>
            <a:r>
              <a:rPr lang="en-US" altLang="zh-CN" sz="2600" b="1">
                <a:solidFill>
                  <a:srgbClr val="000000"/>
                </a:solidFill>
                <a:latin typeface="黑体" panose="02010609060101010101" pitchFamily="49" charset="-122"/>
                <a:ea typeface="黑体" panose="02010609060101010101" pitchFamily="49" charset="-122"/>
              </a:rPr>
              <a:t>&gt;</a:t>
            </a:r>
          </a:p>
          <a:p>
            <a:pPr algn="just">
              <a:lnSpc>
                <a:spcPct val="130000"/>
              </a:lnSpc>
              <a:spcBef>
                <a:spcPct val="10000"/>
              </a:spcBef>
              <a:buSzTx/>
              <a:buFontTx/>
              <a:buNone/>
            </a:pPr>
            <a:r>
              <a:rPr lang="en-US" altLang="zh-CN" sz="2600" b="1">
                <a:solidFill>
                  <a:srgbClr val="000000"/>
                </a:solidFill>
                <a:latin typeface="黑体" panose="02010609060101010101" pitchFamily="49" charset="-122"/>
                <a:ea typeface="黑体" panose="02010609060101010101" pitchFamily="49" charset="-122"/>
              </a:rPr>
              <a:t>       [WITH READ ONLY | WITH CHECK OPTION]</a:t>
            </a:r>
            <a:r>
              <a:rPr lang="zh-CN" altLang="en-US" sz="2600" b="1">
                <a:solidFill>
                  <a:srgbClr val="000000"/>
                </a:solidFill>
                <a:latin typeface="黑体" panose="02010609060101010101" pitchFamily="49" charset="-122"/>
                <a:ea typeface="黑体" panose="02010609060101010101" pitchFamily="49" charset="-122"/>
              </a:rPr>
              <a:t>；</a:t>
            </a:r>
          </a:p>
          <a:p>
            <a:pPr algn="just">
              <a:lnSpc>
                <a:spcPct val="130000"/>
              </a:lnSpc>
              <a:spcBef>
                <a:spcPct val="30000"/>
              </a:spcBef>
              <a:buSzTx/>
              <a:buFontTx/>
              <a:buNone/>
            </a:pPr>
            <a:r>
              <a:rPr lang="zh-CN" altLang="en-US" sz="2600" b="1">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其中，</a:t>
            </a:r>
            <a:r>
              <a:rPr lang="zh-CN" altLang="en-US" sz="2600" b="1">
                <a:solidFill>
                  <a:srgbClr val="003366"/>
                </a:solidFill>
                <a:effectLst>
                  <a:outerShdw blurRad="38100" dist="38100" dir="2700000" algn="tl">
                    <a:srgbClr val="C0C0C0"/>
                  </a:outerShdw>
                </a:effectLst>
                <a:latin typeface="楷体_GB2312" pitchFamily="49" charset="-122"/>
                <a:ea typeface="楷体_GB2312" pitchFamily="49" charset="-122"/>
              </a:rPr>
              <a:t>当选择</a:t>
            </a:r>
            <a:r>
              <a:rPr lang="en-US" altLang="zh-CN" sz="2600" b="1">
                <a:solidFill>
                  <a:srgbClr val="003366"/>
                </a:solidFill>
                <a:effectLst>
                  <a:outerShdw blurRad="38100" dist="38100" dir="2700000" algn="tl">
                    <a:srgbClr val="C0C0C0"/>
                  </a:outerShdw>
                </a:effectLst>
                <a:latin typeface="楷体_GB2312" pitchFamily="49" charset="-122"/>
                <a:ea typeface="楷体_GB2312" pitchFamily="49" charset="-122"/>
              </a:rPr>
              <a:t>[WITH READ ONLY]</a:t>
            </a:r>
            <a:r>
              <a:rPr lang="zh-CN" altLang="en-US" sz="2600" b="1">
                <a:solidFill>
                  <a:srgbClr val="003366"/>
                </a:solidFill>
                <a:effectLst>
                  <a:outerShdw blurRad="38100" dist="38100" dir="2700000" algn="tl">
                    <a:srgbClr val="C0C0C0"/>
                  </a:outerShdw>
                </a:effectLst>
                <a:latin typeface="楷体_GB2312" pitchFamily="49" charset="-122"/>
                <a:ea typeface="楷体_GB2312" pitchFamily="49" charset="-122"/>
              </a:rPr>
              <a:t>可选项时，表示该视图被定义成一个只读，不能进行插入、删除和修改操作。</a:t>
            </a:r>
          </a:p>
          <a:p>
            <a:pPr algn="just">
              <a:lnSpc>
                <a:spcPct val="130000"/>
              </a:lnSpc>
              <a:spcBef>
                <a:spcPct val="0"/>
              </a:spcBef>
              <a:buSzTx/>
              <a:buFontTx/>
              <a:buNone/>
            </a:pPr>
            <a:r>
              <a:rPr lang="zh-CN" altLang="en-US" sz="2600" b="1">
                <a:solidFill>
                  <a:srgbClr val="003366"/>
                </a:solidFill>
                <a:effectLst>
                  <a:outerShdw blurRad="38100" dist="38100" dir="2700000" algn="tl">
                    <a:srgbClr val="C0C0C0"/>
                  </a:outerShdw>
                </a:effectLst>
                <a:latin typeface="楷体_GB2312" pitchFamily="49" charset="-122"/>
                <a:ea typeface="楷体_GB2312" pitchFamily="49" charset="-122"/>
              </a:rPr>
              <a:t>    当选择</a:t>
            </a:r>
            <a:r>
              <a:rPr lang="en-US" altLang="zh-CN" sz="2600" b="1">
                <a:solidFill>
                  <a:srgbClr val="003366"/>
                </a:solidFill>
                <a:effectLst>
                  <a:outerShdw blurRad="38100" dist="38100" dir="2700000" algn="tl">
                    <a:srgbClr val="C0C0C0"/>
                  </a:outerShdw>
                </a:effectLst>
                <a:latin typeface="楷体_GB2312" pitchFamily="49" charset="-122"/>
                <a:ea typeface="楷体_GB2312" pitchFamily="49" charset="-122"/>
              </a:rPr>
              <a:t>[WITH CHECK OPTION]</a:t>
            </a:r>
            <a:r>
              <a:rPr lang="zh-CN" altLang="en-US" sz="2600" b="1">
                <a:solidFill>
                  <a:srgbClr val="003366"/>
                </a:solidFill>
                <a:effectLst>
                  <a:outerShdw blurRad="38100" dist="38100" dir="2700000" algn="tl">
                    <a:srgbClr val="C0C0C0"/>
                  </a:outerShdw>
                </a:effectLst>
                <a:latin typeface="楷体_GB2312" pitchFamily="49" charset="-122"/>
                <a:ea typeface="楷体_GB2312" pitchFamily="49" charset="-122"/>
              </a:rPr>
              <a:t>可选项时，用户必须保证每当向该视图中插入或更新数据时，所插入或更新的数据能够从该视图查询出来。</a:t>
            </a:r>
            <a:r>
              <a:rPr lang="zh-CN" altLang="en-US" sz="2800" b="1">
                <a:latin typeface="黑体" panose="02010609060101010101" pitchFamily="49" charset="-122"/>
                <a:cs typeface="Times New Roman" panose="02020603050405020304" pitchFamily="18" charset="0"/>
              </a:rPr>
              <a:t> </a:t>
            </a:r>
            <a:r>
              <a:rPr lang="zh-CN" altLang="en-US" sz="2800" b="1">
                <a:latin typeface="黑体" panose="02010609060101010101" pitchFamily="49" charset="-122"/>
                <a:ea typeface="黑体" panose="02010609060101010101" pitchFamily="49" charset="-122"/>
              </a:rPr>
              <a:t> </a:t>
            </a:r>
          </a:p>
        </p:txBody>
      </p:sp>
      <p:sp>
        <p:nvSpPr>
          <p:cNvPr id="418818" name="Rectangle 2">
            <a:extLst>
              <a:ext uri="{FF2B5EF4-FFF2-40B4-BE49-F238E27FC236}">
                <a16:creationId xmlns:a16="http://schemas.microsoft.com/office/drawing/2014/main" id="{D7FC4BDB-115A-4046-87BB-9B4592D67B24}"/>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二、视图的定义</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9832"/>
    </mc:Choice>
    <mc:Fallback xmlns="">
      <p:transition spd="slow" advTm="79832"/>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33122">
                                            <p:txEl>
                                              <p:pRg st="0" end="0"/>
                                            </p:txEl>
                                          </p:spTgt>
                                        </p:tgtEl>
                                        <p:attrNameLst>
                                          <p:attrName>style.visibility</p:attrName>
                                        </p:attrNameLst>
                                      </p:cBhvr>
                                      <p:to>
                                        <p:strVal val="visible"/>
                                      </p:to>
                                    </p:set>
                                    <p:animEffect transition="in" filter="wipe(up)">
                                      <p:cBhvr>
                                        <p:cTn id="7" dur="500"/>
                                        <p:tgtEl>
                                          <p:spTgt spid="133122">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33122">
                                            <p:txEl>
                                              <p:pRg st="1" end="1"/>
                                            </p:txEl>
                                          </p:spTgt>
                                        </p:tgtEl>
                                        <p:attrNameLst>
                                          <p:attrName>style.visibility</p:attrName>
                                        </p:attrNameLst>
                                      </p:cBhvr>
                                      <p:to>
                                        <p:strVal val="visible"/>
                                      </p:to>
                                    </p:set>
                                    <p:animEffect transition="in" filter="wipe(up)">
                                      <p:cBhvr>
                                        <p:cTn id="11" dur="500"/>
                                        <p:tgtEl>
                                          <p:spTgt spid="133122">
                                            <p:txEl>
                                              <p:pRg st="1" end="1"/>
                                            </p:txEl>
                                          </p:spTgt>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133122">
                                            <p:txEl>
                                              <p:pRg st="2" end="2"/>
                                            </p:txEl>
                                          </p:spTgt>
                                        </p:tgtEl>
                                        <p:attrNameLst>
                                          <p:attrName>style.visibility</p:attrName>
                                        </p:attrNameLst>
                                      </p:cBhvr>
                                      <p:to>
                                        <p:strVal val="visible"/>
                                      </p:to>
                                    </p:set>
                                    <p:animEffect transition="in" filter="wipe(up)">
                                      <p:cBhvr>
                                        <p:cTn id="15" dur="500"/>
                                        <p:tgtEl>
                                          <p:spTgt spid="133122">
                                            <p:txEl>
                                              <p:pRg st="2" end="2"/>
                                            </p:txEl>
                                          </p:spTgt>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133122">
                                            <p:txEl>
                                              <p:pRg st="3" end="3"/>
                                            </p:txEl>
                                          </p:spTgt>
                                        </p:tgtEl>
                                        <p:attrNameLst>
                                          <p:attrName>style.visibility</p:attrName>
                                        </p:attrNameLst>
                                      </p:cBhvr>
                                      <p:to>
                                        <p:strVal val="visible"/>
                                      </p:to>
                                    </p:set>
                                    <p:animEffect transition="in" filter="wipe(up)">
                                      <p:cBhvr>
                                        <p:cTn id="19" dur="500"/>
                                        <p:tgtEl>
                                          <p:spTgt spid="133122">
                                            <p:txEl>
                                              <p:pRg st="3" end="3"/>
                                            </p:txEl>
                                          </p:spTgt>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133122">
                                            <p:txEl>
                                              <p:pRg st="4" end="4"/>
                                            </p:txEl>
                                          </p:spTgt>
                                        </p:tgtEl>
                                        <p:attrNameLst>
                                          <p:attrName>style.visibility</p:attrName>
                                        </p:attrNameLst>
                                      </p:cBhvr>
                                      <p:to>
                                        <p:strVal val="visible"/>
                                      </p:to>
                                    </p:set>
                                    <p:animEffect transition="in" filter="wipe(up)">
                                      <p:cBhvr>
                                        <p:cTn id="23" dur="500"/>
                                        <p:tgtEl>
                                          <p:spTgt spid="133122">
                                            <p:txEl>
                                              <p:pRg st="4" end="4"/>
                                            </p:txEl>
                                          </p:spTgt>
                                        </p:tgtEl>
                                      </p:cBhvr>
                                    </p:animEffect>
                                  </p:childTnLst>
                                </p:cTn>
                              </p:par>
                            </p:childTnLst>
                          </p:cTn>
                        </p:par>
                        <p:par>
                          <p:cTn id="24" fill="hold" nodeType="afterGroup">
                            <p:stCondLst>
                              <p:cond delay="2500"/>
                            </p:stCondLst>
                            <p:childTnLst>
                              <p:par>
                                <p:cTn id="25" presetID="22" presetClass="entr" presetSubtype="1" fill="hold" nodeType="afterEffect">
                                  <p:stCondLst>
                                    <p:cond delay="0"/>
                                  </p:stCondLst>
                                  <p:childTnLst>
                                    <p:set>
                                      <p:cBhvr>
                                        <p:cTn id="26" dur="1" fill="hold">
                                          <p:stCondLst>
                                            <p:cond delay="0"/>
                                          </p:stCondLst>
                                        </p:cTn>
                                        <p:tgtEl>
                                          <p:spTgt spid="133122">
                                            <p:txEl>
                                              <p:pRg st="5" end="5"/>
                                            </p:txEl>
                                          </p:spTgt>
                                        </p:tgtEl>
                                        <p:attrNameLst>
                                          <p:attrName>style.visibility</p:attrName>
                                        </p:attrNameLst>
                                      </p:cBhvr>
                                      <p:to>
                                        <p:strVal val="visible"/>
                                      </p:to>
                                    </p:set>
                                    <p:animEffect transition="in" filter="wipe(up)">
                                      <p:cBhvr>
                                        <p:cTn id="27" dur="500"/>
                                        <p:tgtEl>
                                          <p:spTgt spid="13312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ext Box 2">
            <a:extLst>
              <a:ext uri="{FF2B5EF4-FFF2-40B4-BE49-F238E27FC236}">
                <a16:creationId xmlns:a16="http://schemas.microsoft.com/office/drawing/2014/main" id="{5AA40C39-6FC7-4338-92DF-626EC6A3D758}"/>
              </a:ext>
            </a:extLst>
          </p:cNvPr>
          <p:cNvSpPr txBox="1">
            <a:spLocks noChangeArrowheads="1"/>
          </p:cNvSpPr>
          <p:nvPr/>
        </p:nvSpPr>
        <p:spPr bwMode="auto">
          <a:xfrm>
            <a:off x="304800" y="1143000"/>
            <a:ext cx="8610600" cy="559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5000"/>
              </a:lnSpc>
              <a:spcBef>
                <a:spcPct val="0"/>
              </a:spcBef>
              <a:buSzTx/>
              <a:buFontTx/>
              <a:buNone/>
            </a:pPr>
            <a:r>
              <a:rPr lang="zh-CN" altLang="en-US" sz="2600" b="1" dirty="0">
                <a:solidFill>
                  <a:srgbClr val="A50021"/>
                </a:solidFill>
                <a:latin typeface="黑体" panose="02010609060101010101" pitchFamily="49" charset="-122"/>
                <a:ea typeface="黑体" panose="02010609060101010101" pitchFamily="49" charset="-122"/>
              </a:rPr>
              <a:t>例</a:t>
            </a:r>
            <a:r>
              <a:rPr lang="en-US" altLang="zh-CN" sz="2600" b="1" dirty="0">
                <a:solidFill>
                  <a:srgbClr val="A50021"/>
                </a:solidFill>
                <a:latin typeface="黑体" panose="02010609060101010101" pitchFamily="49" charset="-122"/>
                <a:ea typeface="黑体" panose="02010609060101010101" pitchFamily="49" charset="-122"/>
              </a:rPr>
              <a:t>5.45  </a:t>
            </a:r>
            <a:r>
              <a:rPr lang="zh-CN" altLang="en-US" sz="2600" b="1" dirty="0">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写出教学安排视图：</a:t>
            </a:r>
          </a:p>
          <a:p>
            <a:pPr algn="just">
              <a:lnSpc>
                <a:spcPct val="135000"/>
              </a:lnSpc>
              <a:spcBef>
                <a:spcPct val="0"/>
              </a:spcBef>
              <a:buSzTx/>
              <a:buFontTx/>
              <a:buNone/>
            </a:pPr>
            <a:r>
              <a:rPr lang="zh-CN" altLang="en-US" sz="2600" b="1" dirty="0">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lang="en-US" altLang="zh-CN" sz="2600" b="1" dirty="0">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TA(C#</a:t>
            </a:r>
            <a:r>
              <a:rPr lang="zh-CN" altLang="en-US" sz="2600" b="1" dirty="0">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600" b="1" dirty="0">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CNAME</a:t>
            </a:r>
            <a:r>
              <a:rPr lang="zh-CN" altLang="en-US" sz="2600" b="1" dirty="0">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600" b="1" dirty="0">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CLASSH</a:t>
            </a:r>
            <a:r>
              <a:rPr lang="zh-CN" altLang="en-US" sz="2600" b="1" dirty="0">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600" b="1" dirty="0">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TNAME</a:t>
            </a:r>
            <a:r>
              <a:rPr lang="zh-CN" altLang="en-US" sz="2600" b="1" dirty="0">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600" b="1" dirty="0">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TRSECTION</a:t>
            </a:r>
            <a:r>
              <a:rPr lang="zh-CN" altLang="en-US" sz="2600" b="1" dirty="0">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a:t>
            </a:r>
          </a:p>
          <a:p>
            <a:pPr algn="just">
              <a:lnSpc>
                <a:spcPct val="135000"/>
              </a:lnSpc>
              <a:spcBef>
                <a:spcPct val="0"/>
              </a:spcBef>
              <a:buSzTx/>
              <a:buFontTx/>
              <a:buNone/>
            </a:pPr>
            <a:r>
              <a:rPr lang="zh-CN" altLang="en-US" sz="2600" b="1" dirty="0">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的创建语句。</a:t>
            </a:r>
          </a:p>
          <a:p>
            <a:pPr>
              <a:lnSpc>
                <a:spcPct val="130000"/>
              </a:lnSpc>
              <a:spcBef>
                <a:spcPct val="50000"/>
              </a:spcBef>
              <a:buSzTx/>
              <a:buFontTx/>
              <a:buNone/>
            </a:pPr>
            <a:r>
              <a:rPr lang="zh-CN" altLang="en-US" sz="2600" b="1" dirty="0">
                <a:solidFill>
                  <a:srgbClr val="000000"/>
                </a:solidFill>
              </a:rPr>
              <a:t>       课程关系模式：</a:t>
            </a:r>
            <a:r>
              <a:rPr lang="en-US" altLang="zh-CN" sz="2600" b="1" dirty="0">
                <a:solidFill>
                  <a:srgbClr val="660066"/>
                </a:solidFill>
              </a:rPr>
              <a:t>C</a:t>
            </a:r>
            <a:r>
              <a:rPr lang="zh-CN" altLang="en-US" sz="2600" b="1" dirty="0">
                <a:solidFill>
                  <a:srgbClr val="660066"/>
                </a:solidFill>
              </a:rPr>
              <a:t>（</a:t>
            </a:r>
            <a:r>
              <a:rPr lang="en-US" altLang="zh-CN" sz="2600" b="1" dirty="0">
                <a:solidFill>
                  <a:srgbClr val="660066"/>
                </a:solidFill>
              </a:rPr>
              <a:t>C#</a:t>
            </a:r>
            <a:r>
              <a:rPr lang="zh-CN" altLang="en-US" sz="2600" b="1" dirty="0">
                <a:solidFill>
                  <a:srgbClr val="660066"/>
                </a:solidFill>
              </a:rPr>
              <a:t>，</a:t>
            </a:r>
            <a:r>
              <a:rPr lang="en-US" altLang="zh-CN" sz="2600" b="1" dirty="0">
                <a:solidFill>
                  <a:srgbClr val="660066"/>
                </a:solidFill>
              </a:rPr>
              <a:t>CNAME</a:t>
            </a:r>
            <a:r>
              <a:rPr lang="zh-CN" altLang="en-US" sz="2600" b="1" dirty="0">
                <a:solidFill>
                  <a:srgbClr val="660066"/>
                </a:solidFill>
              </a:rPr>
              <a:t>，</a:t>
            </a:r>
            <a:r>
              <a:rPr lang="en-US" altLang="zh-CN" sz="2600" b="1" dirty="0">
                <a:solidFill>
                  <a:srgbClr val="660066"/>
                </a:solidFill>
              </a:rPr>
              <a:t>CLASSH</a:t>
            </a:r>
            <a:r>
              <a:rPr lang="zh-CN" altLang="en-US" sz="2600" b="1" dirty="0">
                <a:solidFill>
                  <a:srgbClr val="660066"/>
                </a:solidFill>
              </a:rPr>
              <a:t>）</a:t>
            </a:r>
          </a:p>
          <a:p>
            <a:pPr algn="just">
              <a:lnSpc>
                <a:spcPct val="150000"/>
              </a:lnSpc>
              <a:spcBef>
                <a:spcPct val="30000"/>
              </a:spcBef>
              <a:buSzTx/>
              <a:buFontTx/>
              <a:buNone/>
            </a:pPr>
            <a:r>
              <a:rPr lang="zh-CN" altLang="en-US" sz="2600" b="1" dirty="0"/>
              <a:t>       </a:t>
            </a:r>
            <a:r>
              <a:rPr lang="zh-CN" altLang="en-US" sz="2600" b="1" dirty="0">
                <a:solidFill>
                  <a:srgbClr val="000000"/>
                </a:solidFill>
              </a:rPr>
              <a:t>教师关系模式：</a:t>
            </a:r>
          </a:p>
          <a:p>
            <a:pPr>
              <a:lnSpc>
                <a:spcPct val="130000"/>
              </a:lnSpc>
              <a:spcBef>
                <a:spcPct val="0"/>
              </a:spcBef>
              <a:buSzTx/>
              <a:buFontTx/>
              <a:buNone/>
            </a:pPr>
            <a:r>
              <a:rPr lang="zh-CN" altLang="en-US" sz="2600" b="1" dirty="0">
                <a:solidFill>
                  <a:srgbClr val="000000"/>
                </a:solidFill>
              </a:rPr>
              <a:t>       </a:t>
            </a:r>
            <a:r>
              <a:rPr lang="en-US" altLang="zh-CN" sz="2600" b="1" dirty="0">
                <a:solidFill>
                  <a:srgbClr val="660066"/>
                </a:solidFill>
              </a:rPr>
              <a:t>T</a:t>
            </a:r>
            <a:r>
              <a:rPr lang="zh-CN" altLang="en-US" sz="2600" b="1" dirty="0">
                <a:solidFill>
                  <a:srgbClr val="660066"/>
                </a:solidFill>
              </a:rPr>
              <a:t>（</a:t>
            </a:r>
            <a:r>
              <a:rPr lang="en-US" altLang="zh-CN" sz="2600" b="1" dirty="0">
                <a:solidFill>
                  <a:srgbClr val="660066"/>
                </a:solidFill>
              </a:rPr>
              <a:t>T#</a:t>
            </a:r>
            <a:r>
              <a:rPr lang="zh-CN" altLang="en-US" sz="2600" b="1" dirty="0">
                <a:solidFill>
                  <a:srgbClr val="660066"/>
                </a:solidFill>
              </a:rPr>
              <a:t>，</a:t>
            </a:r>
            <a:r>
              <a:rPr lang="en-US" altLang="zh-CN" sz="2600" b="1" dirty="0">
                <a:solidFill>
                  <a:srgbClr val="660066"/>
                </a:solidFill>
              </a:rPr>
              <a:t>TNAME</a:t>
            </a:r>
            <a:r>
              <a:rPr lang="zh-CN" altLang="en-US" sz="2600" b="1" dirty="0">
                <a:solidFill>
                  <a:srgbClr val="660066"/>
                </a:solidFill>
              </a:rPr>
              <a:t>，</a:t>
            </a:r>
            <a:r>
              <a:rPr lang="en-US" altLang="zh-CN" sz="2600" b="1" dirty="0">
                <a:solidFill>
                  <a:srgbClr val="660066"/>
                </a:solidFill>
              </a:rPr>
              <a:t>TSEX</a:t>
            </a:r>
            <a:r>
              <a:rPr lang="zh-CN" altLang="en-US" sz="2600" b="1" dirty="0">
                <a:solidFill>
                  <a:srgbClr val="660066"/>
                </a:solidFill>
              </a:rPr>
              <a:t>，</a:t>
            </a:r>
            <a:r>
              <a:rPr lang="en-US" altLang="zh-CN" sz="2600" b="1" dirty="0">
                <a:solidFill>
                  <a:srgbClr val="660066"/>
                </a:solidFill>
              </a:rPr>
              <a:t>TBIRTHIN</a:t>
            </a:r>
            <a:r>
              <a:rPr lang="zh-CN" altLang="en-US" sz="2600" b="1" dirty="0">
                <a:solidFill>
                  <a:srgbClr val="660066"/>
                </a:solidFill>
              </a:rPr>
              <a:t>，</a:t>
            </a:r>
            <a:r>
              <a:rPr lang="en-US" altLang="zh-CN" sz="2600" b="1" dirty="0">
                <a:solidFill>
                  <a:srgbClr val="660066"/>
                </a:solidFill>
              </a:rPr>
              <a:t>TITLEOF</a:t>
            </a:r>
            <a:r>
              <a:rPr lang="zh-CN" altLang="en-US" sz="2600" b="1" dirty="0">
                <a:solidFill>
                  <a:srgbClr val="660066"/>
                </a:solidFill>
              </a:rPr>
              <a:t>，</a:t>
            </a:r>
            <a:r>
              <a:rPr lang="en-US" altLang="zh-CN" sz="2600" b="1" dirty="0">
                <a:solidFill>
                  <a:srgbClr val="660066"/>
                </a:solidFill>
              </a:rPr>
              <a:t>TRSECTION</a:t>
            </a:r>
            <a:r>
              <a:rPr lang="zh-CN" altLang="en-US" sz="2600" b="1" dirty="0">
                <a:solidFill>
                  <a:srgbClr val="660066"/>
                </a:solidFill>
              </a:rPr>
              <a:t>，</a:t>
            </a:r>
            <a:r>
              <a:rPr lang="en-US" altLang="zh-CN" sz="2600" b="1" dirty="0">
                <a:solidFill>
                  <a:srgbClr val="660066"/>
                </a:solidFill>
              </a:rPr>
              <a:t>TEL</a:t>
            </a:r>
            <a:r>
              <a:rPr lang="zh-CN" altLang="en-US" sz="2600" b="1" dirty="0">
                <a:solidFill>
                  <a:srgbClr val="660066"/>
                </a:solidFill>
              </a:rPr>
              <a:t>）</a:t>
            </a:r>
          </a:p>
          <a:p>
            <a:pPr>
              <a:lnSpc>
                <a:spcPct val="130000"/>
              </a:lnSpc>
              <a:spcBef>
                <a:spcPct val="50000"/>
              </a:spcBef>
              <a:buSzTx/>
              <a:buFontTx/>
              <a:buNone/>
            </a:pPr>
            <a:r>
              <a:rPr lang="zh-CN" altLang="en-US" sz="2600" b="1" dirty="0"/>
              <a:t>       </a:t>
            </a:r>
            <a:r>
              <a:rPr lang="zh-CN" altLang="en-US" sz="2600" b="1" dirty="0">
                <a:solidFill>
                  <a:srgbClr val="000000"/>
                </a:solidFill>
              </a:rPr>
              <a:t>讲授关系模式：</a:t>
            </a:r>
            <a:r>
              <a:rPr lang="zh-CN" altLang="en-US" sz="2600" b="1" dirty="0">
                <a:solidFill>
                  <a:srgbClr val="660066"/>
                </a:solidFill>
              </a:rPr>
              <a:t>  </a:t>
            </a:r>
            <a:r>
              <a:rPr lang="en-US" altLang="zh-CN" sz="2600" b="1" dirty="0">
                <a:solidFill>
                  <a:srgbClr val="660066"/>
                </a:solidFill>
              </a:rPr>
              <a:t>TEACH</a:t>
            </a:r>
            <a:r>
              <a:rPr lang="zh-CN" altLang="en-US" sz="2600" b="1" dirty="0">
                <a:solidFill>
                  <a:srgbClr val="660066"/>
                </a:solidFill>
              </a:rPr>
              <a:t>（</a:t>
            </a:r>
            <a:r>
              <a:rPr lang="en-US" altLang="zh-CN" sz="2600" b="1" dirty="0">
                <a:solidFill>
                  <a:srgbClr val="660066"/>
                </a:solidFill>
              </a:rPr>
              <a:t>T#</a:t>
            </a:r>
            <a:r>
              <a:rPr lang="zh-CN" altLang="en-US" sz="2600" b="1" dirty="0">
                <a:solidFill>
                  <a:srgbClr val="660066"/>
                </a:solidFill>
              </a:rPr>
              <a:t>，</a:t>
            </a:r>
            <a:r>
              <a:rPr lang="en-US" altLang="zh-CN" sz="2600" b="1" dirty="0">
                <a:solidFill>
                  <a:srgbClr val="660066"/>
                </a:solidFill>
              </a:rPr>
              <a:t>C#</a:t>
            </a:r>
            <a:r>
              <a:rPr lang="zh-CN" altLang="en-US" sz="2600" b="1" dirty="0">
                <a:solidFill>
                  <a:srgbClr val="660066"/>
                </a:solidFill>
              </a:rPr>
              <a:t>）</a:t>
            </a:r>
            <a:r>
              <a:rPr lang="zh-CN" altLang="en-US" sz="2600" dirty="0"/>
              <a:t> </a:t>
            </a:r>
          </a:p>
          <a:p>
            <a:pPr>
              <a:lnSpc>
                <a:spcPct val="130000"/>
              </a:lnSpc>
              <a:spcBef>
                <a:spcPct val="50000"/>
              </a:spcBef>
              <a:buSzTx/>
              <a:buFontTx/>
              <a:buNone/>
            </a:pPr>
            <a:r>
              <a:rPr lang="zh-CN" altLang="en-US" sz="2600" dirty="0"/>
              <a:t>        </a:t>
            </a:r>
          </a:p>
        </p:txBody>
      </p:sp>
      <p:sp>
        <p:nvSpPr>
          <p:cNvPr id="146436" name="Rectangle 1028">
            <a:extLst>
              <a:ext uri="{FF2B5EF4-FFF2-40B4-BE49-F238E27FC236}">
                <a16:creationId xmlns:a16="http://schemas.microsoft.com/office/drawing/2014/main" id="{8D42B60E-5B91-48EF-A520-8B7F411D813D}"/>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二、视图的定义</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4516"/>
    </mc:Choice>
    <mc:Fallback xmlns="">
      <p:transition spd="slow" advTm="84516"/>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34146">
                                            <p:txEl>
                                              <p:pRg st="3" end="3"/>
                                            </p:txEl>
                                          </p:spTgt>
                                        </p:tgtEl>
                                        <p:attrNameLst>
                                          <p:attrName>style.visibility</p:attrName>
                                        </p:attrNameLst>
                                      </p:cBhvr>
                                      <p:to>
                                        <p:strVal val="visible"/>
                                      </p:to>
                                    </p:set>
                                    <p:animEffect transition="in" filter="wipe(up)">
                                      <p:cBhvr>
                                        <p:cTn id="7" dur="500"/>
                                        <p:tgtEl>
                                          <p:spTgt spid="134146">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34146">
                                            <p:txEl>
                                              <p:pRg st="4" end="4"/>
                                            </p:txEl>
                                          </p:spTgt>
                                        </p:tgtEl>
                                        <p:attrNameLst>
                                          <p:attrName>style.visibility</p:attrName>
                                        </p:attrNameLst>
                                      </p:cBhvr>
                                      <p:to>
                                        <p:strVal val="visible"/>
                                      </p:to>
                                    </p:set>
                                    <p:animEffect transition="in" filter="wipe(up)">
                                      <p:cBhvr>
                                        <p:cTn id="12" dur="500"/>
                                        <p:tgtEl>
                                          <p:spTgt spid="134146">
                                            <p:txEl>
                                              <p:pRg st="4" end="4"/>
                                            </p:txEl>
                                          </p:spTgt>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134146">
                                            <p:txEl>
                                              <p:pRg st="5" end="5"/>
                                            </p:txEl>
                                          </p:spTgt>
                                        </p:tgtEl>
                                        <p:attrNameLst>
                                          <p:attrName>style.visibility</p:attrName>
                                        </p:attrNameLst>
                                      </p:cBhvr>
                                      <p:to>
                                        <p:strVal val="visible"/>
                                      </p:to>
                                    </p:set>
                                    <p:animEffect transition="in" filter="wipe(up)">
                                      <p:cBhvr>
                                        <p:cTn id="16" dur="500"/>
                                        <p:tgtEl>
                                          <p:spTgt spid="134146">
                                            <p:txEl>
                                              <p:pRg st="5" end="5"/>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134146">
                                            <p:txEl>
                                              <p:pRg st="6" end="6"/>
                                            </p:txEl>
                                          </p:spTgt>
                                        </p:tgtEl>
                                        <p:attrNameLst>
                                          <p:attrName>style.visibility</p:attrName>
                                        </p:attrNameLst>
                                      </p:cBhvr>
                                      <p:to>
                                        <p:strVal val="visible"/>
                                      </p:to>
                                    </p:set>
                                    <p:animEffect transition="in" filter="wipe(up)">
                                      <p:cBhvr>
                                        <p:cTn id="21" dur="500"/>
                                        <p:tgtEl>
                                          <p:spTgt spid="13414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4" name="Text Box 4">
            <a:extLst>
              <a:ext uri="{FF2B5EF4-FFF2-40B4-BE49-F238E27FC236}">
                <a16:creationId xmlns:a16="http://schemas.microsoft.com/office/drawing/2014/main" id="{B6410F56-27D3-48E0-8836-34AB123FC017}"/>
              </a:ext>
            </a:extLst>
          </p:cNvPr>
          <p:cNvSpPr txBox="1">
            <a:spLocks noChangeArrowheads="1"/>
          </p:cNvSpPr>
          <p:nvPr/>
        </p:nvSpPr>
        <p:spPr bwMode="auto">
          <a:xfrm>
            <a:off x="304800" y="1143000"/>
            <a:ext cx="8610600" cy="535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5000"/>
              </a:lnSpc>
              <a:spcBef>
                <a:spcPct val="0"/>
              </a:spcBef>
              <a:buSzTx/>
              <a:buFontTx/>
              <a:buNone/>
            </a:pPr>
            <a:r>
              <a:rPr lang="zh-CN" altLang="en-US" sz="2600" b="1">
                <a:solidFill>
                  <a:srgbClr val="A50021"/>
                </a:solidFill>
                <a:latin typeface="黑体" panose="02010609060101010101" pitchFamily="49" charset="-122"/>
                <a:ea typeface="黑体" panose="02010609060101010101" pitchFamily="49" charset="-122"/>
              </a:rPr>
              <a:t>例</a:t>
            </a:r>
            <a:r>
              <a:rPr lang="en-US" altLang="zh-CN" sz="2600" b="1">
                <a:solidFill>
                  <a:srgbClr val="A50021"/>
                </a:solidFill>
                <a:latin typeface="黑体" panose="02010609060101010101" pitchFamily="49" charset="-122"/>
                <a:ea typeface="黑体" panose="02010609060101010101" pitchFamily="49" charset="-122"/>
              </a:rPr>
              <a:t>5.45  </a:t>
            </a: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写出教学安排视图：</a:t>
            </a:r>
          </a:p>
          <a:p>
            <a:pPr algn="just">
              <a:lnSpc>
                <a:spcPct val="135000"/>
              </a:lnSpc>
              <a:spcBef>
                <a:spcPct val="0"/>
              </a:spcBef>
              <a:buSzTx/>
              <a:buFontTx/>
              <a:buNone/>
            </a:pP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lang="en-US" altLang="zh-CN" sz="2600" b="1">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TA(C#</a:t>
            </a:r>
            <a:r>
              <a:rPr lang="zh-CN" altLang="en-US" sz="2600" b="1">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600" b="1">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CNAME</a:t>
            </a:r>
            <a:r>
              <a:rPr lang="zh-CN" altLang="en-US" sz="2600" b="1">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600" b="1">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CLASSH</a:t>
            </a:r>
            <a:r>
              <a:rPr lang="zh-CN" altLang="en-US" sz="2600" b="1">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600" b="1">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TNAME</a:t>
            </a:r>
            <a:r>
              <a:rPr lang="zh-CN" altLang="en-US" sz="2600" b="1">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600" b="1">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TRSECTION</a:t>
            </a:r>
            <a:r>
              <a:rPr lang="zh-CN" altLang="en-US" sz="2600" b="1">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a:t>
            </a:r>
          </a:p>
          <a:p>
            <a:pPr algn="just">
              <a:lnSpc>
                <a:spcPct val="135000"/>
              </a:lnSpc>
              <a:spcBef>
                <a:spcPct val="0"/>
              </a:spcBef>
              <a:buSzTx/>
              <a:buFontTx/>
              <a:buNone/>
            </a:pP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的创建语句。</a:t>
            </a:r>
          </a:p>
          <a:p>
            <a:pPr algn="just">
              <a:lnSpc>
                <a:spcPct val="125000"/>
              </a:lnSpc>
              <a:spcBef>
                <a:spcPct val="35000"/>
              </a:spcBef>
              <a:buSzTx/>
              <a:buFontTx/>
              <a:buNone/>
            </a:pPr>
            <a:r>
              <a:rPr lang="zh-CN" altLang="en-US" sz="2600" b="1">
                <a:latin typeface="黑体" panose="02010609060101010101" pitchFamily="49" charset="-122"/>
                <a:ea typeface="黑体" panose="02010609060101010101" pitchFamily="49" charset="-122"/>
              </a:rPr>
              <a:t>  </a:t>
            </a:r>
            <a:r>
              <a:rPr lang="en-US" altLang="zh-CN" sz="2400" b="1">
                <a:solidFill>
                  <a:srgbClr val="000000"/>
                </a:solidFill>
                <a:latin typeface="黑体" panose="02010609060101010101" pitchFamily="49" charset="-122"/>
                <a:ea typeface="黑体" panose="02010609060101010101" pitchFamily="49" charset="-122"/>
              </a:rPr>
              <a:t>CREATE VIEW TA</a:t>
            </a:r>
          </a:p>
          <a:p>
            <a:pPr algn="just">
              <a:lnSpc>
                <a:spcPct val="125000"/>
              </a:lnSpc>
              <a:spcBef>
                <a:spcPct val="0"/>
              </a:spcBef>
              <a:buSzTx/>
              <a:buFontTx/>
              <a:buNone/>
            </a:pPr>
            <a:r>
              <a:rPr lang="en-US" altLang="zh-CN" sz="2400" b="1">
                <a:solidFill>
                  <a:srgbClr val="000000"/>
                </a:solidFill>
                <a:latin typeface="黑体" panose="02010609060101010101" pitchFamily="49" charset="-122"/>
                <a:ea typeface="黑体" panose="02010609060101010101" pitchFamily="49" charset="-122"/>
              </a:rPr>
              <a:t>      AS SELECT C#</a:t>
            </a:r>
            <a:r>
              <a:rPr lang="zh-CN" altLang="en-US" sz="2400" b="1">
                <a:solidFill>
                  <a:srgbClr val="000000"/>
                </a:solidFill>
                <a:latin typeface="黑体" panose="02010609060101010101" pitchFamily="49" charset="-122"/>
                <a:ea typeface="黑体" panose="02010609060101010101" pitchFamily="49" charset="-122"/>
              </a:rPr>
              <a:t>，</a:t>
            </a:r>
            <a:r>
              <a:rPr lang="en-US" altLang="zh-CN" sz="2400" b="1">
                <a:solidFill>
                  <a:srgbClr val="000000"/>
                </a:solidFill>
                <a:latin typeface="黑体" panose="02010609060101010101" pitchFamily="49" charset="-122"/>
                <a:ea typeface="黑体" panose="02010609060101010101" pitchFamily="49" charset="-122"/>
              </a:rPr>
              <a:t>CNAME</a:t>
            </a:r>
            <a:r>
              <a:rPr lang="zh-CN" altLang="en-US" sz="2400" b="1">
                <a:solidFill>
                  <a:srgbClr val="000000"/>
                </a:solidFill>
                <a:latin typeface="黑体" panose="02010609060101010101" pitchFamily="49" charset="-122"/>
                <a:ea typeface="黑体" panose="02010609060101010101" pitchFamily="49" charset="-122"/>
              </a:rPr>
              <a:t>，</a:t>
            </a:r>
            <a:r>
              <a:rPr lang="en-US" altLang="zh-CN" sz="2400" b="1">
                <a:solidFill>
                  <a:srgbClr val="000000"/>
                </a:solidFill>
                <a:latin typeface="黑体" panose="02010609060101010101" pitchFamily="49" charset="-122"/>
                <a:ea typeface="黑体" panose="02010609060101010101" pitchFamily="49" charset="-122"/>
              </a:rPr>
              <a:t>CLASSH</a:t>
            </a:r>
            <a:r>
              <a:rPr lang="zh-CN" altLang="en-US" sz="2400" b="1">
                <a:solidFill>
                  <a:srgbClr val="000000"/>
                </a:solidFill>
                <a:latin typeface="黑体" panose="02010609060101010101" pitchFamily="49" charset="-122"/>
                <a:ea typeface="黑体" panose="02010609060101010101" pitchFamily="49" charset="-122"/>
              </a:rPr>
              <a:t>，</a:t>
            </a:r>
            <a:r>
              <a:rPr lang="en-US" altLang="zh-CN" sz="2400" b="1">
                <a:solidFill>
                  <a:srgbClr val="000000"/>
                </a:solidFill>
                <a:latin typeface="黑体" panose="02010609060101010101" pitchFamily="49" charset="-122"/>
                <a:ea typeface="黑体" panose="02010609060101010101" pitchFamily="49" charset="-122"/>
              </a:rPr>
              <a:t>TNAME</a:t>
            </a:r>
            <a:r>
              <a:rPr lang="zh-CN" altLang="en-US" sz="2400" b="1">
                <a:solidFill>
                  <a:srgbClr val="000000"/>
                </a:solidFill>
                <a:latin typeface="黑体" panose="02010609060101010101" pitchFamily="49" charset="-122"/>
                <a:ea typeface="黑体" panose="02010609060101010101" pitchFamily="49" charset="-122"/>
              </a:rPr>
              <a:t>，</a:t>
            </a:r>
            <a:r>
              <a:rPr lang="en-US" altLang="zh-CN" sz="2400" b="1">
                <a:solidFill>
                  <a:srgbClr val="000000"/>
                </a:solidFill>
                <a:latin typeface="黑体" panose="02010609060101010101" pitchFamily="49" charset="-122"/>
                <a:ea typeface="黑体" panose="02010609060101010101" pitchFamily="49" charset="-122"/>
              </a:rPr>
              <a:t>TRSECTION</a:t>
            </a:r>
          </a:p>
          <a:p>
            <a:pPr algn="just">
              <a:lnSpc>
                <a:spcPct val="125000"/>
              </a:lnSpc>
              <a:spcBef>
                <a:spcPct val="0"/>
              </a:spcBef>
              <a:buSzTx/>
              <a:buFontTx/>
              <a:buNone/>
            </a:pPr>
            <a:r>
              <a:rPr lang="en-US" altLang="zh-CN" sz="2400" b="1">
                <a:solidFill>
                  <a:srgbClr val="000000"/>
                </a:solidFill>
                <a:latin typeface="黑体" panose="02010609060101010101" pitchFamily="49" charset="-122"/>
                <a:ea typeface="黑体" panose="02010609060101010101" pitchFamily="49" charset="-122"/>
              </a:rPr>
              <a:t>           FROM  C</a:t>
            </a:r>
            <a:r>
              <a:rPr lang="zh-CN" altLang="en-US" sz="2400" b="1">
                <a:solidFill>
                  <a:srgbClr val="000000"/>
                </a:solidFill>
                <a:latin typeface="黑体" panose="02010609060101010101" pitchFamily="49" charset="-122"/>
                <a:ea typeface="黑体" panose="02010609060101010101" pitchFamily="49" charset="-122"/>
              </a:rPr>
              <a:t>，</a:t>
            </a:r>
            <a:r>
              <a:rPr lang="en-US" altLang="zh-CN" sz="2400" b="1">
                <a:solidFill>
                  <a:srgbClr val="000000"/>
                </a:solidFill>
                <a:latin typeface="黑体" panose="02010609060101010101" pitchFamily="49" charset="-122"/>
                <a:ea typeface="黑体" panose="02010609060101010101" pitchFamily="49" charset="-122"/>
              </a:rPr>
              <a:t>TEACH</a:t>
            </a:r>
            <a:r>
              <a:rPr lang="zh-CN" altLang="en-US" sz="2400" b="1">
                <a:solidFill>
                  <a:srgbClr val="000000"/>
                </a:solidFill>
                <a:latin typeface="黑体" panose="02010609060101010101" pitchFamily="49" charset="-122"/>
                <a:ea typeface="黑体" panose="02010609060101010101" pitchFamily="49" charset="-122"/>
              </a:rPr>
              <a:t>，</a:t>
            </a:r>
            <a:r>
              <a:rPr lang="en-US" altLang="zh-CN" sz="2400" b="1">
                <a:solidFill>
                  <a:srgbClr val="000000"/>
                </a:solidFill>
                <a:latin typeface="黑体" panose="02010609060101010101" pitchFamily="49" charset="-122"/>
                <a:ea typeface="黑体" panose="02010609060101010101" pitchFamily="49" charset="-122"/>
              </a:rPr>
              <a:t>T</a:t>
            </a:r>
          </a:p>
          <a:p>
            <a:pPr algn="just">
              <a:lnSpc>
                <a:spcPct val="125000"/>
              </a:lnSpc>
              <a:spcBef>
                <a:spcPct val="0"/>
              </a:spcBef>
              <a:buSzTx/>
              <a:buFontTx/>
              <a:buNone/>
            </a:pPr>
            <a:r>
              <a:rPr lang="en-US" altLang="zh-CN" sz="2400" b="1">
                <a:solidFill>
                  <a:srgbClr val="000000"/>
                </a:solidFill>
                <a:latin typeface="黑体" panose="02010609060101010101" pitchFamily="49" charset="-122"/>
                <a:ea typeface="黑体" panose="02010609060101010101" pitchFamily="49" charset="-122"/>
              </a:rPr>
              <a:t>           WHERE C.C#=TEACH.C# AND TEACH.T#=T.T#</a:t>
            </a:r>
            <a:r>
              <a:rPr lang="zh-CN" altLang="en-US" sz="2400" b="1">
                <a:solidFill>
                  <a:srgbClr val="000000"/>
                </a:solidFill>
                <a:latin typeface="黑体" panose="02010609060101010101" pitchFamily="49" charset="-122"/>
                <a:ea typeface="黑体" panose="02010609060101010101" pitchFamily="49" charset="-122"/>
              </a:rPr>
              <a:t>；</a:t>
            </a:r>
          </a:p>
          <a:p>
            <a:pPr algn="just">
              <a:lnSpc>
                <a:spcPct val="125000"/>
              </a:lnSpc>
              <a:spcBef>
                <a:spcPct val="0"/>
              </a:spcBef>
              <a:buSzTx/>
              <a:buFontTx/>
              <a:buNone/>
            </a:pPr>
            <a:endParaRPr lang="zh-CN" altLang="en-US" sz="2600" b="1">
              <a:latin typeface="黑体" panose="02010609060101010101" pitchFamily="49" charset="-122"/>
              <a:ea typeface="黑体" panose="02010609060101010101" pitchFamily="49" charset="-122"/>
            </a:endParaRPr>
          </a:p>
          <a:p>
            <a:pPr algn="just">
              <a:lnSpc>
                <a:spcPct val="135000"/>
              </a:lnSpc>
              <a:spcBef>
                <a:spcPct val="0"/>
              </a:spcBef>
              <a:buSzTx/>
              <a:buFontTx/>
              <a:buNone/>
            </a:pPr>
            <a:r>
              <a:rPr lang="zh-CN" altLang="en-US" sz="2600" b="1">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其中，</a:t>
            </a:r>
            <a:r>
              <a:rPr lang="zh-CN" altLang="en-US" sz="2800" b="1">
                <a:solidFill>
                  <a:srgbClr val="003366"/>
                </a:solidFill>
                <a:effectLst>
                  <a:outerShdw blurRad="38100" dist="38100" dir="2700000" algn="tl">
                    <a:srgbClr val="C0C0C0"/>
                  </a:outerShdw>
                </a:effectLst>
                <a:latin typeface="楷体_GB2312" pitchFamily="49" charset="-122"/>
                <a:ea typeface="楷体_GB2312" pitchFamily="49" charset="-122"/>
              </a:rPr>
              <a:t>只有视图名</a:t>
            </a:r>
            <a:r>
              <a:rPr lang="en-US" altLang="zh-CN" sz="2800" b="1">
                <a:solidFill>
                  <a:srgbClr val="003366"/>
                </a:solidFill>
                <a:effectLst>
                  <a:outerShdw blurRad="38100" dist="38100" dir="2700000" algn="tl">
                    <a:srgbClr val="C0C0C0"/>
                  </a:outerShdw>
                </a:effectLst>
                <a:latin typeface="楷体_GB2312" pitchFamily="49" charset="-122"/>
                <a:ea typeface="楷体_GB2312" pitchFamily="49" charset="-122"/>
              </a:rPr>
              <a:t>TA</a:t>
            </a:r>
            <a:r>
              <a:rPr lang="zh-CN" altLang="en-US" sz="2800" b="1">
                <a:solidFill>
                  <a:srgbClr val="003366"/>
                </a:solidFill>
                <a:effectLst>
                  <a:outerShdw blurRad="38100" dist="38100" dir="2700000" algn="tl">
                    <a:srgbClr val="C0C0C0"/>
                  </a:outerShdw>
                </a:effectLst>
                <a:latin typeface="楷体_GB2312" pitchFamily="49" charset="-122"/>
                <a:ea typeface="楷体_GB2312" pitchFamily="49" charset="-122"/>
              </a:rPr>
              <a:t>，没有</a:t>
            </a:r>
            <a:r>
              <a:rPr lang="en-US" altLang="zh-CN" sz="2800" b="1">
                <a:solidFill>
                  <a:srgbClr val="003366"/>
                </a:solidFill>
                <a:effectLst>
                  <a:outerShdw blurRad="38100" dist="38100" dir="2700000" algn="tl">
                    <a:srgbClr val="C0C0C0"/>
                  </a:outerShdw>
                </a:effectLst>
                <a:latin typeface="楷体_GB2312" pitchFamily="49" charset="-122"/>
                <a:ea typeface="楷体_GB2312" pitchFamily="49" charset="-122"/>
              </a:rPr>
              <a:t>&lt;</a:t>
            </a:r>
            <a:r>
              <a:rPr lang="zh-CN" altLang="en-US" sz="2800" b="1">
                <a:solidFill>
                  <a:srgbClr val="003366"/>
                </a:solidFill>
                <a:effectLst>
                  <a:outerShdw blurRad="38100" dist="38100" dir="2700000" algn="tl">
                    <a:srgbClr val="C0C0C0"/>
                  </a:outerShdw>
                </a:effectLst>
                <a:latin typeface="楷体_GB2312" pitchFamily="49" charset="-122"/>
                <a:ea typeface="楷体_GB2312" pitchFamily="49" charset="-122"/>
              </a:rPr>
              <a:t>视图列名表</a:t>
            </a:r>
            <a:r>
              <a:rPr lang="en-US" altLang="zh-CN" sz="2800" b="1">
                <a:solidFill>
                  <a:srgbClr val="003366"/>
                </a:solidFill>
                <a:effectLst>
                  <a:outerShdw blurRad="38100" dist="38100" dir="2700000" algn="tl">
                    <a:srgbClr val="C0C0C0"/>
                  </a:outerShdw>
                </a:effectLst>
                <a:latin typeface="楷体_GB2312" pitchFamily="49" charset="-122"/>
                <a:ea typeface="楷体_GB2312" pitchFamily="49" charset="-122"/>
              </a:rPr>
              <a:t>&gt;</a:t>
            </a:r>
            <a:r>
              <a:rPr lang="zh-CN" altLang="en-US" sz="2800" b="1">
                <a:solidFill>
                  <a:srgbClr val="003366"/>
                </a:solidFill>
                <a:effectLst>
                  <a:outerShdw blurRad="38100" dist="38100" dir="2700000" algn="tl">
                    <a:srgbClr val="C0C0C0"/>
                  </a:outerShdw>
                </a:effectLst>
                <a:latin typeface="楷体_GB2312" pitchFamily="49" charset="-122"/>
                <a:ea typeface="楷体_GB2312" pitchFamily="49" charset="-122"/>
              </a:rPr>
              <a:t>选项说明视图</a:t>
            </a:r>
            <a:r>
              <a:rPr lang="en-US" altLang="zh-CN" sz="2800" b="1">
                <a:solidFill>
                  <a:srgbClr val="003366"/>
                </a:solidFill>
                <a:effectLst>
                  <a:outerShdw blurRad="38100" dist="38100" dir="2700000" algn="tl">
                    <a:srgbClr val="C0C0C0"/>
                  </a:outerShdw>
                </a:effectLst>
                <a:latin typeface="楷体_GB2312" pitchFamily="49" charset="-122"/>
                <a:ea typeface="楷体_GB2312" pitchFamily="49" charset="-122"/>
              </a:rPr>
              <a:t>TA</a:t>
            </a:r>
            <a:r>
              <a:rPr lang="zh-CN" altLang="en-US" sz="2800" b="1">
                <a:solidFill>
                  <a:srgbClr val="003366"/>
                </a:solidFill>
                <a:effectLst>
                  <a:outerShdw blurRad="38100" dist="38100" dir="2700000" algn="tl">
                    <a:srgbClr val="C0C0C0"/>
                  </a:outerShdw>
                </a:effectLst>
                <a:latin typeface="楷体_GB2312" pitchFamily="49" charset="-122"/>
                <a:ea typeface="楷体_GB2312" pitchFamily="49" charset="-122"/>
              </a:rPr>
              <a:t>的列名表与</a:t>
            </a:r>
            <a:r>
              <a:rPr lang="en-US" altLang="zh-CN" sz="2800" b="1">
                <a:solidFill>
                  <a:srgbClr val="003366"/>
                </a:solidFill>
                <a:effectLst>
                  <a:outerShdw blurRad="38100" dist="38100" dir="2700000" algn="tl">
                    <a:srgbClr val="C0C0C0"/>
                  </a:outerShdw>
                </a:effectLst>
                <a:latin typeface="楷体_GB2312" pitchFamily="49" charset="-122"/>
                <a:ea typeface="楷体_GB2312" pitchFamily="49" charset="-122"/>
              </a:rPr>
              <a:t>SELECT</a:t>
            </a:r>
            <a:r>
              <a:rPr lang="zh-CN" altLang="en-US" sz="2800" b="1">
                <a:solidFill>
                  <a:srgbClr val="003366"/>
                </a:solidFill>
                <a:effectLst>
                  <a:outerShdw blurRad="38100" dist="38100" dir="2700000" algn="tl">
                    <a:srgbClr val="C0C0C0"/>
                  </a:outerShdw>
                </a:effectLst>
                <a:latin typeface="楷体_GB2312" pitchFamily="49" charset="-122"/>
                <a:ea typeface="楷体_GB2312" pitchFamily="49" charset="-122"/>
              </a:rPr>
              <a:t>语句中的列名表相同。</a:t>
            </a:r>
          </a:p>
        </p:txBody>
      </p:sp>
      <p:sp>
        <p:nvSpPr>
          <p:cNvPr id="430086" name="Rectangle 6">
            <a:extLst>
              <a:ext uri="{FF2B5EF4-FFF2-40B4-BE49-F238E27FC236}">
                <a16:creationId xmlns:a16="http://schemas.microsoft.com/office/drawing/2014/main" id="{DDB9CBDB-E6FF-4B53-BD8E-042105B7566C}"/>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二、视图的定义</a:t>
            </a:r>
          </a:p>
        </p:txBody>
      </p:sp>
    </p:spTree>
  </p:cSld>
  <p:clrMapOvr>
    <a:masterClrMapping/>
  </p:clrMapOvr>
  <mc:AlternateContent xmlns:mc="http://schemas.openxmlformats.org/markup-compatibility/2006" xmlns:p14="http://schemas.microsoft.com/office/powerpoint/2010/main">
    <mc:Choice Requires="p14">
      <p:transition spd="slow" p14:dur="2000" advTm="40449"/>
    </mc:Choice>
    <mc:Fallback xmlns="">
      <p:transition spd="slow" advTm="40449"/>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ext Box 2">
            <a:extLst>
              <a:ext uri="{FF2B5EF4-FFF2-40B4-BE49-F238E27FC236}">
                <a16:creationId xmlns:a16="http://schemas.microsoft.com/office/drawing/2014/main" id="{5EC5FA6C-C239-49EE-A93C-EB527D994E10}"/>
              </a:ext>
            </a:extLst>
          </p:cNvPr>
          <p:cNvSpPr txBox="1">
            <a:spLocks noChangeArrowheads="1"/>
          </p:cNvSpPr>
          <p:nvPr/>
        </p:nvSpPr>
        <p:spPr bwMode="auto">
          <a:xfrm>
            <a:off x="381000" y="1143000"/>
            <a:ext cx="8458200" cy="528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40000"/>
              </a:lnSpc>
              <a:spcBef>
                <a:spcPct val="0"/>
              </a:spcBef>
              <a:buSzTx/>
              <a:buFontTx/>
              <a:buNone/>
            </a:pPr>
            <a:r>
              <a:rPr lang="zh-CN" altLang="en-US" sz="2600" b="1">
                <a:solidFill>
                  <a:srgbClr val="A50021"/>
                </a:solidFill>
                <a:latin typeface="黑体" panose="02010609060101010101" pitchFamily="49" charset="-122"/>
                <a:ea typeface="黑体" panose="02010609060101010101" pitchFamily="49" charset="-122"/>
              </a:rPr>
              <a:t>例</a:t>
            </a:r>
            <a:r>
              <a:rPr lang="en-US" altLang="zh-CN" sz="2600" b="1">
                <a:solidFill>
                  <a:srgbClr val="A50021"/>
                </a:solidFill>
                <a:latin typeface="黑体" panose="02010609060101010101" pitchFamily="49" charset="-122"/>
                <a:ea typeface="黑体" panose="02010609060101010101" pitchFamily="49" charset="-122"/>
              </a:rPr>
              <a:t>5.45  </a:t>
            </a:r>
            <a:r>
              <a:rPr lang="zh-CN" altLang="en-US" sz="24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写出查询每个学生平均成绩的视图</a:t>
            </a:r>
          </a:p>
          <a:p>
            <a:pPr algn="just">
              <a:lnSpc>
                <a:spcPct val="140000"/>
              </a:lnSpc>
              <a:spcBef>
                <a:spcPct val="0"/>
              </a:spcBef>
              <a:buSzTx/>
              <a:buFontTx/>
              <a:buNone/>
            </a:pPr>
            <a:r>
              <a:rPr lang="zh-CN" altLang="en-US" sz="24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lang="en-US" altLang="zh-CN" sz="24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A_GRADE(S#</a:t>
            </a:r>
            <a:r>
              <a:rPr lang="zh-CN" altLang="en-US" sz="24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4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SNAME</a:t>
            </a:r>
            <a:r>
              <a:rPr lang="zh-CN" altLang="en-US" sz="24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4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AVG_GRADE) </a:t>
            </a:r>
          </a:p>
          <a:p>
            <a:pPr algn="just">
              <a:lnSpc>
                <a:spcPct val="140000"/>
              </a:lnSpc>
              <a:spcBef>
                <a:spcPct val="0"/>
              </a:spcBef>
              <a:buSzTx/>
              <a:buFontTx/>
              <a:buNone/>
            </a:pPr>
            <a:r>
              <a:rPr lang="zh-CN" altLang="en-US" sz="24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的创建语句。</a:t>
            </a:r>
          </a:p>
          <a:p>
            <a:pPr algn="just">
              <a:lnSpc>
                <a:spcPct val="140000"/>
              </a:lnSpc>
              <a:spcBef>
                <a:spcPct val="0"/>
              </a:spcBef>
              <a:buSzTx/>
              <a:buFontTx/>
              <a:buNone/>
            </a:pPr>
            <a:endParaRPr lang="zh-CN" altLang="en-US" sz="24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a:lnSpc>
                <a:spcPct val="135000"/>
              </a:lnSpc>
              <a:spcBef>
                <a:spcPct val="5000"/>
              </a:spcBef>
              <a:buSzTx/>
              <a:buFontTx/>
              <a:buNone/>
            </a:pPr>
            <a:r>
              <a:rPr lang="zh-CN" altLang="en-US" sz="2600" b="1">
                <a:solidFill>
                  <a:srgbClr val="000000"/>
                </a:solidFill>
              </a:rPr>
              <a:t>学生关系模式：</a:t>
            </a:r>
          </a:p>
          <a:p>
            <a:pPr>
              <a:lnSpc>
                <a:spcPct val="135000"/>
              </a:lnSpc>
              <a:buSzTx/>
              <a:buFontTx/>
              <a:buNone/>
            </a:pPr>
            <a:r>
              <a:rPr lang="zh-CN" altLang="en-US" b="1">
                <a:solidFill>
                  <a:srgbClr val="000000"/>
                </a:solidFill>
              </a:rPr>
              <a:t>     </a:t>
            </a:r>
            <a:r>
              <a:rPr lang="en-US" altLang="zh-CN" sz="2600" b="1">
                <a:solidFill>
                  <a:srgbClr val="660066"/>
                </a:solidFill>
              </a:rPr>
              <a:t>S</a:t>
            </a:r>
            <a:r>
              <a:rPr lang="zh-CN" altLang="en-US" sz="2600" b="1">
                <a:solidFill>
                  <a:srgbClr val="660066"/>
                </a:solidFill>
              </a:rPr>
              <a:t>（</a:t>
            </a:r>
            <a:r>
              <a:rPr lang="en-US" altLang="zh-CN" sz="2600" b="1">
                <a:solidFill>
                  <a:srgbClr val="660066"/>
                </a:solidFill>
              </a:rPr>
              <a:t>S#</a:t>
            </a:r>
            <a:r>
              <a:rPr lang="zh-CN" altLang="en-US" sz="2600" b="1">
                <a:solidFill>
                  <a:srgbClr val="660066"/>
                </a:solidFill>
              </a:rPr>
              <a:t>，</a:t>
            </a:r>
            <a:r>
              <a:rPr lang="en-US" altLang="zh-CN" sz="2600" b="1">
                <a:solidFill>
                  <a:srgbClr val="660066"/>
                </a:solidFill>
              </a:rPr>
              <a:t>SNAME</a:t>
            </a:r>
            <a:r>
              <a:rPr lang="zh-CN" altLang="en-US" sz="2600" b="1">
                <a:solidFill>
                  <a:srgbClr val="660066"/>
                </a:solidFill>
              </a:rPr>
              <a:t>，</a:t>
            </a:r>
            <a:r>
              <a:rPr lang="en-US" altLang="zh-CN" sz="2600" b="1">
                <a:solidFill>
                  <a:srgbClr val="660066"/>
                </a:solidFill>
              </a:rPr>
              <a:t>SSEX</a:t>
            </a:r>
            <a:r>
              <a:rPr lang="zh-CN" altLang="en-US" sz="2600" b="1">
                <a:solidFill>
                  <a:srgbClr val="660066"/>
                </a:solidFill>
              </a:rPr>
              <a:t>，</a:t>
            </a:r>
            <a:r>
              <a:rPr lang="en-US" altLang="zh-CN" sz="2600" b="1">
                <a:solidFill>
                  <a:srgbClr val="660066"/>
                </a:solidFill>
              </a:rPr>
              <a:t>SBIRTHIN</a:t>
            </a:r>
            <a:r>
              <a:rPr lang="zh-CN" altLang="en-US" sz="2600" b="1">
                <a:solidFill>
                  <a:srgbClr val="660066"/>
                </a:solidFill>
              </a:rPr>
              <a:t>，</a:t>
            </a:r>
            <a:r>
              <a:rPr lang="en-US" altLang="zh-CN" sz="2600" b="1">
                <a:solidFill>
                  <a:srgbClr val="660066"/>
                </a:solidFill>
              </a:rPr>
              <a:t>…</a:t>
            </a:r>
            <a:r>
              <a:rPr lang="zh-CN" altLang="en-US" sz="2600" b="1">
                <a:solidFill>
                  <a:srgbClr val="660066"/>
                </a:solidFill>
              </a:rPr>
              <a:t>，</a:t>
            </a:r>
            <a:r>
              <a:rPr lang="en-US" altLang="zh-CN" sz="2600" b="1">
                <a:solidFill>
                  <a:srgbClr val="660066"/>
                </a:solidFill>
              </a:rPr>
              <a:t>CLASS</a:t>
            </a:r>
            <a:r>
              <a:rPr lang="zh-CN" altLang="en-US" sz="2600" b="1">
                <a:solidFill>
                  <a:srgbClr val="660066"/>
                </a:solidFill>
              </a:rPr>
              <a:t>）</a:t>
            </a:r>
          </a:p>
          <a:p>
            <a:pPr>
              <a:lnSpc>
                <a:spcPct val="135000"/>
              </a:lnSpc>
              <a:spcBef>
                <a:spcPct val="50000"/>
              </a:spcBef>
              <a:buSzTx/>
              <a:buFontTx/>
              <a:buNone/>
            </a:pPr>
            <a:r>
              <a:rPr lang="zh-CN" altLang="en-US" sz="2600" b="1">
                <a:solidFill>
                  <a:srgbClr val="000000"/>
                </a:solidFill>
              </a:rPr>
              <a:t>学习关系模式：</a:t>
            </a:r>
            <a:r>
              <a:rPr lang="zh-CN" altLang="en-US" b="1">
                <a:solidFill>
                  <a:srgbClr val="660066"/>
                </a:solidFill>
              </a:rPr>
              <a:t>  </a:t>
            </a:r>
          </a:p>
          <a:p>
            <a:pPr>
              <a:lnSpc>
                <a:spcPct val="135000"/>
              </a:lnSpc>
              <a:spcBef>
                <a:spcPct val="30000"/>
              </a:spcBef>
              <a:buSzTx/>
              <a:buFontTx/>
              <a:buNone/>
            </a:pPr>
            <a:r>
              <a:rPr lang="zh-CN" altLang="en-US" b="1">
                <a:solidFill>
                  <a:srgbClr val="660066"/>
                </a:solidFill>
              </a:rPr>
              <a:t>             </a:t>
            </a:r>
            <a:r>
              <a:rPr lang="en-US" altLang="zh-CN" sz="2600" b="1">
                <a:solidFill>
                  <a:srgbClr val="660066"/>
                </a:solidFill>
              </a:rPr>
              <a:t>SC</a:t>
            </a:r>
            <a:r>
              <a:rPr lang="zh-CN" altLang="en-US" sz="2600" b="1">
                <a:solidFill>
                  <a:srgbClr val="660066"/>
                </a:solidFill>
              </a:rPr>
              <a:t>（</a:t>
            </a:r>
            <a:r>
              <a:rPr lang="en-US" altLang="zh-CN" sz="2600" b="1">
                <a:solidFill>
                  <a:srgbClr val="660066"/>
                </a:solidFill>
              </a:rPr>
              <a:t>S#</a:t>
            </a:r>
            <a:r>
              <a:rPr lang="zh-CN" altLang="en-US" sz="2600" b="1">
                <a:solidFill>
                  <a:srgbClr val="660066"/>
                </a:solidFill>
              </a:rPr>
              <a:t>，</a:t>
            </a:r>
            <a:r>
              <a:rPr lang="en-US" altLang="zh-CN" sz="2600" b="1">
                <a:solidFill>
                  <a:srgbClr val="660066"/>
                </a:solidFill>
              </a:rPr>
              <a:t>C#</a:t>
            </a:r>
            <a:r>
              <a:rPr lang="zh-CN" altLang="en-US" sz="2600" b="1">
                <a:solidFill>
                  <a:srgbClr val="660066"/>
                </a:solidFill>
              </a:rPr>
              <a:t>，</a:t>
            </a:r>
            <a:r>
              <a:rPr lang="en-US" altLang="zh-CN" sz="2600" b="1">
                <a:solidFill>
                  <a:srgbClr val="660066"/>
                </a:solidFill>
              </a:rPr>
              <a:t>GRADE</a:t>
            </a:r>
            <a:r>
              <a:rPr lang="zh-CN" altLang="en-US" sz="2600" b="1">
                <a:solidFill>
                  <a:srgbClr val="660066"/>
                </a:solidFill>
              </a:rPr>
              <a:t>）</a:t>
            </a:r>
            <a:r>
              <a:rPr lang="zh-CN" altLang="en-US"/>
              <a:t> </a:t>
            </a:r>
          </a:p>
        </p:txBody>
      </p:sp>
      <p:sp>
        <p:nvSpPr>
          <p:cNvPr id="136196" name="Rectangle 4">
            <a:extLst>
              <a:ext uri="{FF2B5EF4-FFF2-40B4-BE49-F238E27FC236}">
                <a16:creationId xmlns:a16="http://schemas.microsoft.com/office/drawing/2014/main" id="{8E75770E-19BD-4472-8C2A-917625ACC9C0}"/>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二、视图的定义</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0916"/>
    </mc:Choice>
    <mc:Fallback xmlns="">
      <p:transition spd="slow" advTm="20916"/>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36194">
                                            <p:txEl>
                                              <p:pRg st="4" end="4"/>
                                            </p:txEl>
                                          </p:spTgt>
                                        </p:tgtEl>
                                        <p:attrNameLst>
                                          <p:attrName>style.visibility</p:attrName>
                                        </p:attrNameLst>
                                      </p:cBhvr>
                                      <p:to>
                                        <p:strVal val="visible"/>
                                      </p:to>
                                    </p:set>
                                    <p:animEffect transition="in" filter="wipe(up)">
                                      <p:cBhvr>
                                        <p:cTn id="7" dur="500"/>
                                        <p:tgtEl>
                                          <p:spTgt spid="136194">
                                            <p:txEl>
                                              <p:pRg st="4" end="4"/>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36194">
                                            <p:txEl>
                                              <p:pRg st="5" end="5"/>
                                            </p:txEl>
                                          </p:spTgt>
                                        </p:tgtEl>
                                        <p:attrNameLst>
                                          <p:attrName>style.visibility</p:attrName>
                                        </p:attrNameLst>
                                      </p:cBhvr>
                                      <p:to>
                                        <p:strVal val="visible"/>
                                      </p:to>
                                    </p:set>
                                    <p:animEffect transition="in" filter="wipe(up)">
                                      <p:cBhvr>
                                        <p:cTn id="11" dur="500"/>
                                        <p:tgtEl>
                                          <p:spTgt spid="136194">
                                            <p:txEl>
                                              <p:pRg st="5" end="5"/>
                                            </p:txEl>
                                          </p:spTgt>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136194">
                                            <p:txEl>
                                              <p:pRg st="6" end="6"/>
                                            </p:txEl>
                                          </p:spTgt>
                                        </p:tgtEl>
                                        <p:attrNameLst>
                                          <p:attrName>style.visibility</p:attrName>
                                        </p:attrNameLst>
                                      </p:cBhvr>
                                      <p:to>
                                        <p:strVal val="visible"/>
                                      </p:to>
                                    </p:set>
                                    <p:animEffect transition="in" filter="wipe(up)">
                                      <p:cBhvr>
                                        <p:cTn id="15" dur="500"/>
                                        <p:tgtEl>
                                          <p:spTgt spid="136194">
                                            <p:txEl>
                                              <p:pRg st="6" end="6"/>
                                            </p:txEl>
                                          </p:spTgt>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136194">
                                            <p:txEl>
                                              <p:pRg st="7" end="7"/>
                                            </p:txEl>
                                          </p:spTgt>
                                        </p:tgtEl>
                                        <p:attrNameLst>
                                          <p:attrName>style.visibility</p:attrName>
                                        </p:attrNameLst>
                                      </p:cBhvr>
                                      <p:to>
                                        <p:strVal val="visible"/>
                                      </p:to>
                                    </p:set>
                                    <p:animEffect transition="in" filter="wipe(up)">
                                      <p:cBhvr>
                                        <p:cTn id="19" dur="500"/>
                                        <p:tgtEl>
                                          <p:spTgt spid="13619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2" name="Text Box 4">
            <a:extLst>
              <a:ext uri="{FF2B5EF4-FFF2-40B4-BE49-F238E27FC236}">
                <a16:creationId xmlns:a16="http://schemas.microsoft.com/office/drawing/2014/main" id="{999CC8E4-7E56-4EB8-AFC2-148DE5DF8A66}"/>
              </a:ext>
            </a:extLst>
          </p:cNvPr>
          <p:cNvSpPr txBox="1">
            <a:spLocks noChangeArrowheads="1"/>
          </p:cNvSpPr>
          <p:nvPr/>
        </p:nvSpPr>
        <p:spPr bwMode="auto">
          <a:xfrm>
            <a:off x="381000" y="1149350"/>
            <a:ext cx="8458200" cy="450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40000"/>
              </a:lnSpc>
              <a:spcBef>
                <a:spcPct val="0"/>
              </a:spcBef>
              <a:buSzTx/>
              <a:buFontTx/>
              <a:buNone/>
            </a:pPr>
            <a:r>
              <a:rPr lang="zh-CN" altLang="en-US" sz="2600" b="1">
                <a:solidFill>
                  <a:srgbClr val="A50021"/>
                </a:solidFill>
                <a:latin typeface="黑体" panose="02010609060101010101" pitchFamily="49" charset="-122"/>
                <a:ea typeface="黑体" panose="02010609060101010101" pitchFamily="49" charset="-122"/>
              </a:rPr>
              <a:t>例</a:t>
            </a:r>
            <a:r>
              <a:rPr lang="en-US" altLang="zh-CN" sz="2600" b="1">
                <a:solidFill>
                  <a:srgbClr val="A50021"/>
                </a:solidFill>
                <a:latin typeface="黑体" panose="02010609060101010101" pitchFamily="49" charset="-122"/>
                <a:ea typeface="黑体" panose="02010609060101010101" pitchFamily="49" charset="-122"/>
              </a:rPr>
              <a:t>5.45  </a:t>
            </a:r>
            <a:r>
              <a:rPr lang="zh-CN" altLang="en-US" sz="24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写出查询每个学生平均成绩的视图</a:t>
            </a:r>
          </a:p>
          <a:p>
            <a:pPr algn="just">
              <a:lnSpc>
                <a:spcPct val="140000"/>
              </a:lnSpc>
              <a:spcBef>
                <a:spcPct val="0"/>
              </a:spcBef>
              <a:buSzTx/>
              <a:buFontTx/>
              <a:buNone/>
            </a:pPr>
            <a:r>
              <a:rPr lang="zh-CN" altLang="en-US" sz="24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lang="en-US" altLang="zh-CN" sz="24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A_GRADE(S#</a:t>
            </a:r>
            <a:r>
              <a:rPr lang="zh-CN" altLang="en-US" sz="24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4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SNAME</a:t>
            </a:r>
            <a:r>
              <a:rPr lang="zh-CN" altLang="en-US" sz="24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4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AVG_GRADE) </a:t>
            </a:r>
          </a:p>
          <a:p>
            <a:pPr algn="just">
              <a:lnSpc>
                <a:spcPct val="140000"/>
              </a:lnSpc>
              <a:spcBef>
                <a:spcPct val="0"/>
              </a:spcBef>
              <a:buSzTx/>
              <a:buFontTx/>
              <a:buNone/>
            </a:pPr>
            <a:r>
              <a:rPr lang="zh-CN" altLang="en-US" sz="24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的创建语句。</a:t>
            </a:r>
          </a:p>
          <a:p>
            <a:pPr algn="just">
              <a:lnSpc>
                <a:spcPct val="135000"/>
              </a:lnSpc>
              <a:spcBef>
                <a:spcPct val="70000"/>
              </a:spcBef>
              <a:buSzTx/>
              <a:buFontTx/>
              <a:buNone/>
            </a:pPr>
            <a:r>
              <a:rPr lang="zh-CN" altLang="en-US" sz="2400" b="1">
                <a:latin typeface="黑体" panose="02010609060101010101" pitchFamily="49" charset="-122"/>
                <a:ea typeface="黑体" panose="02010609060101010101" pitchFamily="49" charset="-122"/>
              </a:rPr>
              <a:t>  </a:t>
            </a:r>
            <a:r>
              <a:rPr lang="en-US" altLang="zh-CN" sz="2500" b="1">
                <a:solidFill>
                  <a:srgbClr val="000000"/>
                </a:solidFill>
                <a:latin typeface="黑体" panose="02010609060101010101" pitchFamily="49" charset="-122"/>
                <a:ea typeface="黑体" panose="02010609060101010101" pitchFamily="49" charset="-122"/>
              </a:rPr>
              <a:t>CREATE VIEW A_GRADE</a:t>
            </a:r>
            <a:r>
              <a:rPr lang="zh-CN" altLang="en-US" sz="2500" b="1">
                <a:solidFill>
                  <a:srgbClr val="000000"/>
                </a:solidFill>
                <a:latin typeface="黑体" panose="02010609060101010101" pitchFamily="49" charset="-122"/>
                <a:ea typeface="黑体" panose="02010609060101010101" pitchFamily="49" charset="-122"/>
              </a:rPr>
              <a:t>（</a:t>
            </a:r>
            <a:r>
              <a:rPr lang="en-US" altLang="zh-CN" sz="2500" b="1">
                <a:solidFill>
                  <a:srgbClr val="000000"/>
                </a:solidFill>
                <a:latin typeface="黑体" panose="02010609060101010101" pitchFamily="49" charset="-122"/>
                <a:ea typeface="黑体" panose="02010609060101010101" pitchFamily="49" charset="-122"/>
              </a:rPr>
              <a:t>S#</a:t>
            </a:r>
            <a:r>
              <a:rPr lang="zh-CN" altLang="en-US" sz="2500" b="1">
                <a:solidFill>
                  <a:srgbClr val="000000"/>
                </a:solidFill>
                <a:latin typeface="黑体" panose="02010609060101010101" pitchFamily="49" charset="-122"/>
                <a:ea typeface="黑体" panose="02010609060101010101" pitchFamily="49" charset="-122"/>
              </a:rPr>
              <a:t>，</a:t>
            </a:r>
            <a:r>
              <a:rPr lang="en-US" altLang="zh-CN" sz="2500" b="1">
                <a:solidFill>
                  <a:srgbClr val="000000"/>
                </a:solidFill>
                <a:latin typeface="黑体" panose="02010609060101010101" pitchFamily="49" charset="-122"/>
                <a:ea typeface="黑体" panose="02010609060101010101" pitchFamily="49" charset="-122"/>
              </a:rPr>
              <a:t>SNAME</a:t>
            </a:r>
            <a:r>
              <a:rPr lang="zh-CN" altLang="en-US" sz="2500" b="1">
                <a:solidFill>
                  <a:srgbClr val="000000"/>
                </a:solidFill>
                <a:latin typeface="黑体" panose="02010609060101010101" pitchFamily="49" charset="-122"/>
                <a:ea typeface="黑体" panose="02010609060101010101" pitchFamily="49" charset="-122"/>
              </a:rPr>
              <a:t>，</a:t>
            </a:r>
            <a:r>
              <a:rPr lang="en-US" altLang="zh-CN" sz="2500" b="1">
                <a:solidFill>
                  <a:srgbClr val="000000"/>
                </a:solidFill>
                <a:latin typeface="黑体" panose="02010609060101010101" pitchFamily="49" charset="-122"/>
                <a:ea typeface="黑体" panose="02010609060101010101" pitchFamily="49" charset="-122"/>
              </a:rPr>
              <a:t>AVG_GRADE</a:t>
            </a:r>
            <a:r>
              <a:rPr lang="zh-CN" altLang="en-US" sz="2500" b="1">
                <a:solidFill>
                  <a:srgbClr val="000000"/>
                </a:solidFill>
                <a:latin typeface="黑体" panose="02010609060101010101" pitchFamily="49" charset="-122"/>
                <a:ea typeface="黑体" panose="02010609060101010101" pitchFamily="49" charset="-122"/>
              </a:rPr>
              <a:t>）</a:t>
            </a:r>
          </a:p>
          <a:p>
            <a:pPr algn="just">
              <a:lnSpc>
                <a:spcPct val="135000"/>
              </a:lnSpc>
              <a:spcBef>
                <a:spcPct val="0"/>
              </a:spcBef>
              <a:buSzTx/>
              <a:buFontTx/>
              <a:buNone/>
            </a:pPr>
            <a:r>
              <a:rPr lang="zh-CN" altLang="en-US" sz="2500" b="1">
                <a:solidFill>
                  <a:srgbClr val="000000"/>
                </a:solidFill>
                <a:latin typeface="黑体" panose="02010609060101010101" pitchFamily="49" charset="-122"/>
                <a:ea typeface="黑体" panose="02010609060101010101" pitchFamily="49" charset="-122"/>
              </a:rPr>
              <a:t>      </a:t>
            </a:r>
            <a:r>
              <a:rPr lang="en-US" altLang="zh-CN" sz="2500" b="1">
                <a:solidFill>
                  <a:srgbClr val="000000"/>
                </a:solidFill>
                <a:latin typeface="黑体" panose="02010609060101010101" pitchFamily="49" charset="-122"/>
                <a:ea typeface="黑体" panose="02010609060101010101" pitchFamily="49" charset="-122"/>
              </a:rPr>
              <a:t>AS SELECT S.S#</a:t>
            </a:r>
            <a:r>
              <a:rPr lang="zh-CN" altLang="en-US" sz="2500" b="1">
                <a:solidFill>
                  <a:srgbClr val="000000"/>
                </a:solidFill>
                <a:latin typeface="黑体" panose="02010609060101010101" pitchFamily="49" charset="-122"/>
                <a:ea typeface="黑体" panose="02010609060101010101" pitchFamily="49" charset="-122"/>
              </a:rPr>
              <a:t>，</a:t>
            </a:r>
            <a:r>
              <a:rPr lang="en-US" altLang="zh-CN" sz="2500" b="1">
                <a:solidFill>
                  <a:srgbClr val="000000"/>
                </a:solidFill>
                <a:latin typeface="黑体" panose="02010609060101010101" pitchFamily="49" charset="-122"/>
                <a:ea typeface="黑体" panose="02010609060101010101" pitchFamily="49" charset="-122"/>
              </a:rPr>
              <a:t>SNAME</a:t>
            </a:r>
            <a:r>
              <a:rPr lang="zh-CN" altLang="en-US" sz="2500" b="1">
                <a:solidFill>
                  <a:srgbClr val="000000"/>
                </a:solidFill>
                <a:latin typeface="黑体" panose="02010609060101010101" pitchFamily="49" charset="-122"/>
                <a:ea typeface="黑体" panose="02010609060101010101" pitchFamily="49" charset="-122"/>
              </a:rPr>
              <a:t>，</a:t>
            </a:r>
            <a:r>
              <a:rPr lang="en-US" altLang="zh-CN" sz="2500" b="1">
                <a:solidFill>
                  <a:srgbClr val="000000"/>
                </a:solidFill>
                <a:latin typeface="黑体" panose="02010609060101010101" pitchFamily="49" charset="-122"/>
                <a:ea typeface="黑体" panose="02010609060101010101" pitchFamily="49" charset="-122"/>
              </a:rPr>
              <a:t>AVG(GRADE)</a:t>
            </a:r>
          </a:p>
          <a:p>
            <a:pPr algn="just">
              <a:lnSpc>
                <a:spcPct val="135000"/>
              </a:lnSpc>
              <a:spcBef>
                <a:spcPct val="0"/>
              </a:spcBef>
              <a:buSzTx/>
              <a:buFontTx/>
              <a:buNone/>
            </a:pPr>
            <a:r>
              <a:rPr lang="en-US" altLang="zh-CN" sz="2500" b="1">
                <a:solidFill>
                  <a:srgbClr val="000000"/>
                </a:solidFill>
                <a:latin typeface="黑体" panose="02010609060101010101" pitchFamily="49" charset="-122"/>
                <a:ea typeface="黑体" panose="02010609060101010101" pitchFamily="49" charset="-122"/>
              </a:rPr>
              <a:t>         FROM  S</a:t>
            </a:r>
            <a:r>
              <a:rPr lang="zh-CN" altLang="en-US" sz="2500" b="1">
                <a:solidFill>
                  <a:srgbClr val="000000"/>
                </a:solidFill>
                <a:latin typeface="黑体" panose="02010609060101010101" pitchFamily="49" charset="-122"/>
                <a:ea typeface="黑体" panose="02010609060101010101" pitchFamily="49" charset="-122"/>
              </a:rPr>
              <a:t>，</a:t>
            </a:r>
            <a:r>
              <a:rPr lang="en-US" altLang="zh-CN" sz="2500" b="1">
                <a:solidFill>
                  <a:srgbClr val="000000"/>
                </a:solidFill>
                <a:latin typeface="黑体" panose="02010609060101010101" pitchFamily="49" charset="-122"/>
                <a:ea typeface="黑体" panose="02010609060101010101" pitchFamily="49" charset="-122"/>
              </a:rPr>
              <a:t>SC</a:t>
            </a:r>
          </a:p>
          <a:p>
            <a:pPr algn="just">
              <a:lnSpc>
                <a:spcPct val="135000"/>
              </a:lnSpc>
              <a:spcBef>
                <a:spcPct val="0"/>
              </a:spcBef>
              <a:buSzTx/>
              <a:buFontTx/>
              <a:buNone/>
            </a:pPr>
            <a:r>
              <a:rPr lang="en-US" altLang="zh-CN" sz="2500" b="1">
                <a:solidFill>
                  <a:srgbClr val="000000"/>
                </a:solidFill>
                <a:latin typeface="黑体" panose="02010609060101010101" pitchFamily="49" charset="-122"/>
                <a:ea typeface="黑体" panose="02010609060101010101" pitchFamily="49" charset="-122"/>
              </a:rPr>
              <a:t>         WHERE S.S# = SC.S# AND GRADE IS NOT NULL</a:t>
            </a:r>
            <a:r>
              <a:rPr lang="zh-CN" altLang="en-US" sz="2500" b="1">
                <a:solidFill>
                  <a:srgbClr val="000000"/>
                </a:solidFill>
                <a:latin typeface="黑体" panose="02010609060101010101" pitchFamily="49" charset="-122"/>
                <a:ea typeface="黑体" panose="02010609060101010101" pitchFamily="49" charset="-122"/>
              </a:rPr>
              <a:t>；</a:t>
            </a:r>
          </a:p>
          <a:p>
            <a:pPr algn="just">
              <a:lnSpc>
                <a:spcPct val="135000"/>
              </a:lnSpc>
              <a:spcBef>
                <a:spcPct val="0"/>
              </a:spcBef>
              <a:buSzTx/>
              <a:buFontTx/>
              <a:buNone/>
            </a:pPr>
            <a:r>
              <a:rPr lang="zh-CN" altLang="en-US" sz="2500" b="1">
                <a:solidFill>
                  <a:srgbClr val="000000"/>
                </a:solidFill>
                <a:latin typeface="黑体" panose="02010609060101010101" pitchFamily="49" charset="-122"/>
                <a:ea typeface="黑体" panose="02010609060101010101" pitchFamily="49" charset="-122"/>
              </a:rPr>
              <a:t>         </a:t>
            </a:r>
            <a:r>
              <a:rPr lang="en-US" altLang="zh-CN" sz="2500" b="1">
                <a:solidFill>
                  <a:srgbClr val="000000"/>
                </a:solidFill>
                <a:latin typeface="黑体" panose="02010609060101010101" pitchFamily="49" charset="-122"/>
                <a:ea typeface="黑体" panose="02010609060101010101" pitchFamily="49" charset="-122"/>
              </a:rPr>
              <a:t>GROUP BY S.S#</a:t>
            </a:r>
            <a:r>
              <a:rPr lang="zh-CN" altLang="en-US" sz="2500" b="1">
                <a:solidFill>
                  <a:srgbClr val="000000"/>
                </a:solidFill>
                <a:latin typeface="黑体" panose="02010609060101010101" pitchFamily="49" charset="-122"/>
                <a:ea typeface="黑体" panose="02010609060101010101" pitchFamily="49" charset="-122"/>
              </a:rPr>
              <a:t>，</a:t>
            </a:r>
            <a:r>
              <a:rPr lang="en-US" altLang="zh-CN" sz="2500" b="1">
                <a:solidFill>
                  <a:srgbClr val="000000"/>
                </a:solidFill>
                <a:latin typeface="黑体" panose="02010609060101010101" pitchFamily="49" charset="-122"/>
                <a:ea typeface="黑体" panose="02010609060101010101" pitchFamily="49" charset="-122"/>
              </a:rPr>
              <a:t>S.SNAME </a:t>
            </a:r>
            <a:r>
              <a:rPr lang="zh-CN" altLang="en-US" sz="2500" b="1">
                <a:solidFill>
                  <a:srgbClr val="000000"/>
                </a:solidFill>
                <a:latin typeface="黑体" panose="02010609060101010101" pitchFamily="49" charset="-122"/>
                <a:ea typeface="黑体" panose="02010609060101010101" pitchFamily="49" charset="-122"/>
              </a:rPr>
              <a:t>； </a:t>
            </a:r>
          </a:p>
        </p:txBody>
      </p:sp>
      <p:sp>
        <p:nvSpPr>
          <p:cNvPr id="437254" name="Rectangle 6">
            <a:extLst>
              <a:ext uri="{FF2B5EF4-FFF2-40B4-BE49-F238E27FC236}">
                <a16:creationId xmlns:a16="http://schemas.microsoft.com/office/drawing/2014/main" id="{D04F0CB1-F353-478F-95EA-3A046E3F2A06}"/>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二、视图的定义</a:t>
            </a:r>
          </a:p>
        </p:txBody>
      </p:sp>
    </p:spTree>
  </p:cSld>
  <p:clrMapOvr>
    <a:masterClrMapping/>
  </p:clrMapOvr>
  <mc:AlternateContent xmlns:mc="http://schemas.openxmlformats.org/markup-compatibility/2006" xmlns:p14="http://schemas.microsoft.com/office/powerpoint/2010/main">
    <mc:Choice Requires="p14">
      <p:transition spd="slow" p14:dur="2000" advTm="43424"/>
    </mc:Choice>
    <mc:Fallback xmlns="">
      <p:transition spd="slow" advTm="43424"/>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37252">
                                            <p:txEl>
                                              <p:pRg st="3" end="3"/>
                                            </p:txEl>
                                          </p:spTgt>
                                        </p:tgtEl>
                                        <p:attrNameLst>
                                          <p:attrName>style.visibility</p:attrName>
                                        </p:attrNameLst>
                                      </p:cBhvr>
                                      <p:to>
                                        <p:strVal val="visible"/>
                                      </p:to>
                                    </p:set>
                                    <p:animEffect transition="in" filter="wipe(up)">
                                      <p:cBhvr>
                                        <p:cTn id="7" dur="500"/>
                                        <p:tgtEl>
                                          <p:spTgt spid="437252">
                                            <p:txEl>
                                              <p:pRg st="3" end="3"/>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437252">
                                            <p:txEl>
                                              <p:pRg st="4" end="4"/>
                                            </p:txEl>
                                          </p:spTgt>
                                        </p:tgtEl>
                                        <p:attrNameLst>
                                          <p:attrName>style.visibility</p:attrName>
                                        </p:attrNameLst>
                                      </p:cBhvr>
                                      <p:to>
                                        <p:strVal val="visible"/>
                                      </p:to>
                                    </p:set>
                                    <p:animEffect transition="in" filter="wipe(up)">
                                      <p:cBhvr>
                                        <p:cTn id="11" dur="500"/>
                                        <p:tgtEl>
                                          <p:spTgt spid="437252">
                                            <p:txEl>
                                              <p:pRg st="4" end="4"/>
                                            </p:txEl>
                                          </p:spTgt>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437252">
                                            <p:txEl>
                                              <p:pRg st="5" end="5"/>
                                            </p:txEl>
                                          </p:spTgt>
                                        </p:tgtEl>
                                        <p:attrNameLst>
                                          <p:attrName>style.visibility</p:attrName>
                                        </p:attrNameLst>
                                      </p:cBhvr>
                                      <p:to>
                                        <p:strVal val="visible"/>
                                      </p:to>
                                    </p:set>
                                    <p:animEffect transition="in" filter="wipe(up)">
                                      <p:cBhvr>
                                        <p:cTn id="15" dur="500"/>
                                        <p:tgtEl>
                                          <p:spTgt spid="437252">
                                            <p:txEl>
                                              <p:pRg st="5" end="5"/>
                                            </p:txEl>
                                          </p:spTgt>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437252">
                                            <p:txEl>
                                              <p:pRg st="6" end="6"/>
                                            </p:txEl>
                                          </p:spTgt>
                                        </p:tgtEl>
                                        <p:attrNameLst>
                                          <p:attrName>style.visibility</p:attrName>
                                        </p:attrNameLst>
                                      </p:cBhvr>
                                      <p:to>
                                        <p:strVal val="visible"/>
                                      </p:to>
                                    </p:set>
                                    <p:animEffect transition="in" filter="wipe(up)">
                                      <p:cBhvr>
                                        <p:cTn id="19" dur="500"/>
                                        <p:tgtEl>
                                          <p:spTgt spid="437252">
                                            <p:txEl>
                                              <p:pRg st="6" end="6"/>
                                            </p:txEl>
                                          </p:spTgt>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437252">
                                            <p:txEl>
                                              <p:pRg st="7" end="7"/>
                                            </p:txEl>
                                          </p:spTgt>
                                        </p:tgtEl>
                                        <p:attrNameLst>
                                          <p:attrName>style.visibility</p:attrName>
                                        </p:attrNameLst>
                                      </p:cBhvr>
                                      <p:to>
                                        <p:strVal val="visible"/>
                                      </p:to>
                                    </p:set>
                                    <p:animEffect transition="in" filter="wipe(up)">
                                      <p:cBhvr>
                                        <p:cTn id="23" dur="500"/>
                                        <p:tgtEl>
                                          <p:spTgt spid="43725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1" name="Text Box 3">
            <a:extLst>
              <a:ext uri="{FF2B5EF4-FFF2-40B4-BE49-F238E27FC236}">
                <a16:creationId xmlns:a16="http://schemas.microsoft.com/office/drawing/2014/main" id="{BB10B259-31FC-4E2F-ACCB-6EFBC84BF05E}"/>
              </a:ext>
            </a:extLst>
          </p:cNvPr>
          <p:cNvSpPr txBox="1">
            <a:spLocks noChangeArrowheads="1"/>
          </p:cNvSpPr>
          <p:nvPr/>
        </p:nvSpPr>
        <p:spPr bwMode="auto">
          <a:xfrm>
            <a:off x="381000" y="1143000"/>
            <a:ext cx="8458200" cy="535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spcBef>
                <a:spcPct val="10000"/>
              </a:spcBef>
              <a:buSzTx/>
              <a:buFontTx/>
              <a:buNone/>
            </a:pPr>
            <a:r>
              <a:rPr lang="zh-CN" altLang="en-US" sz="2600" b="1">
                <a:solidFill>
                  <a:srgbClr val="A50021"/>
                </a:solidFill>
                <a:latin typeface="黑体" panose="02010609060101010101" pitchFamily="49" charset="-122"/>
                <a:ea typeface="黑体" panose="02010609060101010101" pitchFamily="49" charset="-122"/>
              </a:rPr>
              <a:t>例</a:t>
            </a:r>
            <a:r>
              <a:rPr lang="en-US" altLang="zh-CN" sz="2600" b="1">
                <a:solidFill>
                  <a:srgbClr val="A50021"/>
                </a:solidFill>
                <a:latin typeface="黑体" panose="02010609060101010101" pitchFamily="49" charset="-122"/>
                <a:ea typeface="黑体" panose="02010609060101010101" pitchFamily="49" charset="-122"/>
              </a:rPr>
              <a:t>5.46 </a:t>
            </a: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利用视图</a:t>
            </a:r>
            <a:r>
              <a:rPr lang="en-US" altLang="zh-CN"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A_GRADE</a:t>
            </a: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查询学生所学课程的平均成绩。</a:t>
            </a:r>
          </a:p>
          <a:p>
            <a:pPr algn="just">
              <a:lnSpc>
                <a:spcPct val="115000"/>
              </a:lnSpc>
              <a:spcBef>
                <a:spcPct val="0"/>
              </a:spcBef>
              <a:buSzTx/>
              <a:buFontTx/>
              <a:buNone/>
            </a:pPr>
            <a:r>
              <a:rPr lang="zh-CN" altLang="en-US" sz="2600" b="1">
                <a:latin typeface="黑体" panose="02010609060101010101" pitchFamily="49" charset="-122"/>
                <a:ea typeface="黑体" panose="02010609060101010101" pitchFamily="49" charset="-122"/>
              </a:rPr>
              <a:t>    </a:t>
            </a:r>
            <a:r>
              <a:rPr lang="en-US" altLang="zh-CN" sz="2600" b="1">
                <a:solidFill>
                  <a:srgbClr val="000000"/>
                </a:solidFill>
                <a:latin typeface="黑体" panose="02010609060101010101" pitchFamily="49" charset="-122"/>
                <a:ea typeface="黑体" panose="02010609060101010101" pitchFamily="49" charset="-122"/>
              </a:rPr>
              <a:t>SELECT *</a:t>
            </a:r>
          </a:p>
          <a:p>
            <a:pPr algn="just">
              <a:lnSpc>
                <a:spcPct val="115000"/>
              </a:lnSpc>
              <a:spcBef>
                <a:spcPct val="0"/>
              </a:spcBef>
              <a:buSzTx/>
              <a:buFontTx/>
              <a:buNone/>
            </a:pPr>
            <a:r>
              <a:rPr lang="en-US" altLang="zh-CN" sz="2600" b="1">
                <a:solidFill>
                  <a:srgbClr val="000000"/>
                </a:solidFill>
                <a:latin typeface="黑体" panose="02010609060101010101" pitchFamily="49" charset="-122"/>
                <a:ea typeface="黑体" panose="02010609060101010101" pitchFamily="49" charset="-122"/>
              </a:rPr>
              <a:t>    FROM  A_GRADE</a:t>
            </a:r>
            <a:r>
              <a:rPr lang="zh-CN" altLang="en-US" sz="2600" b="1">
                <a:solidFill>
                  <a:srgbClr val="000000"/>
                </a:solidFill>
                <a:latin typeface="黑体" panose="02010609060101010101" pitchFamily="49" charset="-122"/>
                <a:ea typeface="黑体" panose="02010609060101010101" pitchFamily="49" charset="-122"/>
              </a:rPr>
              <a:t>；</a:t>
            </a:r>
          </a:p>
          <a:p>
            <a:pPr algn="just">
              <a:lnSpc>
                <a:spcPct val="115000"/>
              </a:lnSpc>
              <a:spcBef>
                <a:spcPct val="30000"/>
              </a:spcBef>
              <a:buSzTx/>
              <a:buFontTx/>
              <a:buNone/>
            </a:pPr>
            <a:r>
              <a:rPr lang="zh-CN" altLang="en-US" sz="2600" b="1">
                <a:latin typeface="黑体" panose="02010609060101010101" pitchFamily="49" charset="-122"/>
                <a:ea typeface="黑体" panose="02010609060101010101" pitchFamily="49" charset="-122"/>
              </a:rPr>
              <a:t>  </a:t>
            </a:r>
            <a:r>
              <a:rPr lang="zh-CN" altLang="en-US" sz="2600" b="1">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如果用查询语句实现查询学生所学课程的平均成绩，其查询语句应为：</a:t>
            </a:r>
          </a:p>
          <a:p>
            <a:pPr algn="just">
              <a:lnSpc>
                <a:spcPct val="115000"/>
              </a:lnSpc>
              <a:spcBef>
                <a:spcPct val="0"/>
              </a:spcBef>
              <a:buSzTx/>
              <a:buFontTx/>
              <a:buNone/>
            </a:pPr>
            <a:r>
              <a:rPr lang="zh-CN" altLang="en-US" sz="2600" b="1">
                <a:latin typeface="黑体" panose="02010609060101010101" pitchFamily="49" charset="-122"/>
                <a:ea typeface="黑体" panose="02010609060101010101" pitchFamily="49" charset="-122"/>
              </a:rPr>
              <a:t>    </a:t>
            </a:r>
            <a:r>
              <a:rPr lang="en-US" altLang="zh-CN" sz="2600" b="1">
                <a:solidFill>
                  <a:srgbClr val="000000"/>
                </a:solidFill>
                <a:latin typeface="黑体" panose="02010609060101010101" pitchFamily="49" charset="-122"/>
                <a:ea typeface="黑体" panose="02010609060101010101" pitchFamily="49" charset="-122"/>
              </a:rPr>
              <a:t>SELECT S.S#</a:t>
            </a:r>
            <a:r>
              <a:rPr lang="zh-CN" altLang="en-US" sz="2600" b="1">
                <a:solidFill>
                  <a:srgbClr val="000000"/>
                </a:solidFill>
                <a:latin typeface="黑体" panose="02010609060101010101" pitchFamily="49" charset="-122"/>
                <a:ea typeface="黑体" panose="02010609060101010101" pitchFamily="49" charset="-122"/>
              </a:rPr>
              <a:t>，</a:t>
            </a:r>
            <a:r>
              <a:rPr lang="en-US" altLang="zh-CN" sz="2600" b="1">
                <a:solidFill>
                  <a:srgbClr val="000000"/>
                </a:solidFill>
                <a:latin typeface="黑体" panose="02010609060101010101" pitchFamily="49" charset="-122"/>
                <a:ea typeface="黑体" panose="02010609060101010101" pitchFamily="49" charset="-122"/>
              </a:rPr>
              <a:t>SNAME</a:t>
            </a:r>
            <a:r>
              <a:rPr lang="zh-CN" altLang="en-US" sz="2600" b="1">
                <a:solidFill>
                  <a:srgbClr val="000000"/>
                </a:solidFill>
                <a:latin typeface="黑体" panose="02010609060101010101" pitchFamily="49" charset="-122"/>
                <a:ea typeface="黑体" panose="02010609060101010101" pitchFamily="49" charset="-122"/>
              </a:rPr>
              <a:t>，</a:t>
            </a:r>
            <a:r>
              <a:rPr lang="en-US" altLang="zh-CN" sz="2600" b="1">
                <a:solidFill>
                  <a:srgbClr val="000000"/>
                </a:solidFill>
                <a:latin typeface="黑体" panose="02010609060101010101" pitchFamily="49" charset="-122"/>
                <a:ea typeface="黑体" panose="02010609060101010101" pitchFamily="49" charset="-122"/>
              </a:rPr>
              <a:t>AVG(GRADE)</a:t>
            </a:r>
          </a:p>
          <a:p>
            <a:pPr algn="just">
              <a:lnSpc>
                <a:spcPct val="115000"/>
              </a:lnSpc>
              <a:spcBef>
                <a:spcPct val="0"/>
              </a:spcBef>
              <a:buSzTx/>
              <a:buFontTx/>
              <a:buNone/>
            </a:pPr>
            <a:r>
              <a:rPr lang="en-US" altLang="zh-CN" sz="2600" b="1">
                <a:solidFill>
                  <a:srgbClr val="000000"/>
                </a:solidFill>
                <a:latin typeface="黑体" panose="02010609060101010101" pitchFamily="49" charset="-122"/>
                <a:ea typeface="黑体" panose="02010609060101010101" pitchFamily="49" charset="-122"/>
              </a:rPr>
              <a:t>    FROM  S</a:t>
            </a:r>
            <a:r>
              <a:rPr lang="zh-CN" altLang="en-US" sz="2600" b="1">
                <a:solidFill>
                  <a:srgbClr val="000000"/>
                </a:solidFill>
                <a:latin typeface="黑体" panose="02010609060101010101" pitchFamily="49" charset="-122"/>
                <a:ea typeface="黑体" panose="02010609060101010101" pitchFamily="49" charset="-122"/>
              </a:rPr>
              <a:t>，</a:t>
            </a:r>
            <a:r>
              <a:rPr lang="en-US" altLang="zh-CN" sz="2600" b="1">
                <a:solidFill>
                  <a:srgbClr val="000000"/>
                </a:solidFill>
                <a:latin typeface="黑体" panose="02010609060101010101" pitchFamily="49" charset="-122"/>
                <a:ea typeface="黑体" panose="02010609060101010101" pitchFamily="49" charset="-122"/>
              </a:rPr>
              <a:t>SC</a:t>
            </a:r>
          </a:p>
          <a:p>
            <a:pPr algn="just">
              <a:lnSpc>
                <a:spcPct val="115000"/>
              </a:lnSpc>
              <a:spcBef>
                <a:spcPct val="0"/>
              </a:spcBef>
              <a:buSzTx/>
              <a:buFontTx/>
              <a:buNone/>
            </a:pPr>
            <a:r>
              <a:rPr lang="en-US" altLang="zh-CN" sz="2600" b="1">
                <a:solidFill>
                  <a:srgbClr val="000000"/>
                </a:solidFill>
                <a:latin typeface="黑体" panose="02010609060101010101" pitchFamily="49" charset="-122"/>
                <a:ea typeface="黑体" panose="02010609060101010101" pitchFamily="49" charset="-122"/>
              </a:rPr>
              <a:t>    WHERE S.S# = SC.S# AND GRADE IS NOT NULL</a:t>
            </a:r>
            <a:r>
              <a:rPr lang="zh-CN" altLang="en-US" sz="2600" b="1">
                <a:solidFill>
                  <a:srgbClr val="000000"/>
                </a:solidFill>
                <a:latin typeface="黑体" panose="02010609060101010101" pitchFamily="49" charset="-122"/>
                <a:ea typeface="黑体" panose="02010609060101010101" pitchFamily="49" charset="-122"/>
              </a:rPr>
              <a:t>；</a:t>
            </a:r>
          </a:p>
          <a:p>
            <a:pPr algn="just">
              <a:lnSpc>
                <a:spcPct val="115000"/>
              </a:lnSpc>
              <a:spcBef>
                <a:spcPct val="0"/>
              </a:spcBef>
              <a:buSzTx/>
              <a:buFontTx/>
              <a:buNone/>
            </a:pPr>
            <a:r>
              <a:rPr lang="zh-CN" altLang="en-US" sz="2600" b="1">
                <a:solidFill>
                  <a:srgbClr val="000000"/>
                </a:solidFill>
                <a:latin typeface="黑体" panose="02010609060101010101" pitchFamily="49" charset="-122"/>
                <a:ea typeface="黑体" panose="02010609060101010101" pitchFamily="49" charset="-122"/>
              </a:rPr>
              <a:t>    </a:t>
            </a:r>
            <a:r>
              <a:rPr lang="en-US" altLang="zh-CN" sz="2600" b="1">
                <a:solidFill>
                  <a:srgbClr val="000000"/>
                </a:solidFill>
                <a:latin typeface="黑体" panose="02010609060101010101" pitchFamily="49" charset="-122"/>
                <a:ea typeface="黑体" panose="02010609060101010101" pitchFamily="49" charset="-122"/>
              </a:rPr>
              <a:t>GROUP BY S.S#</a:t>
            </a:r>
          </a:p>
          <a:p>
            <a:pPr algn="just">
              <a:lnSpc>
                <a:spcPct val="115000"/>
              </a:lnSpc>
              <a:spcBef>
                <a:spcPct val="0"/>
              </a:spcBef>
              <a:buSzTx/>
              <a:buFontTx/>
              <a:buNone/>
            </a:pPr>
            <a:r>
              <a:rPr lang="en-US" altLang="zh-CN" sz="2600" b="1">
                <a:solidFill>
                  <a:srgbClr val="000000"/>
                </a:solidFill>
                <a:latin typeface="黑体" panose="02010609060101010101" pitchFamily="49" charset="-122"/>
                <a:ea typeface="黑体" panose="02010609060101010101" pitchFamily="49" charset="-122"/>
              </a:rPr>
              <a:t>    ORDER BY S.S#</a:t>
            </a:r>
            <a:r>
              <a:rPr lang="zh-CN" altLang="en-US" sz="2600" b="1">
                <a:solidFill>
                  <a:srgbClr val="000000"/>
                </a:solidFill>
                <a:latin typeface="黑体" panose="02010609060101010101" pitchFamily="49" charset="-122"/>
                <a:ea typeface="黑体" panose="02010609060101010101" pitchFamily="49" charset="-122"/>
              </a:rPr>
              <a:t>； </a:t>
            </a:r>
          </a:p>
        </p:txBody>
      </p:sp>
      <p:sp>
        <p:nvSpPr>
          <p:cNvPr id="415746" name="Rectangle 2">
            <a:extLst>
              <a:ext uri="{FF2B5EF4-FFF2-40B4-BE49-F238E27FC236}">
                <a16:creationId xmlns:a16="http://schemas.microsoft.com/office/drawing/2014/main" id="{0CDDA58C-88A9-4F56-8A08-510925267319}"/>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三、在视图上进行查询操作</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1098"/>
    </mc:Choice>
    <mc:Fallback xmlns="">
      <p:transition spd="slow" advTm="51098"/>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35171">
                                            <p:txEl>
                                              <p:pRg st="0" end="0"/>
                                            </p:txEl>
                                          </p:spTgt>
                                        </p:tgtEl>
                                        <p:attrNameLst>
                                          <p:attrName>style.visibility</p:attrName>
                                        </p:attrNameLst>
                                      </p:cBhvr>
                                      <p:to>
                                        <p:strVal val="visible"/>
                                      </p:to>
                                    </p:set>
                                    <p:animEffect transition="in" filter="wipe(up)">
                                      <p:cBhvr>
                                        <p:cTn id="7" dur="500"/>
                                        <p:tgtEl>
                                          <p:spTgt spid="1351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35171">
                                            <p:txEl>
                                              <p:pRg st="1" end="1"/>
                                            </p:txEl>
                                          </p:spTgt>
                                        </p:tgtEl>
                                        <p:attrNameLst>
                                          <p:attrName>style.visibility</p:attrName>
                                        </p:attrNameLst>
                                      </p:cBhvr>
                                      <p:to>
                                        <p:strVal val="visible"/>
                                      </p:to>
                                    </p:set>
                                    <p:animEffect transition="in" filter="wipe(up)">
                                      <p:cBhvr>
                                        <p:cTn id="12" dur="500"/>
                                        <p:tgtEl>
                                          <p:spTgt spid="135171">
                                            <p:txEl>
                                              <p:pRg st="1" end="1"/>
                                            </p:txEl>
                                          </p:spTgt>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135171">
                                            <p:txEl>
                                              <p:pRg st="2" end="2"/>
                                            </p:txEl>
                                          </p:spTgt>
                                        </p:tgtEl>
                                        <p:attrNameLst>
                                          <p:attrName>style.visibility</p:attrName>
                                        </p:attrNameLst>
                                      </p:cBhvr>
                                      <p:to>
                                        <p:strVal val="visible"/>
                                      </p:to>
                                    </p:set>
                                    <p:animEffect transition="in" filter="wipe(up)">
                                      <p:cBhvr>
                                        <p:cTn id="16" dur="500"/>
                                        <p:tgtEl>
                                          <p:spTgt spid="135171">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135171">
                                            <p:txEl>
                                              <p:pRg st="3" end="3"/>
                                            </p:txEl>
                                          </p:spTgt>
                                        </p:tgtEl>
                                        <p:attrNameLst>
                                          <p:attrName>style.visibility</p:attrName>
                                        </p:attrNameLst>
                                      </p:cBhvr>
                                      <p:to>
                                        <p:strVal val="visible"/>
                                      </p:to>
                                    </p:set>
                                    <p:animEffect transition="in" filter="wipe(up)">
                                      <p:cBhvr>
                                        <p:cTn id="21" dur="500"/>
                                        <p:tgtEl>
                                          <p:spTgt spid="135171">
                                            <p:txEl>
                                              <p:pRg st="3" end="3"/>
                                            </p:txEl>
                                          </p:spTgt>
                                        </p:tgtEl>
                                      </p:cBhvr>
                                    </p:animEffect>
                                  </p:childTnLst>
                                </p:cTn>
                              </p:par>
                            </p:childTnLst>
                          </p:cTn>
                        </p:par>
                        <p:par>
                          <p:cTn id="22" fill="hold" nodeType="afterGroup">
                            <p:stCondLst>
                              <p:cond delay="500"/>
                            </p:stCondLst>
                            <p:childTnLst>
                              <p:par>
                                <p:cTn id="23" presetID="22" presetClass="entr" presetSubtype="1" fill="hold" nodeType="afterEffect">
                                  <p:stCondLst>
                                    <p:cond delay="0"/>
                                  </p:stCondLst>
                                  <p:childTnLst>
                                    <p:set>
                                      <p:cBhvr>
                                        <p:cTn id="24" dur="1" fill="hold">
                                          <p:stCondLst>
                                            <p:cond delay="0"/>
                                          </p:stCondLst>
                                        </p:cTn>
                                        <p:tgtEl>
                                          <p:spTgt spid="135171">
                                            <p:txEl>
                                              <p:pRg st="4" end="4"/>
                                            </p:txEl>
                                          </p:spTgt>
                                        </p:tgtEl>
                                        <p:attrNameLst>
                                          <p:attrName>style.visibility</p:attrName>
                                        </p:attrNameLst>
                                      </p:cBhvr>
                                      <p:to>
                                        <p:strVal val="visible"/>
                                      </p:to>
                                    </p:set>
                                    <p:animEffect transition="in" filter="wipe(up)">
                                      <p:cBhvr>
                                        <p:cTn id="25" dur="500"/>
                                        <p:tgtEl>
                                          <p:spTgt spid="135171">
                                            <p:txEl>
                                              <p:pRg st="4" end="4"/>
                                            </p:txEl>
                                          </p:spTgt>
                                        </p:tgtEl>
                                      </p:cBhvr>
                                    </p:animEffect>
                                  </p:childTnLst>
                                </p:cTn>
                              </p:par>
                            </p:childTnLst>
                          </p:cTn>
                        </p:par>
                        <p:par>
                          <p:cTn id="26" fill="hold" nodeType="afterGroup">
                            <p:stCondLst>
                              <p:cond delay="1000"/>
                            </p:stCondLst>
                            <p:childTnLst>
                              <p:par>
                                <p:cTn id="27" presetID="22" presetClass="entr" presetSubtype="1" fill="hold" nodeType="afterEffect">
                                  <p:stCondLst>
                                    <p:cond delay="0"/>
                                  </p:stCondLst>
                                  <p:childTnLst>
                                    <p:set>
                                      <p:cBhvr>
                                        <p:cTn id="28" dur="1" fill="hold">
                                          <p:stCondLst>
                                            <p:cond delay="0"/>
                                          </p:stCondLst>
                                        </p:cTn>
                                        <p:tgtEl>
                                          <p:spTgt spid="135171">
                                            <p:txEl>
                                              <p:pRg st="5" end="5"/>
                                            </p:txEl>
                                          </p:spTgt>
                                        </p:tgtEl>
                                        <p:attrNameLst>
                                          <p:attrName>style.visibility</p:attrName>
                                        </p:attrNameLst>
                                      </p:cBhvr>
                                      <p:to>
                                        <p:strVal val="visible"/>
                                      </p:to>
                                    </p:set>
                                    <p:animEffect transition="in" filter="wipe(up)">
                                      <p:cBhvr>
                                        <p:cTn id="29" dur="500"/>
                                        <p:tgtEl>
                                          <p:spTgt spid="135171">
                                            <p:txEl>
                                              <p:pRg st="5" end="5"/>
                                            </p:txEl>
                                          </p:spTgt>
                                        </p:tgtEl>
                                      </p:cBhvr>
                                    </p:animEffect>
                                  </p:childTnLst>
                                </p:cTn>
                              </p:par>
                            </p:childTnLst>
                          </p:cTn>
                        </p:par>
                        <p:par>
                          <p:cTn id="30" fill="hold" nodeType="afterGroup">
                            <p:stCondLst>
                              <p:cond delay="1500"/>
                            </p:stCondLst>
                            <p:childTnLst>
                              <p:par>
                                <p:cTn id="31" presetID="22" presetClass="entr" presetSubtype="1" fill="hold" nodeType="afterEffect">
                                  <p:stCondLst>
                                    <p:cond delay="0"/>
                                  </p:stCondLst>
                                  <p:childTnLst>
                                    <p:set>
                                      <p:cBhvr>
                                        <p:cTn id="32" dur="1" fill="hold">
                                          <p:stCondLst>
                                            <p:cond delay="0"/>
                                          </p:stCondLst>
                                        </p:cTn>
                                        <p:tgtEl>
                                          <p:spTgt spid="135171">
                                            <p:txEl>
                                              <p:pRg st="6" end="6"/>
                                            </p:txEl>
                                          </p:spTgt>
                                        </p:tgtEl>
                                        <p:attrNameLst>
                                          <p:attrName>style.visibility</p:attrName>
                                        </p:attrNameLst>
                                      </p:cBhvr>
                                      <p:to>
                                        <p:strVal val="visible"/>
                                      </p:to>
                                    </p:set>
                                    <p:animEffect transition="in" filter="wipe(up)">
                                      <p:cBhvr>
                                        <p:cTn id="33" dur="500"/>
                                        <p:tgtEl>
                                          <p:spTgt spid="135171">
                                            <p:txEl>
                                              <p:pRg st="6" end="6"/>
                                            </p:txEl>
                                          </p:spTgt>
                                        </p:tgtEl>
                                      </p:cBhvr>
                                    </p:animEffect>
                                  </p:childTnLst>
                                </p:cTn>
                              </p:par>
                            </p:childTnLst>
                          </p:cTn>
                        </p:par>
                        <p:par>
                          <p:cTn id="34" fill="hold" nodeType="afterGroup">
                            <p:stCondLst>
                              <p:cond delay="2000"/>
                            </p:stCondLst>
                            <p:childTnLst>
                              <p:par>
                                <p:cTn id="35" presetID="22" presetClass="entr" presetSubtype="1" fill="hold" nodeType="afterEffect">
                                  <p:stCondLst>
                                    <p:cond delay="0"/>
                                  </p:stCondLst>
                                  <p:childTnLst>
                                    <p:set>
                                      <p:cBhvr>
                                        <p:cTn id="36" dur="1" fill="hold">
                                          <p:stCondLst>
                                            <p:cond delay="0"/>
                                          </p:stCondLst>
                                        </p:cTn>
                                        <p:tgtEl>
                                          <p:spTgt spid="135171">
                                            <p:txEl>
                                              <p:pRg st="7" end="7"/>
                                            </p:txEl>
                                          </p:spTgt>
                                        </p:tgtEl>
                                        <p:attrNameLst>
                                          <p:attrName>style.visibility</p:attrName>
                                        </p:attrNameLst>
                                      </p:cBhvr>
                                      <p:to>
                                        <p:strVal val="visible"/>
                                      </p:to>
                                    </p:set>
                                    <p:animEffect transition="in" filter="wipe(up)">
                                      <p:cBhvr>
                                        <p:cTn id="37" dur="500"/>
                                        <p:tgtEl>
                                          <p:spTgt spid="135171">
                                            <p:txEl>
                                              <p:pRg st="7" end="7"/>
                                            </p:txEl>
                                          </p:spTgt>
                                        </p:tgtEl>
                                      </p:cBhvr>
                                    </p:animEffect>
                                  </p:childTnLst>
                                </p:cTn>
                              </p:par>
                            </p:childTnLst>
                          </p:cTn>
                        </p:par>
                        <p:par>
                          <p:cTn id="38" fill="hold" nodeType="afterGroup">
                            <p:stCondLst>
                              <p:cond delay="2500"/>
                            </p:stCondLst>
                            <p:childTnLst>
                              <p:par>
                                <p:cTn id="39" presetID="22" presetClass="entr" presetSubtype="1" fill="hold" nodeType="afterEffect">
                                  <p:stCondLst>
                                    <p:cond delay="0"/>
                                  </p:stCondLst>
                                  <p:childTnLst>
                                    <p:set>
                                      <p:cBhvr>
                                        <p:cTn id="40" dur="1" fill="hold">
                                          <p:stCondLst>
                                            <p:cond delay="0"/>
                                          </p:stCondLst>
                                        </p:cTn>
                                        <p:tgtEl>
                                          <p:spTgt spid="135171">
                                            <p:txEl>
                                              <p:pRg st="8" end="8"/>
                                            </p:txEl>
                                          </p:spTgt>
                                        </p:tgtEl>
                                        <p:attrNameLst>
                                          <p:attrName>style.visibility</p:attrName>
                                        </p:attrNameLst>
                                      </p:cBhvr>
                                      <p:to>
                                        <p:strVal val="visible"/>
                                      </p:to>
                                    </p:set>
                                    <p:animEffect transition="in" filter="wipe(up)">
                                      <p:cBhvr>
                                        <p:cTn id="41" dur="500"/>
                                        <p:tgtEl>
                                          <p:spTgt spid="13517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2">
            <a:extLst>
              <a:ext uri="{FF2B5EF4-FFF2-40B4-BE49-F238E27FC236}">
                <a16:creationId xmlns:a16="http://schemas.microsoft.com/office/drawing/2014/main" id="{DFA0F61F-FB4D-45F5-9F11-E7C868FEA246}"/>
              </a:ext>
            </a:extLst>
          </p:cNvPr>
          <p:cNvSpPr txBox="1">
            <a:spLocks noChangeArrowheads="1"/>
          </p:cNvSpPr>
          <p:nvPr/>
        </p:nvSpPr>
        <p:spPr bwMode="auto">
          <a:xfrm>
            <a:off x="381000" y="1143000"/>
            <a:ext cx="8458200" cy="509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spcBef>
                <a:spcPct val="10000"/>
              </a:spcBef>
              <a:buSzTx/>
              <a:buFontTx/>
              <a:buNone/>
            </a:pPr>
            <a:r>
              <a:rPr lang="en-US" altLang="zh-CN" sz="2800" b="1">
                <a:latin typeface="黑体" panose="02010609060101010101" pitchFamily="49" charset="-122"/>
                <a:ea typeface="黑体" panose="02010609060101010101" pitchFamily="49" charset="-122"/>
              </a:rPr>
              <a:t>   </a:t>
            </a:r>
            <a:r>
              <a:rPr lang="zh-CN" altLang="en-US" sz="28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8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28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）用户视图给数据库应用系统的设计提供了极大的优越性</a:t>
            </a:r>
          </a:p>
          <a:p>
            <a:pPr algn="just">
              <a:lnSpc>
                <a:spcPct val="130000"/>
              </a:lnSpc>
              <a:spcBef>
                <a:spcPct val="0"/>
              </a:spcBef>
              <a:buSzTx/>
              <a:buFontTx/>
              <a:buNone/>
            </a:pPr>
            <a:r>
              <a:rPr lang="zh-CN" altLang="en-US" sz="2600" b="1">
                <a:latin typeface="黑体" panose="02010609060101010101" pitchFamily="49" charset="-122"/>
                <a:cs typeface="Times New Roman" panose="02020603050405020304" pitchFamily="18" charset="0"/>
              </a:rPr>
              <a:t>    </a:t>
            </a:r>
            <a:r>
              <a:rPr lang="zh-CN" altLang="en-US" sz="2800" b="1">
                <a:solidFill>
                  <a:srgbClr val="000000"/>
                </a:solidFill>
                <a:latin typeface="楷体_GB2312" pitchFamily="49" charset="-122"/>
                <a:ea typeface="楷体_GB2312" pitchFamily="49" charset="-122"/>
              </a:rPr>
              <a:t>用户视图的建立，会使在应用程序中用到并反复出现的含有复杂关系联接和投影的查询语句被简单的视图查询语句所代替。这样不仅简化了用户接口，使应用程序中的</a:t>
            </a:r>
            <a:r>
              <a:rPr lang="en-US" altLang="zh-CN" sz="2800" b="1">
                <a:solidFill>
                  <a:srgbClr val="000000"/>
                </a:solidFill>
                <a:latin typeface="楷体_GB2312" pitchFamily="49" charset="-122"/>
                <a:ea typeface="楷体_GB2312" pitchFamily="49" charset="-122"/>
              </a:rPr>
              <a:t>SQL</a:t>
            </a:r>
            <a:r>
              <a:rPr lang="zh-CN" altLang="en-US" sz="2800" b="1">
                <a:solidFill>
                  <a:srgbClr val="000000"/>
                </a:solidFill>
                <a:latin typeface="楷体_GB2312" pitchFamily="49" charset="-122"/>
                <a:ea typeface="楷体_GB2312" pitchFamily="49" charset="-122"/>
              </a:rPr>
              <a:t>语句变得简单明了，清晰可读；而且可以使应用程序员把编写应用程序的主要精力集中在对数据的处理、分析和用户界面的实现上，方便应用程序的设计。</a:t>
            </a:r>
            <a:r>
              <a:rPr lang="zh-CN" altLang="en-US" sz="2600" b="1">
                <a:latin typeface="黑体" panose="02010609060101010101" pitchFamily="49" charset="-122"/>
                <a:ea typeface="黑体" panose="02010609060101010101" pitchFamily="49" charset="-122"/>
              </a:rPr>
              <a:t>   </a:t>
            </a:r>
          </a:p>
        </p:txBody>
      </p:sp>
      <p:sp>
        <p:nvSpPr>
          <p:cNvPr id="138243" name="Rectangle 3">
            <a:extLst>
              <a:ext uri="{FF2B5EF4-FFF2-40B4-BE49-F238E27FC236}">
                <a16:creationId xmlns:a16="http://schemas.microsoft.com/office/drawing/2014/main" id="{86F62A83-3445-44A9-A12B-536A3A729DDD}"/>
              </a:ext>
            </a:extLst>
          </p:cNvPr>
          <p:cNvSpPr>
            <a:spLocks noChangeArrowheads="1"/>
          </p:cNvSpPr>
          <p:nvPr/>
        </p:nvSpPr>
        <p:spPr bwMode="auto">
          <a:xfrm>
            <a:off x="1084263" y="71438"/>
            <a:ext cx="7993062"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sz="3200"/>
              <a:t>四、</a:t>
            </a:r>
            <a:r>
              <a:rPr lang="zh-CN" altLang="en-US" sz="3000"/>
              <a:t>视图对数据库设计和系统性能带来的影响</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7187"/>
    </mc:Choice>
    <mc:Fallback xmlns="">
      <p:transition spd="slow" advTm="37187"/>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38242">
                                            <p:txEl>
                                              <p:pRg st="0" end="0"/>
                                            </p:txEl>
                                          </p:spTgt>
                                        </p:tgtEl>
                                        <p:attrNameLst>
                                          <p:attrName>style.visibility</p:attrName>
                                        </p:attrNameLst>
                                      </p:cBhvr>
                                      <p:to>
                                        <p:strVal val="visible"/>
                                      </p:to>
                                    </p:set>
                                    <p:animEffect transition="in" filter="wipe(up)">
                                      <p:cBhvr>
                                        <p:cTn id="7" dur="500"/>
                                        <p:tgtEl>
                                          <p:spTgt spid="138242">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38242">
                                            <p:txEl>
                                              <p:pRg st="1" end="1"/>
                                            </p:txEl>
                                          </p:spTgt>
                                        </p:tgtEl>
                                        <p:attrNameLst>
                                          <p:attrName>style.visibility</p:attrName>
                                        </p:attrNameLst>
                                      </p:cBhvr>
                                      <p:to>
                                        <p:strVal val="visible"/>
                                      </p:to>
                                    </p:set>
                                    <p:animEffect transition="in" filter="wipe(up)">
                                      <p:cBhvr>
                                        <p:cTn id="11" dur="500"/>
                                        <p:tgtEl>
                                          <p:spTgt spid="13824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2">
            <a:extLst>
              <a:ext uri="{FF2B5EF4-FFF2-40B4-BE49-F238E27FC236}">
                <a16:creationId xmlns:a16="http://schemas.microsoft.com/office/drawing/2014/main" id="{6F2DE50B-67E6-4767-9C31-5ACF28E1B00D}"/>
              </a:ext>
            </a:extLst>
          </p:cNvPr>
          <p:cNvSpPr txBox="1">
            <a:spLocks noChangeArrowheads="1"/>
          </p:cNvSpPr>
          <p:nvPr/>
        </p:nvSpPr>
        <p:spPr bwMode="auto">
          <a:xfrm>
            <a:off x="381000" y="1143000"/>
            <a:ext cx="8458200" cy="5110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spcBef>
                <a:spcPct val="10000"/>
              </a:spcBef>
              <a:buSzTx/>
              <a:buFontTx/>
              <a:buNone/>
            </a:pPr>
            <a:r>
              <a:rPr lang="en-US" altLang="zh-CN" sz="2800" b="1">
                <a:latin typeface="黑体" panose="02010609060101010101" pitchFamily="49" charset="-122"/>
                <a:ea typeface="黑体" panose="02010609060101010101" pitchFamily="49" charset="-122"/>
              </a:rPr>
              <a:t>    </a:t>
            </a:r>
            <a:r>
              <a:rPr lang="zh-CN" altLang="en-US" sz="2800" b="1">
                <a:solidFill>
                  <a:srgbClr val="003366"/>
                </a:solidFill>
                <a:latin typeface="黑体" panose="02010609060101010101" pitchFamily="49" charset="-122"/>
                <a:ea typeface="黑体" panose="02010609060101010101" pitchFamily="49" charset="-122"/>
              </a:rPr>
              <a:t>（</a:t>
            </a:r>
            <a:r>
              <a:rPr lang="en-US" altLang="zh-CN" sz="2800" b="1">
                <a:solidFill>
                  <a:srgbClr val="003366"/>
                </a:solidFill>
                <a:latin typeface="黑体" panose="02010609060101010101" pitchFamily="49" charset="-122"/>
                <a:ea typeface="黑体" panose="02010609060101010101" pitchFamily="49" charset="-122"/>
              </a:rPr>
              <a:t>2</a:t>
            </a:r>
            <a:r>
              <a:rPr lang="zh-CN" altLang="en-US" sz="2800" b="1">
                <a:solidFill>
                  <a:srgbClr val="003366"/>
                </a:solidFill>
                <a:latin typeface="黑体" panose="02010609060101010101" pitchFamily="49" charset="-122"/>
                <a:ea typeface="黑体" panose="02010609060101010101" pitchFamily="49" charset="-122"/>
              </a:rPr>
              <a:t>）实现了数据库的逻辑数据独立性 </a:t>
            </a:r>
          </a:p>
          <a:p>
            <a:pPr algn="just">
              <a:lnSpc>
                <a:spcPct val="120000"/>
              </a:lnSpc>
              <a:spcBef>
                <a:spcPct val="0"/>
              </a:spcBef>
              <a:buSzTx/>
              <a:buFontTx/>
              <a:buNone/>
            </a:pPr>
            <a:r>
              <a:rPr lang="zh-CN" altLang="en-US" sz="2800" b="1">
                <a:latin typeface="黑体" panose="02010609060101010101" pitchFamily="49" charset="-122"/>
                <a:ea typeface="黑体" panose="02010609060101010101" pitchFamily="49" charset="-122"/>
              </a:rPr>
              <a:t>     </a:t>
            </a:r>
            <a:r>
              <a:rPr lang="zh-CN" altLang="en-US" sz="2700" b="1">
                <a:solidFill>
                  <a:srgbClr val="000000"/>
                </a:solidFill>
                <a:latin typeface="楷体_GB2312" pitchFamily="49" charset="-122"/>
                <a:ea typeface="楷体_GB2312" pitchFamily="49" charset="-122"/>
              </a:rPr>
              <a:t>由于不同的用户具有不同用户视图，这样就使一个用户视图的变化不会影响另一些用户视图。当数据库的逻辑结构或存储结构发生变化时，并且这些变化与某一或某些用户的视图无关时，就不必改变该用户的应用程序；当这些变化与某一或某些用户的视图有关时，可通过改变基本表到用户视图之间的映射关系，也即通过重新定义用户视图而使用户视图保持不变或稍有变化，从而不必修改应用程序或少量修改应用程序。这样就实现了数据库的逻辑数据独立性。 </a:t>
            </a:r>
          </a:p>
        </p:txBody>
      </p:sp>
      <p:sp>
        <p:nvSpPr>
          <p:cNvPr id="139267" name="Rectangle 3">
            <a:extLst>
              <a:ext uri="{FF2B5EF4-FFF2-40B4-BE49-F238E27FC236}">
                <a16:creationId xmlns:a16="http://schemas.microsoft.com/office/drawing/2014/main" id="{B5600537-E689-4A3F-B759-8641FB69BE73}"/>
              </a:ext>
            </a:extLst>
          </p:cNvPr>
          <p:cNvSpPr>
            <a:spLocks noChangeArrowheads="1"/>
          </p:cNvSpPr>
          <p:nvPr/>
        </p:nvSpPr>
        <p:spPr bwMode="auto">
          <a:xfrm>
            <a:off x="1084263" y="71438"/>
            <a:ext cx="7993062"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sz="3200"/>
              <a:t>四、</a:t>
            </a:r>
            <a:r>
              <a:rPr lang="zh-CN" altLang="en-US" sz="3000"/>
              <a:t>视图对数据库设计和系统性能带来的影响</a:t>
            </a:r>
          </a:p>
        </p:txBody>
      </p:sp>
    </p:spTree>
  </p:cSld>
  <p:clrMapOvr>
    <a:masterClrMapping/>
  </p:clrMapOvr>
  <mc:AlternateContent xmlns:mc="http://schemas.openxmlformats.org/markup-compatibility/2006" xmlns:p14="http://schemas.microsoft.com/office/powerpoint/2010/main">
    <mc:Choice Requires="p14">
      <p:transition spd="slow" p14:dur="2000" advTm="34457"/>
    </mc:Choice>
    <mc:Fallback xmlns="">
      <p:transition spd="slow" advTm="34457"/>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39266">
                                            <p:txEl>
                                              <p:pRg st="1" end="1"/>
                                            </p:txEl>
                                          </p:spTgt>
                                        </p:tgtEl>
                                        <p:attrNameLst>
                                          <p:attrName>style.visibility</p:attrName>
                                        </p:attrNameLst>
                                      </p:cBhvr>
                                      <p:to>
                                        <p:strVal val="visible"/>
                                      </p:to>
                                    </p:set>
                                    <p:animEffect transition="in" filter="wipe(up)">
                                      <p:cBhvr>
                                        <p:cTn id="7" dur="1000"/>
                                        <p:tgtEl>
                                          <p:spTgt spid="13926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ext Box 2">
            <a:extLst>
              <a:ext uri="{FF2B5EF4-FFF2-40B4-BE49-F238E27FC236}">
                <a16:creationId xmlns:a16="http://schemas.microsoft.com/office/drawing/2014/main" id="{61950B9C-9AF8-42EC-9C77-B59A3BAEE866}"/>
              </a:ext>
            </a:extLst>
          </p:cNvPr>
          <p:cNvSpPr txBox="1">
            <a:spLocks noChangeArrowheads="1"/>
          </p:cNvSpPr>
          <p:nvPr/>
        </p:nvSpPr>
        <p:spPr bwMode="auto">
          <a:xfrm>
            <a:off x="381000" y="1143000"/>
            <a:ext cx="8458200" cy="4875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spcBef>
                <a:spcPct val="10000"/>
              </a:spcBef>
              <a:buSzTx/>
              <a:buFontTx/>
              <a:buNone/>
            </a:pPr>
            <a:r>
              <a:rPr lang="en-US" altLang="zh-CN" sz="2800" b="1">
                <a:solidFill>
                  <a:srgbClr val="003366"/>
                </a:solidFill>
                <a:latin typeface="黑体" panose="02010609060101010101" pitchFamily="49" charset="-122"/>
                <a:ea typeface="黑体" panose="02010609060101010101" pitchFamily="49" charset="-122"/>
              </a:rPr>
              <a:t>    </a:t>
            </a:r>
            <a:r>
              <a:rPr lang="zh-CN" altLang="en-US" sz="2800" b="1">
                <a:solidFill>
                  <a:srgbClr val="003366"/>
                </a:solidFill>
                <a:latin typeface="黑体" panose="02010609060101010101" pitchFamily="49" charset="-122"/>
                <a:ea typeface="黑体" panose="02010609060101010101" pitchFamily="49" charset="-122"/>
              </a:rPr>
              <a:t>（</a:t>
            </a:r>
            <a:r>
              <a:rPr lang="en-US" altLang="zh-CN" sz="2800" b="1">
                <a:solidFill>
                  <a:srgbClr val="003366"/>
                </a:solidFill>
                <a:latin typeface="黑体" panose="02010609060101010101" pitchFamily="49" charset="-122"/>
                <a:ea typeface="黑体" panose="02010609060101010101" pitchFamily="49" charset="-122"/>
              </a:rPr>
              <a:t>3</a:t>
            </a:r>
            <a:r>
              <a:rPr lang="zh-CN" altLang="en-US" sz="2800" b="1">
                <a:solidFill>
                  <a:srgbClr val="003366"/>
                </a:solidFill>
                <a:latin typeface="黑体" panose="02010609060101010101" pitchFamily="49" charset="-122"/>
                <a:ea typeface="黑体" panose="02010609060101010101" pitchFamily="49" charset="-122"/>
              </a:rPr>
              <a:t>）可起到了对数据库中数据进行安全保护的作用 </a:t>
            </a:r>
          </a:p>
          <a:p>
            <a:pPr algn="just">
              <a:lnSpc>
                <a:spcPct val="145000"/>
              </a:lnSpc>
              <a:spcBef>
                <a:spcPct val="0"/>
              </a:spcBef>
              <a:buSzTx/>
              <a:buFontTx/>
              <a:buNone/>
            </a:pPr>
            <a:r>
              <a:rPr lang="zh-CN" altLang="en-US" sz="2800" b="1">
                <a:latin typeface="黑体" panose="02010609060101010101" pitchFamily="49" charset="-122"/>
                <a:cs typeface="Times New Roman" panose="02020603050405020304" pitchFamily="18" charset="0"/>
              </a:rPr>
              <a:t>    </a:t>
            </a:r>
            <a:r>
              <a:rPr lang="zh-CN" altLang="en-US" sz="2800" b="1">
                <a:solidFill>
                  <a:srgbClr val="000000"/>
                </a:solidFill>
                <a:latin typeface="楷体_GB2312" pitchFamily="49" charset="-122"/>
                <a:ea typeface="楷体_GB2312" pitchFamily="49" charset="-122"/>
              </a:rPr>
              <a:t>由于不同用户具有不同的用户视图，这样就使得在各个用户视图中只出现他自己关心的那部分数据，其它数据对他来说是不能使用的。而且系统给用户使用的是视图而不是在数据库中存储有数据的表。这样就起到了对数据库中数据进行安全保护的作用。</a:t>
            </a:r>
          </a:p>
          <a:p>
            <a:pPr algn="just">
              <a:lnSpc>
                <a:spcPct val="145000"/>
              </a:lnSpc>
              <a:spcBef>
                <a:spcPct val="0"/>
              </a:spcBef>
              <a:buSzTx/>
              <a:buFontTx/>
              <a:buNone/>
            </a:pPr>
            <a:r>
              <a:rPr lang="zh-CN" altLang="en-US" sz="2600" b="1">
                <a:solidFill>
                  <a:srgbClr val="000000"/>
                </a:solidFill>
                <a:latin typeface="楷体_GB2312" pitchFamily="49" charset="-122"/>
                <a:ea typeface="楷体_GB2312" pitchFamily="49" charset="-122"/>
              </a:rPr>
              <a:t>                                             </a:t>
            </a:r>
            <a:r>
              <a:rPr lang="en-US" altLang="zh-CN" sz="2600" b="1">
                <a:solidFill>
                  <a:srgbClr val="B2B2B2"/>
                </a:solidFill>
                <a:latin typeface="楷体_GB2312" pitchFamily="49" charset="-122"/>
                <a:ea typeface="楷体_GB2312" pitchFamily="49" charset="-122"/>
              </a:rPr>
              <a:t>##</a:t>
            </a:r>
          </a:p>
        </p:txBody>
      </p:sp>
      <p:sp>
        <p:nvSpPr>
          <p:cNvPr id="140291" name="Rectangle 3">
            <a:extLst>
              <a:ext uri="{FF2B5EF4-FFF2-40B4-BE49-F238E27FC236}">
                <a16:creationId xmlns:a16="http://schemas.microsoft.com/office/drawing/2014/main" id="{F3844021-FBD9-49FC-95E4-C975137B8107}"/>
              </a:ext>
            </a:extLst>
          </p:cNvPr>
          <p:cNvSpPr>
            <a:spLocks noChangeArrowheads="1"/>
          </p:cNvSpPr>
          <p:nvPr/>
        </p:nvSpPr>
        <p:spPr bwMode="auto">
          <a:xfrm>
            <a:off x="1084263" y="71438"/>
            <a:ext cx="7993062"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sz="3200"/>
              <a:t>四、</a:t>
            </a:r>
            <a:r>
              <a:rPr lang="zh-CN" altLang="en-US" sz="3000"/>
              <a:t>视图对数据库设计和系统性能带来的影响</a:t>
            </a:r>
          </a:p>
        </p:txBody>
      </p:sp>
    </p:spTree>
  </p:cSld>
  <p:clrMapOvr>
    <a:masterClrMapping/>
  </p:clrMapOvr>
  <mc:AlternateContent xmlns:mc="http://schemas.openxmlformats.org/markup-compatibility/2006" xmlns:p14="http://schemas.microsoft.com/office/powerpoint/2010/main">
    <mc:Choice Requires="p14">
      <p:transition spd="slow" p14:dur="2000" advTm="26080"/>
    </mc:Choice>
    <mc:Fallback xmlns="">
      <p:transition spd="slow" advTm="26080"/>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40290">
                                            <p:txEl>
                                              <p:pRg st="1" end="1"/>
                                            </p:txEl>
                                          </p:spTgt>
                                        </p:tgtEl>
                                        <p:attrNameLst>
                                          <p:attrName>style.visibility</p:attrName>
                                        </p:attrNameLst>
                                      </p:cBhvr>
                                      <p:to>
                                        <p:strVal val="visible"/>
                                      </p:to>
                                    </p:set>
                                    <p:animEffect transition="in" filter="wipe(up)">
                                      <p:cBhvr>
                                        <p:cTn id="7" dur="2000"/>
                                        <p:tgtEl>
                                          <p:spTgt spid="140290">
                                            <p:txEl>
                                              <p:pRg st="1" end="1"/>
                                            </p:txEl>
                                          </p:spTgt>
                                        </p:tgtEl>
                                      </p:cBhvr>
                                    </p:animEffect>
                                  </p:childTnLst>
                                </p:cTn>
                              </p:par>
                            </p:childTnLst>
                          </p:cTn>
                        </p:par>
                        <p:par>
                          <p:cTn id="8" fill="hold" nodeType="afterGroup">
                            <p:stCondLst>
                              <p:cond delay="2000"/>
                            </p:stCondLst>
                            <p:childTnLst>
                              <p:par>
                                <p:cTn id="9" presetID="22" presetClass="entr" presetSubtype="1" fill="hold" nodeType="afterEffect">
                                  <p:stCondLst>
                                    <p:cond delay="0"/>
                                  </p:stCondLst>
                                  <p:childTnLst>
                                    <p:set>
                                      <p:cBhvr>
                                        <p:cTn id="10" dur="1" fill="hold">
                                          <p:stCondLst>
                                            <p:cond delay="0"/>
                                          </p:stCondLst>
                                        </p:cTn>
                                        <p:tgtEl>
                                          <p:spTgt spid="140290">
                                            <p:txEl>
                                              <p:pRg st="2" end="2"/>
                                            </p:txEl>
                                          </p:spTgt>
                                        </p:tgtEl>
                                        <p:attrNameLst>
                                          <p:attrName>style.visibility</p:attrName>
                                        </p:attrNameLst>
                                      </p:cBhvr>
                                      <p:to>
                                        <p:strVal val="visible"/>
                                      </p:to>
                                    </p:set>
                                    <p:animEffect transition="in" filter="wipe(up)">
                                      <p:cBhvr>
                                        <p:cTn id="11" dur="2000"/>
                                        <p:tgtEl>
                                          <p:spTgt spid="14029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1" name="Rectangle 3">
            <a:extLst>
              <a:ext uri="{FF2B5EF4-FFF2-40B4-BE49-F238E27FC236}">
                <a16:creationId xmlns:a16="http://schemas.microsoft.com/office/drawing/2014/main" id="{97A6B59A-9352-482B-AA1E-E5C95E2E6F0E}"/>
              </a:ext>
            </a:extLst>
          </p:cNvPr>
          <p:cNvSpPr>
            <a:spLocks noChangeArrowheads="1"/>
          </p:cNvSpPr>
          <p:nvPr/>
        </p:nvSpPr>
        <p:spPr bwMode="auto">
          <a:xfrm>
            <a:off x="71438" y="73025"/>
            <a:ext cx="4119562" cy="544513"/>
          </a:xfrm>
          <a:prstGeom prst="rect">
            <a:avLst/>
          </a:prstGeom>
          <a:gradFill rotWithShape="1">
            <a:gsLst>
              <a:gs pos="0">
                <a:srgbClr val="C0C0C0"/>
              </a:gs>
              <a:gs pos="100000">
                <a:srgbClr val="C0C0C0">
                  <a:gamma/>
                  <a:tint val="0"/>
                  <a:invGamma/>
                </a:srgbClr>
              </a:gs>
            </a:gsLst>
            <a:path path="shape">
              <a:fillToRect l="50000" t="50000" r="50000" b="50000"/>
            </a:path>
          </a:gra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2000" anchor="ctr" anchorCtr="1">
            <a:spAutoFit/>
          </a:bodyPr>
          <a:lstStyle/>
          <a:p>
            <a:pPr>
              <a:spcBef>
                <a:spcPct val="0"/>
              </a:spcBef>
              <a:buSzTx/>
              <a:buFontTx/>
              <a:buNone/>
            </a:pPr>
            <a:r>
              <a:rPr lang="zh-CN" altLang="en-US" sz="2600" b="1">
                <a:solidFill>
                  <a:srgbClr val="993300"/>
                </a:solidFill>
                <a:effectLst>
                  <a:outerShdw blurRad="38100" dist="38100" dir="2700000" algn="tl">
                    <a:srgbClr val="000000"/>
                  </a:outerShdw>
                </a:effectLst>
                <a:ea typeface="隶书" panose="02010509060101010101" pitchFamily="49" charset="-122"/>
              </a:rPr>
              <a:t>第</a:t>
            </a:r>
            <a:r>
              <a:rPr lang="en-US" altLang="zh-CN" sz="2600" b="1">
                <a:solidFill>
                  <a:srgbClr val="993300"/>
                </a:solidFill>
                <a:effectLst>
                  <a:outerShdw blurRad="38100" dist="38100" dir="2700000" algn="tl">
                    <a:srgbClr val="000000"/>
                  </a:outerShdw>
                </a:effectLst>
                <a:ea typeface="隶书" panose="02010509060101010101" pitchFamily="49" charset="-122"/>
              </a:rPr>
              <a:t>5</a:t>
            </a:r>
            <a:r>
              <a:rPr lang="zh-CN" altLang="en-US" sz="2600" b="1">
                <a:solidFill>
                  <a:srgbClr val="993300"/>
                </a:solidFill>
                <a:effectLst>
                  <a:outerShdw blurRad="38100" dist="38100" dir="2700000" algn="tl">
                    <a:srgbClr val="000000"/>
                  </a:outerShdw>
                </a:effectLst>
                <a:ea typeface="隶书" panose="02010509060101010101" pitchFamily="49" charset="-122"/>
              </a:rPr>
              <a:t>章 关系数据库语言</a:t>
            </a:r>
            <a:r>
              <a:rPr lang="en-US" altLang="zh-CN" sz="2600" b="1">
                <a:solidFill>
                  <a:srgbClr val="993300"/>
                </a:solidFill>
                <a:effectLst>
                  <a:outerShdw blurRad="38100" dist="38100" dir="2700000" algn="tl">
                    <a:srgbClr val="000000"/>
                  </a:outerShdw>
                </a:effectLst>
                <a:ea typeface="隶书" panose="02010509060101010101" pitchFamily="49" charset="-122"/>
              </a:rPr>
              <a:t>SQL</a:t>
            </a:r>
            <a:r>
              <a:rPr lang="en-US" altLang="zh-CN"/>
              <a:t> </a:t>
            </a:r>
          </a:p>
        </p:txBody>
      </p:sp>
      <p:sp>
        <p:nvSpPr>
          <p:cNvPr id="452612" name="Rectangle 4">
            <a:extLst>
              <a:ext uri="{FF2B5EF4-FFF2-40B4-BE49-F238E27FC236}">
                <a16:creationId xmlns:a16="http://schemas.microsoft.com/office/drawing/2014/main" id="{3AD35BFC-8C22-4855-999D-9B67098C5864}"/>
              </a:ext>
            </a:extLst>
          </p:cNvPr>
          <p:cNvSpPr>
            <a:spLocks noGrp="1" noChangeArrowheads="1"/>
          </p:cNvSpPr>
          <p:nvPr>
            <p:ph type="ctrTitle"/>
          </p:nvPr>
        </p:nvSpPr>
        <p:spPr>
          <a:xfrm>
            <a:off x="684213" y="1222375"/>
            <a:ext cx="8137525" cy="1462088"/>
          </a:xfrm>
          <a:noFill/>
          <a:ln/>
        </p:spPr>
        <p:txBody>
          <a:bodyPr/>
          <a:lstStyle/>
          <a:p>
            <a:r>
              <a:rPr lang="en-US" altLang="zh-CN" sz="3900"/>
              <a:t>5.5  SQL</a:t>
            </a:r>
            <a:r>
              <a:rPr lang="zh-CN" altLang="en-US" sz="3900"/>
              <a:t>中带有子查询的数据更新</a:t>
            </a:r>
            <a:r>
              <a:rPr lang="zh-CN" altLang="en-US"/>
              <a:t> </a:t>
            </a:r>
          </a:p>
        </p:txBody>
      </p:sp>
    </p:spTree>
  </p:cSld>
  <p:clrMapOvr>
    <a:masterClrMapping/>
  </p:clrMapOvr>
  <mc:AlternateContent xmlns:mc="http://schemas.openxmlformats.org/markup-compatibility/2006" xmlns:p14="http://schemas.microsoft.com/office/powerpoint/2010/main">
    <mc:Choice Requires="p14">
      <p:transition spd="slow" p14:dur="2000" advTm="3404"/>
    </mc:Choice>
    <mc:Fallback xmlns="">
      <p:transition spd="slow" advTm="3404"/>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452611"/>
                                        </p:tgtEl>
                                        <p:attrNameLst>
                                          <p:attrName>style.visibility</p:attrName>
                                        </p:attrNameLst>
                                      </p:cBhvr>
                                      <p:to>
                                        <p:strVal val="visible"/>
                                      </p:to>
                                    </p:set>
                                    <p:animEffect transition="in" filter="box(out)">
                                      <p:cBhvr>
                                        <p:cTn id="7" dur="1000"/>
                                        <p:tgtEl>
                                          <p:spTgt spid="452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6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ext Box 2">
            <a:extLst>
              <a:ext uri="{FF2B5EF4-FFF2-40B4-BE49-F238E27FC236}">
                <a16:creationId xmlns:a16="http://schemas.microsoft.com/office/drawing/2014/main" id="{89CB18B2-C480-4EA0-85F6-29DA0944896D}"/>
              </a:ext>
            </a:extLst>
          </p:cNvPr>
          <p:cNvSpPr txBox="1">
            <a:spLocks noChangeArrowheads="1"/>
          </p:cNvSpPr>
          <p:nvPr/>
        </p:nvSpPr>
        <p:spPr bwMode="auto">
          <a:xfrm>
            <a:off x="381000" y="1143000"/>
            <a:ext cx="8458200" cy="489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spcBef>
                <a:spcPct val="10000"/>
              </a:spcBef>
              <a:buSzTx/>
              <a:buFontTx/>
              <a:buNone/>
            </a:pPr>
            <a:r>
              <a:rPr lang="en-US" altLang="zh-CN" sz="2600" b="1">
                <a:solidFill>
                  <a:srgbClr val="800000"/>
                </a:solidFill>
                <a:latin typeface="黑体" panose="02010609060101010101" pitchFamily="49" charset="-122"/>
                <a:ea typeface="黑体" panose="02010609060101010101" pitchFamily="49" charset="-122"/>
              </a:rPr>
              <a:t> </a:t>
            </a:r>
            <a:r>
              <a:rPr lang="en-US" altLang="zh-CN"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600" b="1">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语句格式：</a:t>
            </a:r>
          </a:p>
          <a:p>
            <a:pPr algn="just">
              <a:lnSpc>
                <a:spcPct val="130000"/>
              </a:lnSpc>
              <a:spcBef>
                <a:spcPct val="50000"/>
              </a:spcBef>
              <a:buSzTx/>
              <a:buFontTx/>
              <a:buNone/>
            </a:pPr>
            <a:r>
              <a:rPr lang="zh-CN" altLang="en-US" sz="2600" b="1">
                <a:latin typeface="黑体" panose="02010609060101010101" pitchFamily="49" charset="-122"/>
                <a:ea typeface="黑体" panose="02010609060101010101" pitchFamily="49" charset="-122"/>
              </a:rPr>
              <a:t>        </a:t>
            </a:r>
            <a:r>
              <a:rPr lang="en-US" altLang="zh-CN" sz="2600" b="1">
                <a:solidFill>
                  <a:srgbClr val="000000"/>
                </a:solidFill>
                <a:latin typeface="黑体" panose="02010609060101010101" pitchFamily="49" charset="-122"/>
                <a:ea typeface="黑体" panose="02010609060101010101" pitchFamily="49" charset="-122"/>
              </a:rPr>
              <a:t>INSERT INTO &lt;</a:t>
            </a:r>
            <a:r>
              <a:rPr lang="zh-CN" altLang="en-US" sz="2600" b="1">
                <a:solidFill>
                  <a:srgbClr val="000000"/>
                </a:solidFill>
                <a:latin typeface="黑体" panose="02010609060101010101" pitchFamily="49" charset="-122"/>
                <a:ea typeface="黑体" panose="02010609060101010101" pitchFamily="49" charset="-122"/>
              </a:rPr>
              <a:t>表名</a:t>
            </a:r>
            <a:r>
              <a:rPr lang="en-US" altLang="zh-CN" sz="2600" b="1">
                <a:solidFill>
                  <a:srgbClr val="000000"/>
                </a:solidFill>
                <a:latin typeface="黑体" panose="02010609060101010101" pitchFamily="49" charset="-122"/>
                <a:ea typeface="黑体" panose="02010609060101010101" pitchFamily="49" charset="-122"/>
              </a:rPr>
              <a:t>&gt;</a:t>
            </a:r>
          </a:p>
          <a:p>
            <a:pPr algn="just">
              <a:lnSpc>
                <a:spcPct val="130000"/>
              </a:lnSpc>
              <a:spcBef>
                <a:spcPct val="10000"/>
              </a:spcBef>
              <a:buSzTx/>
              <a:buFontTx/>
              <a:buNone/>
            </a:pPr>
            <a:r>
              <a:rPr lang="en-US" altLang="zh-CN" sz="2600" b="1">
                <a:solidFill>
                  <a:srgbClr val="000000"/>
                </a:solidFill>
                <a:latin typeface="黑体" panose="02010609060101010101" pitchFamily="49" charset="-122"/>
                <a:ea typeface="黑体" panose="02010609060101010101" pitchFamily="49" charset="-122"/>
              </a:rPr>
              <a:t>               [</a:t>
            </a:r>
            <a:r>
              <a:rPr lang="zh-CN" altLang="en-US" sz="2600" b="1">
                <a:solidFill>
                  <a:srgbClr val="000000"/>
                </a:solidFill>
                <a:latin typeface="黑体" panose="02010609060101010101" pitchFamily="49" charset="-122"/>
                <a:ea typeface="黑体" panose="02010609060101010101" pitchFamily="49" charset="-122"/>
              </a:rPr>
              <a:t>（</a:t>
            </a:r>
            <a:r>
              <a:rPr lang="en-US" altLang="zh-CN" sz="2600" b="1">
                <a:solidFill>
                  <a:srgbClr val="000000"/>
                </a:solidFill>
                <a:latin typeface="黑体" panose="02010609060101010101" pitchFamily="49" charset="-122"/>
                <a:ea typeface="黑体" panose="02010609060101010101" pitchFamily="49" charset="-122"/>
              </a:rPr>
              <a:t>&lt;</a:t>
            </a:r>
            <a:r>
              <a:rPr lang="zh-CN" altLang="en-US" sz="2600" b="1">
                <a:solidFill>
                  <a:srgbClr val="000000"/>
                </a:solidFill>
                <a:latin typeface="黑体" panose="02010609060101010101" pitchFamily="49" charset="-122"/>
                <a:ea typeface="黑体" panose="02010609060101010101" pitchFamily="49" charset="-122"/>
              </a:rPr>
              <a:t>列名表</a:t>
            </a:r>
            <a:r>
              <a:rPr lang="en-US" altLang="zh-CN" sz="2600" b="1">
                <a:solidFill>
                  <a:srgbClr val="000000"/>
                </a:solidFill>
                <a:latin typeface="黑体" panose="02010609060101010101" pitchFamily="49" charset="-122"/>
                <a:ea typeface="黑体" panose="02010609060101010101" pitchFamily="49" charset="-122"/>
              </a:rPr>
              <a:t>&gt;</a:t>
            </a:r>
            <a:r>
              <a:rPr lang="zh-CN" altLang="en-US" sz="2600" b="1">
                <a:solidFill>
                  <a:srgbClr val="000000"/>
                </a:solidFill>
                <a:latin typeface="黑体" panose="02010609060101010101" pitchFamily="49" charset="-122"/>
                <a:ea typeface="黑体" panose="02010609060101010101" pitchFamily="49" charset="-122"/>
              </a:rPr>
              <a:t>）</a:t>
            </a:r>
            <a:r>
              <a:rPr lang="en-US" altLang="zh-CN" sz="2600" b="1">
                <a:solidFill>
                  <a:srgbClr val="000000"/>
                </a:solidFill>
                <a:latin typeface="黑体" panose="02010609060101010101" pitchFamily="49" charset="-122"/>
                <a:ea typeface="黑体" panose="02010609060101010101" pitchFamily="49" charset="-122"/>
              </a:rPr>
              <a:t>]</a:t>
            </a:r>
            <a:r>
              <a:rPr lang="zh-CN" altLang="en-US" sz="2600" b="1">
                <a:solidFill>
                  <a:srgbClr val="000000"/>
                </a:solidFill>
                <a:latin typeface="黑体" panose="02010609060101010101" pitchFamily="49" charset="-122"/>
                <a:ea typeface="黑体" panose="02010609060101010101" pitchFamily="49" charset="-122"/>
              </a:rPr>
              <a:t>）</a:t>
            </a:r>
          </a:p>
          <a:p>
            <a:pPr algn="just">
              <a:lnSpc>
                <a:spcPct val="130000"/>
              </a:lnSpc>
              <a:spcBef>
                <a:spcPct val="10000"/>
              </a:spcBef>
              <a:spcAft>
                <a:spcPct val="50000"/>
              </a:spcAft>
              <a:buSzTx/>
              <a:buFontTx/>
              <a:buNone/>
            </a:pPr>
            <a:r>
              <a:rPr lang="zh-CN" altLang="en-US" sz="2600" b="1">
                <a:solidFill>
                  <a:srgbClr val="000000"/>
                </a:solidFill>
                <a:latin typeface="黑体" panose="02010609060101010101" pitchFamily="49" charset="-122"/>
                <a:ea typeface="黑体" panose="02010609060101010101" pitchFamily="49" charset="-122"/>
              </a:rPr>
              <a:t>               </a:t>
            </a:r>
            <a:r>
              <a:rPr lang="en-US" altLang="zh-CN" sz="2600" b="1">
                <a:solidFill>
                  <a:srgbClr val="000000"/>
                </a:solidFill>
                <a:latin typeface="黑体" panose="02010609060101010101" pitchFamily="49" charset="-122"/>
                <a:ea typeface="黑体" panose="02010609060101010101" pitchFamily="49" charset="-122"/>
              </a:rPr>
              <a:t>&lt;</a:t>
            </a:r>
            <a:r>
              <a:rPr lang="zh-CN" altLang="en-US" sz="2600" b="1">
                <a:solidFill>
                  <a:srgbClr val="000000"/>
                </a:solidFill>
                <a:latin typeface="黑体" panose="02010609060101010101" pitchFamily="49" charset="-122"/>
                <a:ea typeface="黑体" panose="02010609060101010101" pitchFamily="49" charset="-122"/>
              </a:rPr>
              <a:t>子查询</a:t>
            </a:r>
            <a:r>
              <a:rPr lang="en-US" altLang="zh-CN" sz="2600" b="1">
                <a:solidFill>
                  <a:srgbClr val="000000"/>
                </a:solidFill>
                <a:latin typeface="黑体" panose="02010609060101010101" pitchFamily="49" charset="-122"/>
                <a:ea typeface="黑体" panose="02010609060101010101" pitchFamily="49" charset="-122"/>
              </a:rPr>
              <a:t>&gt;</a:t>
            </a:r>
            <a:r>
              <a:rPr lang="zh-CN" altLang="en-US" sz="2600" b="1">
                <a:solidFill>
                  <a:srgbClr val="000000"/>
                </a:solidFill>
                <a:latin typeface="黑体" panose="02010609060101010101" pitchFamily="49" charset="-122"/>
                <a:ea typeface="黑体" panose="02010609060101010101" pitchFamily="49" charset="-122"/>
              </a:rPr>
              <a:t>； </a:t>
            </a:r>
          </a:p>
          <a:p>
            <a:pPr algn="just">
              <a:lnSpc>
                <a:spcPct val="130000"/>
              </a:lnSpc>
              <a:spcBef>
                <a:spcPct val="10000"/>
              </a:spcBef>
              <a:buSzTx/>
              <a:buFontTx/>
              <a:buNone/>
            </a:pPr>
            <a:r>
              <a:rPr lang="zh-CN" altLang="en-US" sz="2600" b="1">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其中，</a:t>
            </a:r>
            <a:r>
              <a:rPr lang="en-US" altLang="zh-CN" sz="2800" b="1">
                <a:solidFill>
                  <a:srgbClr val="006699"/>
                </a:solidFill>
                <a:effectLst>
                  <a:outerShdw blurRad="38100" dist="38100" dir="2700000" algn="tl">
                    <a:srgbClr val="C0C0C0"/>
                  </a:outerShdw>
                </a:effectLst>
                <a:latin typeface="楷体_GB2312" pitchFamily="49" charset="-122"/>
                <a:ea typeface="楷体_GB2312" pitchFamily="49" charset="-122"/>
              </a:rPr>
              <a:t>&lt;</a:t>
            </a:r>
            <a:r>
              <a:rPr lang="zh-CN" altLang="en-US" sz="2800" b="1">
                <a:solidFill>
                  <a:srgbClr val="006699"/>
                </a:solidFill>
                <a:effectLst>
                  <a:outerShdw blurRad="38100" dist="38100" dir="2700000" algn="tl">
                    <a:srgbClr val="C0C0C0"/>
                  </a:outerShdw>
                </a:effectLst>
                <a:latin typeface="楷体_GB2312" pitchFamily="49" charset="-122"/>
                <a:ea typeface="楷体_GB2312" pitchFamily="49" charset="-122"/>
              </a:rPr>
              <a:t>子查询</a:t>
            </a:r>
            <a:r>
              <a:rPr lang="en-US" altLang="zh-CN" sz="2800" b="1">
                <a:solidFill>
                  <a:srgbClr val="006699"/>
                </a:solidFill>
                <a:effectLst>
                  <a:outerShdw blurRad="38100" dist="38100" dir="2700000" algn="tl">
                    <a:srgbClr val="C0C0C0"/>
                  </a:outerShdw>
                </a:effectLst>
                <a:latin typeface="楷体_GB2312" pitchFamily="49" charset="-122"/>
                <a:ea typeface="楷体_GB2312" pitchFamily="49" charset="-122"/>
              </a:rPr>
              <a:t>&gt;</a:t>
            </a:r>
            <a:r>
              <a:rPr lang="zh-CN" altLang="en-US" sz="2800" b="1">
                <a:solidFill>
                  <a:srgbClr val="006699"/>
                </a:solidFill>
                <a:effectLst>
                  <a:outerShdw blurRad="38100" dist="38100" dir="2700000" algn="tl">
                    <a:srgbClr val="C0C0C0"/>
                  </a:outerShdw>
                </a:effectLst>
                <a:latin typeface="楷体_GB2312" pitchFamily="49" charset="-122"/>
                <a:ea typeface="楷体_GB2312" pitchFamily="49" charset="-122"/>
              </a:rPr>
              <a:t>是一个合法的</a:t>
            </a:r>
            <a:r>
              <a:rPr lang="en-US" altLang="zh-CN" sz="2800" b="1">
                <a:solidFill>
                  <a:srgbClr val="006699"/>
                </a:solidFill>
                <a:effectLst>
                  <a:outerShdw blurRad="38100" dist="38100" dir="2700000" algn="tl">
                    <a:srgbClr val="C0C0C0"/>
                  </a:outerShdw>
                </a:effectLst>
                <a:latin typeface="楷体_GB2312" pitchFamily="49" charset="-122"/>
                <a:ea typeface="楷体_GB2312" pitchFamily="49" charset="-122"/>
              </a:rPr>
              <a:t>SELECT</a:t>
            </a:r>
            <a:r>
              <a:rPr lang="zh-CN" altLang="en-US" sz="2800" b="1">
                <a:solidFill>
                  <a:srgbClr val="006699"/>
                </a:solidFill>
                <a:effectLst>
                  <a:outerShdw blurRad="38100" dist="38100" dir="2700000" algn="tl">
                    <a:srgbClr val="C0C0C0"/>
                  </a:outerShdw>
                </a:effectLst>
                <a:latin typeface="楷体_GB2312" pitchFamily="49" charset="-122"/>
                <a:ea typeface="楷体_GB2312" pitchFamily="49" charset="-122"/>
              </a:rPr>
              <a:t>查询语句。</a:t>
            </a:r>
          </a:p>
          <a:p>
            <a:pPr algn="just">
              <a:lnSpc>
                <a:spcPct val="130000"/>
              </a:lnSpc>
              <a:spcBef>
                <a:spcPct val="10000"/>
              </a:spcBef>
              <a:buSzTx/>
              <a:buFontTx/>
              <a:buNone/>
            </a:pPr>
            <a:endParaRPr lang="zh-CN" altLang="en-US" sz="2600" b="1">
              <a:solidFill>
                <a:srgbClr val="800000"/>
              </a:solidFill>
              <a:latin typeface="黑体" panose="02010609060101010101" pitchFamily="49" charset="-122"/>
              <a:ea typeface="黑体" panose="02010609060101010101" pitchFamily="49" charset="-122"/>
            </a:endParaRPr>
          </a:p>
          <a:p>
            <a:pPr algn="just">
              <a:lnSpc>
                <a:spcPct val="130000"/>
              </a:lnSpc>
              <a:spcBef>
                <a:spcPct val="10000"/>
              </a:spcBef>
              <a:buSzTx/>
              <a:buFontTx/>
              <a:buNone/>
            </a:pPr>
            <a:r>
              <a:rPr lang="zh-CN" altLang="en-US" sz="2600" b="1">
                <a:solidFill>
                  <a:srgbClr val="800000"/>
                </a:solidFill>
                <a:latin typeface="黑体" panose="02010609060101010101" pitchFamily="49" charset="-122"/>
                <a:ea typeface="黑体" panose="02010609060101010101" pitchFamily="49" charset="-122"/>
              </a:rPr>
              <a:t>作用：</a:t>
            </a: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用于把从某个或某些表中查询出的数据插入到另</a:t>
            </a:r>
          </a:p>
          <a:p>
            <a:pPr algn="just">
              <a:lnSpc>
                <a:spcPct val="130000"/>
              </a:lnSpc>
              <a:spcBef>
                <a:spcPct val="10000"/>
              </a:spcBef>
              <a:buSzTx/>
              <a:buFontTx/>
              <a:buNone/>
            </a:pP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      一个表中去</a:t>
            </a:r>
            <a:r>
              <a:rPr lang="en-US" altLang="zh-CN" sz="2600" b="1">
                <a:solidFill>
                  <a:srgbClr val="003366"/>
                </a:solidFill>
                <a:effectLst>
                  <a:outerShdw blurRad="38100" dist="38100" dir="2700000" algn="tl">
                    <a:srgbClr val="C0C0C0"/>
                  </a:outerShdw>
                </a:effectLst>
                <a:latin typeface="宋体" panose="02010600030101010101" pitchFamily="2" charset="-122"/>
                <a:ea typeface="黑体" panose="02010609060101010101" pitchFamily="49" charset="-122"/>
              </a:rPr>
              <a:t>——</a:t>
            </a:r>
            <a:r>
              <a:rPr lang="zh-CN" altLang="en-US" sz="2600" b="1">
                <a:solidFill>
                  <a:schemeClr val="folHlink"/>
                </a:solidFill>
                <a:latin typeface="黑体" panose="02010609060101010101" pitchFamily="49" charset="-122"/>
                <a:ea typeface="黑体" panose="02010609060101010101" pitchFamily="49" charset="-122"/>
              </a:rPr>
              <a:t>数据的导入</a:t>
            </a: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a:t>
            </a:r>
          </a:p>
        </p:txBody>
      </p:sp>
      <p:sp>
        <p:nvSpPr>
          <p:cNvPr id="417794" name="Rectangle 2">
            <a:extLst>
              <a:ext uri="{FF2B5EF4-FFF2-40B4-BE49-F238E27FC236}">
                <a16:creationId xmlns:a16="http://schemas.microsoft.com/office/drawing/2014/main" id="{3DF83C85-A220-46AB-A72F-26E66C633E4E}"/>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一、</a:t>
            </a:r>
            <a:r>
              <a:rPr lang="zh-CN" altLang="en-US" sz="3200"/>
              <a:t>带有子查询的数据插入操作</a:t>
            </a: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3289"/>
    </mc:Choice>
    <mc:Fallback xmlns="">
      <p:transition spd="slow" advTm="53289"/>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41314">
                                            <p:txEl>
                                              <p:pRg st="0" end="0"/>
                                            </p:txEl>
                                          </p:spTgt>
                                        </p:tgtEl>
                                        <p:attrNameLst>
                                          <p:attrName>style.visibility</p:attrName>
                                        </p:attrNameLst>
                                      </p:cBhvr>
                                      <p:to>
                                        <p:strVal val="visible"/>
                                      </p:to>
                                    </p:set>
                                    <p:animEffect transition="in" filter="wipe(up)">
                                      <p:cBhvr>
                                        <p:cTn id="7" dur="1000"/>
                                        <p:tgtEl>
                                          <p:spTgt spid="141314">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141314">
                                            <p:txEl>
                                              <p:pRg st="1" end="1"/>
                                            </p:txEl>
                                          </p:spTgt>
                                        </p:tgtEl>
                                        <p:attrNameLst>
                                          <p:attrName>style.visibility</p:attrName>
                                        </p:attrNameLst>
                                      </p:cBhvr>
                                      <p:to>
                                        <p:strVal val="visible"/>
                                      </p:to>
                                    </p:set>
                                    <p:animEffect transition="in" filter="wipe(up)">
                                      <p:cBhvr>
                                        <p:cTn id="11" dur="1000"/>
                                        <p:tgtEl>
                                          <p:spTgt spid="141314">
                                            <p:txEl>
                                              <p:pRg st="1" end="1"/>
                                            </p:txEl>
                                          </p:spTgt>
                                        </p:tgtEl>
                                      </p:cBhvr>
                                    </p:animEffect>
                                  </p:childTnLst>
                                </p:cTn>
                              </p:par>
                            </p:childTnLst>
                          </p:cTn>
                        </p:par>
                        <p:par>
                          <p:cTn id="12" fill="hold" nodeType="afterGroup">
                            <p:stCondLst>
                              <p:cond delay="2000"/>
                            </p:stCondLst>
                            <p:childTnLst>
                              <p:par>
                                <p:cTn id="13" presetID="22" presetClass="entr" presetSubtype="1" fill="hold" nodeType="afterEffect">
                                  <p:stCondLst>
                                    <p:cond delay="0"/>
                                  </p:stCondLst>
                                  <p:childTnLst>
                                    <p:set>
                                      <p:cBhvr>
                                        <p:cTn id="14" dur="1" fill="hold">
                                          <p:stCondLst>
                                            <p:cond delay="0"/>
                                          </p:stCondLst>
                                        </p:cTn>
                                        <p:tgtEl>
                                          <p:spTgt spid="141314">
                                            <p:txEl>
                                              <p:pRg st="2" end="2"/>
                                            </p:txEl>
                                          </p:spTgt>
                                        </p:tgtEl>
                                        <p:attrNameLst>
                                          <p:attrName>style.visibility</p:attrName>
                                        </p:attrNameLst>
                                      </p:cBhvr>
                                      <p:to>
                                        <p:strVal val="visible"/>
                                      </p:to>
                                    </p:set>
                                    <p:animEffect transition="in" filter="wipe(up)">
                                      <p:cBhvr>
                                        <p:cTn id="15" dur="1000"/>
                                        <p:tgtEl>
                                          <p:spTgt spid="141314">
                                            <p:txEl>
                                              <p:pRg st="2" end="2"/>
                                            </p:txEl>
                                          </p:spTgt>
                                        </p:tgtEl>
                                      </p:cBhvr>
                                    </p:animEffect>
                                  </p:childTnLst>
                                </p:cTn>
                              </p:par>
                            </p:childTnLst>
                          </p:cTn>
                        </p:par>
                        <p:par>
                          <p:cTn id="16" fill="hold" nodeType="afterGroup">
                            <p:stCondLst>
                              <p:cond delay="3000"/>
                            </p:stCondLst>
                            <p:childTnLst>
                              <p:par>
                                <p:cTn id="17" presetID="22" presetClass="entr" presetSubtype="1" fill="hold" nodeType="afterEffect">
                                  <p:stCondLst>
                                    <p:cond delay="0"/>
                                  </p:stCondLst>
                                  <p:childTnLst>
                                    <p:set>
                                      <p:cBhvr>
                                        <p:cTn id="18" dur="1" fill="hold">
                                          <p:stCondLst>
                                            <p:cond delay="0"/>
                                          </p:stCondLst>
                                        </p:cTn>
                                        <p:tgtEl>
                                          <p:spTgt spid="141314">
                                            <p:txEl>
                                              <p:pRg st="3" end="3"/>
                                            </p:txEl>
                                          </p:spTgt>
                                        </p:tgtEl>
                                        <p:attrNameLst>
                                          <p:attrName>style.visibility</p:attrName>
                                        </p:attrNameLst>
                                      </p:cBhvr>
                                      <p:to>
                                        <p:strVal val="visible"/>
                                      </p:to>
                                    </p:set>
                                    <p:animEffect transition="in" filter="wipe(up)">
                                      <p:cBhvr>
                                        <p:cTn id="19" dur="1000"/>
                                        <p:tgtEl>
                                          <p:spTgt spid="141314">
                                            <p:txEl>
                                              <p:pRg st="3" end="3"/>
                                            </p:txEl>
                                          </p:spTgt>
                                        </p:tgtEl>
                                      </p:cBhvr>
                                    </p:animEffect>
                                  </p:childTnLst>
                                </p:cTn>
                              </p:par>
                            </p:childTnLst>
                          </p:cTn>
                        </p:par>
                        <p:par>
                          <p:cTn id="20" fill="hold" nodeType="afterGroup">
                            <p:stCondLst>
                              <p:cond delay="4000"/>
                            </p:stCondLst>
                            <p:childTnLst>
                              <p:par>
                                <p:cTn id="21" presetID="22" presetClass="entr" presetSubtype="1" fill="hold" nodeType="afterEffect">
                                  <p:stCondLst>
                                    <p:cond delay="0"/>
                                  </p:stCondLst>
                                  <p:childTnLst>
                                    <p:set>
                                      <p:cBhvr>
                                        <p:cTn id="22" dur="1" fill="hold">
                                          <p:stCondLst>
                                            <p:cond delay="0"/>
                                          </p:stCondLst>
                                        </p:cTn>
                                        <p:tgtEl>
                                          <p:spTgt spid="141314">
                                            <p:txEl>
                                              <p:pRg st="4" end="4"/>
                                            </p:txEl>
                                          </p:spTgt>
                                        </p:tgtEl>
                                        <p:attrNameLst>
                                          <p:attrName>style.visibility</p:attrName>
                                        </p:attrNameLst>
                                      </p:cBhvr>
                                      <p:to>
                                        <p:strVal val="visible"/>
                                      </p:to>
                                    </p:set>
                                    <p:animEffect transition="in" filter="wipe(up)">
                                      <p:cBhvr>
                                        <p:cTn id="23" dur="1000"/>
                                        <p:tgtEl>
                                          <p:spTgt spid="141314">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141314">
                                            <p:txEl>
                                              <p:pRg st="6" end="6"/>
                                            </p:txEl>
                                          </p:spTgt>
                                        </p:tgtEl>
                                        <p:attrNameLst>
                                          <p:attrName>style.visibility</p:attrName>
                                        </p:attrNameLst>
                                      </p:cBhvr>
                                      <p:to>
                                        <p:strVal val="visible"/>
                                      </p:to>
                                    </p:set>
                                    <p:animEffect transition="in" filter="wipe(left)">
                                      <p:cBhvr>
                                        <p:cTn id="28" dur="2000"/>
                                        <p:tgtEl>
                                          <p:spTgt spid="141314">
                                            <p:txEl>
                                              <p:pRg st="6" end="6"/>
                                            </p:txEl>
                                          </p:spTgt>
                                        </p:tgtEl>
                                      </p:cBhvr>
                                    </p:animEffect>
                                  </p:childTnLst>
                                </p:cTn>
                              </p:par>
                            </p:childTnLst>
                          </p:cTn>
                        </p:par>
                        <p:par>
                          <p:cTn id="29" fill="hold" nodeType="afterGroup">
                            <p:stCondLst>
                              <p:cond delay="2000"/>
                            </p:stCondLst>
                            <p:childTnLst>
                              <p:par>
                                <p:cTn id="30" presetID="22" presetClass="entr" presetSubtype="8" fill="hold" nodeType="afterEffect">
                                  <p:stCondLst>
                                    <p:cond delay="0"/>
                                  </p:stCondLst>
                                  <p:childTnLst>
                                    <p:set>
                                      <p:cBhvr>
                                        <p:cTn id="31" dur="1" fill="hold">
                                          <p:stCondLst>
                                            <p:cond delay="0"/>
                                          </p:stCondLst>
                                        </p:cTn>
                                        <p:tgtEl>
                                          <p:spTgt spid="141314">
                                            <p:txEl>
                                              <p:pRg st="7" end="7"/>
                                            </p:txEl>
                                          </p:spTgt>
                                        </p:tgtEl>
                                        <p:attrNameLst>
                                          <p:attrName>style.visibility</p:attrName>
                                        </p:attrNameLst>
                                      </p:cBhvr>
                                      <p:to>
                                        <p:strVal val="visible"/>
                                      </p:to>
                                    </p:set>
                                    <p:animEffect transition="in" filter="wipe(left)">
                                      <p:cBhvr>
                                        <p:cTn id="32" dur="2000"/>
                                        <p:tgtEl>
                                          <p:spTgt spid="14131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ext Box 2">
            <a:extLst>
              <a:ext uri="{FF2B5EF4-FFF2-40B4-BE49-F238E27FC236}">
                <a16:creationId xmlns:a16="http://schemas.microsoft.com/office/drawing/2014/main" id="{97DCF4A6-F91D-47F4-96B3-441D9874BDE0}"/>
              </a:ext>
            </a:extLst>
          </p:cNvPr>
          <p:cNvSpPr txBox="1">
            <a:spLocks noChangeArrowheads="1"/>
          </p:cNvSpPr>
          <p:nvPr/>
        </p:nvSpPr>
        <p:spPr bwMode="auto">
          <a:xfrm>
            <a:off x="381000" y="1143000"/>
            <a:ext cx="8458200" cy="340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45000"/>
              </a:lnSpc>
              <a:spcBef>
                <a:spcPct val="0"/>
              </a:spcBef>
              <a:buSzTx/>
              <a:buFontTx/>
              <a:buNone/>
            </a:pPr>
            <a:r>
              <a:rPr lang="zh-CN" altLang="en-US" sz="2800" b="1">
                <a:solidFill>
                  <a:srgbClr val="A50021"/>
                </a:solidFill>
                <a:latin typeface="黑体" panose="02010609060101010101" pitchFamily="49" charset="-122"/>
                <a:ea typeface="黑体" panose="02010609060101010101" pitchFamily="49" charset="-122"/>
              </a:rPr>
              <a:t>例</a:t>
            </a:r>
            <a:r>
              <a:rPr lang="en-US" altLang="zh-CN" sz="2800" b="1">
                <a:solidFill>
                  <a:srgbClr val="A50021"/>
                </a:solidFill>
                <a:latin typeface="黑体" panose="02010609060101010101" pitchFamily="49" charset="-122"/>
                <a:ea typeface="黑体" panose="02010609060101010101" pitchFamily="49" charset="-122"/>
              </a:rPr>
              <a:t>5.47 </a:t>
            </a:r>
            <a:r>
              <a:rPr lang="zh-CN" altLang="en-US" sz="28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设在教学管理数据库系统中，要建立某些临时表来辅助有关管理过程。若其中有一个临时表用于暂存选修了</a:t>
            </a:r>
            <a:r>
              <a:rPr lang="zh-CN" altLang="en-US" sz="2800" b="1">
                <a:solidFill>
                  <a:srgbClr val="003366"/>
                </a:solidFill>
                <a:effectLst>
                  <a:outerShdw blurRad="38100" dist="38100" dir="2700000" algn="tl">
                    <a:srgbClr val="C0C0C0"/>
                  </a:outerShdw>
                </a:effectLst>
                <a:latin typeface="宋体" panose="02010600030101010101" pitchFamily="2" charset="-122"/>
                <a:ea typeface="黑体" panose="02010609060101010101" pitchFamily="49" charset="-122"/>
              </a:rPr>
              <a:t>“</a:t>
            </a:r>
            <a:r>
              <a:rPr lang="zh-CN" altLang="en-US" sz="28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信息安全技术</a:t>
            </a:r>
            <a:r>
              <a:rPr lang="zh-CN" altLang="en-US" sz="2800" b="1">
                <a:solidFill>
                  <a:srgbClr val="003366"/>
                </a:solidFill>
                <a:effectLst>
                  <a:outerShdw blurRad="38100" dist="38100" dir="2700000" algn="tl">
                    <a:srgbClr val="C0C0C0"/>
                  </a:outerShdw>
                </a:effectLst>
                <a:latin typeface="宋体" panose="02010600030101010101" pitchFamily="2" charset="-122"/>
                <a:ea typeface="黑体" panose="02010609060101010101" pitchFamily="49" charset="-122"/>
              </a:rPr>
              <a:t>”</a:t>
            </a:r>
            <a:r>
              <a:rPr lang="zh-CN" altLang="en-US" sz="28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课程的学生的学号、姓名、专业名称和班级，表的其格式为：</a:t>
            </a:r>
          </a:p>
          <a:p>
            <a:pPr algn="just">
              <a:lnSpc>
                <a:spcPct val="145000"/>
              </a:lnSpc>
              <a:spcBef>
                <a:spcPct val="50000"/>
              </a:spcBef>
              <a:buSzTx/>
              <a:buFontTx/>
              <a:buNone/>
            </a:pPr>
            <a:r>
              <a:rPr lang="zh-CN" altLang="en-US" sz="2800" b="1">
                <a:latin typeface="黑体" panose="02010609060101010101" pitchFamily="49" charset="-122"/>
                <a:ea typeface="黑体" panose="02010609060101010101" pitchFamily="49" charset="-122"/>
              </a:rPr>
              <a:t>        </a:t>
            </a:r>
            <a:r>
              <a:rPr lang="en-US" altLang="zh-CN" sz="2800" b="1">
                <a:solidFill>
                  <a:srgbClr val="000000"/>
                </a:solidFill>
                <a:latin typeface="黑体" panose="02010609060101010101" pitchFamily="49" charset="-122"/>
                <a:ea typeface="黑体" panose="02010609060101010101" pitchFamily="49" charset="-122"/>
              </a:rPr>
              <a:t>S_C</a:t>
            </a:r>
            <a:r>
              <a:rPr lang="zh-CN" altLang="en-US" sz="2800" b="1">
                <a:solidFill>
                  <a:srgbClr val="000000"/>
                </a:solidFill>
                <a:latin typeface="黑体" panose="02010609060101010101" pitchFamily="49" charset="-122"/>
                <a:ea typeface="黑体" panose="02010609060101010101" pitchFamily="49" charset="-122"/>
              </a:rPr>
              <a:t>（</a:t>
            </a:r>
            <a:r>
              <a:rPr lang="en-US" altLang="zh-CN" sz="2800" b="1">
                <a:solidFill>
                  <a:srgbClr val="000000"/>
                </a:solidFill>
                <a:latin typeface="黑体" panose="02010609060101010101" pitchFamily="49" charset="-122"/>
                <a:ea typeface="黑体" panose="02010609060101010101" pitchFamily="49" charset="-122"/>
              </a:rPr>
              <a:t>S#</a:t>
            </a:r>
            <a:r>
              <a:rPr lang="zh-CN" altLang="en-US" sz="2800" b="1">
                <a:solidFill>
                  <a:srgbClr val="000000"/>
                </a:solidFill>
                <a:latin typeface="黑体" panose="02010609060101010101" pitchFamily="49" charset="-122"/>
                <a:ea typeface="黑体" panose="02010609060101010101" pitchFamily="49" charset="-122"/>
              </a:rPr>
              <a:t>，</a:t>
            </a:r>
            <a:r>
              <a:rPr lang="en-US" altLang="zh-CN" sz="2800" b="1">
                <a:solidFill>
                  <a:srgbClr val="000000"/>
                </a:solidFill>
                <a:latin typeface="黑体" panose="02010609060101010101" pitchFamily="49" charset="-122"/>
                <a:ea typeface="黑体" panose="02010609060101010101" pitchFamily="49" charset="-122"/>
              </a:rPr>
              <a:t>SNAME</a:t>
            </a:r>
            <a:r>
              <a:rPr lang="zh-CN" altLang="en-US" sz="2800" b="1">
                <a:solidFill>
                  <a:srgbClr val="000000"/>
                </a:solidFill>
                <a:latin typeface="黑体" panose="02010609060101010101" pitchFamily="49" charset="-122"/>
                <a:ea typeface="黑体" panose="02010609060101010101" pitchFamily="49" charset="-122"/>
              </a:rPr>
              <a:t>，</a:t>
            </a:r>
            <a:r>
              <a:rPr lang="en-US" altLang="zh-CN" sz="2800" b="1">
                <a:solidFill>
                  <a:srgbClr val="000000"/>
                </a:solidFill>
                <a:latin typeface="黑体" panose="02010609060101010101" pitchFamily="49" charset="-122"/>
                <a:ea typeface="黑体" panose="02010609060101010101" pitchFamily="49" charset="-122"/>
              </a:rPr>
              <a:t>SSNAME</a:t>
            </a:r>
            <a:r>
              <a:rPr lang="zh-CN" altLang="en-US" sz="2800" b="1">
                <a:solidFill>
                  <a:srgbClr val="000000"/>
                </a:solidFill>
                <a:latin typeface="黑体" panose="02010609060101010101" pitchFamily="49" charset="-122"/>
                <a:ea typeface="黑体" panose="02010609060101010101" pitchFamily="49" charset="-122"/>
              </a:rPr>
              <a:t>，</a:t>
            </a:r>
            <a:r>
              <a:rPr lang="en-US" altLang="zh-CN" sz="2800" b="1">
                <a:solidFill>
                  <a:srgbClr val="000000"/>
                </a:solidFill>
                <a:latin typeface="黑体" panose="02010609060101010101" pitchFamily="49" charset="-122"/>
                <a:ea typeface="黑体" panose="02010609060101010101" pitchFamily="49" charset="-122"/>
              </a:rPr>
              <a:t>CLASS</a:t>
            </a:r>
            <a:r>
              <a:rPr lang="zh-CN" altLang="en-US" sz="2800" b="1">
                <a:solidFill>
                  <a:srgbClr val="000000"/>
                </a:solidFill>
                <a:latin typeface="黑体" panose="02010609060101010101" pitchFamily="49" charset="-122"/>
                <a:ea typeface="黑体" panose="02010609060101010101" pitchFamily="49" charset="-122"/>
              </a:rPr>
              <a:t>）</a:t>
            </a:r>
          </a:p>
        </p:txBody>
      </p:sp>
      <p:sp>
        <p:nvSpPr>
          <p:cNvPr id="142339" name="Rectangle 3">
            <a:extLst>
              <a:ext uri="{FF2B5EF4-FFF2-40B4-BE49-F238E27FC236}">
                <a16:creationId xmlns:a16="http://schemas.microsoft.com/office/drawing/2014/main" id="{8BEC90D5-867C-4CCB-B59B-505A3E116CAE}"/>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一、</a:t>
            </a:r>
            <a:r>
              <a:rPr lang="zh-CN" altLang="en-US" sz="3200"/>
              <a:t>带有子查询的数据插入操作</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9946"/>
    </mc:Choice>
    <mc:Fallback xmlns="">
      <p:transition spd="slow" advTm="39946"/>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ext Box 1026">
            <a:extLst>
              <a:ext uri="{FF2B5EF4-FFF2-40B4-BE49-F238E27FC236}">
                <a16:creationId xmlns:a16="http://schemas.microsoft.com/office/drawing/2014/main" id="{44D7C667-ABB8-42D6-B4C1-007307435D86}"/>
              </a:ext>
            </a:extLst>
          </p:cNvPr>
          <p:cNvSpPr txBox="1">
            <a:spLocks noChangeArrowheads="1"/>
          </p:cNvSpPr>
          <p:nvPr/>
        </p:nvSpPr>
        <p:spPr bwMode="auto">
          <a:xfrm>
            <a:off x="381000" y="1143000"/>
            <a:ext cx="84582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10000"/>
              </a:lnSpc>
              <a:spcBef>
                <a:spcPct val="0"/>
              </a:spcBef>
              <a:buSzTx/>
              <a:buFontTx/>
              <a:buNone/>
            </a:pPr>
            <a:r>
              <a:rPr lang="zh-CN" altLang="en-US" sz="2600" b="1" dirty="0">
                <a:solidFill>
                  <a:srgbClr val="A50021"/>
                </a:solidFill>
                <a:latin typeface="黑体" panose="02010609060101010101" pitchFamily="49" charset="-122"/>
                <a:ea typeface="黑体" panose="02010609060101010101" pitchFamily="49" charset="-122"/>
              </a:rPr>
              <a:t>例</a:t>
            </a:r>
            <a:r>
              <a:rPr lang="en-US" altLang="zh-CN" sz="2600" b="1" dirty="0">
                <a:solidFill>
                  <a:srgbClr val="A50021"/>
                </a:solidFill>
                <a:latin typeface="黑体" panose="02010609060101010101" pitchFamily="49" charset="-122"/>
                <a:ea typeface="黑体" panose="02010609060101010101" pitchFamily="49" charset="-122"/>
              </a:rPr>
              <a:t>5.47</a:t>
            </a:r>
            <a:r>
              <a:rPr lang="zh-CN" altLang="en-US" sz="2600" b="1" dirty="0">
                <a:solidFill>
                  <a:srgbClr val="A50021"/>
                </a:solidFill>
                <a:latin typeface="黑体" panose="02010609060101010101" pitchFamily="49" charset="-122"/>
                <a:ea typeface="黑体" panose="02010609060101010101" pitchFamily="49" charset="-122"/>
              </a:rPr>
              <a:t>（</a:t>
            </a:r>
            <a:r>
              <a:rPr lang="zh-CN" altLang="en-US" sz="2400" b="1" dirty="0">
                <a:solidFill>
                  <a:srgbClr val="A50021"/>
                </a:solidFill>
                <a:latin typeface="仿宋_GB2312" pitchFamily="49" charset="-122"/>
                <a:ea typeface="仿宋_GB2312" pitchFamily="49" charset="-122"/>
              </a:rPr>
              <a:t>续</a:t>
            </a:r>
            <a:r>
              <a:rPr lang="zh-CN" altLang="en-US" sz="2600" b="1" dirty="0">
                <a:solidFill>
                  <a:srgbClr val="A50021"/>
                </a:solidFill>
                <a:latin typeface="黑体" panose="02010609060101010101" pitchFamily="49" charset="-122"/>
                <a:ea typeface="黑体" panose="02010609060101010101" pitchFamily="49" charset="-122"/>
              </a:rPr>
              <a:t>）</a:t>
            </a:r>
            <a:r>
              <a:rPr lang="zh-CN" altLang="en-US" sz="2600" b="1" dirty="0">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将从有关表中查询出的有关数据组成的记录插入该表的插入语句：</a:t>
            </a:r>
          </a:p>
          <a:p>
            <a:pPr algn="just">
              <a:lnSpc>
                <a:spcPct val="110000"/>
              </a:lnSpc>
              <a:buSzTx/>
              <a:buFontTx/>
              <a:buNone/>
            </a:pPr>
            <a:r>
              <a:rPr lang="zh-CN" altLang="en-US" sz="2600" b="1" dirty="0">
                <a:latin typeface="黑体" panose="02010609060101010101" pitchFamily="49" charset="-122"/>
                <a:ea typeface="黑体" panose="02010609060101010101" pitchFamily="49" charset="-122"/>
              </a:rPr>
              <a:t> </a:t>
            </a:r>
            <a:r>
              <a:rPr lang="en-US" altLang="zh-CN" sz="2600" b="1" dirty="0">
                <a:solidFill>
                  <a:srgbClr val="000000"/>
                </a:solidFill>
                <a:latin typeface="黑体" panose="02010609060101010101" pitchFamily="49" charset="-122"/>
                <a:ea typeface="黑体" panose="02010609060101010101" pitchFamily="49" charset="-122"/>
              </a:rPr>
              <a:t>INSERT INTO S_C(S#</a:t>
            </a:r>
            <a:r>
              <a:rPr lang="zh-CN" altLang="en-US" sz="2600" b="1" dirty="0">
                <a:solidFill>
                  <a:srgbClr val="000000"/>
                </a:solidFill>
                <a:latin typeface="黑体" panose="02010609060101010101" pitchFamily="49" charset="-122"/>
                <a:ea typeface="黑体" panose="02010609060101010101" pitchFamily="49" charset="-122"/>
              </a:rPr>
              <a:t>，</a:t>
            </a:r>
            <a:r>
              <a:rPr lang="en-US" altLang="zh-CN" sz="2600" b="1" dirty="0">
                <a:solidFill>
                  <a:srgbClr val="000000"/>
                </a:solidFill>
                <a:latin typeface="黑体" panose="02010609060101010101" pitchFamily="49" charset="-122"/>
                <a:ea typeface="黑体" panose="02010609060101010101" pitchFamily="49" charset="-122"/>
              </a:rPr>
              <a:t>SNAME</a:t>
            </a:r>
            <a:r>
              <a:rPr lang="zh-CN" altLang="en-US" sz="2600" b="1" dirty="0">
                <a:solidFill>
                  <a:srgbClr val="000000"/>
                </a:solidFill>
                <a:latin typeface="黑体" panose="02010609060101010101" pitchFamily="49" charset="-122"/>
                <a:ea typeface="黑体" panose="02010609060101010101" pitchFamily="49" charset="-122"/>
              </a:rPr>
              <a:t>，</a:t>
            </a:r>
            <a:r>
              <a:rPr lang="en-US" altLang="zh-CN" sz="2600" b="1" dirty="0">
                <a:solidFill>
                  <a:srgbClr val="000000"/>
                </a:solidFill>
                <a:latin typeface="黑体" panose="02010609060101010101" pitchFamily="49" charset="-122"/>
                <a:ea typeface="黑体" panose="02010609060101010101" pitchFamily="49" charset="-122"/>
              </a:rPr>
              <a:t>SSNAME</a:t>
            </a:r>
            <a:r>
              <a:rPr lang="zh-CN" altLang="en-US" sz="2600" b="1" dirty="0">
                <a:solidFill>
                  <a:srgbClr val="000000"/>
                </a:solidFill>
                <a:latin typeface="黑体" panose="02010609060101010101" pitchFamily="49" charset="-122"/>
                <a:ea typeface="黑体" panose="02010609060101010101" pitchFamily="49" charset="-122"/>
              </a:rPr>
              <a:t>，</a:t>
            </a:r>
            <a:r>
              <a:rPr lang="en-US" altLang="zh-CN" sz="2600" b="1" dirty="0">
                <a:solidFill>
                  <a:srgbClr val="000000"/>
                </a:solidFill>
                <a:latin typeface="黑体" panose="02010609060101010101" pitchFamily="49" charset="-122"/>
                <a:ea typeface="黑体" panose="02010609060101010101" pitchFamily="49" charset="-122"/>
              </a:rPr>
              <a:t>CLASS)</a:t>
            </a:r>
          </a:p>
          <a:p>
            <a:pPr algn="just">
              <a:lnSpc>
                <a:spcPct val="110000"/>
              </a:lnSpc>
              <a:spcBef>
                <a:spcPct val="0"/>
              </a:spcBef>
              <a:buSzTx/>
              <a:buFontTx/>
              <a:buNone/>
            </a:pPr>
            <a:r>
              <a:rPr lang="en-US" altLang="zh-CN" sz="2600" b="1" dirty="0">
                <a:solidFill>
                  <a:srgbClr val="000000"/>
                </a:solidFill>
                <a:latin typeface="黑体" panose="02010609060101010101" pitchFamily="49" charset="-122"/>
                <a:ea typeface="黑体" panose="02010609060101010101" pitchFamily="49" charset="-122"/>
              </a:rPr>
              <a:t>   SELECT </a:t>
            </a:r>
            <a:r>
              <a:rPr lang="en-US" altLang="zh-CN" sz="2600" b="1" dirty="0">
                <a:solidFill>
                  <a:srgbClr val="003366"/>
                </a:solidFill>
                <a:latin typeface="黑体" panose="02010609060101010101" pitchFamily="49" charset="-122"/>
                <a:ea typeface="黑体" panose="02010609060101010101" pitchFamily="49" charset="-122"/>
              </a:rPr>
              <a:t>S.S#</a:t>
            </a:r>
            <a:r>
              <a:rPr lang="zh-CN" altLang="en-US" sz="2600" b="1" dirty="0">
                <a:solidFill>
                  <a:srgbClr val="003366"/>
                </a:solidFill>
                <a:latin typeface="黑体" panose="02010609060101010101" pitchFamily="49" charset="-122"/>
                <a:ea typeface="黑体" panose="02010609060101010101" pitchFamily="49" charset="-122"/>
              </a:rPr>
              <a:t>，</a:t>
            </a:r>
            <a:r>
              <a:rPr lang="en-US" altLang="zh-CN" sz="2600" b="1" dirty="0">
                <a:solidFill>
                  <a:srgbClr val="003366"/>
                </a:solidFill>
                <a:latin typeface="黑体" panose="02010609060101010101" pitchFamily="49" charset="-122"/>
                <a:ea typeface="黑体" panose="02010609060101010101" pitchFamily="49" charset="-122"/>
              </a:rPr>
              <a:t>SNAME</a:t>
            </a:r>
            <a:r>
              <a:rPr lang="zh-CN" altLang="en-US" sz="2600" b="1" dirty="0">
                <a:solidFill>
                  <a:srgbClr val="003366"/>
                </a:solidFill>
                <a:latin typeface="黑体" panose="02010609060101010101" pitchFamily="49" charset="-122"/>
                <a:ea typeface="黑体" panose="02010609060101010101" pitchFamily="49" charset="-122"/>
              </a:rPr>
              <a:t>，</a:t>
            </a:r>
            <a:r>
              <a:rPr lang="en-US" altLang="zh-CN" sz="2600" b="1" dirty="0">
                <a:solidFill>
                  <a:srgbClr val="003366"/>
                </a:solidFill>
                <a:latin typeface="黑体" panose="02010609060101010101" pitchFamily="49" charset="-122"/>
                <a:ea typeface="黑体" panose="02010609060101010101" pitchFamily="49" charset="-122"/>
              </a:rPr>
              <a:t>SSNAME</a:t>
            </a:r>
            <a:r>
              <a:rPr lang="zh-CN" altLang="en-US" sz="2600" b="1" dirty="0">
                <a:solidFill>
                  <a:srgbClr val="003366"/>
                </a:solidFill>
                <a:latin typeface="黑体" panose="02010609060101010101" pitchFamily="49" charset="-122"/>
                <a:ea typeface="黑体" panose="02010609060101010101" pitchFamily="49" charset="-122"/>
              </a:rPr>
              <a:t>，</a:t>
            </a:r>
            <a:r>
              <a:rPr lang="en-US" altLang="zh-CN" sz="2600" b="1" dirty="0">
                <a:solidFill>
                  <a:srgbClr val="003366"/>
                </a:solidFill>
                <a:latin typeface="黑体" panose="02010609060101010101" pitchFamily="49" charset="-122"/>
                <a:ea typeface="黑体" panose="02010609060101010101" pitchFamily="49" charset="-122"/>
              </a:rPr>
              <a:t>CLASS</a:t>
            </a:r>
          </a:p>
          <a:p>
            <a:pPr algn="just">
              <a:lnSpc>
                <a:spcPct val="110000"/>
              </a:lnSpc>
              <a:spcBef>
                <a:spcPct val="0"/>
              </a:spcBef>
              <a:buSzTx/>
              <a:buFontTx/>
              <a:buNone/>
            </a:pPr>
            <a:r>
              <a:rPr lang="en-US" altLang="zh-CN" sz="2600" b="1" dirty="0">
                <a:solidFill>
                  <a:srgbClr val="000000"/>
                </a:solidFill>
                <a:latin typeface="黑体" panose="02010609060101010101" pitchFamily="49" charset="-122"/>
                <a:ea typeface="黑体" panose="02010609060101010101" pitchFamily="49" charset="-122"/>
              </a:rPr>
              <a:t>   FROM  S</a:t>
            </a:r>
            <a:r>
              <a:rPr lang="zh-CN" altLang="en-US" sz="2600" b="1" dirty="0">
                <a:solidFill>
                  <a:srgbClr val="000000"/>
                </a:solidFill>
                <a:latin typeface="黑体" panose="02010609060101010101" pitchFamily="49" charset="-122"/>
                <a:ea typeface="黑体" panose="02010609060101010101" pitchFamily="49" charset="-122"/>
              </a:rPr>
              <a:t>，</a:t>
            </a:r>
            <a:r>
              <a:rPr lang="en-US" altLang="zh-CN" sz="2600" b="1" dirty="0">
                <a:solidFill>
                  <a:srgbClr val="000000"/>
                </a:solidFill>
                <a:latin typeface="黑体" panose="02010609060101010101" pitchFamily="49" charset="-122"/>
                <a:ea typeface="黑体" panose="02010609060101010101" pitchFamily="49" charset="-122"/>
              </a:rPr>
              <a:t>SS</a:t>
            </a:r>
          </a:p>
          <a:p>
            <a:pPr algn="just">
              <a:lnSpc>
                <a:spcPct val="110000"/>
              </a:lnSpc>
              <a:spcBef>
                <a:spcPct val="0"/>
              </a:spcBef>
              <a:buSzTx/>
              <a:buFontTx/>
              <a:buNone/>
            </a:pPr>
            <a:r>
              <a:rPr lang="en-US" altLang="zh-CN" sz="2600" b="1" dirty="0">
                <a:solidFill>
                  <a:srgbClr val="000000"/>
                </a:solidFill>
                <a:latin typeface="黑体" panose="02010609060101010101" pitchFamily="49" charset="-122"/>
                <a:ea typeface="黑体" panose="02010609060101010101" pitchFamily="49" charset="-122"/>
              </a:rPr>
              <a:t>   WHERE S.SCODE# = SS.SCODE# AND S# IN</a:t>
            </a:r>
          </a:p>
          <a:p>
            <a:pPr algn="just">
              <a:lnSpc>
                <a:spcPct val="110000"/>
              </a:lnSpc>
              <a:spcBef>
                <a:spcPct val="0"/>
              </a:spcBef>
              <a:buSzTx/>
              <a:buFontTx/>
              <a:buNone/>
            </a:pPr>
            <a:r>
              <a:rPr lang="en-US" altLang="zh-CN" sz="2600" b="1" dirty="0">
                <a:solidFill>
                  <a:srgbClr val="000000"/>
                </a:solidFill>
                <a:latin typeface="黑体" panose="02010609060101010101" pitchFamily="49" charset="-122"/>
                <a:ea typeface="黑体" panose="02010609060101010101" pitchFamily="49" charset="-122"/>
              </a:rPr>
              <a:t>        </a:t>
            </a:r>
            <a:r>
              <a:rPr lang="en-US" altLang="zh-CN" sz="2600" b="1" dirty="0">
                <a:solidFill>
                  <a:srgbClr val="0033CC"/>
                </a:solidFill>
                <a:latin typeface="黑体" panose="02010609060101010101" pitchFamily="49" charset="-122"/>
                <a:ea typeface="黑体" panose="02010609060101010101" pitchFamily="49" charset="-122"/>
              </a:rPr>
              <a:t>(SELECT S#  </a:t>
            </a:r>
            <a:r>
              <a:rPr lang="en-US" altLang="zh-CN" sz="2000" b="1" dirty="0">
                <a:solidFill>
                  <a:srgbClr val="0033CC"/>
                </a:solidFill>
                <a:latin typeface="黑体" panose="02010609060101010101" pitchFamily="49" charset="-122"/>
                <a:ea typeface="黑体" panose="02010609060101010101" pitchFamily="49" charset="-122"/>
              </a:rPr>
              <a:t>{</a:t>
            </a:r>
            <a:r>
              <a:rPr lang="en-US" altLang="zh-CN" b="1" dirty="0">
                <a:solidFill>
                  <a:srgbClr val="660066"/>
                </a:solidFill>
              </a:rPr>
              <a:t>↑</a:t>
            </a:r>
            <a:r>
              <a:rPr lang="zh-CN" altLang="en-US" sz="2000" b="1" dirty="0">
                <a:solidFill>
                  <a:srgbClr val="0033CC"/>
                </a:solidFill>
                <a:latin typeface="黑体" panose="02010609060101010101" pitchFamily="49" charset="-122"/>
                <a:ea typeface="黑体" panose="02010609060101010101" pitchFamily="49" charset="-122"/>
              </a:rPr>
              <a:t>学习了信息安全技术课程的学生的学号</a:t>
            </a:r>
            <a:r>
              <a:rPr lang="en-US" altLang="zh-CN" sz="2000" b="1" dirty="0">
                <a:solidFill>
                  <a:srgbClr val="0033CC"/>
                </a:solidFill>
                <a:latin typeface="黑体" panose="02010609060101010101" pitchFamily="49" charset="-122"/>
                <a:ea typeface="黑体" panose="02010609060101010101" pitchFamily="49" charset="-122"/>
              </a:rPr>
              <a:t>}</a:t>
            </a:r>
          </a:p>
          <a:p>
            <a:pPr algn="just">
              <a:lnSpc>
                <a:spcPct val="110000"/>
              </a:lnSpc>
              <a:spcBef>
                <a:spcPct val="0"/>
              </a:spcBef>
              <a:buSzTx/>
              <a:buFontTx/>
              <a:buNone/>
            </a:pPr>
            <a:r>
              <a:rPr lang="en-US" altLang="zh-CN" sz="2600" b="1" dirty="0">
                <a:solidFill>
                  <a:srgbClr val="0033CC"/>
                </a:solidFill>
                <a:latin typeface="黑体" panose="02010609060101010101" pitchFamily="49" charset="-122"/>
                <a:ea typeface="黑体" panose="02010609060101010101" pitchFamily="49" charset="-122"/>
              </a:rPr>
              <a:t>         FROM  SC</a:t>
            </a:r>
          </a:p>
          <a:p>
            <a:pPr algn="just">
              <a:lnSpc>
                <a:spcPct val="110000"/>
              </a:lnSpc>
              <a:spcBef>
                <a:spcPct val="0"/>
              </a:spcBef>
              <a:buSzTx/>
              <a:buFontTx/>
              <a:buNone/>
            </a:pPr>
            <a:r>
              <a:rPr lang="en-US" altLang="zh-CN" sz="2600" b="1" dirty="0">
                <a:solidFill>
                  <a:srgbClr val="0033CC"/>
                </a:solidFill>
                <a:latin typeface="黑体" panose="02010609060101010101" pitchFamily="49" charset="-122"/>
                <a:ea typeface="黑体" panose="02010609060101010101" pitchFamily="49" charset="-122"/>
              </a:rPr>
              <a:t>         WHERE C# IN</a:t>
            </a:r>
          </a:p>
          <a:p>
            <a:pPr algn="just">
              <a:lnSpc>
                <a:spcPct val="110000"/>
              </a:lnSpc>
              <a:spcBef>
                <a:spcPct val="0"/>
              </a:spcBef>
              <a:buSzTx/>
              <a:buFontTx/>
              <a:buNone/>
            </a:pPr>
            <a:r>
              <a:rPr lang="en-US" altLang="zh-CN" sz="2600" b="1" dirty="0">
                <a:solidFill>
                  <a:srgbClr val="000000"/>
                </a:solidFill>
                <a:latin typeface="黑体" panose="02010609060101010101" pitchFamily="49" charset="-122"/>
                <a:ea typeface="黑体" panose="02010609060101010101" pitchFamily="49" charset="-122"/>
              </a:rPr>
              <a:t>              </a:t>
            </a:r>
            <a:r>
              <a:rPr lang="en-US" altLang="zh-CN" sz="2600" b="1" dirty="0">
                <a:solidFill>
                  <a:srgbClr val="660066"/>
                </a:solidFill>
                <a:latin typeface="黑体" panose="02010609060101010101" pitchFamily="49" charset="-122"/>
                <a:ea typeface="黑体" panose="02010609060101010101" pitchFamily="49" charset="-122"/>
              </a:rPr>
              <a:t>(SELECT C#  </a:t>
            </a:r>
            <a:r>
              <a:rPr lang="en-US" altLang="zh-CN" sz="2200" b="1" dirty="0">
                <a:solidFill>
                  <a:srgbClr val="660066"/>
                </a:solidFill>
                <a:latin typeface="黑体" panose="02010609060101010101" pitchFamily="49" charset="-122"/>
                <a:ea typeface="黑体" panose="02010609060101010101" pitchFamily="49" charset="-122"/>
              </a:rPr>
              <a:t>{</a:t>
            </a:r>
            <a:r>
              <a:rPr lang="en-US" altLang="zh-CN" sz="2000" b="1" dirty="0">
                <a:solidFill>
                  <a:srgbClr val="660066"/>
                </a:solidFill>
                <a:latin typeface="黑体" panose="02010609060101010101" pitchFamily="49" charset="-122"/>
                <a:ea typeface="黑体" panose="02010609060101010101" pitchFamily="49" charset="-122"/>
              </a:rPr>
              <a:t>↑</a:t>
            </a:r>
            <a:r>
              <a:rPr lang="zh-CN" altLang="en-US" sz="2200" b="1" dirty="0">
                <a:solidFill>
                  <a:srgbClr val="660066"/>
                </a:solidFill>
                <a:latin typeface="黑体" panose="02010609060101010101" pitchFamily="49" charset="-122"/>
                <a:ea typeface="黑体" panose="02010609060101010101" pitchFamily="49" charset="-122"/>
              </a:rPr>
              <a:t>信息安全技术课程的课程号</a:t>
            </a:r>
            <a:r>
              <a:rPr lang="en-US" altLang="zh-CN" sz="2200" b="1" dirty="0">
                <a:solidFill>
                  <a:srgbClr val="660066"/>
                </a:solidFill>
                <a:latin typeface="黑体" panose="02010609060101010101" pitchFamily="49" charset="-122"/>
                <a:ea typeface="黑体" panose="02010609060101010101" pitchFamily="49" charset="-122"/>
              </a:rPr>
              <a:t>}</a:t>
            </a:r>
          </a:p>
          <a:p>
            <a:pPr algn="just">
              <a:lnSpc>
                <a:spcPct val="110000"/>
              </a:lnSpc>
              <a:spcBef>
                <a:spcPct val="0"/>
              </a:spcBef>
              <a:buSzTx/>
              <a:buFontTx/>
              <a:buNone/>
            </a:pPr>
            <a:r>
              <a:rPr lang="en-US" altLang="zh-CN" sz="2600" b="1" dirty="0">
                <a:solidFill>
                  <a:srgbClr val="660066"/>
                </a:solidFill>
                <a:latin typeface="黑体" panose="02010609060101010101" pitchFamily="49" charset="-122"/>
                <a:ea typeface="黑体" panose="02010609060101010101" pitchFamily="49" charset="-122"/>
              </a:rPr>
              <a:t>               FROM   C</a:t>
            </a:r>
          </a:p>
          <a:p>
            <a:pPr algn="just">
              <a:lnSpc>
                <a:spcPct val="110000"/>
              </a:lnSpc>
              <a:spcBef>
                <a:spcPct val="0"/>
              </a:spcBef>
              <a:buSzTx/>
              <a:buFontTx/>
              <a:buNone/>
            </a:pPr>
            <a:r>
              <a:rPr lang="en-US" altLang="zh-CN" sz="2600" b="1" dirty="0">
                <a:solidFill>
                  <a:srgbClr val="660066"/>
                </a:solidFill>
                <a:latin typeface="黑体" panose="02010609060101010101" pitchFamily="49" charset="-122"/>
                <a:ea typeface="黑体" panose="02010609060101010101" pitchFamily="49" charset="-122"/>
              </a:rPr>
              <a:t>               WHERE  CNAME =</a:t>
            </a:r>
            <a:r>
              <a:rPr lang="zh-CN" altLang="en-US" sz="2600" b="1" dirty="0">
                <a:solidFill>
                  <a:srgbClr val="660066"/>
                </a:solidFill>
                <a:latin typeface="黑体" panose="02010609060101010101" pitchFamily="49" charset="-122"/>
                <a:ea typeface="黑体" panose="02010609060101010101" pitchFamily="49" charset="-122"/>
              </a:rPr>
              <a:t>＇信息安全技术＇</a:t>
            </a:r>
            <a:r>
              <a:rPr lang="en-US" altLang="zh-CN" sz="2600" b="1" dirty="0">
                <a:solidFill>
                  <a:srgbClr val="660066"/>
                </a:solidFill>
                <a:latin typeface="黑体" panose="02010609060101010101" pitchFamily="49" charset="-122"/>
                <a:ea typeface="黑体" panose="02010609060101010101" pitchFamily="49" charset="-122"/>
              </a:rPr>
              <a:t>))</a:t>
            </a:r>
            <a:r>
              <a:rPr lang="zh-CN" altLang="en-US" sz="2600" b="1" dirty="0">
                <a:solidFill>
                  <a:srgbClr val="000000"/>
                </a:solidFill>
                <a:latin typeface="黑体" panose="02010609060101010101" pitchFamily="49" charset="-122"/>
                <a:ea typeface="黑体" panose="02010609060101010101" pitchFamily="49" charset="-122"/>
              </a:rPr>
              <a:t>；</a:t>
            </a:r>
            <a:r>
              <a:rPr lang="zh-CN" altLang="en-US" sz="2600" b="1" dirty="0">
                <a:latin typeface="黑体" panose="02010609060101010101" pitchFamily="49" charset="-122"/>
                <a:ea typeface="黑体" panose="02010609060101010101" pitchFamily="49" charset="-122"/>
              </a:rPr>
              <a:t> </a:t>
            </a:r>
          </a:p>
        </p:txBody>
      </p:sp>
      <p:sp>
        <p:nvSpPr>
          <p:cNvPr id="143363" name="Rectangle 1027">
            <a:extLst>
              <a:ext uri="{FF2B5EF4-FFF2-40B4-BE49-F238E27FC236}">
                <a16:creationId xmlns:a16="http://schemas.microsoft.com/office/drawing/2014/main" id="{62F428CF-7EF7-4226-BACF-4D2C8CA291A6}"/>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一、</a:t>
            </a:r>
            <a:r>
              <a:rPr lang="zh-CN" altLang="en-US" sz="3200"/>
              <a:t>带有子查询的数据插入操作</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7685"/>
    </mc:Choice>
    <mc:Fallback xmlns="">
      <p:transition spd="slow" advTm="77685"/>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43362">
                                            <p:txEl>
                                              <p:pRg st="1" end="1"/>
                                            </p:txEl>
                                          </p:spTgt>
                                        </p:tgtEl>
                                        <p:attrNameLst>
                                          <p:attrName>style.visibility</p:attrName>
                                        </p:attrNameLst>
                                      </p:cBhvr>
                                      <p:to>
                                        <p:strVal val="visible"/>
                                      </p:to>
                                    </p:set>
                                    <p:animEffect transition="in" filter="wipe(up)">
                                      <p:cBhvr>
                                        <p:cTn id="7" dur="500"/>
                                        <p:tgtEl>
                                          <p:spTgt spid="143362">
                                            <p:txEl>
                                              <p:pRg st="1" end="1"/>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43362">
                                            <p:txEl>
                                              <p:pRg st="2" end="2"/>
                                            </p:txEl>
                                          </p:spTgt>
                                        </p:tgtEl>
                                        <p:attrNameLst>
                                          <p:attrName>style.visibility</p:attrName>
                                        </p:attrNameLst>
                                      </p:cBhvr>
                                      <p:to>
                                        <p:strVal val="visible"/>
                                      </p:to>
                                    </p:set>
                                    <p:animEffect transition="in" filter="wipe(up)">
                                      <p:cBhvr>
                                        <p:cTn id="11" dur="500"/>
                                        <p:tgtEl>
                                          <p:spTgt spid="143362">
                                            <p:txEl>
                                              <p:pRg st="2" end="2"/>
                                            </p:txEl>
                                          </p:spTgt>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143362">
                                            <p:txEl>
                                              <p:pRg st="3" end="3"/>
                                            </p:txEl>
                                          </p:spTgt>
                                        </p:tgtEl>
                                        <p:attrNameLst>
                                          <p:attrName>style.visibility</p:attrName>
                                        </p:attrNameLst>
                                      </p:cBhvr>
                                      <p:to>
                                        <p:strVal val="visible"/>
                                      </p:to>
                                    </p:set>
                                    <p:animEffect transition="in" filter="wipe(up)">
                                      <p:cBhvr>
                                        <p:cTn id="15" dur="500"/>
                                        <p:tgtEl>
                                          <p:spTgt spid="143362">
                                            <p:txEl>
                                              <p:pRg st="3" end="3"/>
                                            </p:txEl>
                                          </p:spTgt>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143362">
                                            <p:txEl>
                                              <p:pRg st="4" end="4"/>
                                            </p:txEl>
                                          </p:spTgt>
                                        </p:tgtEl>
                                        <p:attrNameLst>
                                          <p:attrName>style.visibility</p:attrName>
                                        </p:attrNameLst>
                                      </p:cBhvr>
                                      <p:to>
                                        <p:strVal val="visible"/>
                                      </p:to>
                                    </p:set>
                                    <p:animEffect transition="in" filter="wipe(up)">
                                      <p:cBhvr>
                                        <p:cTn id="19" dur="500"/>
                                        <p:tgtEl>
                                          <p:spTgt spid="143362">
                                            <p:txEl>
                                              <p:pRg st="4" end="4"/>
                                            </p:txEl>
                                          </p:spTgt>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143362">
                                            <p:txEl>
                                              <p:pRg st="5" end="5"/>
                                            </p:txEl>
                                          </p:spTgt>
                                        </p:tgtEl>
                                        <p:attrNameLst>
                                          <p:attrName>style.visibility</p:attrName>
                                        </p:attrNameLst>
                                      </p:cBhvr>
                                      <p:to>
                                        <p:strVal val="visible"/>
                                      </p:to>
                                    </p:set>
                                    <p:animEffect transition="in" filter="wipe(up)">
                                      <p:cBhvr>
                                        <p:cTn id="23" dur="500"/>
                                        <p:tgtEl>
                                          <p:spTgt spid="143362">
                                            <p:txEl>
                                              <p:pRg st="5" end="5"/>
                                            </p:txEl>
                                          </p:spTgt>
                                        </p:tgtEl>
                                      </p:cBhvr>
                                    </p:animEffect>
                                  </p:childTnLst>
                                </p:cTn>
                              </p:par>
                            </p:childTnLst>
                          </p:cTn>
                        </p:par>
                        <p:par>
                          <p:cTn id="24" fill="hold" nodeType="afterGroup">
                            <p:stCondLst>
                              <p:cond delay="2500"/>
                            </p:stCondLst>
                            <p:childTnLst>
                              <p:par>
                                <p:cTn id="25" presetID="22" presetClass="entr" presetSubtype="1" fill="hold" nodeType="afterEffect">
                                  <p:stCondLst>
                                    <p:cond delay="0"/>
                                  </p:stCondLst>
                                  <p:childTnLst>
                                    <p:set>
                                      <p:cBhvr>
                                        <p:cTn id="26" dur="1" fill="hold">
                                          <p:stCondLst>
                                            <p:cond delay="0"/>
                                          </p:stCondLst>
                                        </p:cTn>
                                        <p:tgtEl>
                                          <p:spTgt spid="143362">
                                            <p:txEl>
                                              <p:pRg st="6" end="6"/>
                                            </p:txEl>
                                          </p:spTgt>
                                        </p:tgtEl>
                                        <p:attrNameLst>
                                          <p:attrName>style.visibility</p:attrName>
                                        </p:attrNameLst>
                                      </p:cBhvr>
                                      <p:to>
                                        <p:strVal val="visible"/>
                                      </p:to>
                                    </p:set>
                                    <p:animEffect transition="in" filter="wipe(up)">
                                      <p:cBhvr>
                                        <p:cTn id="27" dur="500"/>
                                        <p:tgtEl>
                                          <p:spTgt spid="143362">
                                            <p:txEl>
                                              <p:pRg st="6" end="6"/>
                                            </p:txEl>
                                          </p:spTgt>
                                        </p:tgtEl>
                                      </p:cBhvr>
                                    </p:animEffect>
                                  </p:childTnLst>
                                </p:cTn>
                              </p:par>
                            </p:childTnLst>
                          </p:cTn>
                        </p:par>
                        <p:par>
                          <p:cTn id="28" fill="hold" nodeType="afterGroup">
                            <p:stCondLst>
                              <p:cond delay="3000"/>
                            </p:stCondLst>
                            <p:childTnLst>
                              <p:par>
                                <p:cTn id="29" presetID="22" presetClass="entr" presetSubtype="1" fill="hold" nodeType="afterEffect">
                                  <p:stCondLst>
                                    <p:cond delay="0"/>
                                  </p:stCondLst>
                                  <p:childTnLst>
                                    <p:set>
                                      <p:cBhvr>
                                        <p:cTn id="30" dur="1" fill="hold">
                                          <p:stCondLst>
                                            <p:cond delay="0"/>
                                          </p:stCondLst>
                                        </p:cTn>
                                        <p:tgtEl>
                                          <p:spTgt spid="143362">
                                            <p:txEl>
                                              <p:pRg st="7" end="7"/>
                                            </p:txEl>
                                          </p:spTgt>
                                        </p:tgtEl>
                                        <p:attrNameLst>
                                          <p:attrName>style.visibility</p:attrName>
                                        </p:attrNameLst>
                                      </p:cBhvr>
                                      <p:to>
                                        <p:strVal val="visible"/>
                                      </p:to>
                                    </p:set>
                                    <p:animEffect transition="in" filter="wipe(up)">
                                      <p:cBhvr>
                                        <p:cTn id="31" dur="500"/>
                                        <p:tgtEl>
                                          <p:spTgt spid="143362">
                                            <p:txEl>
                                              <p:pRg st="7" end="7"/>
                                            </p:txEl>
                                          </p:spTgt>
                                        </p:tgtEl>
                                      </p:cBhvr>
                                    </p:animEffect>
                                  </p:childTnLst>
                                </p:cTn>
                              </p:par>
                            </p:childTnLst>
                          </p:cTn>
                        </p:par>
                        <p:par>
                          <p:cTn id="32" fill="hold" nodeType="afterGroup">
                            <p:stCondLst>
                              <p:cond delay="3500"/>
                            </p:stCondLst>
                            <p:childTnLst>
                              <p:par>
                                <p:cTn id="33" presetID="22" presetClass="entr" presetSubtype="1" fill="hold" nodeType="afterEffect">
                                  <p:stCondLst>
                                    <p:cond delay="0"/>
                                  </p:stCondLst>
                                  <p:childTnLst>
                                    <p:set>
                                      <p:cBhvr>
                                        <p:cTn id="34" dur="1" fill="hold">
                                          <p:stCondLst>
                                            <p:cond delay="0"/>
                                          </p:stCondLst>
                                        </p:cTn>
                                        <p:tgtEl>
                                          <p:spTgt spid="143362">
                                            <p:txEl>
                                              <p:pRg st="8" end="8"/>
                                            </p:txEl>
                                          </p:spTgt>
                                        </p:tgtEl>
                                        <p:attrNameLst>
                                          <p:attrName>style.visibility</p:attrName>
                                        </p:attrNameLst>
                                      </p:cBhvr>
                                      <p:to>
                                        <p:strVal val="visible"/>
                                      </p:to>
                                    </p:set>
                                    <p:animEffect transition="in" filter="wipe(up)">
                                      <p:cBhvr>
                                        <p:cTn id="35" dur="500"/>
                                        <p:tgtEl>
                                          <p:spTgt spid="143362">
                                            <p:txEl>
                                              <p:pRg st="8" end="8"/>
                                            </p:txEl>
                                          </p:spTgt>
                                        </p:tgtEl>
                                      </p:cBhvr>
                                    </p:animEffect>
                                  </p:childTnLst>
                                </p:cTn>
                              </p:par>
                            </p:childTnLst>
                          </p:cTn>
                        </p:par>
                        <p:par>
                          <p:cTn id="36" fill="hold" nodeType="afterGroup">
                            <p:stCondLst>
                              <p:cond delay="4000"/>
                            </p:stCondLst>
                            <p:childTnLst>
                              <p:par>
                                <p:cTn id="37" presetID="22" presetClass="entr" presetSubtype="1" fill="hold" nodeType="afterEffect">
                                  <p:stCondLst>
                                    <p:cond delay="0"/>
                                  </p:stCondLst>
                                  <p:childTnLst>
                                    <p:set>
                                      <p:cBhvr>
                                        <p:cTn id="38" dur="1" fill="hold">
                                          <p:stCondLst>
                                            <p:cond delay="0"/>
                                          </p:stCondLst>
                                        </p:cTn>
                                        <p:tgtEl>
                                          <p:spTgt spid="143362">
                                            <p:txEl>
                                              <p:pRg st="9" end="9"/>
                                            </p:txEl>
                                          </p:spTgt>
                                        </p:tgtEl>
                                        <p:attrNameLst>
                                          <p:attrName>style.visibility</p:attrName>
                                        </p:attrNameLst>
                                      </p:cBhvr>
                                      <p:to>
                                        <p:strVal val="visible"/>
                                      </p:to>
                                    </p:set>
                                    <p:animEffect transition="in" filter="wipe(up)">
                                      <p:cBhvr>
                                        <p:cTn id="39" dur="500"/>
                                        <p:tgtEl>
                                          <p:spTgt spid="143362">
                                            <p:txEl>
                                              <p:pRg st="9" end="9"/>
                                            </p:txEl>
                                          </p:spTgt>
                                        </p:tgtEl>
                                      </p:cBhvr>
                                    </p:animEffect>
                                  </p:childTnLst>
                                </p:cTn>
                              </p:par>
                            </p:childTnLst>
                          </p:cTn>
                        </p:par>
                        <p:par>
                          <p:cTn id="40" fill="hold" nodeType="afterGroup">
                            <p:stCondLst>
                              <p:cond delay="4500"/>
                            </p:stCondLst>
                            <p:childTnLst>
                              <p:par>
                                <p:cTn id="41" presetID="22" presetClass="entr" presetSubtype="1" fill="hold" nodeType="afterEffect">
                                  <p:stCondLst>
                                    <p:cond delay="0"/>
                                  </p:stCondLst>
                                  <p:childTnLst>
                                    <p:set>
                                      <p:cBhvr>
                                        <p:cTn id="42" dur="1" fill="hold">
                                          <p:stCondLst>
                                            <p:cond delay="0"/>
                                          </p:stCondLst>
                                        </p:cTn>
                                        <p:tgtEl>
                                          <p:spTgt spid="143362">
                                            <p:txEl>
                                              <p:pRg st="10" end="10"/>
                                            </p:txEl>
                                          </p:spTgt>
                                        </p:tgtEl>
                                        <p:attrNameLst>
                                          <p:attrName>style.visibility</p:attrName>
                                        </p:attrNameLst>
                                      </p:cBhvr>
                                      <p:to>
                                        <p:strVal val="visible"/>
                                      </p:to>
                                    </p:set>
                                    <p:animEffect transition="in" filter="wipe(up)">
                                      <p:cBhvr>
                                        <p:cTn id="43" dur="500"/>
                                        <p:tgtEl>
                                          <p:spTgt spid="14336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ext Box 1026">
            <a:extLst>
              <a:ext uri="{FF2B5EF4-FFF2-40B4-BE49-F238E27FC236}">
                <a16:creationId xmlns:a16="http://schemas.microsoft.com/office/drawing/2014/main" id="{0754E86A-DD02-40D0-8B27-A136CAB2291C}"/>
              </a:ext>
            </a:extLst>
          </p:cNvPr>
          <p:cNvSpPr txBox="1">
            <a:spLocks noChangeArrowheads="1"/>
          </p:cNvSpPr>
          <p:nvPr/>
        </p:nvSpPr>
        <p:spPr bwMode="auto">
          <a:xfrm>
            <a:off x="381000" y="1143000"/>
            <a:ext cx="8458200" cy="544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05000"/>
              </a:lnSpc>
              <a:spcBef>
                <a:spcPct val="0"/>
              </a:spcBef>
              <a:buSzTx/>
              <a:buFontTx/>
              <a:buNone/>
            </a:pPr>
            <a:r>
              <a:rPr lang="zh-CN" altLang="en-US" sz="2600" b="1">
                <a:solidFill>
                  <a:srgbClr val="A50021"/>
                </a:solidFill>
                <a:latin typeface="黑体" panose="02010609060101010101" pitchFamily="49" charset="-122"/>
                <a:ea typeface="黑体" panose="02010609060101010101" pitchFamily="49" charset="-122"/>
              </a:rPr>
              <a:t>例</a:t>
            </a:r>
            <a:r>
              <a:rPr lang="en-US" altLang="zh-CN" sz="2600" b="1">
                <a:solidFill>
                  <a:srgbClr val="A50021"/>
                </a:solidFill>
                <a:latin typeface="黑体" panose="02010609060101010101" pitchFamily="49" charset="-122"/>
                <a:ea typeface="黑体" panose="02010609060101010101" pitchFamily="49" charset="-122"/>
              </a:rPr>
              <a:t>5.48 </a:t>
            </a:r>
            <a:r>
              <a:rPr lang="zh-CN" altLang="en-US" sz="25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设在教学管理数据库系统中，有一个临时表用于暂存平均成绩大于等于</a:t>
            </a:r>
            <a:r>
              <a:rPr lang="en-US" altLang="zh-CN" sz="25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80</a:t>
            </a:r>
            <a:r>
              <a:rPr lang="zh-CN" altLang="en-US" sz="25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分的女同学的学号和平均成绩。临时表的格式为：  </a:t>
            </a:r>
            <a:r>
              <a:rPr lang="en-US" altLang="zh-CN" sz="2500" b="1">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S_AVG(S#,AVG_GRADE)</a:t>
            </a:r>
          </a:p>
          <a:p>
            <a:pPr algn="just">
              <a:lnSpc>
                <a:spcPct val="105000"/>
              </a:lnSpc>
              <a:spcBef>
                <a:spcPct val="0"/>
              </a:spcBef>
              <a:buSzTx/>
              <a:buFontTx/>
              <a:buNone/>
            </a:pPr>
            <a:r>
              <a:rPr lang="en-US" altLang="zh-CN" sz="25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500" b="1">
                <a:effectLst>
                  <a:outerShdw blurRad="38100" dist="38100" dir="2700000" algn="tl">
                    <a:srgbClr val="C0C0C0"/>
                  </a:outerShdw>
                </a:effectLst>
                <a:latin typeface="黑体" panose="02010609060101010101" pitchFamily="49" charset="-122"/>
                <a:ea typeface="黑体" panose="02010609060101010101" pitchFamily="49" charset="-122"/>
              </a:rPr>
              <a:t>则将从有关表中查询出的有关数据组成的记录插入该表的插入语句为：</a:t>
            </a:r>
          </a:p>
          <a:p>
            <a:pPr algn="just">
              <a:lnSpc>
                <a:spcPct val="105000"/>
              </a:lnSpc>
              <a:spcBef>
                <a:spcPct val="0"/>
              </a:spcBef>
              <a:buSzTx/>
              <a:buFontTx/>
              <a:buNone/>
            </a:pPr>
            <a:r>
              <a:rPr lang="zh-CN" altLang="en-US" sz="2600" b="1">
                <a:latin typeface="黑体" panose="02010609060101010101" pitchFamily="49" charset="-122"/>
                <a:ea typeface="黑体" panose="02010609060101010101" pitchFamily="49" charset="-122"/>
              </a:rPr>
              <a:t>    </a:t>
            </a:r>
            <a:r>
              <a:rPr lang="en-US" altLang="zh-CN" sz="2600" b="1">
                <a:solidFill>
                  <a:srgbClr val="000000"/>
                </a:solidFill>
                <a:latin typeface="黑体" panose="02010609060101010101" pitchFamily="49" charset="-122"/>
                <a:ea typeface="黑体" panose="02010609060101010101" pitchFamily="49" charset="-122"/>
              </a:rPr>
              <a:t>INSERT INTO S_AVG(S#,AVG_GRAGE)</a:t>
            </a:r>
          </a:p>
          <a:p>
            <a:pPr algn="just">
              <a:lnSpc>
                <a:spcPct val="105000"/>
              </a:lnSpc>
              <a:spcBef>
                <a:spcPct val="0"/>
              </a:spcBef>
              <a:buSzTx/>
              <a:buFontTx/>
              <a:buNone/>
            </a:pPr>
            <a:r>
              <a:rPr lang="en-US" altLang="zh-CN" sz="2600" b="1">
                <a:solidFill>
                  <a:srgbClr val="000000"/>
                </a:solidFill>
                <a:latin typeface="黑体" panose="02010609060101010101" pitchFamily="49" charset="-122"/>
                <a:ea typeface="黑体" panose="02010609060101010101" pitchFamily="49" charset="-122"/>
              </a:rPr>
              <a:t>           SELECT S#,AVG(GRADE)</a:t>
            </a:r>
          </a:p>
          <a:p>
            <a:pPr algn="just">
              <a:lnSpc>
                <a:spcPct val="105000"/>
              </a:lnSpc>
              <a:spcBef>
                <a:spcPct val="0"/>
              </a:spcBef>
              <a:buSzTx/>
              <a:buFontTx/>
              <a:buNone/>
            </a:pPr>
            <a:r>
              <a:rPr lang="en-US" altLang="zh-CN" sz="2600" b="1">
                <a:solidFill>
                  <a:srgbClr val="000000"/>
                </a:solidFill>
                <a:latin typeface="黑体" panose="02010609060101010101" pitchFamily="49" charset="-122"/>
                <a:ea typeface="黑体" panose="02010609060101010101" pitchFamily="49" charset="-122"/>
              </a:rPr>
              <a:t>           FROM SC</a:t>
            </a:r>
          </a:p>
          <a:p>
            <a:pPr algn="just">
              <a:lnSpc>
                <a:spcPct val="105000"/>
              </a:lnSpc>
              <a:spcBef>
                <a:spcPct val="0"/>
              </a:spcBef>
              <a:buSzTx/>
              <a:buFontTx/>
              <a:buNone/>
            </a:pPr>
            <a:r>
              <a:rPr lang="en-US" altLang="zh-CN" sz="2600" b="1">
                <a:solidFill>
                  <a:srgbClr val="000000"/>
                </a:solidFill>
                <a:latin typeface="黑体" panose="02010609060101010101" pitchFamily="49" charset="-122"/>
                <a:ea typeface="黑体" panose="02010609060101010101" pitchFamily="49" charset="-122"/>
              </a:rPr>
              <a:t>           WHERE S# IN (SELECT S#</a:t>
            </a:r>
          </a:p>
          <a:p>
            <a:pPr algn="just">
              <a:lnSpc>
                <a:spcPct val="105000"/>
              </a:lnSpc>
              <a:spcBef>
                <a:spcPct val="0"/>
              </a:spcBef>
              <a:buSzTx/>
              <a:buFontTx/>
              <a:buNone/>
            </a:pPr>
            <a:r>
              <a:rPr lang="en-US" altLang="zh-CN" sz="2600" b="1">
                <a:solidFill>
                  <a:srgbClr val="000000"/>
                </a:solidFill>
                <a:latin typeface="黑体" panose="02010609060101010101" pitchFamily="49" charset="-122"/>
                <a:ea typeface="黑体" panose="02010609060101010101" pitchFamily="49" charset="-122"/>
              </a:rPr>
              <a:t>                        FROM  S</a:t>
            </a:r>
          </a:p>
          <a:p>
            <a:pPr algn="just">
              <a:lnSpc>
                <a:spcPct val="105000"/>
              </a:lnSpc>
              <a:spcBef>
                <a:spcPct val="0"/>
              </a:spcBef>
              <a:buSzTx/>
              <a:buFontTx/>
              <a:buNone/>
            </a:pPr>
            <a:r>
              <a:rPr lang="en-US" altLang="zh-CN" sz="2600" b="1">
                <a:solidFill>
                  <a:srgbClr val="000000"/>
                </a:solidFill>
                <a:latin typeface="黑体" panose="02010609060101010101" pitchFamily="49" charset="-122"/>
                <a:ea typeface="黑体" panose="02010609060101010101" pitchFamily="49" charset="-122"/>
              </a:rPr>
              <a:t>                        WHERE SSEX = </a:t>
            </a:r>
            <a:r>
              <a:rPr lang="zh-CN" altLang="en-US" sz="2600" b="1">
                <a:solidFill>
                  <a:srgbClr val="000000"/>
                </a:solidFill>
                <a:latin typeface="黑体" panose="02010609060101010101" pitchFamily="49" charset="-122"/>
                <a:ea typeface="黑体" panose="02010609060101010101" pitchFamily="49" charset="-122"/>
              </a:rPr>
              <a:t>＇女＇）</a:t>
            </a:r>
          </a:p>
          <a:p>
            <a:pPr algn="just">
              <a:lnSpc>
                <a:spcPct val="105000"/>
              </a:lnSpc>
              <a:spcBef>
                <a:spcPct val="0"/>
              </a:spcBef>
              <a:buSzTx/>
              <a:buFontTx/>
              <a:buNone/>
            </a:pPr>
            <a:r>
              <a:rPr lang="zh-CN" altLang="en-US" sz="2600" b="1">
                <a:solidFill>
                  <a:srgbClr val="000000"/>
                </a:solidFill>
                <a:latin typeface="黑体" panose="02010609060101010101" pitchFamily="49" charset="-122"/>
                <a:ea typeface="黑体" panose="02010609060101010101" pitchFamily="49" charset="-122"/>
              </a:rPr>
              <a:t>           </a:t>
            </a:r>
            <a:r>
              <a:rPr lang="en-US" altLang="zh-CN" sz="2600" b="1">
                <a:solidFill>
                  <a:srgbClr val="000000"/>
                </a:solidFill>
                <a:latin typeface="黑体" panose="02010609060101010101" pitchFamily="49" charset="-122"/>
                <a:ea typeface="黑体" panose="02010609060101010101" pitchFamily="49" charset="-122"/>
              </a:rPr>
              <a:t>GROUP BY S#</a:t>
            </a:r>
          </a:p>
          <a:p>
            <a:pPr algn="just">
              <a:lnSpc>
                <a:spcPct val="105000"/>
              </a:lnSpc>
              <a:spcBef>
                <a:spcPct val="0"/>
              </a:spcBef>
              <a:buSzTx/>
              <a:buFontTx/>
              <a:buNone/>
            </a:pPr>
            <a:r>
              <a:rPr lang="en-US" altLang="zh-CN" sz="2600" b="1">
                <a:solidFill>
                  <a:srgbClr val="000000"/>
                </a:solidFill>
                <a:latin typeface="黑体" panose="02010609060101010101" pitchFamily="49" charset="-122"/>
                <a:ea typeface="黑体" panose="02010609060101010101" pitchFamily="49" charset="-122"/>
              </a:rPr>
              <a:t>           HAVING AVG(GRADE) &gt;= 80</a:t>
            </a:r>
            <a:r>
              <a:rPr lang="zh-CN" altLang="en-US" sz="2600" b="1">
                <a:solidFill>
                  <a:srgbClr val="000000"/>
                </a:solidFill>
                <a:latin typeface="黑体" panose="02010609060101010101" pitchFamily="49" charset="-122"/>
                <a:ea typeface="黑体" panose="02010609060101010101" pitchFamily="49" charset="-122"/>
              </a:rPr>
              <a:t>；</a:t>
            </a:r>
          </a:p>
        </p:txBody>
      </p:sp>
      <p:sp>
        <p:nvSpPr>
          <p:cNvPr id="144387" name="Rectangle 1027">
            <a:extLst>
              <a:ext uri="{FF2B5EF4-FFF2-40B4-BE49-F238E27FC236}">
                <a16:creationId xmlns:a16="http://schemas.microsoft.com/office/drawing/2014/main" id="{7FF2F0D1-4EAC-438B-8695-C20821E3FEE8}"/>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一、</a:t>
            </a:r>
            <a:r>
              <a:rPr lang="zh-CN" altLang="en-US" sz="3200"/>
              <a:t>带有子查询的数据插入操作</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11461"/>
    </mc:Choice>
    <mc:Fallback xmlns="">
      <p:transition spd="slow" advTm="111461"/>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44386">
                                            <p:txEl>
                                              <p:pRg st="1" end="1"/>
                                            </p:txEl>
                                          </p:spTgt>
                                        </p:tgtEl>
                                        <p:attrNameLst>
                                          <p:attrName>style.visibility</p:attrName>
                                        </p:attrNameLst>
                                      </p:cBhvr>
                                      <p:to>
                                        <p:strVal val="visible"/>
                                      </p:to>
                                    </p:set>
                                    <p:animEffect transition="in" filter="wipe(up)">
                                      <p:cBhvr>
                                        <p:cTn id="7" dur="500"/>
                                        <p:tgtEl>
                                          <p:spTgt spid="144386">
                                            <p:txEl>
                                              <p:pRg st="1" end="1"/>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44386">
                                            <p:txEl>
                                              <p:pRg st="2" end="2"/>
                                            </p:txEl>
                                          </p:spTgt>
                                        </p:tgtEl>
                                        <p:attrNameLst>
                                          <p:attrName>style.visibility</p:attrName>
                                        </p:attrNameLst>
                                      </p:cBhvr>
                                      <p:to>
                                        <p:strVal val="visible"/>
                                      </p:to>
                                    </p:set>
                                    <p:animEffect transition="in" filter="wipe(up)">
                                      <p:cBhvr>
                                        <p:cTn id="11" dur="500"/>
                                        <p:tgtEl>
                                          <p:spTgt spid="144386">
                                            <p:txEl>
                                              <p:pRg st="2" end="2"/>
                                            </p:txEl>
                                          </p:spTgt>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144386">
                                            <p:txEl>
                                              <p:pRg st="3" end="3"/>
                                            </p:txEl>
                                          </p:spTgt>
                                        </p:tgtEl>
                                        <p:attrNameLst>
                                          <p:attrName>style.visibility</p:attrName>
                                        </p:attrNameLst>
                                      </p:cBhvr>
                                      <p:to>
                                        <p:strVal val="visible"/>
                                      </p:to>
                                    </p:set>
                                    <p:animEffect transition="in" filter="wipe(up)">
                                      <p:cBhvr>
                                        <p:cTn id="15" dur="500"/>
                                        <p:tgtEl>
                                          <p:spTgt spid="144386">
                                            <p:txEl>
                                              <p:pRg st="3" end="3"/>
                                            </p:txEl>
                                          </p:spTgt>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144386">
                                            <p:txEl>
                                              <p:pRg st="4" end="4"/>
                                            </p:txEl>
                                          </p:spTgt>
                                        </p:tgtEl>
                                        <p:attrNameLst>
                                          <p:attrName>style.visibility</p:attrName>
                                        </p:attrNameLst>
                                      </p:cBhvr>
                                      <p:to>
                                        <p:strVal val="visible"/>
                                      </p:to>
                                    </p:set>
                                    <p:animEffect transition="in" filter="wipe(up)">
                                      <p:cBhvr>
                                        <p:cTn id="19" dur="500"/>
                                        <p:tgtEl>
                                          <p:spTgt spid="144386">
                                            <p:txEl>
                                              <p:pRg st="4" end="4"/>
                                            </p:txEl>
                                          </p:spTgt>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144386">
                                            <p:txEl>
                                              <p:pRg st="5" end="5"/>
                                            </p:txEl>
                                          </p:spTgt>
                                        </p:tgtEl>
                                        <p:attrNameLst>
                                          <p:attrName>style.visibility</p:attrName>
                                        </p:attrNameLst>
                                      </p:cBhvr>
                                      <p:to>
                                        <p:strVal val="visible"/>
                                      </p:to>
                                    </p:set>
                                    <p:animEffect transition="in" filter="wipe(up)">
                                      <p:cBhvr>
                                        <p:cTn id="23" dur="500"/>
                                        <p:tgtEl>
                                          <p:spTgt spid="144386">
                                            <p:txEl>
                                              <p:pRg st="5" end="5"/>
                                            </p:txEl>
                                          </p:spTgt>
                                        </p:tgtEl>
                                      </p:cBhvr>
                                    </p:animEffect>
                                  </p:childTnLst>
                                </p:cTn>
                              </p:par>
                            </p:childTnLst>
                          </p:cTn>
                        </p:par>
                        <p:par>
                          <p:cTn id="24" fill="hold" nodeType="afterGroup">
                            <p:stCondLst>
                              <p:cond delay="2500"/>
                            </p:stCondLst>
                            <p:childTnLst>
                              <p:par>
                                <p:cTn id="25" presetID="22" presetClass="entr" presetSubtype="1" fill="hold" nodeType="afterEffect">
                                  <p:stCondLst>
                                    <p:cond delay="0"/>
                                  </p:stCondLst>
                                  <p:childTnLst>
                                    <p:set>
                                      <p:cBhvr>
                                        <p:cTn id="26" dur="1" fill="hold">
                                          <p:stCondLst>
                                            <p:cond delay="0"/>
                                          </p:stCondLst>
                                        </p:cTn>
                                        <p:tgtEl>
                                          <p:spTgt spid="144386">
                                            <p:txEl>
                                              <p:pRg st="6" end="6"/>
                                            </p:txEl>
                                          </p:spTgt>
                                        </p:tgtEl>
                                        <p:attrNameLst>
                                          <p:attrName>style.visibility</p:attrName>
                                        </p:attrNameLst>
                                      </p:cBhvr>
                                      <p:to>
                                        <p:strVal val="visible"/>
                                      </p:to>
                                    </p:set>
                                    <p:animEffect transition="in" filter="wipe(up)">
                                      <p:cBhvr>
                                        <p:cTn id="27" dur="500"/>
                                        <p:tgtEl>
                                          <p:spTgt spid="144386">
                                            <p:txEl>
                                              <p:pRg st="6" end="6"/>
                                            </p:txEl>
                                          </p:spTgt>
                                        </p:tgtEl>
                                      </p:cBhvr>
                                    </p:animEffect>
                                  </p:childTnLst>
                                </p:cTn>
                              </p:par>
                            </p:childTnLst>
                          </p:cTn>
                        </p:par>
                        <p:par>
                          <p:cTn id="28" fill="hold" nodeType="afterGroup">
                            <p:stCondLst>
                              <p:cond delay="3000"/>
                            </p:stCondLst>
                            <p:childTnLst>
                              <p:par>
                                <p:cTn id="29" presetID="22" presetClass="entr" presetSubtype="1" fill="hold" nodeType="afterEffect">
                                  <p:stCondLst>
                                    <p:cond delay="0"/>
                                  </p:stCondLst>
                                  <p:childTnLst>
                                    <p:set>
                                      <p:cBhvr>
                                        <p:cTn id="30" dur="1" fill="hold">
                                          <p:stCondLst>
                                            <p:cond delay="0"/>
                                          </p:stCondLst>
                                        </p:cTn>
                                        <p:tgtEl>
                                          <p:spTgt spid="144386">
                                            <p:txEl>
                                              <p:pRg st="7" end="7"/>
                                            </p:txEl>
                                          </p:spTgt>
                                        </p:tgtEl>
                                        <p:attrNameLst>
                                          <p:attrName>style.visibility</p:attrName>
                                        </p:attrNameLst>
                                      </p:cBhvr>
                                      <p:to>
                                        <p:strVal val="visible"/>
                                      </p:to>
                                    </p:set>
                                    <p:animEffect transition="in" filter="wipe(up)">
                                      <p:cBhvr>
                                        <p:cTn id="31" dur="500"/>
                                        <p:tgtEl>
                                          <p:spTgt spid="144386">
                                            <p:txEl>
                                              <p:pRg st="7" end="7"/>
                                            </p:txEl>
                                          </p:spTgt>
                                        </p:tgtEl>
                                      </p:cBhvr>
                                    </p:animEffect>
                                  </p:childTnLst>
                                </p:cTn>
                              </p:par>
                            </p:childTnLst>
                          </p:cTn>
                        </p:par>
                        <p:par>
                          <p:cTn id="32" fill="hold" nodeType="afterGroup">
                            <p:stCondLst>
                              <p:cond delay="3500"/>
                            </p:stCondLst>
                            <p:childTnLst>
                              <p:par>
                                <p:cTn id="33" presetID="22" presetClass="entr" presetSubtype="1" fill="hold" nodeType="afterEffect">
                                  <p:stCondLst>
                                    <p:cond delay="0"/>
                                  </p:stCondLst>
                                  <p:childTnLst>
                                    <p:set>
                                      <p:cBhvr>
                                        <p:cTn id="34" dur="1" fill="hold">
                                          <p:stCondLst>
                                            <p:cond delay="0"/>
                                          </p:stCondLst>
                                        </p:cTn>
                                        <p:tgtEl>
                                          <p:spTgt spid="144386">
                                            <p:txEl>
                                              <p:pRg st="8" end="8"/>
                                            </p:txEl>
                                          </p:spTgt>
                                        </p:tgtEl>
                                        <p:attrNameLst>
                                          <p:attrName>style.visibility</p:attrName>
                                        </p:attrNameLst>
                                      </p:cBhvr>
                                      <p:to>
                                        <p:strVal val="visible"/>
                                      </p:to>
                                    </p:set>
                                    <p:animEffect transition="in" filter="wipe(up)">
                                      <p:cBhvr>
                                        <p:cTn id="35" dur="500"/>
                                        <p:tgtEl>
                                          <p:spTgt spid="144386">
                                            <p:txEl>
                                              <p:pRg st="8" end="8"/>
                                            </p:txEl>
                                          </p:spTgt>
                                        </p:tgtEl>
                                      </p:cBhvr>
                                    </p:animEffect>
                                  </p:childTnLst>
                                </p:cTn>
                              </p:par>
                            </p:childTnLst>
                          </p:cTn>
                        </p:par>
                        <p:par>
                          <p:cTn id="36" fill="hold" nodeType="afterGroup">
                            <p:stCondLst>
                              <p:cond delay="4000"/>
                            </p:stCondLst>
                            <p:childTnLst>
                              <p:par>
                                <p:cTn id="37" presetID="22" presetClass="entr" presetSubtype="1" fill="hold" nodeType="afterEffect">
                                  <p:stCondLst>
                                    <p:cond delay="0"/>
                                  </p:stCondLst>
                                  <p:childTnLst>
                                    <p:set>
                                      <p:cBhvr>
                                        <p:cTn id="38" dur="1" fill="hold">
                                          <p:stCondLst>
                                            <p:cond delay="0"/>
                                          </p:stCondLst>
                                        </p:cTn>
                                        <p:tgtEl>
                                          <p:spTgt spid="144386">
                                            <p:txEl>
                                              <p:pRg st="9" end="9"/>
                                            </p:txEl>
                                          </p:spTgt>
                                        </p:tgtEl>
                                        <p:attrNameLst>
                                          <p:attrName>style.visibility</p:attrName>
                                        </p:attrNameLst>
                                      </p:cBhvr>
                                      <p:to>
                                        <p:strVal val="visible"/>
                                      </p:to>
                                    </p:set>
                                    <p:animEffect transition="in" filter="wipe(up)">
                                      <p:cBhvr>
                                        <p:cTn id="39" dur="500"/>
                                        <p:tgtEl>
                                          <p:spTgt spid="14438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Text Box 2">
            <a:extLst>
              <a:ext uri="{FF2B5EF4-FFF2-40B4-BE49-F238E27FC236}">
                <a16:creationId xmlns:a16="http://schemas.microsoft.com/office/drawing/2014/main" id="{7DD55193-0DF9-4018-BF52-5998BC696724}"/>
              </a:ext>
            </a:extLst>
          </p:cNvPr>
          <p:cNvSpPr txBox="1">
            <a:spLocks noChangeArrowheads="1"/>
          </p:cNvSpPr>
          <p:nvPr/>
        </p:nvSpPr>
        <p:spPr bwMode="auto">
          <a:xfrm>
            <a:off x="381000" y="1143000"/>
            <a:ext cx="8458200" cy="384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spcBef>
                <a:spcPct val="10000"/>
              </a:spcBef>
              <a:buSzTx/>
              <a:buFontTx/>
              <a:buNone/>
            </a:pPr>
            <a:r>
              <a:rPr lang="en-US" altLang="zh-CN"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条件（</a:t>
            </a:r>
            <a:r>
              <a:rPr lang="zh-CN" altLang="en-US" sz="2600" b="1">
                <a:solidFill>
                  <a:srgbClr val="006666"/>
                </a:solidFill>
                <a:effectLst>
                  <a:outerShdw blurRad="38100" dist="38100" dir="2700000" algn="tl">
                    <a:srgbClr val="C0C0C0"/>
                  </a:outerShdw>
                </a:effectLst>
                <a:latin typeface="华文楷体" panose="02010600040101010101" pitchFamily="2" charset="-122"/>
                <a:ea typeface="华文楷体" panose="02010600040101010101" pitchFamily="2" charset="-122"/>
              </a:rPr>
              <a:t>用子查询表示条件）</a:t>
            </a: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数据更新操作。</a:t>
            </a:r>
          </a:p>
          <a:p>
            <a:pPr algn="just">
              <a:lnSpc>
                <a:spcPct val="65000"/>
              </a:lnSpc>
              <a:spcBef>
                <a:spcPct val="10000"/>
              </a:spcBef>
              <a:buSzTx/>
              <a:buFontTx/>
              <a:buNone/>
            </a:pP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    </a:t>
            </a:r>
          </a:p>
          <a:p>
            <a:pPr algn="just">
              <a:lnSpc>
                <a:spcPct val="130000"/>
              </a:lnSpc>
              <a:spcBef>
                <a:spcPct val="10000"/>
              </a:spcBef>
              <a:buSzTx/>
              <a:buFontTx/>
              <a:buNone/>
            </a:pP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600" b="1">
                <a:solidFill>
                  <a:srgbClr val="800000"/>
                </a:solidFill>
                <a:effectLst>
                  <a:outerShdw blurRad="38100" dist="38100" dir="2700000" algn="tl">
                    <a:srgbClr val="C0C0C0"/>
                  </a:outerShdw>
                </a:effectLst>
                <a:latin typeface="黑体" panose="02010609060101010101" pitchFamily="49" charset="-122"/>
                <a:ea typeface="黑体" panose="02010609060101010101" pitchFamily="49" charset="-122"/>
              </a:rPr>
              <a:t>语句格式为：</a:t>
            </a:r>
          </a:p>
          <a:p>
            <a:pPr algn="just">
              <a:lnSpc>
                <a:spcPct val="130000"/>
              </a:lnSpc>
              <a:spcBef>
                <a:spcPct val="50000"/>
              </a:spcBef>
              <a:buSzTx/>
              <a:buFontTx/>
              <a:buNone/>
            </a:pPr>
            <a:r>
              <a:rPr lang="zh-CN" altLang="en-US" sz="2600" b="1">
                <a:latin typeface="黑体" panose="02010609060101010101" pitchFamily="49" charset="-122"/>
                <a:ea typeface="黑体" panose="02010609060101010101" pitchFamily="49" charset="-122"/>
              </a:rPr>
              <a:t>    </a:t>
            </a:r>
            <a:r>
              <a:rPr lang="en-US" altLang="zh-CN" sz="2400" b="1">
                <a:solidFill>
                  <a:srgbClr val="000000"/>
                </a:solidFill>
                <a:latin typeface="黑体" panose="02010609060101010101" pitchFamily="49" charset="-122"/>
                <a:ea typeface="黑体" panose="02010609060101010101" pitchFamily="49" charset="-122"/>
              </a:rPr>
              <a:t>UPDATE &lt;</a:t>
            </a:r>
            <a:r>
              <a:rPr lang="zh-CN" altLang="en-US" sz="2400" b="1">
                <a:solidFill>
                  <a:srgbClr val="000000"/>
                </a:solidFill>
                <a:latin typeface="黑体" panose="02010609060101010101" pitchFamily="49" charset="-122"/>
                <a:ea typeface="黑体" panose="02010609060101010101" pitchFamily="49" charset="-122"/>
              </a:rPr>
              <a:t>表名</a:t>
            </a:r>
            <a:r>
              <a:rPr lang="en-US" altLang="zh-CN" sz="2400" b="1">
                <a:solidFill>
                  <a:srgbClr val="000000"/>
                </a:solidFill>
                <a:latin typeface="黑体" panose="02010609060101010101" pitchFamily="49" charset="-122"/>
                <a:ea typeface="黑体" panose="02010609060101010101" pitchFamily="49" charset="-122"/>
              </a:rPr>
              <a:t>&gt;</a:t>
            </a:r>
          </a:p>
          <a:p>
            <a:pPr algn="just">
              <a:lnSpc>
                <a:spcPct val="130000"/>
              </a:lnSpc>
              <a:spcBef>
                <a:spcPct val="10000"/>
              </a:spcBef>
              <a:buSzTx/>
              <a:buFontTx/>
              <a:buNone/>
            </a:pPr>
            <a:r>
              <a:rPr lang="en-US" altLang="zh-CN" sz="2600" b="1">
                <a:latin typeface="黑体" panose="02010609060101010101" pitchFamily="49" charset="-122"/>
                <a:ea typeface="黑体" panose="02010609060101010101" pitchFamily="49" charset="-122"/>
              </a:rPr>
              <a:t>    </a:t>
            </a:r>
            <a:r>
              <a:rPr lang="en-US" altLang="zh-CN" sz="2400" b="1">
                <a:solidFill>
                  <a:srgbClr val="000000"/>
                </a:solidFill>
                <a:latin typeface="黑体" panose="02010609060101010101" pitchFamily="49" charset="-122"/>
                <a:ea typeface="黑体" panose="02010609060101010101" pitchFamily="49" charset="-122"/>
              </a:rPr>
              <a:t>SET &lt;</a:t>
            </a:r>
            <a:r>
              <a:rPr lang="zh-CN" altLang="en-US" sz="2400" b="1">
                <a:solidFill>
                  <a:srgbClr val="000000"/>
                </a:solidFill>
                <a:latin typeface="黑体" panose="02010609060101010101" pitchFamily="49" charset="-122"/>
                <a:ea typeface="黑体" panose="02010609060101010101" pitchFamily="49" charset="-122"/>
              </a:rPr>
              <a:t>列名</a:t>
            </a:r>
            <a:r>
              <a:rPr lang="en-US" altLang="zh-CN" sz="2400" b="1">
                <a:solidFill>
                  <a:srgbClr val="000000"/>
                </a:solidFill>
                <a:latin typeface="黑体" panose="02010609060101010101" pitchFamily="49" charset="-122"/>
                <a:ea typeface="黑体" panose="02010609060101010101" pitchFamily="49" charset="-122"/>
              </a:rPr>
              <a:t>1&gt;</a:t>
            </a:r>
            <a:r>
              <a:rPr lang="zh-CN" altLang="en-US" sz="2400" b="1">
                <a:solidFill>
                  <a:srgbClr val="000000"/>
                </a:solidFill>
                <a:latin typeface="黑体" panose="02010609060101010101" pitchFamily="49" charset="-122"/>
                <a:ea typeface="黑体" panose="02010609060101010101" pitchFamily="49" charset="-122"/>
              </a:rPr>
              <a:t>＝</a:t>
            </a:r>
            <a:r>
              <a:rPr lang="en-US" altLang="zh-CN" sz="2400" b="1">
                <a:solidFill>
                  <a:srgbClr val="000000"/>
                </a:solidFill>
                <a:latin typeface="黑体" panose="02010609060101010101" pitchFamily="49" charset="-122"/>
                <a:ea typeface="黑体" panose="02010609060101010101" pitchFamily="49" charset="-122"/>
              </a:rPr>
              <a:t>&lt;</a:t>
            </a:r>
            <a:r>
              <a:rPr lang="zh-CN" altLang="en-US" sz="2400" b="1">
                <a:solidFill>
                  <a:srgbClr val="000000"/>
                </a:solidFill>
                <a:latin typeface="黑体" panose="02010609060101010101" pitchFamily="49" charset="-122"/>
                <a:ea typeface="黑体" panose="02010609060101010101" pitchFamily="49" charset="-122"/>
              </a:rPr>
              <a:t>表达式</a:t>
            </a:r>
            <a:r>
              <a:rPr lang="en-US" altLang="zh-CN" sz="2400" b="1">
                <a:solidFill>
                  <a:srgbClr val="000000"/>
                </a:solidFill>
                <a:latin typeface="黑体" panose="02010609060101010101" pitchFamily="49" charset="-122"/>
                <a:ea typeface="黑体" panose="02010609060101010101" pitchFamily="49" charset="-122"/>
              </a:rPr>
              <a:t>1&gt;[</a:t>
            </a:r>
            <a:r>
              <a:rPr lang="zh-CN" altLang="en-US" sz="2400" b="1">
                <a:solidFill>
                  <a:srgbClr val="000000"/>
                </a:solidFill>
                <a:latin typeface="黑体" panose="02010609060101010101" pitchFamily="49" charset="-122"/>
                <a:ea typeface="黑体" panose="02010609060101010101" pitchFamily="49" charset="-122"/>
              </a:rPr>
              <a:t>，</a:t>
            </a:r>
            <a:r>
              <a:rPr lang="en-US" altLang="zh-CN" sz="2400" b="1">
                <a:solidFill>
                  <a:srgbClr val="000000"/>
                </a:solidFill>
                <a:latin typeface="黑体" panose="02010609060101010101" pitchFamily="49" charset="-122"/>
                <a:ea typeface="黑体" panose="02010609060101010101" pitchFamily="49" charset="-122"/>
              </a:rPr>
              <a:t>&lt;</a:t>
            </a:r>
            <a:r>
              <a:rPr lang="zh-CN" altLang="en-US" sz="2400" b="1">
                <a:solidFill>
                  <a:srgbClr val="000000"/>
                </a:solidFill>
                <a:latin typeface="黑体" panose="02010609060101010101" pitchFamily="49" charset="-122"/>
                <a:ea typeface="黑体" panose="02010609060101010101" pitchFamily="49" charset="-122"/>
              </a:rPr>
              <a:t>列名</a:t>
            </a:r>
            <a:r>
              <a:rPr lang="en-US" altLang="zh-CN" sz="2400" b="1">
                <a:solidFill>
                  <a:srgbClr val="000000"/>
                </a:solidFill>
                <a:latin typeface="黑体" panose="02010609060101010101" pitchFamily="49" charset="-122"/>
                <a:ea typeface="黑体" panose="02010609060101010101" pitchFamily="49" charset="-122"/>
              </a:rPr>
              <a:t>2&gt;</a:t>
            </a:r>
            <a:r>
              <a:rPr lang="zh-CN" altLang="en-US" sz="2400" b="1">
                <a:solidFill>
                  <a:srgbClr val="000000"/>
                </a:solidFill>
                <a:latin typeface="黑体" panose="02010609060101010101" pitchFamily="49" charset="-122"/>
                <a:ea typeface="黑体" panose="02010609060101010101" pitchFamily="49" charset="-122"/>
              </a:rPr>
              <a:t>＝</a:t>
            </a:r>
            <a:r>
              <a:rPr lang="en-US" altLang="zh-CN" sz="2400" b="1">
                <a:solidFill>
                  <a:srgbClr val="000000"/>
                </a:solidFill>
                <a:latin typeface="黑体" panose="02010609060101010101" pitchFamily="49" charset="-122"/>
                <a:ea typeface="黑体" panose="02010609060101010101" pitchFamily="49" charset="-122"/>
              </a:rPr>
              <a:t>&lt;</a:t>
            </a:r>
            <a:r>
              <a:rPr lang="zh-CN" altLang="en-US" sz="2400" b="1">
                <a:solidFill>
                  <a:srgbClr val="000000"/>
                </a:solidFill>
                <a:latin typeface="黑体" panose="02010609060101010101" pitchFamily="49" charset="-122"/>
                <a:ea typeface="黑体" panose="02010609060101010101" pitchFamily="49" charset="-122"/>
              </a:rPr>
              <a:t>表达式</a:t>
            </a:r>
            <a:r>
              <a:rPr lang="en-US" altLang="zh-CN" sz="2400" b="1">
                <a:solidFill>
                  <a:srgbClr val="000000"/>
                </a:solidFill>
                <a:latin typeface="黑体" panose="02010609060101010101" pitchFamily="49" charset="-122"/>
                <a:ea typeface="黑体" panose="02010609060101010101" pitchFamily="49" charset="-122"/>
              </a:rPr>
              <a:t>2&gt;,</a:t>
            </a:r>
            <a:r>
              <a:rPr lang="en-US" altLang="zh-CN" sz="2400" b="1">
                <a:solidFill>
                  <a:srgbClr val="000000"/>
                </a:solidFill>
                <a:latin typeface="宋体" panose="02010600030101010101" pitchFamily="2" charset="-122"/>
                <a:ea typeface="黑体" panose="02010609060101010101" pitchFamily="49" charset="-122"/>
              </a:rPr>
              <a:t>…</a:t>
            </a:r>
            <a:r>
              <a:rPr lang="en-US" altLang="zh-CN" sz="2400" b="1">
                <a:solidFill>
                  <a:srgbClr val="000000"/>
                </a:solidFill>
                <a:latin typeface="黑体" panose="02010609060101010101" pitchFamily="49" charset="-122"/>
                <a:ea typeface="黑体" panose="02010609060101010101" pitchFamily="49" charset="-122"/>
              </a:rPr>
              <a:t>, </a:t>
            </a:r>
          </a:p>
          <a:p>
            <a:pPr algn="just">
              <a:lnSpc>
                <a:spcPct val="130000"/>
              </a:lnSpc>
              <a:spcBef>
                <a:spcPct val="10000"/>
              </a:spcBef>
              <a:buSzTx/>
              <a:buFontTx/>
              <a:buNone/>
            </a:pPr>
            <a:r>
              <a:rPr lang="en-US" altLang="zh-CN" sz="2400" b="1">
                <a:solidFill>
                  <a:srgbClr val="000000"/>
                </a:solidFill>
                <a:latin typeface="黑体" panose="02010609060101010101" pitchFamily="49" charset="-122"/>
                <a:ea typeface="黑体" panose="02010609060101010101" pitchFamily="49" charset="-122"/>
              </a:rPr>
              <a:t>                             &lt;</a:t>
            </a:r>
            <a:r>
              <a:rPr lang="zh-CN" altLang="en-US" sz="2400" b="1">
                <a:solidFill>
                  <a:srgbClr val="000000"/>
                </a:solidFill>
                <a:latin typeface="黑体" panose="02010609060101010101" pitchFamily="49" charset="-122"/>
                <a:ea typeface="黑体" panose="02010609060101010101" pitchFamily="49" charset="-122"/>
              </a:rPr>
              <a:t>列名</a:t>
            </a:r>
            <a:r>
              <a:rPr lang="en-US" altLang="zh-CN" sz="2400" b="1">
                <a:solidFill>
                  <a:srgbClr val="000000"/>
                </a:solidFill>
                <a:latin typeface="黑体" panose="02010609060101010101" pitchFamily="49" charset="-122"/>
                <a:ea typeface="黑体" panose="02010609060101010101" pitchFamily="49" charset="-122"/>
              </a:rPr>
              <a:t>n&gt;</a:t>
            </a:r>
            <a:r>
              <a:rPr lang="zh-CN" altLang="en-US" sz="2400" b="1">
                <a:solidFill>
                  <a:srgbClr val="000000"/>
                </a:solidFill>
                <a:latin typeface="黑体" panose="02010609060101010101" pitchFamily="49" charset="-122"/>
                <a:ea typeface="黑体" panose="02010609060101010101" pitchFamily="49" charset="-122"/>
              </a:rPr>
              <a:t>＝</a:t>
            </a:r>
            <a:r>
              <a:rPr lang="en-US" altLang="zh-CN" sz="2400" b="1">
                <a:solidFill>
                  <a:srgbClr val="000000"/>
                </a:solidFill>
                <a:latin typeface="黑体" panose="02010609060101010101" pitchFamily="49" charset="-122"/>
                <a:ea typeface="黑体" panose="02010609060101010101" pitchFamily="49" charset="-122"/>
              </a:rPr>
              <a:t>&lt;</a:t>
            </a:r>
            <a:r>
              <a:rPr lang="zh-CN" altLang="en-US" sz="2400" b="1">
                <a:solidFill>
                  <a:srgbClr val="000000"/>
                </a:solidFill>
                <a:latin typeface="黑体" panose="02010609060101010101" pitchFamily="49" charset="-122"/>
                <a:ea typeface="黑体" panose="02010609060101010101" pitchFamily="49" charset="-122"/>
              </a:rPr>
              <a:t>表达式</a:t>
            </a:r>
            <a:r>
              <a:rPr lang="en-US" altLang="zh-CN" sz="2400" b="1">
                <a:solidFill>
                  <a:srgbClr val="000000"/>
                </a:solidFill>
                <a:latin typeface="黑体" panose="02010609060101010101" pitchFamily="49" charset="-122"/>
                <a:ea typeface="黑体" panose="02010609060101010101" pitchFamily="49" charset="-122"/>
              </a:rPr>
              <a:t>n&gt;]</a:t>
            </a:r>
          </a:p>
          <a:p>
            <a:pPr algn="just">
              <a:lnSpc>
                <a:spcPct val="130000"/>
              </a:lnSpc>
              <a:spcBef>
                <a:spcPct val="10000"/>
              </a:spcBef>
              <a:spcAft>
                <a:spcPct val="50000"/>
              </a:spcAft>
              <a:buSzTx/>
              <a:buFontTx/>
              <a:buNone/>
            </a:pPr>
            <a:r>
              <a:rPr lang="en-US" altLang="zh-CN" sz="2600" b="1">
                <a:latin typeface="黑体" panose="02010609060101010101" pitchFamily="49" charset="-122"/>
                <a:ea typeface="黑体" panose="02010609060101010101" pitchFamily="49" charset="-122"/>
              </a:rPr>
              <a:t>    </a:t>
            </a:r>
            <a:r>
              <a:rPr lang="en-US" altLang="zh-CN" sz="2400" b="1">
                <a:solidFill>
                  <a:srgbClr val="000000"/>
                </a:solidFill>
                <a:latin typeface="黑体" panose="02010609060101010101" pitchFamily="49" charset="-122"/>
                <a:ea typeface="黑体" panose="02010609060101010101" pitchFamily="49" charset="-122"/>
              </a:rPr>
              <a:t>WHERE &lt;</a:t>
            </a:r>
            <a:r>
              <a:rPr lang="zh-CN" altLang="en-US" sz="2400" b="1">
                <a:solidFill>
                  <a:srgbClr val="000000"/>
                </a:solidFill>
                <a:latin typeface="黑体" panose="02010609060101010101" pitchFamily="49" charset="-122"/>
                <a:ea typeface="黑体" panose="02010609060101010101" pitchFamily="49" charset="-122"/>
              </a:rPr>
              <a:t>条件（</a:t>
            </a:r>
            <a:r>
              <a:rPr lang="zh-CN" altLang="en-US" sz="2800" b="1">
                <a:solidFill>
                  <a:srgbClr val="003366"/>
                </a:solidFill>
                <a:effectLst>
                  <a:outerShdw blurRad="38100" dist="38100" dir="2700000" algn="tl">
                    <a:srgbClr val="C0C0C0"/>
                  </a:outerShdw>
                </a:effectLst>
                <a:latin typeface="楷体_GB2312" pitchFamily="49" charset="-122"/>
                <a:ea typeface="楷体_GB2312" pitchFamily="49" charset="-122"/>
              </a:rPr>
              <a:t>含有</a:t>
            </a:r>
            <a:r>
              <a:rPr lang="en-US" altLang="zh-CN" sz="2800" b="1">
                <a:solidFill>
                  <a:srgbClr val="003366"/>
                </a:solidFill>
                <a:effectLst>
                  <a:outerShdw blurRad="38100" dist="38100" dir="2700000" algn="tl">
                    <a:srgbClr val="C0C0C0"/>
                  </a:outerShdw>
                </a:effectLst>
                <a:latin typeface="楷体_GB2312" pitchFamily="49" charset="-122"/>
                <a:ea typeface="楷体_GB2312" pitchFamily="49" charset="-122"/>
              </a:rPr>
              <a:t>SELECT</a:t>
            </a:r>
            <a:r>
              <a:rPr lang="zh-CN" altLang="en-US" sz="2800" b="1">
                <a:solidFill>
                  <a:srgbClr val="003366"/>
                </a:solidFill>
                <a:effectLst>
                  <a:outerShdw blurRad="38100" dist="38100" dir="2700000" algn="tl">
                    <a:srgbClr val="C0C0C0"/>
                  </a:outerShdw>
                </a:effectLst>
                <a:latin typeface="楷体_GB2312" pitchFamily="49" charset="-122"/>
                <a:ea typeface="楷体_GB2312" pitchFamily="49" charset="-122"/>
              </a:rPr>
              <a:t>查询子句</a:t>
            </a:r>
            <a:r>
              <a:rPr lang="zh-CN" altLang="en-US" sz="2400" b="1">
                <a:solidFill>
                  <a:srgbClr val="000000"/>
                </a:solidFill>
                <a:latin typeface="黑体" panose="02010609060101010101" pitchFamily="49" charset="-122"/>
                <a:ea typeface="黑体" panose="02010609060101010101" pitchFamily="49" charset="-122"/>
              </a:rPr>
              <a:t>）</a:t>
            </a:r>
            <a:r>
              <a:rPr lang="en-US" altLang="zh-CN" sz="2400" b="1">
                <a:solidFill>
                  <a:srgbClr val="000000"/>
                </a:solidFill>
                <a:latin typeface="黑体" panose="02010609060101010101" pitchFamily="49" charset="-122"/>
                <a:ea typeface="黑体" panose="02010609060101010101" pitchFamily="49" charset="-122"/>
              </a:rPr>
              <a:t>&gt; </a:t>
            </a:r>
            <a:r>
              <a:rPr lang="zh-CN" altLang="en-US" sz="2400" b="1">
                <a:solidFill>
                  <a:srgbClr val="000000"/>
                </a:solidFill>
                <a:latin typeface="黑体" panose="02010609060101010101" pitchFamily="49" charset="-122"/>
                <a:ea typeface="黑体" panose="02010609060101010101" pitchFamily="49" charset="-122"/>
              </a:rPr>
              <a:t>；</a:t>
            </a:r>
            <a:r>
              <a:rPr lang="zh-CN" altLang="en-US" sz="2600" b="1">
                <a:solidFill>
                  <a:srgbClr val="000000"/>
                </a:solidFill>
                <a:latin typeface="黑体" panose="02010609060101010101" pitchFamily="49" charset="-122"/>
                <a:ea typeface="黑体" panose="02010609060101010101" pitchFamily="49" charset="-122"/>
              </a:rPr>
              <a:t> </a:t>
            </a:r>
          </a:p>
        </p:txBody>
      </p:sp>
      <p:sp>
        <p:nvSpPr>
          <p:cNvPr id="145411" name="Rectangle 3">
            <a:extLst>
              <a:ext uri="{FF2B5EF4-FFF2-40B4-BE49-F238E27FC236}">
                <a16:creationId xmlns:a16="http://schemas.microsoft.com/office/drawing/2014/main" id="{4FAAD878-E384-4F38-B9C6-3AB77742EB39}"/>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二、带有子查询的数据更新</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3213"/>
    </mc:Choice>
    <mc:Fallback xmlns="">
      <p:transition spd="slow" advTm="53213"/>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45410">
                                            <p:txEl>
                                              <p:pRg st="0" end="0"/>
                                            </p:txEl>
                                          </p:spTgt>
                                        </p:tgtEl>
                                        <p:attrNameLst>
                                          <p:attrName>style.visibility</p:attrName>
                                        </p:attrNameLst>
                                      </p:cBhvr>
                                      <p:to>
                                        <p:strVal val="visible"/>
                                      </p:to>
                                    </p:set>
                                    <p:animEffect transition="in" filter="wipe(up)">
                                      <p:cBhvr>
                                        <p:cTn id="7" dur="500"/>
                                        <p:tgtEl>
                                          <p:spTgt spid="1454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45410">
                                            <p:txEl>
                                              <p:pRg st="2" end="2"/>
                                            </p:txEl>
                                          </p:spTgt>
                                        </p:tgtEl>
                                        <p:attrNameLst>
                                          <p:attrName>style.visibility</p:attrName>
                                        </p:attrNameLst>
                                      </p:cBhvr>
                                      <p:to>
                                        <p:strVal val="visible"/>
                                      </p:to>
                                    </p:set>
                                    <p:animEffect transition="in" filter="wipe(up)">
                                      <p:cBhvr>
                                        <p:cTn id="12" dur="500"/>
                                        <p:tgtEl>
                                          <p:spTgt spid="145410">
                                            <p:txEl>
                                              <p:pRg st="2" end="2"/>
                                            </p:txEl>
                                          </p:spTgt>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145410">
                                            <p:txEl>
                                              <p:pRg st="3" end="3"/>
                                            </p:txEl>
                                          </p:spTgt>
                                        </p:tgtEl>
                                        <p:attrNameLst>
                                          <p:attrName>style.visibility</p:attrName>
                                        </p:attrNameLst>
                                      </p:cBhvr>
                                      <p:to>
                                        <p:strVal val="visible"/>
                                      </p:to>
                                    </p:set>
                                    <p:animEffect transition="in" filter="wipe(up)">
                                      <p:cBhvr>
                                        <p:cTn id="16" dur="500"/>
                                        <p:tgtEl>
                                          <p:spTgt spid="145410">
                                            <p:txEl>
                                              <p:pRg st="3" end="3"/>
                                            </p:txEl>
                                          </p:spTgt>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145410">
                                            <p:txEl>
                                              <p:pRg st="4" end="4"/>
                                            </p:txEl>
                                          </p:spTgt>
                                        </p:tgtEl>
                                        <p:attrNameLst>
                                          <p:attrName>style.visibility</p:attrName>
                                        </p:attrNameLst>
                                      </p:cBhvr>
                                      <p:to>
                                        <p:strVal val="visible"/>
                                      </p:to>
                                    </p:set>
                                    <p:animEffect transition="in" filter="wipe(up)">
                                      <p:cBhvr>
                                        <p:cTn id="20" dur="500"/>
                                        <p:tgtEl>
                                          <p:spTgt spid="145410">
                                            <p:txEl>
                                              <p:pRg st="4" end="4"/>
                                            </p:txEl>
                                          </p:spTgt>
                                        </p:tgtEl>
                                      </p:cBhvr>
                                    </p:animEffect>
                                  </p:childTnLst>
                                </p:cTn>
                              </p:par>
                            </p:childTnLst>
                          </p:cTn>
                        </p:par>
                        <p:par>
                          <p:cTn id="21" fill="hold" nodeType="afterGroup">
                            <p:stCondLst>
                              <p:cond delay="1500"/>
                            </p:stCondLst>
                            <p:childTnLst>
                              <p:par>
                                <p:cTn id="22" presetID="22" presetClass="entr" presetSubtype="1" fill="hold" nodeType="afterEffect">
                                  <p:stCondLst>
                                    <p:cond delay="0"/>
                                  </p:stCondLst>
                                  <p:childTnLst>
                                    <p:set>
                                      <p:cBhvr>
                                        <p:cTn id="23" dur="1" fill="hold">
                                          <p:stCondLst>
                                            <p:cond delay="0"/>
                                          </p:stCondLst>
                                        </p:cTn>
                                        <p:tgtEl>
                                          <p:spTgt spid="145410">
                                            <p:txEl>
                                              <p:pRg st="5" end="5"/>
                                            </p:txEl>
                                          </p:spTgt>
                                        </p:tgtEl>
                                        <p:attrNameLst>
                                          <p:attrName>style.visibility</p:attrName>
                                        </p:attrNameLst>
                                      </p:cBhvr>
                                      <p:to>
                                        <p:strVal val="visible"/>
                                      </p:to>
                                    </p:set>
                                    <p:animEffect transition="in" filter="wipe(up)">
                                      <p:cBhvr>
                                        <p:cTn id="24" dur="500"/>
                                        <p:tgtEl>
                                          <p:spTgt spid="145410">
                                            <p:txEl>
                                              <p:pRg st="5" end="5"/>
                                            </p:txEl>
                                          </p:spTgt>
                                        </p:tgtEl>
                                      </p:cBhvr>
                                    </p:animEffect>
                                  </p:childTnLst>
                                </p:cTn>
                              </p:par>
                            </p:childTnLst>
                          </p:cTn>
                        </p:par>
                        <p:par>
                          <p:cTn id="25" fill="hold" nodeType="afterGroup">
                            <p:stCondLst>
                              <p:cond delay="2000"/>
                            </p:stCondLst>
                            <p:childTnLst>
                              <p:par>
                                <p:cTn id="26" presetID="22" presetClass="entr" presetSubtype="1" fill="hold" nodeType="afterEffect">
                                  <p:stCondLst>
                                    <p:cond delay="0"/>
                                  </p:stCondLst>
                                  <p:childTnLst>
                                    <p:set>
                                      <p:cBhvr>
                                        <p:cTn id="27" dur="1" fill="hold">
                                          <p:stCondLst>
                                            <p:cond delay="0"/>
                                          </p:stCondLst>
                                        </p:cTn>
                                        <p:tgtEl>
                                          <p:spTgt spid="145410">
                                            <p:txEl>
                                              <p:pRg st="6" end="6"/>
                                            </p:txEl>
                                          </p:spTgt>
                                        </p:tgtEl>
                                        <p:attrNameLst>
                                          <p:attrName>style.visibility</p:attrName>
                                        </p:attrNameLst>
                                      </p:cBhvr>
                                      <p:to>
                                        <p:strVal val="visible"/>
                                      </p:to>
                                    </p:set>
                                    <p:animEffect transition="in" filter="wipe(up)">
                                      <p:cBhvr>
                                        <p:cTn id="28" dur="500"/>
                                        <p:tgtEl>
                                          <p:spTgt spid="1454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ext Box 2">
            <a:extLst>
              <a:ext uri="{FF2B5EF4-FFF2-40B4-BE49-F238E27FC236}">
                <a16:creationId xmlns:a16="http://schemas.microsoft.com/office/drawing/2014/main" id="{A5B0EC83-E448-4AEB-B06D-54EB10AC70A5}"/>
              </a:ext>
            </a:extLst>
          </p:cNvPr>
          <p:cNvSpPr txBox="1">
            <a:spLocks noChangeArrowheads="1"/>
          </p:cNvSpPr>
          <p:nvPr/>
        </p:nvSpPr>
        <p:spPr bwMode="auto">
          <a:xfrm>
            <a:off x="381000" y="1157288"/>
            <a:ext cx="8458200" cy="5395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spcBef>
                <a:spcPct val="0"/>
              </a:spcBef>
              <a:buSzTx/>
              <a:buFontTx/>
              <a:buNone/>
            </a:pPr>
            <a:r>
              <a:rPr lang="zh-CN" altLang="en-US" sz="2800" b="1">
                <a:solidFill>
                  <a:srgbClr val="A50021"/>
                </a:solidFill>
                <a:latin typeface="黑体" panose="02010609060101010101" pitchFamily="49" charset="-122"/>
                <a:ea typeface="黑体" panose="02010609060101010101" pitchFamily="49" charset="-122"/>
              </a:rPr>
              <a:t>例</a:t>
            </a:r>
            <a:r>
              <a:rPr lang="en-US" altLang="zh-CN" sz="2800" b="1">
                <a:solidFill>
                  <a:srgbClr val="A50021"/>
                </a:solidFill>
                <a:latin typeface="黑体" panose="02010609060101010101" pitchFamily="49" charset="-122"/>
                <a:ea typeface="黑体" panose="02010609060101010101" pitchFamily="49" charset="-122"/>
              </a:rPr>
              <a:t>5.49 </a:t>
            </a: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为了加强对高水平尖子人才的重点培养，学校拟将计算机科学与技术专业</a:t>
            </a:r>
            <a:r>
              <a:rPr lang="en-US" altLang="zh-CN"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专业代码为：</a:t>
            </a:r>
            <a:r>
              <a:rPr lang="en-US" altLang="zh-CN"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S0401)</a:t>
            </a: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中，各门课程均在</a:t>
            </a:r>
            <a:r>
              <a:rPr lang="en-US" altLang="zh-CN"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85</a:t>
            </a: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分以上的学生单独编为</a:t>
            </a:r>
            <a:r>
              <a:rPr lang="en-US" altLang="zh-CN"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200400</a:t>
            </a: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班，所以需要修改学生基本情况数据库中的</a:t>
            </a:r>
            <a:r>
              <a:rPr lang="zh-CN" altLang="en-US" sz="2600" b="1">
                <a:solidFill>
                  <a:srgbClr val="003366"/>
                </a:solidFill>
                <a:effectLst>
                  <a:outerShdw blurRad="38100" dist="38100" dir="2700000" algn="tl">
                    <a:srgbClr val="C0C0C0"/>
                  </a:outerShdw>
                </a:effectLst>
                <a:latin typeface="宋体" panose="02010600030101010101" pitchFamily="2" charset="-122"/>
                <a:ea typeface="黑体" panose="02010609060101010101" pitchFamily="49" charset="-122"/>
              </a:rPr>
              <a:t>“</a:t>
            </a: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班级</a:t>
            </a:r>
            <a:r>
              <a:rPr lang="zh-CN" altLang="en-US" sz="2600" b="1">
                <a:solidFill>
                  <a:srgbClr val="003366"/>
                </a:solidFill>
                <a:effectLst>
                  <a:outerShdw blurRad="38100" dist="38100" dir="2700000" algn="tl">
                    <a:srgbClr val="C0C0C0"/>
                  </a:outerShdw>
                </a:effectLst>
                <a:latin typeface="宋体" panose="02010600030101010101" pitchFamily="2" charset="-122"/>
                <a:ea typeface="黑体" panose="02010609060101010101" pitchFamily="49" charset="-122"/>
              </a:rPr>
              <a:t>”</a:t>
            </a: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属性。</a:t>
            </a:r>
          </a:p>
          <a:p>
            <a:pPr algn="just">
              <a:lnSpc>
                <a:spcPct val="115000"/>
              </a:lnSpc>
              <a:spcBef>
                <a:spcPct val="0"/>
              </a:spcBef>
              <a:buSzTx/>
              <a:buFontTx/>
              <a:buNone/>
            </a:pP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600" b="1">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其实现语句为：</a:t>
            </a:r>
          </a:p>
          <a:p>
            <a:pPr algn="just">
              <a:lnSpc>
                <a:spcPct val="115000"/>
              </a:lnSpc>
              <a:spcBef>
                <a:spcPct val="0"/>
              </a:spcBef>
              <a:buSzTx/>
              <a:buFontTx/>
              <a:buNone/>
            </a:pPr>
            <a:r>
              <a:rPr lang="zh-CN" altLang="en-US" sz="2600" b="1">
                <a:latin typeface="黑体" panose="02010609060101010101" pitchFamily="49" charset="-122"/>
                <a:ea typeface="黑体" panose="02010609060101010101" pitchFamily="49" charset="-122"/>
              </a:rPr>
              <a:t>    </a:t>
            </a:r>
            <a:r>
              <a:rPr lang="en-US" altLang="zh-CN" sz="2600" b="1">
                <a:solidFill>
                  <a:srgbClr val="000000"/>
                </a:solidFill>
                <a:latin typeface="黑体" panose="02010609060101010101" pitchFamily="49" charset="-122"/>
                <a:ea typeface="黑体" panose="02010609060101010101" pitchFamily="49" charset="-122"/>
              </a:rPr>
              <a:t>UPDATE S</a:t>
            </a:r>
          </a:p>
          <a:p>
            <a:pPr algn="just">
              <a:lnSpc>
                <a:spcPct val="115000"/>
              </a:lnSpc>
              <a:spcBef>
                <a:spcPct val="0"/>
              </a:spcBef>
              <a:buSzTx/>
              <a:buFontTx/>
              <a:buNone/>
            </a:pPr>
            <a:r>
              <a:rPr lang="en-US" altLang="zh-CN" sz="2600" b="1">
                <a:solidFill>
                  <a:srgbClr val="000000"/>
                </a:solidFill>
                <a:latin typeface="黑体" panose="02010609060101010101" pitchFamily="49" charset="-122"/>
                <a:ea typeface="黑体" panose="02010609060101010101" pitchFamily="49" charset="-122"/>
              </a:rPr>
              <a:t>    SET CLASS = </a:t>
            </a:r>
            <a:r>
              <a:rPr lang="zh-CN" altLang="en-US" sz="2600" b="1">
                <a:solidFill>
                  <a:srgbClr val="000000"/>
                </a:solidFill>
                <a:latin typeface="黑体" panose="02010609060101010101" pitchFamily="49" charset="-122"/>
                <a:ea typeface="黑体" panose="02010609060101010101" pitchFamily="49" charset="-122"/>
              </a:rPr>
              <a:t>＇</a:t>
            </a:r>
            <a:r>
              <a:rPr lang="en-US" altLang="zh-CN" sz="2600" b="1">
                <a:solidFill>
                  <a:srgbClr val="000000"/>
                </a:solidFill>
                <a:latin typeface="黑体" panose="02010609060101010101" pitchFamily="49" charset="-122"/>
                <a:ea typeface="黑体" panose="02010609060101010101" pitchFamily="49" charset="-122"/>
              </a:rPr>
              <a:t>200400</a:t>
            </a:r>
            <a:r>
              <a:rPr lang="zh-CN" altLang="en-US" sz="2600" b="1">
                <a:solidFill>
                  <a:srgbClr val="000000"/>
                </a:solidFill>
                <a:latin typeface="黑体" panose="02010609060101010101" pitchFamily="49" charset="-122"/>
                <a:ea typeface="黑体" panose="02010609060101010101" pitchFamily="49" charset="-122"/>
              </a:rPr>
              <a:t>＇</a:t>
            </a:r>
          </a:p>
          <a:p>
            <a:pPr algn="just">
              <a:lnSpc>
                <a:spcPct val="115000"/>
              </a:lnSpc>
              <a:spcBef>
                <a:spcPct val="0"/>
              </a:spcBef>
              <a:buSzTx/>
              <a:buFontTx/>
              <a:buNone/>
            </a:pPr>
            <a:r>
              <a:rPr lang="zh-CN" altLang="en-US" sz="2600" b="1">
                <a:solidFill>
                  <a:srgbClr val="000000"/>
                </a:solidFill>
                <a:latin typeface="黑体" panose="02010609060101010101" pitchFamily="49" charset="-122"/>
                <a:ea typeface="黑体" panose="02010609060101010101" pitchFamily="49" charset="-122"/>
              </a:rPr>
              <a:t>    </a:t>
            </a:r>
            <a:r>
              <a:rPr lang="en-US" altLang="zh-CN" sz="2600" b="1">
                <a:solidFill>
                  <a:srgbClr val="000000"/>
                </a:solidFill>
                <a:latin typeface="黑体" panose="02010609060101010101" pitchFamily="49" charset="-122"/>
                <a:ea typeface="黑体" panose="02010609060101010101" pitchFamily="49" charset="-122"/>
              </a:rPr>
              <a:t>WHERE SCODE = </a:t>
            </a:r>
            <a:r>
              <a:rPr lang="zh-CN" altLang="en-US" sz="2600" b="1">
                <a:solidFill>
                  <a:srgbClr val="000000"/>
                </a:solidFill>
                <a:latin typeface="黑体" panose="02010609060101010101" pitchFamily="49" charset="-122"/>
                <a:ea typeface="黑体" panose="02010609060101010101" pitchFamily="49" charset="-122"/>
              </a:rPr>
              <a:t>＇</a:t>
            </a:r>
            <a:r>
              <a:rPr lang="en-US" altLang="zh-CN" sz="2600" b="1">
                <a:solidFill>
                  <a:srgbClr val="000000"/>
                </a:solidFill>
                <a:latin typeface="黑体" panose="02010609060101010101" pitchFamily="49" charset="-122"/>
                <a:ea typeface="黑体" panose="02010609060101010101" pitchFamily="49" charset="-122"/>
              </a:rPr>
              <a:t>S0401</a:t>
            </a:r>
            <a:r>
              <a:rPr lang="zh-CN" altLang="en-US" sz="2600" b="1">
                <a:solidFill>
                  <a:srgbClr val="000000"/>
                </a:solidFill>
                <a:latin typeface="黑体" panose="02010609060101010101" pitchFamily="49" charset="-122"/>
                <a:ea typeface="黑体" panose="02010609060101010101" pitchFamily="49" charset="-122"/>
              </a:rPr>
              <a:t>＇ </a:t>
            </a:r>
            <a:r>
              <a:rPr lang="en-US" altLang="zh-CN" sz="2600" b="1">
                <a:solidFill>
                  <a:srgbClr val="000000"/>
                </a:solidFill>
                <a:latin typeface="黑体" panose="02010609060101010101" pitchFamily="49" charset="-122"/>
                <a:ea typeface="黑体" panose="02010609060101010101" pitchFamily="49" charset="-122"/>
              </a:rPr>
              <a:t>AND S# IN</a:t>
            </a:r>
          </a:p>
          <a:p>
            <a:pPr algn="just">
              <a:lnSpc>
                <a:spcPct val="115000"/>
              </a:lnSpc>
              <a:spcBef>
                <a:spcPct val="0"/>
              </a:spcBef>
              <a:buSzTx/>
              <a:buFontTx/>
              <a:buNone/>
            </a:pPr>
            <a:r>
              <a:rPr lang="en-US" altLang="zh-CN" sz="2600" b="1">
                <a:solidFill>
                  <a:srgbClr val="000000"/>
                </a:solidFill>
                <a:latin typeface="黑体" panose="02010609060101010101" pitchFamily="49" charset="-122"/>
                <a:ea typeface="黑体" panose="02010609060101010101" pitchFamily="49" charset="-122"/>
              </a:rPr>
              <a:t>                             (SELECT S#</a:t>
            </a:r>
          </a:p>
          <a:p>
            <a:pPr algn="just">
              <a:lnSpc>
                <a:spcPct val="115000"/>
              </a:lnSpc>
              <a:spcBef>
                <a:spcPct val="0"/>
              </a:spcBef>
              <a:buSzTx/>
              <a:buFontTx/>
              <a:buNone/>
            </a:pPr>
            <a:r>
              <a:rPr lang="en-US" altLang="zh-CN" sz="2600" b="1">
                <a:solidFill>
                  <a:srgbClr val="000000"/>
                </a:solidFill>
                <a:latin typeface="黑体" panose="02010609060101010101" pitchFamily="49" charset="-122"/>
                <a:ea typeface="黑体" panose="02010609060101010101" pitchFamily="49" charset="-122"/>
              </a:rPr>
              <a:t>                              FROM  SC</a:t>
            </a:r>
          </a:p>
          <a:p>
            <a:pPr algn="just">
              <a:lnSpc>
                <a:spcPct val="115000"/>
              </a:lnSpc>
              <a:spcBef>
                <a:spcPct val="0"/>
              </a:spcBef>
              <a:buSzTx/>
              <a:buFontTx/>
              <a:buNone/>
            </a:pPr>
            <a:r>
              <a:rPr lang="en-US" altLang="zh-CN" sz="2600" b="1">
                <a:solidFill>
                  <a:srgbClr val="000000"/>
                </a:solidFill>
                <a:latin typeface="黑体" panose="02010609060101010101" pitchFamily="49" charset="-122"/>
                <a:ea typeface="黑体" panose="02010609060101010101" pitchFamily="49" charset="-122"/>
              </a:rPr>
              <a:t>                              WHERE GRADE &gt; 85)</a:t>
            </a:r>
            <a:r>
              <a:rPr lang="zh-CN" altLang="en-US" sz="2600" b="1">
                <a:solidFill>
                  <a:srgbClr val="000000"/>
                </a:solidFill>
                <a:latin typeface="黑体" panose="02010609060101010101" pitchFamily="49" charset="-122"/>
                <a:ea typeface="黑体" panose="02010609060101010101" pitchFamily="49" charset="-122"/>
              </a:rPr>
              <a:t>；</a:t>
            </a:r>
            <a:r>
              <a:rPr lang="zh-CN" altLang="en-US" sz="2600" b="1">
                <a:latin typeface="黑体" panose="02010609060101010101" pitchFamily="49" charset="-122"/>
                <a:ea typeface="黑体" panose="02010609060101010101" pitchFamily="49" charset="-122"/>
              </a:rPr>
              <a:t> </a:t>
            </a:r>
          </a:p>
        </p:txBody>
      </p:sp>
      <p:sp>
        <p:nvSpPr>
          <p:cNvPr id="416770" name="Rectangle 2">
            <a:extLst>
              <a:ext uri="{FF2B5EF4-FFF2-40B4-BE49-F238E27FC236}">
                <a16:creationId xmlns:a16="http://schemas.microsoft.com/office/drawing/2014/main" id="{024CBAF1-9816-4486-A2DB-4A673F483A43}"/>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二、带有子查询的数据更新</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4869"/>
    </mc:Choice>
    <mc:Fallback xmlns="">
      <p:transition spd="slow" advTm="64869"/>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46434">
                                            <p:txEl>
                                              <p:pRg st="1" end="1"/>
                                            </p:txEl>
                                          </p:spTgt>
                                        </p:tgtEl>
                                        <p:attrNameLst>
                                          <p:attrName>style.visibility</p:attrName>
                                        </p:attrNameLst>
                                      </p:cBhvr>
                                      <p:to>
                                        <p:strVal val="visible"/>
                                      </p:to>
                                    </p:set>
                                    <p:animEffect transition="in" filter="wipe(up)">
                                      <p:cBhvr>
                                        <p:cTn id="7" dur="500"/>
                                        <p:tgtEl>
                                          <p:spTgt spid="146434">
                                            <p:txEl>
                                              <p:pRg st="1" end="1"/>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46434">
                                            <p:txEl>
                                              <p:pRg st="2" end="2"/>
                                            </p:txEl>
                                          </p:spTgt>
                                        </p:tgtEl>
                                        <p:attrNameLst>
                                          <p:attrName>style.visibility</p:attrName>
                                        </p:attrNameLst>
                                      </p:cBhvr>
                                      <p:to>
                                        <p:strVal val="visible"/>
                                      </p:to>
                                    </p:set>
                                    <p:animEffect transition="in" filter="wipe(up)">
                                      <p:cBhvr>
                                        <p:cTn id="11" dur="500"/>
                                        <p:tgtEl>
                                          <p:spTgt spid="146434">
                                            <p:txEl>
                                              <p:pRg st="2" end="2"/>
                                            </p:txEl>
                                          </p:spTgt>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146434">
                                            <p:txEl>
                                              <p:pRg st="3" end="3"/>
                                            </p:txEl>
                                          </p:spTgt>
                                        </p:tgtEl>
                                        <p:attrNameLst>
                                          <p:attrName>style.visibility</p:attrName>
                                        </p:attrNameLst>
                                      </p:cBhvr>
                                      <p:to>
                                        <p:strVal val="visible"/>
                                      </p:to>
                                    </p:set>
                                    <p:animEffect transition="in" filter="wipe(up)">
                                      <p:cBhvr>
                                        <p:cTn id="15" dur="500"/>
                                        <p:tgtEl>
                                          <p:spTgt spid="146434">
                                            <p:txEl>
                                              <p:pRg st="3" end="3"/>
                                            </p:txEl>
                                          </p:spTgt>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146434">
                                            <p:txEl>
                                              <p:pRg st="4" end="4"/>
                                            </p:txEl>
                                          </p:spTgt>
                                        </p:tgtEl>
                                        <p:attrNameLst>
                                          <p:attrName>style.visibility</p:attrName>
                                        </p:attrNameLst>
                                      </p:cBhvr>
                                      <p:to>
                                        <p:strVal val="visible"/>
                                      </p:to>
                                    </p:set>
                                    <p:animEffect transition="in" filter="wipe(up)">
                                      <p:cBhvr>
                                        <p:cTn id="19" dur="500"/>
                                        <p:tgtEl>
                                          <p:spTgt spid="146434">
                                            <p:txEl>
                                              <p:pRg st="4" end="4"/>
                                            </p:txEl>
                                          </p:spTgt>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146434">
                                            <p:txEl>
                                              <p:pRg st="5" end="5"/>
                                            </p:txEl>
                                          </p:spTgt>
                                        </p:tgtEl>
                                        <p:attrNameLst>
                                          <p:attrName>style.visibility</p:attrName>
                                        </p:attrNameLst>
                                      </p:cBhvr>
                                      <p:to>
                                        <p:strVal val="visible"/>
                                      </p:to>
                                    </p:set>
                                    <p:animEffect transition="in" filter="wipe(up)">
                                      <p:cBhvr>
                                        <p:cTn id="23" dur="500"/>
                                        <p:tgtEl>
                                          <p:spTgt spid="146434">
                                            <p:txEl>
                                              <p:pRg st="5" end="5"/>
                                            </p:txEl>
                                          </p:spTgt>
                                        </p:tgtEl>
                                      </p:cBhvr>
                                    </p:animEffect>
                                  </p:childTnLst>
                                </p:cTn>
                              </p:par>
                            </p:childTnLst>
                          </p:cTn>
                        </p:par>
                        <p:par>
                          <p:cTn id="24" fill="hold" nodeType="afterGroup">
                            <p:stCondLst>
                              <p:cond delay="2500"/>
                            </p:stCondLst>
                            <p:childTnLst>
                              <p:par>
                                <p:cTn id="25" presetID="22" presetClass="entr" presetSubtype="1" fill="hold" nodeType="afterEffect">
                                  <p:stCondLst>
                                    <p:cond delay="0"/>
                                  </p:stCondLst>
                                  <p:childTnLst>
                                    <p:set>
                                      <p:cBhvr>
                                        <p:cTn id="26" dur="1" fill="hold">
                                          <p:stCondLst>
                                            <p:cond delay="0"/>
                                          </p:stCondLst>
                                        </p:cTn>
                                        <p:tgtEl>
                                          <p:spTgt spid="146434">
                                            <p:txEl>
                                              <p:pRg st="6" end="6"/>
                                            </p:txEl>
                                          </p:spTgt>
                                        </p:tgtEl>
                                        <p:attrNameLst>
                                          <p:attrName>style.visibility</p:attrName>
                                        </p:attrNameLst>
                                      </p:cBhvr>
                                      <p:to>
                                        <p:strVal val="visible"/>
                                      </p:to>
                                    </p:set>
                                    <p:animEffect transition="in" filter="wipe(up)">
                                      <p:cBhvr>
                                        <p:cTn id="27" dur="500"/>
                                        <p:tgtEl>
                                          <p:spTgt spid="146434">
                                            <p:txEl>
                                              <p:pRg st="6" end="6"/>
                                            </p:txEl>
                                          </p:spTgt>
                                        </p:tgtEl>
                                      </p:cBhvr>
                                    </p:animEffect>
                                  </p:childTnLst>
                                </p:cTn>
                              </p:par>
                            </p:childTnLst>
                          </p:cTn>
                        </p:par>
                        <p:par>
                          <p:cTn id="28" fill="hold" nodeType="afterGroup">
                            <p:stCondLst>
                              <p:cond delay="3000"/>
                            </p:stCondLst>
                            <p:childTnLst>
                              <p:par>
                                <p:cTn id="29" presetID="22" presetClass="entr" presetSubtype="1" fill="hold" nodeType="afterEffect">
                                  <p:stCondLst>
                                    <p:cond delay="0"/>
                                  </p:stCondLst>
                                  <p:childTnLst>
                                    <p:set>
                                      <p:cBhvr>
                                        <p:cTn id="30" dur="1" fill="hold">
                                          <p:stCondLst>
                                            <p:cond delay="0"/>
                                          </p:stCondLst>
                                        </p:cTn>
                                        <p:tgtEl>
                                          <p:spTgt spid="146434">
                                            <p:txEl>
                                              <p:pRg st="7" end="7"/>
                                            </p:txEl>
                                          </p:spTgt>
                                        </p:tgtEl>
                                        <p:attrNameLst>
                                          <p:attrName>style.visibility</p:attrName>
                                        </p:attrNameLst>
                                      </p:cBhvr>
                                      <p:to>
                                        <p:strVal val="visible"/>
                                      </p:to>
                                    </p:set>
                                    <p:animEffect transition="in" filter="wipe(up)">
                                      <p:cBhvr>
                                        <p:cTn id="31" dur="500"/>
                                        <p:tgtEl>
                                          <p:spTgt spid="14643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Text Box 2">
            <a:extLst>
              <a:ext uri="{FF2B5EF4-FFF2-40B4-BE49-F238E27FC236}">
                <a16:creationId xmlns:a16="http://schemas.microsoft.com/office/drawing/2014/main" id="{7AB6DA37-CFC9-4B0D-9843-2BC41899C161}"/>
              </a:ext>
            </a:extLst>
          </p:cNvPr>
          <p:cNvSpPr txBox="1">
            <a:spLocks noChangeArrowheads="1"/>
          </p:cNvSpPr>
          <p:nvPr/>
        </p:nvSpPr>
        <p:spPr bwMode="auto">
          <a:xfrm>
            <a:off x="381000" y="1143000"/>
            <a:ext cx="8458200" cy="543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45000"/>
              </a:lnSpc>
              <a:spcBef>
                <a:spcPct val="0"/>
              </a:spcBef>
              <a:buSzTx/>
              <a:buFontTx/>
              <a:buNone/>
            </a:pPr>
            <a:r>
              <a:rPr lang="zh-CN" altLang="en-US" sz="2800" b="1">
                <a:solidFill>
                  <a:srgbClr val="A50021"/>
                </a:solidFill>
                <a:latin typeface="黑体" panose="02010609060101010101" pitchFamily="49" charset="-122"/>
                <a:ea typeface="黑体" panose="02010609060101010101" pitchFamily="49" charset="-122"/>
              </a:rPr>
              <a:t>例</a:t>
            </a:r>
            <a:r>
              <a:rPr lang="en-US" altLang="zh-CN" sz="2800" b="1">
                <a:solidFill>
                  <a:srgbClr val="A50021"/>
                </a:solidFill>
                <a:latin typeface="黑体" panose="02010609060101010101" pitchFamily="49" charset="-122"/>
                <a:ea typeface="黑体" panose="02010609060101010101" pitchFamily="49" charset="-122"/>
              </a:rPr>
              <a:t>5.50 </a:t>
            </a:r>
            <a:r>
              <a:rPr lang="zh-CN" altLang="en-US" sz="28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由于试题难度原因，需要将</a:t>
            </a:r>
            <a:r>
              <a:rPr lang="zh-CN" altLang="en-US" sz="2800" b="1">
                <a:solidFill>
                  <a:srgbClr val="003366"/>
                </a:solidFill>
                <a:effectLst>
                  <a:outerShdw blurRad="38100" dist="38100" dir="2700000" algn="tl">
                    <a:srgbClr val="C0C0C0"/>
                  </a:outerShdw>
                </a:effectLst>
                <a:latin typeface="宋体" panose="02010600030101010101" pitchFamily="2" charset="-122"/>
                <a:ea typeface="黑体" panose="02010609060101010101" pitchFamily="49" charset="-122"/>
              </a:rPr>
              <a:t>“</a:t>
            </a:r>
            <a:r>
              <a:rPr lang="zh-CN" altLang="en-US" sz="28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计算机网络</a:t>
            </a:r>
            <a:r>
              <a:rPr lang="zh-CN" altLang="en-US" sz="2800" b="1">
                <a:solidFill>
                  <a:srgbClr val="003366"/>
                </a:solidFill>
                <a:effectLst>
                  <a:outerShdw blurRad="38100" dist="38100" dir="2700000" algn="tl">
                    <a:srgbClr val="C0C0C0"/>
                  </a:outerShdw>
                </a:effectLst>
                <a:latin typeface="宋体" panose="02010600030101010101" pitchFamily="2" charset="-122"/>
                <a:ea typeface="黑体" panose="02010609060101010101" pitchFamily="49" charset="-122"/>
              </a:rPr>
              <a:t>”</a:t>
            </a:r>
            <a:r>
              <a:rPr lang="zh-CN" altLang="en-US" sz="28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课的成绩提高</a:t>
            </a:r>
            <a:r>
              <a:rPr lang="en-US" altLang="zh-CN" sz="28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5%</a:t>
            </a:r>
            <a:r>
              <a:rPr lang="zh-CN" altLang="en-US" sz="28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a:t>
            </a:r>
          </a:p>
          <a:p>
            <a:pPr algn="just">
              <a:lnSpc>
                <a:spcPct val="120000"/>
              </a:lnSpc>
              <a:spcBef>
                <a:spcPct val="0"/>
              </a:spcBef>
              <a:buSzTx/>
              <a:buFontTx/>
              <a:buNone/>
            </a:pPr>
            <a:r>
              <a:rPr lang="zh-CN" altLang="en-US" sz="28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800" b="1">
                <a:solidFill>
                  <a:srgbClr val="660066"/>
                </a:solidFill>
                <a:effectLst>
                  <a:outerShdw blurRad="38100" dist="38100" dir="2700000" algn="tl">
                    <a:srgbClr val="C0C0C0"/>
                  </a:outerShdw>
                </a:effectLst>
                <a:latin typeface="黑体" panose="02010609060101010101" pitchFamily="49" charset="-122"/>
                <a:ea typeface="黑体" panose="02010609060101010101" pitchFamily="49" charset="-122"/>
              </a:rPr>
              <a:t>实现语句为：</a:t>
            </a:r>
          </a:p>
          <a:p>
            <a:pPr algn="just">
              <a:lnSpc>
                <a:spcPct val="120000"/>
              </a:lnSpc>
              <a:spcBef>
                <a:spcPct val="0"/>
              </a:spcBef>
              <a:buSzTx/>
              <a:buFontTx/>
              <a:buNone/>
            </a:pPr>
            <a:r>
              <a:rPr lang="zh-CN" altLang="en-US" sz="2800" b="1">
                <a:latin typeface="黑体" panose="02010609060101010101" pitchFamily="49" charset="-122"/>
                <a:ea typeface="黑体" panose="02010609060101010101" pitchFamily="49" charset="-122"/>
              </a:rPr>
              <a:t>    </a:t>
            </a:r>
            <a:r>
              <a:rPr lang="en-US" altLang="zh-CN" sz="2800" b="1">
                <a:solidFill>
                  <a:srgbClr val="000000"/>
                </a:solidFill>
                <a:latin typeface="黑体" panose="02010609060101010101" pitchFamily="49" charset="-122"/>
                <a:ea typeface="黑体" panose="02010609060101010101" pitchFamily="49" charset="-122"/>
              </a:rPr>
              <a:t>UPDATE SC</a:t>
            </a:r>
          </a:p>
          <a:p>
            <a:pPr algn="just">
              <a:lnSpc>
                <a:spcPct val="120000"/>
              </a:lnSpc>
              <a:spcBef>
                <a:spcPct val="0"/>
              </a:spcBef>
              <a:buSzTx/>
              <a:buFontTx/>
              <a:buNone/>
            </a:pPr>
            <a:r>
              <a:rPr lang="en-US" altLang="zh-CN" sz="2800" b="1">
                <a:solidFill>
                  <a:srgbClr val="000000"/>
                </a:solidFill>
                <a:latin typeface="黑体" panose="02010609060101010101" pitchFamily="49" charset="-122"/>
                <a:ea typeface="黑体" panose="02010609060101010101" pitchFamily="49" charset="-122"/>
              </a:rPr>
              <a:t>    SET  GRADE = GRADE * 1.05</a:t>
            </a:r>
          </a:p>
          <a:p>
            <a:pPr algn="just">
              <a:lnSpc>
                <a:spcPct val="120000"/>
              </a:lnSpc>
              <a:spcBef>
                <a:spcPct val="0"/>
              </a:spcBef>
              <a:buSzTx/>
              <a:buFontTx/>
              <a:buNone/>
            </a:pPr>
            <a:r>
              <a:rPr lang="en-US" altLang="zh-CN" sz="2800" b="1">
                <a:solidFill>
                  <a:srgbClr val="000000"/>
                </a:solidFill>
                <a:latin typeface="黑体" panose="02010609060101010101" pitchFamily="49" charset="-122"/>
                <a:ea typeface="黑体" panose="02010609060101010101" pitchFamily="49" charset="-122"/>
              </a:rPr>
              <a:t>    WHERE C# IN </a:t>
            </a:r>
          </a:p>
          <a:p>
            <a:pPr algn="just">
              <a:lnSpc>
                <a:spcPct val="120000"/>
              </a:lnSpc>
              <a:spcBef>
                <a:spcPct val="0"/>
              </a:spcBef>
              <a:buSzTx/>
              <a:buFontTx/>
              <a:buNone/>
            </a:pPr>
            <a:r>
              <a:rPr lang="en-US" altLang="zh-CN" sz="2800" b="1">
                <a:solidFill>
                  <a:srgbClr val="000000"/>
                </a:solidFill>
                <a:latin typeface="黑体" panose="02010609060101010101" pitchFamily="49" charset="-122"/>
                <a:ea typeface="黑体" panose="02010609060101010101" pitchFamily="49" charset="-122"/>
              </a:rPr>
              <a:t>             (SELECT C#</a:t>
            </a:r>
          </a:p>
          <a:p>
            <a:pPr algn="just">
              <a:lnSpc>
                <a:spcPct val="120000"/>
              </a:lnSpc>
              <a:spcBef>
                <a:spcPct val="0"/>
              </a:spcBef>
              <a:buSzTx/>
              <a:buFontTx/>
              <a:buNone/>
            </a:pPr>
            <a:r>
              <a:rPr lang="en-US" altLang="zh-CN" sz="2800" b="1">
                <a:solidFill>
                  <a:srgbClr val="000000"/>
                </a:solidFill>
                <a:latin typeface="黑体" panose="02010609060101010101" pitchFamily="49" charset="-122"/>
                <a:ea typeface="黑体" panose="02010609060101010101" pitchFamily="49" charset="-122"/>
              </a:rPr>
              <a:t>              FROM  C</a:t>
            </a:r>
          </a:p>
          <a:p>
            <a:pPr algn="just">
              <a:lnSpc>
                <a:spcPct val="120000"/>
              </a:lnSpc>
              <a:spcBef>
                <a:spcPct val="0"/>
              </a:spcBef>
              <a:buSzTx/>
              <a:buFontTx/>
              <a:buNone/>
            </a:pPr>
            <a:r>
              <a:rPr lang="en-US" altLang="zh-CN" sz="2800" b="1">
                <a:solidFill>
                  <a:srgbClr val="000000"/>
                </a:solidFill>
                <a:latin typeface="黑体" panose="02010609060101010101" pitchFamily="49" charset="-122"/>
                <a:ea typeface="黑体" panose="02010609060101010101" pitchFamily="49" charset="-122"/>
              </a:rPr>
              <a:t>              WHERE CNAME = </a:t>
            </a:r>
            <a:r>
              <a:rPr lang="en-US" altLang="zh-CN" sz="2800" b="1">
                <a:solidFill>
                  <a:srgbClr val="000000"/>
                </a:solidFill>
                <a:latin typeface="宋体" panose="02010600030101010101" pitchFamily="2" charset="-122"/>
                <a:ea typeface="黑体" panose="02010609060101010101" pitchFamily="49" charset="-122"/>
              </a:rPr>
              <a:t>‘</a:t>
            </a:r>
            <a:r>
              <a:rPr lang="zh-CN" altLang="en-US" sz="2800" b="1">
                <a:solidFill>
                  <a:srgbClr val="000000"/>
                </a:solidFill>
                <a:latin typeface="黑体" panose="02010609060101010101" pitchFamily="49" charset="-122"/>
                <a:ea typeface="黑体" panose="02010609060101010101" pitchFamily="49" charset="-122"/>
              </a:rPr>
              <a:t>计算机网络</a:t>
            </a:r>
            <a:r>
              <a:rPr lang="zh-CN" altLang="en-US" sz="2800" b="1">
                <a:solidFill>
                  <a:srgbClr val="000000"/>
                </a:solidFill>
                <a:latin typeface="宋体" panose="02010600030101010101" pitchFamily="2" charset="-122"/>
                <a:ea typeface="黑体" panose="02010609060101010101" pitchFamily="49" charset="-122"/>
              </a:rPr>
              <a:t>’</a:t>
            </a:r>
            <a:r>
              <a:rPr lang="zh-CN" altLang="en-US" sz="2800" b="1">
                <a:solidFill>
                  <a:srgbClr val="000000"/>
                </a:solidFill>
                <a:latin typeface="黑体" panose="02010609060101010101" pitchFamily="49" charset="-122"/>
                <a:ea typeface="黑体" panose="02010609060101010101" pitchFamily="49" charset="-122"/>
              </a:rPr>
              <a:t>）</a:t>
            </a:r>
            <a:r>
              <a:rPr lang="zh-CN" altLang="en-US" sz="2800" b="1">
                <a:solidFill>
                  <a:srgbClr val="000000"/>
                </a:solidFill>
                <a:latin typeface="黑体" panose="02010609060101010101" pitchFamily="49" charset="-122"/>
                <a:cs typeface="Times New Roman" panose="02020603050405020304" pitchFamily="18" charset="0"/>
              </a:rPr>
              <a:t>；</a:t>
            </a:r>
          </a:p>
          <a:p>
            <a:pPr algn="just">
              <a:lnSpc>
                <a:spcPct val="120000"/>
              </a:lnSpc>
              <a:spcBef>
                <a:spcPct val="0"/>
              </a:spcBef>
              <a:buSzTx/>
              <a:buFontTx/>
              <a:buNone/>
            </a:pPr>
            <a:r>
              <a:rPr lang="zh-CN" altLang="en-US" sz="2800" b="1">
                <a:latin typeface="黑体" panose="02010609060101010101" pitchFamily="49" charset="-122"/>
                <a:ea typeface="黑体" panose="02010609060101010101" pitchFamily="49" charset="-122"/>
              </a:rPr>
              <a:t>                                         </a:t>
            </a:r>
            <a:r>
              <a:rPr lang="en-US" altLang="zh-CN" sz="2800" b="1">
                <a:solidFill>
                  <a:srgbClr val="B2B2B2"/>
                </a:solidFill>
                <a:latin typeface="黑体" panose="02010609060101010101" pitchFamily="49" charset="-122"/>
                <a:ea typeface="黑体" panose="02010609060101010101" pitchFamily="49" charset="-122"/>
              </a:rPr>
              <a:t>##</a:t>
            </a:r>
          </a:p>
        </p:txBody>
      </p:sp>
      <p:sp>
        <p:nvSpPr>
          <p:cNvPr id="147459" name="Rectangle 3">
            <a:extLst>
              <a:ext uri="{FF2B5EF4-FFF2-40B4-BE49-F238E27FC236}">
                <a16:creationId xmlns:a16="http://schemas.microsoft.com/office/drawing/2014/main" id="{76EFC55A-62CE-4324-A486-55C60BA86CB2}"/>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二、带有子查询的数据更新</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3475"/>
    </mc:Choice>
    <mc:Fallback xmlns="">
      <p:transition spd="slow" advTm="23475"/>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47458">
                                            <p:txEl>
                                              <p:pRg st="1" end="1"/>
                                            </p:txEl>
                                          </p:spTgt>
                                        </p:tgtEl>
                                        <p:attrNameLst>
                                          <p:attrName>style.visibility</p:attrName>
                                        </p:attrNameLst>
                                      </p:cBhvr>
                                      <p:to>
                                        <p:strVal val="visible"/>
                                      </p:to>
                                    </p:set>
                                    <p:animEffect transition="in" filter="wipe(up)">
                                      <p:cBhvr>
                                        <p:cTn id="7" dur="500"/>
                                        <p:tgtEl>
                                          <p:spTgt spid="147458">
                                            <p:txEl>
                                              <p:pRg st="1" end="1"/>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47458">
                                            <p:txEl>
                                              <p:pRg st="2" end="2"/>
                                            </p:txEl>
                                          </p:spTgt>
                                        </p:tgtEl>
                                        <p:attrNameLst>
                                          <p:attrName>style.visibility</p:attrName>
                                        </p:attrNameLst>
                                      </p:cBhvr>
                                      <p:to>
                                        <p:strVal val="visible"/>
                                      </p:to>
                                    </p:set>
                                    <p:animEffect transition="in" filter="wipe(up)">
                                      <p:cBhvr>
                                        <p:cTn id="11" dur="500"/>
                                        <p:tgtEl>
                                          <p:spTgt spid="147458">
                                            <p:txEl>
                                              <p:pRg st="2" end="2"/>
                                            </p:txEl>
                                          </p:spTgt>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147458">
                                            <p:txEl>
                                              <p:pRg st="3" end="3"/>
                                            </p:txEl>
                                          </p:spTgt>
                                        </p:tgtEl>
                                        <p:attrNameLst>
                                          <p:attrName>style.visibility</p:attrName>
                                        </p:attrNameLst>
                                      </p:cBhvr>
                                      <p:to>
                                        <p:strVal val="visible"/>
                                      </p:to>
                                    </p:set>
                                    <p:animEffect transition="in" filter="wipe(up)">
                                      <p:cBhvr>
                                        <p:cTn id="15" dur="500"/>
                                        <p:tgtEl>
                                          <p:spTgt spid="147458">
                                            <p:txEl>
                                              <p:pRg st="3" end="3"/>
                                            </p:txEl>
                                          </p:spTgt>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147458">
                                            <p:txEl>
                                              <p:pRg st="4" end="4"/>
                                            </p:txEl>
                                          </p:spTgt>
                                        </p:tgtEl>
                                        <p:attrNameLst>
                                          <p:attrName>style.visibility</p:attrName>
                                        </p:attrNameLst>
                                      </p:cBhvr>
                                      <p:to>
                                        <p:strVal val="visible"/>
                                      </p:to>
                                    </p:set>
                                    <p:animEffect transition="in" filter="wipe(up)">
                                      <p:cBhvr>
                                        <p:cTn id="19" dur="500"/>
                                        <p:tgtEl>
                                          <p:spTgt spid="147458">
                                            <p:txEl>
                                              <p:pRg st="4" end="4"/>
                                            </p:txEl>
                                          </p:spTgt>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147458">
                                            <p:txEl>
                                              <p:pRg st="5" end="5"/>
                                            </p:txEl>
                                          </p:spTgt>
                                        </p:tgtEl>
                                        <p:attrNameLst>
                                          <p:attrName>style.visibility</p:attrName>
                                        </p:attrNameLst>
                                      </p:cBhvr>
                                      <p:to>
                                        <p:strVal val="visible"/>
                                      </p:to>
                                    </p:set>
                                    <p:animEffect transition="in" filter="wipe(up)">
                                      <p:cBhvr>
                                        <p:cTn id="23" dur="500"/>
                                        <p:tgtEl>
                                          <p:spTgt spid="147458">
                                            <p:txEl>
                                              <p:pRg st="5" end="5"/>
                                            </p:txEl>
                                          </p:spTgt>
                                        </p:tgtEl>
                                      </p:cBhvr>
                                    </p:animEffect>
                                  </p:childTnLst>
                                </p:cTn>
                              </p:par>
                            </p:childTnLst>
                          </p:cTn>
                        </p:par>
                        <p:par>
                          <p:cTn id="24" fill="hold" nodeType="afterGroup">
                            <p:stCondLst>
                              <p:cond delay="2500"/>
                            </p:stCondLst>
                            <p:childTnLst>
                              <p:par>
                                <p:cTn id="25" presetID="22" presetClass="entr" presetSubtype="1" fill="hold" nodeType="afterEffect">
                                  <p:stCondLst>
                                    <p:cond delay="0"/>
                                  </p:stCondLst>
                                  <p:childTnLst>
                                    <p:set>
                                      <p:cBhvr>
                                        <p:cTn id="26" dur="1" fill="hold">
                                          <p:stCondLst>
                                            <p:cond delay="0"/>
                                          </p:stCondLst>
                                        </p:cTn>
                                        <p:tgtEl>
                                          <p:spTgt spid="147458">
                                            <p:txEl>
                                              <p:pRg st="6" end="6"/>
                                            </p:txEl>
                                          </p:spTgt>
                                        </p:tgtEl>
                                        <p:attrNameLst>
                                          <p:attrName>style.visibility</p:attrName>
                                        </p:attrNameLst>
                                      </p:cBhvr>
                                      <p:to>
                                        <p:strVal val="visible"/>
                                      </p:to>
                                    </p:set>
                                    <p:animEffect transition="in" filter="wipe(up)">
                                      <p:cBhvr>
                                        <p:cTn id="27" dur="500"/>
                                        <p:tgtEl>
                                          <p:spTgt spid="147458">
                                            <p:txEl>
                                              <p:pRg st="6" end="6"/>
                                            </p:txEl>
                                          </p:spTgt>
                                        </p:tgtEl>
                                      </p:cBhvr>
                                    </p:animEffect>
                                  </p:childTnLst>
                                </p:cTn>
                              </p:par>
                            </p:childTnLst>
                          </p:cTn>
                        </p:par>
                        <p:par>
                          <p:cTn id="28" fill="hold" nodeType="afterGroup">
                            <p:stCondLst>
                              <p:cond delay="3000"/>
                            </p:stCondLst>
                            <p:childTnLst>
                              <p:par>
                                <p:cTn id="29" presetID="22" presetClass="entr" presetSubtype="1" fill="hold" nodeType="afterEffect">
                                  <p:stCondLst>
                                    <p:cond delay="0"/>
                                  </p:stCondLst>
                                  <p:childTnLst>
                                    <p:set>
                                      <p:cBhvr>
                                        <p:cTn id="30" dur="1" fill="hold">
                                          <p:stCondLst>
                                            <p:cond delay="0"/>
                                          </p:stCondLst>
                                        </p:cTn>
                                        <p:tgtEl>
                                          <p:spTgt spid="147458">
                                            <p:txEl>
                                              <p:pRg st="7" end="7"/>
                                            </p:txEl>
                                          </p:spTgt>
                                        </p:tgtEl>
                                        <p:attrNameLst>
                                          <p:attrName>style.visibility</p:attrName>
                                        </p:attrNameLst>
                                      </p:cBhvr>
                                      <p:to>
                                        <p:strVal val="visible"/>
                                      </p:to>
                                    </p:set>
                                    <p:animEffect transition="in" filter="wipe(up)">
                                      <p:cBhvr>
                                        <p:cTn id="31" dur="500"/>
                                        <p:tgtEl>
                                          <p:spTgt spid="147458">
                                            <p:txEl>
                                              <p:pRg st="7" end="7"/>
                                            </p:txEl>
                                          </p:spTgt>
                                        </p:tgtEl>
                                      </p:cBhvr>
                                    </p:animEffect>
                                  </p:childTnLst>
                                </p:cTn>
                              </p:par>
                            </p:childTnLst>
                          </p:cTn>
                        </p:par>
                        <p:par>
                          <p:cTn id="32" fill="hold" nodeType="afterGroup">
                            <p:stCondLst>
                              <p:cond delay="3500"/>
                            </p:stCondLst>
                            <p:childTnLst>
                              <p:par>
                                <p:cTn id="33" presetID="22" presetClass="entr" presetSubtype="1" fill="hold" nodeType="afterEffect">
                                  <p:stCondLst>
                                    <p:cond delay="0"/>
                                  </p:stCondLst>
                                  <p:childTnLst>
                                    <p:set>
                                      <p:cBhvr>
                                        <p:cTn id="34" dur="1" fill="hold">
                                          <p:stCondLst>
                                            <p:cond delay="0"/>
                                          </p:stCondLst>
                                        </p:cTn>
                                        <p:tgtEl>
                                          <p:spTgt spid="147458">
                                            <p:txEl>
                                              <p:pRg st="8" end="8"/>
                                            </p:txEl>
                                          </p:spTgt>
                                        </p:tgtEl>
                                        <p:attrNameLst>
                                          <p:attrName>style.visibility</p:attrName>
                                        </p:attrNameLst>
                                      </p:cBhvr>
                                      <p:to>
                                        <p:strVal val="visible"/>
                                      </p:to>
                                    </p:set>
                                    <p:animEffect transition="in" filter="wipe(up)">
                                      <p:cBhvr>
                                        <p:cTn id="35" dur="500"/>
                                        <p:tgtEl>
                                          <p:spTgt spid="14745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3|74.4|16.3"/>
</p:tagLst>
</file>

<file path=ppt/tags/tag2.xml><?xml version="1.0" encoding="utf-8"?>
<p:tagLst xmlns:a="http://schemas.openxmlformats.org/drawingml/2006/main" xmlns:r="http://schemas.openxmlformats.org/officeDocument/2006/relationships" xmlns:p="http://schemas.openxmlformats.org/presentationml/2006/main">
  <p:tag name="TIMING" val="|1.2"/>
</p:tagLst>
</file>

<file path=ppt/tags/tag3.xml><?xml version="1.0" encoding="utf-8"?>
<p:tagLst xmlns:a="http://schemas.openxmlformats.org/drawingml/2006/main" xmlns:r="http://schemas.openxmlformats.org/officeDocument/2006/relationships" xmlns:p="http://schemas.openxmlformats.org/presentationml/2006/main">
  <p:tag name="TIMING" val="|10.4|14.9|35.4"/>
</p:tagLst>
</file>

<file path=ppt/tags/tag4.xml><?xml version="1.0" encoding="utf-8"?>
<p:tagLst xmlns:a="http://schemas.openxmlformats.org/drawingml/2006/main" xmlns:r="http://schemas.openxmlformats.org/officeDocument/2006/relationships" xmlns:p="http://schemas.openxmlformats.org/presentationml/2006/main">
  <p:tag name="TIMING" val="|5.7"/>
</p:tagLst>
</file>

<file path=ppt/tags/tag5.xml><?xml version="1.0" encoding="utf-8"?>
<p:tagLst xmlns:a="http://schemas.openxmlformats.org/drawingml/2006/main" xmlns:r="http://schemas.openxmlformats.org/officeDocument/2006/relationships" xmlns:p="http://schemas.openxmlformats.org/presentationml/2006/main">
  <p:tag name="TIMING" val="|2|5.8|3.7"/>
</p:tagLst>
</file>

<file path=ppt/tags/tag6.xml><?xml version="1.0" encoding="utf-8"?>
<p:tagLst xmlns:a="http://schemas.openxmlformats.org/drawingml/2006/main" xmlns:r="http://schemas.openxmlformats.org/officeDocument/2006/relationships" xmlns:p="http://schemas.openxmlformats.org/presentationml/2006/main">
  <p:tag name="TIMING" val="|3.5"/>
</p:tagLst>
</file>

<file path=ppt/tags/tag7.xml><?xml version="1.0" encoding="utf-8"?>
<p:tagLst xmlns:a="http://schemas.openxmlformats.org/drawingml/2006/main" xmlns:r="http://schemas.openxmlformats.org/officeDocument/2006/relationships" xmlns:p="http://schemas.openxmlformats.org/presentationml/2006/main">
  <p:tag name="TIMING" val="|5.6|35.9"/>
</p:tagLst>
</file>

<file path=ppt/tags/tag8.xml><?xml version="1.0" encoding="utf-8"?>
<p:tagLst xmlns:a="http://schemas.openxmlformats.org/drawingml/2006/main" xmlns:r="http://schemas.openxmlformats.org/officeDocument/2006/relationships" xmlns:p="http://schemas.openxmlformats.org/presentationml/2006/main">
  <p:tag name="TIMING" val="|8.6|9.8"/>
</p:tagLst>
</file>

<file path=ppt/tags/tag9.xml><?xml version="1.0" encoding="utf-8"?>
<p:tagLst xmlns:a="http://schemas.openxmlformats.org/drawingml/2006/main" xmlns:r="http://schemas.openxmlformats.org/officeDocument/2006/relationships" xmlns:p="http://schemas.openxmlformats.org/presentationml/2006/main">
  <p:tag name="TIMING" val="|15.3"/>
</p:tagLst>
</file>

<file path=ppt/tags/tag10.xml><?xml version="1.0" encoding="utf-8"?>
<p:tagLst xmlns:a="http://schemas.openxmlformats.org/drawingml/2006/main" xmlns:r="http://schemas.openxmlformats.org/officeDocument/2006/relationships" xmlns:p="http://schemas.openxmlformats.org/presentationml/2006/main">
  <p:tag name="TIMING" val="|5.7"/>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Pct val="100000"/>
          <a:buFont typeface="Wingdings" panose="05000000000000000000" pitchFamily="2" charset="2"/>
          <a:buChar char="•"/>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Pct val="100000"/>
          <a:buFont typeface="Wingdings" panose="05000000000000000000" pitchFamily="2" charset="2"/>
          <a:buChar char="•"/>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3669</TotalTime>
  <Words>1762</Words>
  <Application>Microsoft Office PowerPoint</Application>
  <PresentationFormat>全屏显示(4:3)</PresentationFormat>
  <Paragraphs>143</Paragraphs>
  <Slides>21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21</vt:i4>
      </vt:variant>
    </vt:vector>
  </HeadingPairs>
  <TitlesOfParts>
    <vt:vector size="33" baseType="lpstr">
      <vt:lpstr>仿宋_GB2312</vt:lpstr>
      <vt:lpstr>黑体</vt:lpstr>
      <vt:lpstr>华文楷体</vt:lpstr>
      <vt:lpstr>华文新魏</vt:lpstr>
      <vt:lpstr>楷体_GB2312</vt:lpstr>
      <vt:lpstr>隶书</vt:lpstr>
      <vt:lpstr>宋体</vt:lpstr>
      <vt:lpstr>Arial</vt:lpstr>
      <vt:lpstr>Tahoma</vt:lpstr>
      <vt:lpstr>Times New Roman</vt:lpstr>
      <vt:lpstr>Wingdings</vt:lpstr>
      <vt:lpstr>Blends</vt:lpstr>
      <vt:lpstr>第5章 关系数据库语言SQL </vt:lpstr>
      <vt:lpstr>PowerPoint 演示文稿</vt:lpstr>
      <vt:lpstr>5.4  SQL的视图操作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5.5  SQL中带有子查询的数据更新 </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乔淋漓的冷汗</dc:creator>
  <cp:lastModifiedBy>乔 淋漓的冷汗</cp:lastModifiedBy>
  <cp:revision>412</cp:revision>
  <cp:lastPrinted>1601-01-01T00:00:00Z</cp:lastPrinted>
  <dcterms:created xsi:type="dcterms:W3CDTF">1601-01-01T00:00:00Z</dcterms:created>
  <dcterms:modified xsi:type="dcterms:W3CDTF">2021-04-12T15:08:42Z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