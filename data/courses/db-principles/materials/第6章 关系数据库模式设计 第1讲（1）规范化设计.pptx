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587" r:id="rId3"/>
    <p:sldId id="562" r:id="rId5"/>
    <p:sldId id="592" r:id="rId6"/>
    <p:sldId id="593" r:id="rId7"/>
    <p:sldId id="560" r:id="rId8"/>
    <p:sldId id="561" r:id="rId9"/>
    <p:sldId id="590" r:id="rId10"/>
    <p:sldId id="596" r:id="rId11"/>
    <p:sldId id="504" r:id="rId12"/>
    <p:sldId id="566" r:id="rId13"/>
    <p:sldId id="581" r:id="rId14"/>
    <p:sldId id="565" r:id="rId15"/>
    <p:sldId id="597" r:id="rId16"/>
    <p:sldId id="595" r:id="rId17"/>
    <p:sldId id="599" r:id="rId18"/>
  </p:sldIdLst>
  <p:sldSz cx="9144000" cy="6858000" type="screen4x3"/>
  <p:notesSz cx="6662420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9FFCC"/>
    <a:srgbClr val="003366"/>
    <a:srgbClr val="FF3300"/>
    <a:srgbClr val="660033"/>
    <a:srgbClr val="FF0000"/>
    <a:srgbClr val="CC0099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0" autoAdjust="0"/>
    <p:restoredTop sz="87479" autoAdjust="0"/>
  </p:normalViewPr>
  <p:slideViewPr>
    <p:cSldViewPr showGuides="1">
      <p:cViewPr varScale="1">
        <p:scale>
          <a:sx n="115" d="100"/>
          <a:sy n="115" d="100"/>
        </p:scale>
        <p:origin x="1504" y="76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/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/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/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/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F452ED2D-D05D-4D23-952A-B76E4F5E9B2C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2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53EAA79B-C9E7-4A60-A37A-A87C7AB33371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6670D46-7142-45EB-9CFC-63320DDA4212}" type="slidenum">
              <a:rPr lang="zh-CN" altLang="en-US"/>
            </a:fld>
            <a:endParaRPr lang="en-US" altLang="zh-CN"/>
          </a:p>
        </p:txBody>
      </p:sp>
      <p:sp>
        <p:nvSpPr>
          <p:cNvPr id="533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3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252ACFD-E55F-4902-B600-1BFD12D2042B}" type="slidenum">
              <a:rPr lang="zh-CN" altLang="en-US"/>
            </a:fld>
            <a:endParaRPr lang="en-US" altLang="zh-CN"/>
          </a:p>
        </p:txBody>
      </p:sp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CBA49E-D89F-4C67-BFD0-24551AEFBE0C}" type="slidenum">
              <a:rPr lang="zh-CN" altLang="en-US"/>
            </a:fld>
            <a:endParaRPr lang="en-US" altLang="zh-CN"/>
          </a:p>
        </p:txBody>
      </p:sp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03CF6D0-8E1A-4E2F-ACF3-340714A7C5EC}" type="slidenum">
              <a:rPr lang="zh-CN" altLang="en-US"/>
            </a:fld>
            <a:endParaRPr lang="en-US" altLang="zh-CN"/>
          </a:p>
        </p:txBody>
      </p:sp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b="1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2F8312D-79FD-4FAA-84BE-D211F0834238}" type="slidenum">
              <a:rPr lang="zh-CN" altLang="en-US"/>
            </a:fld>
            <a:endParaRPr lang="en-US" altLang="zh-CN"/>
          </a:p>
        </p:txBody>
      </p:sp>
      <p:sp>
        <p:nvSpPr>
          <p:cNvPr id="537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7C510C1-0CF2-48E2-A758-981FD2FA0AAE}" type="slidenum">
              <a:rPr lang="zh-CN" altLang="en-US"/>
            </a:fld>
            <a:endParaRPr lang="en-US" altLang="zh-CN"/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6F67962-751D-40EC-A732-8B688D10F888}" type="slidenum">
              <a:rPr lang="zh-CN" altLang="en-US"/>
            </a:fld>
            <a:endParaRPr lang="en-US" altLang="zh-CN"/>
          </a:p>
        </p:txBody>
      </p:sp>
      <p:sp>
        <p:nvSpPr>
          <p:cNvPr id="538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>
              <a:solidFill>
                <a:srgbClr val="333399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EC09111-ADB3-41D5-897C-410F16332C71}" type="slidenum">
              <a:rPr lang="zh-CN" altLang="en-US"/>
            </a:fld>
            <a:endParaRPr lang="en-US" altLang="zh-CN"/>
          </a:p>
        </p:txBody>
      </p:sp>
      <p:sp>
        <p:nvSpPr>
          <p:cNvPr id="52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BB1A3AA-240A-4FA6-B640-558A5952CFAD}" type="slidenum">
              <a:rPr lang="zh-CN" altLang="en-US"/>
            </a:fld>
            <a:endParaRPr lang="en-US" altLang="zh-CN"/>
          </a:p>
        </p:txBody>
      </p:sp>
      <p:sp>
        <p:nvSpPr>
          <p:cNvPr id="539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CAFE8AA-6D07-4306-AE15-E6FCBAABA8C9}" type="slidenum">
              <a:rPr lang="zh-CN" altLang="en-US"/>
            </a:fld>
            <a:endParaRPr lang="en-US" altLang="zh-CN"/>
          </a:p>
        </p:txBody>
      </p:sp>
      <p:sp>
        <p:nvSpPr>
          <p:cNvPr id="540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A7B0E84-7309-4289-815C-CAD43AFA9A29}" type="slidenum">
              <a:rPr lang="zh-CN" altLang="en-US"/>
            </a:fld>
            <a:endParaRPr lang="en-US" altLang="zh-CN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b="1">
              <a:solidFill>
                <a:srgbClr val="FFFF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A265826-B8D7-4C0C-BE6F-6D251D86F027}" type="slidenum">
              <a:rPr lang="zh-CN" altLang="en-US"/>
            </a:fld>
            <a:endParaRPr lang="en-US" altLang="zh-CN"/>
          </a:p>
        </p:txBody>
      </p:sp>
      <p:sp>
        <p:nvSpPr>
          <p:cNvPr id="54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23" name="Rectangle 7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1913" y="6453188"/>
            <a:ext cx="2133600" cy="28892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4" name="Rectangle 8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5" name="Rectangle 9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88125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0706EB12-801F-44EB-BE57-AD7356E6E7D0}" type="slidenum">
              <a:rPr lang="zh-CN" altLang="en-US"/>
            </a:fld>
            <a:endParaRPr lang="en-US" altLang="zh-CN"/>
          </a:p>
        </p:txBody>
      </p:sp>
      <p:sp>
        <p:nvSpPr>
          <p:cNvPr id="44442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395288" y="1557338"/>
            <a:ext cx="8569325" cy="1041400"/>
          </a:xfrm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800">
                <a:solidFill>
                  <a:schemeClr val="tx2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grpSp>
        <p:nvGrpSpPr>
          <p:cNvPr id="444429" name="Group 13"/>
          <p:cNvGrpSpPr/>
          <p:nvPr userDrawn="1"/>
        </p:nvGrpSpPr>
        <p:grpSpPr bwMode="auto">
          <a:xfrm>
            <a:off x="7938" y="1773238"/>
            <a:ext cx="9009062" cy="1052512"/>
            <a:chOff x="0" y="1536"/>
            <a:chExt cx="5675" cy="663"/>
          </a:xfrm>
        </p:grpSpPr>
        <p:grpSp>
          <p:nvGrpSpPr>
            <p:cNvPr id="444430" name="Group 14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4431" name="Rectangle 1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32" name="Rectangle 1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4433" name="Group 17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4434" name="Rectangle 1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35" name="Rectangle 1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4436" name="Rectangle 2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37" name="Rectangle 2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1C1C1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38" name="Rectangle 2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2F41DC-84F6-44EC-BF33-7A0A0FEEA17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7D34F2-D903-4D1D-A0FD-44B954857DC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4350" y="1295400"/>
            <a:ext cx="4040188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06938" y="1295400"/>
            <a:ext cx="4041775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8F599B-C445-4238-9F89-6E9DA0FEE4B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528C59-9573-4CD2-9637-87D50E0617B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5706FD-9D56-4072-AFA9-9C2B60D6018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84D32F-3C39-46D6-92BD-7877AE69BB5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E65EB5-F35B-4A55-8FE5-D94D8A7CEE2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A1BEF-026D-4BC8-A284-E9462785B3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28210-FBA5-4232-B077-2F403888BBB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9250" y="71438"/>
            <a:ext cx="2060575" cy="61769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4350" y="71438"/>
            <a:ext cx="6032500" cy="61769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1942F0-9246-4DDA-B851-4B022FD0147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1295400"/>
            <a:ext cx="8234363" cy="495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4340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4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5475" y="64928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7EC89EEA-37A7-44BD-9A0C-A893D288D86C}" type="slidenum">
              <a:rPr lang="zh-CN" altLang="en-US"/>
            </a:fld>
            <a:endParaRPr lang="en-US" altLang="zh-CN"/>
          </a:p>
        </p:txBody>
      </p:sp>
      <p:sp>
        <p:nvSpPr>
          <p:cNvPr id="443405" name="Rectangle 13"/>
          <p:cNvSpPr>
            <a:spLocks noGrp="1" noChangeArrowheads="1"/>
          </p:cNvSpPr>
          <p:nvPr>
            <p:ph type="title"/>
          </p:nvPr>
        </p:nvSpPr>
        <p:spPr bwMode="gray">
          <a:xfrm>
            <a:off x="1547813" y="71438"/>
            <a:ext cx="7212012" cy="8366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43407" name="Rectangle 15"/>
          <p:cNvSpPr>
            <a:spLocks noChangeArrowheads="1"/>
          </p:cNvSpPr>
          <p:nvPr userDrawn="1"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8" name="Rectangle 16"/>
          <p:cNvSpPr>
            <a:spLocks noChangeArrowheads="1"/>
          </p:cNvSpPr>
          <p:nvPr userDrawn="1"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9" name="Rectangle 17"/>
          <p:cNvSpPr>
            <a:spLocks noChangeArrowheads="1"/>
          </p:cNvSpPr>
          <p:nvPr userDrawn="1"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0" name="Rectangle 18"/>
          <p:cNvSpPr>
            <a:spLocks noChangeArrowheads="1"/>
          </p:cNvSpPr>
          <p:nvPr userDrawn="1"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1" name="Rectangle 19"/>
          <p:cNvSpPr>
            <a:spLocks noChangeArrowheads="1"/>
          </p:cNvSpPr>
          <p:nvPr userDrawn="1"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4" name="Rectangle 22"/>
          <p:cNvSpPr>
            <a:spLocks noChangeArrowheads="1"/>
          </p:cNvSpPr>
          <p:nvPr userDrawn="1"/>
        </p:nvSpPr>
        <p:spPr bwMode="gray">
          <a:xfrm>
            <a:off x="442913" y="908050"/>
            <a:ext cx="8226425" cy="3175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6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33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buChar char="u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关系数据库模式设计</a:t>
            </a:r>
            <a:endParaRPr lang="zh-CN" altLang="en-US"/>
          </a:p>
        </p:txBody>
      </p:sp>
      <p:sp>
        <p:nvSpPr>
          <p:cNvPr id="497668" name="Rectangle 4"/>
          <p:cNvSpPr>
            <a:spLocks noChangeArrowheads="1"/>
          </p:cNvSpPr>
          <p:nvPr/>
        </p:nvSpPr>
        <p:spPr bwMode="auto">
          <a:xfrm>
            <a:off x="107950" y="80963"/>
            <a:ext cx="3887788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 algn="ctr"/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数据库系统原理及应用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97669" name="Text Box 5"/>
          <p:cNvSpPr txBox="1">
            <a:spLocks noChangeArrowheads="1"/>
          </p:cNvSpPr>
          <p:nvPr/>
        </p:nvSpPr>
        <p:spPr bwMode="auto">
          <a:xfrm>
            <a:off x="2338388" y="2708275"/>
            <a:ext cx="4681537" cy="7016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b="1">
                <a:solidFill>
                  <a:srgbClr val="0033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（第一讲）</a:t>
            </a:r>
            <a:endParaRPr lang="zh-CN" altLang="en-US" sz="4000" b="1">
              <a:solidFill>
                <a:srgbClr val="003366"/>
              </a:solidFill>
              <a:latin typeface="隶书" panose="02010509060101010101" pitchFamily="49" charset="-122"/>
              <a:ea typeface="华文新魏" panose="02010800040101010101" pitchFamily="2" charset="-122"/>
            </a:endParaRPr>
          </a:p>
        </p:txBody>
      </p:sp>
      <p:pic>
        <p:nvPicPr>
          <p:cNvPr id="49767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57700"/>
            <a:ext cx="2411413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7671" name="Rectangle 7"/>
          <p:cNvSpPr>
            <a:spLocks noChangeArrowheads="1"/>
          </p:cNvSpPr>
          <p:nvPr/>
        </p:nvSpPr>
        <p:spPr bwMode="gray">
          <a:xfrm>
            <a:off x="1690688" y="3789363"/>
            <a:ext cx="5905500" cy="79216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4000" b="1">
                <a:solidFill>
                  <a:srgbClr val="0066FF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algn="ctr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>
              <a:lnSpc>
                <a:spcPct val="120000"/>
              </a:lnSpc>
              <a:spcBef>
                <a:spcPct val="20000"/>
              </a:spcBef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>
              <a:lnSpc>
                <a:spcPct val="120000"/>
              </a:lnSpc>
              <a:spcBef>
                <a:spcPct val="20000"/>
              </a:spcBef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00"/>
    </mc:Choice>
    <mc:Fallback>
      <p:transition spd="slow" advTm="36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2911-9F57-46FC-ABE9-2EBB046661B8}" type="slidenum">
              <a:rPr lang="zh-CN" altLang="en-US"/>
            </a:fld>
            <a:endParaRPr lang="en-US" altLang="zh-CN"/>
          </a:p>
        </p:txBody>
      </p:sp>
      <p:sp>
        <p:nvSpPr>
          <p:cNvPr id="449664" name="AutoShape 128"/>
          <p:cNvSpPr>
            <a:spLocks noChangeArrowheads="1"/>
          </p:cNvSpPr>
          <p:nvPr/>
        </p:nvSpPr>
        <p:spPr bwMode="auto">
          <a:xfrm>
            <a:off x="2339975" y="88900"/>
            <a:ext cx="1727200" cy="747713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FF99"/>
              </a:gs>
              <a:gs pos="50000">
                <a:srgbClr val="FFFF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引入</a:t>
            </a:r>
            <a:endParaRPr lang="zh-CN" altLang="en-US" sz="3200" b="1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449667" name="Rectangle 131"/>
          <p:cNvSpPr>
            <a:spLocks noChangeArrowheads="1"/>
          </p:cNvSpPr>
          <p:nvPr/>
        </p:nvSpPr>
        <p:spPr bwMode="auto">
          <a:xfrm>
            <a:off x="684213" y="1773238"/>
            <a:ext cx="7891462" cy="3529012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828675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23698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4465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    </a:t>
            </a:r>
            <a:endParaRPr lang="zh-CN" altLang="en-US">
              <a:solidFill>
                <a:srgbClr val="000000"/>
              </a:solidFill>
              <a:latin typeface="楷体_GB2312" pitchFamily="49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在一个关系数据库应用系统中，构成该系统的关系数据库的全局逻辑结构（逻辑模式）的基本表的全体，称为该数据库应用系统的</a:t>
            </a:r>
            <a:r>
              <a:rPr lang="zh-CN" altLang="en-US">
                <a:solidFill>
                  <a:srgbClr val="A50021"/>
                </a:solidFill>
                <a:latin typeface="楷体_GB2312" pitchFamily="49" charset="-122"/>
              </a:rPr>
              <a:t>关系数据库模式</a:t>
            </a:r>
            <a:r>
              <a:rPr lang="zh-CN" altLang="en-US">
                <a:latin typeface="楷体_GB2312" pitchFamily="49" charset="-122"/>
              </a:rPr>
              <a:t>。</a:t>
            </a:r>
            <a:endParaRPr lang="zh-CN" altLang="en-US">
              <a:latin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423"/>
    </mc:Choice>
    <mc:Fallback>
      <p:transition spd="slow" advTm="194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9FA0-C4F5-4225-A562-CEBA5F4DC7EC}" type="slidenum">
              <a:rPr lang="zh-CN" altLang="en-US"/>
            </a:fld>
            <a:endParaRPr lang="en-US" altLang="zh-CN"/>
          </a:p>
        </p:txBody>
      </p:sp>
      <p:sp>
        <p:nvSpPr>
          <p:cNvPr id="504834" name="AutoShape 2"/>
          <p:cNvSpPr>
            <a:spLocks noChangeArrowheads="1"/>
          </p:cNvSpPr>
          <p:nvPr/>
        </p:nvSpPr>
        <p:spPr bwMode="auto">
          <a:xfrm>
            <a:off x="2339975" y="88900"/>
            <a:ext cx="1727200" cy="747713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FF99"/>
              </a:gs>
              <a:gs pos="50000">
                <a:srgbClr val="FFFF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引入</a:t>
            </a:r>
            <a:endParaRPr lang="zh-CN" altLang="en-US" sz="3200" b="1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504836" name="Text Box 4"/>
          <p:cNvSpPr txBox="1">
            <a:spLocks noChangeArrowheads="1"/>
          </p:cNvSpPr>
          <p:nvPr/>
        </p:nvSpPr>
        <p:spPr bwMode="auto">
          <a:xfrm>
            <a:off x="1125538" y="1268413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FF33"/>
              </a:gs>
            </a:gsLst>
            <a:lin ang="5400000" scaled="1"/>
          </a:gradFill>
          <a:ln w="12700">
            <a:solidFill>
              <a:srgbClr val="008000"/>
            </a:solidFill>
            <a:miter lim="800000"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用户需求分析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504837" name="Text Box 5"/>
          <p:cNvSpPr txBox="1">
            <a:spLocks noChangeArrowheads="1"/>
          </p:cNvSpPr>
          <p:nvPr/>
        </p:nvSpPr>
        <p:spPr bwMode="auto">
          <a:xfrm>
            <a:off x="1125538" y="2044700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800080"/>
            </a:solidFill>
            <a:miter lim="800000"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概念结构设计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504838" name="Text Box 6"/>
          <p:cNvSpPr txBox="1">
            <a:spLocks noChangeArrowheads="1"/>
          </p:cNvSpPr>
          <p:nvPr/>
        </p:nvSpPr>
        <p:spPr bwMode="auto">
          <a:xfrm>
            <a:off x="1125538" y="2801938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99CC"/>
              </a:gs>
            </a:gsLst>
            <a:lin ang="5400000" scaled="1"/>
          </a:gradFill>
          <a:ln w="9525">
            <a:solidFill>
              <a:srgbClr val="800080"/>
            </a:solidFill>
            <a:miter lim="800000"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逻辑结构设计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504839" name="Text Box 7"/>
          <p:cNvSpPr txBox="1">
            <a:spLocks noChangeArrowheads="1"/>
          </p:cNvSpPr>
          <p:nvPr/>
        </p:nvSpPr>
        <p:spPr bwMode="auto">
          <a:xfrm>
            <a:off x="1125538" y="3560763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6699"/>
              </a:gs>
            </a:gsLst>
            <a:lin ang="5400000" scaled="1"/>
          </a:gradFill>
          <a:ln w="15875">
            <a:solidFill>
              <a:srgbClr val="800080"/>
            </a:solidFill>
            <a:miter lim="800000"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物理结构设计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504840" name="Text Box 8"/>
          <p:cNvSpPr txBox="1">
            <a:spLocks noChangeArrowheads="1"/>
          </p:cNvSpPr>
          <p:nvPr/>
        </p:nvSpPr>
        <p:spPr bwMode="auto">
          <a:xfrm>
            <a:off x="1125538" y="4332288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FF"/>
              </a:gs>
            </a:gsLst>
            <a:lin ang="5400000" scaled="1"/>
          </a:gradFill>
          <a:ln w="15875">
            <a:solidFill>
              <a:srgbClr val="0000FF"/>
            </a:solidFill>
            <a:miter lim="800000"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数据库结构创建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504841" name="Text Box 9"/>
          <p:cNvSpPr txBox="1">
            <a:spLocks noChangeArrowheads="1"/>
          </p:cNvSpPr>
          <p:nvPr/>
        </p:nvSpPr>
        <p:spPr bwMode="auto">
          <a:xfrm>
            <a:off x="323850" y="5091113"/>
            <a:ext cx="4427538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FF"/>
              </a:gs>
            </a:gsLst>
            <a:lin ang="5400000" scaled="1"/>
          </a:gradFill>
          <a:ln w="15875" algn="ctr">
            <a:solidFill>
              <a:srgbClr val="0000FF"/>
            </a:solidFill>
            <a:miter lim="800000"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数据库应用行为设计与实现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504842" name="Text Box 10"/>
          <p:cNvSpPr txBox="1">
            <a:spLocks noChangeArrowheads="1"/>
          </p:cNvSpPr>
          <p:nvPr/>
        </p:nvSpPr>
        <p:spPr bwMode="auto">
          <a:xfrm>
            <a:off x="955675" y="5842000"/>
            <a:ext cx="3163888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9900"/>
              </a:gs>
            </a:gsLst>
            <a:lin ang="5400000" scaled="1"/>
          </a:gradFill>
          <a:ln w="15875">
            <a:solidFill>
              <a:srgbClr val="333300"/>
            </a:solidFill>
            <a:miter lim="800000"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数据库运行与维护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504843" name="Line 11"/>
          <p:cNvSpPr>
            <a:spLocks noChangeShapeType="1"/>
          </p:cNvSpPr>
          <p:nvPr/>
        </p:nvSpPr>
        <p:spPr bwMode="auto">
          <a:xfrm>
            <a:off x="2559050" y="2584450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504844" name="Line 12"/>
          <p:cNvSpPr>
            <a:spLocks noChangeShapeType="1"/>
          </p:cNvSpPr>
          <p:nvPr/>
        </p:nvSpPr>
        <p:spPr bwMode="auto">
          <a:xfrm>
            <a:off x="2559050" y="3343275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504845" name="Line 13"/>
          <p:cNvSpPr>
            <a:spLocks noChangeShapeType="1"/>
          </p:cNvSpPr>
          <p:nvPr/>
        </p:nvSpPr>
        <p:spPr bwMode="auto">
          <a:xfrm>
            <a:off x="2559050" y="4876800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504846" name="Line 14"/>
          <p:cNvSpPr>
            <a:spLocks noChangeShapeType="1"/>
          </p:cNvSpPr>
          <p:nvPr/>
        </p:nvSpPr>
        <p:spPr bwMode="auto">
          <a:xfrm>
            <a:off x="2559050" y="1808163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504847" name="Line 15"/>
          <p:cNvSpPr>
            <a:spLocks noChangeShapeType="1"/>
          </p:cNvSpPr>
          <p:nvPr/>
        </p:nvSpPr>
        <p:spPr bwMode="auto">
          <a:xfrm>
            <a:off x="2559050" y="4100513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504848" name="Line 16"/>
          <p:cNvSpPr>
            <a:spLocks noChangeShapeType="1"/>
          </p:cNvSpPr>
          <p:nvPr/>
        </p:nvSpPr>
        <p:spPr bwMode="auto">
          <a:xfrm>
            <a:off x="2559050" y="5622925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grpSp>
        <p:nvGrpSpPr>
          <p:cNvPr id="504857" name="Group 25"/>
          <p:cNvGrpSpPr/>
          <p:nvPr/>
        </p:nvGrpSpPr>
        <p:grpSpPr bwMode="auto">
          <a:xfrm>
            <a:off x="4102100" y="2824163"/>
            <a:ext cx="4105275" cy="576262"/>
            <a:chOff x="2584" y="1779"/>
            <a:chExt cx="2586" cy="363"/>
          </a:xfrm>
        </p:grpSpPr>
        <p:sp>
          <p:nvSpPr>
            <p:cNvPr id="504849" name="AutoShape 17"/>
            <p:cNvSpPr>
              <a:spLocks noChangeArrowheads="1"/>
            </p:cNvSpPr>
            <p:nvPr/>
          </p:nvSpPr>
          <p:spPr bwMode="auto">
            <a:xfrm>
              <a:off x="2584" y="1842"/>
              <a:ext cx="635" cy="227"/>
            </a:xfrm>
            <a:prstGeom prst="rightArrow">
              <a:avLst>
                <a:gd name="adj1" fmla="val 50000"/>
                <a:gd name="adj2" fmla="val 69934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4850" name="Rectangle 18"/>
            <p:cNvSpPr>
              <a:spLocks noChangeArrowheads="1"/>
            </p:cNvSpPr>
            <p:nvPr/>
          </p:nvSpPr>
          <p:spPr bwMode="auto">
            <a:xfrm>
              <a:off x="3355" y="1779"/>
              <a:ext cx="1815" cy="363"/>
            </a:xfrm>
            <a:prstGeom prst="rect">
              <a:avLst/>
            </a:prstGeom>
            <a:gradFill rotWithShape="1">
              <a:gsLst>
                <a:gs pos="0">
                  <a:srgbClr val="CCFFCC"/>
                </a:gs>
                <a:gs pos="50000">
                  <a:schemeClr val="bg1"/>
                </a:gs>
                <a:gs pos="100000">
                  <a:srgbClr val="CCFFCC"/>
                </a:gs>
              </a:gsLst>
              <a:lin ang="2700000" scaled="1"/>
            </a:gradFill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800" b="1">
                  <a:solidFill>
                    <a:srgbClr val="A50021"/>
                  </a:solidFill>
                  <a:latin typeface="楷体_GB2312" pitchFamily="49" charset="-122"/>
                </a:rPr>
                <a:t>关系数据库模式</a:t>
              </a:r>
              <a:endParaRPr lang="zh-CN" altLang="en-US" sz="2800" b="1">
                <a:solidFill>
                  <a:srgbClr val="A50021"/>
                </a:solidFill>
                <a:latin typeface="楷体_GB2312" pitchFamily="49" charset="-122"/>
              </a:endParaRPr>
            </a:p>
          </p:txBody>
        </p:sp>
      </p:grpSp>
      <p:grpSp>
        <p:nvGrpSpPr>
          <p:cNvPr id="504855" name="Group 23"/>
          <p:cNvGrpSpPr/>
          <p:nvPr/>
        </p:nvGrpSpPr>
        <p:grpSpPr bwMode="auto">
          <a:xfrm>
            <a:off x="4211638" y="1773238"/>
            <a:ext cx="3559175" cy="981075"/>
            <a:chOff x="2744" y="1014"/>
            <a:chExt cx="2242" cy="618"/>
          </a:xfrm>
        </p:grpSpPr>
        <p:sp>
          <p:nvSpPr>
            <p:cNvPr id="504852" name="Text Box 20"/>
            <p:cNvSpPr txBox="1">
              <a:spLocks noChangeArrowheads="1"/>
            </p:cNvSpPr>
            <p:nvPr/>
          </p:nvSpPr>
          <p:spPr bwMode="gray">
            <a:xfrm>
              <a:off x="2843" y="1014"/>
              <a:ext cx="1564" cy="28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属性表设计方法 </a:t>
              </a:r>
              <a:endParaRPr lang="zh-CN" altLang="en-US" sz="24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04853" name="Text Box 21"/>
            <p:cNvSpPr txBox="1">
              <a:spLocks noChangeArrowheads="1"/>
            </p:cNvSpPr>
            <p:nvPr/>
          </p:nvSpPr>
          <p:spPr bwMode="gray">
            <a:xfrm>
              <a:off x="2843" y="1344"/>
              <a:ext cx="2143" cy="28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实体</a:t>
              </a:r>
              <a:r>
                <a:rPr lang="en-US" altLang="zh-CN" sz="24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lang="zh-CN" altLang="en-US" sz="24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联系模型设计方法</a:t>
              </a:r>
              <a:endParaRPr lang="zh-CN" altLang="en-US" sz="24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04854" name="AutoShape 22"/>
            <p:cNvSpPr/>
            <p:nvPr/>
          </p:nvSpPr>
          <p:spPr bwMode="gray">
            <a:xfrm>
              <a:off x="2744" y="1127"/>
              <a:ext cx="91" cy="398"/>
            </a:xfrm>
            <a:prstGeom prst="leftBrace">
              <a:avLst>
                <a:gd name="adj1" fmla="val 36447"/>
                <a:gd name="adj2" fmla="val 50000"/>
              </a:avLst>
            </a:prstGeom>
            <a:noFill/>
            <a:ln w="31750">
              <a:solidFill>
                <a:schemeClr val="tx1"/>
              </a:solidFill>
              <a:round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4856" name="AutoShape 24"/>
          <p:cNvSpPr>
            <a:spLocks noChangeArrowheads="1"/>
          </p:cNvSpPr>
          <p:nvPr/>
        </p:nvSpPr>
        <p:spPr bwMode="auto">
          <a:xfrm>
            <a:off x="6156325" y="3933825"/>
            <a:ext cx="2305050" cy="792163"/>
          </a:xfrm>
          <a:prstGeom prst="wedgeRectCallout">
            <a:avLst>
              <a:gd name="adj1" fmla="val -43801"/>
              <a:gd name="adj2" fmla="val -117333"/>
            </a:avLst>
          </a:prstGeom>
          <a:gradFill rotWithShape="1">
            <a:gsLst>
              <a:gs pos="0">
                <a:schemeClr val="bg1"/>
              </a:gs>
              <a:gs pos="100000">
                <a:srgbClr val="CC99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不唯一！</a:t>
            </a:r>
            <a:endParaRPr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427"/>
    </mc:Choice>
    <mc:Fallback>
      <p:transition spd="slow" advTm="1014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1A5BF-124D-49E7-AE48-C678E43ED871}" type="slidenum">
              <a:rPr lang="zh-CN" altLang="en-US"/>
            </a:fld>
            <a:endParaRPr lang="en-US" altLang="zh-CN"/>
          </a:p>
        </p:txBody>
      </p:sp>
      <p:sp>
        <p:nvSpPr>
          <p:cNvPr id="505858" name="AutoShape 2"/>
          <p:cNvSpPr>
            <a:spLocks noChangeArrowheads="1"/>
          </p:cNvSpPr>
          <p:nvPr/>
        </p:nvSpPr>
        <p:spPr bwMode="auto">
          <a:xfrm>
            <a:off x="2339975" y="88900"/>
            <a:ext cx="1727200" cy="747713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FF99"/>
              </a:gs>
              <a:gs pos="50000">
                <a:srgbClr val="FFFF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引入</a:t>
            </a:r>
            <a:endParaRPr lang="zh-CN" altLang="en-US" sz="3200" b="1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505860" name="Rectangle 4"/>
          <p:cNvSpPr>
            <a:spLocks noChangeArrowheads="1"/>
          </p:cNvSpPr>
          <p:nvPr/>
        </p:nvSpPr>
        <p:spPr bwMode="auto">
          <a:xfrm>
            <a:off x="1117600" y="4078288"/>
            <a:ext cx="6910388" cy="1366837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339966"/>
            </a:extrusionClr>
            <a:contourClr>
              <a:srgbClr val="339966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flatTx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30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黑体" panose="02010609060101010101" pitchFamily="49" charset="-122"/>
              </a:rPr>
              <a:t>面对一个不合理的模式设计方案，</a:t>
            </a:r>
            <a:endParaRPr kumimoji="1" lang="zh-CN" altLang="en-US" sz="30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kumimoji="1" lang="zh-CN" altLang="en-US" sz="30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黑体" panose="02010609060101010101" pitchFamily="49" charset="-122"/>
              </a:rPr>
              <a:t>如何设计出一个好的关系模式集合？</a:t>
            </a:r>
            <a:endParaRPr kumimoji="1" lang="zh-CN" altLang="en-US" sz="30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505861" name="Rectangle 5"/>
          <p:cNvSpPr>
            <a:spLocks noChangeArrowheads="1"/>
          </p:cNvSpPr>
          <p:nvPr/>
        </p:nvSpPr>
        <p:spPr bwMode="auto">
          <a:xfrm>
            <a:off x="1117600" y="2060575"/>
            <a:ext cx="6910388" cy="1368425"/>
          </a:xfrm>
          <a:prstGeom prst="rect">
            <a:avLst/>
          </a:prstGeom>
          <a:solidFill>
            <a:srgbClr val="006600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00"/>
            </a:extrusionClr>
            <a:contourClr>
              <a:srgbClr val="006600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flatTx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3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黑体" panose="02010609060101010101" pitchFamily="49" charset="-122"/>
              </a:rPr>
              <a:t>面对不同的模式设计方案，</a:t>
            </a:r>
            <a:endParaRPr kumimoji="1" lang="zh-CN" altLang="en-US" sz="30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kumimoji="1" lang="zh-CN" altLang="en-US" sz="3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黑体" panose="02010609060101010101" pitchFamily="49" charset="-122"/>
              </a:rPr>
              <a:t>哪个较好？评判标准是什么？</a:t>
            </a:r>
            <a:endParaRPr kumimoji="1" lang="zh-CN" altLang="en-US" sz="30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278"/>
    </mc:Choice>
    <mc:Fallback>
      <p:transition spd="slow" advTm="502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60" grpId="0" animBg="1"/>
      <p:bldP spid="5058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第一讲</a:t>
            </a:r>
            <a:endParaRPr lang="zh-CN" altLang="en-US"/>
          </a:p>
        </p:txBody>
      </p:sp>
      <p:sp>
        <p:nvSpPr>
          <p:cNvPr id="447492" name="Rectangle 4"/>
          <p:cNvSpPr>
            <a:spLocks noChangeArrowheads="1"/>
          </p:cNvSpPr>
          <p:nvPr/>
        </p:nvSpPr>
        <p:spPr bwMode="auto">
          <a:xfrm>
            <a:off x="71438" y="80963"/>
            <a:ext cx="4645025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6</a:t>
            </a:r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章  关系数据库模式设计</a:t>
            </a:r>
            <a:endParaRPr lang="zh-CN" altLang="en-US" sz="2800" b="1">
              <a:solidFill>
                <a:srgbClr val="99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447493" name="Rectangle 5"/>
          <p:cNvSpPr>
            <a:spLocks noChangeArrowheads="1"/>
          </p:cNvSpPr>
          <p:nvPr/>
        </p:nvSpPr>
        <p:spPr bwMode="auto">
          <a:xfrm>
            <a:off x="1331913" y="2997200"/>
            <a:ext cx="6985000" cy="2376488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6.1 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关系约束与关系模式的表示</a:t>
            </a:r>
            <a:endParaRPr lang="zh-CN" altLang="en-US" sz="28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6.2 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对关系模式进行规范化设计的必要性</a:t>
            </a:r>
            <a:endParaRPr lang="zh-CN" altLang="en-US" sz="28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6.3 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函数依赖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00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44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" dur="1000"/>
                                        <p:tgtEl>
                                          <p:spTgt spid="44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0" grpId="0"/>
      <p:bldP spid="447492" grpId="0" animBg="1"/>
      <p:bldP spid="44749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397-68A9-4914-9E31-44511DC20C0E}" type="slidenum">
              <a:rPr lang="zh-CN" altLang="en-US"/>
            </a:fld>
            <a:endParaRPr lang="en-US" altLang="zh-CN"/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  <a:endParaRPr lang="zh-CN" altLang="en-US"/>
          </a:p>
        </p:txBody>
      </p:sp>
      <p:grpSp>
        <p:nvGrpSpPr>
          <p:cNvPr id="448555" name="Group 43"/>
          <p:cNvGrpSpPr/>
          <p:nvPr/>
        </p:nvGrpSpPr>
        <p:grpSpPr bwMode="auto">
          <a:xfrm>
            <a:off x="1476375" y="1628775"/>
            <a:ext cx="6048375" cy="863600"/>
            <a:chOff x="930" y="1026"/>
            <a:chExt cx="3810" cy="544"/>
          </a:xfrm>
        </p:grpSpPr>
        <p:sp>
          <p:nvSpPr>
            <p:cNvPr id="448516" name="AutoShape 4"/>
            <p:cNvSpPr>
              <a:spLocks noChangeArrowheads="1"/>
            </p:cNvSpPr>
            <p:nvPr/>
          </p:nvSpPr>
          <p:spPr bwMode="gray">
            <a:xfrm>
              <a:off x="1237" y="1120"/>
              <a:ext cx="3503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517" name="AutoShape 5"/>
            <p:cNvSpPr>
              <a:spLocks noChangeArrowheads="1"/>
            </p:cNvSpPr>
            <p:nvPr/>
          </p:nvSpPr>
          <p:spPr bwMode="gray">
            <a:xfrm>
              <a:off x="930" y="1026"/>
              <a:ext cx="553" cy="544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518" name="Text Box 6"/>
            <p:cNvSpPr txBox="1">
              <a:spLocks noChangeArrowheads="1"/>
            </p:cNvSpPr>
            <p:nvPr/>
          </p:nvSpPr>
          <p:spPr bwMode="gray">
            <a:xfrm>
              <a:off x="1565" y="1165"/>
              <a:ext cx="2765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规范化设计的必要性</a:t>
              </a:r>
              <a:endParaRPr lang="zh-CN" altLang="en-US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448519" name="Text Box 7"/>
            <p:cNvSpPr txBox="1">
              <a:spLocks noChangeArrowheads="1"/>
            </p:cNvSpPr>
            <p:nvPr/>
          </p:nvSpPr>
          <p:spPr bwMode="gray">
            <a:xfrm>
              <a:off x="1075" y="1116"/>
              <a:ext cx="242" cy="326"/>
            </a:xfrm>
            <a:prstGeom prst="rect">
              <a:avLst/>
            </a:prstGeom>
            <a:noFill/>
            <a:ln>
              <a:noFill/>
            </a:ln>
            <a:effectLst>
              <a:outerShdw dist="17961" dir="81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1</a:t>
              </a:r>
              <a:endParaRPr lang="en-US" altLang="zh-CN" sz="2800" b="1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48556" name="Group 44"/>
          <p:cNvGrpSpPr/>
          <p:nvPr/>
        </p:nvGrpSpPr>
        <p:grpSpPr bwMode="auto">
          <a:xfrm>
            <a:off x="1476375" y="2708275"/>
            <a:ext cx="6049963" cy="863600"/>
            <a:chOff x="930" y="1638"/>
            <a:chExt cx="3811" cy="544"/>
          </a:xfrm>
        </p:grpSpPr>
        <p:sp>
          <p:nvSpPr>
            <p:cNvPr id="448521" name="AutoShape 9"/>
            <p:cNvSpPr>
              <a:spLocks noChangeArrowheads="1"/>
            </p:cNvSpPr>
            <p:nvPr/>
          </p:nvSpPr>
          <p:spPr bwMode="gray">
            <a:xfrm>
              <a:off x="1237" y="1732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522" name="AutoShape 10"/>
            <p:cNvSpPr>
              <a:spLocks noChangeArrowheads="1"/>
            </p:cNvSpPr>
            <p:nvPr/>
          </p:nvSpPr>
          <p:spPr bwMode="gray">
            <a:xfrm>
              <a:off x="930" y="1638"/>
              <a:ext cx="553" cy="544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523" name="Text Box 11"/>
            <p:cNvSpPr txBox="1">
              <a:spLocks noChangeArrowheads="1"/>
            </p:cNvSpPr>
            <p:nvPr/>
          </p:nvSpPr>
          <p:spPr bwMode="gray">
            <a:xfrm>
              <a:off x="1565" y="1777"/>
              <a:ext cx="276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函数依赖</a:t>
              </a:r>
              <a:r>
                <a:rPr lang="zh-CN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的定义</a:t>
              </a:r>
              <a:endParaRPr lang="zh-CN" altLang="en-US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448524" name="Text Box 12"/>
            <p:cNvSpPr txBox="1">
              <a:spLocks noChangeArrowheads="1"/>
            </p:cNvSpPr>
            <p:nvPr/>
          </p:nvSpPr>
          <p:spPr bwMode="gray">
            <a:xfrm>
              <a:off x="1076" y="1743"/>
              <a:ext cx="241" cy="327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2</a:t>
              </a:r>
              <a:endParaRPr lang="en-US" altLang="zh-CN" sz="2800" b="1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48557" name="Group 45"/>
          <p:cNvGrpSpPr/>
          <p:nvPr/>
        </p:nvGrpSpPr>
        <p:grpSpPr bwMode="auto">
          <a:xfrm>
            <a:off x="1476375" y="3789363"/>
            <a:ext cx="6049963" cy="863600"/>
            <a:chOff x="930" y="2250"/>
            <a:chExt cx="3811" cy="544"/>
          </a:xfrm>
        </p:grpSpPr>
        <p:sp>
          <p:nvSpPr>
            <p:cNvPr id="448526" name="AutoShape 14"/>
            <p:cNvSpPr>
              <a:spLocks noChangeArrowheads="1"/>
            </p:cNvSpPr>
            <p:nvPr/>
          </p:nvSpPr>
          <p:spPr bwMode="gray">
            <a:xfrm>
              <a:off x="1237" y="2344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527" name="AutoShape 15"/>
            <p:cNvSpPr>
              <a:spLocks noChangeArrowheads="1"/>
            </p:cNvSpPr>
            <p:nvPr/>
          </p:nvSpPr>
          <p:spPr bwMode="gray">
            <a:xfrm>
              <a:off x="930" y="2250"/>
              <a:ext cx="553" cy="544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528" name="Text Box 16"/>
            <p:cNvSpPr txBox="1">
              <a:spLocks noChangeArrowheads="1"/>
            </p:cNvSpPr>
            <p:nvPr/>
          </p:nvSpPr>
          <p:spPr bwMode="gray">
            <a:xfrm>
              <a:off x="1565" y="2389"/>
              <a:ext cx="313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具有函数依赖约束的关系模式</a:t>
              </a:r>
              <a:endParaRPr lang="zh-CN" altLang="en-US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448529" name="Text Box 17"/>
            <p:cNvSpPr txBox="1">
              <a:spLocks noChangeArrowheads="1"/>
            </p:cNvSpPr>
            <p:nvPr/>
          </p:nvSpPr>
          <p:spPr bwMode="gray">
            <a:xfrm>
              <a:off x="1076" y="2372"/>
              <a:ext cx="241" cy="326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3</a:t>
              </a:r>
              <a:endParaRPr lang="en-US" altLang="zh-CN" sz="2800" b="1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48558" name="Group 46"/>
          <p:cNvGrpSpPr/>
          <p:nvPr/>
        </p:nvGrpSpPr>
        <p:grpSpPr bwMode="auto">
          <a:xfrm>
            <a:off x="1476375" y="4870450"/>
            <a:ext cx="6049963" cy="863600"/>
            <a:chOff x="930" y="2862"/>
            <a:chExt cx="3811" cy="544"/>
          </a:xfrm>
        </p:grpSpPr>
        <p:sp>
          <p:nvSpPr>
            <p:cNvPr id="448531" name="AutoShape 19"/>
            <p:cNvSpPr>
              <a:spLocks noChangeArrowheads="1"/>
            </p:cNvSpPr>
            <p:nvPr/>
          </p:nvSpPr>
          <p:spPr bwMode="gray">
            <a:xfrm>
              <a:off x="1237" y="2956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0B5C4">
                    <a:gamma/>
                    <a:tint val="21176"/>
                    <a:invGamma/>
                  </a:srgbClr>
                </a:gs>
                <a:gs pos="100000">
                  <a:srgbClr val="A0B5C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532" name="AutoShape 20"/>
            <p:cNvSpPr>
              <a:spLocks noChangeArrowheads="1"/>
            </p:cNvSpPr>
            <p:nvPr/>
          </p:nvSpPr>
          <p:spPr bwMode="gray">
            <a:xfrm>
              <a:off x="930" y="2862"/>
              <a:ext cx="553" cy="544"/>
            </a:xfrm>
            <a:prstGeom prst="diamond">
              <a:avLst/>
            </a:prstGeom>
            <a:solidFill>
              <a:srgbClr val="A0B5C4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533" name="Text Box 21"/>
            <p:cNvSpPr txBox="1">
              <a:spLocks noChangeArrowheads="1"/>
            </p:cNvSpPr>
            <p:nvPr/>
          </p:nvSpPr>
          <p:spPr bwMode="gray">
            <a:xfrm>
              <a:off x="1565" y="3001"/>
              <a:ext cx="276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函数依赖的逻辑蕴涵</a:t>
              </a:r>
              <a:endParaRPr lang="zh-CN" altLang="en-US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448534" name="Text Box 22"/>
            <p:cNvSpPr txBox="1">
              <a:spLocks noChangeArrowheads="1"/>
            </p:cNvSpPr>
            <p:nvPr/>
          </p:nvSpPr>
          <p:spPr bwMode="gray">
            <a:xfrm>
              <a:off x="1076" y="2953"/>
              <a:ext cx="241" cy="326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4</a:t>
              </a:r>
              <a:endParaRPr lang="en-US" altLang="zh-CN" sz="2800" b="1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821"/>
    </mc:Choice>
    <mc:Fallback>
      <p:transition spd="slow" advTm="1482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DC5E-BED2-4142-BFA3-C6F1CD294EAD}" type="slidenum">
              <a:rPr lang="zh-CN" altLang="en-US"/>
            </a:fld>
            <a:endParaRPr lang="en-US" altLang="zh-CN"/>
          </a:p>
        </p:txBody>
      </p: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问题引入</a:t>
            </a:r>
            <a:endParaRPr lang="zh-CN" altLang="en-US"/>
          </a:p>
        </p:txBody>
      </p:sp>
      <p:graphicFrame>
        <p:nvGraphicFramePr>
          <p:cNvPr id="502867" name="Group 83"/>
          <p:cNvGraphicFramePr>
            <a:graphicFrameLocks noGrp="1"/>
          </p:cNvGraphicFramePr>
          <p:nvPr/>
        </p:nvGraphicFramePr>
        <p:xfrm>
          <a:off x="395288" y="2565400"/>
          <a:ext cx="8353425" cy="3589916"/>
        </p:xfrm>
        <a:graphic>
          <a:graphicData uri="http://schemas.openxmlformats.org/drawingml/2006/table">
            <a:tbl>
              <a:tblPr/>
              <a:tblGrid>
                <a:gridCol w="790575"/>
                <a:gridCol w="1081087"/>
                <a:gridCol w="1800225"/>
                <a:gridCol w="1439863"/>
                <a:gridCol w="1728787"/>
                <a:gridCol w="1512888"/>
              </a:tblGrid>
              <a:tr h="5619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表名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  生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学籍表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  程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归属表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  习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成绩表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授  课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统计表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教  师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信息表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 rowSpan="7"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拥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的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属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性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教职工号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 vMerge="1"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姓名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课程名称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姓名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课程名称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教员姓名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 vMerge="1"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学时数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学时数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 vMerge="1"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归属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课程名称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任课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出生年月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 vMerge="1"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分数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教职工号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职称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275">
                <a:tc vMerge="1"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所属专业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教员姓名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所属教研室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vMerge="1"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职称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02837" name="Text Box 53"/>
          <p:cNvSpPr txBox="1">
            <a:spLocks noChangeArrowheads="1"/>
          </p:cNvSpPr>
          <p:nvPr/>
        </p:nvSpPr>
        <p:spPr bwMode="auto">
          <a:xfrm>
            <a:off x="539750" y="1289050"/>
            <a:ext cx="8280400" cy="10604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 sz="2800" b="1">
                <a:latin typeface="楷体_GB2312" pitchFamily="49" charset="-122"/>
              </a:rPr>
              <a:t>  大学教学管理数据库的概念结构设计采用属性表方法：</a:t>
            </a:r>
            <a:endParaRPr lang="zh-CN" altLang="en-US" sz="2800" b="1">
              <a:latin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120"/>
    </mc:Choice>
    <mc:Fallback>
      <p:transition spd="slow" advTm="5112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5519-44B1-46FD-957C-A5112FCB2384}" type="slidenum">
              <a:rPr lang="zh-CN" altLang="en-US"/>
            </a:fld>
            <a:endParaRPr lang="en-US" altLang="zh-CN"/>
          </a:p>
        </p:txBody>
      </p:sp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问题引入</a:t>
            </a:r>
            <a:endParaRPr lang="zh-CN" altLang="en-US"/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sz="2400"/>
              <a:t>学生学籍关系（学号，姓名，性别，出生日期，籍贯，</a:t>
            </a:r>
            <a:r>
              <a:rPr lang="zh-CN" altLang="en-US" sz="2400">
                <a:sym typeface="Symbol" panose="05050102010706020507" pitchFamily="18" charset="2"/>
              </a:rPr>
              <a:t></a:t>
            </a:r>
            <a:r>
              <a:rPr lang="zh-CN" altLang="en-US" sz="2400"/>
              <a:t>）；</a:t>
            </a:r>
            <a:endParaRPr lang="zh-CN" altLang="en-US" sz="240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/>
              <a:t>课程归属关系（课程号，课程名，学时，教研室）；</a:t>
            </a:r>
            <a:endParaRPr lang="zh-CN" altLang="en-US" sz="240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/>
              <a:t>学习成绩关系（学号，姓名，课程号，课程名，分数，所属专业）；</a:t>
            </a:r>
            <a:endParaRPr lang="zh-CN" altLang="en-US" sz="240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/>
              <a:t>授课统计关系（课程号，课程名，学时，教研室，教职工号，姓名，职称）；</a:t>
            </a:r>
            <a:endParaRPr lang="zh-CN" altLang="en-US" sz="240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/>
              <a:t>教师信息关系（教员号，姓名，性别，出生年月，职称，教研室）。</a:t>
            </a:r>
            <a:endParaRPr lang="zh-CN" altLang="en-US" sz="2400"/>
          </a:p>
        </p:txBody>
      </p:sp>
      <p:sp>
        <p:nvSpPr>
          <p:cNvPr id="508933" name="Rectangle 5"/>
          <p:cNvSpPr>
            <a:spLocks noChangeArrowheads="1"/>
          </p:cNvSpPr>
          <p:nvPr/>
        </p:nvSpPr>
        <p:spPr bwMode="auto">
          <a:xfrm>
            <a:off x="900113" y="3773488"/>
            <a:ext cx="7848600" cy="935037"/>
          </a:xfrm>
          <a:prstGeom prst="rect">
            <a:avLst/>
          </a:prstGeom>
          <a:noFill/>
          <a:ln w="31750" cap="sq">
            <a:solidFill>
              <a:srgbClr val="993366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8934" name="Rectangle 6"/>
          <p:cNvSpPr>
            <a:spLocks noChangeArrowheads="1"/>
          </p:cNvSpPr>
          <p:nvPr/>
        </p:nvSpPr>
        <p:spPr bwMode="auto">
          <a:xfrm>
            <a:off x="1403350" y="5824538"/>
            <a:ext cx="5545138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800" b="1" u="sng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教员</a:t>
            </a:r>
            <a:r>
              <a:rPr lang="en-US" altLang="zh-CN" sz="2800" b="1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教研室</a:t>
            </a:r>
            <a:r>
              <a:rPr lang="en-US" altLang="zh-CN" sz="2800" b="1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800" b="1" u="sng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lang="en-US" altLang="zh-CN" sz="2800" b="1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,课程名</a:t>
            </a:r>
            <a:r>
              <a:rPr lang="zh-CN" altLang="en-US" sz="2800" b="1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160"/>
    </mc:Choice>
    <mc:Fallback>
      <p:transition spd="slow" advTm="641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0A4AB-B3C9-4D45-BCF3-046417FB2DBB}" type="slidenum">
              <a:rPr lang="zh-CN" altLang="en-US"/>
            </a:fld>
            <a:endParaRPr lang="en-US" altLang="zh-CN"/>
          </a:p>
        </p:txBody>
      </p:sp>
      <p:sp>
        <p:nvSpPr>
          <p:cNvPr id="352415" name="Rectangle 159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234363" cy="4953000"/>
          </a:xfrm>
        </p:spPr>
        <p:txBody>
          <a:bodyPr/>
          <a:lstStyle/>
          <a:p>
            <a:r>
              <a:rPr lang="zh-CN" altLang="en-US"/>
              <a:t>关系模型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R(</a:t>
            </a:r>
            <a:r>
              <a:rPr lang="en-US" altLang="zh-CN" u="sng"/>
              <a:t>教员</a:t>
            </a:r>
            <a:r>
              <a:rPr lang="en-US" altLang="zh-CN"/>
              <a:t>,</a:t>
            </a:r>
            <a:r>
              <a:rPr lang="zh-CN" altLang="en-US"/>
              <a:t>教研室</a:t>
            </a:r>
            <a:r>
              <a:rPr lang="en-US" altLang="zh-CN"/>
              <a:t>,</a:t>
            </a:r>
            <a:r>
              <a:rPr lang="en-US" altLang="zh-CN" u="sng"/>
              <a:t>课程号</a:t>
            </a:r>
            <a:r>
              <a:rPr lang="en-US" altLang="zh-CN"/>
              <a:t>,课程名)</a:t>
            </a:r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                                                         </a:t>
            </a:r>
            <a:r>
              <a:rPr lang="zh-CN" altLang="en-US">
                <a:solidFill>
                  <a:srgbClr val="000099"/>
                </a:solidFill>
              </a:rPr>
              <a:t>存在问题：</a:t>
            </a:r>
            <a:endParaRPr lang="en-US" altLang="zh-CN">
              <a:solidFill>
                <a:srgbClr val="000099"/>
              </a:solidFill>
            </a:endParaRPr>
          </a:p>
        </p:txBody>
      </p:sp>
      <p:sp>
        <p:nvSpPr>
          <p:cNvPr id="352339" name="Rectangle 8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一、规范化设计的必要性</a:t>
            </a:r>
            <a:endParaRPr lang="zh-CN" altLang="en-US"/>
          </a:p>
        </p:txBody>
      </p:sp>
      <p:graphicFrame>
        <p:nvGraphicFramePr>
          <p:cNvPr id="352671" name="Group 415"/>
          <p:cNvGraphicFramePr>
            <a:graphicFrameLocks noGrp="1"/>
          </p:cNvGraphicFramePr>
          <p:nvPr/>
        </p:nvGraphicFramePr>
        <p:xfrm>
          <a:off x="471488" y="2210118"/>
          <a:ext cx="5252720" cy="3698875"/>
        </p:xfrm>
        <a:graphic>
          <a:graphicData uri="http://schemas.openxmlformats.org/drawingml/2006/table">
            <a:tbl>
              <a:tblPr/>
              <a:tblGrid>
                <a:gridCol w="1292225"/>
                <a:gridCol w="1223962"/>
                <a:gridCol w="1152525"/>
                <a:gridCol w="1584325"/>
              </a:tblGrid>
              <a:tr h="5715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教员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课程名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信息系统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VFP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设计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通信原理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2337" name="AutoShape 81"/>
          <p:cNvSpPr>
            <a:spLocks noChangeArrowheads="1"/>
          </p:cNvSpPr>
          <p:nvPr/>
        </p:nvSpPr>
        <p:spPr bwMode="auto">
          <a:xfrm>
            <a:off x="6227763" y="2565400"/>
            <a:ext cx="2592387" cy="720725"/>
          </a:xfrm>
          <a:prstGeom prst="foldedCorner">
            <a:avLst>
              <a:gd name="adj" fmla="val 12500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数据冗余</a:t>
            </a:r>
            <a:endParaRPr kumimoji="0" lang="zh-CN" altLang="en-US" sz="2800" b="1">
              <a:solidFill>
                <a:srgbClr val="99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52580" name="Group 324"/>
          <p:cNvGrpSpPr/>
          <p:nvPr/>
        </p:nvGrpSpPr>
        <p:grpSpPr bwMode="auto">
          <a:xfrm>
            <a:off x="741363" y="4581525"/>
            <a:ext cx="1885950" cy="647700"/>
            <a:chOff x="603" y="2886"/>
            <a:chExt cx="1188" cy="408"/>
          </a:xfrm>
        </p:grpSpPr>
        <p:sp>
          <p:nvSpPr>
            <p:cNvPr id="352573" name="Line 317"/>
            <p:cNvSpPr>
              <a:spLocks noChangeShapeType="1"/>
            </p:cNvSpPr>
            <p:nvPr/>
          </p:nvSpPr>
          <p:spPr bwMode="auto">
            <a:xfrm>
              <a:off x="603" y="2886"/>
              <a:ext cx="1179" cy="0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2574" name="Line 318"/>
            <p:cNvSpPr>
              <a:spLocks noChangeShapeType="1"/>
            </p:cNvSpPr>
            <p:nvPr/>
          </p:nvSpPr>
          <p:spPr bwMode="auto">
            <a:xfrm>
              <a:off x="612" y="3294"/>
              <a:ext cx="1179" cy="0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2576" name="AutoShape 320"/>
          <p:cNvSpPr>
            <a:spLocks noChangeArrowheads="1"/>
          </p:cNvSpPr>
          <p:nvPr/>
        </p:nvSpPr>
        <p:spPr bwMode="auto">
          <a:xfrm>
            <a:off x="6227763" y="3357563"/>
            <a:ext cx="2592387" cy="720725"/>
          </a:xfrm>
          <a:prstGeom prst="foldedCorner">
            <a:avLst>
              <a:gd name="adj" fmla="val 12500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更新异常</a:t>
            </a:r>
            <a:endParaRPr kumimoji="0" lang="zh-CN" altLang="en-US" sz="2800" b="1">
              <a:solidFill>
                <a:srgbClr val="99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2578" name="AutoShape 322"/>
          <p:cNvSpPr>
            <a:spLocks noChangeArrowheads="1"/>
          </p:cNvSpPr>
          <p:nvPr/>
        </p:nvSpPr>
        <p:spPr bwMode="auto">
          <a:xfrm>
            <a:off x="6227763" y="4149725"/>
            <a:ext cx="2592387" cy="720725"/>
          </a:xfrm>
          <a:prstGeom prst="foldedCorner">
            <a:avLst>
              <a:gd name="adj" fmla="val 12500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插入异常</a:t>
            </a:r>
            <a:endParaRPr kumimoji="0" lang="zh-CN" altLang="en-US" sz="2800" b="1">
              <a:solidFill>
                <a:srgbClr val="99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2581" name="AutoShape 325"/>
          <p:cNvSpPr>
            <a:spLocks noChangeArrowheads="1"/>
          </p:cNvSpPr>
          <p:nvPr/>
        </p:nvSpPr>
        <p:spPr bwMode="auto">
          <a:xfrm>
            <a:off x="6227763" y="4941888"/>
            <a:ext cx="2592387" cy="720725"/>
          </a:xfrm>
          <a:prstGeom prst="foldedCorner">
            <a:avLst>
              <a:gd name="adj" fmla="val 12500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删除异常</a:t>
            </a:r>
            <a:endParaRPr kumimoji="0" lang="zh-CN" altLang="en-US" sz="2800" b="1">
              <a:solidFill>
                <a:srgbClr val="99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52670" name="Group 414"/>
          <p:cNvGraphicFramePr>
            <a:graphicFrameLocks noGrp="1"/>
          </p:cNvGraphicFramePr>
          <p:nvPr/>
        </p:nvGraphicFramePr>
        <p:xfrm>
          <a:off x="468313" y="5905500"/>
          <a:ext cx="5253037" cy="492506"/>
        </p:xfrm>
        <a:graphic>
          <a:graphicData uri="http://schemas.openxmlformats.org/drawingml/2006/table">
            <a:tbl>
              <a:tblPr/>
              <a:tblGrid>
                <a:gridCol w="1292225"/>
                <a:gridCol w="1227137"/>
                <a:gridCol w="1152525"/>
                <a:gridCol w="1581150"/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郭敏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2660" name="AutoShape 404"/>
          <p:cNvSpPr>
            <a:spLocks noChangeArrowheads="1"/>
          </p:cNvSpPr>
          <p:nvPr/>
        </p:nvSpPr>
        <p:spPr bwMode="auto">
          <a:xfrm>
            <a:off x="5795963" y="5661025"/>
            <a:ext cx="1944687" cy="1152525"/>
          </a:xfrm>
          <a:prstGeom prst="irregularSeal1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失败！</a:t>
            </a:r>
            <a:endParaRPr lang="zh-CN" altLang="en-US" sz="2800" b="1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352663" name="Line 407"/>
          <p:cNvSpPr>
            <a:spLocks noChangeShapeType="1"/>
          </p:cNvSpPr>
          <p:nvPr/>
        </p:nvSpPr>
        <p:spPr bwMode="auto">
          <a:xfrm>
            <a:off x="757238" y="5834063"/>
            <a:ext cx="4678362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664" name="AutoShape 408"/>
          <p:cNvSpPr>
            <a:spLocks noChangeArrowheads="1"/>
          </p:cNvSpPr>
          <p:nvPr/>
        </p:nvSpPr>
        <p:spPr bwMode="auto">
          <a:xfrm>
            <a:off x="827088" y="4149725"/>
            <a:ext cx="7921625" cy="1728788"/>
          </a:xfrm>
          <a:prstGeom prst="irregularSeal1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3000" b="1" dirty="0">
                <a:solidFill>
                  <a:srgbClr val="FFFF00"/>
                </a:solidFill>
                <a:latin typeface="楷体_GB2312" pitchFamily="49" charset="-122"/>
              </a:rPr>
              <a:t>关系模式</a:t>
            </a:r>
            <a:r>
              <a:rPr kumimoji="1" lang="en-US" altLang="zh-CN" sz="3000" b="1" dirty="0">
                <a:solidFill>
                  <a:srgbClr val="FFFF00"/>
                </a:solidFill>
                <a:latin typeface="楷体_GB2312" pitchFamily="49" charset="-122"/>
              </a:rPr>
              <a:t>R</a:t>
            </a:r>
            <a:r>
              <a:rPr kumimoji="1" lang="zh-CN" altLang="en-US" sz="3000" b="1" dirty="0">
                <a:solidFill>
                  <a:srgbClr val="FFFF00"/>
                </a:solidFill>
                <a:latin typeface="楷体_GB2312" pitchFamily="49" charset="-122"/>
              </a:rPr>
              <a:t>的设计是不合适的</a:t>
            </a:r>
            <a:endParaRPr kumimoji="1" lang="zh-CN" altLang="en-US" sz="3000" b="1" dirty="0">
              <a:solidFill>
                <a:srgbClr val="FFFF00"/>
              </a:solidFill>
              <a:latin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advTm="27083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2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52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2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2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2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2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7" dur="500"/>
                                        <p:tgtEl>
                                          <p:spTgt spid="3525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2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526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2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2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2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2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9" dur="500"/>
                                        <p:tgtEl>
                                          <p:spTgt spid="352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2" dur="500"/>
                                        <p:tgtEl>
                                          <p:spTgt spid="352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2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2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2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52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52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415" grpId="0" uiExpand="1" build="p"/>
      <p:bldP spid="352337" grpId="0" animBg="1"/>
      <p:bldP spid="352576" grpId="0" animBg="1"/>
      <p:bldP spid="352578" grpId="0" animBg="1"/>
      <p:bldP spid="352581" grpId="0" animBg="1"/>
      <p:bldP spid="352660" grpId="0" animBg="1"/>
      <p:bldP spid="352660" grpId="1" animBg="1"/>
      <p:bldP spid="3526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2AF91-5820-491E-AE19-09F82D2E6E46}" type="slidenum">
              <a:rPr lang="zh-CN" altLang="en-US"/>
            </a:fld>
            <a:endParaRPr lang="en-US" altLang="zh-CN"/>
          </a:p>
        </p:txBody>
      </p:sp>
      <p:sp>
        <p:nvSpPr>
          <p:cNvPr id="4608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234363" cy="4953000"/>
          </a:xfrm>
        </p:spPr>
        <p:txBody>
          <a:bodyPr/>
          <a:lstStyle/>
          <a:p>
            <a:r>
              <a:rPr lang="zh-CN" altLang="en-US"/>
              <a:t>关系模型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R(</a:t>
            </a:r>
            <a:r>
              <a:rPr lang="en-US" altLang="zh-CN" u="sng"/>
              <a:t>教员</a:t>
            </a:r>
            <a:r>
              <a:rPr lang="en-US" altLang="zh-CN"/>
              <a:t>,</a:t>
            </a:r>
            <a:r>
              <a:rPr lang="zh-CN" altLang="en-US"/>
              <a:t>教研室</a:t>
            </a:r>
            <a:r>
              <a:rPr lang="en-US" altLang="zh-CN"/>
              <a:t>,</a:t>
            </a:r>
            <a:r>
              <a:rPr lang="en-US" altLang="zh-CN" u="sng"/>
              <a:t>课程号</a:t>
            </a:r>
            <a:r>
              <a:rPr lang="en-US" altLang="zh-CN"/>
              <a:t>,课程名)</a:t>
            </a:r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                                                         </a:t>
            </a:r>
            <a:r>
              <a:rPr lang="zh-CN" altLang="en-US">
                <a:solidFill>
                  <a:srgbClr val="000099"/>
                </a:solidFill>
              </a:rPr>
              <a:t>原因：</a:t>
            </a:r>
            <a:endParaRPr lang="en-US" altLang="zh-CN">
              <a:solidFill>
                <a:srgbClr val="000099"/>
              </a:solidFill>
            </a:endParaRPr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一、规范化设计的必要性</a:t>
            </a:r>
            <a:endParaRPr lang="zh-CN" altLang="en-US"/>
          </a:p>
        </p:txBody>
      </p:sp>
      <p:sp>
        <p:nvSpPr>
          <p:cNvPr id="460868" name="Rectangle 68"/>
          <p:cNvSpPr>
            <a:spLocks noChangeArrowheads="1"/>
          </p:cNvSpPr>
          <p:nvPr/>
        </p:nvSpPr>
        <p:spPr bwMode="auto">
          <a:xfrm>
            <a:off x="6372225" y="2781300"/>
            <a:ext cx="2376488" cy="792163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50000">
                <a:schemeClr val="bg1"/>
              </a:gs>
              <a:gs pos="100000">
                <a:srgbClr val="00FFFF"/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数据依赖</a:t>
            </a:r>
            <a:endParaRPr lang="zh-CN" altLang="en-US" sz="32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460869" name="WordArt 69"/>
          <p:cNvSpPr>
            <a:spLocks noChangeArrowheads="1" noChangeShapeType="1" noTextEdit="1"/>
          </p:cNvSpPr>
          <p:nvPr/>
        </p:nvSpPr>
        <p:spPr bwMode="auto">
          <a:xfrm>
            <a:off x="7235825" y="4221163"/>
            <a:ext cx="431800" cy="10795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0000"/>
              </a:contourClr>
            </a:sp3d>
          </a:bodyPr>
          <a:lstStyle/>
          <a:p>
            <a:pPr algn="ctr"/>
            <a:r>
              <a:rPr lang="en-US" altLang="zh-CN" sz="3600" kern="10">
                <a:ln w="9525">
                  <a:miter lim="800000"/>
                </a:ln>
                <a:gradFill rotWithShape="1">
                  <a:gsLst>
                    <a:gs pos="0">
                      <a:srgbClr val="FF0000"/>
                    </a:gs>
                    <a:gs pos="100000">
                      <a:srgbClr val="FFFF99">
                        <a:alpha val="38000"/>
                      </a:srgbClr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zh-CN" altLang="en-US" sz="3600" kern="10">
              <a:ln w="9525">
                <a:miter lim="800000"/>
              </a:ln>
              <a:gradFill rotWithShape="1">
                <a:gsLst>
                  <a:gs pos="0">
                    <a:srgbClr val="FF0000"/>
                  </a:gs>
                  <a:gs pos="100000">
                    <a:srgbClr val="FFFF99">
                      <a:alpha val="38000"/>
                    </a:srgbClr>
                  </a:gs>
                </a:gsLst>
                <a:lin ang="5400000" scaled="1"/>
              </a:gra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60870" name="Group 70"/>
          <p:cNvGraphicFramePr>
            <a:graphicFrameLocks noGrp="1"/>
          </p:cNvGraphicFramePr>
          <p:nvPr/>
        </p:nvGraphicFramePr>
        <p:xfrm>
          <a:off x="471488" y="2205038"/>
          <a:ext cx="5253037" cy="3703639"/>
        </p:xfrm>
        <a:graphic>
          <a:graphicData uri="http://schemas.openxmlformats.org/drawingml/2006/table">
            <a:tbl>
              <a:tblPr/>
              <a:tblGrid>
                <a:gridCol w="1292225"/>
                <a:gridCol w="1223962"/>
                <a:gridCol w="1152525"/>
                <a:gridCol w="1584325"/>
              </a:tblGrid>
              <a:tr h="5762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教员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课程名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信息系统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VFP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设计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通信原理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0863" name="Oval 63"/>
          <p:cNvSpPr>
            <a:spLocks noChangeArrowheads="1"/>
          </p:cNvSpPr>
          <p:nvPr/>
        </p:nvSpPr>
        <p:spPr bwMode="auto">
          <a:xfrm>
            <a:off x="250825" y="2205038"/>
            <a:ext cx="3168650" cy="576262"/>
          </a:xfrm>
          <a:prstGeom prst="ellipse">
            <a:avLst/>
          </a:prstGeom>
          <a:noFill/>
          <a:ln w="28575" cap="sq" algn="ctr">
            <a:solidFill>
              <a:srgbClr val="FF0000"/>
            </a:solidFill>
            <a:miter lim="800000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64" name="Oval 64"/>
          <p:cNvSpPr>
            <a:spLocks noChangeArrowheads="1"/>
          </p:cNvSpPr>
          <p:nvPr/>
        </p:nvSpPr>
        <p:spPr bwMode="auto">
          <a:xfrm>
            <a:off x="3081338" y="2247900"/>
            <a:ext cx="2714625" cy="504825"/>
          </a:xfrm>
          <a:prstGeom prst="ellipse">
            <a:avLst/>
          </a:prstGeom>
          <a:noFill/>
          <a:ln w="28575" cap="sq" algn="ctr">
            <a:solidFill>
              <a:srgbClr val="00FF00"/>
            </a:solidFill>
            <a:miter lim="800000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0867" name="Group 67"/>
          <p:cNvGrpSpPr/>
          <p:nvPr/>
        </p:nvGrpSpPr>
        <p:grpSpPr bwMode="auto">
          <a:xfrm>
            <a:off x="468313" y="2708275"/>
            <a:ext cx="5184775" cy="2014538"/>
            <a:chOff x="476" y="1707"/>
            <a:chExt cx="3040" cy="1269"/>
          </a:xfrm>
        </p:grpSpPr>
        <p:sp>
          <p:nvSpPr>
            <p:cNvPr id="460865" name="Oval 65"/>
            <p:cNvSpPr>
              <a:spLocks noChangeArrowheads="1"/>
            </p:cNvSpPr>
            <p:nvPr/>
          </p:nvSpPr>
          <p:spPr bwMode="auto">
            <a:xfrm>
              <a:off x="476" y="1707"/>
              <a:ext cx="1451" cy="907"/>
            </a:xfrm>
            <a:prstGeom prst="ellips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66" name="Oval 66"/>
            <p:cNvSpPr>
              <a:spLocks noChangeArrowheads="1"/>
            </p:cNvSpPr>
            <p:nvPr/>
          </p:nvSpPr>
          <p:spPr bwMode="auto">
            <a:xfrm>
              <a:off x="1973" y="2115"/>
              <a:ext cx="1543" cy="861"/>
            </a:xfrm>
            <a:prstGeom prst="ellipse">
              <a:avLst/>
            </a:prstGeom>
            <a:noFill/>
            <a:ln w="28575" cap="sq">
              <a:solidFill>
                <a:srgbClr val="00FF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advTm="863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60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08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0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0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6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511E8-6745-4FA9-91C1-00E5D933059B}" type="slidenum">
              <a:rPr lang="zh-CN" altLang="en-US"/>
            </a:fld>
            <a:endParaRPr lang="en-US" altLang="zh-CN"/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234363" cy="4953000"/>
          </a:xfrm>
        </p:spPr>
        <p:txBody>
          <a:bodyPr/>
          <a:lstStyle/>
          <a:p>
            <a:r>
              <a:rPr lang="zh-CN" altLang="en-US"/>
              <a:t>关系模型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R(</a:t>
            </a:r>
            <a:r>
              <a:rPr lang="en-US" altLang="zh-CN" u="sng"/>
              <a:t>教员</a:t>
            </a:r>
            <a:r>
              <a:rPr lang="en-US" altLang="zh-CN"/>
              <a:t>,</a:t>
            </a:r>
            <a:r>
              <a:rPr lang="zh-CN" altLang="en-US"/>
              <a:t>教研室</a:t>
            </a:r>
            <a:r>
              <a:rPr lang="en-US" altLang="zh-CN"/>
              <a:t>,</a:t>
            </a:r>
            <a:r>
              <a:rPr lang="en-US" altLang="zh-CN" u="sng"/>
              <a:t>课程号</a:t>
            </a:r>
            <a:r>
              <a:rPr lang="en-US" altLang="zh-CN"/>
              <a:t>,课程名)</a:t>
            </a:r>
            <a:r>
              <a:rPr lang="zh-CN" altLang="en-US"/>
              <a:t>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关系模型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R1(</a:t>
            </a:r>
            <a:r>
              <a:rPr lang="en-US" altLang="zh-CN" u="sng"/>
              <a:t>教员</a:t>
            </a:r>
            <a:r>
              <a:rPr lang="en-US" altLang="zh-CN"/>
              <a:t>,</a:t>
            </a:r>
            <a:r>
              <a:rPr lang="zh-CN" altLang="en-US"/>
              <a:t>教研室</a:t>
            </a:r>
            <a:r>
              <a:rPr lang="en-US" altLang="zh-CN"/>
              <a:t>)</a:t>
            </a:r>
            <a:r>
              <a:rPr lang="zh-CN" altLang="en-US"/>
              <a:t>，</a:t>
            </a:r>
            <a:endParaRPr lang="zh-CN" altLang="en-US"/>
          </a:p>
          <a:p>
            <a:r>
              <a:rPr lang="en-US" altLang="zh-CN"/>
              <a:t>                    R2(</a:t>
            </a:r>
            <a:r>
              <a:rPr lang="en-US" altLang="zh-CN" u="sng"/>
              <a:t>教员</a:t>
            </a:r>
            <a:r>
              <a:rPr lang="en-US" altLang="zh-CN"/>
              <a:t>, </a:t>
            </a:r>
            <a:r>
              <a:rPr lang="en-US" altLang="zh-CN" u="sng"/>
              <a:t>课程号</a:t>
            </a:r>
            <a:r>
              <a:rPr lang="en-US" altLang="zh-CN"/>
              <a:t>,课程名)</a:t>
            </a:r>
            <a:endParaRPr lang="en-US" altLang="zh-CN">
              <a:solidFill>
                <a:srgbClr val="000099"/>
              </a:solidFill>
            </a:endParaRPr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一、规范化设计的必要性</a:t>
            </a:r>
            <a:endParaRPr lang="zh-CN" altLang="en-US"/>
          </a:p>
        </p:txBody>
      </p:sp>
      <p:sp>
        <p:nvSpPr>
          <p:cNvPr id="487472" name="AutoShape 48"/>
          <p:cNvSpPr>
            <a:spLocks noChangeArrowheads="1"/>
          </p:cNvSpPr>
          <p:nvPr/>
        </p:nvSpPr>
        <p:spPr bwMode="auto">
          <a:xfrm>
            <a:off x="2987675" y="2349500"/>
            <a:ext cx="360363" cy="1584325"/>
          </a:xfrm>
          <a:prstGeom prst="downArrow">
            <a:avLst>
              <a:gd name="adj1" fmla="val 41852"/>
              <a:gd name="adj2" fmla="val 89436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7475" name="AutoShape 51"/>
          <p:cNvSpPr>
            <a:spLocks noChangeArrowheads="1"/>
          </p:cNvSpPr>
          <p:nvPr/>
        </p:nvSpPr>
        <p:spPr bwMode="auto">
          <a:xfrm>
            <a:off x="3563938" y="2493963"/>
            <a:ext cx="5181600" cy="1081087"/>
          </a:xfrm>
          <a:prstGeom prst="bevel">
            <a:avLst>
              <a:gd name="adj" fmla="val 12500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10800" anchor="ctr"/>
          <a:lstStyle/>
          <a:p>
            <a:pPr algn="ctr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解决的方法：关系模式的分解</a:t>
            </a:r>
            <a:endParaRPr lang="zh-CN" altLang="en-US" sz="28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advTm="1063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87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87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8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7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7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7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E4744-7FB8-4EEF-9C2E-72B9324CD69E}" type="slidenum">
              <a:rPr lang="zh-CN" altLang="en-US"/>
            </a:fld>
            <a:endParaRPr lang="en-US" altLang="zh-CN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234363" cy="4953000"/>
          </a:xfrm>
        </p:spPr>
        <p:txBody>
          <a:bodyPr/>
          <a:lstStyle/>
          <a:p>
            <a:r>
              <a:rPr lang="zh-CN" altLang="en-US"/>
              <a:t>关系模型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R1(</a:t>
            </a:r>
            <a:r>
              <a:rPr lang="en-US" altLang="zh-CN" u="sng"/>
              <a:t>教员</a:t>
            </a:r>
            <a:r>
              <a:rPr lang="en-US" altLang="zh-CN"/>
              <a:t>,</a:t>
            </a:r>
            <a:r>
              <a:rPr lang="zh-CN" altLang="en-US"/>
              <a:t>教研室</a:t>
            </a:r>
            <a:r>
              <a:rPr lang="en-US" altLang="zh-CN"/>
              <a:t>)</a:t>
            </a:r>
            <a:r>
              <a:rPr lang="zh-CN" altLang="en-US"/>
              <a:t>，</a:t>
            </a:r>
            <a:endParaRPr lang="zh-CN" altLang="en-US"/>
          </a:p>
          <a:p>
            <a:r>
              <a:rPr lang="en-US" altLang="zh-CN"/>
              <a:t>                    R2(</a:t>
            </a:r>
            <a:r>
              <a:rPr lang="en-US" altLang="zh-CN" u="sng"/>
              <a:t>教员</a:t>
            </a:r>
            <a:r>
              <a:rPr lang="en-US" altLang="zh-CN"/>
              <a:t>, </a:t>
            </a:r>
            <a:r>
              <a:rPr lang="en-US" altLang="zh-CN" u="sng"/>
              <a:t>课程号</a:t>
            </a:r>
            <a:r>
              <a:rPr lang="en-US" altLang="zh-CN"/>
              <a:t>,课程名)</a:t>
            </a:r>
            <a:endParaRPr lang="en-US" altLang="zh-CN"/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一、规范化设计的必要性</a:t>
            </a:r>
            <a:endParaRPr lang="zh-CN" altLang="en-US"/>
          </a:p>
        </p:txBody>
      </p:sp>
      <p:graphicFrame>
        <p:nvGraphicFramePr>
          <p:cNvPr id="457950" name="Group 222"/>
          <p:cNvGraphicFramePr>
            <a:graphicFrameLocks noGrp="1"/>
          </p:cNvGraphicFramePr>
          <p:nvPr/>
        </p:nvGraphicFramePr>
        <p:xfrm>
          <a:off x="904875" y="2563813"/>
          <a:ext cx="2514600" cy="2492376"/>
        </p:xfrm>
        <a:graphic>
          <a:graphicData uri="http://schemas.openxmlformats.org/drawingml/2006/table">
            <a:tbl>
              <a:tblPr/>
              <a:tblGrid>
                <a:gridCol w="1292225"/>
                <a:gridCol w="1222375"/>
              </a:tblGrid>
              <a:tr h="6175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教员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7945" name="Group 217"/>
          <p:cNvGraphicFramePr>
            <a:graphicFrameLocks noGrp="1"/>
          </p:cNvGraphicFramePr>
          <p:nvPr/>
        </p:nvGraphicFramePr>
        <p:xfrm>
          <a:off x="3779838" y="2563813"/>
          <a:ext cx="4173537" cy="3744914"/>
        </p:xfrm>
        <a:graphic>
          <a:graphicData uri="http://schemas.openxmlformats.org/drawingml/2006/table">
            <a:tbl>
              <a:tblPr/>
              <a:tblGrid>
                <a:gridCol w="1292225"/>
                <a:gridCol w="1152525"/>
                <a:gridCol w="1728787"/>
              </a:tblGrid>
              <a:tr h="6175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教员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课程名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信息系统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VFP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设计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通信原理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7947" name="Text Box 219"/>
          <p:cNvSpPr txBox="1">
            <a:spLocks noChangeArrowheads="1"/>
          </p:cNvSpPr>
          <p:nvPr/>
        </p:nvSpPr>
        <p:spPr bwMode="auto">
          <a:xfrm>
            <a:off x="1887538" y="5124450"/>
            <a:ext cx="520700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r1</a:t>
            </a:r>
            <a:endParaRPr lang="en-US" altLang="zh-CN" sz="2800" b="1"/>
          </a:p>
        </p:txBody>
      </p:sp>
      <p:sp>
        <p:nvSpPr>
          <p:cNvPr id="457948" name="Text Box 220"/>
          <p:cNvSpPr txBox="1">
            <a:spLocks noChangeArrowheads="1"/>
          </p:cNvSpPr>
          <p:nvPr/>
        </p:nvSpPr>
        <p:spPr bwMode="auto">
          <a:xfrm>
            <a:off x="8101013" y="5734050"/>
            <a:ext cx="520700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r2</a:t>
            </a:r>
            <a:endParaRPr lang="en-US" altLang="zh-CN" sz="2800" b="1"/>
          </a:p>
        </p:txBody>
      </p:sp>
      <p:sp>
        <p:nvSpPr>
          <p:cNvPr id="457946" name="AutoShape 218"/>
          <p:cNvSpPr>
            <a:spLocks noChangeArrowheads="1"/>
          </p:cNvSpPr>
          <p:nvPr/>
        </p:nvSpPr>
        <p:spPr bwMode="auto">
          <a:xfrm>
            <a:off x="465138" y="4724400"/>
            <a:ext cx="8210550" cy="1728788"/>
          </a:xfrm>
          <a:prstGeom prst="irregularSeal1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3000" b="1">
                <a:solidFill>
                  <a:srgbClr val="FFFF00"/>
                </a:solidFill>
                <a:latin typeface="楷体_GB2312" pitchFamily="49" charset="-122"/>
              </a:rPr>
              <a:t>关系模式</a:t>
            </a:r>
            <a:r>
              <a:rPr kumimoji="1" lang="en-US" altLang="zh-CN" sz="3000" b="1">
                <a:solidFill>
                  <a:srgbClr val="FFFF00"/>
                </a:solidFill>
                <a:latin typeface="楷体_GB2312" pitchFamily="49" charset="-122"/>
              </a:rPr>
              <a:t>R1</a:t>
            </a:r>
            <a:r>
              <a:rPr kumimoji="1" lang="zh-CN" altLang="en-US" sz="3000" b="1">
                <a:solidFill>
                  <a:srgbClr val="FFFF00"/>
                </a:solidFill>
                <a:latin typeface="楷体_GB2312" pitchFamily="49" charset="-122"/>
              </a:rPr>
              <a:t>和</a:t>
            </a:r>
            <a:r>
              <a:rPr kumimoji="1" lang="en-US" altLang="zh-CN" sz="3000" b="1">
                <a:solidFill>
                  <a:srgbClr val="FFFF00"/>
                </a:solidFill>
                <a:latin typeface="楷体_GB2312" pitchFamily="49" charset="-122"/>
              </a:rPr>
              <a:t>R2</a:t>
            </a:r>
            <a:r>
              <a:rPr kumimoji="1" lang="zh-CN" altLang="en-US" sz="3000" b="1">
                <a:solidFill>
                  <a:srgbClr val="FFFF00"/>
                </a:solidFill>
                <a:latin typeface="楷体_GB2312" pitchFamily="49" charset="-122"/>
              </a:rPr>
              <a:t>的设计比</a:t>
            </a:r>
            <a:r>
              <a:rPr kumimoji="1" lang="en-US" altLang="zh-CN" sz="3000" b="1">
                <a:solidFill>
                  <a:srgbClr val="FFFF00"/>
                </a:solidFill>
                <a:latin typeface="楷体_GB2312" pitchFamily="49" charset="-122"/>
              </a:rPr>
              <a:t>R</a:t>
            </a:r>
            <a:r>
              <a:rPr kumimoji="1" lang="zh-CN" altLang="en-US" sz="3000" b="1">
                <a:solidFill>
                  <a:srgbClr val="FFFF00"/>
                </a:solidFill>
                <a:latin typeface="楷体_GB2312" pitchFamily="49" charset="-122"/>
              </a:rPr>
              <a:t>更合适</a:t>
            </a:r>
            <a:endParaRPr kumimoji="1" lang="zh-CN" altLang="en-US" sz="3000" b="1">
              <a:solidFill>
                <a:srgbClr val="FFFF00"/>
              </a:solidFill>
              <a:latin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advTm="431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7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7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947" grpId="0"/>
      <p:bldP spid="457948" grpId="0"/>
      <p:bldP spid="4579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B7FB-10D3-4F9F-9C6F-71B41E9D1B56}" type="slidenum">
              <a:rPr lang="zh-CN" altLang="en-US"/>
            </a:fld>
            <a:endParaRPr lang="en-US" altLang="zh-CN"/>
          </a:p>
        </p:txBody>
      </p:sp>
      <p:sp>
        <p:nvSpPr>
          <p:cNvPr id="5099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一、规范化设计的必要性</a:t>
            </a:r>
            <a:endParaRPr lang="zh-CN" altLang="en-US"/>
          </a:p>
        </p:txBody>
      </p:sp>
      <p:sp>
        <p:nvSpPr>
          <p:cNvPr id="509956" name="Rectangle 4"/>
          <p:cNvSpPr>
            <a:spLocks noChangeArrowheads="1"/>
          </p:cNvSpPr>
          <p:nvPr/>
        </p:nvSpPr>
        <p:spPr bwMode="auto">
          <a:xfrm>
            <a:off x="828675" y="1844675"/>
            <a:ext cx="7559675" cy="3600450"/>
          </a:xfrm>
          <a:prstGeom prst="rect">
            <a:avLst/>
          </a:prstGeom>
          <a:gradFill rotWithShape="1">
            <a:gsLst>
              <a:gs pos="0">
                <a:srgbClr val="FFCCFF"/>
              </a:gs>
              <a:gs pos="50000">
                <a:schemeClr val="bg1"/>
              </a:gs>
              <a:gs pos="100000">
                <a:srgbClr val="FFCC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 在关系数据库设计中，其关系模式的设计是极有讲究的，必须予以重视。</a:t>
            </a:r>
            <a:endParaRPr lang="zh-CN" altLang="en-US" sz="28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/>
              <a:t>    不合理的关系模式会引起数据冗余和操作异常问题，所以需要对关系模式进行规范化设计。</a:t>
            </a:r>
            <a:endParaRPr lang="zh-CN" altLang="en-US" sz="2800" b="1"/>
          </a:p>
        </p:txBody>
      </p:sp>
    </p:spTree>
  </p:cSld>
  <p:clrMapOvr>
    <a:masterClrMapping/>
  </p:clrMapOvr>
  <p:transition advTm="331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3AD1-2B10-452E-B6CB-8CD0A8622624}" type="slidenum">
              <a:rPr lang="zh-CN" altLang="en-US"/>
            </a:fld>
            <a:endParaRPr lang="en-US" altLang="zh-CN"/>
          </a:p>
        </p:txBody>
      </p:sp>
      <p:sp>
        <p:nvSpPr>
          <p:cNvPr id="5079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234363" cy="4953000"/>
          </a:xfrm>
        </p:spPr>
        <p:txBody>
          <a:bodyPr/>
          <a:lstStyle/>
          <a:p>
            <a:r>
              <a:rPr lang="zh-CN" altLang="en-US"/>
              <a:t>    一个关系模式是一个五元组｛</a:t>
            </a:r>
            <a:r>
              <a:rPr lang="en-US" altLang="zh-CN"/>
              <a:t>R,U,D,DOM,F</a:t>
            </a:r>
            <a:r>
              <a:rPr lang="zh-CN" altLang="en-US"/>
              <a:t>｝：</a:t>
            </a:r>
            <a:endParaRPr lang="zh-CN" altLang="en-US"/>
          </a:p>
          <a:p>
            <a:r>
              <a:rPr lang="zh-CN" altLang="en-US"/>
              <a:t>　</a:t>
            </a:r>
            <a:r>
              <a:rPr lang="en-US" altLang="zh-CN"/>
              <a:t>R</a:t>
            </a:r>
            <a:r>
              <a:rPr lang="zh-CN" altLang="en-US"/>
              <a:t>　</a:t>
            </a:r>
            <a:r>
              <a:rPr lang="en-US" altLang="zh-CN"/>
              <a:t>---------</a:t>
            </a:r>
            <a:r>
              <a:rPr lang="zh-CN" altLang="en-US"/>
              <a:t>关系名</a:t>
            </a:r>
            <a:endParaRPr lang="zh-CN" altLang="en-US"/>
          </a:p>
          <a:p>
            <a:r>
              <a:rPr lang="zh-CN" altLang="en-US"/>
              <a:t>　</a:t>
            </a:r>
            <a:r>
              <a:rPr lang="en-US" altLang="zh-CN"/>
              <a:t>U</a:t>
            </a:r>
            <a:r>
              <a:rPr lang="zh-CN" altLang="en-US"/>
              <a:t>　</a:t>
            </a:r>
            <a:r>
              <a:rPr lang="en-US" altLang="zh-CN"/>
              <a:t>---------</a:t>
            </a:r>
            <a:r>
              <a:rPr lang="zh-CN" altLang="en-US"/>
              <a:t>关系</a:t>
            </a:r>
            <a:r>
              <a:rPr lang="en-US" altLang="zh-CN"/>
              <a:t>R</a:t>
            </a:r>
            <a:r>
              <a:rPr lang="zh-CN" altLang="en-US"/>
              <a:t>的属性全集</a:t>
            </a:r>
            <a:endParaRPr lang="zh-CN" altLang="en-US"/>
          </a:p>
          <a:p>
            <a:r>
              <a:rPr lang="zh-CN" altLang="en-US"/>
              <a:t>　</a:t>
            </a:r>
            <a:r>
              <a:rPr lang="en-US" altLang="zh-CN"/>
              <a:t>D</a:t>
            </a:r>
            <a:r>
              <a:rPr lang="zh-CN" altLang="en-US"/>
              <a:t>　</a:t>
            </a:r>
            <a:r>
              <a:rPr lang="en-US" altLang="zh-CN"/>
              <a:t>---------</a:t>
            </a:r>
            <a:r>
              <a:rPr lang="zh-CN" altLang="en-US"/>
              <a:t>属性的值域的集合</a:t>
            </a:r>
            <a:endParaRPr lang="zh-CN" altLang="en-US"/>
          </a:p>
          <a:p>
            <a:r>
              <a:rPr lang="zh-CN" altLang="en-US"/>
              <a:t>　</a:t>
            </a:r>
            <a:r>
              <a:rPr lang="en-US" altLang="zh-CN"/>
              <a:t>DOM</a:t>
            </a:r>
            <a:r>
              <a:rPr lang="zh-CN" altLang="en-US"/>
              <a:t>　</a:t>
            </a:r>
            <a:r>
              <a:rPr lang="en-US" altLang="zh-CN"/>
              <a:t>-----</a:t>
            </a:r>
            <a:r>
              <a:rPr lang="zh-CN" altLang="en-US"/>
              <a:t>属性集</a:t>
            </a:r>
            <a:r>
              <a:rPr lang="en-US" altLang="zh-CN"/>
              <a:t>U</a:t>
            </a:r>
            <a:r>
              <a:rPr lang="zh-CN" altLang="en-US"/>
              <a:t>到值域集合</a:t>
            </a:r>
            <a:r>
              <a:rPr lang="en-US" altLang="zh-CN"/>
              <a:t>D</a:t>
            </a:r>
            <a:r>
              <a:rPr lang="zh-CN" altLang="en-US"/>
              <a:t>的映射</a:t>
            </a:r>
            <a:endParaRPr lang="zh-CN" altLang="en-US"/>
          </a:p>
          <a:p>
            <a:r>
              <a:rPr lang="zh-CN" altLang="en-US"/>
              <a:t>　</a:t>
            </a:r>
            <a:r>
              <a:rPr lang="en-US" altLang="zh-CN"/>
              <a:t>F</a:t>
            </a:r>
            <a:r>
              <a:rPr lang="zh-CN" altLang="en-US"/>
              <a:t>　</a:t>
            </a:r>
            <a:r>
              <a:rPr lang="en-US" altLang="zh-CN"/>
              <a:t>---------</a:t>
            </a:r>
            <a:r>
              <a:rPr lang="zh-CN" altLang="en-US"/>
              <a:t>关系</a:t>
            </a:r>
            <a:r>
              <a:rPr lang="en-US" altLang="zh-CN"/>
              <a:t>R</a:t>
            </a:r>
            <a:r>
              <a:rPr lang="zh-CN" altLang="en-US"/>
              <a:t>中的属性集</a:t>
            </a:r>
            <a:r>
              <a:rPr lang="en-US" altLang="zh-CN"/>
              <a:t>U</a:t>
            </a:r>
            <a:r>
              <a:rPr lang="zh-CN" altLang="en-US"/>
              <a:t>上的一组约束，即函数依赖集合</a:t>
            </a:r>
            <a:endParaRPr lang="zh-CN" altLang="en-US"/>
          </a:p>
          <a:p>
            <a:r>
              <a:rPr lang="zh-CN" altLang="en-US"/>
              <a:t>    简化：</a:t>
            </a:r>
            <a:r>
              <a:rPr lang="en-US" altLang="zh-CN">
                <a:solidFill>
                  <a:srgbClr val="0033CC"/>
                </a:solidFill>
              </a:rPr>
              <a:t>R</a:t>
            </a:r>
            <a:r>
              <a:rPr lang="zh-CN" altLang="en-US">
                <a:solidFill>
                  <a:srgbClr val="0033CC"/>
                </a:solidFill>
              </a:rPr>
              <a:t>（</a:t>
            </a:r>
            <a:r>
              <a:rPr lang="en-US" altLang="zh-CN">
                <a:solidFill>
                  <a:srgbClr val="0033CC"/>
                </a:solidFill>
              </a:rPr>
              <a:t>U</a:t>
            </a:r>
            <a:r>
              <a:rPr lang="zh-CN" altLang="en-US">
                <a:solidFill>
                  <a:srgbClr val="0033CC"/>
                </a:solidFill>
              </a:rPr>
              <a:t>，</a:t>
            </a:r>
            <a:r>
              <a:rPr lang="en-US" altLang="zh-CN">
                <a:solidFill>
                  <a:srgbClr val="0033CC"/>
                </a:solidFill>
              </a:rPr>
              <a:t>F</a:t>
            </a:r>
            <a:r>
              <a:rPr lang="zh-CN" altLang="en-US">
                <a:solidFill>
                  <a:srgbClr val="0033CC"/>
                </a:solidFill>
              </a:rPr>
              <a:t>）</a:t>
            </a:r>
            <a:endParaRPr lang="zh-CN" altLang="en-US">
              <a:solidFill>
                <a:srgbClr val="0033CC"/>
              </a:solidFill>
            </a:endParaRPr>
          </a:p>
        </p:txBody>
      </p:sp>
      <p:sp>
        <p:nvSpPr>
          <p:cNvPr id="5079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约定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78544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658A-B34E-4FE7-97B1-0ADCDEC4D4A4}" type="slidenum">
              <a:rPr lang="zh-CN" altLang="en-US"/>
            </a:fld>
            <a:endParaRPr lang="en-US" altLang="zh-CN"/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问题根源</a:t>
            </a:r>
            <a:endParaRPr lang="zh-CN" altLang="en-US"/>
          </a:p>
        </p:txBody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13067" name="Group 43"/>
          <p:cNvGraphicFramePr>
            <a:graphicFrameLocks noGrp="1"/>
          </p:cNvGraphicFramePr>
          <p:nvPr/>
        </p:nvGraphicFramePr>
        <p:xfrm>
          <a:off x="1982788" y="1268413"/>
          <a:ext cx="5253037" cy="3687764"/>
        </p:xfrm>
        <a:graphic>
          <a:graphicData uri="http://schemas.openxmlformats.org/drawingml/2006/table">
            <a:tbl>
              <a:tblPr/>
              <a:tblGrid>
                <a:gridCol w="1292225"/>
                <a:gridCol w="1223962"/>
                <a:gridCol w="1152525"/>
                <a:gridCol w="1584325"/>
              </a:tblGrid>
              <a:tr h="5762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教员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课程名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楷体_GB2312" pitchFamily="49" charset="-122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801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信息系统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VFP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设计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通信原理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3104" name="Oval 80"/>
          <p:cNvSpPr>
            <a:spLocks noChangeArrowheads="1"/>
          </p:cNvSpPr>
          <p:nvPr/>
        </p:nvSpPr>
        <p:spPr bwMode="auto">
          <a:xfrm>
            <a:off x="1619250" y="1271588"/>
            <a:ext cx="3168650" cy="576262"/>
          </a:xfrm>
          <a:prstGeom prst="ellipse">
            <a:avLst/>
          </a:prstGeom>
          <a:noFill/>
          <a:ln w="28575" cap="sq" algn="ctr">
            <a:solidFill>
              <a:srgbClr val="FF0000"/>
            </a:solidFill>
            <a:miter lim="800000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105" name="Oval 81"/>
          <p:cNvSpPr>
            <a:spLocks noChangeArrowheads="1"/>
          </p:cNvSpPr>
          <p:nvPr/>
        </p:nvSpPr>
        <p:spPr bwMode="auto">
          <a:xfrm>
            <a:off x="4449763" y="1314450"/>
            <a:ext cx="2714625" cy="504825"/>
          </a:xfrm>
          <a:prstGeom prst="ellipse">
            <a:avLst/>
          </a:prstGeom>
          <a:noFill/>
          <a:ln w="28575" cap="sq" algn="ctr">
            <a:solidFill>
              <a:srgbClr val="00FF00"/>
            </a:solidFill>
            <a:miter lim="800000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107" name="AutoShape 83"/>
          <p:cNvSpPr>
            <a:spLocks noChangeArrowheads="1"/>
          </p:cNvSpPr>
          <p:nvPr/>
        </p:nvSpPr>
        <p:spPr bwMode="auto">
          <a:xfrm>
            <a:off x="611188" y="2203450"/>
            <a:ext cx="8064500" cy="4321175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12700" cap="sq">
            <a:solidFill>
              <a:srgbClr val="000066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tIns="82800"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33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　　</a:t>
            </a:r>
            <a:r>
              <a:rPr kumimoji="0" lang="zh-CN" altLang="en-US" sz="28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例如一个教员对应一个教研室，课程号与课程名相互联系等。</a:t>
            </a:r>
            <a:endParaRPr kumimoji="0" lang="zh-CN" altLang="en-US" sz="2800" b="1"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　　</a:t>
            </a:r>
            <a:r>
              <a:rPr kumimoji="0"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这类依赖是最基本、最重要的一种数据依赖</a:t>
            </a:r>
            <a:r>
              <a:rPr kumimoji="0"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人们称之为</a:t>
            </a:r>
            <a:r>
              <a:rPr kumimoji="0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函数依赖</a:t>
            </a:r>
            <a:r>
              <a:rPr kumimoji="0" lang="zh-CN" altLang="en-US" sz="28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800" b="1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kumimoji="0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  <a:cs typeface="Times New Roman" panose="02020603050405020304" pitchFamily="18" charset="0"/>
              </a:rPr>
              <a:t>Functional Dependency</a:t>
            </a:r>
            <a:endParaRPr kumimoji="0" lang="en-US" altLang="zh-CN" sz="28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anose="030F0702030302020204" pitchFamily="66" charset="0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kumimoji="0"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简称</a:t>
            </a:r>
            <a:r>
              <a:rPr kumimoji="0"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  <a:cs typeface="Times New Roman" panose="02020603050405020304" pitchFamily="18" charset="0"/>
              </a:rPr>
              <a:t>　</a:t>
            </a:r>
            <a:r>
              <a:rPr kumimoji="0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  <a:cs typeface="Times New Roman" panose="02020603050405020304" pitchFamily="18" charset="0"/>
              </a:rPr>
              <a:t>FD</a:t>
            </a:r>
            <a:endParaRPr kumimoji="0" lang="en-US" altLang="zh-CN" sz="28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anose="030F0702030302020204" pitchFamily="66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527"/>
    </mc:Choice>
    <mc:Fallback>
      <p:transition spd="slow" advTm="445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3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3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07" grpId="0" animBg="1"/>
    </p:bldLst>
  </p:timing>
</p:sld>
</file>

<file path=ppt/tags/tag1.xml><?xml version="1.0" encoding="utf-8"?>
<p:tagLst xmlns:p="http://schemas.openxmlformats.org/presentationml/2006/main">
  <p:tag name="TIMING" val="|10.4|22.7|25.6|13.1|1.8|2.2"/>
</p:tagLst>
</file>

<file path=ppt/tags/tag2.xml><?xml version="1.0" encoding="utf-8"?>
<p:tagLst xmlns:p="http://schemas.openxmlformats.org/presentationml/2006/main">
  <p:tag name="TIMING" val="|26.9|38.9"/>
</p:tagLst>
</file>

<file path=ppt/tags/tag3.xml><?xml version="1.0" encoding="utf-8"?>
<p:tagLst xmlns:p="http://schemas.openxmlformats.org/presentationml/2006/main">
  <p:tag name="TIMING" val="|6.1"/>
</p:tagLst>
</file>

<file path=ppt/tags/tag4.xml><?xml version="1.0" encoding="utf-8"?>
<p:tagLst xmlns:p="http://schemas.openxmlformats.org/presentationml/2006/main">
  <p:tag name="TIMING" val="|10.6"/>
</p:tagLst>
</file>

<file path=ppt/tags/tag5.xml><?xml version="1.0" encoding="utf-8"?>
<p:tagLst xmlns:p="http://schemas.openxmlformats.org/presentationml/2006/main">
  <p:tag name="TIMING" val="|36.4|11.7"/>
</p:tagLst>
</file>

<file path=ppt/tags/tag6.xml><?xml version="1.0" encoding="utf-8"?>
<p:tagLst xmlns:p="http://schemas.openxmlformats.org/presentationml/2006/main">
  <p:tag name="TIMING" val="|16.8|15.3|13.3|57.1|64.3|18.4|33.7|42.1"/>
</p:tagLst>
</file>

<file path=ppt/tags/tag7.xml><?xml version="1.0" encoding="utf-8"?>
<p:tagLst xmlns:p="http://schemas.openxmlformats.org/presentationml/2006/main">
  <p:tag name="TIMING" val="|3.3|34.4|9.6|23.5|12.1"/>
</p:tagLst>
</file>

<file path=ppt/tags/tag8.xml><?xml version="1.0" encoding="utf-8"?>
<p:tagLst xmlns:p="http://schemas.openxmlformats.org/presentationml/2006/main">
  <p:tag name="TIMING" val="|16.6"/>
</p:tagLst>
</file>

<file path=ppt/tags/tag9.xml><?xml version="1.0" encoding="utf-8"?>
<p:tagLst xmlns:p="http://schemas.openxmlformats.org/presentationml/2006/main">
  <p:tag name="TIMING" val="|23.8"/>
</p:tagLst>
</file>

<file path=ppt/tags/tag10.xml><?xml version="1.0" encoding="utf-8"?>
<p:tagLst xmlns:p="http://schemas.openxmlformats.org/presentationml/2006/main">
  <p:tag name="TIMING" val="|31.6|11|4.9|6.4|79.5"/>
</p:tagLst>
</file>

<file path=ppt/tags/tag11.xml><?xml version="1.0" encoding="utf-8"?>
<p:tagLst xmlns:p="http://schemas.openxmlformats.org/presentationml/2006/main">
  <p:tag name="TIMING" val="|8.3"/>
</p:tagLst>
</file>

<file path=ppt/theme/theme1.xml><?xml version="1.0" encoding="utf-8"?>
<a:theme xmlns:a="http://schemas.openxmlformats.org/drawingml/2006/main" name="cdb2004165l">
  <a:themeElements>
    <a:clrScheme name="cdb2004165l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cdb2004165l">
      <a:majorFont>
        <a:latin typeface="Arial"/>
        <a:ea typeface="幼圆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db2004165l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</Words>
  <Application>WPS 演示</Application>
  <PresentationFormat>全屏显示(4:3)</PresentationFormat>
  <Paragraphs>499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楷体_GB2312</vt:lpstr>
      <vt:lpstr>新宋体</vt:lpstr>
      <vt:lpstr>Tahoma</vt:lpstr>
      <vt:lpstr>幼圆</vt:lpstr>
      <vt:lpstr>隶书</vt:lpstr>
      <vt:lpstr>Times New Roman</vt:lpstr>
      <vt:lpstr>华文新魏</vt:lpstr>
      <vt:lpstr>黑体</vt:lpstr>
      <vt:lpstr>Comic Sans MS</vt:lpstr>
      <vt:lpstr>仿宋_GB2312</vt:lpstr>
      <vt:lpstr>仿宋</vt:lpstr>
      <vt:lpstr>Symbol</vt:lpstr>
      <vt:lpstr>Wingdings 2</vt:lpstr>
      <vt:lpstr>微软雅黑</vt:lpstr>
      <vt:lpstr>Arial Unicode MS</vt:lpstr>
      <vt:lpstr>cdb2004165l</vt:lpstr>
      <vt:lpstr>第6章  关系数据库模式设计</vt:lpstr>
      <vt:lpstr>PowerPoint 演示文稿</vt:lpstr>
      <vt:lpstr>PowerPoint 演示文稿</vt:lpstr>
      <vt:lpstr>PowerPoint 演示文稿</vt:lpstr>
      <vt:lpstr>第一讲</vt:lpstr>
      <vt:lpstr>主要内容</vt:lpstr>
      <vt:lpstr>问题引入</vt:lpstr>
      <vt:lpstr>问题引入</vt:lpstr>
      <vt:lpstr>一、规范化设计的必要性</vt:lpstr>
      <vt:lpstr>一、规范化设计的必要性</vt:lpstr>
      <vt:lpstr>一、规范化设计的必要性</vt:lpstr>
      <vt:lpstr>一、规范化设计的必要性</vt:lpstr>
      <vt:lpstr>一、规范化设计的必要性</vt:lpstr>
      <vt:lpstr>约定</vt:lpstr>
      <vt:lpstr>问题根源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冰河时代</cp:lastModifiedBy>
  <cp:revision>514</cp:revision>
  <cp:lastPrinted>2000-08-23T09:10:00Z</cp:lastPrinted>
  <dcterms:created xsi:type="dcterms:W3CDTF">2113-01-01T00:00:00Z</dcterms:created>
  <dcterms:modified xsi:type="dcterms:W3CDTF">2025-07-24T07:52:52Z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10DBE3AAD1834D1C970289584D45AA38_12</vt:lpwstr>
  </property>
  <property fmtid="{D5CDD505-2E9C-101B-9397-08002B2CF9AE}" pid="3" name="KSOProductBuildVer">
    <vt:lpwstr>2052-12.1.0.21915</vt:lpwstr>
  </property>
</Properties>
</file>