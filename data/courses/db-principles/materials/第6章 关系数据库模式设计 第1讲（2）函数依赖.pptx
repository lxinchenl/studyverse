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8"/>
  </p:notesMasterIdLst>
  <p:handoutMasterIdLst>
    <p:handoutMasterId r:id="rId19"/>
  </p:handoutMasterIdLst>
  <p:sldIdLst>
    <p:sldId id="424" r:id="rId2"/>
    <p:sldId id="425" r:id="rId3"/>
    <p:sldId id="545" r:id="rId4"/>
    <p:sldId id="527" r:id="rId5"/>
    <p:sldId id="516" r:id="rId6"/>
    <p:sldId id="528" r:id="rId7"/>
    <p:sldId id="426" r:id="rId8"/>
    <p:sldId id="594" r:id="rId9"/>
    <p:sldId id="606" r:id="rId10"/>
    <p:sldId id="607" r:id="rId11"/>
    <p:sldId id="608" r:id="rId12"/>
    <p:sldId id="429" r:id="rId13"/>
    <p:sldId id="521" r:id="rId14"/>
    <p:sldId id="549" r:id="rId15"/>
    <p:sldId id="600" r:id="rId16"/>
    <p:sldId id="588" r:id="rId17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99FFCC"/>
    <a:srgbClr val="003366"/>
    <a:srgbClr val="FF3300"/>
    <a:srgbClr val="660033"/>
    <a:srgbClr val="FF0000"/>
    <a:srgbClr val="CC0099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87479" autoAdjust="0"/>
  </p:normalViewPr>
  <p:slideViewPr>
    <p:cSldViewPr>
      <p:cViewPr varScale="1">
        <p:scale>
          <a:sx n="114" d="100"/>
          <a:sy n="114" d="100"/>
        </p:scale>
        <p:origin x="1508" y="76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993EE687-5F91-4457-A04D-FC46806BD6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B134B05E-1C2F-4F01-A564-D042C48A402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F7785402-F4E7-404B-AA89-0A771DA1C4B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D91C93C2-A446-43C4-9B27-4595A2CC96F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F452ED2D-D05D-4D23-952A-B76E4F5E9B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55E50D6D-C511-49F7-AB0F-C6492FA0959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B6A3527B-CB00-405A-95C1-C7B198A8B94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0" name="Rectangle 4">
            <a:extLst>
              <a:ext uri="{FF2B5EF4-FFF2-40B4-BE49-F238E27FC236}">
                <a16:creationId xmlns:a16="http://schemas.microsoft.com/office/drawing/2014/main" id="{AD874E59-E663-4F8B-BE6E-0BEAFC706AB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2021" name="Rectangle 5">
            <a:extLst>
              <a:ext uri="{FF2B5EF4-FFF2-40B4-BE49-F238E27FC236}">
                <a16:creationId xmlns:a16="http://schemas.microsoft.com/office/drawing/2014/main" id="{0DE4B328-E1AB-4D5C-806D-78D3BFC1B12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2022" name="Rectangle 6">
            <a:extLst>
              <a:ext uri="{FF2B5EF4-FFF2-40B4-BE49-F238E27FC236}">
                <a16:creationId xmlns:a16="http://schemas.microsoft.com/office/drawing/2014/main" id="{50FF1B96-860C-47F9-900C-84B67568BA8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3" name="Rectangle 7">
            <a:extLst>
              <a:ext uri="{FF2B5EF4-FFF2-40B4-BE49-F238E27FC236}">
                <a16:creationId xmlns:a16="http://schemas.microsoft.com/office/drawing/2014/main" id="{B6186EAF-23C4-410B-B43B-C0DFBDAAE5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53EAA79B-C9E7-4A60-A37A-A87C7AB3337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F04985F-3C94-48A7-91EA-988342B17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7480A2-9B2E-4A18-AE1A-0631BC594312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530434" name="Rectangle 2">
            <a:extLst>
              <a:ext uri="{FF2B5EF4-FFF2-40B4-BE49-F238E27FC236}">
                <a16:creationId xmlns:a16="http://schemas.microsoft.com/office/drawing/2014/main" id="{4176FCE6-B456-4111-A475-E05C6C6F0F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0435" name="Rectangle 3">
            <a:extLst>
              <a:ext uri="{FF2B5EF4-FFF2-40B4-BE49-F238E27FC236}">
                <a16:creationId xmlns:a16="http://schemas.microsoft.com/office/drawing/2014/main" id="{6EFE8BA8-E506-46CF-AC2B-2D94A6DC4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1B989AB-D97E-4A0A-9520-7966938FB4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DDA30C-000C-4E75-A903-F5434D0ABAF5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531458" name="Rectangle 2">
            <a:extLst>
              <a:ext uri="{FF2B5EF4-FFF2-40B4-BE49-F238E27FC236}">
                <a16:creationId xmlns:a16="http://schemas.microsoft.com/office/drawing/2014/main" id="{5754534D-AFBE-465F-BB8A-D4704E3D5A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1DF87F3A-1F44-42D3-9215-B8087628F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EB88783-98B4-4F5D-BD45-2D73DC56DF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533794-2BD8-4471-BBFD-86EB03E26E42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543746" name="Rectangle 2">
            <a:extLst>
              <a:ext uri="{FF2B5EF4-FFF2-40B4-BE49-F238E27FC236}">
                <a16:creationId xmlns:a16="http://schemas.microsoft.com/office/drawing/2014/main" id="{2FAF60DA-34A9-4760-A1F0-730208AC28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 3">
            <a:extLst>
              <a:ext uri="{FF2B5EF4-FFF2-40B4-BE49-F238E27FC236}">
                <a16:creationId xmlns:a16="http://schemas.microsoft.com/office/drawing/2014/main" id="{929DF2B0-3590-47C7-AE1E-DB506B4A51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6ED7A4F-E493-48CF-9072-0EE7A316FD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7F26AF-137D-401A-A8F2-3196DEBCA42D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544770" name="Rectangle 2">
            <a:extLst>
              <a:ext uri="{FF2B5EF4-FFF2-40B4-BE49-F238E27FC236}">
                <a16:creationId xmlns:a16="http://schemas.microsoft.com/office/drawing/2014/main" id="{7A4B400F-9803-4EBD-B6D1-5B9284151C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4771" name="Rectangle 3">
            <a:extLst>
              <a:ext uri="{FF2B5EF4-FFF2-40B4-BE49-F238E27FC236}">
                <a16:creationId xmlns:a16="http://schemas.microsoft.com/office/drawing/2014/main" id="{66FB3E05-8D07-4CE5-9472-FED264A120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C51FAEA-F848-405F-B246-F36573D7F7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BAEBF5-F165-49A0-B7E1-2FB6723C4E3A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515074" name="Rectangle 2">
            <a:extLst>
              <a:ext uri="{FF2B5EF4-FFF2-40B4-BE49-F238E27FC236}">
                <a16:creationId xmlns:a16="http://schemas.microsoft.com/office/drawing/2014/main" id="{F1902A04-21A9-498D-9BD8-7B66315D70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5075" name="Rectangle 3">
            <a:extLst>
              <a:ext uri="{FF2B5EF4-FFF2-40B4-BE49-F238E27FC236}">
                <a16:creationId xmlns:a16="http://schemas.microsoft.com/office/drawing/2014/main" id="{25A1769D-CE6E-4FD3-BAA0-406555A664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B2814CA-5F6B-4477-A99F-F8A808E834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0D36E7-9BD3-46FF-BFD4-76D20729CAB3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523266" name="Rectangle 2">
            <a:extLst>
              <a:ext uri="{FF2B5EF4-FFF2-40B4-BE49-F238E27FC236}">
                <a16:creationId xmlns:a16="http://schemas.microsoft.com/office/drawing/2014/main" id="{3A54AE1C-8D85-4A49-A9DD-98EA019A59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3267" name="Rectangle 3">
            <a:extLst>
              <a:ext uri="{FF2B5EF4-FFF2-40B4-BE49-F238E27FC236}">
                <a16:creationId xmlns:a16="http://schemas.microsoft.com/office/drawing/2014/main" id="{2DF8E5B7-0771-4D91-8DC5-87A5E4604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0D6D1B8-1BBF-4336-9098-7AAB2B4214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3E0ACA-22E4-493B-9E51-CEDAEDE20564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525314" name="Rectangle 2">
            <a:extLst>
              <a:ext uri="{FF2B5EF4-FFF2-40B4-BE49-F238E27FC236}">
                <a16:creationId xmlns:a16="http://schemas.microsoft.com/office/drawing/2014/main" id="{9B997875-95A4-4EA5-AC2B-9609716DAE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5315" name="Rectangle 3">
            <a:extLst>
              <a:ext uri="{FF2B5EF4-FFF2-40B4-BE49-F238E27FC236}">
                <a16:creationId xmlns:a16="http://schemas.microsoft.com/office/drawing/2014/main" id="{E3EC3CC9-0426-45EC-8760-900C61939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A199478-F569-4AEA-8B05-C1D0077BA3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19AA5D-3474-44CB-9D41-0527C5046297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527362" name="Rectangle 2">
            <a:extLst>
              <a:ext uri="{FF2B5EF4-FFF2-40B4-BE49-F238E27FC236}">
                <a16:creationId xmlns:a16="http://schemas.microsoft.com/office/drawing/2014/main" id="{D5926529-992A-412A-AC54-D7E36AFB55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>
            <a:extLst>
              <a:ext uri="{FF2B5EF4-FFF2-40B4-BE49-F238E27FC236}">
                <a16:creationId xmlns:a16="http://schemas.microsoft.com/office/drawing/2014/main" id="{F330D039-2363-4408-B25D-B7656F7657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23" name="Rectangle 7">
            <a:extLst>
              <a:ext uri="{FF2B5EF4-FFF2-40B4-BE49-F238E27FC236}">
                <a16:creationId xmlns:a16="http://schemas.microsoft.com/office/drawing/2014/main" id="{B764F13E-8056-4E67-8C87-3A836345FE7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1913" y="6453188"/>
            <a:ext cx="2133600" cy="28892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44424" name="Rectangle 8">
            <a:extLst>
              <a:ext uri="{FF2B5EF4-FFF2-40B4-BE49-F238E27FC236}">
                <a16:creationId xmlns:a16="http://schemas.microsoft.com/office/drawing/2014/main" id="{9E71EA40-ECC0-4E9F-90BC-2A5EB8ED6C6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44425" name="Rectangle 9">
            <a:extLst>
              <a:ext uri="{FF2B5EF4-FFF2-40B4-BE49-F238E27FC236}">
                <a16:creationId xmlns:a16="http://schemas.microsoft.com/office/drawing/2014/main" id="{CF3FC555-7F69-430A-B919-BCC5B916FA0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6588125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fld id="{0706EB12-801F-44EB-BE57-AD7356E6E7D0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44427" name="Rectangle 11">
            <a:extLst>
              <a:ext uri="{FF2B5EF4-FFF2-40B4-BE49-F238E27FC236}">
                <a16:creationId xmlns:a16="http://schemas.microsoft.com/office/drawing/2014/main" id="{761F8A01-4601-46D7-B61A-49CAAEA6FBC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557338"/>
            <a:ext cx="8569325" cy="1041400"/>
          </a:xfrm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4800">
                <a:solidFill>
                  <a:schemeClr val="tx2"/>
                </a:solidFill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grpSp>
        <p:nvGrpSpPr>
          <p:cNvPr id="444429" name="Group 13">
            <a:extLst>
              <a:ext uri="{FF2B5EF4-FFF2-40B4-BE49-F238E27FC236}">
                <a16:creationId xmlns:a16="http://schemas.microsoft.com/office/drawing/2014/main" id="{BBE8E6D2-1474-492D-8E90-9FBC0359341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938" y="1773238"/>
            <a:ext cx="9009062" cy="1052512"/>
            <a:chOff x="0" y="1536"/>
            <a:chExt cx="5675" cy="663"/>
          </a:xfrm>
        </p:grpSpPr>
        <p:grpSp>
          <p:nvGrpSpPr>
            <p:cNvPr id="444430" name="Group 14">
              <a:extLst>
                <a:ext uri="{FF2B5EF4-FFF2-40B4-BE49-F238E27FC236}">
                  <a16:creationId xmlns:a16="http://schemas.microsoft.com/office/drawing/2014/main" id="{45A9617E-40C5-4EF6-9C05-28C8524A31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4431" name="Rectangle 15">
                <a:extLst>
                  <a:ext uri="{FF2B5EF4-FFF2-40B4-BE49-F238E27FC236}">
                    <a16:creationId xmlns:a16="http://schemas.microsoft.com/office/drawing/2014/main" id="{C381B182-1219-4C2A-BB42-C6E20B205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4432" name="Rectangle 16">
                <a:extLst>
                  <a:ext uri="{FF2B5EF4-FFF2-40B4-BE49-F238E27FC236}">
                    <a16:creationId xmlns:a16="http://schemas.microsoft.com/office/drawing/2014/main" id="{804651E0-2B48-4EF0-B652-0C58D2009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4433" name="Group 17">
              <a:extLst>
                <a:ext uri="{FF2B5EF4-FFF2-40B4-BE49-F238E27FC236}">
                  <a16:creationId xmlns:a16="http://schemas.microsoft.com/office/drawing/2014/main" id="{673B0B69-508F-4214-AD8E-B123C470E0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4434" name="Rectangle 18">
                <a:extLst>
                  <a:ext uri="{FF2B5EF4-FFF2-40B4-BE49-F238E27FC236}">
                    <a16:creationId xmlns:a16="http://schemas.microsoft.com/office/drawing/2014/main" id="{207A2225-0792-4A32-91D4-C32A06CCA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4435" name="Rectangle 19">
                <a:extLst>
                  <a:ext uri="{FF2B5EF4-FFF2-40B4-BE49-F238E27FC236}">
                    <a16:creationId xmlns:a16="http://schemas.microsoft.com/office/drawing/2014/main" id="{AE709746-542C-4ABA-A77B-2D38F1D40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4436" name="Rectangle 20">
              <a:extLst>
                <a:ext uri="{FF2B5EF4-FFF2-40B4-BE49-F238E27FC236}">
                  <a16:creationId xmlns:a16="http://schemas.microsoft.com/office/drawing/2014/main" id="{514E9A72-3C0D-42B2-9CF0-1D036ED4C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437" name="Rectangle 21">
              <a:extLst>
                <a:ext uri="{FF2B5EF4-FFF2-40B4-BE49-F238E27FC236}">
                  <a16:creationId xmlns:a16="http://schemas.microsoft.com/office/drawing/2014/main" id="{FB0C5DE8-3A60-44BE-85AD-E3CCDDAE2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1C1C1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438" name="Rectangle 22">
              <a:extLst>
                <a:ext uri="{FF2B5EF4-FFF2-40B4-BE49-F238E27FC236}">
                  <a16:creationId xmlns:a16="http://schemas.microsoft.com/office/drawing/2014/main" id="{4F8C5625-7AB0-463A-9A76-2FCBEA0960C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4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C880A6-0D8F-468B-A0DC-ED20DEE5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2DE5B0-D412-47EA-9FD0-58A9E3132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A789E1-68ED-4A96-B3F5-57FAF9C9C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F0AD92-AB06-4A91-90EE-8AC72D574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5C5A5E-BCC8-4832-928C-14819A952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2F41DC-84F6-44EC-BF33-7A0A0FEEA17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9602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E047D-8E0F-4DA3-8DB0-8F989601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55220C-7AC6-4C3D-AF19-F006C2AFF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072AC5-8995-485B-ADC4-DD77D27D1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C8A0F4-1916-4AA8-8E81-729B1DC9B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05CA1-0D61-4CB6-B5A1-DA472673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7D34F2-D903-4D1D-A0FD-44B954857DC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3600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91E9C-F363-4385-82EE-AE9A47A79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68A230-CFC7-49C4-9E4E-02CFF8902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350" y="1295400"/>
            <a:ext cx="4040188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0F84CF-32B9-47C2-A50A-9228FD771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6938" y="1295400"/>
            <a:ext cx="4041775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49DC8B-6AB5-4701-970F-E54579225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D0F8FC-CBA1-43FC-B754-0CBACC3F5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5CB9EA-450C-406A-BE07-EBD687DA6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8F599B-C445-4238-9F89-6E9DA0FEE4B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58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3C8610-CE67-477D-8098-38964E820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36DFF2-F16F-45E7-A7AD-8A71460EF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4688C9-50DF-4763-81BA-AC2FCFC4D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359050-7F3B-46AD-BF22-C992442A2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F5B900-3252-4050-BF50-10BA1C6B2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F08B48-B54F-41BD-AEFB-A61E9056E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BF499B-D09F-41FD-AFB6-1DFD5E05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73C2D7-BA17-48E2-8324-A0D7D042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528C59-9573-4CD2-9637-87D50E0617B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7138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F56A44-1ECD-4518-A18C-D72266E8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F058F3-54EA-4733-B197-B207624A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CCFDFA-F763-4812-AA6C-81C64A13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E86B7D-458D-48A5-B63B-F3105136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5706FD-9D56-4072-AFA9-9C2B60D601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4566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80632C-180A-4243-8B2E-27337DB9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DE1CF7-56E0-4FD5-A629-72654115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69AEF5-C698-4526-AA2A-4068BF9F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84D32F-3C39-46D6-92BD-7877AE69BB5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95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8DE94-C36C-4C9A-940D-505E03D65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464D4-4AAA-4C46-B50A-F438593DC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05E4A2-5C25-4084-A9C9-4EB05BAA0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3CB5E3-61A0-4ADA-B644-A1ECFCAA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89C324-7447-4782-8997-5537641A9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9E829B-C472-4B38-B159-B1D5E4FD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E65EB5-F35B-4A55-8FE5-D94D8A7CEE2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835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00761-9D00-40FB-8E17-F5C5427A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2682EA-BF22-445E-918F-9F80E1077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48C06F-428A-4224-B336-617AFC64B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E1607B-8B55-45BA-8C6B-5390656D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F515BE-E9D2-442E-A2D1-6DF2F5C1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B0932E-F41B-4C03-82DD-66619B04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A1BEF-026D-4BC8-A284-E9462785B36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4931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BA749-0C96-4860-A8CD-40344337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2E6104-DC4D-405D-8E9F-079AF6FDD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F368AC-255B-492D-A60B-AB1C92394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372283-ADF7-4FF3-BF24-63839A48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0D8D64-A8BE-4E05-9942-2A338F2F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A28210-FBA5-4232-B077-2F403888BB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038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B5A4A9-C136-449E-AB3F-5CA23102C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99250" y="71438"/>
            <a:ext cx="2060575" cy="61769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77B91F-2C11-4E15-9F03-03DCA0941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4350" y="71438"/>
            <a:ext cx="6032500" cy="61769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D9EB86-CA49-462F-9FDE-9A09E594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FE849A-8192-44CF-A6A3-2D26FFD9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165B03-D19B-4133-91D6-199DE5C1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1942F0-9246-4DDA-B851-4B022FD0147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92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6" name="Rectangle 4">
            <a:extLst>
              <a:ext uri="{FF2B5EF4-FFF2-40B4-BE49-F238E27FC236}">
                <a16:creationId xmlns:a16="http://schemas.microsoft.com/office/drawing/2014/main" id="{467651FA-576E-4390-A503-8D64C5A73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1295400"/>
            <a:ext cx="8234363" cy="4953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3402" name="Rectangle 10">
            <a:extLst>
              <a:ext uri="{FF2B5EF4-FFF2-40B4-BE49-F238E27FC236}">
                <a16:creationId xmlns:a16="http://schemas.microsoft.com/office/drawing/2014/main" id="{39E1AECE-1ECA-4EB1-832B-7B7CF7B9B64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43403" name="Rectangle 11">
            <a:extLst>
              <a:ext uri="{FF2B5EF4-FFF2-40B4-BE49-F238E27FC236}">
                <a16:creationId xmlns:a16="http://schemas.microsoft.com/office/drawing/2014/main" id="{F9059CD0-AA88-4DE5-BB7B-62D7480F83E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43404" name="Rectangle 12">
            <a:extLst>
              <a:ext uri="{FF2B5EF4-FFF2-40B4-BE49-F238E27FC236}">
                <a16:creationId xmlns:a16="http://schemas.microsoft.com/office/drawing/2014/main" id="{238C37BF-61D9-47AB-8C1E-690FDD08C4D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5475" y="64928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7EC89EEA-37A7-44BD-9A0C-A893D288D86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43405" name="Rectangle 13">
            <a:extLst>
              <a:ext uri="{FF2B5EF4-FFF2-40B4-BE49-F238E27FC236}">
                <a16:creationId xmlns:a16="http://schemas.microsoft.com/office/drawing/2014/main" id="{225990CA-170B-41EE-9738-9F9C1AFE85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1547813" y="71438"/>
            <a:ext cx="7212012" cy="8366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43407" name="Rectangle 15">
            <a:extLst>
              <a:ext uri="{FF2B5EF4-FFF2-40B4-BE49-F238E27FC236}">
                <a16:creationId xmlns:a16="http://schemas.microsoft.com/office/drawing/2014/main" id="{C21E039A-80E2-4878-ABF2-52D19F7EA293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08" name="Rectangle 16">
            <a:extLst>
              <a:ext uri="{FF2B5EF4-FFF2-40B4-BE49-F238E27FC236}">
                <a16:creationId xmlns:a16="http://schemas.microsoft.com/office/drawing/2014/main" id="{E9FF6D6A-DEE0-4042-9D02-16BB1C25B60C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09" name="Rectangle 17">
            <a:extLst>
              <a:ext uri="{FF2B5EF4-FFF2-40B4-BE49-F238E27FC236}">
                <a16:creationId xmlns:a16="http://schemas.microsoft.com/office/drawing/2014/main" id="{6DA34147-3617-4C85-A078-76EFD7A6FEC8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0" name="Rectangle 18">
            <a:extLst>
              <a:ext uri="{FF2B5EF4-FFF2-40B4-BE49-F238E27FC236}">
                <a16:creationId xmlns:a16="http://schemas.microsoft.com/office/drawing/2014/main" id="{E4A082C1-2401-4E62-A63F-33DAFE615FDE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1" name="Rectangle 19">
            <a:extLst>
              <a:ext uri="{FF2B5EF4-FFF2-40B4-BE49-F238E27FC236}">
                <a16:creationId xmlns:a16="http://schemas.microsoft.com/office/drawing/2014/main" id="{B0F86620-F7A5-4035-A47D-EE121AB9AE63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4" name="Rectangle 22">
            <a:extLst>
              <a:ext uri="{FF2B5EF4-FFF2-40B4-BE49-F238E27FC236}">
                <a16:creationId xmlns:a16="http://schemas.microsoft.com/office/drawing/2014/main" id="{90C724D7-3CE1-4E0F-B835-41B6EEBD9528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42913" y="908050"/>
            <a:ext cx="8226425" cy="3175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3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43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43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43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43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6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rgbClr val="33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buChar char="u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498864-9474-4DC7-A5A5-AF61BB37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E15C8-978F-4836-81A6-41B52806986E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227333" name="Rectangle 5">
            <a:extLst>
              <a:ext uri="{FF2B5EF4-FFF2-40B4-BE49-F238E27FC236}">
                <a16:creationId xmlns:a16="http://schemas.microsoft.com/office/drawing/2014/main" id="{0D506299-F469-40D9-BF82-1739C84541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二、函数依赖（</a:t>
            </a:r>
            <a:r>
              <a:rPr lang="en-US" altLang="zh-CN"/>
              <a:t>FD</a:t>
            </a:r>
            <a:r>
              <a:rPr lang="zh-CN" altLang="en-US"/>
              <a:t>）</a:t>
            </a:r>
          </a:p>
        </p:txBody>
      </p:sp>
      <p:sp>
        <p:nvSpPr>
          <p:cNvPr id="227334" name="Rectangle 6">
            <a:extLst>
              <a:ext uri="{FF2B5EF4-FFF2-40B4-BE49-F238E27FC236}">
                <a16:creationId xmlns:a16="http://schemas.microsoft.com/office/drawing/2014/main" id="{39EB20FF-1D63-47FC-9367-A21C0699B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34362" cy="4953000"/>
          </a:xfrm>
        </p:spPr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、定义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设有关系模式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R(A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和属性集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U={A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的子集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。如果对于具体关系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的任何两个元组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，只要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u[X]=v[X]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，就有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u[Y]=v[Y]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，则称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函数决定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，或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函数依赖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，记为</a:t>
            </a:r>
            <a:r>
              <a:rPr lang="en-US" altLang="zh-CN">
                <a:solidFill>
                  <a:srgbClr val="CC00CC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CC00CC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CC00CC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。</a:t>
            </a:r>
            <a:endParaRPr lang="zh-CN" altLang="en-US"/>
          </a:p>
        </p:txBody>
      </p:sp>
      <p:sp>
        <p:nvSpPr>
          <p:cNvPr id="227335" name="AutoShape 7">
            <a:extLst>
              <a:ext uri="{FF2B5EF4-FFF2-40B4-BE49-F238E27FC236}">
                <a16:creationId xmlns:a16="http://schemas.microsoft.com/office/drawing/2014/main" id="{387A34E6-CFD1-4A76-BEF5-D8BEB7570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581525"/>
            <a:ext cx="7704138" cy="2016125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90000" rIns="18000" anchor="ctr"/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函数依赖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是研究施加于关系的</a:t>
            </a: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两个属性集之间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的约束和限制。这类限制并不取决于某元组在它的某些分量上取什么值，而是取决于</a:t>
            </a: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两个不同元组的某些分量值是否相等</a:t>
            </a:r>
            <a:r>
              <a:rPr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ransition advTm="13643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7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7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4" grpId="0" uiExpand="1" build="p"/>
      <p:bldP spid="22733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5">
            <a:extLst>
              <a:ext uri="{FF2B5EF4-FFF2-40B4-BE49-F238E27FC236}">
                <a16:creationId xmlns:a16="http://schemas.microsoft.com/office/drawing/2014/main" id="{1D9C2D69-9210-4AE6-90B9-60DDC8E8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4DF53-D8E7-4ECA-BF74-E42CE6109EF5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228459" name="Rectangle 107">
            <a:extLst>
              <a:ext uri="{FF2B5EF4-FFF2-40B4-BE49-F238E27FC236}">
                <a16:creationId xmlns:a16="http://schemas.microsoft.com/office/drawing/2014/main" id="{F4D4E2AC-D9DF-44F6-8036-BCE944B0CC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en-US" altLang="zh-CN"/>
              <a:t>R(</a:t>
            </a:r>
            <a:r>
              <a:rPr lang="en-US" altLang="zh-CN" u="sng"/>
              <a:t>教员</a:t>
            </a:r>
            <a:r>
              <a:rPr lang="en-US" altLang="zh-CN"/>
              <a:t>, </a:t>
            </a:r>
            <a:r>
              <a:rPr lang="en-US" altLang="en-US"/>
              <a:t>教研室</a:t>
            </a:r>
            <a:r>
              <a:rPr lang="en-US" altLang="zh-CN"/>
              <a:t>,</a:t>
            </a:r>
            <a:r>
              <a:rPr lang="en-US" altLang="zh-CN" u="sng"/>
              <a:t>课程号</a:t>
            </a:r>
            <a:r>
              <a:rPr lang="en-US" altLang="zh-CN"/>
              <a:t>,课程名)</a:t>
            </a:r>
            <a:endParaRPr lang="zh-CN" altLang="en-US"/>
          </a:p>
        </p:txBody>
      </p:sp>
      <p:sp>
        <p:nvSpPr>
          <p:cNvPr id="228550" name="Rectangle 198">
            <a:extLst>
              <a:ext uri="{FF2B5EF4-FFF2-40B4-BE49-F238E27FC236}">
                <a16:creationId xmlns:a16="http://schemas.microsoft.com/office/drawing/2014/main" id="{711F074A-DF12-46C4-899E-B83A7D5515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二、函数依赖（</a:t>
            </a:r>
            <a:r>
              <a:rPr lang="en-US" altLang="zh-CN"/>
              <a:t>FD</a:t>
            </a:r>
            <a:r>
              <a:rPr lang="zh-CN" altLang="en-US"/>
              <a:t>）</a:t>
            </a:r>
          </a:p>
        </p:txBody>
      </p:sp>
      <p:sp>
        <p:nvSpPr>
          <p:cNvPr id="228505" name="Rectangle 153">
            <a:extLst>
              <a:ext uri="{FF2B5EF4-FFF2-40B4-BE49-F238E27FC236}">
                <a16:creationId xmlns:a16="http://schemas.microsoft.com/office/drawing/2014/main" id="{862A6FC9-9C6C-46E9-90A1-F09DA1CF3BB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68538" y="5876925"/>
            <a:ext cx="4103687" cy="6477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914400" indent="-4572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295400" indent="-3810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714500" indent="-3429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171700" indent="-3429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628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30861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5433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40005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教员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教研室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，即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Y</a:t>
            </a:r>
          </a:p>
        </p:txBody>
      </p:sp>
      <p:graphicFrame>
        <p:nvGraphicFramePr>
          <p:cNvPr id="228589" name="Group 237">
            <a:extLst>
              <a:ext uri="{FF2B5EF4-FFF2-40B4-BE49-F238E27FC236}">
                <a16:creationId xmlns:a16="http://schemas.microsoft.com/office/drawing/2014/main" id="{12A49BE8-EB86-465D-8119-4BED41F70A15}"/>
              </a:ext>
            </a:extLst>
          </p:cNvPr>
          <p:cNvGraphicFramePr>
            <a:graphicFrameLocks noGrp="1"/>
          </p:cNvGraphicFramePr>
          <p:nvPr/>
        </p:nvGraphicFramePr>
        <p:xfrm>
          <a:off x="1279525" y="2490788"/>
          <a:ext cx="6577013" cy="3241676"/>
        </p:xfrm>
        <a:graphic>
          <a:graphicData uri="http://schemas.openxmlformats.org/drawingml/2006/table">
            <a:tbl>
              <a:tblPr/>
              <a:tblGrid>
                <a:gridCol w="1387475">
                  <a:extLst>
                    <a:ext uri="{9D8B030D-6E8A-4147-A177-3AD203B41FA5}">
                      <a16:colId xmlns:a16="http://schemas.microsoft.com/office/drawing/2014/main" val="3696442739"/>
                    </a:ext>
                  </a:extLst>
                </a:gridCol>
                <a:gridCol w="1493838">
                  <a:extLst>
                    <a:ext uri="{9D8B030D-6E8A-4147-A177-3AD203B41FA5}">
                      <a16:colId xmlns:a16="http://schemas.microsoft.com/office/drawing/2014/main" val="2251274422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3193357688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64975565"/>
                    </a:ext>
                  </a:extLst>
                </a:gridCol>
              </a:tblGrid>
              <a:tr h="5413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教研室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课程名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634398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信息系统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575463"/>
                  </a:ext>
                </a:extLst>
              </a:tr>
              <a:tr h="5413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370867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737896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VFP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设计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84858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通信原理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347869"/>
                  </a:ext>
                </a:extLst>
              </a:tr>
            </a:tbl>
          </a:graphicData>
        </a:graphic>
      </p:graphicFrame>
      <p:sp>
        <p:nvSpPr>
          <p:cNvPr id="228545" name="Text Box 193">
            <a:extLst>
              <a:ext uri="{FF2B5EF4-FFF2-40B4-BE49-F238E27FC236}">
                <a16:creationId xmlns:a16="http://schemas.microsoft.com/office/drawing/2014/main" id="{90E29923-DD5C-4361-87CF-90FFCF873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3082925"/>
            <a:ext cx="401637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8000"/>
                </a:solidFill>
                <a:ea typeface="黑体" panose="02010609060101010101" pitchFamily="49" charset="-122"/>
              </a:rPr>
              <a:t>u</a:t>
            </a:r>
          </a:p>
        </p:txBody>
      </p:sp>
      <p:sp>
        <p:nvSpPr>
          <p:cNvPr id="228546" name="Text Box 194">
            <a:extLst>
              <a:ext uri="{FF2B5EF4-FFF2-40B4-BE49-F238E27FC236}">
                <a16:creationId xmlns:a16="http://schemas.microsoft.com/office/drawing/2014/main" id="{E2A0249B-FDAB-4156-BE5A-F736CD278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3614738"/>
            <a:ext cx="382587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A50021"/>
                </a:solidFill>
                <a:ea typeface="黑体" panose="02010609060101010101" pitchFamily="49" charset="-122"/>
              </a:rPr>
              <a:t>v</a:t>
            </a:r>
          </a:p>
        </p:txBody>
      </p:sp>
      <p:sp>
        <p:nvSpPr>
          <p:cNvPr id="228543" name="Oval 191">
            <a:extLst>
              <a:ext uri="{FF2B5EF4-FFF2-40B4-BE49-F238E27FC236}">
                <a16:creationId xmlns:a16="http://schemas.microsoft.com/office/drawing/2014/main" id="{A7D99304-CDC1-40A2-ABC3-35250A29C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075" y="2520950"/>
            <a:ext cx="1008063" cy="504825"/>
          </a:xfrm>
          <a:prstGeom prst="ellips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544" name="Oval 192">
            <a:extLst>
              <a:ext uri="{FF2B5EF4-FFF2-40B4-BE49-F238E27FC236}">
                <a16:creationId xmlns:a16="http://schemas.microsoft.com/office/drawing/2014/main" id="{1EFD0ADC-2657-4E66-8D78-D047E4E92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2520950"/>
            <a:ext cx="1276350" cy="504825"/>
          </a:xfrm>
          <a:prstGeom prst="ellips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8547" name="Text Box 195">
            <a:extLst>
              <a:ext uri="{FF2B5EF4-FFF2-40B4-BE49-F238E27FC236}">
                <a16:creationId xmlns:a16="http://schemas.microsoft.com/office/drawing/2014/main" id="{BFFA4C87-B395-4F5D-AA22-988C7E286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550" y="1946275"/>
            <a:ext cx="420688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228548" name="Text Box 196">
            <a:extLst>
              <a:ext uri="{FF2B5EF4-FFF2-40B4-BE49-F238E27FC236}">
                <a16:creationId xmlns:a16="http://schemas.microsoft.com/office/drawing/2014/main" id="{52D02B12-B1BE-4760-8A35-A1ECF1907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3088" y="1946275"/>
            <a:ext cx="420687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228549" name="AutoShape 197">
            <a:extLst>
              <a:ext uri="{FF2B5EF4-FFF2-40B4-BE49-F238E27FC236}">
                <a16:creationId xmlns:a16="http://schemas.microsoft.com/office/drawing/2014/main" id="{3BA71700-4276-4772-B641-A8BE92303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638" y="4249738"/>
            <a:ext cx="4608512" cy="1008062"/>
          </a:xfrm>
          <a:prstGeom prst="wedgeRectCallout">
            <a:avLst>
              <a:gd name="adj1" fmla="val -83343"/>
              <a:gd name="adj2" fmla="val -80236"/>
            </a:avLst>
          </a:prstGeom>
          <a:solidFill>
            <a:srgbClr val="006600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es-ES" altLang="zh-CN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u[X]=v[X] </a:t>
            </a:r>
            <a:r>
              <a:rPr lang="es-E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18" charset="2"/>
              </a:rPr>
              <a:t> </a:t>
            </a:r>
            <a:r>
              <a:rPr lang="es-ES" altLang="zh-CN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u[Y]=v[Y]</a:t>
            </a:r>
            <a:endParaRPr lang="en-US" altLang="zh-CN" sz="28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ransition advTm="5343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8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8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8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8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8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8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8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8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228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505" grpId="0" build="p" autoUpdateAnimBg="0"/>
      <p:bldP spid="228545" grpId="0" autoUpdateAnimBg="0"/>
      <p:bldP spid="228546" grpId="0" autoUpdateAnimBg="0"/>
      <p:bldP spid="228547" grpId="0" autoUpdateAnimBg="0"/>
      <p:bldP spid="228548" grpId="0" autoUpdateAnimBg="0"/>
      <p:bldP spid="228549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5">
            <a:extLst>
              <a:ext uri="{FF2B5EF4-FFF2-40B4-BE49-F238E27FC236}">
                <a16:creationId xmlns:a16="http://schemas.microsoft.com/office/drawing/2014/main" id="{2BB5E391-B0DF-45A3-8B7F-E339A87B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B64F6-DB0A-4656-8E73-0D800951C943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418868" name="Rectangle 52">
            <a:extLst>
              <a:ext uri="{FF2B5EF4-FFF2-40B4-BE49-F238E27FC236}">
                <a16:creationId xmlns:a16="http://schemas.microsoft.com/office/drawing/2014/main" id="{61E45B7F-563F-4E36-81FA-26CAD71B1E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二、函数依赖（</a:t>
            </a:r>
            <a:r>
              <a:rPr lang="en-US" altLang="zh-CN"/>
              <a:t>FD</a:t>
            </a:r>
            <a:r>
              <a:rPr lang="zh-CN" altLang="en-US"/>
              <a:t>）</a:t>
            </a:r>
          </a:p>
        </p:txBody>
      </p:sp>
      <p:sp>
        <p:nvSpPr>
          <p:cNvPr id="418869" name="Rectangle 53">
            <a:extLst>
              <a:ext uri="{FF2B5EF4-FFF2-40B4-BE49-F238E27FC236}">
                <a16:creationId xmlns:a16="http://schemas.microsoft.com/office/drawing/2014/main" id="{E4468EA8-2448-4EC5-907F-A5A9148498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例：</a:t>
            </a:r>
            <a:r>
              <a:rPr lang="en-US" altLang="zh-CN"/>
              <a:t>R(</a:t>
            </a:r>
            <a:r>
              <a:rPr lang="en-US" altLang="zh-CN" u="sng"/>
              <a:t>教员</a:t>
            </a:r>
            <a:r>
              <a:rPr lang="en-US" altLang="zh-CN"/>
              <a:t>,住址,</a:t>
            </a:r>
            <a:r>
              <a:rPr lang="en-US" altLang="zh-CN" u="sng"/>
              <a:t>课程号</a:t>
            </a:r>
            <a:r>
              <a:rPr lang="en-US" altLang="zh-CN"/>
              <a:t>,课程名)</a:t>
            </a:r>
            <a:endParaRPr lang="zh-CN" altLang="en-US"/>
          </a:p>
        </p:txBody>
      </p:sp>
      <p:graphicFrame>
        <p:nvGraphicFramePr>
          <p:cNvPr id="418909" name="Group 93">
            <a:extLst>
              <a:ext uri="{FF2B5EF4-FFF2-40B4-BE49-F238E27FC236}">
                <a16:creationId xmlns:a16="http://schemas.microsoft.com/office/drawing/2014/main" id="{D991F70A-2DF4-4FFA-B1A7-1513220E4368}"/>
              </a:ext>
            </a:extLst>
          </p:cNvPr>
          <p:cNvGraphicFramePr>
            <a:graphicFrameLocks noGrp="1"/>
          </p:cNvGraphicFramePr>
          <p:nvPr/>
        </p:nvGraphicFramePr>
        <p:xfrm>
          <a:off x="1279525" y="2490788"/>
          <a:ext cx="6577013" cy="3241676"/>
        </p:xfrm>
        <a:graphic>
          <a:graphicData uri="http://schemas.openxmlformats.org/drawingml/2006/table">
            <a:tbl>
              <a:tblPr/>
              <a:tblGrid>
                <a:gridCol w="1387475">
                  <a:extLst>
                    <a:ext uri="{9D8B030D-6E8A-4147-A177-3AD203B41FA5}">
                      <a16:colId xmlns:a16="http://schemas.microsoft.com/office/drawing/2014/main" val="658284207"/>
                    </a:ext>
                  </a:extLst>
                </a:gridCol>
                <a:gridCol w="1493838">
                  <a:extLst>
                    <a:ext uri="{9D8B030D-6E8A-4147-A177-3AD203B41FA5}">
                      <a16:colId xmlns:a16="http://schemas.microsoft.com/office/drawing/2014/main" val="2437191651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3348333023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483868845"/>
                    </a:ext>
                  </a:extLst>
                </a:gridCol>
              </a:tblGrid>
              <a:tr h="5413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教研室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课程名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211114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信息系统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00759"/>
                  </a:ext>
                </a:extLst>
              </a:tr>
              <a:tr h="5413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186646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185133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VFP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设计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371766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通信原理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792871"/>
                  </a:ext>
                </a:extLst>
              </a:tr>
            </a:tbl>
          </a:graphicData>
        </a:graphic>
      </p:graphicFrame>
      <p:sp>
        <p:nvSpPr>
          <p:cNvPr id="418955" name="Rectangle 139">
            <a:extLst>
              <a:ext uri="{FF2B5EF4-FFF2-40B4-BE49-F238E27FC236}">
                <a16:creationId xmlns:a16="http://schemas.microsoft.com/office/drawing/2014/main" id="{7BE192DD-6D83-4B9E-B9C0-8C7B9ADBB64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3008313" y="5948363"/>
            <a:ext cx="3816350" cy="4318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914400" indent="-4572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295400" indent="-3810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714500" indent="-3429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171700" indent="-3429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628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30861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5433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40005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教员    课程名</a:t>
            </a:r>
          </a:p>
        </p:txBody>
      </p:sp>
      <p:sp>
        <p:nvSpPr>
          <p:cNvPr id="418956" name="Oval 140">
            <a:extLst>
              <a:ext uri="{FF2B5EF4-FFF2-40B4-BE49-F238E27FC236}">
                <a16:creationId xmlns:a16="http://schemas.microsoft.com/office/drawing/2014/main" id="{A8AF27C5-9AFA-485E-8E7A-9DC2C22B8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2562225"/>
            <a:ext cx="1008063" cy="504825"/>
          </a:xfrm>
          <a:prstGeom prst="ellips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8957" name="Oval 141">
            <a:extLst>
              <a:ext uri="{FF2B5EF4-FFF2-40B4-BE49-F238E27FC236}">
                <a16:creationId xmlns:a16="http://schemas.microsoft.com/office/drawing/2014/main" id="{0021A2E6-E47D-4E83-8360-390CCEB9A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2563813"/>
            <a:ext cx="1439862" cy="504825"/>
          </a:xfrm>
          <a:prstGeom prst="ellipse">
            <a:avLst/>
          </a:prstGeom>
          <a:noFill/>
          <a:ln w="28575" cap="sq">
            <a:solidFill>
              <a:srgbClr val="00CC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8958" name="Text Box 142">
            <a:extLst>
              <a:ext uri="{FF2B5EF4-FFF2-40B4-BE49-F238E27FC236}">
                <a16:creationId xmlns:a16="http://schemas.microsoft.com/office/drawing/2014/main" id="{6773F1DE-E2F5-49F3-9020-80AF6F312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124200"/>
            <a:ext cx="401637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CC0000"/>
                </a:solidFill>
                <a:ea typeface="黑体" panose="02010609060101010101" pitchFamily="49" charset="-122"/>
              </a:rPr>
              <a:t>u</a:t>
            </a:r>
          </a:p>
        </p:txBody>
      </p:sp>
      <p:sp>
        <p:nvSpPr>
          <p:cNvPr id="418959" name="Text Box 143">
            <a:extLst>
              <a:ext uri="{FF2B5EF4-FFF2-40B4-BE49-F238E27FC236}">
                <a16:creationId xmlns:a16="http://schemas.microsoft.com/office/drawing/2014/main" id="{D2DD2B98-A814-4773-8FC8-021FAB540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3656013"/>
            <a:ext cx="382587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339933"/>
                </a:solidFill>
                <a:ea typeface="黑体" panose="02010609060101010101" pitchFamily="49" charset="-122"/>
              </a:rPr>
              <a:t>v</a:t>
            </a:r>
          </a:p>
        </p:txBody>
      </p:sp>
      <p:sp>
        <p:nvSpPr>
          <p:cNvPr id="418960" name="Text Box 144">
            <a:extLst>
              <a:ext uri="{FF2B5EF4-FFF2-40B4-BE49-F238E27FC236}">
                <a16:creationId xmlns:a16="http://schemas.microsoft.com/office/drawing/2014/main" id="{72802C63-FFE7-43F7-A662-766CDE0E7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325" y="1987550"/>
            <a:ext cx="420688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418961" name="Text Box 145">
            <a:extLst>
              <a:ext uri="{FF2B5EF4-FFF2-40B4-BE49-F238E27FC236}">
                <a16:creationId xmlns:a16="http://schemas.microsoft.com/office/drawing/2014/main" id="{9B71738D-0FA9-467D-8A41-86D7C64C5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8763" y="1987550"/>
            <a:ext cx="420687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00"/>
                </a:solidFill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418962" name="AutoShape 146">
            <a:extLst>
              <a:ext uri="{FF2B5EF4-FFF2-40B4-BE49-F238E27FC236}">
                <a16:creationId xmlns:a16="http://schemas.microsoft.com/office/drawing/2014/main" id="{DC2A613E-60B2-4DB1-833D-4ED65203D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413" y="4219575"/>
            <a:ext cx="4608512" cy="1008063"/>
          </a:xfrm>
          <a:prstGeom prst="wedgeRectCallout">
            <a:avLst>
              <a:gd name="adj1" fmla="val -83343"/>
              <a:gd name="adj2" fmla="val -80236"/>
            </a:avLst>
          </a:prstGeom>
          <a:solidFill>
            <a:srgbClr val="006600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es-ES" altLang="zh-CN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u[X]=v[X] </a:t>
            </a:r>
            <a:r>
              <a:rPr lang="zh-CN" altLang="es-E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18" charset="2"/>
              </a:rPr>
              <a:t>有 </a:t>
            </a:r>
            <a:r>
              <a:rPr lang="es-ES" altLang="zh-CN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u[Y] </a:t>
            </a:r>
            <a:r>
              <a:rPr lang="es-ES" altLang="zh-CN" sz="30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s-ES" altLang="zh-CN" sz="3000" b="1">
                <a:solidFill>
                  <a:srgbClr val="00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lang="es-ES" altLang="zh-CN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v[Y]</a:t>
            </a:r>
            <a:endParaRPr lang="en-US" altLang="zh-CN" sz="28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418963" name="Object 147">
            <a:extLst>
              <a:ext uri="{FF2B5EF4-FFF2-40B4-BE49-F238E27FC236}">
                <a16:creationId xmlns:a16="http://schemas.microsoft.com/office/drawing/2014/main" id="{9C02FC7D-9886-4F0A-BC7B-57DCF10E10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3350" y="6054725"/>
          <a:ext cx="5032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0335" imgH="177646" progId="Equation.DSMT4">
                  <p:embed/>
                </p:oleObj>
              </mc:Choice>
              <mc:Fallback>
                <p:oleObj r:id="rId3" imgW="190335" imgH="177646" progId="Equation.DSMT4">
                  <p:embed/>
                  <p:pic>
                    <p:nvPicPr>
                      <p:cNvPr id="0" name="Object 1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6054725"/>
                        <a:ext cx="50323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 advTm="3678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1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8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8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8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8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8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8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8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8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418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1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955" grpId="0" build="p"/>
      <p:bldP spid="418958" grpId="0"/>
      <p:bldP spid="418959" grpId="0"/>
      <p:bldP spid="418961" grpId="0"/>
      <p:bldP spid="41896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251A4C5-DA20-42AE-9CD6-8B9AD465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64CF-E001-49F9-9358-9AB44944DBE7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392196" name="Rectangle 4">
            <a:extLst>
              <a:ext uri="{FF2B5EF4-FFF2-40B4-BE49-F238E27FC236}">
                <a16:creationId xmlns:a16="http://schemas.microsoft.com/office/drawing/2014/main" id="{8CD3BDD0-B26D-4B61-98FE-75A414219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二、函数依赖（</a:t>
            </a:r>
            <a:r>
              <a:rPr lang="en-US" altLang="zh-CN"/>
              <a:t>FD</a:t>
            </a:r>
            <a:r>
              <a:rPr lang="zh-CN" altLang="en-US"/>
              <a:t>）</a:t>
            </a:r>
          </a:p>
        </p:txBody>
      </p:sp>
      <p:sp>
        <p:nvSpPr>
          <p:cNvPr id="392197" name="Rectangle 5">
            <a:extLst>
              <a:ext uri="{FF2B5EF4-FFF2-40B4-BE49-F238E27FC236}">
                <a16:creationId xmlns:a16="http://schemas.microsoft.com/office/drawing/2014/main" id="{AC479957-13BA-4497-A8B6-7B606A9952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、定义</a:t>
            </a:r>
          </a:p>
          <a:p>
            <a:pPr lvl="1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①</a:t>
            </a:r>
            <a:r>
              <a:rPr lang="zh-CN" altLang="zh-CN">
                <a:latin typeface="楷体_GB2312" pitchFamily="49" charset="-122"/>
              </a:rPr>
              <a:t>为什么称为函数依赖呢？</a:t>
            </a:r>
            <a:endParaRPr lang="zh-CN" altLang="en-US">
              <a:latin typeface="楷体_GB2312" pitchFamily="49" charset="-122"/>
            </a:endParaRPr>
          </a:p>
          <a:p>
            <a:pPr lvl="1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②</a:t>
            </a:r>
            <a:r>
              <a:rPr lang="zh-CN" altLang="zh-CN">
                <a:latin typeface="楷体_GB2312" pitchFamily="49" charset="-122"/>
              </a:rPr>
              <a:t>函数依赖是一种语义范畴的概念，反映的是语义完整性约束，所以要从语义的角度来确定一个关系的函数依赖，它一般是隐藏在客观现实和我们的经验当中的。</a:t>
            </a:r>
            <a:endParaRPr lang="zh-CN" altLang="en-US">
              <a:latin typeface="楷体_GB2312" pitchFamily="49" charset="-122"/>
            </a:endParaRPr>
          </a:p>
          <a:p>
            <a:pPr lvl="1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   </a:t>
            </a:r>
            <a:r>
              <a:rPr lang="en-US" altLang="zh-CN">
                <a:solidFill>
                  <a:srgbClr val="003399"/>
                </a:solidFill>
                <a:latin typeface="楷体_GB2312" pitchFamily="49" charset="-122"/>
              </a:rPr>
              <a:t>S# </a:t>
            </a:r>
            <a:r>
              <a:rPr lang="en-US" altLang="zh-CN">
                <a:solidFill>
                  <a:srgbClr val="003399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SNAME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1149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92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92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92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9715C287-D633-4B69-8940-AAB091289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D616C-26A1-44B6-979F-EA1D4F2AFA04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377862" name="Rectangle 6">
            <a:extLst>
              <a:ext uri="{FF2B5EF4-FFF2-40B4-BE49-F238E27FC236}">
                <a16:creationId xmlns:a16="http://schemas.microsoft.com/office/drawing/2014/main" id="{57954825-8E14-4343-A556-7A52795BE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二、函数依赖（</a:t>
            </a:r>
            <a:r>
              <a:rPr lang="en-US" altLang="zh-CN"/>
              <a:t>FD</a:t>
            </a:r>
            <a:r>
              <a:rPr lang="zh-CN" altLang="en-US"/>
              <a:t>）</a:t>
            </a:r>
          </a:p>
        </p:txBody>
      </p:sp>
      <p:sp>
        <p:nvSpPr>
          <p:cNvPr id="377863" name="Rectangle 7">
            <a:extLst>
              <a:ext uri="{FF2B5EF4-FFF2-40B4-BE49-F238E27FC236}">
                <a16:creationId xmlns:a16="http://schemas.microsoft.com/office/drawing/2014/main" id="{488CD4C4-F636-41A6-BBBD-A3E792558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、定义</a:t>
            </a:r>
          </a:p>
          <a:p>
            <a:pPr lvl="1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③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函数依赖与属性之间的联系类型有关。</a:t>
            </a:r>
          </a:p>
          <a:p>
            <a:pPr lvl="1" algn="just">
              <a:buClr>
                <a:srgbClr val="003399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属性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1:1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的联系，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X→Y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Y→X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  <a:p>
            <a:pPr lvl="1" algn="just">
              <a:buClr>
                <a:srgbClr val="003399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公司名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总裁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总裁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公司名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即：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公司名</a:t>
            </a:r>
            <a:r>
              <a:rPr lang="zh-CN" altLang="en-US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总裁</a:t>
            </a:r>
            <a:endParaRPr lang="zh-CN" altLang="en-US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lvl="1" algn="just">
              <a:buClr>
                <a:srgbClr val="003399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属性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m:1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的联系，则只存在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X→Y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  <a:p>
            <a:pPr lvl="1" algn="just">
              <a:buClr>
                <a:srgbClr val="003399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学号与专业之间是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m:1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，则：学号→专业</a:t>
            </a:r>
          </a:p>
          <a:p>
            <a:pPr lvl="1" algn="just">
              <a:buClr>
                <a:srgbClr val="003399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属性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m:n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的联系，则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之间不存在函数依赖关系。</a:t>
            </a:r>
          </a:p>
        </p:txBody>
      </p:sp>
    </p:spTree>
    <p:custDataLst>
      <p:tags r:id="rId1"/>
    </p:custDataLst>
  </p:cSld>
  <p:clrMapOvr>
    <a:masterClrMapping/>
  </p:clrMapOvr>
  <p:transition advTm="1381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778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778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778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778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778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778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6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386311F-C5A0-4C82-8E61-B6656469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CE3C8-AC43-4331-AAA0-2A0EB220DC39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393220" name="Rectangle 4">
            <a:extLst>
              <a:ext uri="{FF2B5EF4-FFF2-40B4-BE49-F238E27FC236}">
                <a16:creationId xmlns:a16="http://schemas.microsoft.com/office/drawing/2014/main" id="{6F0CF7A5-DB51-4171-836E-5A42B1E18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3222" name="Rectangle 6">
            <a:extLst>
              <a:ext uri="{FF2B5EF4-FFF2-40B4-BE49-F238E27FC236}">
                <a16:creationId xmlns:a16="http://schemas.microsoft.com/office/drawing/2014/main" id="{23688D2D-EC5B-4793-9570-663CF45D6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二、函数依赖（</a:t>
            </a:r>
            <a:r>
              <a:rPr lang="en-US" altLang="zh-CN"/>
              <a:t>FD</a:t>
            </a:r>
            <a:r>
              <a:rPr lang="zh-CN" altLang="en-US"/>
              <a:t>）</a:t>
            </a:r>
          </a:p>
        </p:txBody>
      </p:sp>
      <p:sp>
        <p:nvSpPr>
          <p:cNvPr id="393223" name="Rectangle 7">
            <a:extLst>
              <a:ext uri="{FF2B5EF4-FFF2-40B4-BE49-F238E27FC236}">
                <a16:creationId xmlns:a16="http://schemas.microsoft.com/office/drawing/2014/main" id="{8F81551C-E521-4D10-B536-3E77F06409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、定义</a:t>
            </a:r>
          </a:p>
          <a:p>
            <a:pPr lvl="1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④</a:t>
            </a:r>
            <a:r>
              <a:rPr lang="zh-CN" altLang="zh-CN">
                <a:latin typeface="楷体_GB2312" pitchFamily="49" charset="-122"/>
              </a:rPr>
              <a:t>函数依赖不是指关系模式R的某个或某些关系实例满足的约束条件，而是指</a:t>
            </a:r>
            <a:r>
              <a:rPr lang="zh-CN" altLang="zh-CN">
                <a:solidFill>
                  <a:srgbClr val="000099"/>
                </a:solidFill>
                <a:latin typeface="楷体_GB2312" pitchFamily="49" charset="-122"/>
              </a:rPr>
              <a:t>关系模式R的所有实例均要满足的约束条件</a:t>
            </a:r>
            <a:r>
              <a:rPr lang="zh-CN" altLang="zh-CN">
                <a:latin typeface="楷体_GB2312" pitchFamily="49" charset="-122"/>
              </a:rPr>
              <a:t>。</a:t>
            </a:r>
            <a:endParaRPr lang="en-US" altLang="zh-CN">
              <a:latin typeface="楷体_GB2312" pitchFamily="49" charset="-122"/>
            </a:endParaRPr>
          </a:p>
          <a:p>
            <a:pPr lvl="1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⑤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当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时，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值由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值决定，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称为决定因素</a:t>
            </a:r>
          </a:p>
        </p:txBody>
      </p:sp>
    </p:spTree>
    <p:custDataLst>
      <p:tags r:id="rId1"/>
    </p:custDataLst>
  </p:cSld>
  <p:clrMapOvr>
    <a:masterClrMapping/>
  </p:clrMapOvr>
  <p:transition advTm="5734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93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93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2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80404168-AA2E-4A0C-BC54-64AE6127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CD5E9-07D2-49C4-A225-D9C409A83633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229390" name="Rectangle 14">
            <a:extLst>
              <a:ext uri="{FF2B5EF4-FFF2-40B4-BE49-F238E27FC236}">
                <a16:creationId xmlns:a16="http://schemas.microsoft.com/office/drawing/2014/main" id="{8EBC6C97-126C-4216-92AD-4C43D4C6C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2</a:t>
            </a:r>
            <a:r>
              <a:rPr lang="zh-CN" altLang="en-US">
                <a:latin typeface="楷体_GB2312" pitchFamily="49" charset="-122"/>
              </a:rPr>
              <a:t>、非平凡函数依赖与平凡函数依赖</a:t>
            </a:r>
          </a:p>
          <a:p>
            <a:pPr lvl="1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①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若有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，且      ，称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为非平凡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FD</a:t>
            </a:r>
            <a:r>
              <a:rPr lang="en-US" altLang="zh-CN">
                <a:latin typeface="楷体_GB2312" pitchFamily="49" charset="-122"/>
              </a:rPr>
              <a:t> </a:t>
            </a:r>
            <a:endParaRPr lang="zh-CN" altLang="en-US">
              <a:latin typeface="楷体_GB2312" pitchFamily="49" charset="-122"/>
            </a:endParaRPr>
          </a:p>
          <a:p>
            <a:pPr lvl="1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②</a:t>
            </a:r>
            <a:r>
              <a:rPr lang="zh-CN" altLang="en-US">
                <a:latin typeface="楷体_GB2312" pitchFamily="49" charset="-122"/>
              </a:rPr>
              <a:t>若有</a:t>
            </a:r>
            <a:r>
              <a:rPr lang="en-US" altLang="zh-CN">
                <a:latin typeface="楷体_GB2312" pitchFamily="49" charset="-122"/>
              </a:rPr>
              <a:t>X</a:t>
            </a:r>
            <a:r>
              <a:rPr lang="en-US" altLang="zh-CN"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</a:rPr>
              <a:t>Y</a:t>
            </a:r>
            <a:r>
              <a:rPr lang="zh-CN" altLang="en-US">
                <a:latin typeface="楷体_GB2312" pitchFamily="49" charset="-122"/>
              </a:rPr>
              <a:t>，且</a:t>
            </a:r>
            <a:r>
              <a:rPr lang="en-US" altLang="zh-CN">
                <a:latin typeface="楷体_GB2312" pitchFamily="49" charset="-122"/>
              </a:rPr>
              <a:t>Y</a:t>
            </a:r>
            <a:r>
              <a:rPr lang="en-US" altLang="zh-CN">
                <a:latin typeface="楷体_GB2312" pitchFamily="49" charset="-122"/>
                <a:sym typeface="Symbol" panose="05050102010706020507" pitchFamily="18" charset="2"/>
              </a:rPr>
              <a:t></a:t>
            </a:r>
            <a:r>
              <a:rPr lang="en-US" altLang="zh-CN">
                <a:latin typeface="楷体_GB2312" pitchFamily="49" charset="-122"/>
              </a:rPr>
              <a:t>X</a:t>
            </a:r>
            <a:r>
              <a:rPr lang="zh-CN" altLang="en-US">
                <a:latin typeface="楷体_GB2312" pitchFamily="49" charset="-122"/>
              </a:rPr>
              <a:t>，称</a:t>
            </a:r>
            <a:r>
              <a:rPr lang="en-US" altLang="zh-CN">
                <a:latin typeface="楷体_GB2312" pitchFamily="49" charset="-122"/>
              </a:rPr>
              <a:t>X</a:t>
            </a:r>
            <a:r>
              <a:rPr lang="en-US" altLang="zh-CN"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</a:rPr>
              <a:t>Y</a:t>
            </a:r>
            <a:r>
              <a:rPr lang="zh-CN" altLang="en-US">
                <a:latin typeface="楷体_GB2312" pitchFamily="49" charset="-122"/>
              </a:rPr>
              <a:t>为平凡函数依赖</a:t>
            </a:r>
          </a:p>
          <a:p>
            <a:pPr lvl="1" algn="just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>
                <a:latin typeface="楷体_GB2312" pitchFamily="49" charset="-122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   {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教员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教研室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}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教员</a:t>
            </a:r>
            <a:endParaRPr lang="zh-CN" altLang="en-US"/>
          </a:p>
        </p:txBody>
      </p:sp>
      <p:graphicFrame>
        <p:nvGraphicFramePr>
          <p:cNvPr id="229381" name="Object 5">
            <a:extLst>
              <a:ext uri="{FF2B5EF4-FFF2-40B4-BE49-F238E27FC236}">
                <a16:creationId xmlns:a16="http://schemas.microsoft.com/office/drawing/2014/main" id="{6807465D-F8F5-43EE-AE1A-306E465D34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1989138"/>
          <a:ext cx="10080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82181" imgH="215713" progId="Equation.DSMT4">
                  <p:embed/>
                </p:oleObj>
              </mc:Choice>
              <mc:Fallback>
                <p:oleObj r:id="rId4" imgW="482181" imgH="21571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989138"/>
                        <a:ext cx="1008063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9388" name="Group 12">
            <a:extLst>
              <a:ext uri="{FF2B5EF4-FFF2-40B4-BE49-F238E27FC236}">
                <a16:creationId xmlns:a16="http://schemas.microsoft.com/office/drawing/2014/main" id="{2ADE53DE-174A-44BB-ACA3-5DB0C7B3769B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3929063"/>
            <a:ext cx="433388" cy="1300162"/>
            <a:chOff x="1474" y="2430"/>
            <a:chExt cx="273" cy="819"/>
          </a:xfrm>
        </p:grpSpPr>
        <p:sp>
          <p:nvSpPr>
            <p:cNvPr id="229383" name="Text Box 7">
              <a:extLst>
                <a:ext uri="{FF2B5EF4-FFF2-40B4-BE49-F238E27FC236}">
                  <a16:creationId xmlns:a16="http://schemas.microsoft.com/office/drawing/2014/main" id="{8A3EB866-EEA4-4A26-9A13-8F0AE6811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2884"/>
              <a:ext cx="2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29385" name="Line 9">
              <a:extLst>
                <a:ext uri="{FF2B5EF4-FFF2-40B4-BE49-F238E27FC236}">
                  <a16:creationId xmlns:a16="http://schemas.microsoft.com/office/drawing/2014/main" id="{7FD86DCA-5CEE-41B5-9E09-6CE9D7D9F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430"/>
              <a:ext cx="0" cy="45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lg" len="lg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9387" name="Group 11">
            <a:extLst>
              <a:ext uri="{FF2B5EF4-FFF2-40B4-BE49-F238E27FC236}">
                <a16:creationId xmlns:a16="http://schemas.microsoft.com/office/drawing/2014/main" id="{1CD008D9-3EFE-4840-9A97-17429A95475C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3932238"/>
            <a:ext cx="1512887" cy="868362"/>
            <a:chOff x="1383" y="2432"/>
            <a:chExt cx="953" cy="547"/>
          </a:xfrm>
        </p:grpSpPr>
        <p:sp>
          <p:nvSpPr>
            <p:cNvPr id="229384" name="Text Box 8">
              <a:extLst>
                <a:ext uri="{FF2B5EF4-FFF2-40B4-BE49-F238E27FC236}">
                  <a16:creationId xmlns:a16="http://schemas.microsoft.com/office/drawing/2014/main" id="{9F13AF9D-9AF4-42A9-ADDB-465FE1879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614"/>
              <a:ext cx="2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29386" name="AutoShape 10">
              <a:extLst>
                <a:ext uri="{FF2B5EF4-FFF2-40B4-BE49-F238E27FC236}">
                  <a16:creationId xmlns:a16="http://schemas.microsoft.com/office/drawing/2014/main" id="{20AA7CA5-A300-4CC5-A3DF-430BF6CCCD56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769" y="2046"/>
              <a:ext cx="182" cy="953"/>
            </a:xfrm>
            <a:prstGeom prst="leftBrace">
              <a:avLst>
                <a:gd name="adj1" fmla="val 4363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9389" name="Rectangle 13">
            <a:extLst>
              <a:ext uri="{FF2B5EF4-FFF2-40B4-BE49-F238E27FC236}">
                <a16:creationId xmlns:a16="http://schemas.microsoft.com/office/drawing/2014/main" id="{49B4E8B4-D3D2-40DA-A8CF-0EAA86D655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二、函数依赖（</a:t>
            </a:r>
            <a:r>
              <a:rPr lang="en-US" altLang="zh-CN"/>
              <a:t>FD</a:t>
            </a:r>
            <a:r>
              <a:rPr lang="zh-CN" altLang="en-US"/>
              <a:t>）</a:t>
            </a:r>
          </a:p>
        </p:txBody>
      </p:sp>
      <p:sp>
        <p:nvSpPr>
          <p:cNvPr id="229391" name="AutoShape 15">
            <a:extLst>
              <a:ext uri="{FF2B5EF4-FFF2-40B4-BE49-F238E27FC236}">
                <a16:creationId xmlns:a16="http://schemas.microsoft.com/office/drawing/2014/main" id="{399C4F3A-FD70-48AA-910C-EEF1641C2A6D}"/>
              </a:ext>
            </a:extLst>
          </p:cNvPr>
          <p:cNvSpPr>
            <a:spLocks noChangeArrowheads="1"/>
          </p:cNvSpPr>
          <p:nvPr/>
        </p:nvSpPr>
        <p:spPr bwMode="auto">
          <a:xfrm rot="4800000">
            <a:off x="7848600" y="1376363"/>
            <a:ext cx="719138" cy="792162"/>
          </a:xfrm>
          <a:prstGeom prst="lightningBolt">
            <a:avLst/>
          </a:prstGeom>
          <a:solidFill>
            <a:srgbClr val="800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45791" dir="2021404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10503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9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9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29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29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2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2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90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8EED7B8-E22A-4B3B-82A3-35E656C53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C3945-CE25-4D1C-B21D-FE96D186576C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506882" name="Rectangle 2">
            <a:extLst>
              <a:ext uri="{FF2B5EF4-FFF2-40B4-BE49-F238E27FC236}">
                <a16:creationId xmlns:a16="http://schemas.microsoft.com/office/drawing/2014/main" id="{59F5B3A6-7CA6-45A6-ABB4-039DCDF9F6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三、具有函数依赖约束的关系模式</a:t>
            </a:r>
          </a:p>
        </p:txBody>
      </p:sp>
      <p:sp>
        <p:nvSpPr>
          <p:cNvPr id="506883" name="Rectangle 3">
            <a:extLst>
              <a:ext uri="{FF2B5EF4-FFF2-40B4-BE49-F238E27FC236}">
                <a16:creationId xmlns:a16="http://schemas.microsoft.com/office/drawing/2014/main" id="{AC4295A6-9533-42E5-A0B4-E8B9769754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>
                <a:latin typeface="楷体_GB2312" pitchFamily="49" charset="-122"/>
              </a:rPr>
              <a:t>关系模式（关系）</a:t>
            </a:r>
            <a:r>
              <a:rPr lang="en-US" altLang="zh-CN">
                <a:latin typeface="楷体_GB2312" pitchFamily="49" charset="-122"/>
              </a:rPr>
              <a:t>R</a:t>
            </a:r>
            <a:r>
              <a:rPr lang="zh-CN" altLang="en-US">
                <a:latin typeface="楷体_GB2312" pitchFamily="49" charset="-122"/>
              </a:rPr>
              <a:t>的描述：</a:t>
            </a:r>
          </a:p>
          <a:p>
            <a:pPr algn="just">
              <a:buFont typeface="Wingdings" panose="05000000000000000000" pitchFamily="2" charset="2"/>
              <a:buChar char="u"/>
            </a:pPr>
            <a:r>
              <a:rPr lang="zh-CN" altLang="en-US">
                <a:latin typeface="楷体_GB2312" pitchFamily="49" charset="-122"/>
              </a:rPr>
              <a:t>关系的属性集合</a:t>
            </a:r>
            <a:r>
              <a:rPr lang="en-US" altLang="zh-CN">
                <a:latin typeface="楷体_GB2312" pitchFamily="49" charset="-122"/>
              </a:rPr>
              <a:t>U</a:t>
            </a:r>
          </a:p>
          <a:p>
            <a:pPr algn="just">
              <a:buFont typeface="Wingdings" panose="05000000000000000000" pitchFamily="2" charset="2"/>
              <a:buChar char="u"/>
            </a:pPr>
            <a:r>
              <a:rPr lang="zh-CN" altLang="en-US">
                <a:latin typeface="楷体_GB2312" pitchFamily="49" charset="-122"/>
              </a:rPr>
              <a:t>属性间的函数依赖集合</a:t>
            </a:r>
            <a:r>
              <a:rPr lang="en-US" altLang="zh-CN">
                <a:latin typeface="楷体_GB2312" pitchFamily="49" charset="-122"/>
              </a:rPr>
              <a:t>F</a:t>
            </a:r>
          </a:p>
        </p:txBody>
      </p:sp>
    </p:spTree>
    <p:custDataLst>
      <p:tags r:id="rId1"/>
    </p:custDataLst>
  </p:cSld>
  <p:clrMapOvr>
    <a:masterClrMapping/>
  </p:clrMapOvr>
  <p:transition advTm="2438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06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06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06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5">
            <a:extLst>
              <a:ext uri="{FF2B5EF4-FFF2-40B4-BE49-F238E27FC236}">
                <a16:creationId xmlns:a16="http://schemas.microsoft.com/office/drawing/2014/main" id="{5350EAE7-1A4F-44F5-972E-A9BF501A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6DE7-FDB7-4C5F-B725-C132F24ED4F6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522242" name="Rectangle 2">
            <a:extLst>
              <a:ext uri="{FF2B5EF4-FFF2-40B4-BE49-F238E27FC236}">
                <a16:creationId xmlns:a16="http://schemas.microsoft.com/office/drawing/2014/main" id="{7A6402A1-2E50-40F7-AA77-A7E6F09A07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三、具有函数依赖约束的关系模式</a:t>
            </a:r>
          </a:p>
        </p:txBody>
      </p:sp>
      <p:sp>
        <p:nvSpPr>
          <p:cNvPr id="522243" name="Rectangle 3">
            <a:extLst>
              <a:ext uri="{FF2B5EF4-FFF2-40B4-BE49-F238E27FC236}">
                <a16:creationId xmlns:a16="http://schemas.microsoft.com/office/drawing/2014/main" id="{32AA8BB1-DFDA-4023-9123-F2AB058E61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/>
              <a:t>学习关系</a:t>
            </a:r>
            <a:r>
              <a:rPr lang="en-US" altLang="zh-CN"/>
              <a:t>SC</a:t>
            </a:r>
            <a:r>
              <a:rPr lang="zh-CN" altLang="en-US">
                <a:latin typeface="楷体_GB2312" pitchFamily="49" charset="-122"/>
              </a:rPr>
              <a:t>的描述：</a:t>
            </a:r>
          </a:p>
          <a:p>
            <a:pPr algn="just">
              <a:buFont typeface="Wingdings" panose="05000000000000000000" pitchFamily="2" charset="2"/>
              <a:buChar char="u"/>
            </a:pPr>
            <a:r>
              <a:rPr lang="zh-CN" altLang="en-US">
                <a:latin typeface="楷体_GB2312" pitchFamily="49" charset="-122"/>
              </a:rPr>
              <a:t>关系的属性集合</a:t>
            </a:r>
            <a:r>
              <a:rPr lang="en-US" altLang="zh-CN">
                <a:latin typeface="楷体_GB2312" pitchFamily="49" charset="-122"/>
              </a:rPr>
              <a:t>U={S#, C#, GRADE}</a:t>
            </a:r>
          </a:p>
          <a:p>
            <a:pPr algn="just">
              <a:buFont typeface="Wingdings" panose="05000000000000000000" pitchFamily="2" charset="2"/>
              <a:buChar char="u"/>
            </a:pPr>
            <a:r>
              <a:rPr lang="zh-CN" altLang="en-US">
                <a:latin typeface="楷体_GB2312" pitchFamily="49" charset="-122"/>
              </a:rPr>
              <a:t>属性间的函数依赖集合</a:t>
            </a:r>
            <a:r>
              <a:rPr lang="en-US" altLang="zh-CN">
                <a:latin typeface="楷体_GB2312" pitchFamily="49" charset="-122"/>
              </a:rPr>
              <a:t>F={{S#,C#}</a:t>
            </a:r>
            <a:r>
              <a:rPr lang="en-US" altLang="zh-CN"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latin typeface="楷体_GB2312" pitchFamily="49" charset="-122"/>
              </a:rPr>
              <a:t>GRADE}</a:t>
            </a:r>
          </a:p>
        </p:txBody>
      </p:sp>
      <p:graphicFrame>
        <p:nvGraphicFramePr>
          <p:cNvPr id="522328" name="Group 88">
            <a:extLst>
              <a:ext uri="{FF2B5EF4-FFF2-40B4-BE49-F238E27FC236}">
                <a16:creationId xmlns:a16="http://schemas.microsoft.com/office/drawing/2014/main" id="{989407FF-0B5F-49F0-BCDD-455E7995147D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4149725"/>
          <a:ext cx="3168650" cy="2303463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348407852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56445485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963734443"/>
                    </a:ext>
                  </a:extLst>
                </a:gridCol>
              </a:tblGrid>
              <a:tr h="547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S#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C#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GRADE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417504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200401001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C401001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058042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200401001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C402001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037234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200401002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C401001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020614"/>
                  </a:ext>
                </a:extLst>
              </a:tr>
            </a:tbl>
          </a:graphicData>
        </a:graphic>
      </p:graphicFrame>
      <p:sp>
        <p:nvSpPr>
          <p:cNvPr id="522321" name="Text Box 81">
            <a:extLst>
              <a:ext uri="{FF2B5EF4-FFF2-40B4-BE49-F238E27FC236}">
                <a16:creationId xmlns:a16="http://schemas.microsoft.com/office/drawing/2014/main" id="{6DED4531-1441-46F0-8C08-77F05EECC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548063"/>
            <a:ext cx="1717675" cy="4572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学习关系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SC</a:t>
            </a:r>
          </a:p>
        </p:txBody>
      </p:sp>
      <p:grpSp>
        <p:nvGrpSpPr>
          <p:cNvPr id="522330" name="Group 90">
            <a:extLst>
              <a:ext uri="{FF2B5EF4-FFF2-40B4-BE49-F238E27FC236}">
                <a16:creationId xmlns:a16="http://schemas.microsoft.com/office/drawing/2014/main" id="{CD015FBE-14E1-453C-8DB4-9188D8E535BC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4437063"/>
            <a:ext cx="4392612" cy="1871662"/>
            <a:chOff x="2517" y="2795"/>
            <a:chExt cx="2767" cy="1179"/>
          </a:xfrm>
        </p:grpSpPr>
        <p:grpSp>
          <p:nvGrpSpPr>
            <p:cNvPr id="522329" name="Group 89">
              <a:extLst>
                <a:ext uri="{FF2B5EF4-FFF2-40B4-BE49-F238E27FC236}">
                  <a16:creationId xmlns:a16="http://schemas.microsoft.com/office/drawing/2014/main" id="{D7C9B631-E732-484B-AA1C-4215BC4BE9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7" y="2795"/>
              <a:ext cx="1224" cy="1179"/>
              <a:chOff x="2517" y="2795"/>
              <a:chExt cx="1224" cy="1179"/>
            </a:xfrm>
          </p:grpSpPr>
          <p:sp>
            <p:nvSpPr>
              <p:cNvPr id="522322" name="Rectangle 82">
                <a:extLst>
                  <a:ext uri="{FF2B5EF4-FFF2-40B4-BE49-F238E27FC236}">
                    <a16:creationId xmlns:a16="http://schemas.microsoft.com/office/drawing/2014/main" id="{712D807A-46FA-4E08-9B86-1395DD44C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7" y="2795"/>
                <a:ext cx="1224" cy="1179"/>
              </a:xfrm>
              <a:prstGeom prst="rect">
                <a:avLst/>
              </a:prstGeom>
              <a:solidFill>
                <a:srgbClr val="CCFFCC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23" name="Text Box 83">
                <a:extLst>
                  <a:ext uri="{FF2B5EF4-FFF2-40B4-BE49-F238E27FC236}">
                    <a16:creationId xmlns:a16="http://schemas.microsoft.com/office/drawing/2014/main" id="{F6C41E8F-F0F3-4B72-88E7-A7E2DE4827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9" y="2912"/>
                <a:ext cx="1043" cy="406"/>
              </a:xfrm>
              <a:prstGeom prst="rect">
                <a:avLst/>
              </a:prstGeom>
              <a:solidFill>
                <a:srgbClr val="003366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学号</a:t>
                </a:r>
                <a:r>
                  <a:rPr lang="en-US" altLang="zh-CN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(S#)</a:t>
                </a:r>
              </a:p>
            </p:txBody>
          </p:sp>
          <p:sp>
            <p:nvSpPr>
              <p:cNvPr id="522324" name="Text Box 84">
                <a:extLst>
                  <a:ext uri="{FF2B5EF4-FFF2-40B4-BE49-F238E27FC236}">
                    <a16:creationId xmlns:a16="http://schemas.microsoft.com/office/drawing/2014/main" id="{46637AF5-AC46-4FB7-8816-A0E3176B8A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9" y="3439"/>
                <a:ext cx="1043" cy="406"/>
              </a:xfrm>
              <a:prstGeom prst="rect">
                <a:avLst/>
              </a:prstGeom>
              <a:solidFill>
                <a:srgbClr val="003366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 lIns="0" rIns="0" bIns="10800" anchor="ctr" anchorCtr="1"/>
              <a:lstStyle/>
              <a:p>
                <a:pPr algn="ctr"/>
                <a:r>
                  <a:rPr lang="zh-CN" altLang="en-US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课程号</a:t>
                </a:r>
                <a:r>
                  <a:rPr lang="en-US" altLang="zh-CN" sz="2400" b="1">
                    <a:solidFill>
                      <a:srgbClr val="FFFF66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楷体_GB2312" pitchFamily="49" charset="-122"/>
                  </a:rPr>
                  <a:t>(C#)</a:t>
                </a:r>
              </a:p>
            </p:txBody>
          </p:sp>
        </p:grpSp>
        <p:sp>
          <p:nvSpPr>
            <p:cNvPr id="522325" name="Text Box 85">
              <a:extLst>
                <a:ext uri="{FF2B5EF4-FFF2-40B4-BE49-F238E27FC236}">
                  <a16:creationId xmlns:a16="http://schemas.microsoft.com/office/drawing/2014/main" id="{99F7454E-B3FD-4AB9-A151-D93949A9F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3160"/>
              <a:ext cx="1134" cy="406"/>
            </a:xfrm>
            <a:prstGeom prst="rect">
              <a:avLst/>
            </a:prstGeom>
            <a:solidFill>
              <a:srgbClr val="FF99CC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0" rIns="0" bIns="10800" anchor="ctr" anchorCtr="1"/>
            <a:lstStyle/>
            <a:p>
              <a:pPr algn="ctr"/>
              <a:r>
                <a:rPr lang="zh-CN" altLang="en-US" sz="24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成绩</a:t>
              </a:r>
              <a:r>
                <a:rPr lang="en-US" altLang="zh-CN" sz="2400" b="1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</a:rPr>
                <a:t>(GRADE)</a:t>
              </a:r>
            </a:p>
          </p:txBody>
        </p:sp>
        <p:sp>
          <p:nvSpPr>
            <p:cNvPr id="522326" name="Line 86">
              <a:extLst>
                <a:ext uri="{FF2B5EF4-FFF2-40B4-BE49-F238E27FC236}">
                  <a16:creationId xmlns:a16="http://schemas.microsoft.com/office/drawing/2014/main" id="{78E43D87-C750-487F-AA9B-16E400B8C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2" y="3365"/>
              <a:ext cx="4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lg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 advTm="4958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1" dur="1000"/>
                                        <p:tgtEl>
                                          <p:spTgt spid="52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22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22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22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3" grpId="0" uiExpand="1" build="p"/>
      <p:bldP spid="5223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D58D4E2-E0CF-4FB3-B5F0-D691DEC2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D85DD-B639-4E4B-90DC-9F34DF65858D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524290" name="Rectangle 2">
            <a:extLst>
              <a:ext uri="{FF2B5EF4-FFF2-40B4-BE49-F238E27FC236}">
                <a16:creationId xmlns:a16="http://schemas.microsoft.com/office/drawing/2014/main" id="{22BF7CA9-3A15-493E-A01F-84453F311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三、具有函数依赖约束的关系模式</a:t>
            </a:r>
          </a:p>
        </p:txBody>
      </p:sp>
      <p:sp>
        <p:nvSpPr>
          <p:cNvPr id="524291" name="Rectangle 3">
            <a:extLst>
              <a:ext uri="{FF2B5EF4-FFF2-40B4-BE49-F238E27FC236}">
                <a16:creationId xmlns:a16="http://schemas.microsoft.com/office/drawing/2014/main" id="{293B8718-0A53-4AF9-ABC6-AA3D69A6E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/>
              <a:t>大学教学管理数据库应用系统的关系模式</a:t>
            </a:r>
            <a:r>
              <a:rPr lang="zh-CN" altLang="en-US">
                <a:latin typeface="楷体_GB2312" pitchFamily="49" charset="-122"/>
              </a:rPr>
              <a:t>的描述：</a:t>
            </a:r>
          </a:p>
        </p:txBody>
      </p:sp>
      <p:sp>
        <p:nvSpPr>
          <p:cNvPr id="524292" name="Text Box 4">
            <a:extLst>
              <a:ext uri="{FF2B5EF4-FFF2-40B4-BE49-F238E27FC236}">
                <a16:creationId xmlns:a16="http://schemas.microsoft.com/office/drawing/2014/main" id="{C9CFF90F-31FE-40B7-AF5F-068B6BAF0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205038"/>
            <a:ext cx="7775575" cy="4103687"/>
          </a:xfrm>
          <a:prstGeom prst="rect">
            <a:avLst/>
          </a:prstGeom>
          <a:gradFill rotWithShape="1">
            <a:gsLst>
              <a:gs pos="0">
                <a:srgbClr val="CCFFCC"/>
              </a:gs>
              <a:gs pos="50000">
                <a:srgbClr val="FFFFFF"/>
              </a:gs>
              <a:gs pos="100000">
                <a:srgbClr val="CCFFCC"/>
              </a:gs>
            </a:gsLst>
            <a:lin ang="54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{S#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SNAME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SSEX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SBIRTHIN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PLACEOFB, SCODE#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CLASS}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{SNO}→{SNAME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SSEX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SBIRTHIN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PLACEOFB, SCODE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CLASS}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SS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{SCODE#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SSNAME}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{SCODE#}→{SSNAME}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{C#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CNAME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CLASSH 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{C#}→{CNAME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CLASSH}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CS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{SCODE#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C#}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{SCODE#, C#}→{SCODE#, C#}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SC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{S#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C#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GRADE 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{S#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C#}→{GRADE}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{T#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TNAME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TSEX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TBIRTHIN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TITLEOF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TRSECTION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TEL}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{TNO}→{TNAME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TSEX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TBIRTHIN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TITLEOF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TRSECTION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TEL}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TEACH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{T#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C#}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{T#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C#}→{ T#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C#}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</p:spTree>
    <p:custDataLst>
      <p:tags r:id="rId1"/>
    </p:custDataLst>
  </p:cSld>
  <p:clrMapOvr>
    <a:masterClrMapping/>
  </p:clrMapOvr>
  <p:transition advTm="1983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42DEB3B-8F6E-4542-9BB1-DEFEA1B9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035C9-79F0-48E4-8B6A-F261223192F6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526338" name="Rectangle 2">
            <a:extLst>
              <a:ext uri="{FF2B5EF4-FFF2-40B4-BE49-F238E27FC236}">
                <a16:creationId xmlns:a16="http://schemas.microsoft.com/office/drawing/2014/main" id="{2591BE37-FB59-43DE-8039-0576FF195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 已知关系模式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R(A,B,C)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，其函数依赖集为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F={A→B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B→C}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，那么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A→BC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在该关系中是否成立呢？</a:t>
            </a:r>
          </a:p>
        </p:txBody>
      </p:sp>
      <p:sp>
        <p:nvSpPr>
          <p:cNvPr id="526339" name="Rectangle 3">
            <a:extLst>
              <a:ext uri="{FF2B5EF4-FFF2-40B4-BE49-F238E27FC236}">
                <a16:creationId xmlns:a16="http://schemas.microsoft.com/office/drawing/2014/main" id="{4C8E63EC-4E1C-4F60-84DA-7E18982A5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26340" name="AutoShape 4">
            <a:extLst>
              <a:ext uri="{FF2B5EF4-FFF2-40B4-BE49-F238E27FC236}">
                <a16:creationId xmlns:a16="http://schemas.microsoft.com/office/drawing/2014/main" id="{24169B93-BBC3-4AE1-B5E1-4DFD13AB7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115888"/>
            <a:ext cx="1657350" cy="720725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r>
              <a:rPr lang="zh-CN" altLang="en-US" sz="3200" b="1">
                <a:solidFill>
                  <a:srgbClr val="66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思考</a:t>
            </a:r>
          </a:p>
        </p:txBody>
      </p:sp>
    </p:spTree>
  </p:cSld>
  <p:clrMapOvr>
    <a:masterClrMapping/>
  </p:clrMapOvr>
  <p:transition advTm="54784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6E2538B-0EAB-4412-A4AC-CE6BB9B1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C4E73-F0EA-4397-B19D-468F52E50A20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232453" name="Rectangle 5">
            <a:extLst>
              <a:ext uri="{FF2B5EF4-FFF2-40B4-BE49-F238E27FC236}">
                <a16:creationId xmlns:a16="http://schemas.microsoft.com/office/drawing/2014/main" id="{7A36C7E2-6B6B-4863-9B19-9CCB8D9F8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四、函数依赖的逻辑蕴涵</a:t>
            </a:r>
          </a:p>
        </p:txBody>
      </p:sp>
      <p:sp>
        <p:nvSpPr>
          <p:cNvPr id="232454" name="Rectangle 6">
            <a:extLst>
              <a:ext uri="{FF2B5EF4-FFF2-40B4-BE49-F238E27FC236}">
                <a16:creationId xmlns:a16="http://schemas.microsoft.com/office/drawing/2014/main" id="{2E271F59-1822-401A-BE0F-09FD3D4A5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、逻辑蕴涵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设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是关系模式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的函数依赖集合，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是属性集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U={A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的子集，如果从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中的函数依赖能够推导出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，则称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逻辑蕴涵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，或称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的逻辑蕴涵。记为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990033"/>
                </a:solidFill>
                <a:latin typeface="楷体_GB2312" pitchFamily="49" charset="-122"/>
                <a:cs typeface="Times New Roman" panose="02020603050405020304" pitchFamily="18" charset="0"/>
              </a:rPr>
              <a:t>|=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Y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7833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2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24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8D36C3-40D9-43A7-9BB7-8D3D66656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2ACD-287B-48C3-AB97-CC8FF7CBA7BC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386054" name="Rectangle 6">
            <a:extLst>
              <a:ext uri="{FF2B5EF4-FFF2-40B4-BE49-F238E27FC236}">
                <a16:creationId xmlns:a16="http://schemas.microsoft.com/office/drawing/2014/main" id="{803FC254-7415-4EFF-A35F-F57784722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2</a:t>
            </a:r>
            <a:r>
              <a:rPr lang="zh-CN" altLang="en-US">
                <a:latin typeface="楷体_GB2312" pitchFamily="49" charset="-122"/>
              </a:rPr>
              <a:t>、闭包</a:t>
            </a:r>
          </a:p>
          <a:p>
            <a:pPr algn="just"/>
            <a:r>
              <a:rPr lang="zh-CN" altLang="en-US">
                <a:latin typeface="楷体_GB2312" pitchFamily="49" charset="-122"/>
              </a:rPr>
              <a:t>     所有被</a:t>
            </a:r>
            <a:r>
              <a:rPr lang="en-US" altLang="zh-CN">
                <a:latin typeface="楷体_GB2312" pitchFamily="49" charset="-122"/>
              </a:rPr>
              <a:t>F</a:t>
            </a:r>
            <a:r>
              <a:rPr lang="zh-CN" altLang="en-US">
                <a:latin typeface="楷体_GB2312" pitchFamily="49" charset="-122"/>
              </a:rPr>
              <a:t>逻辑蕴涵的函数依赖组成的依赖集称为</a:t>
            </a:r>
            <a:r>
              <a:rPr lang="en-US" altLang="zh-CN">
                <a:latin typeface="楷体_GB2312" pitchFamily="49" charset="-122"/>
              </a:rPr>
              <a:t>F</a:t>
            </a:r>
            <a:r>
              <a:rPr lang="zh-CN" altLang="en-US">
                <a:latin typeface="楷体_GB2312" pitchFamily="49" charset="-122"/>
              </a:rPr>
              <a:t>的闭包，记为</a:t>
            </a:r>
            <a:r>
              <a:rPr lang="en-US" altLang="zh-CN">
                <a:solidFill>
                  <a:srgbClr val="CC3300"/>
                </a:solidFill>
                <a:latin typeface="楷体_GB2312" pitchFamily="49" charset="-122"/>
              </a:rPr>
              <a:t>F</a:t>
            </a:r>
            <a:r>
              <a:rPr lang="zh-CN" altLang="en-US" baseline="30000">
                <a:solidFill>
                  <a:srgbClr val="CC3300"/>
                </a:solidFill>
                <a:latin typeface="楷体_GB2312" pitchFamily="49" charset="-122"/>
              </a:rPr>
              <a:t>＋</a:t>
            </a:r>
            <a:r>
              <a:rPr lang="zh-CN" altLang="en-US">
                <a:latin typeface="楷体_GB2312" pitchFamily="49" charset="-122"/>
              </a:rPr>
              <a:t>。</a:t>
            </a:r>
          </a:p>
          <a:p>
            <a:pPr algn="just"/>
            <a:r>
              <a:rPr lang="en-US" altLang="zh-CN">
                <a:latin typeface="楷体_GB2312" pitchFamily="49" charset="-122"/>
              </a:rPr>
              <a:t>     </a:t>
            </a:r>
            <a:r>
              <a:rPr lang="en-US" altLang="zh-CN">
                <a:solidFill>
                  <a:srgbClr val="990033"/>
                </a:solidFill>
                <a:latin typeface="楷体_GB2312" pitchFamily="49" charset="-122"/>
              </a:rPr>
              <a:t>F</a:t>
            </a:r>
            <a:r>
              <a:rPr lang="zh-CN" altLang="en-US" baseline="30000">
                <a:solidFill>
                  <a:srgbClr val="990033"/>
                </a:solidFill>
                <a:latin typeface="楷体_GB2312" pitchFamily="49" charset="-122"/>
              </a:rPr>
              <a:t>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={X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Y|F|=X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Y}</a:t>
            </a:r>
            <a:r>
              <a:rPr lang="en-US" altLang="zh-CN">
                <a:latin typeface="楷体_GB2312" pitchFamily="49" charset="-122"/>
              </a:rPr>
              <a:t> 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   ① F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中的元素是函数依赖；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   ②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一般地有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F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F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；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   ③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一个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FD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能够成为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F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中的元素的条件是：能够从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中推导出该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FD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</a:rPr>
              <a:t>。</a:t>
            </a:r>
          </a:p>
        </p:txBody>
      </p:sp>
      <p:sp>
        <p:nvSpPr>
          <p:cNvPr id="386052" name="AutoShape 4">
            <a:extLst>
              <a:ext uri="{FF2B5EF4-FFF2-40B4-BE49-F238E27FC236}">
                <a16:creationId xmlns:a16="http://schemas.microsoft.com/office/drawing/2014/main" id="{4CB9CE7C-9E92-4C48-91E4-CE62CFCA2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516563"/>
            <a:ext cx="1944688" cy="936625"/>
          </a:xfrm>
          <a:prstGeom prst="wedgeRectCallout">
            <a:avLst>
              <a:gd name="adj1" fmla="val -125264"/>
              <a:gd name="adj2" fmla="val -62880"/>
            </a:avLst>
          </a:prstGeom>
          <a:solidFill>
            <a:srgbClr val="3333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推导工具</a:t>
            </a:r>
            <a:endParaRPr lang="zh-CN" altLang="en-US" sz="2800" b="1" baseline="3000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6053" name="Rectangle 5">
            <a:extLst>
              <a:ext uri="{FF2B5EF4-FFF2-40B4-BE49-F238E27FC236}">
                <a16:creationId xmlns:a16="http://schemas.microsoft.com/office/drawing/2014/main" id="{8F024C5E-602A-4574-87F3-73F550D3E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四、函数依赖的逻辑蕴涵</a:t>
            </a:r>
          </a:p>
        </p:txBody>
      </p:sp>
      <p:sp>
        <p:nvSpPr>
          <p:cNvPr id="386055" name="WordArt 7">
            <a:extLst>
              <a:ext uri="{FF2B5EF4-FFF2-40B4-BE49-F238E27FC236}">
                <a16:creationId xmlns:a16="http://schemas.microsoft.com/office/drawing/2014/main" id="{3F785780-E3F8-499D-8A74-D2E91ECE6EE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985125" y="5445125"/>
            <a:ext cx="619125" cy="10795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Inflate">
              <a:avLst>
                <a:gd name="adj" fmla="val 13634"/>
              </a:avLst>
            </a:prstTxWarp>
          </a:bodyPr>
          <a:lstStyle/>
          <a:p>
            <a:pPr algn="ctr"/>
            <a:r>
              <a:rPr lang="zh-CN" altLang="en-US" sz="4800" b="1" i="1" kern="10">
                <a:ln w="9525" cap="sq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solidFill>
                  <a:srgbClr val="99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？</a:t>
            </a:r>
          </a:p>
        </p:txBody>
      </p:sp>
    </p:spTree>
    <p:custDataLst>
      <p:tags r:id="rId1"/>
    </p:custDataLst>
  </p:cSld>
  <p:clrMapOvr>
    <a:masterClrMapping/>
  </p:clrMapOvr>
  <p:transition advTm="1148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86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86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86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86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860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860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6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86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4" grpId="0" uiExpand="1" build="p"/>
      <p:bldP spid="38605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5">
            <a:extLst>
              <a:ext uri="{FF2B5EF4-FFF2-40B4-BE49-F238E27FC236}">
                <a16:creationId xmlns:a16="http://schemas.microsoft.com/office/drawing/2014/main" id="{87CA7F34-15F7-4A1D-B713-BF303577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1374-9988-4B5B-A799-6E12FD1FC474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430162" name="Rectangle 82">
            <a:extLst>
              <a:ext uri="{FF2B5EF4-FFF2-40B4-BE49-F238E27FC236}">
                <a16:creationId xmlns:a16="http://schemas.microsoft.com/office/drawing/2014/main" id="{C19565CE-AC1B-410F-90DB-6A658DE35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430201" name="Rectangle 121">
            <a:extLst>
              <a:ext uri="{FF2B5EF4-FFF2-40B4-BE49-F238E27FC236}">
                <a16:creationId xmlns:a16="http://schemas.microsoft.com/office/drawing/2014/main" id="{9A874372-FC19-4DED-B3A2-8D8C7F23C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781300"/>
            <a:ext cx="2305050" cy="647700"/>
          </a:xfrm>
          <a:prstGeom prst="rect">
            <a:avLst/>
          </a:prstGeom>
          <a:gradFill rotWithShape="1">
            <a:gsLst>
              <a:gs pos="0">
                <a:srgbClr val="CCFFCC"/>
              </a:gs>
              <a:gs pos="50000">
                <a:srgbClr val="FFFFFF"/>
              </a:gs>
              <a:gs pos="100000">
                <a:srgbClr val="CCFFCC"/>
              </a:gs>
            </a:gsLst>
            <a:lin ang="2700000" scaled="1"/>
          </a:gradFill>
          <a:ln w="9525" algn="ctr">
            <a:solidFill>
              <a:srgbClr val="080808"/>
            </a:solidFill>
            <a:miter lim="800000"/>
            <a:headEnd/>
            <a:tailEnd/>
          </a:ln>
          <a:effectLst>
            <a:outerShdw dist="63500" dir="2212194" algn="ctr" rotWithShape="0">
              <a:schemeClr val="tx1"/>
            </a:outerShdw>
          </a:effectLst>
        </p:spPr>
        <p:txBody>
          <a:bodyPr anchor="ctr" anchorCtr="1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函数依赖</a:t>
            </a:r>
            <a:r>
              <a:rPr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X→Y</a:t>
            </a:r>
            <a:r>
              <a:rPr lang="en-US" altLang="zh-CN" b="1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pSp>
        <p:nvGrpSpPr>
          <p:cNvPr id="430202" name="Group 122">
            <a:extLst>
              <a:ext uri="{FF2B5EF4-FFF2-40B4-BE49-F238E27FC236}">
                <a16:creationId xmlns:a16="http://schemas.microsoft.com/office/drawing/2014/main" id="{FED8CB47-DF09-406D-8A13-54B7471792F7}"/>
              </a:ext>
            </a:extLst>
          </p:cNvPr>
          <p:cNvGrpSpPr>
            <a:grpSpLocks/>
          </p:cNvGrpSpPr>
          <p:nvPr/>
        </p:nvGrpSpPr>
        <p:grpSpPr bwMode="auto">
          <a:xfrm>
            <a:off x="6484938" y="2511425"/>
            <a:ext cx="1800225" cy="1296988"/>
            <a:chOff x="1837" y="1071"/>
            <a:chExt cx="1134" cy="817"/>
          </a:xfrm>
        </p:grpSpPr>
        <p:sp>
          <p:nvSpPr>
            <p:cNvPr id="430203" name="AutoShape 123">
              <a:extLst>
                <a:ext uri="{FF2B5EF4-FFF2-40B4-BE49-F238E27FC236}">
                  <a16:creationId xmlns:a16="http://schemas.microsoft.com/office/drawing/2014/main" id="{DE681067-8F6B-4B52-93BB-84612A174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207"/>
              <a:ext cx="136" cy="545"/>
            </a:xfrm>
            <a:prstGeom prst="leftBrace">
              <a:avLst>
                <a:gd name="adj1" fmla="val 33395"/>
                <a:gd name="adj2" fmla="val 50000"/>
              </a:avLst>
            </a:prstGeom>
            <a:noFill/>
            <a:ln w="25400">
              <a:solidFill>
                <a:srgbClr val="080808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sp>
          <p:nvSpPr>
            <p:cNvPr id="430204" name="Rectangle 124">
              <a:extLst>
                <a:ext uri="{FF2B5EF4-FFF2-40B4-BE49-F238E27FC236}">
                  <a16:creationId xmlns:a16="http://schemas.microsoft.com/office/drawing/2014/main" id="{C920FA1F-A53F-4484-9BA0-010470E92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1071"/>
              <a:ext cx="952" cy="364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50000">
                  <a:srgbClr val="FFFFFF"/>
                </a:gs>
                <a:gs pos="100000">
                  <a:srgbClr val="00FFFF"/>
                </a:gs>
              </a:gsLst>
              <a:lin ang="0" scaled="1"/>
            </a:gradFill>
            <a:ln w="9525" algn="ctr">
              <a:solidFill>
                <a:srgbClr val="080808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/>
              </a:outerShdw>
            </a:effectLst>
          </p:spPr>
          <p:txBody>
            <a:bodyPr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非平凡</a:t>
              </a:r>
              <a:r>
                <a:rPr lang="en-US" altLang="zh-CN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FD </a:t>
              </a:r>
            </a:p>
          </p:txBody>
        </p:sp>
        <p:sp>
          <p:nvSpPr>
            <p:cNvPr id="430205" name="Rectangle 125">
              <a:extLst>
                <a:ext uri="{FF2B5EF4-FFF2-40B4-BE49-F238E27FC236}">
                  <a16:creationId xmlns:a16="http://schemas.microsoft.com/office/drawing/2014/main" id="{41426582-CCA8-456D-90A5-8FF085253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1524"/>
              <a:ext cx="952" cy="364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50000">
                  <a:srgbClr val="FFFFFF"/>
                </a:gs>
                <a:gs pos="100000">
                  <a:srgbClr val="00FFFF"/>
                </a:gs>
              </a:gsLst>
              <a:lin ang="0" scaled="1"/>
            </a:gradFill>
            <a:ln w="9525" algn="ctr">
              <a:solidFill>
                <a:srgbClr val="080808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/>
              </a:outerShdw>
            </a:effectLst>
          </p:spPr>
          <p:txBody>
            <a:bodyPr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平凡</a:t>
              </a:r>
              <a:r>
                <a:rPr lang="en-US" altLang="zh-CN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FD </a:t>
              </a:r>
            </a:p>
          </p:txBody>
        </p:sp>
      </p:grpSp>
      <p:sp>
        <p:nvSpPr>
          <p:cNvPr id="430211" name="Rectangle 131">
            <a:extLst>
              <a:ext uri="{FF2B5EF4-FFF2-40B4-BE49-F238E27FC236}">
                <a16:creationId xmlns:a16="http://schemas.microsoft.com/office/drawing/2014/main" id="{0EEC04A4-0C83-479F-B297-72EC3328B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026025"/>
            <a:ext cx="1800225" cy="579438"/>
          </a:xfrm>
          <a:prstGeom prst="rect">
            <a:avLst/>
          </a:prstGeom>
          <a:gradFill rotWithShape="1">
            <a:gsLst>
              <a:gs pos="0">
                <a:srgbClr val="CCFFCC"/>
              </a:gs>
              <a:gs pos="50000">
                <a:srgbClr val="FFFFFF"/>
              </a:gs>
              <a:gs pos="100000">
                <a:srgbClr val="CCFFCC"/>
              </a:gs>
            </a:gsLst>
            <a:lin ang="2700000" scaled="1"/>
          </a:gradFill>
          <a:ln w="9525" algn="ctr">
            <a:solidFill>
              <a:srgbClr val="080808"/>
            </a:solidFill>
            <a:miter lim="800000"/>
            <a:headEnd/>
            <a:tailEnd/>
          </a:ln>
          <a:effectLst>
            <a:outerShdw dist="63500" dir="2212194" algn="ctr" rotWithShape="0">
              <a:schemeClr val="tx1"/>
            </a:outerShdw>
          </a:effectLst>
        </p:spPr>
        <p:txBody>
          <a:bodyPr anchor="ctr" anchorCtr="1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b="1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b="1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</a:t>
            </a:r>
            <a:r>
              <a:rPr lang="en-US" altLang="zh-CN" b="1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=X→Y</a:t>
            </a:r>
          </a:p>
        </p:txBody>
      </p:sp>
      <p:grpSp>
        <p:nvGrpSpPr>
          <p:cNvPr id="430212" name="Group 132">
            <a:extLst>
              <a:ext uri="{FF2B5EF4-FFF2-40B4-BE49-F238E27FC236}">
                <a16:creationId xmlns:a16="http://schemas.microsoft.com/office/drawing/2014/main" id="{57B481D5-6E36-484D-B920-AF5BAF631FF7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5026025"/>
            <a:ext cx="2952750" cy="579438"/>
            <a:chOff x="1836" y="2205"/>
            <a:chExt cx="2450" cy="365"/>
          </a:xfrm>
        </p:grpSpPr>
        <p:sp>
          <p:nvSpPr>
            <p:cNvPr id="430213" name="AutoShape 133">
              <a:extLst>
                <a:ext uri="{FF2B5EF4-FFF2-40B4-BE49-F238E27FC236}">
                  <a16:creationId xmlns:a16="http://schemas.microsoft.com/office/drawing/2014/main" id="{95CE2718-A32D-423D-9887-38CB4A8EF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2315"/>
              <a:ext cx="1724" cy="163"/>
            </a:xfrm>
            <a:prstGeom prst="rightArrow">
              <a:avLst>
                <a:gd name="adj1" fmla="val 49694"/>
                <a:gd name="adj2" fmla="val 107383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14" name="Rectangle 134">
              <a:extLst>
                <a:ext uri="{FF2B5EF4-FFF2-40B4-BE49-F238E27FC236}">
                  <a16:creationId xmlns:a16="http://schemas.microsoft.com/office/drawing/2014/main" id="{E1349194-5740-49EC-81A3-F08833BD8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205"/>
              <a:ext cx="680" cy="365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50000">
                  <a:srgbClr val="FFFFFF"/>
                </a:gs>
                <a:gs pos="100000">
                  <a:srgbClr val="00FFFF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lIns="0" rIns="0"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r>
                <a:rPr lang="en-US" altLang="zh-CN" b="1" baseline="30000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endParaRPr lang="en-US" altLang="zh-CN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430215" name="Group 135">
            <a:extLst>
              <a:ext uri="{FF2B5EF4-FFF2-40B4-BE49-F238E27FC236}">
                <a16:creationId xmlns:a16="http://schemas.microsoft.com/office/drawing/2014/main" id="{4F891E59-CB20-46BB-9357-AE6DC6AFAE03}"/>
              </a:ext>
            </a:extLst>
          </p:cNvPr>
          <p:cNvGrpSpPr>
            <a:grpSpLocks/>
          </p:cNvGrpSpPr>
          <p:nvPr/>
        </p:nvGrpSpPr>
        <p:grpSpPr bwMode="auto">
          <a:xfrm>
            <a:off x="2382838" y="5443538"/>
            <a:ext cx="2305050" cy="1152525"/>
            <a:chOff x="1882" y="2523"/>
            <a:chExt cx="1452" cy="726"/>
          </a:xfrm>
        </p:grpSpPr>
        <p:sp>
          <p:nvSpPr>
            <p:cNvPr id="430216" name="AutoShape 136">
              <a:extLst>
                <a:ext uri="{FF2B5EF4-FFF2-40B4-BE49-F238E27FC236}">
                  <a16:creationId xmlns:a16="http://schemas.microsoft.com/office/drawing/2014/main" id="{CF951EF7-87A3-4478-9BF5-EE826C65F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" y="2523"/>
              <a:ext cx="137" cy="273"/>
            </a:xfrm>
            <a:prstGeom prst="downArrow">
              <a:avLst>
                <a:gd name="adj1" fmla="val 50000"/>
                <a:gd name="adj2" fmla="val 4981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217" name="Rectangle 137">
              <a:extLst>
                <a:ext uri="{FF2B5EF4-FFF2-40B4-BE49-F238E27FC236}">
                  <a16:creationId xmlns:a16="http://schemas.microsoft.com/office/drawing/2014/main" id="{2892AEBB-EB0D-4B57-80D5-52E7F58AB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842"/>
              <a:ext cx="1452" cy="407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50000">
                  <a:srgbClr val="FFFFFF"/>
                </a:gs>
                <a:gs pos="100000">
                  <a:srgbClr val="00FFFF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lIns="0" rIns="0"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能从</a:t>
              </a:r>
              <a:r>
                <a:rPr lang="en-US" altLang="zh-CN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r>
                <a:rPr lang="zh-CN" altLang="en-US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导出</a:t>
              </a:r>
              <a:r>
                <a:rPr lang="en-US" altLang="zh-CN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X→Y</a:t>
              </a:r>
            </a:p>
          </p:txBody>
        </p:sp>
      </p:grpSp>
      <p:sp>
        <p:nvSpPr>
          <p:cNvPr id="430234" name="Rectangle 154">
            <a:extLst>
              <a:ext uri="{FF2B5EF4-FFF2-40B4-BE49-F238E27FC236}">
                <a16:creationId xmlns:a16="http://schemas.microsoft.com/office/drawing/2014/main" id="{DA3D2106-C037-4AC3-B17D-9B7EC947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384300"/>
            <a:ext cx="1657350" cy="647700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50000">
                <a:srgbClr val="FFFFFF"/>
              </a:gs>
              <a:gs pos="100000">
                <a:srgbClr val="00FFFF"/>
              </a:gs>
            </a:gsLst>
            <a:lin ang="0" scaled="1"/>
          </a:gradFill>
          <a:ln w="9525">
            <a:solidFill>
              <a:srgbClr val="080808"/>
            </a:solidFill>
            <a:miter lim="800000"/>
            <a:headEnd/>
            <a:tailEnd/>
          </a:ln>
          <a:effectLst>
            <a:outerShdw dist="63500" dir="2212194" algn="ctr" rotWithShape="0">
              <a:schemeClr val="tx1"/>
            </a:outerShdw>
          </a:effectLst>
        </p:spPr>
        <p:txBody>
          <a:bodyPr anchor="ctr" anchorCtr="1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b="1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异常问题 </a:t>
            </a:r>
          </a:p>
        </p:txBody>
      </p:sp>
      <p:sp>
        <p:nvSpPr>
          <p:cNvPr id="430236" name="Rectangle 156">
            <a:extLst>
              <a:ext uri="{FF2B5EF4-FFF2-40B4-BE49-F238E27FC236}">
                <a16:creationId xmlns:a16="http://schemas.microsoft.com/office/drawing/2014/main" id="{2ADA7967-1C00-43C0-B431-9095179D3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2798763"/>
            <a:ext cx="3498850" cy="647700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50000">
                <a:srgbClr val="FFFFFF"/>
              </a:gs>
              <a:gs pos="100000">
                <a:srgbClr val="00FFFF"/>
              </a:gs>
            </a:gsLst>
            <a:lin ang="0" scaled="1"/>
          </a:gradFill>
          <a:ln w="9525">
            <a:solidFill>
              <a:srgbClr val="080808"/>
            </a:solidFill>
            <a:miter lim="800000"/>
            <a:headEnd/>
            <a:tailEnd/>
          </a:ln>
          <a:effectLst>
            <a:outerShdw dist="63500" dir="2212194" algn="ctr" rotWithShape="0">
              <a:schemeClr val="tx1"/>
            </a:outerShdw>
          </a:effectLst>
        </p:spPr>
        <p:txBody>
          <a:bodyPr anchor="ctr" anchorCtr="1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u[X]=v[X]</a:t>
            </a:r>
            <a:r>
              <a:rPr lang="en-US" altLang="zh-CN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u[Y]=v[Y]</a:t>
            </a:r>
            <a:endParaRPr lang="zh-CN" altLang="en-US" b="1">
              <a:solidFill>
                <a:srgbClr val="6600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30239" name="Group 159">
            <a:extLst>
              <a:ext uri="{FF2B5EF4-FFF2-40B4-BE49-F238E27FC236}">
                <a16:creationId xmlns:a16="http://schemas.microsoft.com/office/drawing/2014/main" id="{44243EA0-57E8-443F-9D37-906CCEFE5988}"/>
              </a:ext>
            </a:extLst>
          </p:cNvPr>
          <p:cNvGrpSpPr>
            <a:grpSpLocks/>
          </p:cNvGrpSpPr>
          <p:nvPr/>
        </p:nvGrpSpPr>
        <p:grpSpPr bwMode="auto">
          <a:xfrm>
            <a:off x="5565775" y="1052513"/>
            <a:ext cx="3154363" cy="1309687"/>
            <a:chOff x="3506" y="709"/>
            <a:chExt cx="1987" cy="825"/>
          </a:xfrm>
        </p:grpSpPr>
        <p:sp>
          <p:nvSpPr>
            <p:cNvPr id="430226" name="Rectangle 146">
              <a:extLst>
                <a:ext uri="{FF2B5EF4-FFF2-40B4-BE49-F238E27FC236}">
                  <a16:creationId xmlns:a16="http://schemas.microsoft.com/office/drawing/2014/main" id="{9DD0DD3D-F0E4-4A39-A502-1EF0E1834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3" y="709"/>
              <a:ext cx="1700" cy="408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50000">
                  <a:srgbClr val="FFFFFF"/>
                </a:gs>
                <a:gs pos="100000">
                  <a:srgbClr val="00FFFF"/>
                </a:gs>
              </a:gsLst>
              <a:lin ang="0" scaled="1"/>
            </a:gradFill>
            <a:ln w="9525" algn="ctr">
              <a:solidFill>
                <a:srgbClr val="080808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/>
              </a:outerShdw>
            </a:effectLst>
          </p:spPr>
          <p:txBody>
            <a:bodyPr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原因：</a:t>
              </a:r>
              <a:r>
                <a:rPr lang="zh-CN" altLang="en-US" b="1">
                  <a:solidFill>
                    <a:srgbClr val="003366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数据依赖</a:t>
              </a:r>
            </a:p>
          </p:txBody>
        </p:sp>
        <p:sp>
          <p:nvSpPr>
            <p:cNvPr id="430227" name="Rectangle 147">
              <a:extLst>
                <a:ext uri="{FF2B5EF4-FFF2-40B4-BE49-F238E27FC236}">
                  <a16:creationId xmlns:a16="http://schemas.microsoft.com/office/drawing/2014/main" id="{97C85245-0193-408D-9512-5DE8341A7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3" y="1126"/>
              <a:ext cx="1700" cy="408"/>
            </a:xfrm>
            <a:prstGeom prst="rect">
              <a:avLst/>
            </a:prstGeom>
            <a:gradFill rotWithShape="1">
              <a:gsLst>
                <a:gs pos="0">
                  <a:srgbClr val="00FFFF"/>
                </a:gs>
                <a:gs pos="50000">
                  <a:srgbClr val="FFFFFF"/>
                </a:gs>
                <a:gs pos="100000">
                  <a:srgbClr val="00FFFF"/>
                </a:gs>
              </a:gsLst>
              <a:lin ang="0" scaled="1"/>
            </a:gradFill>
            <a:ln w="9525" algn="ctr">
              <a:solidFill>
                <a:srgbClr val="080808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/>
              </a:outerShdw>
            </a:effectLst>
          </p:spPr>
          <p:txBody>
            <a:bodyPr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关系模式的分解</a:t>
              </a:r>
            </a:p>
          </p:txBody>
        </p:sp>
        <p:sp>
          <p:nvSpPr>
            <p:cNvPr id="430237" name="AutoShape 157">
              <a:extLst>
                <a:ext uri="{FF2B5EF4-FFF2-40B4-BE49-F238E27FC236}">
                  <a16:creationId xmlns:a16="http://schemas.microsoft.com/office/drawing/2014/main" id="{D3153D84-319E-4A73-827A-9F668A12E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6" y="1036"/>
              <a:ext cx="272" cy="182"/>
            </a:xfrm>
            <a:prstGeom prst="rightArrow">
              <a:avLst>
                <a:gd name="adj1" fmla="val 50000"/>
                <a:gd name="adj2" fmla="val 37363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240" name="Group 160">
            <a:extLst>
              <a:ext uri="{FF2B5EF4-FFF2-40B4-BE49-F238E27FC236}">
                <a16:creationId xmlns:a16="http://schemas.microsoft.com/office/drawing/2014/main" id="{29368188-2AD5-440D-87FA-5FAEEBD0FFC4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3471863"/>
            <a:ext cx="4249737" cy="1179512"/>
            <a:chOff x="385" y="2233"/>
            <a:chExt cx="2677" cy="743"/>
          </a:xfrm>
        </p:grpSpPr>
        <p:sp>
          <p:nvSpPr>
            <p:cNvPr id="430235" name="Rectangle 155">
              <a:extLst>
                <a:ext uri="{FF2B5EF4-FFF2-40B4-BE49-F238E27FC236}">
                  <a16:creationId xmlns:a16="http://schemas.microsoft.com/office/drawing/2014/main" id="{953D102B-003D-4B57-9B5C-BFA67D6B2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2568"/>
              <a:ext cx="2677" cy="408"/>
            </a:xfrm>
            <a:prstGeom prst="rect">
              <a:avLst/>
            </a:prstGeom>
            <a:gradFill rotWithShape="1">
              <a:gsLst>
                <a:gs pos="0">
                  <a:srgbClr val="CCFFCC"/>
                </a:gs>
                <a:gs pos="50000">
                  <a:srgbClr val="FFFFFF"/>
                </a:gs>
                <a:gs pos="100000">
                  <a:srgbClr val="CCFFCC"/>
                </a:gs>
              </a:gsLst>
              <a:lin ang="2700000" scaled="1"/>
            </a:gradFill>
            <a:ln w="9525">
              <a:solidFill>
                <a:srgbClr val="080808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/>
              </a:outerShdw>
            </a:effectLst>
          </p:spPr>
          <p:txBody>
            <a:bodyPr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具有函数依赖约束的关系模式</a:t>
              </a:r>
            </a:p>
          </p:txBody>
        </p:sp>
        <p:sp>
          <p:nvSpPr>
            <p:cNvPr id="430238" name="AutoShape 158">
              <a:extLst>
                <a:ext uri="{FF2B5EF4-FFF2-40B4-BE49-F238E27FC236}">
                  <a16:creationId xmlns:a16="http://schemas.microsoft.com/office/drawing/2014/main" id="{3A1285CD-0184-414F-9664-5EC7FA94F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" y="2233"/>
              <a:ext cx="136" cy="317"/>
            </a:xfrm>
            <a:prstGeom prst="downArrow">
              <a:avLst>
                <a:gd name="adj1" fmla="val 50000"/>
                <a:gd name="adj2" fmla="val 58272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242" name="Group 162">
            <a:extLst>
              <a:ext uri="{FF2B5EF4-FFF2-40B4-BE49-F238E27FC236}">
                <a16:creationId xmlns:a16="http://schemas.microsoft.com/office/drawing/2014/main" id="{1CFD30E5-E8C3-4EFA-92B4-4468798F9569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384300"/>
            <a:ext cx="3529013" cy="3987800"/>
            <a:chOff x="158" y="918"/>
            <a:chExt cx="2223" cy="2512"/>
          </a:xfrm>
        </p:grpSpPr>
        <p:sp>
          <p:nvSpPr>
            <p:cNvPr id="430224" name="Rectangle 144">
              <a:extLst>
                <a:ext uri="{FF2B5EF4-FFF2-40B4-BE49-F238E27FC236}">
                  <a16:creationId xmlns:a16="http://schemas.microsoft.com/office/drawing/2014/main" id="{C9CCD6CE-504D-445A-9661-7AE46E47B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918"/>
              <a:ext cx="1996" cy="408"/>
            </a:xfrm>
            <a:prstGeom prst="rect">
              <a:avLst/>
            </a:prstGeom>
            <a:gradFill rotWithShape="1">
              <a:gsLst>
                <a:gs pos="0">
                  <a:srgbClr val="CCFFCC"/>
                </a:gs>
                <a:gs pos="50000">
                  <a:srgbClr val="FFFFFF"/>
                </a:gs>
                <a:gs pos="100000">
                  <a:srgbClr val="CCFFCC"/>
                </a:gs>
              </a:gsLst>
              <a:lin ang="2700000" scaled="1"/>
            </a:gradFill>
            <a:ln w="9525">
              <a:solidFill>
                <a:srgbClr val="080808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/>
              </a:outerShdw>
            </a:effectLst>
          </p:spPr>
          <p:txBody>
            <a:bodyPr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b="1">
                  <a:solidFill>
                    <a:srgbClr val="CC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规范化设计的必要性</a:t>
              </a:r>
            </a:p>
          </p:txBody>
        </p:sp>
        <p:sp>
          <p:nvSpPr>
            <p:cNvPr id="430241" name="AutoShape 161">
              <a:extLst>
                <a:ext uri="{FF2B5EF4-FFF2-40B4-BE49-F238E27FC236}">
                  <a16:creationId xmlns:a16="http://schemas.microsoft.com/office/drawing/2014/main" id="{EEFF4C0D-A90A-4B95-B508-0B8FE12B8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" y="1071"/>
              <a:ext cx="182" cy="2359"/>
            </a:xfrm>
            <a:prstGeom prst="leftBrace">
              <a:avLst>
                <a:gd name="adj1" fmla="val 108013"/>
                <a:gd name="adj2" fmla="val 50000"/>
              </a:avLst>
            </a:prstGeom>
            <a:noFill/>
            <a:ln w="317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0243" name="Rectangle 163">
            <a:extLst>
              <a:ext uri="{FF2B5EF4-FFF2-40B4-BE49-F238E27FC236}">
                <a16:creationId xmlns:a16="http://schemas.microsoft.com/office/drawing/2014/main" id="{851D34EE-46F6-4A74-A10B-8626861AD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4003675"/>
            <a:ext cx="2016125" cy="647700"/>
          </a:xfrm>
          <a:prstGeom prst="rect">
            <a:avLst/>
          </a:prstGeom>
          <a:gradFill rotWithShape="1">
            <a:gsLst>
              <a:gs pos="0">
                <a:srgbClr val="00FFFF"/>
              </a:gs>
              <a:gs pos="50000">
                <a:srgbClr val="FFFFFF"/>
              </a:gs>
              <a:gs pos="100000">
                <a:srgbClr val="00FFFF"/>
              </a:gs>
            </a:gsLst>
            <a:lin ang="0" scaled="1"/>
          </a:gradFill>
          <a:ln w="9525">
            <a:solidFill>
              <a:srgbClr val="080808"/>
            </a:solidFill>
            <a:miter lim="800000"/>
            <a:headEnd/>
            <a:tailEnd/>
          </a:ln>
          <a:effectLst>
            <a:outerShdw dist="63500" dir="2212194" algn="ctr" rotWithShape="0">
              <a:schemeClr val="tx1"/>
            </a:outerShdw>
          </a:effectLst>
        </p:spPr>
        <p:txBody>
          <a:bodyPr anchor="ctr" anchorCtr="1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U</a:t>
            </a:r>
            <a:r>
              <a:rPr lang="zh-CN" altLang="en-US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zh-CN" altLang="en-US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  <p:custDataLst>
      <p:tags r:id="rId1"/>
    </p:custDataLst>
  </p:cSld>
  <p:clrMapOvr>
    <a:masterClrMapping/>
  </p:clrMapOvr>
  <p:transition advTm="5538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30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3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3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3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3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01" grpId="0" animBg="1"/>
      <p:bldP spid="430211" grpId="0" animBg="1"/>
      <p:bldP spid="430234" grpId="0" animBg="1"/>
      <p:bldP spid="430236" grpId="0" animBg="1"/>
      <p:bldP spid="43024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灯片编号占位符 5">
            <a:extLst>
              <a:ext uri="{FF2B5EF4-FFF2-40B4-BE49-F238E27FC236}">
                <a16:creationId xmlns:a16="http://schemas.microsoft.com/office/drawing/2014/main" id="{DF5CFC7F-13BB-472B-A57A-A8D75479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19D30-68DA-4A96-9A64-5BD56A016BB3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516098" name="AutoShape 2">
            <a:extLst>
              <a:ext uri="{FF2B5EF4-FFF2-40B4-BE49-F238E27FC236}">
                <a16:creationId xmlns:a16="http://schemas.microsoft.com/office/drawing/2014/main" id="{5D1AF84B-B68C-4C55-ACCF-DCED4C088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15888"/>
            <a:ext cx="1657350" cy="720725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CC99FF"/>
              </a:gs>
              <a:gs pos="50000">
                <a:srgbClr val="FFFFFF"/>
              </a:gs>
              <a:gs pos="100000">
                <a:srgbClr val="CC99FF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algn="ctr"/>
            <a:r>
              <a:rPr lang="zh-CN" altLang="en-US" sz="3200" b="1">
                <a:solidFill>
                  <a:srgbClr val="66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作业</a:t>
            </a:r>
          </a:p>
        </p:txBody>
      </p:sp>
      <p:graphicFrame>
        <p:nvGraphicFramePr>
          <p:cNvPr id="516099" name="Group 3">
            <a:extLst>
              <a:ext uri="{FF2B5EF4-FFF2-40B4-BE49-F238E27FC236}">
                <a16:creationId xmlns:a16="http://schemas.microsoft.com/office/drawing/2014/main" id="{4C7A4B09-FAB5-47FF-8A12-AEF4E6EE98A6}"/>
              </a:ext>
            </a:extLst>
          </p:cNvPr>
          <p:cNvGraphicFramePr>
            <a:graphicFrameLocks noGrp="1"/>
          </p:cNvGraphicFramePr>
          <p:nvPr/>
        </p:nvGraphicFramePr>
        <p:xfrm>
          <a:off x="538163" y="1484313"/>
          <a:ext cx="8137525" cy="4608514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409862463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83711937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3903634895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1187567793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628746657"/>
                    </a:ext>
                  </a:extLst>
                </a:gridCol>
                <a:gridCol w="1403350">
                  <a:extLst>
                    <a:ext uri="{9D8B030D-6E8A-4147-A177-3AD203B41FA5}">
                      <a16:colId xmlns:a16="http://schemas.microsoft.com/office/drawing/2014/main" val="882617159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78201369"/>
                    </a:ext>
                  </a:extLst>
                </a:gridCol>
              </a:tblGrid>
              <a:tr h="5476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S#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SCODE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C#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CNAME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GRADE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851165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200401001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  华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S0401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计算机科学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C401001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数据结构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765733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200401001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  华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S0401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计算机科学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C402001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计算机原理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925422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200401002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李建平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S0401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计算机科学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C401001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数据结构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138787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200402001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杨秋红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S0402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指挥自动化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C401001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数据结构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280818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200402001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杨秋红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S0402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指挥自动化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C402002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通信原理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155790"/>
                  </a:ext>
                </a:extLst>
              </a:tr>
              <a:tr h="5842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200402002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吴志伟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S0402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指挥自动化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C403001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计算机网络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205307"/>
                  </a:ext>
                </a:extLst>
              </a:tr>
              <a:tr h="5492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200402003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李  涛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S0402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指挥自动化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C403001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计算机网络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353233"/>
                  </a:ext>
                </a:extLst>
              </a:tr>
            </a:tbl>
          </a:graphicData>
        </a:graphic>
      </p:graphicFrame>
      <p:sp>
        <p:nvSpPr>
          <p:cNvPr id="516178" name="Text Box 82">
            <a:extLst>
              <a:ext uri="{FF2B5EF4-FFF2-40B4-BE49-F238E27FC236}">
                <a16:creationId xmlns:a16="http://schemas.microsoft.com/office/drawing/2014/main" id="{282E4E52-9F89-4712-B397-F719007FB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213" y="6165850"/>
            <a:ext cx="2332037" cy="519113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主键</a:t>
            </a:r>
            <a:r>
              <a:rPr lang="en-US" altLang="zh-CN" sz="28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{S#</a:t>
            </a:r>
            <a:r>
              <a:rPr lang="zh-CN" altLang="en-US" sz="28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C#}</a:t>
            </a:r>
          </a:p>
        </p:txBody>
      </p:sp>
    </p:spTree>
    <p:custDataLst>
      <p:tags r:id="rId1"/>
    </p:custDataLst>
  </p:cSld>
  <p:clrMapOvr>
    <a:masterClrMapping/>
  </p:clrMapOvr>
  <p:transition advTm="1282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1000"/>
                                        <p:tgtEl>
                                          <p:spTgt spid="51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516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16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17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E3B7ED2-F819-4A46-ACDB-1B1E69C67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D2E0D-7134-40FD-B4C0-0707F126DD00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498690" name="Rectangle 2">
            <a:extLst>
              <a:ext uri="{FF2B5EF4-FFF2-40B4-BE49-F238E27FC236}">
                <a16:creationId xmlns:a16="http://schemas.microsoft.com/office/drawing/2014/main" id="{DCE86886-BB1F-4DD2-B7CF-FAB5551C0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8691" name="Rectangle 3">
            <a:extLst>
              <a:ext uri="{FF2B5EF4-FFF2-40B4-BE49-F238E27FC236}">
                <a16:creationId xmlns:a16="http://schemas.microsoft.com/office/drawing/2014/main" id="{5746EC8F-71A4-42C7-86D2-77D10DCE3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8692" name="Rectangle 4">
            <a:extLst>
              <a:ext uri="{FF2B5EF4-FFF2-40B4-BE49-F238E27FC236}">
                <a16:creationId xmlns:a16="http://schemas.microsoft.com/office/drawing/2014/main" id="{F55472BA-519F-426B-BA9D-A3D942DB8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825" y="2590800"/>
            <a:ext cx="6237288" cy="1143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kumimoji="0" lang="zh-CN" altLang="en-US" sz="6000" b="1">
                <a:solidFill>
                  <a:srgbClr val="FF66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谢谢大家！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1"/>
    </mc:Choice>
    <mc:Fallback xmlns="">
      <p:transition spd="slow" advTm="1101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4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8|17.5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6|5|10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4.3|19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6.3|4|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4.9|13.8|2|6.8|2.2|23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7|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6|1.6|8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9.2|2|0.7|0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7.7|1.1|15.1|4.8|8.9|2.7|3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8.8|1.7|1.1|1.1|1.1"/>
</p:tagLst>
</file>

<file path=ppt/theme/theme1.xml><?xml version="1.0" encoding="utf-8"?>
<a:theme xmlns:a="http://schemas.openxmlformats.org/drawingml/2006/main" name="cdb2004165l">
  <a:themeElements>
    <a:clrScheme name="cdb2004165l 3">
      <a:dk1>
        <a:srgbClr val="000000"/>
      </a:dk1>
      <a:lt1>
        <a:srgbClr val="FFFFFF"/>
      </a:lt1>
      <a:dk2>
        <a:srgbClr val="37399B"/>
      </a:dk2>
      <a:lt2>
        <a:srgbClr val="C0C0C0"/>
      </a:lt2>
      <a:accent1>
        <a:srgbClr val="699DE9"/>
      </a:accent1>
      <a:accent2>
        <a:srgbClr val="EFB049"/>
      </a:accent2>
      <a:accent3>
        <a:srgbClr val="FFFFFF"/>
      </a:accent3>
      <a:accent4>
        <a:srgbClr val="000000"/>
      </a:accent4>
      <a:accent5>
        <a:srgbClr val="B9CCF2"/>
      </a:accent5>
      <a:accent6>
        <a:srgbClr val="D99F41"/>
      </a:accent6>
      <a:hlink>
        <a:srgbClr val="7476DC"/>
      </a:hlink>
      <a:folHlink>
        <a:srgbClr val="9AC664"/>
      </a:folHlink>
    </a:clrScheme>
    <a:fontScheme name="cdb2004165l">
      <a:majorFont>
        <a:latin typeface="Arial"/>
        <a:ea typeface="幼圆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cdb2004165l 1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F4EE6"/>
        </a:accent1>
        <a:accent2>
          <a:srgbClr val="69BFF9"/>
        </a:accent2>
        <a:accent3>
          <a:srgbClr val="FFFFFF"/>
        </a:accent3>
        <a:accent4>
          <a:srgbClr val="000000"/>
        </a:accent4>
        <a:accent5>
          <a:srgbClr val="BBB2F0"/>
        </a:accent5>
        <a:accent6>
          <a:srgbClr val="5EADE2"/>
        </a:accent6>
        <a:hlink>
          <a:srgbClr val="D17FB6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2">
        <a:dk1>
          <a:srgbClr val="000000"/>
        </a:dk1>
        <a:lt1>
          <a:srgbClr val="FFFFFF"/>
        </a:lt1>
        <a:dk2>
          <a:srgbClr val="165E86"/>
        </a:dk2>
        <a:lt2>
          <a:srgbClr val="969696"/>
        </a:lt2>
        <a:accent1>
          <a:srgbClr val="33C5A9"/>
        </a:accent1>
        <a:accent2>
          <a:srgbClr val="90DE88"/>
        </a:accent2>
        <a:accent3>
          <a:srgbClr val="FFFFFF"/>
        </a:accent3>
        <a:accent4>
          <a:srgbClr val="000000"/>
        </a:accent4>
        <a:accent5>
          <a:srgbClr val="ADDFD1"/>
        </a:accent5>
        <a:accent6>
          <a:srgbClr val="82C97B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3">
        <a:dk1>
          <a:srgbClr val="000000"/>
        </a:dk1>
        <a:lt1>
          <a:srgbClr val="FFFFFF"/>
        </a:lt1>
        <a:dk2>
          <a:srgbClr val="37399B"/>
        </a:dk2>
        <a:lt2>
          <a:srgbClr val="C0C0C0"/>
        </a:lt2>
        <a:accent1>
          <a:srgbClr val="699DE9"/>
        </a:accent1>
        <a:accent2>
          <a:srgbClr val="EFB049"/>
        </a:accent2>
        <a:accent3>
          <a:srgbClr val="FFFFFF"/>
        </a:accent3>
        <a:accent4>
          <a:srgbClr val="000000"/>
        </a:accent4>
        <a:accent5>
          <a:srgbClr val="B9CCF2"/>
        </a:accent5>
        <a:accent6>
          <a:srgbClr val="D99F41"/>
        </a:accent6>
        <a:hlink>
          <a:srgbClr val="7476DC"/>
        </a:hlink>
        <a:folHlink>
          <a:srgbClr val="9AC66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9963</TotalTime>
  <Words>1265</Words>
  <Application>Microsoft Office PowerPoint</Application>
  <PresentationFormat>全屏显示(4:3)</PresentationFormat>
  <Paragraphs>238</Paragraphs>
  <Slides>16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Monotype Sorts</vt:lpstr>
      <vt:lpstr>黑体</vt:lpstr>
      <vt:lpstr>楷体_GB2312</vt:lpstr>
      <vt:lpstr>隶书</vt:lpstr>
      <vt:lpstr>宋体</vt:lpstr>
      <vt:lpstr>Arial</vt:lpstr>
      <vt:lpstr>Comic Sans MS</vt:lpstr>
      <vt:lpstr>Tahoma</vt:lpstr>
      <vt:lpstr>Times New Roman</vt:lpstr>
      <vt:lpstr>Wingdings</vt:lpstr>
      <vt:lpstr>cdb2004165l</vt:lpstr>
      <vt:lpstr>Equation.DSMT4</vt:lpstr>
      <vt:lpstr>二、函数依赖（FD）</vt:lpstr>
      <vt:lpstr>二、函数依赖（FD）</vt:lpstr>
      <vt:lpstr>二、函数依赖（FD）</vt:lpstr>
      <vt:lpstr>二、函数依赖（FD）</vt:lpstr>
      <vt:lpstr>二、函数依赖（FD）</vt:lpstr>
      <vt:lpstr>二、函数依赖（FD）</vt:lpstr>
      <vt:lpstr>二、函数依赖（FD）</vt:lpstr>
      <vt:lpstr>三、具有函数依赖约束的关系模式</vt:lpstr>
      <vt:lpstr>三、具有函数依赖约束的关系模式</vt:lpstr>
      <vt:lpstr>三、具有函数依赖约束的关系模式</vt:lpstr>
      <vt:lpstr>PowerPoint 演示文稿</vt:lpstr>
      <vt:lpstr>四、函数依赖的逻辑蕴涵</vt:lpstr>
      <vt:lpstr>四、函数依赖的逻辑蕴涵</vt:lpstr>
      <vt:lpstr>小结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513</cp:revision>
  <cp:lastPrinted>2000-08-23T09:10:16Z</cp:lastPrinted>
  <dcterms:created xsi:type="dcterms:W3CDTF">1601-01-01T00:00:00Z</dcterms:created>
  <dcterms:modified xsi:type="dcterms:W3CDTF">2021-04-20T14:36:18Z</dcterms:modified>
</cp:coreProperties>
</file>