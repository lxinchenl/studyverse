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notesSlides/notesSlide3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4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7" r:id="rId1"/>
  </p:sldMasterIdLst>
  <p:notesMasterIdLst>
    <p:notesMasterId r:id="rId12"/>
  </p:notesMasterIdLst>
  <p:handoutMasterIdLst>
    <p:handoutMasterId r:id="rId13"/>
  </p:handoutMasterIdLst>
  <p:sldIdLst>
    <p:sldId id="594" r:id="rId2"/>
    <p:sldId id="560" r:id="rId3"/>
    <p:sldId id="563" r:id="rId4"/>
    <p:sldId id="568" r:id="rId5"/>
    <p:sldId id="569" r:id="rId6"/>
    <p:sldId id="570" r:id="rId7"/>
    <p:sldId id="571" r:id="rId8"/>
    <p:sldId id="597" r:id="rId9"/>
    <p:sldId id="572" r:id="rId10"/>
    <p:sldId id="596" r:id="rId11"/>
  </p:sldIdLst>
  <p:sldSz cx="9144000" cy="6858000" type="screen4x3"/>
  <p:notesSz cx="6662738" cy="983297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84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  <a:srgbClr val="99FFCC"/>
    <a:srgbClr val="9900FF"/>
    <a:srgbClr val="CC00FF"/>
    <a:srgbClr val="990033"/>
    <a:srgbClr val="9900CC"/>
    <a:srgbClr val="6600CC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75" autoAdjust="0"/>
    <p:restoredTop sz="86449" autoAdjust="0"/>
  </p:normalViewPr>
  <p:slideViewPr>
    <p:cSldViewPr>
      <p:cViewPr varScale="1">
        <p:scale>
          <a:sx n="113" d="100"/>
          <a:sy n="113" d="100"/>
        </p:scale>
        <p:origin x="1544" y="80"/>
      </p:cViewPr>
      <p:guideLst>
        <p:guide orient="horz" pos="1584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>
            <a:extLst>
              <a:ext uri="{FF2B5EF4-FFF2-40B4-BE49-F238E27FC236}">
                <a16:creationId xmlns:a16="http://schemas.microsoft.com/office/drawing/2014/main" id="{96114925-2787-4F69-9CE2-E0F5403D6C5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kumimoji="1" sz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107523" name="Rectangle 3">
            <a:extLst>
              <a:ext uri="{FF2B5EF4-FFF2-40B4-BE49-F238E27FC236}">
                <a16:creationId xmlns:a16="http://schemas.microsoft.com/office/drawing/2014/main" id="{64268F38-461F-41E5-9C8C-6881D9F79F5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10000" y="0"/>
            <a:ext cx="2819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kumimoji="1" sz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07524" name="Rectangle 4">
            <a:extLst>
              <a:ext uri="{FF2B5EF4-FFF2-40B4-BE49-F238E27FC236}">
                <a16:creationId xmlns:a16="http://schemas.microsoft.com/office/drawing/2014/main" id="{D351D54A-68BB-4DC1-8E45-40FF2FDA718F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726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1" sz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07525" name="Rectangle 5">
            <a:extLst>
              <a:ext uri="{FF2B5EF4-FFF2-40B4-BE49-F238E27FC236}">
                <a16:creationId xmlns:a16="http://schemas.microsoft.com/office/drawing/2014/main" id="{2B7621A5-E60E-44BD-B731-8478B6A075A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10000" y="9372600"/>
            <a:ext cx="2819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1" sz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fld id="{A834E118-333A-4BB8-8E1A-7979CCB3A16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018" name="Rectangle 2">
            <a:extLst>
              <a:ext uri="{FF2B5EF4-FFF2-40B4-BE49-F238E27FC236}">
                <a16:creationId xmlns:a16="http://schemas.microsoft.com/office/drawing/2014/main" id="{28130078-918D-4EBA-9433-BAB4C4948BA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7663" cy="49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342019" name="Rectangle 3">
            <a:extLst>
              <a:ext uri="{FF2B5EF4-FFF2-40B4-BE49-F238E27FC236}">
                <a16:creationId xmlns:a16="http://schemas.microsoft.com/office/drawing/2014/main" id="{DF476336-552F-461D-AAE9-07FA2CF0ED83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773488" y="0"/>
            <a:ext cx="2887662" cy="49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342020" name="Rectangle 4">
            <a:extLst>
              <a:ext uri="{FF2B5EF4-FFF2-40B4-BE49-F238E27FC236}">
                <a16:creationId xmlns:a16="http://schemas.microsoft.com/office/drawing/2014/main" id="{61B73830-8C04-4366-A422-39A74DFC03ED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4713" y="738188"/>
            <a:ext cx="4914900" cy="36861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42021" name="Rectangle 5">
            <a:extLst>
              <a:ext uri="{FF2B5EF4-FFF2-40B4-BE49-F238E27FC236}">
                <a16:creationId xmlns:a16="http://schemas.microsoft.com/office/drawing/2014/main" id="{E2901E58-882C-428B-93C4-DF3606D9FE9E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66750" y="4670425"/>
            <a:ext cx="5329238" cy="4424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42022" name="Rectangle 6">
            <a:extLst>
              <a:ext uri="{FF2B5EF4-FFF2-40B4-BE49-F238E27FC236}">
                <a16:creationId xmlns:a16="http://schemas.microsoft.com/office/drawing/2014/main" id="{05E54F48-FAD6-49AF-AEA2-68B38C393E4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39263"/>
            <a:ext cx="2887663" cy="49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342023" name="Rectangle 7">
            <a:extLst>
              <a:ext uri="{FF2B5EF4-FFF2-40B4-BE49-F238E27FC236}">
                <a16:creationId xmlns:a16="http://schemas.microsoft.com/office/drawing/2014/main" id="{A57B8ACE-5D37-4C28-A4F5-03F7A31E257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3488" y="9339263"/>
            <a:ext cx="2887662" cy="49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fld id="{17BC72C0-7A26-44CD-A676-35D7261CE32E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303616DF-BDD9-4B37-835D-47FF2414FE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B5B3D8E-D40E-4D7B-A6CF-23ECF551910A}" type="slidenum">
              <a:rPr lang="zh-CN" altLang="en-US"/>
              <a:pPr/>
              <a:t>1</a:t>
            </a:fld>
            <a:endParaRPr lang="en-US" altLang="zh-CN"/>
          </a:p>
        </p:txBody>
      </p:sp>
      <p:sp>
        <p:nvSpPr>
          <p:cNvPr id="525314" name="Rectangle 2">
            <a:extLst>
              <a:ext uri="{FF2B5EF4-FFF2-40B4-BE49-F238E27FC236}">
                <a16:creationId xmlns:a16="http://schemas.microsoft.com/office/drawing/2014/main" id="{F8CA44CE-2760-4450-8D24-83AA40D3AA1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5315" name="Rectangle 3">
            <a:extLst>
              <a:ext uri="{FF2B5EF4-FFF2-40B4-BE49-F238E27FC236}">
                <a16:creationId xmlns:a16="http://schemas.microsoft.com/office/drawing/2014/main" id="{081C356C-EA5E-4845-9020-B618B1954C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8872E3C4-F2D8-41DB-93E5-1A7D3D523D4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422B1AB-CB52-43F6-9C92-58FAF1FEA7A0}" type="slidenum">
              <a:rPr lang="zh-CN" altLang="en-US"/>
              <a:pPr/>
              <a:t>2</a:t>
            </a:fld>
            <a:endParaRPr lang="en-US" altLang="zh-CN"/>
          </a:p>
        </p:txBody>
      </p:sp>
      <p:sp>
        <p:nvSpPr>
          <p:cNvPr id="526338" name="Rectangle 2">
            <a:extLst>
              <a:ext uri="{FF2B5EF4-FFF2-40B4-BE49-F238E27FC236}">
                <a16:creationId xmlns:a16="http://schemas.microsoft.com/office/drawing/2014/main" id="{D3E959D7-4637-430F-BD1C-0C47DE1A3E7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6339" name="Rectangle 3">
            <a:extLst>
              <a:ext uri="{FF2B5EF4-FFF2-40B4-BE49-F238E27FC236}">
                <a16:creationId xmlns:a16="http://schemas.microsoft.com/office/drawing/2014/main" id="{FBA0502E-04BB-49B6-ACCF-886D80F335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FA7EACFE-0805-4084-9098-3997B7A76C5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133EBF3-E0FB-4EF2-930A-31B9975608C8}" type="slidenum">
              <a:rPr lang="zh-CN" altLang="en-US"/>
              <a:pPr/>
              <a:t>3</a:t>
            </a:fld>
            <a:endParaRPr lang="en-US" altLang="zh-CN"/>
          </a:p>
        </p:txBody>
      </p:sp>
      <p:sp>
        <p:nvSpPr>
          <p:cNvPr id="529410" name="Rectangle 2">
            <a:extLst>
              <a:ext uri="{FF2B5EF4-FFF2-40B4-BE49-F238E27FC236}">
                <a16:creationId xmlns:a16="http://schemas.microsoft.com/office/drawing/2014/main" id="{CF45A089-EF08-4A70-8A56-380A04A337F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9411" name="Rectangle 3">
            <a:extLst>
              <a:ext uri="{FF2B5EF4-FFF2-40B4-BE49-F238E27FC236}">
                <a16:creationId xmlns:a16="http://schemas.microsoft.com/office/drawing/2014/main" id="{9A134A81-F4E1-4D6F-B278-BA4E1B778C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solidFill>
                <a:srgbClr val="000000"/>
              </a:solidFill>
              <a:latin typeface="楷体_GB2312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A422F062-CB45-4D06-84E1-60D9F8E78AC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ED6F61A-C3F7-49E0-A5D5-638D417FA685}" type="slidenum">
              <a:rPr lang="zh-CN" altLang="en-US"/>
              <a:pPr/>
              <a:t>8</a:t>
            </a:fld>
            <a:endParaRPr lang="en-US" altLang="zh-CN"/>
          </a:p>
        </p:txBody>
      </p:sp>
      <p:sp>
        <p:nvSpPr>
          <p:cNvPr id="517122" name="Rectangle 2">
            <a:extLst>
              <a:ext uri="{FF2B5EF4-FFF2-40B4-BE49-F238E27FC236}">
                <a16:creationId xmlns:a16="http://schemas.microsoft.com/office/drawing/2014/main" id="{69FF06CC-ACFC-4E9D-AA5A-1A81D4C8DF3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7123" name="Rectangle 3">
            <a:extLst>
              <a:ext uri="{FF2B5EF4-FFF2-40B4-BE49-F238E27FC236}">
                <a16:creationId xmlns:a16="http://schemas.microsoft.com/office/drawing/2014/main" id="{089B3E60-E705-4C6C-88CC-3ABBA41F9E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23" name="Rectangle 7">
            <a:extLst>
              <a:ext uri="{FF2B5EF4-FFF2-40B4-BE49-F238E27FC236}">
                <a16:creationId xmlns:a16="http://schemas.microsoft.com/office/drawing/2014/main" id="{C1069965-8CCF-40AF-BEEC-BD84F5CEDAF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white">
          <a:xfrm>
            <a:off x="61913" y="6453188"/>
            <a:ext cx="2133600" cy="288925"/>
          </a:xfrm>
        </p:spPr>
        <p:txBody>
          <a:bodyPr/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444424" name="Rectangle 8">
            <a:extLst>
              <a:ext uri="{FF2B5EF4-FFF2-40B4-BE49-F238E27FC236}">
                <a16:creationId xmlns:a16="http://schemas.microsoft.com/office/drawing/2014/main" id="{D9479681-A5F8-4BDE-A494-B37E2D9176F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white">
          <a:xfrm>
            <a:off x="3124200" y="6477000"/>
            <a:ext cx="2895600" cy="244475"/>
          </a:xfrm>
        </p:spPr>
        <p:txBody>
          <a:bodyPr/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444425" name="Rectangle 9">
            <a:extLst>
              <a:ext uri="{FF2B5EF4-FFF2-40B4-BE49-F238E27FC236}">
                <a16:creationId xmlns:a16="http://schemas.microsoft.com/office/drawing/2014/main" id="{AC1B3D39-1AC4-4022-810B-9EEF79BF562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white">
          <a:xfrm>
            <a:off x="6588125" y="6477000"/>
            <a:ext cx="2133600" cy="244475"/>
          </a:xfrm>
        </p:spPr>
        <p:txBody>
          <a:bodyPr/>
          <a:lstStyle>
            <a:lvl1pPr>
              <a:defRPr sz="1200"/>
            </a:lvl1pPr>
          </a:lstStyle>
          <a:p>
            <a:fld id="{9A2FB4CC-1D85-40C7-8373-E7E0E0ED45F9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444440" name="Rectangle 24">
            <a:extLst>
              <a:ext uri="{FF2B5EF4-FFF2-40B4-BE49-F238E27FC236}">
                <a16:creationId xmlns:a16="http://schemas.microsoft.com/office/drawing/2014/main" id="{D3DA82A2-685B-42D0-B1BB-0C399023438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95288" y="1557338"/>
            <a:ext cx="8569325" cy="1041400"/>
          </a:xfrm>
          <a:effectLst>
            <a:outerShdw dist="35921" dir="2700000" algn="ctr" rotWithShape="0">
              <a:schemeClr val="tx1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4800">
                <a:solidFill>
                  <a:schemeClr val="tx2"/>
                </a:solidFill>
                <a:ea typeface="隶书" panose="02010509060101010101" pitchFamily="49" charset="-122"/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grpSp>
        <p:nvGrpSpPr>
          <p:cNvPr id="444441" name="Group 25">
            <a:extLst>
              <a:ext uri="{FF2B5EF4-FFF2-40B4-BE49-F238E27FC236}">
                <a16:creationId xmlns:a16="http://schemas.microsoft.com/office/drawing/2014/main" id="{E9D19554-4E08-4B82-A62F-2D3DF91D72C0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7938" y="1773238"/>
            <a:ext cx="9009062" cy="1052512"/>
            <a:chOff x="0" y="1536"/>
            <a:chExt cx="5675" cy="663"/>
          </a:xfrm>
        </p:grpSpPr>
        <p:grpSp>
          <p:nvGrpSpPr>
            <p:cNvPr id="444442" name="Group 26">
              <a:extLst>
                <a:ext uri="{FF2B5EF4-FFF2-40B4-BE49-F238E27FC236}">
                  <a16:creationId xmlns:a16="http://schemas.microsoft.com/office/drawing/2014/main" id="{9E2CF8AA-EC7B-452C-97AD-26EE213E59C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444443" name="Rectangle 27">
                <a:extLst>
                  <a:ext uri="{FF2B5EF4-FFF2-40B4-BE49-F238E27FC236}">
                    <a16:creationId xmlns:a16="http://schemas.microsoft.com/office/drawing/2014/main" id="{DC0E2A04-7F62-4430-AB8B-E189EAF803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4444" name="Rectangle 28">
                <a:extLst>
                  <a:ext uri="{FF2B5EF4-FFF2-40B4-BE49-F238E27FC236}">
                    <a16:creationId xmlns:a16="http://schemas.microsoft.com/office/drawing/2014/main" id="{BEE22B20-609E-4850-AD6F-13D9015596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rgbClr val="3333CC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44445" name="Group 29">
              <a:extLst>
                <a:ext uri="{FF2B5EF4-FFF2-40B4-BE49-F238E27FC236}">
                  <a16:creationId xmlns:a16="http://schemas.microsoft.com/office/drawing/2014/main" id="{BFF99D6F-625C-4F59-85F3-20D8A9CC1C5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444446" name="Rectangle 30">
                <a:extLst>
                  <a:ext uri="{FF2B5EF4-FFF2-40B4-BE49-F238E27FC236}">
                    <a16:creationId xmlns:a16="http://schemas.microsoft.com/office/drawing/2014/main" id="{F9959E13-41F6-446A-B820-D5D15FB08B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rgbClr val="FFCF0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4447" name="Rectangle 31">
                <a:extLst>
                  <a:ext uri="{FF2B5EF4-FFF2-40B4-BE49-F238E27FC236}">
                    <a16:creationId xmlns:a16="http://schemas.microsoft.com/office/drawing/2014/main" id="{96C493E6-B35B-4C64-87BC-F4FAE67223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rgbClr val="FFCF01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444448" name="Rectangle 32">
              <a:extLst>
                <a:ext uri="{FF2B5EF4-FFF2-40B4-BE49-F238E27FC236}">
                  <a16:creationId xmlns:a16="http://schemas.microsoft.com/office/drawing/2014/main" id="{DE9F3056-C55E-4D87-B188-AD7E18C4B7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000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4449" name="Rectangle 33">
              <a:extLst>
                <a:ext uri="{FF2B5EF4-FFF2-40B4-BE49-F238E27FC236}">
                  <a16:creationId xmlns:a16="http://schemas.microsoft.com/office/drawing/2014/main" id="{68635751-3585-4CD0-9F9D-EC9EC45FB4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rgbClr val="1C1C1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1C1C1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4450" name="Rectangle 34">
              <a:extLst>
                <a:ext uri="{FF2B5EF4-FFF2-40B4-BE49-F238E27FC236}">
                  <a16:creationId xmlns:a16="http://schemas.microsoft.com/office/drawing/2014/main" id="{C80C2995-A7D9-430A-98EB-2302AD94340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rgbClr val="1C1C1C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1000"/>
                                        <p:tgtEl>
                                          <p:spTgt spid="444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4440" grpId="0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658898-3DF4-45FD-91C5-608976ED0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9170CF5-9866-40FC-BE85-E0D4B40056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F14867-E8B1-4B70-A363-8A09D08B8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862AAAC-8182-4F27-9E7F-AFF9A4EF2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5AF1ED1-668E-4150-9CD6-AC4984E59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7081748-688F-4F65-A138-BA081DE9D407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92387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7B9B07-5B89-4416-BC26-E40F081C9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1AAE3A4-6B46-4E73-A66D-4AB4ADB5E9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4B9FB0E-A0E7-4535-8755-C34AA9A7D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401329-7780-46D8-872E-258B322E2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1F0E356-00B8-4A0F-B960-181BF3252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A54D0DF-FF90-45E4-A5D4-7387DF84EFA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48325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665D0E-37FF-4BEA-9E77-3FA98B5FA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FDD36D1-2CB7-4B69-AE60-6CD3B91D87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4350" y="1295400"/>
            <a:ext cx="4040188" cy="4953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3D424CA-BD2D-4B56-8D48-7FBB63AC1F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06938" y="1295400"/>
            <a:ext cx="4041775" cy="4953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FF80994-A927-4BE5-9515-6D01EDE4D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22C226D-6F40-449A-8FD1-E8B1C0B9D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70E726E-685B-4B89-B5D6-4508719FA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A8B881-A17F-420A-BB84-D6814AF9D53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15960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A87CCB-79DD-4F11-87C5-2E69D235B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81A07C0-D428-4998-B7C3-E727BCBA57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B5319B9-0AC9-49FB-AE66-29B69C25EB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AFCDC0C-3A3C-42E5-A3C0-68399AE87C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382C19C-E3C3-41D6-9D24-795EB6C204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FF693DD-8F6E-477D-A84B-A5DB0142D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7B50FAA-6F5E-4DEB-888B-5405B64E6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9FAC838-B47E-4DD6-9B13-4A9B95FAC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4EDEDE-A31C-46FD-9CE9-4B334552798B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52009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35FBD6-2EDE-4D28-8275-FF1C01573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43FCB46-1669-4A28-B3D2-753B8B015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CA8B5BB-97DC-4DFF-BC95-4EC246C53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39EA977-C8E4-4AF4-B0AF-D1E8DA93B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258AA3-6513-491D-9704-89EAB75EB685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37605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41284F5-A500-4016-83D1-BCF850C10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FD1B31B-0EEC-457A-B8D8-431776C59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238A69C-4791-4688-A108-98BC76BD3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20BD4EE-D0B4-4D7E-8923-E1C7BACC94E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418552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06149D-362B-4DC9-B50F-10EBE4A00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37057F-6FD0-494C-B37A-8DFCEA84EE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2854251-F702-42CF-A9EE-A4518DF9AA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D64502A-845C-4B81-9DF7-3E393A111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0A1C69C-62C2-4C5D-8644-B2C19FD05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54F80B6-5EBA-4A04-B93B-4A8DFF4D3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1C2ECE2-8159-4B1E-A860-853C096B8E94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42336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CBF922-88E5-458E-A774-AC8E36D06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0729F75-97DB-49BC-BB29-F65F4ADAAF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822EEAD-4297-4CCC-936C-B8B3C0B766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8336322-983D-42E7-81A2-A7A2A3524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1022239-5C3B-40C4-B59B-1DA3E904F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611DD1D-ECF0-4D5C-969B-5D245FA6E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C4AA4FE-C558-401E-8C36-52915C602F8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121653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8064AD-AA88-4BC8-95C5-DEBCF155C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61873E4-CD45-4F39-936F-D6957EAFBD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6D2037F-43ED-4FD4-BDD4-32FBF94EC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7936DFB-D383-4181-9095-9557AB804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365D6B-2E41-465F-9F38-CDCE60064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84D284-6197-4323-9FFC-011D70F75432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17808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CC0AB46-05C8-4F90-88DE-AF1AFD7100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99250" y="71438"/>
            <a:ext cx="2060575" cy="617696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C59DA7E-541E-4D9F-B966-3998A61E50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4350" y="71438"/>
            <a:ext cx="6032500" cy="617696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70F4563-CBDA-4607-BBD4-1ADFC2CD1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6169BA6-B9D5-4457-A084-E48CFED30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1A31921-3CEA-47A6-8290-882F9AD52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80AF003-02E0-47A1-BEED-385A5CC8DBE5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11658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396" name="Rectangle 4">
            <a:extLst>
              <a:ext uri="{FF2B5EF4-FFF2-40B4-BE49-F238E27FC236}">
                <a16:creationId xmlns:a16="http://schemas.microsoft.com/office/drawing/2014/main" id="{22CCD371-C69E-4DE0-9A2D-92FA6EE807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14350" y="1295400"/>
            <a:ext cx="8234363" cy="4953000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43402" name="Rectangle 10">
            <a:extLst>
              <a:ext uri="{FF2B5EF4-FFF2-40B4-BE49-F238E27FC236}">
                <a16:creationId xmlns:a16="http://schemas.microsoft.com/office/drawing/2014/main" id="{362E44CE-A348-42DF-A1C4-385D4494290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81000" y="6400800"/>
            <a:ext cx="21336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443403" name="Rectangle 11">
            <a:extLst>
              <a:ext uri="{FF2B5EF4-FFF2-40B4-BE49-F238E27FC236}">
                <a16:creationId xmlns:a16="http://schemas.microsoft.com/office/drawing/2014/main" id="{6A8910F1-5D74-4941-96D9-B4BFAB2A609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443404" name="Rectangle 12">
            <a:extLst>
              <a:ext uri="{FF2B5EF4-FFF2-40B4-BE49-F238E27FC236}">
                <a16:creationId xmlns:a16="http://schemas.microsoft.com/office/drawing/2014/main" id="{1962CC15-0D60-405C-A688-184D0C3C110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75475" y="6492875"/>
            <a:ext cx="21336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ea typeface="宋体" panose="02010600030101010101" pitchFamily="2" charset="-122"/>
              </a:defRPr>
            </a:lvl1pPr>
          </a:lstStyle>
          <a:p>
            <a:fld id="{FCA90DE3-82A5-40EC-9564-3C72DB62A413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443405" name="Rectangle 13">
            <a:extLst>
              <a:ext uri="{FF2B5EF4-FFF2-40B4-BE49-F238E27FC236}">
                <a16:creationId xmlns:a16="http://schemas.microsoft.com/office/drawing/2014/main" id="{9365722A-B80D-4BE8-98A5-D717CED3D7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gray">
          <a:xfrm>
            <a:off x="1547813" y="71438"/>
            <a:ext cx="7212012" cy="836612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43407" name="Rectangle 15">
            <a:extLst>
              <a:ext uri="{FF2B5EF4-FFF2-40B4-BE49-F238E27FC236}">
                <a16:creationId xmlns:a16="http://schemas.microsoft.com/office/drawing/2014/main" id="{34257247-273B-47D1-B331-3F6A7843A61C}"/>
              </a:ext>
            </a:extLst>
          </p:cNvPr>
          <p:cNvSpPr>
            <a:spLocks noChangeArrowheads="1"/>
          </p:cNvSpPr>
          <p:nvPr userDrawn="1"/>
        </p:nvSpPr>
        <p:spPr bwMode="ltGray">
          <a:xfrm>
            <a:off x="417513" y="252413"/>
            <a:ext cx="438150" cy="474662"/>
          </a:xfrm>
          <a:prstGeom prst="rect">
            <a:avLst/>
          </a:prstGeom>
          <a:solidFill>
            <a:srgbClr val="FFCF0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43408" name="Rectangle 16">
            <a:extLst>
              <a:ext uri="{FF2B5EF4-FFF2-40B4-BE49-F238E27FC236}">
                <a16:creationId xmlns:a16="http://schemas.microsoft.com/office/drawing/2014/main" id="{1C3A54A3-C0BF-4326-A572-A8063688E45C}"/>
              </a:ext>
            </a:extLst>
          </p:cNvPr>
          <p:cNvSpPr>
            <a:spLocks noChangeArrowheads="1"/>
          </p:cNvSpPr>
          <p:nvPr userDrawn="1"/>
        </p:nvSpPr>
        <p:spPr bwMode="ltGray">
          <a:xfrm>
            <a:off x="800100" y="252413"/>
            <a:ext cx="328613" cy="474662"/>
          </a:xfrm>
          <a:prstGeom prst="rect">
            <a:avLst/>
          </a:prstGeom>
          <a:gradFill rotWithShape="0">
            <a:gsLst>
              <a:gs pos="0">
                <a:srgbClr val="FFCF01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43409" name="Rectangle 17">
            <a:extLst>
              <a:ext uri="{FF2B5EF4-FFF2-40B4-BE49-F238E27FC236}">
                <a16:creationId xmlns:a16="http://schemas.microsoft.com/office/drawing/2014/main" id="{1685A62B-45DE-4DAB-B29E-BD8FD5099D92}"/>
              </a:ext>
            </a:extLst>
          </p:cNvPr>
          <p:cNvSpPr>
            <a:spLocks noChangeArrowheads="1"/>
          </p:cNvSpPr>
          <p:nvPr userDrawn="1"/>
        </p:nvSpPr>
        <p:spPr bwMode="ltGray">
          <a:xfrm>
            <a:off x="541338" y="674688"/>
            <a:ext cx="422275" cy="474662"/>
          </a:xfrm>
          <a:prstGeom prst="rect">
            <a:avLst/>
          </a:prstGeom>
          <a:solidFill>
            <a:srgbClr val="3333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43410" name="Rectangle 18">
            <a:extLst>
              <a:ext uri="{FF2B5EF4-FFF2-40B4-BE49-F238E27FC236}">
                <a16:creationId xmlns:a16="http://schemas.microsoft.com/office/drawing/2014/main" id="{6A6A80F3-3BE1-4F20-8983-116B5BBB5EA6}"/>
              </a:ext>
            </a:extLst>
          </p:cNvPr>
          <p:cNvSpPr>
            <a:spLocks noChangeArrowheads="1"/>
          </p:cNvSpPr>
          <p:nvPr userDrawn="1"/>
        </p:nvSpPr>
        <p:spPr bwMode="ltGray">
          <a:xfrm>
            <a:off x="911225" y="674688"/>
            <a:ext cx="368300" cy="474662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43411" name="Rectangle 19">
            <a:extLst>
              <a:ext uri="{FF2B5EF4-FFF2-40B4-BE49-F238E27FC236}">
                <a16:creationId xmlns:a16="http://schemas.microsoft.com/office/drawing/2014/main" id="{0BCD779F-CAFB-4F77-AA20-FC68C9FDDF01}"/>
              </a:ext>
            </a:extLst>
          </p:cNvPr>
          <p:cNvSpPr>
            <a:spLocks noChangeArrowheads="1"/>
          </p:cNvSpPr>
          <p:nvPr userDrawn="1"/>
        </p:nvSpPr>
        <p:spPr bwMode="ltGray">
          <a:xfrm>
            <a:off x="127000" y="601663"/>
            <a:ext cx="560388" cy="422275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FF0000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43413" name="Rectangle 21">
            <a:extLst>
              <a:ext uri="{FF2B5EF4-FFF2-40B4-BE49-F238E27FC236}">
                <a16:creationId xmlns:a16="http://schemas.microsoft.com/office/drawing/2014/main" id="{E47463C2-E172-437A-A235-D6144D60A539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442913" y="908050"/>
            <a:ext cx="8226425" cy="31750"/>
          </a:xfrm>
          <a:prstGeom prst="rect">
            <a:avLst/>
          </a:prstGeom>
          <a:gradFill rotWithShape="0">
            <a:gsLst>
              <a:gs pos="0">
                <a:srgbClr val="1C1C1C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3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433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3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4433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3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4433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3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4433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3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4433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3396" grpId="0" build="p">
        <p:tmplLst>
          <p:tmpl lvl="1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339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443396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339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443396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339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443396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339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443396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339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44339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3600" b="1" kern="1200">
          <a:solidFill>
            <a:srgbClr val="333399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 b="1">
          <a:solidFill>
            <a:srgbClr val="333399"/>
          </a:solidFill>
          <a:latin typeface="Arial" panose="020B0604020202020204" pitchFamily="34" charset="0"/>
          <a:ea typeface="幼圆" panose="02010509060101010101" pitchFamily="49" charset="-122"/>
        </a:defRPr>
      </a:lvl2pPr>
      <a:lvl3pPr algn="l" rtl="0" fontAlgn="base">
        <a:spcBef>
          <a:spcPct val="0"/>
        </a:spcBef>
        <a:spcAft>
          <a:spcPct val="0"/>
        </a:spcAft>
        <a:defRPr sz="3600" b="1">
          <a:solidFill>
            <a:srgbClr val="333399"/>
          </a:solidFill>
          <a:latin typeface="Arial" panose="020B0604020202020204" pitchFamily="34" charset="0"/>
          <a:ea typeface="幼圆" panose="02010509060101010101" pitchFamily="49" charset="-122"/>
        </a:defRPr>
      </a:lvl3pPr>
      <a:lvl4pPr algn="l" rtl="0" fontAlgn="base">
        <a:spcBef>
          <a:spcPct val="0"/>
        </a:spcBef>
        <a:spcAft>
          <a:spcPct val="0"/>
        </a:spcAft>
        <a:defRPr sz="3600" b="1">
          <a:solidFill>
            <a:srgbClr val="333399"/>
          </a:solidFill>
          <a:latin typeface="Arial" panose="020B0604020202020204" pitchFamily="34" charset="0"/>
          <a:ea typeface="幼圆" panose="02010509060101010101" pitchFamily="49" charset="-122"/>
        </a:defRPr>
      </a:lvl4pPr>
      <a:lvl5pPr algn="l" rtl="0" fontAlgn="base">
        <a:spcBef>
          <a:spcPct val="0"/>
        </a:spcBef>
        <a:spcAft>
          <a:spcPct val="0"/>
        </a:spcAft>
        <a:defRPr sz="3600" b="1">
          <a:solidFill>
            <a:srgbClr val="333399"/>
          </a:solidFill>
          <a:latin typeface="Arial" panose="020B0604020202020204" pitchFamily="34" charset="0"/>
          <a:ea typeface="幼圆" panose="02010509060101010101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rgbClr val="333399"/>
          </a:solidFill>
          <a:latin typeface="Arial" panose="020B0604020202020204" pitchFamily="34" charset="0"/>
          <a:ea typeface="幼圆" panose="02010509060101010101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rgbClr val="333399"/>
          </a:solidFill>
          <a:latin typeface="Arial" panose="020B0604020202020204" pitchFamily="34" charset="0"/>
          <a:ea typeface="幼圆" panose="02010509060101010101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rgbClr val="333399"/>
          </a:solidFill>
          <a:latin typeface="Arial" panose="020B0604020202020204" pitchFamily="34" charset="0"/>
          <a:ea typeface="幼圆" panose="02010509060101010101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rgbClr val="333399"/>
          </a:solidFill>
          <a:latin typeface="Arial" panose="020B0604020202020204" pitchFamily="34" charset="0"/>
          <a:ea typeface="幼圆" panose="02010509060101010101" pitchFamily="49" charset="-122"/>
        </a:defRPr>
      </a:lvl9pPr>
    </p:titleStyle>
    <p:bodyStyle>
      <a:lvl1pPr marL="342900" indent="-3429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rgbClr val="009900"/>
        </a:buClr>
        <a:buSzPct val="70000"/>
        <a:buFont typeface="Wingdings" panose="05000000000000000000" pitchFamily="2" charset="2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rgbClr val="009900"/>
        </a:buClr>
        <a:buSzPct val="70000"/>
        <a:buFont typeface="Wingdings" panose="05000000000000000000" pitchFamily="2" charset="2"/>
        <a:buChar char="u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n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har char="–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har char="»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026" name="Rectangle 2">
            <a:extLst>
              <a:ext uri="{FF2B5EF4-FFF2-40B4-BE49-F238E27FC236}">
                <a16:creationId xmlns:a16="http://schemas.microsoft.com/office/drawing/2014/main" id="{51B1B3A6-A5B0-4171-9E35-BB123366789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6</a:t>
            </a:r>
            <a:r>
              <a:rPr lang="zh-CN" altLang="en-US"/>
              <a:t>章  关系数据库模式设计</a:t>
            </a:r>
          </a:p>
        </p:txBody>
      </p:sp>
      <p:sp>
        <p:nvSpPr>
          <p:cNvPr id="513027" name="Rectangle 3">
            <a:extLst>
              <a:ext uri="{FF2B5EF4-FFF2-40B4-BE49-F238E27FC236}">
                <a16:creationId xmlns:a16="http://schemas.microsoft.com/office/drawing/2014/main" id="{89D47441-AA65-44EE-A539-9D94E975E9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80963"/>
            <a:ext cx="3887788" cy="574675"/>
          </a:xfrm>
          <a:prstGeom prst="rect">
            <a:avLst/>
          </a:prstGeom>
          <a:gradFill rotWithShape="1">
            <a:gsLst>
              <a:gs pos="0">
                <a:srgbClr val="C0C0C0"/>
              </a:gs>
              <a:gs pos="100000">
                <a:srgbClr val="C0C0C0">
                  <a:gamma/>
                  <a:tint val="0"/>
                  <a:invGamma/>
                </a:srgb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C0C0C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76176" bIns="72000" anchor="ctr" anchorCtr="1">
            <a:spAutoFit/>
          </a:bodyPr>
          <a:lstStyle/>
          <a:p>
            <a:pPr algn="ctr"/>
            <a:r>
              <a:rPr lang="zh-CN" altLang="en-US" sz="2800" b="1">
                <a:solidFill>
                  <a:srgbClr val="99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</a:rPr>
              <a:t>数据库系统原理及应用</a:t>
            </a:r>
            <a:endParaRPr kumimoji="1" lang="zh-CN" altLang="en-US" sz="3000" b="1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513028" name="Text Box 4">
            <a:extLst>
              <a:ext uri="{FF2B5EF4-FFF2-40B4-BE49-F238E27FC236}">
                <a16:creationId xmlns:a16="http://schemas.microsoft.com/office/drawing/2014/main" id="{5695D62E-3521-4133-BBAB-D9F21DF43A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8388" y="2708275"/>
            <a:ext cx="4681537" cy="701675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4000" b="1" dirty="0">
                <a:solidFill>
                  <a:srgbClr val="003366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（第二讲）</a:t>
            </a:r>
            <a:endParaRPr lang="zh-CN" altLang="en-US" sz="4000" b="1" dirty="0">
              <a:solidFill>
                <a:srgbClr val="003366"/>
              </a:solidFill>
              <a:latin typeface="隶书" panose="02010509060101010101" pitchFamily="49" charset="-122"/>
              <a:ea typeface="华文新魏" panose="02010800040101010101" pitchFamily="2" charset="-122"/>
            </a:endParaRPr>
          </a:p>
        </p:txBody>
      </p:sp>
      <p:pic>
        <p:nvPicPr>
          <p:cNvPr id="513029" name="Picture 5">
            <a:extLst>
              <a:ext uri="{FF2B5EF4-FFF2-40B4-BE49-F238E27FC236}">
                <a16:creationId xmlns:a16="http://schemas.microsoft.com/office/drawing/2014/main" id="{03140D32-2CA5-4C78-BC1C-6EDE673717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57700"/>
            <a:ext cx="2411413" cy="2400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3030" name="Rectangle 6">
            <a:extLst>
              <a:ext uri="{FF2B5EF4-FFF2-40B4-BE49-F238E27FC236}">
                <a16:creationId xmlns:a16="http://schemas.microsoft.com/office/drawing/2014/main" id="{C1EE07BA-37B0-4179-87F5-B8051AAE9230}"/>
              </a:ext>
            </a:extLst>
          </p:cNvPr>
          <p:cNvSpPr>
            <a:spLocks noChangeArrowheads="1"/>
          </p:cNvSpPr>
          <p:nvPr/>
        </p:nvSpPr>
        <p:spPr bwMode="gray">
          <a:xfrm>
            <a:off x="1690688" y="3789363"/>
            <a:ext cx="5905500" cy="792162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lnSpc>
                <a:spcPct val="120000"/>
              </a:lnSpc>
              <a:spcBef>
                <a:spcPct val="20000"/>
              </a:spcBef>
              <a:buClr>
                <a:srgbClr val="009900"/>
              </a:buClr>
              <a:buSzPct val="70000"/>
              <a:buFont typeface="Wingdings" panose="05000000000000000000" pitchFamily="2" charset="2"/>
              <a:defRPr sz="4000" b="1">
                <a:solidFill>
                  <a:srgbClr val="009900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  <a:lvl2pPr algn="ctr">
              <a:lnSpc>
                <a:spcPct val="120000"/>
              </a:lnSpc>
              <a:spcBef>
                <a:spcPct val="20000"/>
              </a:spcBef>
              <a:buClr>
                <a:srgbClr val="009900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algn="ctr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algn="ctr">
              <a:lnSpc>
                <a:spcPct val="120000"/>
              </a:lnSpc>
              <a:spcBef>
                <a:spcPct val="20000"/>
              </a:spcBef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algn="ctr">
              <a:lnSpc>
                <a:spcPct val="120000"/>
              </a:lnSpc>
              <a:spcBef>
                <a:spcPct val="20000"/>
              </a:spcBef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algn="ctr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algn="ctr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algn="ctr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algn="ctr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endParaRPr lang="zh-CN" altLang="en-US" dirty="0">
              <a:solidFill>
                <a:srgbClr val="0066FF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16"/>
    </mc:Choice>
    <mc:Fallback xmlns="">
      <p:transition spd="slow" advTm="251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490" name="Rectangle 2">
            <a:extLst>
              <a:ext uri="{FF2B5EF4-FFF2-40B4-BE49-F238E27FC236}">
                <a16:creationId xmlns:a16="http://schemas.microsoft.com/office/drawing/2014/main" id="{BBC5721E-4395-4D3A-B2FF-ACCFE5C4AF7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95288" y="1196975"/>
            <a:ext cx="8569325" cy="1041400"/>
          </a:xfrm>
        </p:spPr>
        <p:txBody>
          <a:bodyPr/>
          <a:lstStyle/>
          <a:p>
            <a:r>
              <a:rPr lang="en-US" altLang="zh-CN"/>
              <a:t>6.4  </a:t>
            </a:r>
            <a:r>
              <a:rPr lang="zh-CN" altLang="en-US"/>
              <a:t>函数依赖的公理体系</a:t>
            </a:r>
          </a:p>
        </p:txBody>
      </p:sp>
      <p:sp>
        <p:nvSpPr>
          <p:cNvPr id="447492" name="Rectangle 4">
            <a:extLst>
              <a:ext uri="{FF2B5EF4-FFF2-40B4-BE49-F238E27FC236}">
                <a16:creationId xmlns:a16="http://schemas.microsoft.com/office/drawing/2014/main" id="{B1E212F0-F9AB-4A3F-BB97-8B27FBFFE3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8" y="80963"/>
            <a:ext cx="4645025" cy="574675"/>
          </a:xfrm>
          <a:prstGeom prst="rect">
            <a:avLst/>
          </a:prstGeom>
          <a:gradFill rotWithShape="1">
            <a:gsLst>
              <a:gs pos="0">
                <a:srgbClr val="C0C0C0"/>
              </a:gs>
              <a:gs pos="100000">
                <a:srgbClr val="C0C0C0">
                  <a:gamma/>
                  <a:tint val="0"/>
                  <a:invGamma/>
                </a:srgb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C0C0C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76176" bIns="72000" anchor="ctr" anchorCtr="1">
            <a:spAutoFit/>
          </a:bodyPr>
          <a:lstStyle/>
          <a:p>
            <a:r>
              <a:rPr lang="zh-CN" altLang="en-US" sz="2800" b="1">
                <a:solidFill>
                  <a:srgbClr val="99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</a:rPr>
              <a:t>第</a:t>
            </a:r>
            <a:r>
              <a:rPr lang="en-US" altLang="zh-CN" sz="2800" b="1">
                <a:solidFill>
                  <a:srgbClr val="99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</a:rPr>
              <a:t>6</a:t>
            </a:r>
            <a:r>
              <a:rPr lang="zh-CN" altLang="en-US" sz="2800" b="1">
                <a:solidFill>
                  <a:srgbClr val="99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</a:rPr>
              <a:t>章  关系数据库模式设计</a:t>
            </a:r>
          </a:p>
        </p:txBody>
      </p:sp>
      <p:grpSp>
        <p:nvGrpSpPr>
          <p:cNvPr id="447495" name="Group 7">
            <a:extLst>
              <a:ext uri="{FF2B5EF4-FFF2-40B4-BE49-F238E27FC236}">
                <a16:creationId xmlns:a16="http://schemas.microsoft.com/office/drawing/2014/main" id="{B0D986D9-D21C-4D6E-956F-F84B69E3BF86}"/>
              </a:ext>
            </a:extLst>
          </p:cNvPr>
          <p:cNvGrpSpPr>
            <a:grpSpLocks/>
          </p:cNvGrpSpPr>
          <p:nvPr/>
        </p:nvGrpSpPr>
        <p:grpSpPr bwMode="auto">
          <a:xfrm>
            <a:off x="1546225" y="2713038"/>
            <a:ext cx="6048375" cy="863600"/>
            <a:chOff x="1066" y="1117"/>
            <a:chExt cx="3810" cy="544"/>
          </a:xfrm>
        </p:grpSpPr>
        <p:sp>
          <p:nvSpPr>
            <p:cNvPr id="447496" name="AutoShape 8">
              <a:extLst>
                <a:ext uri="{FF2B5EF4-FFF2-40B4-BE49-F238E27FC236}">
                  <a16:creationId xmlns:a16="http://schemas.microsoft.com/office/drawing/2014/main" id="{250B23B0-F759-4532-9F7B-693FB104532D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373" y="1211"/>
              <a:ext cx="3503" cy="40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85BA54">
                    <a:gamma/>
                    <a:tint val="21176"/>
                    <a:invGamma/>
                  </a:srgbClr>
                </a:gs>
                <a:gs pos="100000">
                  <a:srgbClr val="85BA54"/>
                </a:gs>
              </a:gsLst>
              <a:lin ang="0" scaled="1"/>
            </a:gra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99190" dir="2388334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7497" name="AutoShape 9">
              <a:extLst>
                <a:ext uri="{FF2B5EF4-FFF2-40B4-BE49-F238E27FC236}">
                  <a16:creationId xmlns:a16="http://schemas.microsoft.com/office/drawing/2014/main" id="{A0B49502-482B-4A6A-B018-67FC3E775CF0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066" y="1117"/>
              <a:ext cx="553" cy="544"/>
            </a:xfrm>
            <a:prstGeom prst="diamond">
              <a:avLst/>
            </a:prstGeom>
            <a:solidFill>
              <a:srgbClr val="85BA54"/>
            </a:solidFill>
            <a:ln w="25400" algn="ctr">
              <a:solidFill>
                <a:srgbClr val="FFFFFF"/>
              </a:solidFill>
              <a:miter lim="800000"/>
              <a:headEnd/>
              <a:tailEnd/>
            </a:ln>
            <a:effectLst>
              <a:outerShdw dist="63500" dir="2212194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7498" name="Text Box 10">
              <a:extLst>
                <a:ext uri="{FF2B5EF4-FFF2-40B4-BE49-F238E27FC236}">
                  <a16:creationId xmlns:a16="http://schemas.microsoft.com/office/drawing/2014/main" id="{1A2FA126-36B8-47EC-8B27-D1BDCBF98A09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838" y="1256"/>
              <a:ext cx="2765" cy="327"/>
            </a:xfrm>
            <a:prstGeom prst="rect">
              <a:avLst/>
            </a:prstGeom>
            <a:noFill/>
            <a:ln>
              <a:noFill/>
            </a:ln>
            <a:effectLst>
              <a:outerShdw dist="1796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DE8848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3366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lang="zh-CN" altLang="en-US" sz="2800" b="1">
                  <a:solidFill>
                    <a:srgbClr val="000000"/>
                  </a:solidFill>
                  <a:latin typeface="仿宋_GB2312" charset="-122"/>
                  <a:ea typeface="仿宋_GB2312" charset="-122"/>
                </a:rPr>
                <a:t>阿姆斯特朗公理</a:t>
              </a:r>
            </a:p>
          </p:txBody>
        </p:sp>
        <p:sp>
          <p:nvSpPr>
            <p:cNvPr id="447499" name="Text Box 11">
              <a:extLst>
                <a:ext uri="{FF2B5EF4-FFF2-40B4-BE49-F238E27FC236}">
                  <a16:creationId xmlns:a16="http://schemas.microsoft.com/office/drawing/2014/main" id="{F43BBEF0-E9A9-41C7-9C70-B5DCAC3BA8E2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211" y="1207"/>
              <a:ext cx="242" cy="326"/>
            </a:xfrm>
            <a:prstGeom prst="rect">
              <a:avLst/>
            </a:prstGeom>
            <a:noFill/>
            <a:ln>
              <a:noFill/>
            </a:ln>
            <a:effectLst>
              <a:outerShdw dist="17961" dir="81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DE8848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3366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2800" b="1">
                  <a:solidFill>
                    <a:srgbClr val="FFFFFF"/>
                  </a:solidFill>
                  <a:ea typeface="宋体" panose="02010600030101010101" pitchFamily="2" charset="-122"/>
                </a:rPr>
                <a:t>1</a:t>
              </a:r>
            </a:p>
          </p:txBody>
        </p:sp>
      </p:grpSp>
      <p:grpSp>
        <p:nvGrpSpPr>
          <p:cNvPr id="447500" name="Group 12">
            <a:extLst>
              <a:ext uri="{FF2B5EF4-FFF2-40B4-BE49-F238E27FC236}">
                <a16:creationId xmlns:a16="http://schemas.microsoft.com/office/drawing/2014/main" id="{019A019E-20AA-4F10-9A36-C5CA1066DC6B}"/>
              </a:ext>
            </a:extLst>
          </p:cNvPr>
          <p:cNvGrpSpPr>
            <a:grpSpLocks/>
          </p:cNvGrpSpPr>
          <p:nvPr/>
        </p:nvGrpSpPr>
        <p:grpSpPr bwMode="auto">
          <a:xfrm>
            <a:off x="1546225" y="3600450"/>
            <a:ext cx="6049963" cy="863600"/>
            <a:chOff x="1066" y="1728"/>
            <a:chExt cx="3811" cy="544"/>
          </a:xfrm>
        </p:grpSpPr>
        <p:sp>
          <p:nvSpPr>
            <p:cNvPr id="447501" name="AutoShape 13">
              <a:extLst>
                <a:ext uri="{FF2B5EF4-FFF2-40B4-BE49-F238E27FC236}">
                  <a16:creationId xmlns:a16="http://schemas.microsoft.com/office/drawing/2014/main" id="{8810BA32-C0AD-4624-B192-C46FE6D3FFA2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373" y="1822"/>
              <a:ext cx="3504" cy="40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DE8848">
                    <a:gamma/>
                    <a:tint val="21176"/>
                    <a:invGamma/>
                  </a:srgbClr>
                </a:gs>
                <a:gs pos="100000">
                  <a:srgbClr val="DE8848"/>
                </a:gs>
              </a:gsLst>
              <a:lin ang="0" scaled="1"/>
            </a:gra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99190" dir="2388334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7502" name="AutoShape 14">
              <a:extLst>
                <a:ext uri="{FF2B5EF4-FFF2-40B4-BE49-F238E27FC236}">
                  <a16:creationId xmlns:a16="http://schemas.microsoft.com/office/drawing/2014/main" id="{9DD49809-2679-4575-A7A4-38C87F87A9D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066" y="1728"/>
              <a:ext cx="553" cy="544"/>
            </a:xfrm>
            <a:prstGeom prst="diamond">
              <a:avLst/>
            </a:prstGeom>
            <a:solidFill>
              <a:srgbClr val="DE8848"/>
            </a:solidFill>
            <a:ln w="25400" algn="ctr">
              <a:solidFill>
                <a:srgbClr val="FFFFFF"/>
              </a:solidFill>
              <a:miter lim="800000"/>
              <a:headEnd/>
              <a:tailEnd/>
            </a:ln>
            <a:effectLst>
              <a:outerShdw dist="63500" dir="2212194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7503" name="Text Box 15">
              <a:extLst>
                <a:ext uri="{FF2B5EF4-FFF2-40B4-BE49-F238E27FC236}">
                  <a16:creationId xmlns:a16="http://schemas.microsoft.com/office/drawing/2014/main" id="{E9F38DE4-BA31-42D9-9D25-69FCD348384B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837" y="1867"/>
              <a:ext cx="2766" cy="327"/>
            </a:xfrm>
            <a:prstGeom prst="rect">
              <a:avLst/>
            </a:prstGeom>
            <a:noFill/>
            <a:ln>
              <a:noFill/>
            </a:ln>
            <a:effectLst>
              <a:outerShdw dist="1796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DE8848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3366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lang="zh-CN" altLang="en-US" sz="2800" b="1">
                  <a:solidFill>
                    <a:srgbClr val="000000"/>
                  </a:solidFill>
                  <a:latin typeface="仿宋_GB2312" charset="-122"/>
                  <a:ea typeface="仿宋_GB2312" charset="-122"/>
                </a:rPr>
                <a:t>阿姆斯特朗公理的推论</a:t>
              </a:r>
            </a:p>
          </p:txBody>
        </p:sp>
        <p:sp>
          <p:nvSpPr>
            <p:cNvPr id="447504" name="Text Box 16">
              <a:extLst>
                <a:ext uri="{FF2B5EF4-FFF2-40B4-BE49-F238E27FC236}">
                  <a16:creationId xmlns:a16="http://schemas.microsoft.com/office/drawing/2014/main" id="{C47EAD3A-8ACD-4D78-A3E6-2ED236EE4F27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212" y="1833"/>
              <a:ext cx="241" cy="327"/>
            </a:xfrm>
            <a:prstGeom prst="rect">
              <a:avLst/>
            </a:prstGeom>
            <a:noFill/>
            <a:ln>
              <a:noFill/>
            </a:ln>
            <a:effectLst>
              <a:outerShdw dist="28398" dir="9206097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DE8848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3366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2800" b="1">
                  <a:solidFill>
                    <a:srgbClr val="FFFFFF"/>
                  </a:solidFill>
                  <a:ea typeface="宋体" panose="02010600030101010101" pitchFamily="2" charset="-122"/>
                </a:rPr>
                <a:t>2</a:t>
              </a:r>
            </a:p>
          </p:txBody>
        </p:sp>
      </p:grpSp>
      <p:grpSp>
        <p:nvGrpSpPr>
          <p:cNvPr id="447505" name="Group 17">
            <a:extLst>
              <a:ext uri="{FF2B5EF4-FFF2-40B4-BE49-F238E27FC236}">
                <a16:creationId xmlns:a16="http://schemas.microsoft.com/office/drawing/2014/main" id="{C4402231-BFF3-47B0-98DD-9EF9A5D6853C}"/>
              </a:ext>
            </a:extLst>
          </p:cNvPr>
          <p:cNvGrpSpPr>
            <a:grpSpLocks/>
          </p:cNvGrpSpPr>
          <p:nvPr/>
        </p:nvGrpSpPr>
        <p:grpSpPr bwMode="auto">
          <a:xfrm>
            <a:off x="1546225" y="4489450"/>
            <a:ext cx="6049963" cy="863600"/>
            <a:chOff x="1066" y="2401"/>
            <a:chExt cx="3811" cy="544"/>
          </a:xfrm>
        </p:grpSpPr>
        <p:sp>
          <p:nvSpPr>
            <p:cNvPr id="447506" name="AutoShape 18">
              <a:extLst>
                <a:ext uri="{FF2B5EF4-FFF2-40B4-BE49-F238E27FC236}">
                  <a16:creationId xmlns:a16="http://schemas.microsoft.com/office/drawing/2014/main" id="{33553C22-E158-4EAB-BADC-E4BDAE37DEA5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373" y="2495"/>
              <a:ext cx="3504" cy="40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5086C2">
                    <a:gamma/>
                    <a:tint val="21176"/>
                    <a:invGamma/>
                  </a:srgbClr>
                </a:gs>
                <a:gs pos="100000">
                  <a:srgbClr val="5086C2"/>
                </a:gs>
              </a:gsLst>
              <a:lin ang="0" scaled="1"/>
            </a:gra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99190" dir="2388334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7507" name="AutoShape 19">
              <a:extLst>
                <a:ext uri="{FF2B5EF4-FFF2-40B4-BE49-F238E27FC236}">
                  <a16:creationId xmlns:a16="http://schemas.microsoft.com/office/drawing/2014/main" id="{5930B7E4-32A7-4779-A019-976AC70ACCE1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066" y="2401"/>
              <a:ext cx="553" cy="544"/>
            </a:xfrm>
            <a:prstGeom prst="diamond">
              <a:avLst/>
            </a:prstGeom>
            <a:solidFill>
              <a:srgbClr val="4C59D2"/>
            </a:solidFill>
            <a:ln w="25400" algn="ctr">
              <a:solidFill>
                <a:srgbClr val="FFFFFF"/>
              </a:solidFill>
              <a:miter lim="800000"/>
              <a:headEnd/>
              <a:tailEnd/>
            </a:ln>
            <a:effectLst>
              <a:outerShdw dist="63500" dir="2212194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7508" name="Text Box 20">
              <a:extLst>
                <a:ext uri="{FF2B5EF4-FFF2-40B4-BE49-F238E27FC236}">
                  <a16:creationId xmlns:a16="http://schemas.microsoft.com/office/drawing/2014/main" id="{CF1CC929-9423-437F-B8D8-AA9235E3B5AB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837" y="2540"/>
              <a:ext cx="2766" cy="327"/>
            </a:xfrm>
            <a:prstGeom prst="rect">
              <a:avLst/>
            </a:prstGeom>
            <a:noFill/>
            <a:ln>
              <a:noFill/>
            </a:ln>
            <a:effectLst>
              <a:outerShdw dist="1796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DE8848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3366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lang="en-US" altLang="en-US" sz="2800" b="1">
                  <a:solidFill>
                    <a:srgbClr val="000000"/>
                  </a:solidFill>
                  <a:latin typeface="仿宋_GB2312" charset="-122"/>
                  <a:ea typeface="仿宋_GB2312" charset="-122"/>
                </a:rPr>
                <a:t>X关于F的闭包</a:t>
              </a:r>
              <a:r>
                <a:rPr lang="en-US" altLang="zh-CN" sz="2800" b="1">
                  <a:solidFill>
                    <a:srgbClr val="000000"/>
                  </a:solidFill>
                  <a:latin typeface="仿宋_GB2312" charset="-122"/>
                  <a:ea typeface="仿宋_GB2312" charset="-122"/>
                </a:rPr>
                <a:t>及</a:t>
              </a:r>
              <a:r>
                <a:rPr lang="zh-CN" altLang="en-US" sz="2800" b="1">
                  <a:solidFill>
                    <a:srgbClr val="000000"/>
                  </a:solidFill>
                  <a:latin typeface="仿宋_GB2312" charset="-122"/>
                  <a:ea typeface="仿宋_GB2312" charset="-122"/>
                </a:rPr>
                <a:t>其计算</a:t>
              </a:r>
            </a:p>
          </p:txBody>
        </p:sp>
        <p:sp>
          <p:nvSpPr>
            <p:cNvPr id="447509" name="Text Box 21">
              <a:extLst>
                <a:ext uri="{FF2B5EF4-FFF2-40B4-BE49-F238E27FC236}">
                  <a16:creationId xmlns:a16="http://schemas.microsoft.com/office/drawing/2014/main" id="{E439B391-FC30-466F-947E-53530FA8F4E5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212" y="2523"/>
              <a:ext cx="241" cy="326"/>
            </a:xfrm>
            <a:prstGeom prst="rect">
              <a:avLst/>
            </a:prstGeom>
            <a:noFill/>
            <a:ln>
              <a:noFill/>
            </a:ln>
            <a:effectLst>
              <a:outerShdw dist="28398" dir="9206097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DE8848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3366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2800" b="1">
                  <a:solidFill>
                    <a:srgbClr val="FFFFFF"/>
                  </a:solidFill>
                  <a:ea typeface="宋体" panose="02010600030101010101" pitchFamily="2" charset="-122"/>
                </a:rPr>
                <a:t>3</a:t>
              </a:r>
            </a:p>
          </p:txBody>
        </p:sp>
      </p:grpSp>
      <p:grpSp>
        <p:nvGrpSpPr>
          <p:cNvPr id="447510" name="Group 22">
            <a:extLst>
              <a:ext uri="{FF2B5EF4-FFF2-40B4-BE49-F238E27FC236}">
                <a16:creationId xmlns:a16="http://schemas.microsoft.com/office/drawing/2014/main" id="{DED9CD8D-5207-43AF-9311-4B52C2740EA9}"/>
              </a:ext>
            </a:extLst>
          </p:cNvPr>
          <p:cNvGrpSpPr>
            <a:grpSpLocks/>
          </p:cNvGrpSpPr>
          <p:nvPr/>
        </p:nvGrpSpPr>
        <p:grpSpPr bwMode="auto">
          <a:xfrm>
            <a:off x="1546225" y="5378450"/>
            <a:ext cx="6049963" cy="863600"/>
            <a:chOff x="1020" y="3022"/>
            <a:chExt cx="3811" cy="544"/>
          </a:xfrm>
        </p:grpSpPr>
        <p:sp>
          <p:nvSpPr>
            <p:cNvPr id="447511" name="AutoShape 23">
              <a:extLst>
                <a:ext uri="{FF2B5EF4-FFF2-40B4-BE49-F238E27FC236}">
                  <a16:creationId xmlns:a16="http://schemas.microsoft.com/office/drawing/2014/main" id="{6D935993-0CFD-4465-92D7-4AFC6BD9C32B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327" y="3116"/>
              <a:ext cx="3504" cy="40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A0B5C4">
                    <a:gamma/>
                    <a:tint val="21176"/>
                    <a:invGamma/>
                  </a:srgbClr>
                </a:gs>
                <a:gs pos="100000">
                  <a:srgbClr val="A0B5C4"/>
                </a:gs>
              </a:gsLst>
              <a:lin ang="0" scaled="1"/>
            </a:gra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99190" dir="2388334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7512" name="AutoShape 24">
              <a:extLst>
                <a:ext uri="{FF2B5EF4-FFF2-40B4-BE49-F238E27FC236}">
                  <a16:creationId xmlns:a16="http://schemas.microsoft.com/office/drawing/2014/main" id="{57843C28-C7D0-4E1D-A467-13C9B7E40303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020" y="3022"/>
              <a:ext cx="553" cy="544"/>
            </a:xfrm>
            <a:prstGeom prst="diamond">
              <a:avLst/>
            </a:prstGeom>
            <a:solidFill>
              <a:srgbClr val="A0B5C4"/>
            </a:solidFill>
            <a:ln w="25400" algn="ctr">
              <a:solidFill>
                <a:srgbClr val="FFFFFF"/>
              </a:solidFill>
              <a:miter lim="800000"/>
              <a:headEnd/>
              <a:tailEnd/>
            </a:ln>
            <a:effectLst>
              <a:outerShdw dist="63500" dir="2212194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7513" name="Text Box 25">
              <a:extLst>
                <a:ext uri="{FF2B5EF4-FFF2-40B4-BE49-F238E27FC236}">
                  <a16:creationId xmlns:a16="http://schemas.microsoft.com/office/drawing/2014/main" id="{DA668206-EA24-4DC4-A456-471B90B5D329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791" y="3161"/>
              <a:ext cx="2766" cy="327"/>
            </a:xfrm>
            <a:prstGeom prst="rect">
              <a:avLst/>
            </a:prstGeom>
            <a:noFill/>
            <a:ln>
              <a:noFill/>
            </a:ln>
            <a:effectLst>
              <a:outerShdw dist="1796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DE8848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3366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lang="en-US" altLang="zh-CN" sz="2800" b="1">
                  <a:solidFill>
                    <a:srgbClr val="000000"/>
                  </a:solidFill>
                  <a:latin typeface="仿宋_GB2312" charset="-122"/>
                  <a:ea typeface="仿宋_GB2312" charset="-122"/>
                </a:rPr>
                <a:t>最小函数依赖集</a:t>
              </a:r>
              <a:endParaRPr lang="zh-CN" altLang="en-US" sz="2800" b="1">
                <a:solidFill>
                  <a:srgbClr val="000000"/>
                </a:solidFill>
                <a:latin typeface="仿宋_GB2312" charset="-122"/>
                <a:ea typeface="仿宋_GB2312" charset="-122"/>
              </a:endParaRPr>
            </a:p>
          </p:txBody>
        </p:sp>
        <p:sp>
          <p:nvSpPr>
            <p:cNvPr id="447514" name="Text Box 26">
              <a:extLst>
                <a:ext uri="{FF2B5EF4-FFF2-40B4-BE49-F238E27FC236}">
                  <a16:creationId xmlns:a16="http://schemas.microsoft.com/office/drawing/2014/main" id="{63AEE0B8-AAAD-43AF-BE81-03F0F25F94B1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166" y="3113"/>
              <a:ext cx="241" cy="326"/>
            </a:xfrm>
            <a:prstGeom prst="rect">
              <a:avLst/>
            </a:prstGeom>
            <a:noFill/>
            <a:ln>
              <a:noFill/>
            </a:ln>
            <a:effectLst>
              <a:outerShdw dist="28398" dir="9206097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DE8848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3366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2800" b="1">
                  <a:solidFill>
                    <a:srgbClr val="FFFFFF"/>
                  </a:solidFill>
                  <a:ea typeface="宋体" panose="02010600030101010101" pitchFamily="2" charset="-122"/>
                </a:rPr>
                <a:t>4</a:t>
              </a:r>
            </a:p>
          </p:txBody>
        </p:sp>
      </p:grpSp>
    </p:spTree>
  </p:cSld>
  <p:clrMapOvr>
    <a:masterClrMapping/>
  </p:clrMapOvr>
  <p:transition advTm="152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1000"/>
                                        <p:tgtEl>
                                          <p:spTgt spid="447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1000"/>
                                        <p:tgtEl>
                                          <p:spTgt spid="447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1000"/>
                                        <p:tgtEl>
                                          <p:spTgt spid="447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" dur="1000"/>
                                        <p:tgtEl>
                                          <p:spTgt spid="447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5">
            <a:extLst>
              <a:ext uri="{FF2B5EF4-FFF2-40B4-BE49-F238E27FC236}">
                <a16:creationId xmlns:a16="http://schemas.microsoft.com/office/drawing/2014/main" id="{C1EB36C9-D908-49A0-BC41-A45B23701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1F880-BE50-4C7A-B981-CB1A52DC973E}" type="slidenum">
              <a:rPr lang="zh-CN" altLang="en-US"/>
              <a:pPr/>
              <a:t>3</a:t>
            </a:fld>
            <a:endParaRPr lang="en-US" altLang="zh-CN"/>
          </a:p>
        </p:txBody>
      </p:sp>
      <p:sp>
        <p:nvSpPr>
          <p:cNvPr id="450563" name="Rectangle 3">
            <a:extLst>
              <a:ext uri="{FF2B5EF4-FFF2-40B4-BE49-F238E27FC236}">
                <a16:creationId xmlns:a16="http://schemas.microsoft.com/office/drawing/2014/main" id="{39D5AB4D-0BE8-43F9-98DA-B9B0447A57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    已知关系模式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R(A,B,C)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，其函数依赖集为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F={A→B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B→C}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，那么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A→BC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在该关系中是否成立呢？</a:t>
            </a:r>
          </a:p>
        </p:txBody>
      </p:sp>
      <p:grpSp>
        <p:nvGrpSpPr>
          <p:cNvPr id="450577" name="Group 17">
            <a:extLst>
              <a:ext uri="{FF2B5EF4-FFF2-40B4-BE49-F238E27FC236}">
                <a16:creationId xmlns:a16="http://schemas.microsoft.com/office/drawing/2014/main" id="{79002E5D-1AFE-4E0B-BCA0-2AA40A880FC6}"/>
              </a:ext>
            </a:extLst>
          </p:cNvPr>
          <p:cNvGrpSpPr>
            <a:grpSpLocks/>
          </p:cNvGrpSpPr>
          <p:nvPr/>
        </p:nvGrpSpPr>
        <p:grpSpPr bwMode="auto">
          <a:xfrm>
            <a:off x="2843213" y="2995613"/>
            <a:ext cx="2608262" cy="2520950"/>
            <a:chOff x="1982" y="1887"/>
            <a:chExt cx="1452" cy="1588"/>
          </a:xfrm>
        </p:grpSpPr>
        <p:sp>
          <p:nvSpPr>
            <p:cNvPr id="450567" name="Rectangle 7">
              <a:extLst>
                <a:ext uri="{FF2B5EF4-FFF2-40B4-BE49-F238E27FC236}">
                  <a16:creationId xmlns:a16="http://schemas.microsoft.com/office/drawing/2014/main" id="{699522DB-97C4-49B9-82AA-01BF8344C3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3" y="1887"/>
              <a:ext cx="1134" cy="365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53882" dir="2700000" algn="ctr" rotWithShape="0">
                <a:schemeClr val="tx1"/>
              </a:outerShdw>
            </a:effectLst>
          </p:spPr>
          <p:txBody>
            <a:bodyPr lIns="0" rIns="0" anchor="ctr" anchorCtr="1"/>
            <a:lstStyle>
              <a:lvl1pPr marL="342900" indent="-3429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None/>
              </a:pPr>
              <a:r>
                <a:rPr lang="en-US" altLang="zh-CN" b="1">
                  <a:solidFill>
                    <a:srgbClr val="080808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F</a:t>
              </a:r>
              <a:r>
                <a:rPr lang="en-US" altLang="zh-CN" b="1">
                  <a:solidFill>
                    <a:srgbClr val="080808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  <a:sym typeface="Symbol" panose="05050102010706020507" pitchFamily="18" charset="2"/>
                </a:rPr>
                <a:t></a:t>
              </a:r>
              <a:r>
                <a:rPr lang="en-US" altLang="zh-CN" b="1">
                  <a:solidFill>
                    <a:srgbClr val="080808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=A→BC</a:t>
              </a:r>
              <a:r>
                <a:rPr lang="zh-CN" altLang="en-US" b="1">
                  <a:solidFill>
                    <a:srgbClr val="080808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？</a:t>
              </a:r>
            </a:p>
          </p:txBody>
        </p:sp>
        <p:grpSp>
          <p:nvGrpSpPr>
            <p:cNvPr id="450575" name="Group 15">
              <a:extLst>
                <a:ext uri="{FF2B5EF4-FFF2-40B4-BE49-F238E27FC236}">
                  <a16:creationId xmlns:a16="http://schemas.microsoft.com/office/drawing/2014/main" id="{0ECF952C-E168-402A-8088-BB70532F038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82" y="2295"/>
              <a:ext cx="1452" cy="1180"/>
              <a:chOff x="2244" y="2159"/>
              <a:chExt cx="1452" cy="1180"/>
            </a:xfrm>
          </p:grpSpPr>
          <p:sp>
            <p:nvSpPr>
              <p:cNvPr id="450572" name="AutoShape 12">
                <a:extLst>
                  <a:ext uri="{FF2B5EF4-FFF2-40B4-BE49-F238E27FC236}">
                    <a16:creationId xmlns:a16="http://schemas.microsoft.com/office/drawing/2014/main" id="{F7FB5ED7-D80B-40A8-9A1D-FE77413812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23" y="2159"/>
                <a:ext cx="138" cy="726"/>
              </a:xfrm>
              <a:prstGeom prst="downArrow">
                <a:avLst>
                  <a:gd name="adj1" fmla="val 50000"/>
                  <a:gd name="adj2" fmla="val 131522"/>
                </a:avLst>
              </a:prstGeom>
              <a:solidFill>
                <a:srgbClr val="00FF00"/>
              </a:solidFill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>
                <a:outerShdw dist="35921" dir="2700000" algn="ctr" rotWithShape="0">
                  <a:schemeClr val="tx1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50573" name="Rectangle 13">
                <a:extLst>
                  <a:ext uri="{FF2B5EF4-FFF2-40B4-BE49-F238E27FC236}">
                    <a16:creationId xmlns:a16="http://schemas.microsoft.com/office/drawing/2014/main" id="{9E738240-1DFB-4935-8B65-4B542400EF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4" y="2932"/>
                <a:ext cx="1452" cy="407"/>
              </a:xfrm>
              <a:prstGeom prst="rect">
                <a:avLst/>
              </a:prstGeom>
              <a:solidFill>
                <a:srgbClr val="CCFF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53882" dir="2700000" algn="ctr" rotWithShape="0">
                  <a:schemeClr val="tx1"/>
                </a:outerShdw>
              </a:effectLst>
            </p:spPr>
            <p:txBody>
              <a:bodyPr lIns="0" rIns="0" anchor="ctr" anchorCtr="1"/>
              <a:lstStyle>
                <a:lvl1pPr marL="342900" indent="-3429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None/>
                </a:pPr>
                <a:r>
                  <a:rPr lang="zh-CN" altLang="en-US" b="1"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黑体" panose="02010609060101010101" pitchFamily="49" charset="-122"/>
                    <a:ea typeface="黑体" panose="02010609060101010101" pitchFamily="49" charset="-122"/>
                  </a:rPr>
                  <a:t>能从</a:t>
                </a:r>
                <a:r>
                  <a:rPr lang="en-US" altLang="zh-CN" b="1"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黑体" panose="02010609060101010101" pitchFamily="49" charset="-122"/>
                    <a:ea typeface="黑体" panose="02010609060101010101" pitchFamily="49" charset="-122"/>
                  </a:rPr>
                  <a:t>F</a:t>
                </a:r>
                <a:r>
                  <a:rPr lang="zh-CN" altLang="en-US" b="1"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黑体" panose="02010609060101010101" pitchFamily="49" charset="-122"/>
                    <a:ea typeface="黑体" panose="02010609060101010101" pitchFamily="49" charset="-122"/>
                  </a:rPr>
                  <a:t>导出</a:t>
                </a:r>
                <a:r>
                  <a:rPr lang="en-US" altLang="zh-CN" b="1"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黑体" panose="02010609060101010101" pitchFamily="49" charset="-122"/>
                    <a:ea typeface="黑体" panose="02010609060101010101" pitchFamily="49" charset="-122"/>
                  </a:rPr>
                  <a:t>A→BC</a:t>
                </a:r>
                <a:r>
                  <a:rPr lang="zh-CN" altLang="en-US" b="1"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黑体" panose="02010609060101010101" pitchFamily="49" charset="-122"/>
                    <a:ea typeface="黑体" panose="02010609060101010101" pitchFamily="49" charset="-122"/>
                  </a:rPr>
                  <a:t>？</a:t>
                </a:r>
              </a:p>
            </p:txBody>
          </p:sp>
        </p:grpSp>
      </p:grpSp>
      <p:sp>
        <p:nvSpPr>
          <p:cNvPr id="450574" name="WordArt 14">
            <a:extLst>
              <a:ext uri="{FF2B5EF4-FFF2-40B4-BE49-F238E27FC236}">
                <a16:creationId xmlns:a16="http://schemas.microsoft.com/office/drawing/2014/main" id="{8D4859C8-C1A0-405D-9A54-83484408052C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5076825" y="3802063"/>
            <a:ext cx="2447925" cy="635000"/>
          </a:xfrm>
          <a:prstGeom prst="rect">
            <a:avLst/>
          </a:prstGeom>
        </p:spPr>
        <p:txBody>
          <a:bodyPr wrap="none" fromWordArt="1">
            <a:prstTxWarp prst="textDoubleWave1">
              <a:avLst>
                <a:gd name="adj1" fmla="val 6500"/>
                <a:gd name="adj2" fmla="val 0"/>
              </a:avLst>
            </a:prstTxWarp>
          </a:bodyPr>
          <a:lstStyle/>
          <a:p>
            <a:pPr algn="ctr"/>
            <a:r>
              <a:rPr lang="zh-CN" altLang="en-US" sz="4400" b="1" kern="10">
                <a:ln w="19050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solidFill>
                  <a:srgbClr val="FF00FF"/>
                </a:solidFill>
                <a:effectLst>
                  <a:outerShdw dist="53882" dir="2700000" algn="ctr" rotWithShape="0">
                    <a:schemeClr val="tx1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推导工具？</a:t>
            </a:r>
          </a:p>
        </p:txBody>
      </p:sp>
      <p:sp>
        <p:nvSpPr>
          <p:cNvPr id="450578" name="AutoShape 18">
            <a:extLst>
              <a:ext uri="{FF2B5EF4-FFF2-40B4-BE49-F238E27FC236}">
                <a16:creationId xmlns:a16="http://schemas.microsoft.com/office/drawing/2014/main" id="{CAC2E10A-9FB8-4868-B8FF-ACDD9CB8DD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2488" y="115888"/>
            <a:ext cx="1657350" cy="720725"/>
          </a:xfrm>
          <a:prstGeom prst="horizontalScroll">
            <a:avLst>
              <a:gd name="adj" fmla="val 12500"/>
            </a:avLst>
          </a:prstGeom>
          <a:gradFill rotWithShape="1">
            <a:gsLst>
              <a:gs pos="0">
                <a:srgbClr val="CC99FF"/>
              </a:gs>
              <a:gs pos="50000">
                <a:srgbClr val="FFFFFF"/>
              </a:gs>
              <a:gs pos="100000">
                <a:srgbClr val="CC99FF"/>
              </a:gs>
            </a:gsLst>
            <a:lin ang="540000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algn="ctr"/>
            <a:r>
              <a:rPr lang="zh-CN" altLang="en-US" sz="3200" b="1">
                <a:solidFill>
                  <a:srgbClr val="66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</a:rPr>
              <a:t>思考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671"/>
    </mc:Choice>
    <mc:Fallback xmlns="">
      <p:transition spd="slow" advTm="2567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50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50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4505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4505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4505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3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45057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4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45057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45057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6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45057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45057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8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45057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45057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0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45057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6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E7C516D3-E795-4501-B53B-B1F005745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5B2DA-0D74-422A-85F5-A724E64B074F}" type="slidenum">
              <a:rPr lang="zh-CN" altLang="en-US"/>
              <a:pPr/>
              <a:t>4</a:t>
            </a:fld>
            <a:endParaRPr lang="en-US" altLang="zh-CN"/>
          </a:p>
        </p:txBody>
      </p:sp>
      <p:sp>
        <p:nvSpPr>
          <p:cNvPr id="464900" name="Rectangle 4">
            <a:extLst>
              <a:ext uri="{FF2B5EF4-FFF2-40B4-BE49-F238E27FC236}">
                <a16:creationId xmlns:a16="http://schemas.microsoft.com/office/drawing/2014/main" id="{5B3A917C-EA68-4DD0-8F0E-698FB9464D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一、阿姆斯特朗公理</a:t>
            </a:r>
          </a:p>
        </p:txBody>
      </p:sp>
      <p:sp>
        <p:nvSpPr>
          <p:cNvPr id="464901" name="Rectangle 5">
            <a:extLst>
              <a:ext uri="{FF2B5EF4-FFF2-40B4-BE49-F238E27FC236}">
                <a16:creationId xmlns:a16="http://schemas.microsoft.com/office/drawing/2014/main" id="{FFE494A1-E9DE-4603-ADE4-79E2625FA6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14350" y="1295400"/>
            <a:ext cx="8234363" cy="5229225"/>
          </a:xfrm>
        </p:spPr>
        <p:txBody>
          <a:bodyPr/>
          <a:lstStyle/>
          <a:p>
            <a:pPr algn="just"/>
            <a:r>
              <a:rPr lang="en-US" altLang="zh-CN">
                <a:latin typeface="楷体_GB2312" pitchFamily="49" charset="-122"/>
              </a:rPr>
              <a:t>1</a:t>
            </a:r>
            <a:r>
              <a:rPr lang="zh-CN" altLang="en-US">
                <a:latin typeface="楷体_GB2312" pitchFamily="49" charset="-122"/>
              </a:rPr>
              <a:t>、</a:t>
            </a:r>
            <a:r>
              <a:rPr lang="en-US" altLang="en-US">
                <a:latin typeface="楷体_GB2312" pitchFamily="49" charset="-122"/>
              </a:rPr>
              <a:t>阿姆斯特朗</a:t>
            </a:r>
            <a:r>
              <a:rPr lang="zh-CN" altLang="en-US">
                <a:latin typeface="楷体_GB2312" pitchFamily="49" charset="-122"/>
              </a:rPr>
              <a:t>公理</a:t>
            </a:r>
          </a:p>
          <a:p>
            <a:pPr algn="just"/>
            <a:r>
              <a:rPr lang="zh-CN" altLang="en-US">
                <a:solidFill>
                  <a:srgbClr val="003399"/>
                </a:solidFill>
                <a:latin typeface="楷体_GB2312" pitchFamily="49" charset="-122"/>
                <a:cs typeface="Times New Roman" panose="02020603050405020304" pitchFamily="18" charset="0"/>
              </a:rPr>
              <a:t>   作用</a:t>
            </a:r>
            <a:r>
              <a:rPr lang="zh-CN" altLang="en-US">
                <a:latin typeface="楷体_GB2312" pitchFamily="49" charset="-122"/>
                <a:cs typeface="Times New Roman" panose="02020603050405020304" pitchFamily="18" charset="0"/>
              </a:rPr>
              <a:t>：如何由给定的</a:t>
            </a:r>
            <a:r>
              <a:rPr lang="en-US" altLang="zh-CN">
                <a:latin typeface="楷体_GB2312" pitchFamily="49" charset="-122"/>
                <a:cs typeface="Times New Roman" panose="02020603050405020304" pitchFamily="18" charset="0"/>
              </a:rPr>
              <a:t>FD</a:t>
            </a:r>
            <a:r>
              <a:rPr lang="zh-CN" altLang="en-US">
                <a:latin typeface="楷体_GB2312" pitchFamily="49" charset="-122"/>
                <a:cs typeface="Times New Roman" panose="02020603050405020304" pitchFamily="18" charset="0"/>
              </a:rPr>
              <a:t>集得到所蕴涵的所有的</a:t>
            </a:r>
            <a:r>
              <a:rPr lang="en-US" altLang="zh-CN">
                <a:latin typeface="楷体_GB2312" pitchFamily="49" charset="-122"/>
                <a:cs typeface="Times New Roman" panose="02020603050405020304" pitchFamily="18" charset="0"/>
              </a:rPr>
              <a:t>FD</a:t>
            </a:r>
            <a:r>
              <a:rPr lang="zh-CN" altLang="en-US">
                <a:latin typeface="楷体_GB2312" pitchFamily="49" charset="-122"/>
                <a:cs typeface="Times New Roman" panose="02020603050405020304" pitchFamily="18" charset="0"/>
              </a:rPr>
              <a:t>的集合。</a:t>
            </a:r>
          </a:p>
          <a:p>
            <a:pPr algn="just"/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   </a:t>
            </a:r>
            <a:r>
              <a:rPr lang="zh-CN" altLang="en-US">
                <a:solidFill>
                  <a:srgbClr val="008000"/>
                </a:solidFill>
                <a:latin typeface="楷体_GB2312" pitchFamily="49" charset="-122"/>
                <a:cs typeface="Times New Roman" panose="02020603050405020304" pitchFamily="18" charset="0"/>
              </a:rPr>
              <a:t>条件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：设有关系模式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R(U,F)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和属性集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U={A</a:t>
            </a:r>
            <a:r>
              <a:rPr lang="en-US" altLang="zh-CN" baseline="-3000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,A</a:t>
            </a:r>
            <a:r>
              <a:rPr lang="en-US" altLang="zh-CN" baseline="-3000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,</a:t>
            </a:r>
            <a:r>
              <a:rPr lang="en-US" altLang="zh-CN">
                <a:solidFill>
                  <a:srgbClr val="000000"/>
                </a:solidFill>
                <a:cs typeface="Times New Roman" panose="02020603050405020304" pitchFamily="18" charset="0"/>
              </a:rPr>
              <a:t>…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,A</a:t>
            </a:r>
            <a:r>
              <a:rPr lang="en-US" altLang="zh-CN" baseline="-3000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}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的子集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Y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Z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W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。</a:t>
            </a:r>
          </a:p>
          <a:p>
            <a:pPr algn="just"/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   A1 </a:t>
            </a:r>
            <a:r>
              <a:rPr lang="zh-CN" altLang="en-US">
                <a:solidFill>
                  <a:srgbClr val="CC3300"/>
                </a:solidFill>
                <a:latin typeface="楷体_GB2312" pitchFamily="49" charset="-122"/>
                <a:cs typeface="Times New Roman" panose="02020603050405020304" pitchFamily="18" charset="0"/>
              </a:rPr>
              <a:t>自反律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：若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Y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，则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Y</a:t>
            </a:r>
          </a:p>
          <a:p>
            <a:pPr algn="just"/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   A2 </a:t>
            </a:r>
            <a:r>
              <a:rPr lang="zh-CN" altLang="en-US">
                <a:solidFill>
                  <a:srgbClr val="CC3300"/>
                </a:solidFill>
                <a:latin typeface="楷体_GB2312" pitchFamily="49" charset="-122"/>
                <a:cs typeface="Times New Roman" panose="02020603050405020304" pitchFamily="18" charset="0"/>
              </a:rPr>
              <a:t>增广律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：若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Y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，则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XZ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YZ</a:t>
            </a:r>
          </a:p>
          <a:p>
            <a:pPr algn="just"/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   A3 </a:t>
            </a:r>
            <a:r>
              <a:rPr lang="zh-CN" altLang="en-US">
                <a:solidFill>
                  <a:srgbClr val="CC3300"/>
                </a:solidFill>
                <a:latin typeface="楷体_GB2312" pitchFamily="49" charset="-122"/>
                <a:cs typeface="Times New Roman" panose="02020603050405020304" pitchFamily="18" charset="0"/>
              </a:rPr>
              <a:t>传递律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：若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Y,Y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Z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，则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Z</a:t>
            </a:r>
            <a:r>
              <a:rPr lang="en-US" altLang="zh-CN">
                <a:latin typeface="楷体_GB2312" pitchFamily="49" charset="-122"/>
              </a:rPr>
              <a:t> </a:t>
            </a:r>
            <a:endParaRPr lang="zh-CN" altLang="en-US">
              <a:latin typeface="楷体_GB2312" pitchFamily="49" charset="-122"/>
            </a:endParaRPr>
          </a:p>
        </p:txBody>
      </p:sp>
      <p:sp>
        <p:nvSpPr>
          <p:cNvPr id="464902" name="AutoShape 6">
            <a:extLst>
              <a:ext uri="{FF2B5EF4-FFF2-40B4-BE49-F238E27FC236}">
                <a16:creationId xmlns:a16="http://schemas.microsoft.com/office/drawing/2014/main" id="{F694F21B-E622-40A0-9B9B-B361FA57EF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4750" y="1268413"/>
            <a:ext cx="1008063" cy="576262"/>
          </a:xfrm>
          <a:prstGeom prst="wedgeRectCallout">
            <a:avLst>
              <a:gd name="adj1" fmla="val -118190"/>
              <a:gd name="adj2" fmla="val 79750"/>
            </a:avLst>
          </a:prstGeom>
          <a:solidFill>
            <a:srgbClr val="333399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71842" dir="2700000" algn="ctr" rotWithShape="0">
              <a:schemeClr val="tx1"/>
            </a:outerShdw>
          </a:effectLst>
        </p:spPr>
        <p:txBody>
          <a:bodyPr anchor="ctr"/>
          <a:lstStyle/>
          <a:p>
            <a:pPr algn="ctr"/>
            <a:r>
              <a:rPr lang="en-US" altLang="zh-CN" sz="2800" b="1">
                <a:solidFill>
                  <a:srgbClr val="99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F</a:t>
            </a:r>
            <a:r>
              <a:rPr lang="en-US" altLang="zh-CN" sz="2800" b="1" baseline="30000">
                <a:solidFill>
                  <a:srgbClr val="99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+</a:t>
            </a:r>
            <a:endParaRPr lang="en-US" altLang="zh-CN" sz="2800" b="1">
              <a:solidFill>
                <a:srgbClr val="99FFCC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</p:spTree>
    <p:custDataLst>
      <p:tags r:id="rId1"/>
    </p:custDataLst>
  </p:cSld>
  <p:clrMapOvr>
    <a:masterClrMapping/>
  </p:clrMapOvr>
  <p:transition advTm="9878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9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649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9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4649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649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4649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9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4649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9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4649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9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4649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90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46490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4901" grpId="0" uiExpand="1" build="p"/>
      <p:bldP spid="46490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5">
            <a:extLst>
              <a:ext uri="{FF2B5EF4-FFF2-40B4-BE49-F238E27FC236}">
                <a16:creationId xmlns:a16="http://schemas.microsoft.com/office/drawing/2014/main" id="{4B35EC23-39F0-4BBF-950A-C7EC0ACF6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41E21-C150-44D1-B399-C7995C795771}" type="slidenum">
              <a:rPr lang="zh-CN" altLang="en-US"/>
              <a:pPr/>
              <a:t>5</a:t>
            </a:fld>
            <a:endParaRPr lang="en-US" altLang="zh-CN"/>
          </a:p>
        </p:txBody>
      </p:sp>
      <p:sp>
        <p:nvSpPr>
          <p:cNvPr id="465931" name="Rectangle 11">
            <a:extLst>
              <a:ext uri="{FF2B5EF4-FFF2-40B4-BE49-F238E27FC236}">
                <a16:creationId xmlns:a16="http://schemas.microsoft.com/office/drawing/2014/main" id="{17E53047-AF11-4B1B-94E4-A302F5C16D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10000"/>
              </a:lnSpc>
            </a:pPr>
            <a:r>
              <a:rPr lang="en-US" altLang="zh-CN">
                <a:latin typeface="楷体_GB2312" pitchFamily="49" charset="-122"/>
              </a:rPr>
              <a:t>2</a:t>
            </a:r>
            <a:r>
              <a:rPr lang="zh-CN" altLang="en-US">
                <a:latin typeface="楷体_GB2312" pitchFamily="49" charset="-122"/>
              </a:rPr>
              <a:t>、</a:t>
            </a:r>
            <a:r>
              <a:rPr lang="en-US" altLang="en-US">
                <a:solidFill>
                  <a:srgbClr val="000099"/>
                </a:solidFill>
                <a:latin typeface="楷体_GB2312" pitchFamily="49" charset="-122"/>
              </a:rPr>
              <a:t>定理</a:t>
            </a:r>
            <a:r>
              <a:rPr lang="en-US" altLang="zh-CN">
                <a:solidFill>
                  <a:srgbClr val="000099"/>
                </a:solidFill>
                <a:latin typeface="楷体_GB2312" pitchFamily="49" charset="-122"/>
              </a:rPr>
              <a:t>6</a:t>
            </a:r>
            <a:r>
              <a:rPr lang="en-US" altLang="en-US">
                <a:solidFill>
                  <a:srgbClr val="000099"/>
                </a:solidFill>
                <a:latin typeface="楷体_GB2312" pitchFamily="49" charset="-122"/>
              </a:rPr>
              <a:t>.1</a:t>
            </a:r>
            <a:r>
              <a:rPr lang="en-US" altLang="en-US">
                <a:latin typeface="楷体_GB2312" pitchFamily="49" charset="-122"/>
              </a:rPr>
              <a:t> 阿姆斯特朗</a:t>
            </a:r>
            <a:r>
              <a:rPr lang="zh-CN" altLang="en-US">
                <a:latin typeface="楷体_GB2312" pitchFamily="49" charset="-122"/>
              </a:rPr>
              <a:t>公理</a:t>
            </a:r>
            <a:r>
              <a:rPr lang="en-US" altLang="en-US">
                <a:latin typeface="楷体_GB2312" pitchFamily="49" charset="-122"/>
              </a:rPr>
              <a:t>是正确的。</a:t>
            </a:r>
            <a:endParaRPr lang="zh-CN" altLang="en-US">
              <a:latin typeface="楷体_GB2312" pitchFamily="49" charset="-122"/>
            </a:endParaRPr>
          </a:p>
          <a:p>
            <a:pPr algn="just">
              <a:lnSpc>
                <a:spcPct val="110000"/>
              </a:lnSpc>
            </a:pP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   方法：</a:t>
            </a:r>
            <a:r>
              <a:rPr lang="zh-CN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从函数依赖的定义出发</a:t>
            </a:r>
            <a:endParaRPr lang="zh-CN" altLang="en-US">
              <a:solidFill>
                <a:srgbClr val="000000"/>
              </a:solidFill>
              <a:latin typeface="楷体_GB2312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2400">
                <a:latin typeface="楷体_GB2312" pitchFamily="49" charset="-122"/>
              </a:rPr>
              <a:t>    A2 </a:t>
            </a:r>
            <a:r>
              <a:rPr lang="zh-CN" altLang="en-US" sz="2400">
                <a:solidFill>
                  <a:srgbClr val="CC3300"/>
                </a:solidFill>
                <a:latin typeface="楷体_GB2312" pitchFamily="49" charset="-122"/>
              </a:rPr>
              <a:t>增广律</a:t>
            </a:r>
            <a:r>
              <a:rPr lang="zh-CN" altLang="en-US" sz="2400">
                <a:solidFill>
                  <a:srgbClr val="000000"/>
                </a:solidFill>
                <a:latin typeface="楷体_GB2312" pitchFamily="49" charset="-122"/>
              </a:rPr>
              <a:t>：若</a:t>
            </a:r>
            <a:r>
              <a:rPr lang="en-US" altLang="zh-CN" sz="2400">
                <a:solidFill>
                  <a:srgbClr val="000000"/>
                </a:solidFill>
                <a:latin typeface="楷体_GB2312" pitchFamily="49" charset="-122"/>
              </a:rPr>
              <a:t>X</a:t>
            </a:r>
            <a:r>
              <a:rPr lang="en-US" altLang="zh-CN" sz="2400">
                <a:solidFill>
                  <a:srgbClr val="000000"/>
                </a:solidFill>
                <a:latin typeface="楷体_GB2312" pitchFamily="49" charset="-122"/>
                <a:sym typeface="Symbol" panose="05050102010706020507" pitchFamily="18" charset="2"/>
              </a:rPr>
              <a:t></a:t>
            </a:r>
            <a:r>
              <a:rPr lang="en-US" altLang="zh-CN" sz="2400">
                <a:solidFill>
                  <a:srgbClr val="000000"/>
                </a:solidFill>
                <a:latin typeface="楷体_GB2312" pitchFamily="49" charset="-122"/>
              </a:rPr>
              <a:t>Y</a:t>
            </a:r>
            <a:r>
              <a:rPr lang="zh-CN" altLang="en-US" sz="2400">
                <a:solidFill>
                  <a:srgbClr val="000000"/>
                </a:solidFill>
                <a:latin typeface="楷体_GB2312" pitchFamily="49" charset="-122"/>
              </a:rPr>
              <a:t>，则</a:t>
            </a:r>
            <a:r>
              <a:rPr lang="en-US" altLang="zh-CN" sz="2400">
                <a:solidFill>
                  <a:srgbClr val="000000"/>
                </a:solidFill>
                <a:latin typeface="楷体_GB2312" pitchFamily="49" charset="-122"/>
              </a:rPr>
              <a:t>XZ</a:t>
            </a:r>
            <a:r>
              <a:rPr lang="en-US" altLang="zh-CN" sz="2400">
                <a:solidFill>
                  <a:srgbClr val="000000"/>
                </a:solidFill>
                <a:latin typeface="楷体_GB2312" pitchFamily="49" charset="-122"/>
                <a:sym typeface="Symbol" panose="05050102010706020507" pitchFamily="18" charset="2"/>
              </a:rPr>
              <a:t></a:t>
            </a:r>
            <a:r>
              <a:rPr lang="en-US" altLang="zh-CN" sz="2400">
                <a:solidFill>
                  <a:srgbClr val="000000"/>
                </a:solidFill>
                <a:latin typeface="楷体_GB2312" pitchFamily="49" charset="-122"/>
              </a:rPr>
              <a:t>YZ</a:t>
            </a:r>
            <a:endParaRPr lang="en-US" altLang="zh-CN" sz="2400">
              <a:latin typeface="楷体_GB2312" pitchFamily="49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2400">
                <a:latin typeface="楷体_GB2312" pitchFamily="49" charset="-122"/>
              </a:rPr>
              <a:t>证：对于关系模式</a:t>
            </a:r>
            <a:r>
              <a:rPr lang="en-US" altLang="zh-CN" sz="2400">
                <a:latin typeface="楷体_GB2312" pitchFamily="49" charset="-122"/>
              </a:rPr>
              <a:t>R</a:t>
            </a:r>
            <a:r>
              <a:rPr lang="zh-CN" altLang="en-US" sz="2400">
                <a:latin typeface="楷体_GB2312" pitchFamily="49" charset="-122"/>
              </a:rPr>
              <a:t>的任意一个关系</a:t>
            </a:r>
            <a:r>
              <a:rPr lang="en-US" altLang="zh-CN" sz="2400">
                <a:latin typeface="楷体_GB2312" pitchFamily="49" charset="-122"/>
              </a:rPr>
              <a:t>r</a:t>
            </a:r>
            <a:r>
              <a:rPr lang="zh-CN" altLang="en-US" sz="2400">
                <a:latin typeface="楷体_GB2312" pitchFamily="49" charset="-122"/>
              </a:rPr>
              <a:t>的任意两个元组</a:t>
            </a:r>
            <a:r>
              <a:rPr lang="en-US" altLang="zh-CN" sz="2400">
                <a:latin typeface="楷体_GB2312" pitchFamily="49" charset="-122"/>
              </a:rPr>
              <a:t>u</a:t>
            </a:r>
            <a:r>
              <a:rPr lang="zh-CN" altLang="en-US" sz="2400">
                <a:latin typeface="楷体_GB2312" pitchFamily="49" charset="-122"/>
              </a:rPr>
              <a:t>和</a:t>
            </a:r>
            <a:r>
              <a:rPr lang="en-US" altLang="zh-CN" sz="2400">
                <a:latin typeface="楷体_GB2312" pitchFamily="49" charset="-122"/>
              </a:rPr>
              <a:t>v</a:t>
            </a:r>
            <a:r>
              <a:rPr lang="zh-CN" altLang="en-US" sz="2400">
                <a:latin typeface="楷体_GB2312" pitchFamily="49" charset="-122"/>
              </a:rPr>
              <a:t>。</a:t>
            </a:r>
          </a:p>
          <a:p>
            <a:pPr>
              <a:lnSpc>
                <a:spcPct val="110000"/>
              </a:lnSpc>
            </a:pPr>
            <a:r>
              <a:rPr lang="zh-CN" altLang="en-US" sz="2400">
                <a:latin typeface="楷体_GB2312" pitchFamily="49" charset="-122"/>
              </a:rPr>
              <a:t>   若</a:t>
            </a:r>
            <a:r>
              <a:rPr lang="en-US" altLang="zh-CN" sz="2400">
                <a:latin typeface="楷体_GB2312" pitchFamily="49" charset="-122"/>
              </a:rPr>
              <a:t>u[XZ]=v[XZ]</a:t>
            </a:r>
            <a:r>
              <a:rPr lang="zh-CN" altLang="en-US" sz="2400">
                <a:latin typeface="楷体_GB2312" pitchFamily="49" charset="-122"/>
              </a:rPr>
              <a:t>，则</a:t>
            </a:r>
            <a:r>
              <a:rPr lang="en-US" altLang="zh-CN" sz="2400">
                <a:latin typeface="楷体_GB2312" pitchFamily="49" charset="-122"/>
              </a:rPr>
              <a:t>u[X]u[Z]=v[X]v[Z]</a:t>
            </a:r>
            <a:endParaRPr lang="zh-CN" altLang="en-US" sz="2400">
              <a:latin typeface="楷体_GB2312" pitchFamily="49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2400">
                <a:latin typeface="楷体_GB2312" pitchFamily="49" charset="-122"/>
              </a:rPr>
              <a:t>   因</a:t>
            </a:r>
            <a:r>
              <a:rPr lang="en-US" altLang="zh-CN" sz="2400">
                <a:latin typeface="楷体_GB2312" pitchFamily="49" charset="-122"/>
              </a:rPr>
              <a:t>X→Y</a:t>
            </a:r>
            <a:r>
              <a:rPr lang="zh-CN" altLang="en-US" sz="2400">
                <a:latin typeface="楷体_GB2312" pitchFamily="49" charset="-122"/>
              </a:rPr>
              <a:t>，则有：若</a:t>
            </a:r>
            <a:r>
              <a:rPr lang="en-US" altLang="zh-CN" sz="2400">
                <a:latin typeface="楷体_GB2312" pitchFamily="49" charset="-122"/>
              </a:rPr>
              <a:t>u[X]=v[X]</a:t>
            </a:r>
            <a:r>
              <a:rPr lang="zh-CN" altLang="en-US" sz="2400">
                <a:latin typeface="楷体_GB2312" pitchFamily="49" charset="-122"/>
              </a:rPr>
              <a:t>，</a:t>
            </a:r>
          </a:p>
          <a:p>
            <a:pPr>
              <a:lnSpc>
                <a:spcPct val="110000"/>
              </a:lnSpc>
            </a:pPr>
            <a:r>
              <a:rPr lang="zh-CN" altLang="en-US" sz="2400">
                <a:latin typeface="楷体_GB2312" pitchFamily="49" charset="-122"/>
              </a:rPr>
              <a:t>                 则</a:t>
            </a:r>
            <a:r>
              <a:rPr lang="en-US" altLang="zh-CN" sz="2400">
                <a:latin typeface="楷体_GB2312" pitchFamily="49" charset="-122"/>
              </a:rPr>
              <a:t>u[Y]=v[Y]</a:t>
            </a:r>
            <a:r>
              <a:rPr lang="zh-CN" altLang="en-US" sz="2400">
                <a:latin typeface="楷体_GB2312" pitchFamily="49" charset="-122"/>
              </a:rPr>
              <a:t>，</a:t>
            </a:r>
            <a:endParaRPr lang="zh-CN" altLang="en-US" sz="2400">
              <a:latin typeface="楷体_GB2312" pitchFamily="49" charset="-122"/>
              <a:sym typeface="Symbol" panose="05050102010706020507" pitchFamily="18" charset="2"/>
            </a:endParaRPr>
          </a:p>
          <a:p>
            <a:pPr>
              <a:lnSpc>
                <a:spcPct val="110000"/>
              </a:lnSpc>
            </a:pPr>
            <a:r>
              <a:rPr lang="zh-CN" altLang="en-US" sz="2400">
                <a:latin typeface="楷体_GB2312" pitchFamily="49" charset="-122"/>
                <a:sym typeface="Symbol" panose="05050102010706020507" pitchFamily="18" charset="2"/>
              </a:rPr>
              <a:t>   </a:t>
            </a:r>
            <a:r>
              <a:rPr lang="zh-CN" altLang="en-US" sz="2400">
                <a:latin typeface="楷体_GB2312" pitchFamily="49" charset="-122"/>
              </a:rPr>
              <a:t> </a:t>
            </a:r>
            <a:r>
              <a:rPr lang="en-US" altLang="zh-CN" sz="2400">
                <a:latin typeface="楷体_GB2312" pitchFamily="49" charset="-122"/>
              </a:rPr>
              <a:t>u[Z]=v[Z]</a:t>
            </a:r>
            <a:endParaRPr lang="zh-CN" altLang="en-US" sz="2400">
              <a:latin typeface="楷体_GB2312" pitchFamily="49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2400">
                <a:latin typeface="楷体_GB2312" pitchFamily="49" charset="-122"/>
              </a:rPr>
              <a:t>   所以</a:t>
            </a:r>
            <a:r>
              <a:rPr lang="en-US" altLang="zh-CN" sz="2400">
                <a:latin typeface="楷体_GB2312" pitchFamily="49" charset="-122"/>
              </a:rPr>
              <a:t>u[Y]u[Z]=v[Y]v[Z]</a:t>
            </a:r>
            <a:r>
              <a:rPr lang="zh-CN" altLang="en-US" sz="2400">
                <a:latin typeface="楷体_GB2312" pitchFamily="49" charset="-122"/>
              </a:rPr>
              <a:t>，则有</a:t>
            </a:r>
            <a:r>
              <a:rPr lang="en-US" altLang="zh-CN" sz="2400">
                <a:latin typeface="楷体_GB2312" pitchFamily="49" charset="-122"/>
              </a:rPr>
              <a:t>u[YZ]=v[YZ]</a:t>
            </a:r>
          </a:p>
          <a:p>
            <a:pPr>
              <a:lnSpc>
                <a:spcPct val="110000"/>
              </a:lnSpc>
            </a:pPr>
            <a:r>
              <a:rPr lang="zh-CN" altLang="en-US" sz="2400">
                <a:latin typeface="楷体_GB2312" pitchFamily="49" charset="-122"/>
              </a:rPr>
              <a:t>   故： </a:t>
            </a:r>
            <a:r>
              <a:rPr lang="en-US" altLang="zh-CN" sz="2400">
                <a:solidFill>
                  <a:srgbClr val="000000"/>
                </a:solidFill>
                <a:latin typeface="楷体_GB2312" pitchFamily="49" charset="-122"/>
              </a:rPr>
              <a:t>XZ</a:t>
            </a:r>
            <a:r>
              <a:rPr lang="en-US" altLang="zh-CN" sz="2400">
                <a:solidFill>
                  <a:srgbClr val="000000"/>
                </a:solidFill>
                <a:latin typeface="楷体_GB2312" pitchFamily="49" charset="-122"/>
                <a:sym typeface="Symbol" panose="05050102010706020507" pitchFamily="18" charset="2"/>
              </a:rPr>
              <a:t></a:t>
            </a:r>
            <a:r>
              <a:rPr lang="en-US" altLang="zh-CN" sz="2400">
                <a:solidFill>
                  <a:srgbClr val="000000"/>
                </a:solidFill>
                <a:latin typeface="楷体_GB2312" pitchFamily="49" charset="-122"/>
              </a:rPr>
              <a:t>YZ</a:t>
            </a:r>
            <a:endParaRPr lang="zh-CN" altLang="en-US" sz="2400">
              <a:solidFill>
                <a:srgbClr val="000000"/>
              </a:solidFill>
              <a:latin typeface="楷体_GB2312" pitchFamily="49" charset="-122"/>
            </a:endParaRPr>
          </a:p>
        </p:txBody>
      </p:sp>
      <p:sp>
        <p:nvSpPr>
          <p:cNvPr id="465924" name="AutoShape 4">
            <a:extLst>
              <a:ext uri="{FF2B5EF4-FFF2-40B4-BE49-F238E27FC236}">
                <a16:creationId xmlns:a16="http://schemas.microsoft.com/office/drawing/2014/main" id="{DD7A598D-F029-4E2C-BA49-3C5C5737DC16}"/>
              </a:ext>
            </a:extLst>
          </p:cNvPr>
          <p:cNvSpPr>
            <a:spLocks/>
          </p:cNvSpPr>
          <p:nvPr/>
        </p:nvSpPr>
        <p:spPr bwMode="auto">
          <a:xfrm>
            <a:off x="6588125" y="3571875"/>
            <a:ext cx="360363" cy="649288"/>
          </a:xfrm>
          <a:prstGeom prst="rightBrace">
            <a:avLst>
              <a:gd name="adj1" fmla="val 15015"/>
              <a:gd name="adj2" fmla="val 50000"/>
            </a:avLst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5925" name="AutoShape 5">
            <a:extLst>
              <a:ext uri="{FF2B5EF4-FFF2-40B4-BE49-F238E27FC236}">
                <a16:creationId xmlns:a16="http://schemas.microsoft.com/office/drawing/2014/main" id="{9B864573-2591-4A8A-9B94-211923F58BD6}"/>
              </a:ext>
            </a:extLst>
          </p:cNvPr>
          <p:cNvSpPr>
            <a:spLocks/>
          </p:cNvSpPr>
          <p:nvPr/>
        </p:nvSpPr>
        <p:spPr bwMode="auto">
          <a:xfrm>
            <a:off x="5148263" y="4581525"/>
            <a:ext cx="360362" cy="576263"/>
          </a:xfrm>
          <a:prstGeom prst="rightBrace">
            <a:avLst>
              <a:gd name="adj1" fmla="val 13326"/>
              <a:gd name="adj2" fmla="val 50000"/>
            </a:avLst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5927" name="Line 7">
            <a:extLst>
              <a:ext uri="{FF2B5EF4-FFF2-40B4-BE49-F238E27FC236}">
                <a16:creationId xmlns:a16="http://schemas.microsoft.com/office/drawing/2014/main" id="{3035C269-C1EF-44B0-9157-6D0722DDFC6A}"/>
              </a:ext>
            </a:extLst>
          </p:cNvPr>
          <p:cNvSpPr>
            <a:spLocks noChangeShapeType="1"/>
          </p:cNvSpPr>
          <p:nvPr/>
        </p:nvSpPr>
        <p:spPr bwMode="auto">
          <a:xfrm>
            <a:off x="1116013" y="3859213"/>
            <a:ext cx="1944687" cy="0"/>
          </a:xfrm>
          <a:prstGeom prst="line">
            <a:avLst/>
          </a:prstGeom>
          <a:noFill/>
          <a:ln w="28575" cap="sq">
            <a:solidFill>
              <a:srgbClr val="FF0000"/>
            </a:solidFill>
            <a:round/>
            <a:headEnd type="none" w="sm" len="sm"/>
            <a:tailEnd type="none" w="sm" len="sm"/>
          </a:ln>
          <a:effectLst>
            <a:outerShdw dist="3592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5928" name="Line 8">
            <a:extLst>
              <a:ext uri="{FF2B5EF4-FFF2-40B4-BE49-F238E27FC236}">
                <a16:creationId xmlns:a16="http://schemas.microsoft.com/office/drawing/2014/main" id="{978860EB-D605-4675-AEF6-14AAD5FA291A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8975" y="5734050"/>
            <a:ext cx="2449513" cy="0"/>
          </a:xfrm>
          <a:prstGeom prst="line">
            <a:avLst/>
          </a:prstGeom>
          <a:noFill/>
          <a:ln w="28575" cap="sq">
            <a:solidFill>
              <a:srgbClr val="FF0000"/>
            </a:solidFill>
            <a:round/>
            <a:headEnd type="none" w="sm" len="sm"/>
            <a:tailEnd type="none" w="sm" len="sm"/>
          </a:ln>
          <a:effectLst>
            <a:outerShdw dist="3592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5930" name="Rectangle 10">
            <a:extLst>
              <a:ext uri="{FF2B5EF4-FFF2-40B4-BE49-F238E27FC236}">
                <a16:creationId xmlns:a16="http://schemas.microsoft.com/office/drawing/2014/main" id="{9E41AC9B-F48E-4F18-842D-46542DE9B4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一、阿姆斯特朗公理</a:t>
            </a:r>
          </a:p>
        </p:txBody>
      </p:sp>
      <p:sp>
        <p:nvSpPr>
          <p:cNvPr id="465932" name="Line 12">
            <a:extLst>
              <a:ext uri="{FF2B5EF4-FFF2-40B4-BE49-F238E27FC236}">
                <a16:creationId xmlns:a16="http://schemas.microsoft.com/office/drawing/2014/main" id="{D4D6A03F-EB1F-4215-9E91-7F00A3B9C293}"/>
              </a:ext>
            </a:extLst>
          </p:cNvPr>
          <p:cNvSpPr>
            <a:spLocks noChangeShapeType="1"/>
          </p:cNvSpPr>
          <p:nvPr/>
        </p:nvSpPr>
        <p:spPr bwMode="auto">
          <a:xfrm>
            <a:off x="3130550" y="2852738"/>
            <a:ext cx="720725" cy="0"/>
          </a:xfrm>
          <a:prstGeom prst="line">
            <a:avLst/>
          </a:prstGeom>
          <a:noFill/>
          <a:ln w="28575" cap="sq">
            <a:solidFill>
              <a:srgbClr val="FF0000"/>
            </a:solidFill>
            <a:round/>
            <a:headEnd type="none" w="sm" len="sm"/>
            <a:tailEnd type="none" w="sm" len="sm"/>
          </a:ln>
          <a:effectLst>
            <a:outerShdw dist="28398" dir="1593903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5933" name="AutoShape 13">
            <a:extLst>
              <a:ext uri="{FF2B5EF4-FFF2-40B4-BE49-F238E27FC236}">
                <a16:creationId xmlns:a16="http://schemas.microsoft.com/office/drawing/2014/main" id="{A2DCDD6A-8A06-4A09-BADA-1F38122266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3938" y="1557338"/>
            <a:ext cx="5256212" cy="576262"/>
          </a:xfrm>
          <a:prstGeom prst="wedgeRectCallout">
            <a:avLst>
              <a:gd name="adj1" fmla="val -30519"/>
              <a:gd name="adj2" fmla="val 105097"/>
            </a:avLst>
          </a:prstGeom>
          <a:solidFill>
            <a:srgbClr val="333399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71842" dir="2700000" algn="ctr" rotWithShape="0">
              <a:schemeClr val="tx1"/>
            </a:outerShdw>
          </a:effectLst>
        </p:spPr>
        <p:txBody>
          <a:bodyPr anchor="ctr"/>
          <a:lstStyle/>
          <a:p>
            <a:pPr algn="ctr"/>
            <a:r>
              <a:rPr lang="zh-CN" altLang="en-US" sz="2400" b="1">
                <a:solidFill>
                  <a:srgbClr val="99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只要</a:t>
            </a:r>
            <a:r>
              <a:rPr lang="en-US" altLang="zh-CN" sz="2400" b="1">
                <a:solidFill>
                  <a:srgbClr val="99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u[XZ]=v[XZ]</a:t>
            </a:r>
            <a:r>
              <a:rPr lang="zh-CN" altLang="en-US" sz="2400" b="1">
                <a:solidFill>
                  <a:srgbClr val="99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，就有</a:t>
            </a:r>
            <a:r>
              <a:rPr lang="en-US" altLang="zh-CN" sz="24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u[YZ]=v[YZ]</a:t>
            </a:r>
            <a:endParaRPr lang="zh-CN" altLang="en-US" sz="2400" b="1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</p:spTree>
    <p:custDataLst>
      <p:tags r:id="rId1"/>
    </p:custDataLst>
  </p:cSld>
  <p:clrMapOvr>
    <a:masterClrMapping/>
  </p:clrMapOvr>
  <p:transition advTm="147635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659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4659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4659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65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659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659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4659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4659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000"/>
                                        <p:tgtEl>
                                          <p:spTgt spid="4659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4659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465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1000"/>
                                        <p:tgtEl>
                                          <p:spTgt spid="4659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465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1000"/>
                                        <p:tgtEl>
                                          <p:spTgt spid="4659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465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465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1000"/>
                                        <p:tgtEl>
                                          <p:spTgt spid="4659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5931" grpId="0" uiExpand="1" build="p"/>
      <p:bldP spid="46593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352E59D4-E1F5-4BA0-BD51-39457B1AD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5484F-D5B4-453E-BC09-599804698491}" type="slidenum">
              <a:rPr lang="zh-CN" altLang="en-US"/>
              <a:pPr/>
              <a:t>6</a:t>
            </a:fld>
            <a:endParaRPr lang="en-US" altLang="zh-CN"/>
          </a:p>
        </p:txBody>
      </p:sp>
      <p:sp>
        <p:nvSpPr>
          <p:cNvPr id="466948" name="Rectangle 4">
            <a:extLst>
              <a:ext uri="{FF2B5EF4-FFF2-40B4-BE49-F238E27FC236}">
                <a16:creationId xmlns:a16="http://schemas.microsoft.com/office/drawing/2014/main" id="{AFD03E2E-C225-4486-9681-EBB6891B42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二、阿姆斯特朗公理的推论</a:t>
            </a:r>
          </a:p>
        </p:txBody>
      </p:sp>
      <p:sp>
        <p:nvSpPr>
          <p:cNvPr id="466949" name="Rectangle 5">
            <a:extLst>
              <a:ext uri="{FF2B5EF4-FFF2-40B4-BE49-F238E27FC236}">
                <a16:creationId xmlns:a16="http://schemas.microsoft.com/office/drawing/2014/main" id="{4EB6EBAC-E46A-4DEA-BB11-CEAF206DC6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、三条推论</a:t>
            </a:r>
          </a:p>
          <a:p>
            <a:r>
              <a:rPr lang="zh-CN" altLang="en-US">
                <a:solidFill>
                  <a:srgbClr val="FF0066"/>
                </a:solidFill>
                <a:latin typeface="楷体_GB2312" pitchFamily="49" charset="-122"/>
                <a:cs typeface="Times New Roman" panose="02020603050405020304" pitchFamily="18" charset="0"/>
              </a:rPr>
              <a:t>   </a:t>
            </a:r>
            <a:r>
              <a:rPr lang="zh-CN" altLang="en-US">
                <a:solidFill>
                  <a:srgbClr val="CC3300"/>
                </a:solidFill>
                <a:latin typeface="楷体_GB2312" pitchFamily="49" charset="-122"/>
                <a:cs typeface="Times New Roman" panose="02020603050405020304" pitchFamily="18" charset="0"/>
              </a:rPr>
              <a:t>合并规则</a:t>
            </a:r>
            <a:r>
              <a:rPr lang="zh-CN" altLang="en-US">
                <a:latin typeface="楷体_GB2312" pitchFamily="49" charset="-122"/>
                <a:cs typeface="Times New Roman" panose="02020603050405020304" pitchFamily="18" charset="0"/>
              </a:rPr>
              <a:t>：若</a:t>
            </a:r>
            <a:r>
              <a:rPr lang="en-US" altLang="zh-CN">
                <a:latin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>
                <a:latin typeface="楷体_GB2312" pitchFamily="49" charset="-122"/>
                <a:cs typeface="Times New Roman" panose="02020603050405020304" pitchFamily="18" charset="0"/>
              </a:rPr>
              <a:t>Y</a:t>
            </a:r>
            <a:r>
              <a:rPr lang="zh-CN" altLang="en-US">
                <a:latin typeface="楷体_GB2312" pitchFamily="49" charset="-122"/>
                <a:cs typeface="Times New Roman" panose="02020603050405020304" pitchFamily="18" charset="0"/>
              </a:rPr>
              <a:t>且</a:t>
            </a:r>
            <a:r>
              <a:rPr lang="en-US" altLang="zh-CN">
                <a:latin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>
                <a:latin typeface="楷体_GB2312" pitchFamily="49" charset="-122"/>
                <a:cs typeface="Times New Roman" panose="02020603050405020304" pitchFamily="18" charset="0"/>
              </a:rPr>
              <a:t>Z</a:t>
            </a:r>
            <a:r>
              <a:rPr lang="zh-CN" altLang="en-US">
                <a:latin typeface="楷体_GB2312" pitchFamily="49" charset="-122"/>
                <a:cs typeface="Times New Roman" panose="02020603050405020304" pitchFamily="18" charset="0"/>
              </a:rPr>
              <a:t>，则</a:t>
            </a:r>
            <a:r>
              <a:rPr lang="en-US" altLang="zh-CN">
                <a:latin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>
                <a:latin typeface="楷体_GB2312" pitchFamily="49" charset="-122"/>
                <a:cs typeface="Times New Roman" panose="02020603050405020304" pitchFamily="18" charset="0"/>
              </a:rPr>
              <a:t>YZ</a:t>
            </a:r>
          </a:p>
          <a:p>
            <a:r>
              <a:rPr lang="zh-CN" altLang="en-US">
                <a:solidFill>
                  <a:srgbClr val="FF0066"/>
                </a:solidFill>
                <a:latin typeface="楷体_GB2312" pitchFamily="49" charset="-122"/>
                <a:cs typeface="Times New Roman" panose="02020603050405020304" pitchFamily="18" charset="0"/>
              </a:rPr>
              <a:t>   </a:t>
            </a:r>
            <a:r>
              <a:rPr lang="zh-CN" altLang="en-US">
                <a:solidFill>
                  <a:srgbClr val="CC3300"/>
                </a:solidFill>
                <a:latin typeface="楷体_GB2312" pitchFamily="49" charset="-122"/>
                <a:cs typeface="Times New Roman" panose="02020603050405020304" pitchFamily="18" charset="0"/>
              </a:rPr>
              <a:t>分解规则</a:t>
            </a:r>
            <a:r>
              <a:rPr lang="zh-CN" altLang="en-US">
                <a:latin typeface="楷体_GB2312" pitchFamily="49" charset="-122"/>
                <a:cs typeface="Times New Roman" panose="02020603050405020304" pitchFamily="18" charset="0"/>
              </a:rPr>
              <a:t>：若</a:t>
            </a:r>
            <a:r>
              <a:rPr lang="en-US" altLang="zh-CN">
                <a:latin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>
                <a:latin typeface="楷体_GB2312" pitchFamily="49" charset="-122"/>
                <a:cs typeface="Times New Roman" panose="02020603050405020304" pitchFamily="18" charset="0"/>
              </a:rPr>
              <a:t>Y</a:t>
            </a:r>
            <a:r>
              <a:rPr lang="zh-CN" altLang="en-US">
                <a:latin typeface="楷体_GB2312" pitchFamily="49" charset="-122"/>
                <a:cs typeface="Times New Roman" panose="02020603050405020304" pitchFamily="18" charset="0"/>
              </a:rPr>
              <a:t>，且</a:t>
            </a:r>
            <a:r>
              <a:rPr lang="en-US" altLang="zh-CN">
                <a:latin typeface="楷体_GB2312" pitchFamily="49" charset="-122"/>
                <a:cs typeface="Times New Roman" panose="02020603050405020304" pitchFamily="18" charset="0"/>
              </a:rPr>
              <a:t>Z</a:t>
            </a:r>
            <a:r>
              <a:rPr lang="en-US" altLang="zh-CN"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>
                <a:latin typeface="楷体_GB2312" pitchFamily="49" charset="-122"/>
                <a:cs typeface="Times New Roman" panose="02020603050405020304" pitchFamily="18" charset="0"/>
              </a:rPr>
              <a:t>Y</a:t>
            </a:r>
            <a:r>
              <a:rPr lang="zh-CN" altLang="en-US">
                <a:latin typeface="楷体_GB2312" pitchFamily="49" charset="-122"/>
                <a:cs typeface="Times New Roman" panose="02020603050405020304" pitchFamily="18" charset="0"/>
              </a:rPr>
              <a:t>，则</a:t>
            </a:r>
            <a:r>
              <a:rPr lang="en-US" altLang="zh-CN">
                <a:latin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>
                <a:latin typeface="楷体_GB2312" pitchFamily="49" charset="-122"/>
                <a:cs typeface="Times New Roman" panose="02020603050405020304" pitchFamily="18" charset="0"/>
              </a:rPr>
              <a:t>Z</a:t>
            </a:r>
          </a:p>
          <a:p>
            <a:r>
              <a:rPr lang="zh-CN" altLang="en-US">
                <a:solidFill>
                  <a:srgbClr val="FF0066"/>
                </a:solidFill>
                <a:latin typeface="楷体_GB2312" pitchFamily="49" charset="-122"/>
                <a:cs typeface="Times New Roman" panose="02020603050405020304" pitchFamily="18" charset="0"/>
              </a:rPr>
              <a:t>   </a:t>
            </a:r>
            <a:r>
              <a:rPr lang="zh-CN" altLang="en-US">
                <a:solidFill>
                  <a:srgbClr val="CC3300"/>
                </a:solidFill>
                <a:latin typeface="楷体_GB2312" pitchFamily="49" charset="-122"/>
                <a:cs typeface="Times New Roman" panose="02020603050405020304" pitchFamily="18" charset="0"/>
              </a:rPr>
              <a:t>伪传递规则</a:t>
            </a:r>
            <a:r>
              <a:rPr lang="zh-CN" altLang="en-US">
                <a:latin typeface="楷体_GB2312" pitchFamily="49" charset="-122"/>
                <a:cs typeface="Times New Roman" panose="02020603050405020304" pitchFamily="18" charset="0"/>
              </a:rPr>
              <a:t>：若</a:t>
            </a:r>
            <a:r>
              <a:rPr lang="en-US" altLang="zh-CN">
                <a:latin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>
                <a:latin typeface="楷体_GB2312" pitchFamily="49" charset="-122"/>
                <a:cs typeface="Times New Roman" panose="02020603050405020304" pitchFamily="18" charset="0"/>
              </a:rPr>
              <a:t>Y</a:t>
            </a:r>
            <a:r>
              <a:rPr lang="zh-CN" altLang="en-US">
                <a:latin typeface="楷体_GB2312" pitchFamily="49" charset="-122"/>
                <a:cs typeface="Times New Roman" panose="02020603050405020304" pitchFamily="18" charset="0"/>
              </a:rPr>
              <a:t>且</a:t>
            </a:r>
            <a:r>
              <a:rPr lang="en-US" altLang="zh-CN">
                <a:latin typeface="楷体_GB2312" pitchFamily="49" charset="-122"/>
                <a:cs typeface="Times New Roman" panose="02020603050405020304" pitchFamily="18" charset="0"/>
              </a:rPr>
              <a:t>WY</a:t>
            </a:r>
            <a:r>
              <a:rPr lang="en-US" altLang="zh-CN"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>
                <a:latin typeface="楷体_GB2312" pitchFamily="49" charset="-122"/>
                <a:cs typeface="Times New Roman" panose="02020603050405020304" pitchFamily="18" charset="0"/>
              </a:rPr>
              <a:t>Z</a:t>
            </a:r>
            <a:r>
              <a:rPr lang="zh-CN" altLang="en-US">
                <a:latin typeface="楷体_GB2312" pitchFamily="49" charset="-122"/>
                <a:cs typeface="Times New Roman" panose="02020603050405020304" pitchFamily="18" charset="0"/>
              </a:rPr>
              <a:t>，则</a:t>
            </a:r>
            <a:r>
              <a:rPr lang="en-US" altLang="zh-CN">
                <a:latin typeface="楷体_GB2312" pitchFamily="49" charset="-122"/>
                <a:cs typeface="Times New Roman" panose="02020603050405020304" pitchFamily="18" charset="0"/>
              </a:rPr>
              <a:t>XW</a:t>
            </a:r>
            <a:r>
              <a:rPr lang="en-US" altLang="zh-CN"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>
                <a:latin typeface="楷体_GB2312" pitchFamily="49" charset="-122"/>
                <a:cs typeface="Times New Roman" panose="02020603050405020304" pitchFamily="18" charset="0"/>
              </a:rPr>
              <a:t>Z</a:t>
            </a:r>
            <a:endParaRPr lang="zh-CN" altLang="en-US">
              <a:latin typeface="楷体_GB2312" pitchFamily="49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</p:cSld>
  <p:clrMapOvr>
    <a:masterClrMapping/>
  </p:clrMapOvr>
  <p:transition advTm="46769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669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4669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4669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4669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6949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灯片编号占位符 5">
            <a:extLst>
              <a:ext uri="{FF2B5EF4-FFF2-40B4-BE49-F238E27FC236}">
                <a16:creationId xmlns:a16="http://schemas.microsoft.com/office/drawing/2014/main" id="{A3D29368-6BB4-4C3A-B7E6-7B66F9D06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75BD4-2A3E-46C7-BEBA-84CFDB9F5259}" type="slidenum">
              <a:rPr lang="zh-CN" altLang="en-US"/>
              <a:pPr/>
              <a:t>7</a:t>
            </a:fld>
            <a:endParaRPr lang="en-US" altLang="zh-CN"/>
          </a:p>
        </p:txBody>
      </p:sp>
      <p:sp>
        <p:nvSpPr>
          <p:cNvPr id="467972" name="Text Box 4">
            <a:extLst>
              <a:ext uri="{FF2B5EF4-FFF2-40B4-BE49-F238E27FC236}">
                <a16:creationId xmlns:a16="http://schemas.microsoft.com/office/drawing/2014/main" id="{E48FE372-6D51-4BBB-AEC2-2EDBE48FB9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577" y="4346575"/>
            <a:ext cx="1151012" cy="519113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b="1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Y</a:t>
            </a:r>
            <a:endParaRPr lang="zh-CN" altLang="en-US" sz="2800" b="1" dirty="0">
              <a:solidFill>
                <a:srgbClr val="000000"/>
              </a:solidFill>
              <a:latin typeface="楷体_GB2312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467973" name="Group 5">
            <a:extLst>
              <a:ext uri="{FF2B5EF4-FFF2-40B4-BE49-F238E27FC236}">
                <a16:creationId xmlns:a16="http://schemas.microsoft.com/office/drawing/2014/main" id="{5D638345-7E03-405F-A211-1EC67C6EFF8F}"/>
              </a:ext>
            </a:extLst>
          </p:cNvPr>
          <p:cNvGrpSpPr>
            <a:grpSpLocks/>
          </p:cNvGrpSpPr>
          <p:nvPr/>
        </p:nvGrpSpPr>
        <p:grpSpPr bwMode="auto">
          <a:xfrm>
            <a:off x="1906588" y="3978275"/>
            <a:ext cx="2016125" cy="819150"/>
            <a:chOff x="1112" y="2160"/>
            <a:chExt cx="1270" cy="516"/>
          </a:xfrm>
        </p:grpSpPr>
        <p:sp>
          <p:nvSpPr>
            <p:cNvPr id="467974" name="AutoShape 6">
              <a:extLst>
                <a:ext uri="{FF2B5EF4-FFF2-40B4-BE49-F238E27FC236}">
                  <a16:creationId xmlns:a16="http://schemas.microsoft.com/office/drawing/2014/main" id="{E04D8280-70D4-4366-A588-817FB7A300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2" y="2495"/>
              <a:ext cx="1270" cy="181"/>
            </a:xfrm>
            <a:prstGeom prst="rightArrow">
              <a:avLst>
                <a:gd name="adj1" fmla="val 50278"/>
                <a:gd name="adj2" fmla="val 140624"/>
              </a:avLst>
            </a:prstGeom>
            <a:solidFill>
              <a:srgbClr val="99CCFF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7975" name="Text Box 7">
              <a:extLst>
                <a:ext uri="{FF2B5EF4-FFF2-40B4-BE49-F238E27FC236}">
                  <a16:creationId xmlns:a16="http://schemas.microsoft.com/office/drawing/2014/main" id="{07B665B3-B53D-47C3-8067-5E301EA61A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7" y="2160"/>
              <a:ext cx="919" cy="335"/>
            </a:xfrm>
            <a:prstGeom prst="rect">
              <a:avLst/>
            </a:prstGeom>
            <a:solidFill>
              <a:srgbClr val="00808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53882" dir="2700000" algn="ctr" rotWithShape="0">
                <a:schemeClr val="tx1"/>
              </a:outerShdw>
            </a:effectLst>
          </p:spPr>
          <p:txBody>
            <a:bodyPr>
              <a:spAutoFit/>
            </a:bodyPr>
            <a:lstStyle/>
            <a:p>
              <a:pPr algn="ctr"/>
              <a:r>
                <a:rPr lang="zh-CN" altLang="en-US" sz="2800" b="1" dirty="0">
                  <a:solidFill>
                    <a:srgbClr val="FFFF66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楷体_GB2312" pitchFamily="49" charset="-122"/>
                  <a:cs typeface="Times New Roman" panose="02020603050405020304" pitchFamily="18" charset="0"/>
                </a:rPr>
                <a:t>增广律</a:t>
              </a:r>
            </a:p>
          </p:txBody>
        </p:sp>
      </p:grpSp>
      <p:sp>
        <p:nvSpPr>
          <p:cNvPr id="467976" name="Text Box 8">
            <a:extLst>
              <a:ext uri="{FF2B5EF4-FFF2-40B4-BE49-F238E27FC236}">
                <a16:creationId xmlns:a16="http://schemas.microsoft.com/office/drawing/2014/main" id="{20E1555C-368F-4675-977D-EB5AB4FEB8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8989" y="4028359"/>
            <a:ext cx="1855786" cy="519113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XW→WY</a:t>
            </a:r>
            <a:endParaRPr lang="zh-CN" altLang="en-US" sz="2800" b="1" dirty="0">
              <a:solidFill>
                <a:srgbClr val="000000"/>
              </a:solidFill>
              <a:latin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467977" name="Text Box 9">
            <a:extLst>
              <a:ext uri="{FF2B5EF4-FFF2-40B4-BE49-F238E27FC236}">
                <a16:creationId xmlns:a16="http://schemas.microsoft.com/office/drawing/2014/main" id="{E4798E58-A3BD-47D5-AD6D-C7D5456B95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96340" y="4887895"/>
            <a:ext cx="1510655" cy="519113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WY→Z</a:t>
            </a:r>
            <a:endParaRPr lang="zh-CN" altLang="en-US" sz="2800" b="1" dirty="0">
              <a:solidFill>
                <a:srgbClr val="000000"/>
              </a:solidFill>
              <a:latin typeface="楷体_GB2312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467978" name="Group 10">
            <a:extLst>
              <a:ext uri="{FF2B5EF4-FFF2-40B4-BE49-F238E27FC236}">
                <a16:creationId xmlns:a16="http://schemas.microsoft.com/office/drawing/2014/main" id="{C1749737-3249-4D3E-B004-0017C22DC20D}"/>
              </a:ext>
            </a:extLst>
          </p:cNvPr>
          <p:cNvGrpSpPr>
            <a:grpSpLocks/>
          </p:cNvGrpSpPr>
          <p:nvPr/>
        </p:nvGrpSpPr>
        <p:grpSpPr bwMode="auto">
          <a:xfrm>
            <a:off x="5218113" y="4411663"/>
            <a:ext cx="2016125" cy="819150"/>
            <a:chOff x="3198" y="2433"/>
            <a:chExt cx="1270" cy="516"/>
          </a:xfrm>
        </p:grpSpPr>
        <p:sp>
          <p:nvSpPr>
            <p:cNvPr id="467979" name="AutoShape 11">
              <a:extLst>
                <a:ext uri="{FF2B5EF4-FFF2-40B4-BE49-F238E27FC236}">
                  <a16:creationId xmlns:a16="http://schemas.microsoft.com/office/drawing/2014/main" id="{7C767471-1C72-4709-A4FC-C0482DCAAF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8" y="2768"/>
              <a:ext cx="1270" cy="181"/>
            </a:xfrm>
            <a:prstGeom prst="rightArrow">
              <a:avLst>
                <a:gd name="adj1" fmla="val 50278"/>
                <a:gd name="adj2" fmla="val 140624"/>
              </a:avLst>
            </a:prstGeom>
            <a:solidFill>
              <a:srgbClr val="99CCFF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7980" name="Text Box 12">
              <a:extLst>
                <a:ext uri="{FF2B5EF4-FFF2-40B4-BE49-F238E27FC236}">
                  <a16:creationId xmlns:a16="http://schemas.microsoft.com/office/drawing/2014/main" id="{3A7CFCA7-DAA8-47BB-B8AC-C003BDAAD9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43" y="2433"/>
              <a:ext cx="919" cy="335"/>
            </a:xfrm>
            <a:prstGeom prst="rect">
              <a:avLst/>
            </a:prstGeom>
            <a:solidFill>
              <a:srgbClr val="00808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53882" dir="2700000" algn="ctr" rotWithShape="0">
                <a:schemeClr val="tx1"/>
              </a:outerShdw>
            </a:effectLst>
          </p:spPr>
          <p:txBody>
            <a:bodyPr>
              <a:spAutoFit/>
            </a:bodyPr>
            <a:lstStyle/>
            <a:p>
              <a:pPr algn="ctr"/>
              <a:r>
                <a:rPr lang="zh-CN" altLang="en-US" sz="2800" b="1">
                  <a:solidFill>
                    <a:srgbClr val="FFFF66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楷体_GB2312" pitchFamily="49" charset="-122"/>
                  <a:cs typeface="Times New Roman" panose="02020603050405020304" pitchFamily="18" charset="0"/>
                </a:rPr>
                <a:t>传递律</a:t>
              </a:r>
            </a:p>
          </p:txBody>
        </p:sp>
      </p:grpSp>
      <p:sp>
        <p:nvSpPr>
          <p:cNvPr id="467981" name="Text Box 13">
            <a:extLst>
              <a:ext uri="{FF2B5EF4-FFF2-40B4-BE49-F238E27FC236}">
                <a16:creationId xmlns:a16="http://schemas.microsoft.com/office/drawing/2014/main" id="{3BE43B01-A178-4402-BB8F-76A70835C0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5675" y="4827588"/>
            <a:ext cx="1510655" cy="519112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XW→Z</a:t>
            </a:r>
            <a:endParaRPr lang="zh-CN" altLang="en-US" sz="2800" b="1" dirty="0">
              <a:solidFill>
                <a:srgbClr val="000000"/>
              </a:solidFill>
              <a:latin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467982" name="Rectangle 14">
            <a:extLst>
              <a:ext uri="{FF2B5EF4-FFF2-40B4-BE49-F238E27FC236}">
                <a16:creationId xmlns:a16="http://schemas.microsoft.com/office/drawing/2014/main" id="{4D7CA963-B109-4B8A-B79F-8E69B7E579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二、阿姆斯特朗公理的推论</a:t>
            </a:r>
          </a:p>
        </p:txBody>
      </p:sp>
      <p:sp>
        <p:nvSpPr>
          <p:cNvPr id="467983" name="Rectangle 15">
            <a:extLst>
              <a:ext uri="{FF2B5EF4-FFF2-40B4-BE49-F238E27FC236}">
                <a16:creationId xmlns:a16="http://schemas.microsoft.com/office/drawing/2014/main" id="{549B8319-92BF-461F-AEAD-98F0B3812D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25462" y="1411288"/>
            <a:ext cx="8234363" cy="4953000"/>
          </a:xfrm>
        </p:spPr>
        <p:txBody>
          <a:bodyPr/>
          <a:lstStyle/>
          <a:p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、三条推论</a:t>
            </a:r>
            <a:endParaRPr lang="en-US" altLang="zh-CN" dirty="0">
              <a:latin typeface="楷体_GB2312" pitchFamily="49" charset="-122"/>
            </a:endParaRPr>
          </a:p>
          <a:p>
            <a:r>
              <a:rPr lang="zh-CN" altLang="en-US" dirty="0">
                <a:solidFill>
                  <a:srgbClr val="000000"/>
                </a:solidFill>
                <a:latin typeface="楷体_GB2312" pitchFamily="49" charset="-122"/>
              </a:rPr>
              <a:t>   方法：证明过程是对</a:t>
            </a:r>
            <a:r>
              <a:rPr lang="zh-CN" altLang="en-US" dirty="0"/>
              <a:t>阿姆斯特朗</a:t>
            </a:r>
            <a:r>
              <a:rPr lang="zh-CN" altLang="en-US" dirty="0">
                <a:solidFill>
                  <a:srgbClr val="000000"/>
                </a:solidFill>
                <a:latin typeface="楷体_GB2312" pitchFamily="49" charset="-122"/>
              </a:rPr>
              <a:t>公理的应用</a:t>
            </a:r>
          </a:p>
          <a:p>
            <a:r>
              <a:rPr lang="zh-CN" altLang="en-US" dirty="0">
                <a:solidFill>
                  <a:srgbClr val="CC3300"/>
                </a:solidFill>
                <a:latin typeface="楷体_GB2312" pitchFamily="49" charset="-122"/>
                <a:cs typeface="Times New Roman" panose="02020603050405020304" pitchFamily="18" charset="0"/>
              </a:rPr>
              <a:t>   伪传递规则</a:t>
            </a:r>
            <a:r>
              <a:rPr lang="zh-CN" altLang="en-US" dirty="0">
                <a:latin typeface="楷体_GB2312" pitchFamily="49" charset="-122"/>
                <a:cs typeface="Times New Roman" panose="02020603050405020304" pitchFamily="18" charset="0"/>
              </a:rPr>
              <a:t>：若</a:t>
            </a:r>
            <a:r>
              <a:rPr lang="en-US" altLang="zh-CN" dirty="0">
                <a:latin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dirty="0">
                <a:latin typeface="楷体_GB2312" pitchFamily="49" charset="-122"/>
                <a:cs typeface="Times New Roman" panose="02020603050405020304" pitchFamily="18" charset="0"/>
              </a:rPr>
              <a:t>Y</a:t>
            </a:r>
            <a:r>
              <a:rPr lang="zh-CN" altLang="en-US" dirty="0">
                <a:latin typeface="楷体_GB2312" pitchFamily="49" charset="-122"/>
                <a:cs typeface="Times New Roman" panose="02020603050405020304" pitchFamily="18" charset="0"/>
              </a:rPr>
              <a:t>且</a:t>
            </a:r>
            <a:r>
              <a:rPr lang="en-US" altLang="zh-CN" dirty="0">
                <a:latin typeface="楷体_GB2312" pitchFamily="49" charset="-122"/>
                <a:cs typeface="Times New Roman" panose="02020603050405020304" pitchFamily="18" charset="0"/>
              </a:rPr>
              <a:t>WY</a:t>
            </a:r>
            <a:r>
              <a:rPr lang="en-US" altLang="zh-CN" dirty="0"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dirty="0">
                <a:latin typeface="楷体_GB2312" pitchFamily="49" charset="-122"/>
                <a:cs typeface="Times New Roman" panose="02020603050405020304" pitchFamily="18" charset="0"/>
              </a:rPr>
              <a:t>Z</a:t>
            </a:r>
            <a:r>
              <a:rPr lang="zh-CN" altLang="en-US" dirty="0">
                <a:latin typeface="楷体_GB2312" pitchFamily="49" charset="-122"/>
                <a:cs typeface="Times New Roman" panose="02020603050405020304" pitchFamily="18" charset="0"/>
              </a:rPr>
              <a:t>，则</a:t>
            </a:r>
            <a:r>
              <a:rPr lang="en-US" altLang="zh-CN" dirty="0">
                <a:latin typeface="楷体_GB2312" pitchFamily="49" charset="-122"/>
                <a:cs typeface="Times New Roman" panose="02020603050405020304" pitchFamily="18" charset="0"/>
              </a:rPr>
              <a:t>XW</a:t>
            </a:r>
            <a:r>
              <a:rPr lang="en-US" altLang="zh-CN" dirty="0"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dirty="0">
                <a:latin typeface="楷体_GB2312" pitchFamily="49" charset="-122"/>
                <a:cs typeface="Times New Roman" panose="02020603050405020304" pitchFamily="18" charset="0"/>
              </a:rPr>
              <a:t>Z</a:t>
            </a:r>
          </a:p>
          <a:p>
            <a:pPr algn="just"/>
            <a:r>
              <a:rPr lang="zh-CN" altLang="en-US" sz="2400" dirty="0">
                <a:solidFill>
                  <a:srgbClr val="000000"/>
                </a:solidFill>
                <a:latin typeface="楷体_GB2312" pitchFamily="49" charset="-122"/>
              </a:rPr>
              <a:t>证：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 advTm="2914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679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4679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4679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467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467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467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467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467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000"/>
                                        <p:tgtEl>
                                          <p:spTgt spid="467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7972" grpId="0"/>
      <p:bldP spid="467976" grpId="0"/>
      <p:bldP spid="467977" grpId="0"/>
      <p:bldP spid="467981" grpId="0"/>
      <p:bldP spid="46798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0C6DC3-0457-4130-8D55-5827B0D19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E235A-91B7-42A2-A185-F021E67492D9}" type="slidenum">
              <a:rPr lang="zh-CN" altLang="en-US"/>
              <a:pPr/>
              <a:t>8</a:t>
            </a:fld>
            <a:endParaRPr lang="en-US" altLang="zh-CN"/>
          </a:p>
        </p:txBody>
      </p:sp>
      <p:sp>
        <p:nvSpPr>
          <p:cNvPr id="516098" name="Rectangle 2">
            <a:extLst>
              <a:ext uri="{FF2B5EF4-FFF2-40B4-BE49-F238E27FC236}">
                <a16:creationId xmlns:a16="http://schemas.microsoft.com/office/drawing/2014/main" id="{EDF12E69-D0C3-4F82-AF98-83A565E369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      已知关系模式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R(A,B,C)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，其函数依赖集为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F={A→B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B→C}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，那么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A→BC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在该关系中是否成立呢？</a:t>
            </a:r>
          </a:p>
        </p:txBody>
      </p:sp>
      <p:sp>
        <p:nvSpPr>
          <p:cNvPr id="516099" name="Rectangle 3">
            <a:extLst>
              <a:ext uri="{FF2B5EF4-FFF2-40B4-BE49-F238E27FC236}">
                <a16:creationId xmlns:a16="http://schemas.microsoft.com/office/drawing/2014/main" id="{14A269D3-BBDD-4163-AC1B-9737B22D99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16100" name="AutoShape 4">
            <a:extLst>
              <a:ext uri="{FF2B5EF4-FFF2-40B4-BE49-F238E27FC236}">
                <a16:creationId xmlns:a16="http://schemas.microsoft.com/office/drawing/2014/main" id="{C7436924-629D-46F2-A0B8-6A4B03AC8D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2488" y="115888"/>
            <a:ext cx="1657350" cy="720725"/>
          </a:xfrm>
          <a:prstGeom prst="horizontalScroll">
            <a:avLst>
              <a:gd name="adj" fmla="val 12500"/>
            </a:avLst>
          </a:prstGeom>
          <a:gradFill rotWithShape="1">
            <a:gsLst>
              <a:gs pos="0">
                <a:srgbClr val="CC99FF"/>
              </a:gs>
              <a:gs pos="50000">
                <a:srgbClr val="FFFFFF"/>
              </a:gs>
              <a:gs pos="100000">
                <a:srgbClr val="CC99FF"/>
              </a:gs>
            </a:gsLst>
            <a:lin ang="540000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algn="ctr"/>
            <a:r>
              <a:rPr lang="zh-CN" altLang="en-US" sz="3200" b="1">
                <a:solidFill>
                  <a:srgbClr val="66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</a:rPr>
              <a:t>思考</a:t>
            </a:r>
          </a:p>
        </p:txBody>
      </p:sp>
      <p:sp>
        <p:nvSpPr>
          <p:cNvPr id="516101" name="Rectangle 5">
            <a:extLst>
              <a:ext uri="{FF2B5EF4-FFF2-40B4-BE49-F238E27FC236}">
                <a16:creationId xmlns:a16="http://schemas.microsoft.com/office/drawing/2014/main" id="{DB2FD5BC-F8D9-4F78-89D3-AB223DB5A1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3141663"/>
            <a:ext cx="8064500" cy="2663825"/>
          </a:xfrm>
          <a:prstGeom prst="rect">
            <a:avLst/>
          </a:prstGeom>
          <a:gradFill rotWithShape="1">
            <a:gsLst>
              <a:gs pos="0">
                <a:srgbClr val="FFCC99"/>
              </a:gs>
              <a:gs pos="50000">
                <a:schemeClr val="bg1"/>
              </a:gs>
              <a:gs pos="100000">
                <a:srgbClr val="FFCC99"/>
              </a:gs>
            </a:gsLst>
            <a:lin ang="2700000" scaled="1"/>
          </a:gra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35921" dir="2700000" algn="ctr" rotWithShape="0">
              <a:schemeClr val="tx1"/>
            </a:outerShdw>
          </a:effectLst>
        </p:spPr>
        <p:txBody>
          <a:bodyPr/>
          <a:lstStyle/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解：</a:t>
            </a:r>
          </a:p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  ① </a:t>
            </a:r>
            <a:r>
              <a:rPr lang="en-US" altLang="zh-CN" sz="2800" b="1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A→B</a:t>
            </a: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2800" b="1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B→C</a:t>
            </a: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，根据传递律有</a:t>
            </a:r>
            <a:r>
              <a:rPr lang="en-US" altLang="zh-CN" sz="2800" b="1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A→C</a:t>
            </a: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；</a:t>
            </a:r>
          </a:p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  ② </a:t>
            </a:r>
            <a:r>
              <a:rPr lang="en-US" altLang="zh-CN" sz="2800" b="1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A→B</a:t>
            </a: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2800" b="1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A→C</a:t>
            </a: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，根据合并规则有</a:t>
            </a:r>
            <a:r>
              <a:rPr lang="en-US" altLang="zh-CN" sz="2800" b="1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A→BC</a:t>
            </a:r>
            <a:r>
              <a:rPr lang="zh-CN" altLang="en-US" sz="2800" b="1">
                <a:latin typeface="楷体_GB2312" pitchFamily="49" charset="-122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zh-CN" altLang="en-US" sz="2800" b="1">
                <a:latin typeface="楷体_GB2312" pitchFamily="49" charset="-122"/>
                <a:cs typeface="Times New Roman" panose="02020603050405020304" pitchFamily="18" charset="0"/>
              </a:rPr>
              <a:t>  故</a:t>
            </a:r>
            <a:r>
              <a:rPr lang="en-US" altLang="zh-CN" sz="2800" b="1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A→BC</a:t>
            </a: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在该关系中成立。</a:t>
            </a:r>
          </a:p>
        </p:txBody>
      </p:sp>
    </p:spTree>
    <p:custDataLst>
      <p:tags r:id="rId1"/>
    </p:custDataLst>
  </p:cSld>
  <p:clrMapOvr>
    <a:masterClrMapping/>
  </p:clrMapOvr>
  <p:transition advTm="5135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1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61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1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161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1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161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1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161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AF3DC645-9CDD-4EBF-9613-C85570AD9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D2EDC-1C2F-42C3-82A0-2D12E7C0694D}" type="slidenum">
              <a:rPr lang="zh-CN" altLang="en-US"/>
              <a:pPr/>
              <a:t>9</a:t>
            </a:fld>
            <a:endParaRPr lang="en-US" altLang="zh-CN"/>
          </a:p>
        </p:txBody>
      </p:sp>
      <p:sp>
        <p:nvSpPr>
          <p:cNvPr id="468996" name="AutoShape 4">
            <a:extLst>
              <a:ext uri="{FF2B5EF4-FFF2-40B4-BE49-F238E27FC236}">
                <a16:creationId xmlns:a16="http://schemas.microsoft.com/office/drawing/2014/main" id="{C4A19562-F475-4F17-8570-32481D9A02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3860800"/>
            <a:ext cx="7273925" cy="1727200"/>
          </a:xfrm>
          <a:prstGeom prst="foldedCorner">
            <a:avLst>
              <a:gd name="adj" fmla="val 12500"/>
            </a:avLst>
          </a:prstGeom>
          <a:solidFill>
            <a:srgbClr val="000080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>
            <a:outerShdw dist="71842" dir="2700000" algn="ctr" rotWithShape="0">
              <a:schemeClr val="tx1"/>
            </a:outerShdw>
          </a:effectLst>
        </p:spPr>
        <p:txBody>
          <a:bodyPr anchor="ctr"/>
          <a:lstStyle>
            <a:lvl1pPr marL="1746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None/>
            </a:pPr>
            <a:r>
              <a:rPr kumimoji="0" lang="zh-CN" altLang="en-US" sz="2800" b="1">
                <a:solidFill>
                  <a:srgbClr val="66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作用：</a:t>
            </a:r>
            <a:r>
              <a:rPr kumimoji="0" lang="en-US" altLang="zh-CN" sz="28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kumimoji="0" lang="zh-CN" altLang="en-US" sz="28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能够函数决定</a:t>
            </a:r>
            <a:r>
              <a:rPr kumimoji="0" lang="en-US" altLang="zh-CN" sz="28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kumimoji="0" lang="zh-CN" altLang="en-US" sz="28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的所有属性，可用于确定关系的主键。</a:t>
            </a:r>
          </a:p>
        </p:txBody>
      </p:sp>
      <p:sp>
        <p:nvSpPr>
          <p:cNvPr id="468997" name="Rectangle 5">
            <a:extLst>
              <a:ext uri="{FF2B5EF4-FFF2-40B4-BE49-F238E27FC236}">
                <a16:creationId xmlns:a16="http://schemas.microsoft.com/office/drawing/2014/main" id="{9260960B-2779-4348-9C49-68E8DB8BD3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二、阿姆斯特朗公理的推论</a:t>
            </a:r>
          </a:p>
        </p:txBody>
      </p:sp>
      <p:sp>
        <p:nvSpPr>
          <p:cNvPr id="468998" name="Rectangle 6">
            <a:extLst>
              <a:ext uri="{FF2B5EF4-FFF2-40B4-BE49-F238E27FC236}">
                <a16:creationId xmlns:a16="http://schemas.microsoft.com/office/drawing/2014/main" id="{2C20F4C0-BF47-4F4A-8CB8-55F29E2CC0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>
                <a:latin typeface="楷体_GB2312" pitchFamily="49" charset="-122"/>
              </a:rPr>
              <a:t>2</a:t>
            </a:r>
            <a:r>
              <a:rPr lang="zh-CN" altLang="en-US">
                <a:latin typeface="楷体_GB2312" pitchFamily="49" charset="-122"/>
              </a:rPr>
              <a:t>、</a:t>
            </a:r>
            <a:r>
              <a:rPr lang="zh-CN" altLang="en-US">
                <a:solidFill>
                  <a:srgbClr val="000099"/>
                </a:solidFill>
                <a:latin typeface="楷体_GB2312" pitchFamily="49" charset="-122"/>
              </a:rPr>
              <a:t>定理</a:t>
            </a:r>
            <a:r>
              <a:rPr lang="en-US" altLang="zh-CN">
                <a:solidFill>
                  <a:srgbClr val="000099"/>
                </a:solidFill>
                <a:latin typeface="楷体_GB2312" pitchFamily="49" charset="-122"/>
              </a:rPr>
              <a:t>6.2</a:t>
            </a:r>
            <a:r>
              <a:rPr lang="en-US" altLang="zh-CN">
                <a:latin typeface="楷体_GB2312" pitchFamily="49" charset="-122"/>
              </a:rPr>
              <a:t> </a:t>
            </a:r>
          </a:p>
          <a:p>
            <a:r>
              <a:rPr lang="zh-CN" altLang="en-US">
                <a:latin typeface="楷体_GB2312" pitchFamily="49" charset="-122"/>
              </a:rPr>
              <a:t>     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</a:rPr>
              <a:t>如果有关系模式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</a:rPr>
              <a:t>R 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(A</a:t>
            </a:r>
            <a:r>
              <a:rPr lang="en-US" altLang="zh-CN" baseline="-3000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,A</a:t>
            </a:r>
            <a:r>
              <a:rPr lang="en-US" altLang="zh-CN" baseline="-3000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,</a:t>
            </a:r>
            <a:r>
              <a:rPr lang="en-US" altLang="zh-CN">
                <a:solidFill>
                  <a:srgbClr val="000000"/>
                </a:solidFill>
                <a:cs typeface="Times New Roman" panose="02020603050405020304" pitchFamily="18" charset="0"/>
              </a:rPr>
              <a:t>…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,A</a:t>
            </a:r>
            <a:r>
              <a:rPr lang="en-US" altLang="zh-CN" baseline="-3000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)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</a:rPr>
              <a:t>,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</a:rPr>
              <a:t>则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</a:rPr>
              <a:t>X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sym typeface="Symbol" panose="05050102010706020507" pitchFamily="18" charset="2"/>
              </a:rPr>
              <a:t>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</a:rPr>
              <a:t>A</a:t>
            </a:r>
            <a:r>
              <a:rPr lang="en-US" altLang="zh-CN" baseline="-30000">
                <a:solidFill>
                  <a:srgbClr val="000000"/>
                </a:solidFill>
                <a:latin typeface="楷体_GB2312" pitchFamily="49" charset="-122"/>
              </a:rPr>
              <a:t>1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</a:rPr>
              <a:t>A</a:t>
            </a:r>
            <a:r>
              <a:rPr lang="en-US" altLang="zh-CN" baseline="-30000">
                <a:solidFill>
                  <a:srgbClr val="000000"/>
                </a:solidFill>
                <a:latin typeface="楷体_GB2312" pitchFamily="49" charset="-122"/>
              </a:rPr>
              <a:t>2</a:t>
            </a:r>
            <a:r>
              <a:rPr lang="en-US" altLang="zh-CN">
                <a:solidFill>
                  <a:srgbClr val="000000"/>
                </a:solidFill>
              </a:rPr>
              <a:t>…</a:t>
            </a:r>
            <a:endParaRPr lang="en-US" altLang="zh-CN">
              <a:solidFill>
                <a:srgbClr val="000000"/>
              </a:solidFill>
              <a:latin typeface="楷体_GB2312" pitchFamily="49" charset="-122"/>
            </a:endParaRPr>
          </a:p>
          <a:p>
            <a:r>
              <a:rPr lang="en-US" altLang="zh-CN">
                <a:solidFill>
                  <a:srgbClr val="000000"/>
                </a:solidFill>
                <a:latin typeface="楷体_GB2312" pitchFamily="49" charset="-122"/>
              </a:rPr>
              <a:t>A</a:t>
            </a:r>
            <a:r>
              <a:rPr lang="en-US" altLang="zh-CN" baseline="-30000">
                <a:solidFill>
                  <a:srgbClr val="000000"/>
                </a:solidFill>
                <a:latin typeface="楷体_GB2312" pitchFamily="49" charset="-122"/>
              </a:rPr>
              <a:t>n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</a:rPr>
              <a:t>成立的充分必要条件是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</a:rPr>
              <a:t>X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sym typeface="Symbol" panose="05050102010706020507" pitchFamily="18" charset="2"/>
              </a:rPr>
              <a:t>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</a:rPr>
              <a:t>A</a:t>
            </a:r>
            <a:r>
              <a:rPr lang="en-US" altLang="zh-CN" baseline="-30000">
                <a:solidFill>
                  <a:srgbClr val="000000"/>
                </a:solidFill>
                <a:latin typeface="楷体_GB2312" pitchFamily="49" charset="-122"/>
              </a:rPr>
              <a:t>i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</a:rPr>
              <a:t>（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</a:rPr>
              <a:t>i=1,</a:t>
            </a:r>
            <a:r>
              <a:rPr lang="en-US" altLang="zh-CN">
                <a:solidFill>
                  <a:srgbClr val="000000"/>
                </a:solidFill>
              </a:rPr>
              <a:t>…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</a:rPr>
              <a:t>,n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</a:rPr>
              <a:t>）均成立。</a:t>
            </a:r>
            <a:r>
              <a:rPr lang="en-US" altLang="zh-CN">
                <a:latin typeface="楷体_GB2312" pitchFamily="49" charset="-122"/>
              </a:rPr>
              <a:t> </a:t>
            </a:r>
          </a:p>
        </p:txBody>
      </p:sp>
    </p:spTree>
    <p:custDataLst>
      <p:tags r:id="rId1"/>
    </p:custDataLst>
  </p:cSld>
  <p:clrMapOvr>
    <a:masterClrMapping/>
  </p:clrMapOvr>
  <p:transition advTm="142684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9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689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9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4689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9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4689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468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8996" grpId="0" animBg="1"/>
      <p:bldP spid="468998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5">
            <a:extLst>
              <a:ext uri="{FF2B5EF4-FFF2-40B4-BE49-F238E27FC236}">
                <a16:creationId xmlns:a16="http://schemas.microsoft.com/office/drawing/2014/main" id="{1217A6CB-69E5-461F-82DD-97448C668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545CC-AAD1-4EC6-A870-DA2F799B1AF8}" type="slidenum">
              <a:rPr lang="zh-CN" altLang="en-US"/>
              <a:pPr/>
              <a:t>10</a:t>
            </a:fld>
            <a:endParaRPr lang="en-US" altLang="zh-CN"/>
          </a:p>
        </p:txBody>
      </p:sp>
      <p:sp>
        <p:nvSpPr>
          <p:cNvPr id="515074" name="Rectangle 2">
            <a:extLst>
              <a:ext uri="{FF2B5EF4-FFF2-40B4-BE49-F238E27FC236}">
                <a16:creationId xmlns:a16="http://schemas.microsoft.com/office/drawing/2014/main" id="{E8947D00-CA8F-4D29-98A7-3A49C969EC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      已知关系模式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R(A,B,C)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，其函数依赖集为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F={A→B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B→C}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，求函数依赖集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F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的闭包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F</a:t>
            </a:r>
            <a:r>
              <a:rPr lang="en-US" altLang="zh-CN" baseline="3000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+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515075" name="Rectangle 3">
            <a:extLst>
              <a:ext uri="{FF2B5EF4-FFF2-40B4-BE49-F238E27FC236}">
                <a16:creationId xmlns:a16="http://schemas.microsoft.com/office/drawing/2014/main" id="{83A92578-4F05-4A2D-827F-BD150CB0E9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15076" name="AutoShape 4">
            <a:extLst>
              <a:ext uri="{FF2B5EF4-FFF2-40B4-BE49-F238E27FC236}">
                <a16:creationId xmlns:a16="http://schemas.microsoft.com/office/drawing/2014/main" id="{EEF9BE92-B508-4BF1-BD21-A14C0BA8C1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2488" y="115888"/>
            <a:ext cx="1657350" cy="720725"/>
          </a:xfrm>
          <a:prstGeom prst="horizontalScroll">
            <a:avLst>
              <a:gd name="adj" fmla="val 12500"/>
            </a:avLst>
          </a:prstGeom>
          <a:gradFill rotWithShape="1">
            <a:gsLst>
              <a:gs pos="0">
                <a:srgbClr val="CC99FF"/>
              </a:gs>
              <a:gs pos="50000">
                <a:srgbClr val="FFFFFF"/>
              </a:gs>
              <a:gs pos="100000">
                <a:srgbClr val="CC99FF"/>
              </a:gs>
            </a:gsLst>
            <a:lin ang="540000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algn="ctr"/>
            <a:r>
              <a:rPr lang="zh-CN" altLang="en-US" sz="3200" b="1">
                <a:solidFill>
                  <a:srgbClr val="66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</a:rPr>
              <a:t>思考</a:t>
            </a:r>
          </a:p>
        </p:txBody>
      </p:sp>
      <p:grpSp>
        <p:nvGrpSpPr>
          <p:cNvPr id="515077" name="Group 5">
            <a:extLst>
              <a:ext uri="{FF2B5EF4-FFF2-40B4-BE49-F238E27FC236}">
                <a16:creationId xmlns:a16="http://schemas.microsoft.com/office/drawing/2014/main" id="{38FB3D60-2EB6-44B2-98EC-435D521962DE}"/>
              </a:ext>
            </a:extLst>
          </p:cNvPr>
          <p:cNvGrpSpPr>
            <a:grpSpLocks/>
          </p:cNvGrpSpPr>
          <p:nvPr/>
        </p:nvGrpSpPr>
        <p:grpSpPr bwMode="auto">
          <a:xfrm>
            <a:off x="1476375" y="2492375"/>
            <a:ext cx="1150938" cy="1109663"/>
            <a:chOff x="1057" y="2931"/>
            <a:chExt cx="725" cy="699"/>
          </a:xfrm>
        </p:grpSpPr>
        <p:sp>
          <p:nvSpPr>
            <p:cNvPr id="515078" name="AutoShape 6">
              <a:extLst>
                <a:ext uri="{FF2B5EF4-FFF2-40B4-BE49-F238E27FC236}">
                  <a16:creationId xmlns:a16="http://schemas.microsoft.com/office/drawing/2014/main" id="{6077772D-F2FA-41A2-B055-34ACFD379C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2" y="2931"/>
              <a:ext cx="227" cy="318"/>
            </a:xfrm>
            <a:prstGeom prst="downArrow">
              <a:avLst>
                <a:gd name="adj1" fmla="val 50000"/>
                <a:gd name="adj2" fmla="val 35022"/>
              </a:avLst>
            </a:prstGeom>
            <a:solidFill>
              <a:srgbClr val="99CCFF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2"/>
              </a:outerShdw>
            </a:effec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515079" name="Rectangle 7">
              <a:extLst>
                <a:ext uri="{FF2B5EF4-FFF2-40B4-BE49-F238E27FC236}">
                  <a16:creationId xmlns:a16="http://schemas.microsoft.com/office/drawing/2014/main" id="{1D6C29D8-31A3-449C-B53C-2BD7298C00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7" y="3267"/>
              <a:ext cx="725" cy="363"/>
            </a:xfrm>
            <a:prstGeom prst="rect">
              <a:avLst/>
            </a:prstGeom>
            <a:gradFill rotWithShape="1">
              <a:gsLst>
                <a:gs pos="0">
                  <a:srgbClr val="00FFFF"/>
                </a:gs>
                <a:gs pos="50000">
                  <a:schemeClr val="bg1"/>
                </a:gs>
                <a:gs pos="100000">
                  <a:srgbClr val="00FFFF"/>
                </a:gs>
              </a:gsLst>
              <a:lin ang="5400000" scaled="1"/>
            </a:gra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 algn="ctr"/>
              <a:r>
                <a:rPr kumimoji="1" lang="en-US" altLang="zh-CN" sz="28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Comic Sans MS" panose="030F0702030302020204" pitchFamily="66" charset="0"/>
                  <a:ea typeface="黑体" panose="02010609060101010101" pitchFamily="49" charset="-122"/>
                </a:rPr>
                <a:t>2</a:t>
              </a:r>
              <a:r>
                <a:rPr kumimoji="1" lang="zh-CN" altLang="en-US" sz="28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Comic Sans MS" panose="030F0702030302020204" pitchFamily="66" charset="0"/>
                  <a:ea typeface="黑体" panose="02010609060101010101" pitchFamily="49" charset="-122"/>
                </a:rPr>
                <a:t>个</a:t>
              </a:r>
            </a:p>
          </p:txBody>
        </p:sp>
      </p:grpSp>
      <p:grpSp>
        <p:nvGrpSpPr>
          <p:cNvPr id="515080" name="Group 8">
            <a:extLst>
              <a:ext uri="{FF2B5EF4-FFF2-40B4-BE49-F238E27FC236}">
                <a16:creationId xmlns:a16="http://schemas.microsoft.com/office/drawing/2014/main" id="{AD8A3A5B-B747-4CFC-BF97-404323382935}"/>
              </a:ext>
            </a:extLst>
          </p:cNvPr>
          <p:cNvGrpSpPr>
            <a:grpSpLocks/>
          </p:cNvGrpSpPr>
          <p:nvPr/>
        </p:nvGrpSpPr>
        <p:grpSpPr bwMode="auto">
          <a:xfrm>
            <a:off x="6819900" y="2492375"/>
            <a:ext cx="1150938" cy="1109663"/>
            <a:chOff x="4423" y="2931"/>
            <a:chExt cx="725" cy="699"/>
          </a:xfrm>
        </p:grpSpPr>
        <p:sp>
          <p:nvSpPr>
            <p:cNvPr id="515081" name="AutoShape 9">
              <a:extLst>
                <a:ext uri="{FF2B5EF4-FFF2-40B4-BE49-F238E27FC236}">
                  <a16:creationId xmlns:a16="http://schemas.microsoft.com/office/drawing/2014/main" id="{0B7079CA-A85F-4447-8B9E-8F8B640EF3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8" y="2931"/>
              <a:ext cx="227" cy="318"/>
            </a:xfrm>
            <a:prstGeom prst="downArrow">
              <a:avLst>
                <a:gd name="adj1" fmla="val 50000"/>
                <a:gd name="adj2" fmla="val 35022"/>
              </a:avLst>
            </a:prstGeom>
            <a:solidFill>
              <a:srgbClr val="99CCFF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2"/>
              </a:outerShdw>
            </a:effec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515082" name="Rectangle 10">
              <a:extLst>
                <a:ext uri="{FF2B5EF4-FFF2-40B4-BE49-F238E27FC236}">
                  <a16:creationId xmlns:a16="http://schemas.microsoft.com/office/drawing/2014/main" id="{B94B5060-45CA-4421-B861-4677295E89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3" y="3267"/>
              <a:ext cx="725" cy="363"/>
            </a:xfrm>
            <a:prstGeom prst="rect">
              <a:avLst/>
            </a:prstGeom>
            <a:gradFill rotWithShape="1">
              <a:gsLst>
                <a:gs pos="0">
                  <a:srgbClr val="00FFFF"/>
                </a:gs>
                <a:gs pos="50000">
                  <a:schemeClr val="bg1"/>
                </a:gs>
                <a:gs pos="100000">
                  <a:srgbClr val="00FFFF"/>
                </a:gs>
              </a:gsLst>
              <a:lin ang="5400000" scaled="1"/>
            </a:gra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 algn="ctr"/>
              <a:r>
                <a:rPr kumimoji="1" lang="en-US" altLang="zh-CN" sz="2800" b="1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  <a:ea typeface="黑体" panose="02010609060101010101" pitchFamily="49" charset="-122"/>
                </a:rPr>
                <a:t>42</a:t>
              </a:r>
              <a:r>
                <a:rPr kumimoji="1" lang="zh-CN" altLang="en-US" sz="2800" b="1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  <a:ea typeface="黑体" panose="02010609060101010101" pitchFamily="49" charset="-122"/>
                </a:rPr>
                <a:t>个</a:t>
              </a:r>
            </a:p>
          </p:txBody>
        </p:sp>
      </p:grpSp>
      <p:sp>
        <p:nvSpPr>
          <p:cNvPr id="515083" name="AutoShape 11">
            <a:extLst>
              <a:ext uri="{FF2B5EF4-FFF2-40B4-BE49-F238E27FC236}">
                <a16:creationId xmlns:a16="http://schemas.microsoft.com/office/drawing/2014/main" id="{95648687-55A5-4341-B6B6-7320AD3043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8725" y="3573463"/>
            <a:ext cx="4679950" cy="1728787"/>
          </a:xfrm>
          <a:prstGeom prst="irregularSeal1">
            <a:avLst/>
          </a:prstGeom>
          <a:solidFill>
            <a:srgbClr val="003366"/>
          </a:solidFill>
          <a:ln>
            <a:noFill/>
          </a:ln>
          <a:effectLst>
            <a:outerShdw dist="35921" dir="2700000" algn="ctr" rotWithShape="0">
              <a:schemeClr val="tx2"/>
            </a:outerShdw>
          </a:effectLst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r>
              <a:rPr kumimoji="1" lang="zh-CN" altLang="en-US" sz="28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702030302020204" pitchFamily="66" charset="0"/>
                <a:ea typeface="宋体" panose="02010600030101010101" pitchFamily="2" charset="-122"/>
              </a:rPr>
              <a:t>求解</a:t>
            </a:r>
            <a:r>
              <a:rPr kumimoji="1" lang="en-US" altLang="zh-CN" sz="28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702030302020204" pitchFamily="66" charset="0"/>
                <a:ea typeface="宋体" panose="02010600030101010101" pitchFamily="2" charset="-122"/>
              </a:rPr>
              <a:t>F</a:t>
            </a:r>
            <a:r>
              <a:rPr kumimoji="1" lang="en-US" altLang="zh-CN" sz="2800" b="1" baseline="300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702030302020204" pitchFamily="66" charset="0"/>
                <a:ea typeface="宋体" panose="02010600030101010101" pitchFamily="2" charset="-122"/>
              </a:rPr>
              <a:t>+</a:t>
            </a:r>
            <a:r>
              <a:rPr kumimoji="1" lang="zh-CN" altLang="en-US" sz="28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702030302020204" pitchFamily="66" charset="0"/>
                <a:ea typeface="宋体" panose="02010600030101010101" pitchFamily="2" charset="-122"/>
              </a:rPr>
              <a:t>十分麻烦！</a:t>
            </a:r>
          </a:p>
        </p:txBody>
      </p:sp>
      <p:sp>
        <p:nvSpPr>
          <p:cNvPr id="515084" name="WordArt 12">
            <a:extLst>
              <a:ext uri="{FF2B5EF4-FFF2-40B4-BE49-F238E27FC236}">
                <a16:creationId xmlns:a16="http://schemas.microsoft.com/office/drawing/2014/main" id="{E5F03FB9-E1D0-46A5-9D00-DFE58BF01951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4500563" y="5375275"/>
            <a:ext cx="619125" cy="1079500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Inflate">
              <a:avLst>
                <a:gd name="adj" fmla="val 13634"/>
              </a:avLst>
            </a:prstTxWarp>
          </a:bodyPr>
          <a:lstStyle/>
          <a:p>
            <a:pPr algn="ctr"/>
            <a:r>
              <a:rPr lang="zh-CN" altLang="en-US" sz="4800" b="1" i="1" kern="10">
                <a:ln w="9525" cap="sq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solidFill>
                  <a:srgbClr val="9933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？</a:t>
            </a:r>
          </a:p>
        </p:txBody>
      </p:sp>
      <p:grpSp>
        <p:nvGrpSpPr>
          <p:cNvPr id="515087" name="Group 15">
            <a:extLst>
              <a:ext uri="{FF2B5EF4-FFF2-40B4-BE49-F238E27FC236}">
                <a16:creationId xmlns:a16="http://schemas.microsoft.com/office/drawing/2014/main" id="{E39211DF-6010-42DB-AA3B-7F152D49DBEE}"/>
              </a:ext>
            </a:extLst>
          </p:cNvPr>
          <p:cNvGrpSpPr>
            <a:grpSpLocks/>
          </p:cNvGrpSpPr>
          <p:nvPr/>
        </p:nvGrpSpPr>
        <p:grpSpPr bwMode="auto">
          <a:xfrm>
            <a:off x="2670175" y="2708275"/>
            <a:ext cx="4105275" cy="771525"/>
            <a:chOff x="1682" y="1706"/>
            <a:chExt cx="2586" cy="486"/>
          </a:xfrm>
        </p:grpSpPr>
        <p:sp>
          <p:nvSpPr>
            <p:cNvPr id="515085" name="AutoShape 13">
              <a:extLst>
                <a:ext uri="{FF2B5EF4-FFF2-40B4-BE49-F238E27FC236}">
                  <a16:creationId xmlns:a16="http://schemas.microsoft.com/office/drawing/2014/main" id="{9C73E993-0A9B-4B00-83B3-EDF0F91465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2" y="1988"/>
              <a:ext cx="2586" cy="204"/>
            </a:xfrm>
            <a:prstGeom prst="rightArrow">
              <a:avLst>
                <a:gd name="adj1" fmla="val 49454"/>
                <a:gd name="adj2" fmla="val 119605"/>
              </a:avLst>
            </a:prstGeom>
            <a:solidFill>
              <a:srgbClr val="00FF0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5086" name="Text Box 14">
              <a:extLst>
                <a:ext uri="{FF2B5EF4-FFF2-40B4-BE49-F238E27FC236}">
                  <a16:creationId xmlns:a16="http://schemas.microsoft.com/office/drawing/2014/main" id="{0F1C8A4F-388F-48EC-873B-82978BBCA0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46" y="1706"/>
              <a:ext cx="2141" cy="327"/>
            </a:xfrm>
            <a:prstGeom prst="rect">
              <a:avLst/>
            </a:prstGeom>
            <a:noFill/>
            <a:ln>
              <a:noFill/>
            </a:ln>
            <a:effectLst>
              <a:outerShdw dist="1796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800" b="1">
                  <a:solidFill>
                    <a:srgbClr val="6600CC"/>
                  </a:solidFill>
                </a:rPr>
                <a:t>阿姆斯特朗公理体系</a:t>
              </a:r>
            </a:p>
          </p:txBody>
        </p:sp>
      </p:grpSp>
      <p:grpSp>
        <p:nvGrpSpPr>
          <p:cNvPr id="515088" name="Group 16">
            <a:extLst>
              <a:ext uri="{FF2B5EF4-FFF2-40B4-BE49-F238E27FC236}">
                <a16:creationId xmlns:a16="http://schemas.microsoft.com/office/drawing/2014/main" id="{AE863809-623B-466E-9FCD-357A33A9D696}"/>
              </a:ext>
            </a:extLst>
          </p:cNvPr>
          <p:cNvGrpSpPr>
            <a:grpSpLocks/>
          </p:cNvGrpSpPr>
          <p:nvPr/>
        </p:nvGrpSpPr>
        <p:grpSpPr bwMode="auto">
          <a:xfrm>
            <a:off x="539750" y="2565400"/>
            <a:ext cx="8382000" cy="3887788"/>
            <a:chOff x="322" y="1616"/>
            <a:chExt cx="5280" cy="2449"/>
          </a:xfrm>
        </p:grpSpPr>
        <p:sp>
          <p:nvSpPr>
            <p:cNvPr id="515089" name="Text Box 17">
              <a:extLst>
                <a:ext uri="{FF2B5EF4-FFF2-40B4-BE49-F238E27FC236}">
                  <a16:creationId xmlns:a16="http://schemas.microsoft.com/office/drawing/2014/main" id="{4D0ED8D5-624B-4474-9DAC-0A8FA48E3D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2" y="1616"/>
              <a:ext cx="5280" cy="2449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71842" dir="2700000" algn="ctr" rotWithShape="0">
                <a:schemeClr val="tx1"/>
              </a:outerShdw>
            </a:effectLst>
          </p:spPr>
          <p:txBody>
            <a:bodyPr lIns="72000" anchor="ctr"/>
            <a:lstStyle/>
            <a:p>
              <a:pPr>
                <a:spcBef>
                  <a:spcPct val="50000"/>
                </a:spcBef>
              </a:pPr>
              <a:r>
                <a:rPr lang="en-US" altLang="zh-CN" sz="2800" b="1">
                  <a:solidFill>
                    <a:srgbClr val="000000"/>
                  </a:solidFill>
                  <a:ea typeface="宋体" panose="02010600030101010101" pitchFamily="2" charset="-122"/>
                </a:rPr>
                <a:t>F</a:t>
              </a:r>
              <a:r>
                <a:rPr lang="en-US" altLang="zh-CN" sz="2800" b="1" baseline="30000">
                  <a:solidFill>
                    <a:srgbClr val="000000"/>
                  </a:solidFill>
                  <a:ea typeface="宋体" panose="02010600030101010101" pitchFamily="2" charset="-122"/>
                </a:rPr>
                <a:t>+</a:t>
              </a:r>
              <a:r>
                <a:rPr lang="en-US" altLang="zh-CN" sz="2000" b="1">
                  <a:solidFill>
                    <a:srgbClr val="000000"/>
                  </a:solidFill>
                  <a:ea typeface="宋体" panose="02010600030101010101" pitchFamily="2" charset="-122"/>
                </a:rPr>
                <a:t>=</a:t>
              </a:r>
            </a:p>
          </p:txBody>
        </p:sp>
        <p:sp>
          <p:nvSpPr>
            <p:cNvPr id="515090" name="AutoShape 18">
              <a:extLst>
                <a:ext uri="{FF2B5EF4-FFF2-40B4-BE49-F238E27FC236}">
                  <a16:creationId xmlns:a16="http://schemas.microsoft.com/office/drawing/2014/main" id="{554ECC29-8E78-4F3A-AF4C-E413EBFDB2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3" y="1797"/>
              <a:ext cx="4762" cy="2087"/>
            </a:xfrm>
            <a:prstGeom prst="bracketPair">
              <a:avLst>
                <a:gd name="adj" fmla="val 3787"/>
              </a:avLst>
            </a:prstGeom>
            <a:noFill/>
            <a:ln w="3175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lnSpc>
                  <a:spcPct val="120000"/>
                </a:lnSpc>
                <a:spcBef>
                  <a:spcPct val="20000"/>
                </a:spcBef>
              </a:pPr>
              <a:r>
                <a:rPr lang="en-US" altLang="zh-CN" sz="2000" b="1">
                  <a:solidFill>
                    <a:srgbClr val="000000"/>
                  </a:solidFill>
                  <a:ea typeface="宋体" panose="02010600030101010101" pitchFamily="2" charset="-122"/>
                </a:rPr>
                <a:t>A→ </a:t>
              </a:r>
              <a:r>
                <a:rPr lang="en-US" altLang="zh-CN" sz="2000" b="1">
                  <a:solidFill>
                    <a:srgbClr val="000000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</a:t>
              </a:r>
              <a:r>
                <a:rPr lang="zh-CN" altLang="en-US" sz="2000" b="1">
                  <a:solidFill>
                    <a:srgbClr val="000000"/>
                  </a:solidFill>
                  <a:ea typeface="宋体" panose="02010600030101010101" pitchFamily="2" charset="-122"/>
                </a:rPr>
                <a:t>， </a:t>
              </a:r>
              <a:r>
                <a:rPr lang="en-US" altLang="zh-CN" sz="2000" b="1">
                  <a:solidFill>
                    <a:srgbClr val="000000"/>
                  </a:solidFill>
                  <a:ea typeface="宋体" panose="02010600030101010101" pitchFamily="2" charset="-122"/>
                </a:rPr>
                <a:t>AB→ </a:t>
              </a:r>
              <a:r>
                <a:rPr lang="en-US" altLang="zh-CN" b="1">
                  <a:solidFill>
                    <a:srgbClr val="000000"/>
                  </a:solidFill>
                  <a:sym typeface="Symbol" panose="05050102010706020507" pitchFamily="18" charset="2"/>
                </a:rPr>
                <a:t></a:t>
              </a:r>
              <a:r>
                <a:rPr lang="en-US" altLang="zh-CN"/>
                <a:t> </a:t>
              </a:r>
              <a:r>
                <a:rPr lang="zh-CN" altLang="en-US" sz="2000" b="1">
                  <a:solidFill>
                    <a:srgbClr val="000000"/>
                  </a:solidFill>
                  <a:ea typeface="宋体" panose="02010600030101010101" pitchFamily="2" charset="-122"/>
                </a:rPr>
                <a:t>， </a:t>
              </a:r>
              <a:r>
                <a:rPr lang="en-US" altLang="zh-CN" sz="2000" b="1">
                  <a:solidFill>
                    <a:srgbClr val="000000"/>
                  </a:solidFill>
                  <a:ea typeface="宋体" panose="02010600030101010101" pitchFamily="2" charset="-122"/>
                </a:rPr>
                <a:t>AC→ </a:t>
              </a:r>
              <a:r>
                <a:rPr lang="en-US" altLang="zh-CN" b="1">
                  <a:solidFill>
                    <a:srgbClr val="000000"/>
                  </a:solidFill>
                  <a:sym typeface="Symbol" panose="05050102010706020507" pitchFamily="18" charset="2"/>
                </a:rPr>
                <a:t></a:t>
              </a:r>
              <a:r>
                <a:rPr lang="en-US" altLang="zh-CN"/>
                <a:t> </a:t>
              </a:r>
              <a:r>
                <a:rPr lang="zh-CN" altLang="en-US" sz="2000" b="1">
                  <a:solidFill>
                    <a:srgbClr val="000000"/>
                  </a:solidFill>
                  <a:ea typeface="宋体" panose="02010600030101010101" pitchFamily="2" charset="-122"/>
                </a:rPr>
                <a:t>， </a:t>
              </a:r>
              <a:r>
                <a:rPr lang="en-US" altLang="zh-CN" sz="2000" b="1">
                  <a:solidFill>
                    <a:srgbClr val="000000"/>
                  </a:solidFill>
                  <a:ea typeface="宋体" panose="02010600030101010101" pitchFamily="2" charset="-122"/>
                </a:rPr>
                <a:t>ABC→ </a:t>
              </a:r>
              <a:r>
                <a:rPr lang="en-US" altLang="zh-CN" b="1">
                  <a:solidFill>
                    <a:srgbClr val="000000"/>
                  </a:solidFill>
                  <a:sym typeface="Symbol" panose="05050102010706020507" pitchFamily="18" charset="2"/>
                </a:rPr>
                <a:t></a:t>
              </a:r>
              <a:r>
                <a:rPr lang="en-US" altLang="zh-CN"/>
                <a:t> </a:t>
              </a:r>
              <a:r>
                <a:rPr lang="zh-CN" altLang="en-US" sz="2000" b="1">
                  <a:solidFill>
                    <a:srgbClr val="000000"/>
                  </a:solidFill>
                  <a:ea typeface="宋体" panose="02010600030101010101" pitchFamily="2" charset="-122"/>
                </a:rPr>
                <a:t>， </a:t>
              </a:r>
              <a:r>
                <a:rPr lang="en-US" altLang="zh-CN" sz="2000" b="1">
                  <a:solidFill>
                    <a:srgbClr val="000000"/>
                  </a:solidFill>
                  <a:ea typeface="宋体" panose="02010600030101010101" pitchFamily="2" charset="-122"/>
                </a:rPr>
                <a:t>B→ </a:t>
              </a:r>
              <a:r>
                <a:rPr lang="en-US" altLang="zh-CN" b="1">
                  <a:solidFill>
                    <a:srgbClr val="000000"/>
                  </a:solidFill>
                  <a:sym typeface="Symbol" panose="05050102010706020507" pitchFamily="18" charset="2"/>
                </a:rPr>
                <a:t></a:t>
              </a:r>
              <a:r>
                <a:rPr lang="en-US" altLang="zh-CN"/>
                <a:t> </a:t>
              </a:r>
              <a:r>
                <a:rPr lang="zh-CN" altLang="en-US" sz="2000" b="1">
                  <a:solidFill>
                    <a:srgbClr val="000000"/>
                  </a:solidFill>
                  <a:ea typeface="宋体" panose="02010600030101010101" pitchFamily="2" charset="-122"/>
                </a:rPr>
                <a:t>， </a:t>
              </a:r>
              <a:r>
                <a:rPr lang="en-US" altLang="zh-CN" sz="2000" b="1">
                  <a:solidFill>
                    <a:srgbClr val="000000"/>
                  </a:solidFill>
                  <a:ea typeface="宋体" panose="02010600030101010101" pitchFamily="2" charset="-122"/>
                </a:rPr>
                <a:t>C→ </a:t>
              </a:r>
              <a:r>
                <a:rPr lang="en-US" altLang="zh-CN" b="1">
                  <a:solidFill>
                    <a:srgbClr val="000000"/>
                  </a:solidFill>
                  <a:sym typeface="Symbol" panose="05050102010706020507" pitchFamily="18" charset="2"/>
                </a:rPr>
                <a:t></a:t>
              </a:r>
              <a:endParaRPr lang="en-US" altLang="zh-CN" sz="2400" b="1">
                <a:solidFill>
                  <a:srgbClr val="000000"/>
                </a:solidFill>
                <a:ea typeface="宋体" panose="02010600030101010101" pitchFamily="2" charset="-122"/>
              </a:endParaRPr>
            </a:p>
            <a:p>
              <a:pPr>
                <a:lnSpc>
                  <a:spcPct val="120000"/>
                </a:lnSpc>
                <a:spcBef>
                  <a:spcPct val="20000"/>
                </a:spcBef>
              </a:pPr>
              <a:r>
                <a:rPr lang="en-US" altLang="zh-CN" sz="2000" b="1">
                  <a:solidFill>
                    <a:srgbClr val="000000"/>
                  </a:solidFill>
                  <a:ea typeface="宋体" panose="02010600030101010101" pitchFamily="2" charset="-122"/>
                </a:rPr>
                <a:t>A→ A</a:t>
              </a:r>
              <a:r>
                <a:rPr lang="zh-CN" altLang="en-US" sz="2000" b="1">
                  <a:solidFill>
                    <a:srgbClr val="000000"/>
                  </a:solidFill>
                  <a:ea typeface="宋体" panose="02010600030101010101" pitchFamily="2" charset="-122"/>
                </a:rPr>
                <a:t>，  </a:t>
              </a:r>
              <a:r>
                <a:rPr lang="en-US" altLang="zh-CN" sz="2000" b="1">
                  <a:solidFill>
                    <a:srgbClr val="000000"/>
                  </a:solidFill>
                  <a:ea typeface="宋体" panose="02010600030101010101" pitchFamily="2" charset="-122"/>
                </a:rPr>
                <a:t>AB→ A</a:t>
              </a:r>
              <a:r>
                <a:rPr lang="zh-CN" altLang="en-US" sz="2000" b="1">
                  <a:solidFill>
                    <a:srgbClr val="000000"/>
                  </a:solidFill>
                  <a:ea typeface="宋体" panose="02010600030101010101" pitchFamily="2" charset="-122"/>
                </a:rPr>
                <a:t>，  </a:t>
              </a:r>
              <a:r>
                <a:rPr lang="en-US" altLang="zh-CN" sz="2000" b="1">
                  <a:solidFill>
                    <a:srgbClr val="000000"/>
                  </a:solidFill>
                  <a:ea typeface="宋体" panose="02010600030101010101" pitchFamily="2" charset="-122"/>
                </a:rPr>
                <a:t>AC→ A</a:t>
              </a:r>
              <a:r>
                <a:rPr lang="zh-CN" altLang="en-US" sz="2000" b="1">
                  <a:solidFill>
                    <a:srgbClr val="000000"/>
                  </a:solidFill>
                  <a:ea typeface="宋体" panose="02010600030101010101" pitchFamily="2" charset="-122"/>
                </a:rPr>
                <a:t>，  </a:t>
              </a:r>
              <a:r>
                <a:rPr lang="en-US" altLang="zh-CN" sz="2000" b="1">
                  <a:solidFill>
                    <a:srgbClr val="000000"/>
                  </a:solidFill>
                  <a:ea typeface="宋体" panose="02010600030101010101" pitchFamily="2" charset="-122"/>
                </a:rPr>
                <a:t>ABC→ A</a:t>
              </a:r>
              <a:r>
                <a:rPr lang="zh-CN" altLang="en-US" sz="2000" b="1">
                  <a:solidFill>
                    <a:srgbClr val="000000"/>
                  </a:solidFill>
                  <a:ea typeface="宋体" panose="02010600030101010101" pitchFamily="2" charset="-122"/>
                </a:rPr>
                <a:t>，  </a:t>
              </a:r>
              <a:r>
                <a:rPr lang="en-US" altLang="zh-CN" sz="2000" b="1">
                  <a:solidFill>
                    <a:srgbClr val="000000"/>
                  </a:solidFill>
                  <a:ea typeface="宋体" panose="02010600030101010101" pitchFamily="2" charset="-122"/>
                </a:rPr>
                <a:t>B→ B</a:t>
              </a:r>
              <a:r>
                <a:rPr lang="zh-CN" altLang="en-US" sz="2000" b="1">
                  <a:solidFill>
                    <a:srgbClr val="000000"/>
                  </a:solidFill>
                  <a:ea typeface="宋体" panose="02010600030101010101" pitchFamily="2" charset="-122"/>
                </a:rPr>
                <a:t>，  </a:t>
              </a:r>
              <a:r>
                <a:rPr lang="en-US" altLang="zh-CN" sz="2000" b="1">
                  <a:solidFill>
                    <a:srgbClr val="000000"/>
                  </a:solidFill>
                  <a:ea typeface="宋体" panose="02010600030101010101" pitchFamily="2" charset="-122"/>
                </a:rPr>
                <a:t>C→ C</a:t>
              </a:r>
            </a:p>
            <a:p>
              <a:pPr>
                <a:lnSpc>
                  <a:spcPct val="120000"/>
                </a:lnSpc>
                <a:spcBef>
                  <a:spcPct val="20000"/>
                </a:spcBef>
              </a:pPr>
              <a:r>
                <a:rPr lang="en-US" altLang="zh-CN" sz="2000" b="1">
                  <a:solidFill>
                    <a:srgbClr val="000000"/>
                  </a:solidFill>
                  <a:ea typeface="宋体" panose="02010600030101010101" pitchFamily="2" charset="-122"/>
                </a:rPr>
                <a:t>A→ B</a:t>
              </a:r>
              <a:r>
                <a:rPr lang="zh-CN" altLang="en-US" sz="2000" b="1">
                  <a:solidFill>
                    <a:srgbClr val="000000"/>
                  </a:solidFill>
                  <a:ea typeface="宋体" panose="02010600030101010101" pitchFamily="2" charset="-122"/>
                </a:rPr>
                <a:t>，  </a:t>
              </a:r>
              <a:r>
                <a:rPr lang="en-US" altLang="zh-CN" sz="2000" b="1">
                  <a:solidFill>
                    <a:srgbClr val="000000"/>
                  </a:solidFill>
                  <a:ea typeface="宋体" panose="02010600030101010101" pitchFamily="2" charset="-122"/>
                </a:rPr>
                <a:t>AB→ B</a:t>
              </a:r>
              <a:r>
                <a:rPr lang="zh-CN" altLang="en-US" sz="2000" b="1">
                  <a:solidFill>
                    <a:srgbClr val="000000"/>
                  </a:solidFill>
                  <a:ea typeface="宋体" panose="02010600030101010101" pitchFamily="2" charset="-122"/>
                </a:rPr>
                <a:t>，  </a:t>
              </a:r>
              <a:r>
                <a:rPr lang="en-US" altLang="zh-CN" sz="2000" b="1">
                  <a:solidFill>
                    <a:srgbClr val="000000"/>
                  </a:solidFill>
                  <a:ea typeface="宋体" panose="02010600030101010101" pitchFamily="2" charset="-122"/>
                </a:rPr>
                <a:t>AC→ B</a:t>
              </a:r>
              <a:r>
                <a:rPr lang="zh-CN" altLang="en-US" sz="2000" b="1">
                  <a:solidFill>
                    <a:srgbClr val="000000"/>
                  </a:solidFill>
                  <a:ea typeface="宋体" panose="02010600030101010101" pitchFamily="2" charset="-122"/>
                </a:rPr>
                <a:t>，  </a:t>
              </a:r>
              <a:r>
                <a:rPr lang="en-US" altLang="zh-CN" sz="2000" b="1">
                  <a:solidFill>
                    <a:srgbClr val="000000"/>
                  </a:solidFill>
                  <a:ea typeface="宋体" panose="02010600030101010101" pitchFamily="2" charset="-122"/>
                </a:rPr>
                <a:t>ABC→ B</a:t>
              </a:r>
              <a:r>
                <a:rPr lang="zh-CN" altLang="en-US" sz="2000" b="1">
                  <a:solidFill>
                    <a:srgbClr val="000000"/>
                  </a:solidFill>
                  <a:ea typeface="宋体" panose="02010600030101010101" pitchFamily="2" charset="-122"/>
                </a:rPr>
                <a:t>，  </a:t>
              </a:r>
              <a:r>
                <a:rPr lang="en-US" altLang="zh-CN" sz="2000" b="1">
                  <a:solidFill>
                    <a:srgbClr val="000000"/>
                  </a:solidFill>
                  <a:ea typeface="宋体" panose="02010600030101010101" pitchFamily="2" charset="-122"/>
                </a:rPr>
                <a:t>B→ C</a:t>
              </a:r>
              <a:r>
                <a:rPr lang="zh-CN" altLang="en-US" sz="2000" b="1">
                  <a:solidFill>
                    <a:srgbClr val="000000"/>
                  </a:solidFill>
                  <a:ea typeface="宋体" panose="02010600030101010101" pitchFamily="2" charset="-122"/>
                </a:rPr>
                <a:t>，  </a:t>
              </a:r>
            </a:p>
            <a:p>
              <a:pPr>
                <a:lnSpc>
                  <a:spcPct val="120000"/>
                </a:lnSpc>
                <a:spcBef>
                  <a:spcPct val="20000"/>
                </a:spcBef>
              </a:pPr>
              <a:r>
                <a:rPr lang="en-US" altLang="zh-CN" sz="2000" b="1">
                  <a:solidFill>
                    <a:srgbClr val="000000"/>
                  </a:solidFill>
                  <a:ea typeface="宋体" panose="02010600030101010101" pitchFamily="2" charset="-122"/>
                </a:rPr>
                <a:t>A→ C</a:t>
              </a:r>
              <a:r>
                <a:rPr lang="zh-CN" altLang="en-US" sz="2000" b="1">
                  <a:solidFill>
                    <a:srgbClr val="000000"/>
                  </a:solidFill>
                  <a:ea typeface="宋体" panose="02010600030101010101" pitchFamily="2" charset="-122"/>
                </a:rPr>
                <a:t>，  </a:t>
              </a:r>
              <a:r>
                <a:rPr lang="en-US" altLang="zh-CN" sz="2000" b="1">
                  <a:solidFill>
                    <a:srgbClr val="000000"/>
                  </a:solidFill>
                  <a:ea typeface="宋体" panose="02010600030101010101" pitchFamily="2" charset="-122"/>
                </a:rPr>
                <a:t>AB→ C</a:t>
              </a:r>
              <a:r>
                <a:rPr lang="zh-CN" altLang="en-US" sz="2000" b="1">
                  <a:solidFill>
                    <a:srgbClr val="000000"/>
                  </a:solidFill>
                  <a:ea typeface="宋体" panose="02010600030101010101" pitchFamily="2" charset="-122"/>
                </a:rPr>
                <a:t>，  </a:t>
              </a:r>
              <a:r>
                <a:rPr lang="en-US" altLang="zh-CN" sz="2000" b="1">
                  <a:solidFill>
                    <a:srgbClr val="000000"/>
                  </a:solidFill>
                  <a:ea typeface="宋体" panose="02010600030101010101" pitchFamily="2" charset="-122"/>
                </a:rPr>
                <a:t>AC→ C</a:t>
              </a:r>
              <a:r>
                <a:rPr lang="zh-CN" altLang="en-US" sz="2000" b="1">
                  <a:solidFill>
                    <a:srgbClr val="000000"/>
                  </a:solidFill>
                  <a:ea typeface="宋体" panose="02010600030101010101" pitchFamily="2" charset="-122"/>
                </a:rPr>
                <a:t>，  </a:t>
              </a:r>
              <a:r>
                <a:rPr lang="en-US" altLang="zh-CN" sz="2000" b="1">
                  <a:solidFill>
                    <a:srgbClr val="000000"/>
                  </a:solidFill>
                  <a:ea typeface="宋体" panose="02010600030101010101" pitchFamily="2" charset="-122"/>
                </a:rPr>
                <a:t>ABC→ C</a:t>
              </a:r>
              <a:r>
                <a:rPr lang="zh-CN" altLang="en-US" sz="2000" b="1">
                  <a:solidFill>
                    <a:srgbClr val="000000"/>
                  </a:solidFill>
                  <a:ea typeface="宋体" panose="02010600030101010101" pitchFamily="2" charset="-122"/>
                </a:rPr>
                <a:t>，  </a:t>
              </a:r>
              <a:r>
                <a:rPr lang="en-US" altLang="zh-CN" sz="2000" b="1">
                  <a:solidFill>
                    <a:srgbClr val="000000"/>
                  </a:solidFill>
                  <a:ea typeface="宋体" panose="02010600030101010101" pitchFamily="2" charset="-122"/>
                </a:rPr>
                <a:t>B→ BC</a:t>
              </a:r>
              <a:r>
                <a:rPr lang="zh-CN" altLang="en-US" sz="2000" b="1">
                  <a:solidFill>
                    <a:srgbClr val="000000"/>
                  </a:solidFill>
                  <a:ea typeface="宋体" panose="02010600030101010101" pitchFamily="2" charset="-122"/>
                </a:rPr>
                <a:t>， </a:t>
              </a:r>
            </a:p>
            <a:p>
              <a:pPr>
                <a:lnSpc>
                  <a:spcPct val="120000"/>
                </a:lnSpc>
                <a:spcBef>
                  <a:spcPct val="20000"/>
                </a:spcBef>
              </a:pPr>
              <a:r>
                <a:rPr lang="en-US" altLang="zh-CN" sz="2000" b="1">
                  <a:solidFill>
                    <a:srgbClr val="000000"/>
                  </a:solidFill>
                  <a:ea typeface="宋体" panose="02010600030101010101" pitchFamily="2" charset="-122"/>
                </a:rPr>
                <a:t>A→ AB</a:t>
              </a:r>
              <a:r>
                <a:rPr lang="zh-CN" altLang="en-US" sz="2000" b="1">
                  <a:solidFill>
                    <a:srgbClr val="000000"/>
                  </a:solidFill>
                  <a:ea typeface="宋体" panose="02010600030101010101" pitchFamily="2" charset="-122"/>
                </a:rPr>
                <a:t>， </a:t>
              </a:r>
              <a:r>
                <a:rPr lang="en-US" altLang="zh-CN" sz="2000" b="1">
                  <a:solidFill>
                    <a:srgbClr val="000000"/>
                  </a:solidFill>
                  <a:ea typeface="宋体" panose="02010600030101010101" pitchFamily="2" charset="-122"/>
                </a:rPr>
                <a:t>AB→ AB</a:t>
              </a:r>
              <a:r>
                <a:rPr lang="zh-CN" altLang="en-US" sz="2000" b="1">
                  <a:solidFill>
                    <a:srgbClr val="000000"/>
                  </a:solidFill>
                  <a:ea typeface="宋体" panose="02010600030101010101" pitchFamily="2" charset="-122"/>
                </a:rPr>
                <a:t>， </a:t>
              </a:r>
              <a:r>
                <a:rPr lang="en-US" altLang="zh-CN" sz="2000" b="1">
                  <a:solidFill>
                    <a:srgbClr val="000000"/>
                  </a:solidFill>
                  <a:ea typeface="宋体" panose="02010600030101010101" pitchFamily="2" charset="-122"/>
                </a:rPr>
                <a:t>AC→ AB</a:t>
              </a:r>
              <a:r>
                <a:rPr lang="zh-CN" altLang="en-US" sz="2000" b="1">
                  <a:solidFill>
                    <a:srgbClr val="000000"/>
                  </a:solidFill>
                  <a:ea typeface="宋体" panose="02010600030101010101" pitchFamily="2" charset="-122"/>
                </a:rPr>
                <a:t>， </a:t>
              </a:r>
              <a:r>
                <a:rPr lang="en-US" altLang="zh-CN" sz="2000" b="1">
                  <a:solidFill>
                    <a:srgbClr val="000000"/>
                  </a:solidFill>
                  <a:ea typeface="宋体" panose="02010600030101010101" pitchFamily="2" charset="-122"/>
                </a:rPr>
                <a:t>ABC→ AB</a:t>
              </a:r>
              <a:r>
                <a:rPr lang="zh-CN" altLang="en-US" sz="2000" b="1">
                  <a:solidFill>
                    <a:srgbClr val="000000"/>
                  </a:solidFill>
                  <a:ea typeface="宋体" panose="02010600030101010101" pitchFamily="2" charset="-122"/>
                </a:rPr>
                <a:t>， </a:t>
              </a:r>
              <a:r>
                <a:rPr lang="en-US" altLang="zh-CN" sz="2000" b="1">
                  <a:solidFill>
                    <a:srgbClr val="000000"/>
                  </a:solidFill>
                  <a:ea typeface="宋体" panose="02010600030101010101" pitchFamily="2" charset="-122"/>
                </a:rPr>
                <a:t>BC→ </a:t>
              </a:r>
              <a:r>
                <a:rPr lang="en-US" altLang="zh-CN" b="1">
                  <a:solidFill>
                    <a:srgbClr val="000000"/>
                  </a:solidFill>
                  <a:sym typeface="Symbol" panose="05050102010706020507" pitchFamily="18" charset="2"/>
                </a:rPr>
                <a:t></a:t>
              </a:r>
              <a:r>
                <a:rPr lang="en-US" altLang="zh-CN"/>
                <a:t> </a:t>
              </a:r>
              <a:r>
                <a:rPr lang="zh-CN" altLang="en-US" sz="2000" b="1">
                  <a:solidFill>
                    <a:srgbClr val="000000"/>
                  </a:solidFill>
                  <a:ea typeface="宋体" panose="02010600030101010101" pitchFamily="2" charset="-122"/>
                </a:rPr>
                <a:t>，</a:t>
              </a:r>
            </a:p>
            <a:p>
              <a:pPr>
                <a:lnSpc>
                  <a:spcPct val="120000"/>
                </a:lnSpc>
                <a:spcBef>
                  <a:spcPct val="20000"/>
                </a:spcBef>
              </a:pPr>
              <a:r>
                <a:rPr lang="en-US" altLang="zh-CN" sz="2000" b="1">
                  <a:solidFill>
                    <a:srgbClr val="000000"/>
                  </a:solidFill>
                  <a:ea typeface="宋体" panose="02010600030101010101" pitchFamily="2" charset="-122"/>
                </a:rPr>
                <a:t>A→ AC</a:t>
              </a:r>
              <a:r>
                <a:rPr lang="zh-CN" altLang="en-US" sz="2000" b="1">
                  <a:solidFill>
                    <a:srgbClr val="000000"/>
                  </a:solidFill>
                  <a:ea typeface="宋体" panose="02010600030101010101" pitchFamily="2" charset="-122"/>
                </a:rPr>
                <a:t>， </a:t>
              </a:r>
              <a:r>
                <a:rPr lang="en-US" altLang="zh-CN" sz="2000" b="1">
                  <a:solidFill>
                    <a:srgbClr val="000000"/>
                  </a:solidFill>
                  <a:ea typeface="宋体" panose="02010600030101010101" pitchFamily="2" charset="-122"/>
                </a:rPr>
                <a:t>AB→ AC</a:t>
              </a:r>
              <a:r>
                <a:rPr lang="zh-CN" altLang="en-US" sz="2000" b="1">
                  <a:solidFill>
                    <a:srgbClr val="000000"/>
                  </a:solidFill>
                  <a:ea typeface="宋体" panose="02010600030101010101" pitchFamily="2" charset="-122"/>
                </a:rPr>
                <a:t>， </a:t>
              </a:r>
              <a:r>
                <a:rPr lang="en-US" altLang="zh-CN" sz="2000" b="1">
                  <a:solidFill>
                    <a:srgbClr val="000000"/>
                  </a:solidFill>
                  <a:ea typeface="宋体" panose="02010600030101010101" pitchFamily="2" charset="-122"/>
                </a:rPr>
                <a:t>AC→ AC</a:t>
              </a:r>
              <a:r>
                <a:rPr lang="zh-CN" altLang="en-US" sz="2000" b="1">
                  <a:solidFill>
                    <a:srgbClr val="000000"/>
                  </a:solidFill>
                  <a:ea typeface="宋体" panose="02010600030101010101" pitchFamily="2" charset="-122"/>
                </a:rPr>
                <a:t>， </a:t>
              </a:r>
              <a:r>
                <a:rPr lang="en-US" altLang="zh-CN" sz="2000" b="1">
                  <a:solidFill>
                    <a:srgbClr val="000000"/>
                  </a:solidFill>
                  <a:ea typeface="宋体" panose="02010600030101010101" pitchFamily="2" charset="-122"/>
                </a:rPr>
                <a:t>ABC→ AC</a:t>
              </a:r>
              <a:r>
                <a:rPr lang="zh-CN" altLang="en-US" sz="2000" b="1">
                  <a:solidFill>
                    <a:srgbClr val="000000"/>
                  </a:solidFill>
                  <a:ea typeface="宋体" panose="02010600030101010101" pitchFamily="2" charset="-122"/>
                </a:rPr>
                <a:t>， </a:t>
              </a:r>
              <a:r>
                <a:rPr lang="en-US" altLang="zh-CN" sz="2000" b="1">
                  <a:solidFill>
                    <a:srgbClr val="000000"/>
                  </a:solidFill>
                  <a:ea typeface="宋体" panose="02010600030101010101" pitchFamily="2" charset="-122"/>
                </a:rPr>
                <a:t>BC→ B</a:t>
              </a:r>
              <a:r>
                <a:rPr lang="zh-CN" altLang="en-US" sz="2000" b="1">
                  <a:solidFill>
                    <a:srgbClr val="000000"/>
                  </a:solidFill>
                  <a:ea typeface="宋体" panose="02010600030101010101" pitchFamily="2" charset="-122"/>
                </a:rPr>
                <a:t>， </a:t>
              </a:r>
            </a:p>
            <a:p>
              <a:pPr>
                <a:lnSpc>
                  <a:spcPct val="120000"/>
                </a:lnSpc>
                <a:spcBef>
                  <a:spcPct val="20000"/>
                </a:spcBef>
              </a:pPr>
              <a:r>
                <a:rPr lang="en-US" altLang="zh-CN" sz="2000" b="1">
                  <a:solidFill>
                    <a:srgbClr val="000000"/>
                  </a:solidFill>
                  <a:ea typeface="宋体" panose="02010600030101010101" pitchFamily="2" charset="-122"/>
                </a:rPr>
                <a:t>A→ BC</a:t>
              </a:r>
              <a:r>
                <a:rPr lang="zh-CN" altLang="en-US" sz="2000" b="1">
                  <a:solidFill>
                    <a:srgbClr val="000000"/>
                  </a:solidFill>
                  <a:ea typeface="宋体" panose="02010600030101010101" pitchFamily="2" charset="-122"/>
                </a:rPr>
                <a:t>， </a:t>
              </a:r>
              <a:r>
                <a:rPr lang="en-US" altLang="zh-CN" sz="2000" b="1">
                  <a:solidFill>
                    <a:srgbClr val="000000"/>
                  </a:solidFill>
                  <a:ea typeface="宋体" panose="02010600030101010101" pitchFamily="2" charset="-122"/>
                </a:rPr>
                <a:t>AB→ BC</a:t>
              </a:r>
              <a:r>
                <a:rPr lang="zh-CN" altLang="en-US" sz="2000" b="1">
                  <a:solidFill>
                    <a:srgbClr val="000000"/>
                  </a:solidFill>
                  <a:ea typeface="宋体" panose="02010600030101010101" pitchFamily="2" charset="-122"/>
                </a:rPr>
                <a:t>， </a:t>
              </a:r>
              <a:r>
                <a:rPr lang="en-US" altLang="zh-CN" sz="2000" b="1">
                  <a:solidFill>
                    <a:srgbClr val="000000"/>
                  </a:solidFill>
                  <a:ea typeface="宋体" panose="02010600030101010101" pitchFamily="2" charset="-122"/>
                </a:rPr>
                <a:t>AC→ BC</a:t>
              </a:r>
              <a:r>
                <a:rPr lang="zh-CN" altLang="en-US" sz="2000" b="1">
                  <a:solidFill>
                    <a:srgbClr val="000000"/>
                  </a:solidFill>
                  <a:ea typeface="宋体" panose="02010600030101010101" pitchFamily="2" charset="-122"/>
                </a:rPr>
                <a:t>， </a:t>
              </a:r>
              <a:r>
                <a:rPr lang="en-US" altLang="zh-CN" sz="2000" b="1">
                  <a:solidFill>
                    <a:srgbClr val="000000"/>
                  </a:solidFill>
                  <a:ea typeface="宋体" panose="02010600030101010101" pitchFamily="2" charset="-122"/>
                </a:rPr>
                <a:t>ABC→ BC</a:t>
              </a:r>
              <a:r>
                <a:rPr lang="zh-CN" altLang="en-US" sz="2000" b="1">
                  <a:solidFill>
                    <a:srgbClr val="000000"/>
                  </a:solidFill>
                  <a:ea typeface="宋体" panose="02010600030101010101" pitchFamily="2" charset="-122"/>
                </a:rPr>
                <a:t>， </a:t>
              </a:r>
              <a:r>
                <a:rPr lang="en-US" altLang="zh-CN" sz="2000" b="1">
                  <a:solidFill>
                    <a:srgbClr val="000000"/>
                  </a:solidFill>
                  <a:ea typeface="宋体" panose="02010600030101010101" pitchFamily="2" charset="-122"/>
                </a:rPr>
                <a:t>BC→ C</a:t>
              </a:r>
              <a:r>
                <a:rPr lang="zh-CN" altLang="en-US" sz="2000" b="1">
                  <a:solidFill>
                    <a:srgbClr val="000000"/>
                  </a:solidFill>
                  <a:ea typeface="宋体" panose="02010600030101010101" pitchFamily="2" charset="-122"/>
                </a:rPr>
                <a:t>， </a:t>
              </a:r>
            </a:p>
            <a:p>
              <a:pPr>
                <a:lnSpc>
                  <a:spcPct val="120000"/>
                </a:lnSpc>
                <a:spcBef>
                  <a:spcPct val="20000"/>
                </a:spcBef>
              </a:pPr>
              <a:r>
                <a:rPr lang="en-US" altLang="zh-CN" sz="2000" b="1">
                  <a:solidFill>
                    <a:srgbClr val="000000"/>
                  </a:solidFill>
                  <a:ea typeface="宋体" panose="02010600030101010101" pitchFamily="2" charset="-122"/>
                </a:rPr>
                <a:t>A→ ABC</a:t>
              </a:r>
              <a:r>
                <a:rPr lang="zh-CN" altLang="en-US" sz="2000" b="1">
                  <a:solidFill>
                    <a:srgbClr val="000000"/>
                  </a:solidFill>
                  <a:ea typeface="宋体" panose="02010600030101010101" pitchFamily="2" charset="-122"/>
                </a:rPr>
                <a:t>，</a:t>
              </a:r>
              <a:r>
                <a:rPr lang="en-US" altLang="zh-CN" sz="2000" b="1">
                  <a:solidFill>
                    <a:srgbClr val="000000"/>
                  </a:solidFill>
                  <a:ea typeface="宋体" panose="02010600030101010101" pitchFamily="2" charset="-122"/>
                </a:rPr>
                <a:t>AB→ ABC</a:t>
              </a:r>
              <a:r>
                <a:rPr lang="zh-CN" altLang="en-US" sz="2000" b="1">
                  <a:solidFill>
                    <a:srgbClr val="000000"/>
                  </a:solidFill>
                  <a:ea typeface="宋体" panose="02010600030101010101" pitchFamily="2" charset="-122"/>
                </a:rPr>
                <a:t>，</a:t>
              </a:r>
              <a:r>
                <a:rPr lang="en-US" altLang="zh-CN" sz="2000" b="1">
                  <a:solidFill>
                    <a:srgbClr val="000000"/>
                  </a:solidFill>
                  <a:ea typeface="宋体" panose="02010600030101010101" pitchFamily="2" charset="-122"/>
                </a:rPr>
                <a:t>AC→ ABC</a:t>
              </a:r>
              <a:r>
                <a:rPr lang="zh-CN" altLang="en-US" sz="2000" b="1">
                  <a:solidFill>
                    <a:srgbClr val="000000"/>
                  </a:solidFill>
                  <a:ea typeface="宋体" panose="02010600030101010101" pitchFamily="2" charset="-122"/>
                </a:rPr>
                <a:t>，</a:t>
              </a:r>
              <a:r>
                <a:rPr lang="en-US" altLang="zh-CN" sz="2000" b="1">
                  <a:solidFill>
                    <a:srgbClr val="000000"/>
                  </a:solidFill>
                  <a:ea typeface="宋体" panose="02010600030101010101" pitchFamily="2" charset="-122"/>
                </a:rPr>
                <a:t>ABC→ ABC</a:t>
              </a:r>
              <a:r>
                <a:rPr lang="zh-CN" altLang="en-US" sz="2000" b="1">
                  <a:solidFill>
                    <a:srgbClr val="000000"/>
                  </a:solidFill>
                  <a:ea typeface="宋体" panose="02010600030101010101" pitchFamily="2" charset="-122"/>
                </a:rPr>
                <a:t>，</a:t>
              </a:r>
              <a:r>
                <a:rPr lang="en-US" altLang="zh-CN" sz="2000" b="1">
                  <a:solidFill>
                    <a:srgbClr val="000000"/>
                  </a:solidFill>
                  <a:ea typeface="宋体" panose="02010600030101010101" pitchFamily="2" charset="-122"/>
                </a:rPr>
                <a:t>BC→ BC</a:t>
              </a:r>
              <a:r>
                <a:rPr lang="zh-CN" altLang="en-US" sz="2000" b="1">
                  <a:solidFill>
                    <a:srgbClr val="000000"/>
                  </a:solidFill>
                  <a:ea typeface="宋体" panose="02010600030101010101" pitchFamily="2" charset="-122"/>
                </a:rPr>
                <a:t>，</a:t>
              </a:r>
            </a:p>
          </p:txBody>
        </p:sp>
      </p:grpSp>
    </p:spTree>
    <p:custDataLst>
      <p:tags r:id="rId1"/>
    </p:custDataLst>
  </p:cSld>
  <p:clrMapOvr>
    <a:masterClrMapping/>
  </p:clrMapOvr>
  <p:transition advTm="94893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508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5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15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515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15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150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150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15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150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150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15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5083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7.9|6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|16.9|18.8|21.6|22.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4.8|3.1|2.7|1.8|37.5|5|19.4|31.5|2.3|24.4|3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6|13.3|9.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2|4.9|2.4|1.5|1.9|7.2|4.7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7|8.6|7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8.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9|28.6|9.8|42.8"/>
</p:tagLst>
</file>

<file path=ppt/theme/theme1.xml><?xml version="1.0" encoding="utf-8"?>
<a:theme xmlns:a="http://schemas.openxmlformats.org/drawingml/2006/main" name="cdb2004165l">
  <a:themeElements>
    <a:clrScheme name="cdb2004165l 3">
      <a:dk1>
        <a:srgbClr val="000000"/>
      </a:dk1>
      <a:lt1>
        <a:srgbClr val="FFFFFF"/>
      </a:lt1>
      <a:dk2>
        <a:srgbClr val="37399B"/>
      </a:dk2>
      <a:lt2>
        <a:srgbClr val="C0C0C0"/>
      </a:lt2>
      <a:accent1>
        <a:srgbClr val="699DE9"/>
      </a:accent1>
      <a:accent2>
        <a:srgbClr val="EFB049"/>
      </a:accent2>
      <a:accent3>
        <a:srgbClr val="FFFFFF"/>
      </a:accent3>
      <a:accent4>
        <a:srgbClr val="000000"/>
      </a:accent4>
      <a:accent5>
        <a:srgbClr val="B9CCF2"/>
      </a:accent5>
      <a:accent6>
        <a:srgbClr val="D99F41"/>
      </a:accent6>
      <a:hlink>
        <a:srgbClr val="7476DC"/>
      </a:hlink>
      <a:folHlink>
        <a:srgbClr val="9AC664"/>
      </a:folHlink>
    </a:clrScheme>
    <a:fontScheme name="cdb2004165l">
      <a:majorFont>
        <a:latin typeface="Arial"/>
        <a:ea typeface="幼圆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lnDef>
  </a:objectDefaults>
  <a:extraClrSchemeLst>
    <a:extraClrScheme>
      <a:clrScheme name="cdb2004165l 1">
        <a:dk1>
          <a:srgbClr val="000000"/>
        </a:dk1>
        <a:lt1>
          <a:srgbClr val="FFFFFF"/>
        </a:lt1>
        <a:dk2>
          <a:srgbClr val="000066"/>
        </a:dk2>
        <a:lt2>
          <a:srgbClr val="969696"/>
        </a:lt2>
        <a:accent1>
          <a:srgbClr val="6F4EE6"/>
        </a:accent1>
        <a:accent2>
          <a:srgbClr val="69BFF9"/>
        </a:accent2>
        <a:accent3>
          <a:srgbClr val="FFFFFF"/>
        </a:accent3>
        <a:accent4>
          <a:srgbClr val="000000"/>
        </a:accent4>
        <a:accent5>
          <a:srgbClr val="BBB2F0"/>
        </a:accent5>
        <a:accent6>
          <a:srgbClr val="5EADE2"/>
        </a:accent6>
        <a:hlink>
          <a:srgbClr val="D17FB6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db2004165l 2">
        <a:dk1>
          <a:srgbClr val="000000"/>
        </a:dk1>
        <a:lt1>
          <a:srgbClr val="FFFFFF"/>
        </a:lt1>
        <a:dk2>
          <a:srgbClr val="165E86"/>
        </a:dk2>
        <a:lt2>
          <a:srgbClr val="969696"/>
        </a:lt2>
        <a:accent1>
          <a:srgbClr val="33C5A9"/>
        </a:accent1>
        <a:accent2>
          <a:srgbClr val="90DE88"/>
        </a:accent2>
        <a:accent3>
          <a:srgbClr val="FFFFFF"/>
        </a:accent3>
        <a:accent4>
          <a:srgbClr val="000000"/>
        </a:accent4>
        <a:accent5>
          <a:srgbClr val="ADDFD1"/>
        </a:accent5>
        <a:accent6>
          <a:srgbClr val="82C97B"/>
        </a:accent6>
        <a:hlink>
          <a:srgbClr val="7D96D3"/>
        </a:hlink>
        <a:folHlink>
          <a:srgbClr val="DEDB7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db2004165l 3">
        <a:dk1>
          <a:srgbClr val="000000"/>
        </a:dk1>
        <a:lt1>
          <a:srgbClr val="FFFFFF"/>
        </a:lt1>
        <a:dk2>
          <a:srgbClr val="37399B"/>
        </a:dk2>
        <a:lt2>
          <a:srgbClr val="C0C0C0"/>
        </a:lt2>
        <a:accent1>
          <a:srgbClr val="699DE9"/>
        </a:accent1>
        <a:accent2>
          <a:srgbClr val="EFB049"/>
        </a:accent2>
        <a:accent3>
          <a:srgbClr val="FFFFFF"/>
        </a:accent3>
        <a:accent4>
          <a:srgbClr val="000000"/>
        </a:accent4>
        <a:accent5>
          <a:srgbClr val="B9CCF2"/>
        </a:accent5>
        <a:accent6>
          <a:srgbClr val="D99F41"/>
        </a:accent6>
        <a:hlink>
          <a:srgbClr val="7476DC"/>
        </a:hlink>
        <a:folHlink>
          <a:srgbClr val="9AC66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10285</TotalTime>
  <Words>895</Words>
  <Application>Microsoft Office PowerPoint</Application>
  <PresentationFormat>全屏显示(4:3)</PresentationFormat>
  <Paragraphs>94</Paragraphs>
  <Slides>10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3" baseType="lpstr">
      <vt:lpstr>Monotype Sorts</vt:lpstr>
      <vt:lpstr>仿宋_GB2312</vt:lpstr>
      <vt:lpstr>黑体</vt:lpstr>
      <vt:lpstr>华文新魏</vt:lpstr>
      <vt:lpstr>楷体_GB2312</vt:lpstr>
      <vt:lpstr>隶书</vt:lpstr>
      <vt:lpstr>Arial</vt:lpstr>
      <vt:lpstr>Comic Sans MS</vt:lpstr>
      <vt:lpstr>Tahoma</vt:lpstr>
      <vt:lpstr>Times New Roman</vt:lpstr>
      <vt:lpstr>Wingdings</vt:lpstr>
      <vt:lpstr>Wingdings 2</vt:lpstr>
      <vt:lpstr>cdb2004165l</vt:lpstr>
      <vt:lpstr>第6章  关系数据库模式设计</vt:lpstr>
      <vt:lpstr>6.4  函数依赖的公理体系</vt:lpstr>
      <vt:lpstr>PowerPoint 演示文稿</vt:lpstr>
      <vt:lpstr>一、阿姆斯特朗公理</vt:lpstr>
      <vt:lpstr>一、阿姆斯特朗公理</vt:lpstr>
      <vt:lpstr>二、阿姆斯特朗公理的推论</vt:lpstr>
      <vt:lpstr>二、阿姆斯特朗公理的推论</vt:lpstr>
      <vt:lpstr>PowerPoint 演示文稿</vt:lpstr>
      <vt:lpstr>二、阿姆斯特朗公理的推论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乔淋漓的冷汗</dc:creator>
  <cp:lastModifiedBy>乔 淋漓的冷汗</cp:lastModifiedBy>
  <cp:revision>542</cp:revision>
  <cp:lastPrinted>2000-08-23T09:10:16Z</cp:lastPrinted>
  <dcterms:created xsi:type="dcterms:W3CDTF">1601-01-01T00:00:00Z</dcterms:created>
  <dcterms:modified xsi:type="dcterms:W3CDTF">2021-04-20T14:36:59Z</dcterms:modified>
</cp:coreProperties>
</file>