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</p:sldMasterIdLst>
  <p:notesMasterIdLst>
    <p:notesMasterId r:id="rId14"/>
  </p:notesMasterIdLst>
  <p:handoutMasterIdLst>
    <p:handoutMasterId r:id="rId15"/>
  </p:handoutMasterIdLst>
  <p:sldIdLst>
    <p:sldId id="583" r:id="rId2"/>
    <p:sldId id="601" r:id="rId3"/>
    <p:sldId id="584" r:id="rId4"/>
    <p:sldId id="598" r:id="rId5"/>
    <p:sldId id="599" r:id="rId6"/>
    <p:sldId id="600" r:id="rId7"/>
    <p:sldId id="586" r:id="rId8"/>
    <p:sldId id="587" r:id="rId9"/>
    <p:sldId id="588" r:id="rId10"/>
    <p:sldId id="589" r:id="rId11"/>
    <p:sldId id="590" r:id="rId12"/>
    <p:sldId id="602" r:id="rId13"/>
  </p:sldIdLst>
  <p:sldSz cx="9144000" cy="6858000" type="screen4x3"/>
  <p:notesSz cx="6662738" cy="98329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99FFCC"/>
    <a:srgbClr val="9900FF"/>
    <a:srgbClr val="CC00FF"/>
    <a:srgbClr val="990033"/>
    <a:srgbClr val="9900CC"/>
    <a:srgbClr val="6600C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5" autoAdjust="0"/>
    <p:restoredTop sz="86449" autoAdjust="0"/>
  </p:normalViewPr>
  <p:slideViewPr>
    <p:cSldViewPr>
      <p:cViewPr varScale="1">
        <p:scale>
          <a:sx n="113" d="100"/>
          <a:sy n="113" d="100"/>
        </p:scale>
        <p:origin x="1540" y="80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96114925-2787-4F69-9CE2-E0F5403D6C5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64268F38-461F-41E5-9C8C-6881D9F79F5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7524" name="Rectangle 4">
            <a:extLst>
              <a:ext uri="{FF2B5EF4-FFF2-40B4-BE49-F238E27FC236}">
                <a16:creationId xmlns:a16="http://schemas.microsoft.com/office/drawing/2014/main" id="{D351D54A-68BB-4DC1-8E45-40FF2FDA718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2B7621A5-E60E-44BD-B731-8478B6A075A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A834E118-333A-4BB8-8E1A-7979CCB3A16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>
            <a:extLst>
              <a:ext uri="{FF2B5EF4-FFF2-40B4-BE49-F238E27FC236}">
                <a16:creationId xmlns:a16="http://schemas.microsoft.com/office/drawing/2014/main" id="{28130078-918D-4EBA-9433-BAB4C4948B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342019" name="Rectangle 3">
            <a:extLst>
              <a:ext uri="{FF2B5EF4-FFF2-40B4-BE49-F238E27FC236}">
                <a16:creationId xmlns:a16="http://schemas.microsoft.com/office/drawing/2014/main" id="{DF476336-552F-461D-AAE9-07FA2CF0ED8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42020" name="Rectangle 4">
            <a:extLst>
              <a:ext uri="{FF2B5EF4-FFF2-40B4-BE49-F238E27FC236}">
                <a16:creationId xmlns:a16="http://schemas.microsoft.com/office/drawing/2014/main" id="{61B73830-8C04-4366-A422-39A74DFC03E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2021" name="Rectangle 5">
            <a:extLst>
              <a:ext uri="{FF2B5EF4-FFF2-40B4-BE49-F238E27FC236}">
                <a16:creationId xmlns:a16="http://schemas.microsoft.com/office/drawing/2014/main" id="{E2901E58-882C-428B-93C4-DF3606D9FE9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42022" name="Rectangle 6">
            <a:extLst>
              <a:ext uri="{FF2B5EF4-FFF2-40B4-BE49-F238E27FC236}">
                <a16:creationId xmlns:a16="http://schemas.microsoft.com/office/drawing/2014/main" id="{05E54F48-FAD6-49AF-AEA2-68B38C393E4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42023" name="Rectangle 7">
            <a:extLst>
              <a:ext uri="{FF2B5EF4-FFF2-40B4-BE49-F238E27FC236}">
                <a16:creationId xmlns:a16="http://schemas.microsoft.com/office/drawing/2014/main" id="{A57B8ACE-5D37-4C28-A4F5-03F7A31E25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17BC72C0-7A26-44CD-A676-35D7261CE32E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7D2DD08-AB81-44AB-ABB5-6BA1B5F843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71CFB2-7172-4533-89AF-B55F95282769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492546" name="Rectangle 2">
            <a:extLst>
              <a:ext uri="{FF2B5EF4-FFF2-40B4-BE49-F238E27FC236}">
                <a16:creationId xmlns:a16="http://schemas.microsoft.com/office/drawing/2014/main" id="{68572B21-E043-4DD9-AE87-D8E27C547D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2547" name="Rectangle 3">
            <a:extLst>
              <a:ext uri="{FF2B5EF4-FFF2-40B4-BE49-F238E27FC236}">
                <a16:creationId xmlns:a16="http://schemas.microsoft.com/office/drawing/2014/main" id="{28CB55C8-5B1B-4F3F-BFEB-CE6AB76968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C42C26D-4D04-462F-9D40-6BC34AF0C3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7B0E45-F228-426D-99C3-9BC2FD93A225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531458" name="Rectangle 2">
            <a:extLst>
              <a:ext uri="{FF2B5EF4-FFF2-40B4-BE49-F238E27FC236}">
                <a16:creationId xmlns:a16="http://schemas.microsoft.com/office/drawing/2014/main" id="{EDA8B51E-4BA4-47F0-8C0E-6D25ECF564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1459" name="Rectangle 3">
            <a:extLst>
              <a:ext uri="{FF2B5EF4-FFF2-40B4-BE49-F238E27FC236}">
                <a16:creationId xmlns:a16="http://schemas.microsoft.com/office/drawing/2014/main" id="{5DF17100-48DB-450E-8364-605F107AF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106FC5A-A36F-475A-A16D-331AA4AA44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9015CF-FD43-4E3F-A650-4FA10825DD8D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494594" name="Rectangle 2">
            <a:extLst>
              <a:ext uri="{FF2B5EF4-FFF2-40B4-BE49-F238E27FC236}">
                <a16:creationId xmlns:a16="http://schemas.microsoft.com/office/drawing/2014/main" id="{FAB89497-C146-4438-8605-BFAEC4AC8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4595" name="Rectangle 3">
            <a:extLst>
              <a:ext uri="{FF2B5EF4-FFF2-40B4-BE49-F238E27FC236}">
                <a16:creationId xmlns:a16="http://schemas.microsoft.com/office/drawing/2014/main" id="{316E829E-B735-464B-9B34-3095B083C1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07CA030-493A-4197-883A-0FFB22EAA6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021DEE-1BE7-45F7-B42B-B525996DD736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520194" name="Rectangle 2">
            <a:extLst>
              <a:ext uri="{FF2B5EF4-FFF2-40B4-BE49-F238E27FC236}">
                <a16:creationId xmlns:a16="http://schemas.microsoft.com/office/drawing/2014/main" id="{CC919ADA-DDF2-41EE-825D-3216DBB155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 3">
            <a:extLst>
              <a:ext uri="{FF2B5EF4-FFF2-40B4-BE49-F238E27FC236}">
                <a16:creationId xmlns:a16="http://schemas.microsoft.com/office/drawing/2014/main" id="{FF501466-C718-4B92-862A-BDD957D77B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C546CB4-0668-4E8B-995A-23D33E4D36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04EBE6-6B91-4D0E-9694-6B3E4AE67B93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522242" name="Rectangle 2">
            <a:extLst>
              <a:ext uri="{FF2B5EF4-FFF2-40B4-BE49-F238E27FC236}">
                <a16:creationId xmlns:a16="http://schemas.microsoft.com/office/drawing/2014/main" id="{7C80A07B-3288-4781-9BA0-D4A265CBAB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43" name="Rectangle 3">
            <a:extLst>
              <a:ext uri="{FF2B5EF4-FFF2-40B4-BE49-F238E27FC236}">
                <a16:creationId xmlns:a16="http://schemas.microsoft.com/office/drawing/2014/main" id="{9F948B41-8243-4801-A117-6DF2F773ED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AD95F28-86AF-45C0-B47B-561079F766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30C57F-08A5-48AC-A5C0-969573695A07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528386" name="Rectangle 2">
            <a:extLst>
              <a:ext uri="{FF2B5EF4-FFF2-40B4-BE49-F238E27FC236}">
                <a16:creationId xmlns:a16="http://schemas.microsoft.com/office/drawing/2014/main" id="{DD9C486E-CD27-481C-8D4B-FA592027E8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8387" name="Rectangle 3">
            <a:extLst>
              <a:ext uri="{FF2B5EF4-FFF2-40B4-BE49-F238E27FC236}">
                <a16:creationId xmlns:a16="http://schemas.microsoft.com/office/drawing/2014/main" id="{29A8148E-8E2B-49B7-9E30-B2C38C2B64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0FB8118-09F9-41BB-B19E-7EF99083C2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FAC193-16A0-42BD-B81C-154D347F5CC2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498690" name="Rectangle 2">
            <a:extLst>
              <a:ext uri="{FF2B5EF4-FFF2-40B4-BE49-F238E27FC236}">
                <a16:creationId xmlns:a16="http://schemas.microsoft.com/office/drawing/2014/main" id="{106D2F22-D33C-4F56-9FFB-E91E470C38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8691" name="Rectangle 3">
            <a:extLst>
              <a:ext uri="{FF2B5EF4-FFF2-40B4-BE49-F238E27FC236}">
                <a16:creationId xmlns:a16="http://schemas.microsoft.com/office/drawing/2014/main" id="{DC1EFCCA-7E52-4BA7-9D3D-25C653F3D5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03A38BA-F569-4622-A4C0-79FC6CEF19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E91BFB-9B64-4B58-9150-F941B5F9B6B0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500738" name="Rectangle 2">
            <a:extLst>
              <a:ext uri="{FF2B5EF4-FFF2-40B4-BE49-F238E27FC236}">
                <a16:creationId xmlns:a16="http://schemas.microsoft.com/office/drawing/2014/main" id="{438AB3B0-6F74-464C-8517-A54C72CD5E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0739" name="Rectangle 3">
            <a:extLst>
              <a:ext uri="{FF2B5EF4-FFF2-40B4-BE49-F238E27FC236}">
                <a16:creationId xmlns:a16="http://schemas.microsoft.com/office/drawing/2014/main" id="{CC88E198-04A3-4A9A-B3D4-94BEEAA5F3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48503F9-E3E5-45C7-A2C2-D95FFE2B6F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77B87E-E8BB-48FA-B8A3-D850F8409552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502786" name="Rectangle 2">
            <a:extLst>
              <a:ext uri="{FF2B5EF4-FFF2-40B4-BE49-F238E27FC236}">
                <a16:creationId xmlns:a16="http://schemas.microsoft.com/office/drawing/2014/main" id="{A33D9ADE-5E1A-4DC1-9DA8-E73B1252A8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>
            <a:extLst>
              <a:ext uri="{FF2B5EF4-FFF2-40B4-BE49-F238E27FC236}">
                <a16:creationId xmlns:a16="http://schemas.microsoft.com/office/drawing/2014/main" id="{A2FDE428-A944-4C07-B6A9-749FED3507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EC163A2-1A1A-4C1C-B947-710424A028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860552-7E3E-4529-977D-B5C3D9D5ECED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504834" name="Rectangle 2">
            <a:extLst>
              <a:ext uri="{FF2B5EF4-FFF2-40B4-BE49-F238E27FC236}">
                <a16:creationId xmlns:a16="http://schemas.microsoft.com/office/drawing/2014/main" id="{128CEE39-903E-4653-A620-2FB6EDBBA1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4835" name="Rectangle 3">
            <a:extLst>
              <a:ext uri="{FF2B5EF4-FFF2-40B4-BE49-F238E27FC236}">
                <a16:creationId xmlns:a16="http://schemas.microsoft.com/office/drawing/2014/main" id="{86FC36A0-4B1F-4FEB-B075-2D28F7CC7E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4E267F5-C9D9-4A4F-BC05-A728EB4898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43990A-205D-45C9-BEC6-751347E5950F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506882" name="Rectangle 2">
            <a:extLst>
              <a:ext uri="{FF2B5EF4-FFF2-40B4-BE49-F238E27FC236}">
                <a16:creationId xmlns:a16="http://schemas.microsoft.com/office/drawing/2014/main" id="{01D20042-8F5D-49E5-8FA5-82EF1C3100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6883" name="Rectangle 3">
            <a:extLst>
              <a:ext uri="{FF2B5EF4-FFF2-40B4-BE49-F238E27FC236}">
                <a16:creationId xmlns:a16="http://schemas.microsoft.com/office/drawing/2014/main" id="{9070B9EB-1881-4408-9DE6-A3B46ECFA7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8AE92DE-1C34-487B-B994-C947959600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7D5BCD-217B-4601-96D2-2B473A8C1949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564226" name="Rectangle 2">
            <a:extLst>
              <a:ext uri="{FF2B5EF4-FFF2-40B4-BE49-F238E27FC236}">
                <a16:creationId xmlns:a16="http://schemas.microsoft.com/office/drawing/2014/main" id="{7E56FF93-4EEA-422A-8D12-2D6AC47E06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4227" name="Rectangle 3">
            <a:extLst>
              <a:ext uri="{FF2B5EF4-FFF2-40B4-BE49-F238E27FC236}">
                <a16:creationId xmlns:a16="http://schemas.microsoft.com/office/drawing/2014/main" id="{A6C926CE-BBAA-4F31-86FE-1AECA1056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23" name="Rectangle 7">
            <a:extLst>
              <a:ext uri="{FF2B5EF4-FFF2-40B4-BE49-F238E27FC236}">
                <a16:creationId xmlns:a16="http://schemas.microsoft.com/office/drawing/2014/main" id="{C1069965-8CCF-40AF-BEEC-BD84F5CEDAF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61913" y="6453188"/>
            <a:ext cx="2133600" cy="288925"/>
          </a:xfrm>
        </p:spPr>
        <p:txBody>
          <a:bodyPr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44424" name="Rectangle 8">
            <a:extLst>
              <a:ext uri="{FF2B5EF4-FFF2-40B4-BE49-F238E27FC236}">
                <a16:creationId xmlns:a16="http://schemas.microsoft.com/office/drawing/2014/main" id="{D9479681-A5F8-4BDE-A494-B37E2D9176F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3124200" y="6477000"/>
            <a:ext cx="2895600" cy="244475"/>
          </a:xfrm>
        </p:spPr>
        <p:txBody>
          <a:bodyPr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44425" name="Rectangle 9">
            <a:extLst>
              <a:ext uri="{FF2B5EF4-FFF2-40B4-BE49-F238E27FC236}">
                <a16:creationId xmlns:a16="http://schemas.microsoft.com/office/drawing/2014/main" id="{AC1B3D39-1AC4-4022-810B-9EEF79BF562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6588125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fld id="{9A2FB4CC-1D85-40C7-8373-E7E0E0ED45F9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444440" name="Rectangle 24">
            <a:extLst>
              <a:ext uri="{FF2B5EF4-FFF2-40B4-BE49-F238E27FC236}">
                <a16:creationId xmlns:a16="http://schemas.microsoft.com/office/drawing/2014/main" id="{D3DA82A2-685B-42D0-B1BB-0C39902343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288" y="1557338"/>
            <a:ext cx="8569325" cy="1041400"/>
          </a:xfrm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4800">
                <a:solidFill>
                  <a:schemeClr val="tx2"/>
                </a:solidFill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grpSp>
        <p:nvGrpSpPr>
          <p:cNvPr id="444441" name="Group 25">
            <a:extLst>
              <a:ext uri="{FF2B5EF4-FFF2-40B4-BE49-F238E27FC236}">
                <a16:creationId xmlns:a16="http://schemas.microsoft.com/office/drawing/2014/main" id="{E9D19554-4E08-4B82-A62F-2D3DF91D72C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938" y="1773238"/>
            <a:ext cx="9009062" cy="1052512"/>
            <a:chOff x="0" y="1536"/>
            <a:chExt cx="5675" cy="663"/>
          </a:xfrm>
        </p:grpSpPr>
        <p:grpSp>
          <p:nvGrpSpPr>
            <p:cNvPr id="444442" name="Group 26">
              <a:extLst>
                <a:ext uri="{FF2B5EF4-FFF2-40B4-BE49-F238E27FC236}">
                  <a16:creationId xmlns:a16="http://schemas.microsoft.com/office/drawing/2014/main" id="{9E2CF8AA-EC7B-452C-97AD-26EE213E59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44443" name="Rectangle 27">
                <a:extLst>
                  <a:ext uri="{FF2B5EF4-FFF2-40B4-BE49-F238E27FC236}">
                    <a16:creationId xmlns:a16="http://schemas.microsoft.com/office/drawing/2014/main" id="{DC0E2A04-7F62-4430-AB8B-E189EAF803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4444" name="Rectangle 28">
                <a:extLst>
                  <a:ext uri="{FF2B5EF4-FFF2-40B4-BE49-F238E27FC236}">
                    <a16:creationId xmlns:a16="http://schemas.microsoft.com/office/drawing/2014/main" id="{BEE22B20-609E-4850-AD6F-13D9015596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4445" name="Group 29">
              <a:extLst>
                <a:ext uri="{FF2B5EF4-FFF2-40B4-BE49-F238E27FC236}">
                  <a16:creationId xmlns:a16="http://schemas.microsoft.com/office/drawing/2014/main" id="{BFF99D6F-625C-4F59-85F3-20D8A9CC1C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44446" name="Rectangle 30">
                <a:extLst>
                  <a:ext uri="{FF2B5EF4-FFF2-40B4-BE49-F238E27FC236}">
                    <a16:creationId xmlns:a16="http://schemas.microsoft.com/office/drawing/2014/main" id="{F9959E13-41F6-446A-B820-D5D15FB08B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rgbClr val="FFCF0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4447" name="Rectangle 31">
                <a:extLst>
                  <a:ext uri="{FF2B5EF4-FFF2-40B4-BE49-F238E27FC236}">
                    <a16:creationId xmlns:a16="http://schemas.microsoft.com/office/drawing/2014/main" id="{96C493E6-B35B-4C64-87BC-F4FAE67223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rgbClr val="FFCF01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4448" name="Rectangle 32">
              <a:extLst>
                <a:ext uri="{FF2B5EF4-FFF2-40B4-BE49-F238E27FC236}">
                  <a16:creationId xmlns:a16="http://schemas.microsoft.com/office/drawing/2014/main" id="{DE9F3056-C55E-4D87-B188-AD7E18C4B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4449" name="Rectangle 33">
              <a:extLst>
                <a:ext uri="{FF2B5EF4-FFF2-40B4-BE49-F238E27FC236}">
                  <a16:creationId xmlns:a16="http://schemas.microsoft.com/office/drawing/2014/main" id="{68635751-3585-4CD0-9F9D-EC9EC45FB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1C1C1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4450" name="Rectangle 34">
              <a:extLst>
                <a:ext uri="{FF2B5EF4-FFF2-40B4-BE49-F238E27FC236}">
                  <a16:creationId xmlns:a16="http://schemas.microsoft.com/office/drawing/2014/main" id="{C80C2995-A7D9-430A-98EB-2302AD94340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444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4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658898-3DF4-45FD-91C5-608976ED0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170CF5-9866-40FC-BE85-E0D4B4005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F14867-E8B1-4B70-A363-8A09D08B8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62AAAC-8182-4F27-9E7F-AFF9A4EF2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AF1ED1-668E-4150-9CD6-AC4984E59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081748-688F-4F65-A138-BA081DE9D40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2387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B9B07-5B89-4416-BC26-E40F081C9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AAE3A4-6B46-4E73-A66D-4AB4ADB5E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B9FB0E-A0E7-4535-8755-C34AA9A7D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401329-7780-46D8-872E-258B322E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F0E356-00B8-4A0F-B960-181BF3252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54D0DF-FF90-45E4-A5D4-7387DF84EFA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8325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665D0E-37FF-4BEA-9E77-3FA98B5FA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DD36D1-2CB7-4B69-AE60-6CD3B91D87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4350" y="1295400"/>
            <a:ext cx="4040188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D424CA-BD2D-4B56-8D48-7FBB63AC1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6938" y="1295400"/>
            <a:ext cx="4041775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F80994-A927-4BE5-9515-6D01EDE4D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2C226D-6F40-449A-8FD1-E8B1C0B9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0E726E-685B-4B89-B5D6-4508719F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A8B881-A17F-420A-BB84-D6814AF9D53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596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87CCB-79DD-4F11-87C5-2E69D235B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1A07C0-D428-4998-B7C3-E727BCBA5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5319B9-0AC9-49FB-AE66-29B69C25E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AFCDC0C-3A3C-42E5-A3C0-68399AE87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82C19C-E3C3-41D6-9D24-795EB6C204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FF693DD-8F6E-477D-A84B-A5DB0142D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7B50FAA-6F5E-4DEB-888B-5405B64E6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FAC838-B47E-4DD6-9B13-4A9B95FA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4EDEDE-A31C-46FD-9CE9-4B334552798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2009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5FBD6-2EDE-4D28-8275-FF1C01573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3FCB46-1669-4A28-B3D2-753B8B015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A8B5BB-97DC-4DFF-BC95-4EC246C53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9EA977-C8E4-4AF4-B0AF-D1E8DA93B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258AA3-6513-491D-9704-89EAB75EB68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760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1284F5-A500-4016-83D1-BCF850C10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D1B31B-0EEC-457A-B8D8-431776C5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38A69C-4791-4688-A108-98BC76BD3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0BD4EE-D0B4-4D7E-8923-E1C7BACC94E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1855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06149D-362B-4DC9-B50F-10EBE4A00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37057F-6FD0-494C-B37A-8DFCEA84E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854251-F702-42CF-A9EE-A4518DF9A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64502A-845C-4B81-9DF7-3E393A111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A1C69C-62C2-4C5D-8644-B2C19FD05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4F80B6-5EBA-4A04-B93B-4A8DFF4D3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C2ECE2-8159-4B1E-A860-853C096B8E9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2336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CBF922-88E5-458E-A774-AC8E36D06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0729F75-97DB-49BC-BB29-F65F4ADAAF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22EEAD-4297-4CCC-936C-B8B3C0B76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336322-983D-42E7-81A2-A7A2A3524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022239-5C3B-40C4-B59B-1DA3E904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11DD1D-ECF0-4D5C-969B-5D245FA6E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4AA4FE-C558-401E-8C36-52915C602F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2165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064AD-AA88-4BC8-95C5-DEBCF155C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1873E4-CD45-4F39-936F-D6957EAFB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D2037F-43ED-4FD4-BDD4-32FBF94EC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36DFB-D383-4181-9095-9557AB80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365D6B-2E41-465F-9F38-CDCE60064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84D284-6197-4323-9FFC-011D70F7543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7808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CC0AB46-05C8-4F90-88DE-AF1AFD710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99250" y="71438"/>
            <a:ext cx="2060575" cy="61769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59DA7E-541E-4D9F-B966-3998A61E5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4350" y="71438"/>
            <a:ext cx="6032500" cy="61769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0F4563-CBDA-4607-BBD4-1ADFC2CD1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169BA6-B9D5-4457-A084-E48CFED30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A31921-3CEA-47A6-8290-882F9AD5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0AF003-02E0-47A1-BEED-385A5CC8DBE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165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6" name="Rectangle 4">
            <a:extLst>
              <a:ext uri="{FF2B5EF4-FFF2-40B4-BE49-F238E27FC236}">
                <a16:creationId xmlns:a16="http://schemas.microsoft.com/office/drawing/2014/main" id="{22CCD371-C69E-4DE0-9A2D-92FA6EE807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1295400"/>
            <a:ext cx="8234363" cy="49530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43402" name="Rectangle 10">
            <a:extLst>
              <a:ext uri="{FF2B5EF4-FFF2-40B4-BE49-F238E27FC236}">
                <a16:creationId xmlns:a16="http://schemas.microsoft.com/office/drawing/2014/main" id="{362E44CE-A348-42DF-A1C4-385D4494290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00800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43403" name="Rectangle 11">
            <a:extLst>
              <a:ext uri="{FF2B5EF4-FFF2-40B4-BE49-F238E27FC236}">
                <a16:creationId xmlns:a16="http://schemas.microsoft.com/office/drawing/2014/main" id="{6A8910F1-5D74-4941-96D9-B4BFAB2A609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43404" name="Rectangle 12">
            <a:extLst>
              <a:ext uri="{FF2B5EF4-FFF2-40B4-BE49-F238E27FC236}">
                <a16:creationId xmlns:a16="http://schemas.microsoft.com/office/drawing/2014/main" id="{1962CC15-0D60-405C-A688-184D0C3C11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5475" y="64928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FCA90DE3-82A5-40EC-9564-3C72DB62A413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443405" name="Rectangle 13">
            <a:extLst>
              <a:ext uri="{FF2B5EF4-FFF2-40B4-BE49-F238E27FC236}">
                <a16:creationId xmlns:a16="http://schemas.microsoft.com/office/drawing/2014/main" id="{9365722A-B80D-4BE8-98A5-D717CED3D7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1547813" y="71438"/>
            <a:ext cx="7212012" cy="8366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43407" name="Rectangle 15">
            <a:extLst>
              <a:ext uri="{FF2B5EF4-FFF2-40B4-BE49-F238E27FC236}">
                <a16:creationId xmlns:a16="http://schemas.microsoft.com/office/drawing/2014/main" id="{34257247-273B-47D1-B331-3F6A7843A61C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08" name="Rectangle 16">
            <a:extLst>
              <a:ext uri="{FF2B5EF4-FFF2-40B4-BE49-F238E27FC236}">
                <a16:creationId xmlns:a16="http://schemas.microsoft.com/office/drawing/2014/main" id="{1C3A54A3-C0BF-4326-A572-A8063688E45C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09" name="Rectangle 17">
            <a:extLst>
              <a:ext uri="{FF2B5EF4-FFF2-40B4-BE49-F238E27FC236}">
                <a16:creationId xmlns:a16="http://schemas.microsoft.com/office/drawing/2014/main" id="{1685A62B-45DE-4DAB-B29E-BD8FD5099D92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rgbClr val="33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10" name="Rectangle 18">
            <a:extLst>
              <a:ext uri="{FF2B5EF4-FFF2-40B4-BE49-F238E27FC236}">
                <a16:creationId xmlns:a16="http://schemas.microsoft.com/office/drawing/2014/main" id="{6A6A80F3-3BE1-4F20-8983-116B5BBB5EA6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11" name="Rectangle 19">
            <a:extLst>
              <a:ext uri="{FF2B5EF4-FFF2-40B4-BE49-F238E27FC236}">
                <a16:creationId xmlns:a16="http://schemas.microsoft.com/office/drawing/2014/main" id="{0BCD779F-CAFB-4F77-AA20-FC68C9FDDF01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13" name="Rectangle 21">
            <a:extLst>
              <a:ext uri="{FF2B5EF4-FFF2-40B4-BE49-F238E27FC236}">
                <a16:creationId xmlns:a16="http://schemas.microsoft.com/office/drawing/2014/main" id="{E47463C2-E172-437A-A235-D6144D60A539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42913" y="908050"/>
            <a:ext cx="8226425" cy="31750"/>
          </a:xfrm>
          <a:prstGeom prst="rect">
            <a:avLst/>
          </a:prstGeom>
          <a:gradFill rotWithShape="0">
            <a:gsLst>
              <a:gs pos="0">
                <a:srgbClr val="1C1C1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3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43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43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43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433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6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rgbClr val="333399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009900"/>
        </a:buClr>
        <a:buSzPct val="70000"/>
        <a:buFont typeface="Wingdings" panose="05000000000000000000" pitchFamily="2" charset="2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009900"/>
        </a:buClr>
        <a:buSzPct val="70000"/>
        <a:buFont typeface="Wingdings" panose="05000000000000000000" pitchFamily="2" charset="2"/>
        <a:buChar char="u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A23CBC04-E283-419C-BDEC-5D1A1B78B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2FB24-7FBA-4698-BBB1-A20B85D701AE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491522" name="Text Box 2">
            <a:extLst>
              <a:ext uri="{FF2B5EF4-FFF2-40B4-BE49-F238E27FC236}">
                <a16:creationId xmlns:a16="http://schemas.microsoft.com/office/drawing/2014/main" id="{A7CA1D18-ECD4-41D8-A2E2-64E03E9C4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4629150"/>
            <a:ext cx="3511550" cy="10318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b="1">
                <a:latin typeface="楷体_GB2312" pitchFamily="49" charset="-122"/>
              </a:rPr>
              <a:t>① </a:t>
            </a:r>
            <a:r>
              <a:rPr lang="zh-CN" altLang="en-US" sz="2800" b="1">
                <a:latin typeface="楷体_GB2312" pitchFamily="49" charset="-122"/>
              </a:rPr>
              <a:t>集合元素</a:t>
            </a:r>
          </a:p>
          <a:p>
            <a:pPr>
              <a:spcBef>
                <a:spcPct val="20000"/>
              </a:spcBef>
            </a:pPr>
            <a:r>
              <a:rPr lang="en-US" altLang="zh-CN" sz="2800" b="1">
                <a:latin typeface="楷体_GB2312" pitchFamily="49" charset="-122"/>
              </a:rPr>
              <a:t>② </a:t>
            </a:r>
            <a:r>
              <a:rPr lang="zh-CN" altLang="en-US" sz="2800" b="1">
                <a:latin typeface="楷体_GB2312" pitchFamily="49" charset="-122"/>
              </a:rPr>
              <a:t>符合条件</a:t>
            </a:r>
          </a:p>
        </p:txBody>
      </p:sp>
      <p:grpSp>
        <p:nvGrpSpPr>
          <p:cNvPr id="491523" name="Group 3">
            <a:extLst>
              <a:ext uri="{FF2B5EF4-FFF2-40B4-BE49-F238E27FC236}">
                <a16:creationId xmlns:a16="http://schemas.microsoft.com/office/drawing/2014/main" id="{5029899E-6BA0-4B37-BDA6-C07A6DDAB31E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4652963"/>
            <a:ext cx="2513012" cy="863600"/>
            <a:chOff x="793" y="2931"/>
            <a:chExt cx="1583" cy="544"/>
          </a:xfrm>
        </p:grpSpPr>
        <p:sp>
          <p:nvSpPr>
            <p:cNvPr id="491524" name="AutoShape 4">
              <a:extLst>
                <a:ext uri="{FF2B5EF4-FFF2-40B4-BE49-F238E27FC236}">
                  <a16:creationId xmlns:a16="http://schemas.microsoft.com/office/drawing/2014/main" id="{87336CD4-8F06-42CB-BEB1-D4181DD71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2931"/>
              <a:ext cx="816" cy="544"/>
            </a:xfrm>
            <a:prstGeom prst="wave">
              <a:avLst>
                <a:gd name="adj1" fmla="val 13005"/>
                <a:gd name="adj2" fmla="val 0"/>
              </a:avLst>
            </a:prstGeom>
            <a:solidFill>
              <a:srgbClr val="CCFFCC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3882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3200" b="1">
                  <a:solidFill>
                    <a:srgbClr val="003399"/>
                  </a:solidFill>
                  <a:ea typeface="隶书" panose="02010509060101010101" pitchFamily="49" charset="-122"/>
                </a:rPr>
                <a:t>对比</a:t>
              </a:r>
            </a:p>
          </p:txBody>
        </p:sp>
        <p:sp>
          <p:nvSpPr>
            <p:cNvPr id="491525" name="Text Box 5">
              <a:extLst>
                <a:ext uri="{FF2B5EF4-FFF2-40B4-BE49-F238E27FC236}">
                  <a16:creationId xmlns:a16="http://schemas.microsoft.com/office/drawing/2014/main" id="{30186D33-2671-4AC7-BAC9-878F84306C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3067"/>
              <a:ext cx="72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2800" b="1" baseline="3000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+</a:t>
              </a:r>
              <a:r>
                <a:rPr lang="zh-CN" altLang="en-US" sz="28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sz="28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800" b="1" baseline="3000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+</a:t>
              </a:r>
              <a:endParaRPr lang="zh-CN" altLang="en-US" sz="28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91526" name="Rectangle 6">
            <a:extLst>
              <a:ext uri="{FF2B5EF4-FFF2-40B4-BE49-F238E27FC236}">
                <a16:creationId xmlns:a16="http://schemas.microsoft.com/office/drawing/2014/main" id="{03941082-5D54-4833-982A-484A05568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</a:t>
            </a:r>
            <a:r>
              <a:rPr lang="en-US" altLang="zh-CN"/>
              <a:t>X</a:t>
            </a:r>
            <a:r>
              <a:rPr lang="zh-CN" altLang="en-US"/>
              <a:t>关于</a:t>
            </a:r>
            <a:r>
              <a:rPr lang="en-US" altLang="zh-CN"/>
              <a:t>F</a:t>
            </a:r>
            <a:r>
              <a:rPr lang="zh-CN" altLang="en-US"/>
              <a:t>的闭包及其计算</a:t>
            </a:r>
          </a:p>
        </p:txBody>
      </p:sp>
      <p:sp>
        <p:nvSpPr>
          <p:cNvPr id="491527" name="Rectangle 7">
            <a:extLst>
              <a:ext uri="{FF2B5EF4-FFF2-40B4-BE49-F238E27FC236}">
                <a16:creationId xmlns:a16="http://schemas.microsoft.com/office/drawing/2014/main" id="{60920B54-CF06-4FEA-9AD7-017F11806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latin typeface="楷体_GB2312" pitchFamily="49" charset="-122"/>
              </a:rPr>
              <a:t>1</a:t>
            </a:r>
            <a:r>
              <a:rPr lang="zh-CN" altLang="en-US">
                <a:latin typeface="楷体_GB2312" pitchFamily="49" charset="-122"/>
              </a:rPr>
              <a:t>、定义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 设有关系模式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R(U,F)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和属性集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U={A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}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的子集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aseline="30000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={A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|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用公理从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推出的</a:t>
            </a:r>
            <a:r>
              <a:rPr lang="en-US" altLang="zh-CN">
                <a:solidFill>
                  <a:srgbClr val="A50021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→A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}</a:t>
            </a:r>
            <a:endParaRPr lang="zh-CN" altLang="en-US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简记为</a:t>
            </a:r>
            <a:r>
              <a:rPr lang="en-US" altLang="zh-CN">
                <a:solidFill>
                  <a:srgbClr val="990033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>
                <a:solidFill>
                  <a:srgbClr val="990033"/>
                </a:solidFill>
                <a:latin typeface="楷体_GB2312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5627"/>
    </mc:Choice>
    <mc:Fallback xmlns="">
      <p:transition spd="slow" advTm="1556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915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915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915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915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91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91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91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91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2" grpId="0" build="p"/>
      <p:bldP spid="49152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7656AFD-1B8E-4B79-92A8-F6473725F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CD320-CBC7-46D3-B91A-0D0FAF74F853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530438" name="Rectangle 6">
            <a:extLst>
              <a:ext uri="{FF2B5EF4-FFF2-40B4-BE49-F238E27FC236}">
                <a16:creationId xmlns:a16="http://schemas.microsoft.com/office/drawing/2014/main" id="{07C69C83-92B8-492C-9D8B-A5DDB67DE3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</a:t>
            </a:r>
            <a:r>
              <a:rPr lang="en-US" altLang="zh-CN"/>
              <a:t>X</a:t>
            </a:r>
            <a:r>
              <a:rPr lang="zh-CN" altLang="en-US"/>
              <a:t>关于</a:t>
            </a:r>
            <a:r>
              <a:rPr lang="en-US" altLang="zh-CN"/>
              <a:t>F</a:t>
            </a:r>
            <a:r>
              <a:rPr lang="zh-CN" altLang="en-US"/>
              <a:t>的闭包及其计算</a:t>
            </a:r>
          </a:p>
        </p:txBody>
      </p:sp>
      <p:sp>
        <p:nvSpPr>
          <p:cNvPr id="530439" name="Rectangle 7">
            <a:extLst>
              <a:ext uri="{FF2B5EF4-FFF2-40B4-BE49-F238E27FC236}">
                <a16:creationId xmlns:a16="http://schemas.microsoft.com/office/drawing/2014/main" id="{F088F2D0-8270-42A4-A0A9-9227965C70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 dirty="0">
                <a:latin typeface="楷体_GB2312" pitchFamily="49" charset="-122"/>
              </a:rPr>
              <a:t>1</a:t>
            </a:r>
            <a:r>
              <a:rPr lang="zh-CN" altLang="en-US" dirty="0">
                <a:latin typeface="楷体_GB2312" pitchFamily="49" charset="-122"/>
              </a:rPr>
              <a:t>、定义</a:t>
            </a: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i="1" dirty="0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：已知关系模式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R(A,B,C)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，其函数依赖集为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F={A→B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B→C}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，求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分别等于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时的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</a:t>
            </a: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解：</a:t>
            </a: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= 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B</a:t>
            </a:r>
            <a:r>
              <a:rPr lang="en-US" altLang="zh-CN" baseline="30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=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C</a:t>
            </a:r>
            <a:r>
              <a:rPr lang="en-US" altLang="zh-CN" baseline="30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=</a:t>
            </a:r>
            <a:endParaRPr lang="zh-CN" altLang="en-US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0440" name="Text Box 8">
            <a:extLst>
              <a:ext uri="{FF2B5EF4-FFF2-40B4-BE49-F238E27FC236}">
                <a16:creationId xmlns:a16="http://schemas.microsoft.com/office/drawing/2014/main" id="{E2B3BCD2-7174-4AAF-929F-7D49A7C75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474" y="4141959"/>
            <a:ext cx="722313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楷体_GB2312" pitchFamily="49" charset="-122"/>
              </a:rPr>
              <a:t>ABC</a:t>
            </a:r>
          </a:p>
        </p:txBody>
      </p:sp>
      <p:sp>
        <p:nvSpPr>
          <p:cNvPr id="530441" name="Text Box 9">
            <a:extLst>
              <a:ext uri="{FF2B5EF4-FFF2-40B4-BE49-F238E27FC236}">
                <a16:creationId xmlns:a16="http://schemas.microsoft.com/office/drawing/2014/main" id="{F70ECF0D-CBD7-4F4F-B998-7DFF4E857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9295" y="4757587"/>
            <a:ext cx="542925" cy="5191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楷体_GB2312" pitchFamily="49" charset="-122"/>
              </a:rPr>
              <a:t>BC</a:t>
            </a:r>
          </a:p>
        </p:txBody>
      </p:sp>
      <p:sp>
        <p:nvSpPr>
          <p:cNvPr id="530442" name="Text Box 10">
            <a:extLst>
              <a:ext uri="{FF2B5EF4-FFF2-40B4-BE49-F238E27FC236}">
                <a16:creationId xmlns:a16="http://schemas.microsoft.com/office/drawing/2014/main" id="{16C7D0A0-BED6-4C98-A4B0-30BEFC060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0646" y="5373216"/>
            <a:ext cx="363538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楷体_GB2312" pitchFamily="49" charset="-122"/>
              </a:rPr>
              <a:t>C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649"/>
    </mc:Choice>
    <mc:Fallback xmlns="">
      <p:transition spd="slow" advTm="896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304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30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304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0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304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0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5304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0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439" grpId="0" uiExpand="1" build="p"/>
      <p:bldP spid="530440" grpId="0"/>
      <p:bldP spid="530441" grpId="0"/>
      <p:bldP spid="5304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8CED8638-4FFE-4426-97E0-42853C48A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6F9E1-8166-402F-B771-10599A814C6C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493570" name="AutoShape 2">
            <a:extLst>
              <a:ext uri="{FF2B5EF4-FFF2-40B4-BE49-F238E27FC236}">
                <a16:creationId xmlns:a16="http://schemas.microsoft.com/office/drawing/2014/main" id="{3FC4C48F-3FC4-44C1-A441-693C844CB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528763"/>
            <a:ext cx="215900" cy="215900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12700" cap="sq">
            <a:solidFill>
              <a:srgbClr val="FF9900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3571" name="Rectangle 3">
            <a:extLst>
              <a:ext uri="{FF2B5EF4-FFF2-40B4-BE49-F238E27FC236}">
                <a16:creationId xmlns:a16="http://schemas.microsoft.com/office/drawing/2014/main" id="{08AAF644-FC6C-4D94-A9E4-89FDDAF047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</a:t>
            </a:r>
            <a:r>
              <a:rPr lang="en-US" altLang="zh-CN"/>
              <a:t>X</a:t>
            </a:r>
            <a:r>
              <a:rPr lang="zh-CN" altLang="en-US"/>
              <a:t>关于</a:t>
            </a:r>
            <a:r>
              <a:rPr lang="en-US" altLang="zh-CN"/>
              <a:t>F</a:t>
            </a:r>
            <a:r>
              <a:rPr lang="zh-CN" altLang="en-US"/>
              <a:t>的闭包及其计算</a:t>
            </a:r>
          </a:p>
        </p:txBody>
      </p:sp>
      <p:sp>
        <p:nvSpPr>
          <p:cNvPr id="493572" name="Rectangle 4">
            <a:extLst>
              <a:ext uri="{FF2B5EF4-FFF2-40B4-BE49-F238E27FC236}">
                <a16:creationId xmlns:a16="http://schemas.microsoft.com/office/drawing/2014/main" id="{2CE170E4-9B98-4CA9-B0C6-ACA3AE6D09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>
                <a:solidFill>
                  <a:srgbClr val="FF3300"/>
                </a:solidFill>
                <a:latin typeface="楷体_GB2312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>
                <a:solidFill>
                  <a:srgbClr val="FF3300"/>
                </a:solidFill>
                <a:latin typeface="楷体_GB2312" pitchFamily="49" charset="-122"/>
                <a:cs typeface="Times New Roman" panose="02020603050405020304" pitchFamily="18" charset="0"/>
              </a:rPr>
              <a:t>6.3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 设有关系模式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R(U,F)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属性集U={A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}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的子集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Y，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则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能用阿姆斯特朗公理从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导出</a:t>
            </a:r>
            <a:r>
              <a:rPr lang="zh-CN" altLang="en-US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baseline="30000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951"/>
    </mc:Choice>
    <mc:Fallback xmlns="">
      <p:transition spd="slow" advTm="1089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93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93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93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93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93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B65345-0544-46E1-9659-8C68A678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26E01-D722-40D1-8AEC-717D3CF6F413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519170" name="AutoShape 2">
            <a:extLst>
              <a:ext uri="{FF2B5EF4-FFF2-40B4-BE49-F238E27FC236}">
                <a16:creationId xmlns:a16="http://schemas.microsoft.com/office/drawing/2014/main" id="{CB79FF33-61CF-44FC-8418-D26C88E25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528763"/>
            <a:ext cx="215900" cy="215900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12700" cap="sq">
            <a:solidFill>
              <a:srgbClr val="FF9900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9171" name="Rectangle 3">
            <a:extLst>
              <a:ext uri="{FF2B5EF4-FFF2-40B4-BE49-F238E27FC236}">
                <a16:creationId xmlns:a16="http://schemas.microsoft.com/office/drawing/2014/main" id="{92444AA4-FF2D-4D24-803E-12995BC4C9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</a:t>
            </a:r>
            <a:r>
              <a:rPr lang="en-US" altLang="zh-CN"/>
              <a:t>X</a:t>
            </a:r>
            <a:r>
              <a:rPr lang="zh-CN" altLang="en-US"/>
              <a:t>关于</a:t>
            </a:r>
            <a:r>
              <a:rPr lang="en-US" altLang="zh-CN"/>
              <a:t>F</a:t>
            </a:r>
            <a:r>
              <a:rPr lang="zh-CN" altLang="en-US"/>
              <a:t>的闭包及其计算</a:t>
            </a:r>
          </a:p>
        </p:txBody>
      </p:sp>
      <p:sp>
        <p:nvSpPr>
          <p:cNvPr id="519172" name="Rectangle 4">
            <a:extLst>
              <a:ext uri="{FF2B5EF4-FFF2-40B4-BE49-F238E27FC236}">
                <a16:creationId xmlns:a16="http://schemas.microsoft.com/office/drawing/2014/main" id="{D612732C-3E58-433D-A719-9B1391919D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>
                <a:solidFill>
                  <a:srgbClr val="FF3300"/>
                </a:solidFill>
                <a:latin typeface="楷体_GB2312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>
                <a:solidFill>
                  <a:srgbClr val="FF3300"/>
                </a:solidFill>
                <a:latin typeface="楷体_GB2312" pitchFamily="49" charset="-122"/>
                <a:cs typeface="Times New Roman" panose="02020603050405020304" pitchFamily="18" charset="0"/>
              </a:rPr>
              <a:t>6.3</a:t>
            </a:r>
          </a:p>
          <a:p>
            <a:pPr algn="just"/>
            <a:r>
              <a:rPr lang="en-US" altLang="zh-CN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    X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能用阿姆斯特朗公理从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导出</a:t>
            </a:r>
            <a:r>
              <a:rPr lang="zh-CN" altLang="en-US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baseline="30000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</a:t>
            </a:r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519175" name="Rectangle 7">
            <a:extLst>
              <a:ext uri="{FF2B5EF4-FFF2-40B4-BE49-F238E27FC236}">
                <a16:creationId xmlns:a16="http://schemas.microsoft.com/office/drawing/2014/main" id="{FE7BA420-F947-4459-9C64-88EA6BEF7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636838"/>
            <a:ext cx="8064500" cy="3455987"/>
          </a:xfrm>
          <a:prstGeom prst="rect">
            <a:avLst/>
          </a:prstGeom>
          <a:gradFill rotWithShape="1">
            <a:gsLst>
              <a:gs pos="0">
                <a:srgbClr val="FFCC99"/>
              </a:gs>
              <a:gs pos="50000">
                <a:schemeClr val="bg1"/>
              </a:gs>
              <a:gs pos="100000">
                <a:srgbClr val="FFCC99"/>
              </a:gs>
            </a:gsLst>
            <a:lin ang="270000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证明：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  ①充分性</a:t>
            </a: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</a:t>
            </a:r>
            <a:endParaRPr lang="zh-CN" altLang="en-US" sz="24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 baseline="30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，设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Y=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…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sz="2400" b="1" baseline="-30000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∈U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=j,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…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,m)</a:t>
            </a: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 baseline="30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定义：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=j,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…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,m)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即对于每一个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， 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能由公理从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导出。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由合并规则有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…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，即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891"/>
    </mc:Choice>
    <mc:Fallback xmlns="">
      <p:transition spd="slow" advTm="1138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9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9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9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9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91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91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74CE5E-6A1F-4000-B37A-2F16D557B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E064F-B0EE-4DDA-A77F-53CB6078A72E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521218" name="AutoShape 2">
            <a:extLst>
              <a:ext uri="{FF2B5EF4-FFF2-40B4-BE49-F238E27FC236}">
                <a16:creationId xmlns:a16="http://schemas.microsoft.com/office/drawing/2014/main" id="{7CC8B2D0-FEC6-412F-BF67-ACEB883E2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528763"/>
            <a:ext cx="215900" cy="215900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12700" cap="sq">
            <a:solidFill>
              <a:srgbClr val="FF9900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E743D328-5E81-4104-BEDA-F0733A8C8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</a:t>
            </a:r>
            <a:r>
              <a:rPr lang="en-US" altLang="zh-CN"/>
              <a:t>X</a:t>
            </a:r>
            <a:r>
              <a:rPr lang="zh-CN" altLang="en-US"/>
              <a:t>关于</a:t>
            </a:r>
            <a:r>
              <a:rPr lang="en-US" altLang="zh-CN"/>
              <a:t>F</a:t>
            </a:r>
            <a:r>
              <a:rPr lang="zh-CN" altLang="en-US"/>
              <a:t>的闭包及其计算</a:t>
            </a:r>
          </a:p>
        </p:txBody>
      </p:sp>
      <p:sp>
        <p:nvSpPr>
          <p:cNvPr id="521220" name="Rectangle 4">
            <a:extLst>
              <a:ext uri="{FF2B5EF4-FFF2-40B4-BE49-F238E27FC236}">
                <a16:creationId xmlns:a16="http://schemas.microsoft.com/office/drawing/2014/main" id="{788933C1-BFD2-4962-9DED-324FC06E5B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>
                <a:solidFill>
                  <a:srgbClr val="FF3300"/>
                </a:solidFill>
                <a:latin typeface="楷体_GB2312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>
                <a:solidFill>
                  <a:srgbClr val="FF3300"/>
                </a:solidFill>
                <a:latin typeface="楷体_GB2312" pitchFamily="49" charset="-122"/>
                <a:cs typeface="Times New Roman" panose="02020603050405020304" pitchFamily="18" charset="0"/>
              </a:rPr>
              <a:t>6.3</a:t>
            </a:r>
          </a:p>
          <a:p>
            <a:pPr algn="just"/>
            <a:r>
              <a:rPr lang="en-US" altLang="zh-CN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    X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能用阿姆斯特朗公理从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导出</a:t>
            </a:r>
            <a:r>
              <a:rPr lang="zh-CN" altLang="en-US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baseline="30000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</a:t>
            </a:r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521221" name="Rectangle 5">
            <a:extLst>
              <a:ext uri="{FF2B5EF4-FFF2-40B4-BE49-F238E27FC236}">
                <a16:creationId xmlns:a16="http://schemas.microsoft.com/office/drawing/2014/main" id="{555DF154-EB96-46F6-AC21-A6A46AC85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636838"/>
            <a:ext cx="8064500" cy="3455987"/>
          </a:xfrm>
          <a:prstGeom prst="rect">
            <a:avLst/>
          </a:prstGeom>
          <a:gradFill rotWithShape="1">
            <a:gsLst>
              <a:gs pos="0">
                <a:srgbClr val="FFCC99"/>
              </a:gs>
              <a:gs pos="50000">
                <a:schemeClr val="bg1"/>
              </a:gs>
              <a:gs pos="100000">
                <a:srgbClr val="FFCC99"/>
              </a:gs>
            </a:gsLst>
            <a:lin ang="270000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证明：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  ②必要性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endParaRPr lang="zh-CN" altLang="en-US" sz="24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成立，设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Y=A</a:t>
            </a:r>
            <a:r>
              <a:rPr lang="en-US" altLang="zh-CN" sz="2400" b="1" baseline="-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…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sz="2400" b="1" baseline="-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∈U(i=j,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…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,m)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由分解规则有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(i=j,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…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,m)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定义：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∈X</a:t>
            </a:r>
            <a:r>
              <a:rPr lang="zh-CN" altLang="en-US" sz="24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endParaRPr lang="zh-CN" altLang="en-US" sz="24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＋。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979"/>
    </mc:Choice>
    <mc:Fallback xmlns="">
      <p:transition spd="slow" advTm="639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1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1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1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1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1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041B99B-03CE-4A11-ACEF-AA35105E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C2579-DA43-4893-9685-66B60B0BE9DC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527362" name="AutoShape 2">
            <a:extLst>
              <a:ext uri="{FF2B5EF4-FFF2-40B4-BE49-F238E27FC236}">
                <a16:creationId xmlns:a16="http://schemas.microsoft.com/office/drawing/2014/main" id="{5F9A8A1A-D93B-4FCB-8434-BAF47836B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528763"/>
            <a:ext cx="215900" cy="215900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12700" cap="sq">
            <a:solidFill>
              <a:srgbClr val="FF9900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7363" name="Rectangle 3">
            <a:extLst>
              <a:ext uri="{FF2B5EF4-FFF2-40B4-BE49-F238E27FC236}">
                <a16:creationId xmlns:a16="http://schemas.microsoft.com/office/drawing/2014/main" id="{04958CA2-8002-4059-87C8-992AC26B16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</a:t>
            </a:r>
            <a:r>
              <a:rPr lang="en-US" altLang="zh-CN"/>
              <a:t>X</a:t>
            </a:r>
            <a:r>
              <a:rPr lang="zh-CN" altLang="en-US"/>
              <a:t>关于</a:t>
            </a:r>
            <a:r>
              <a:rPr lang="en-US" altLang="zh-CN"/>
              <a:t>F</a:t>
            </a:r>
            <a:r>
              <a:rPr lang="zh-CN" altLang="en-US"/>
              <a:t>的闭包及其计算</a:t>
            </a:r>
          </a:p>
        </p:txBody>
      </p:sp>
      <p:sp>
        <p:nvSpPr>
          <p:cNvPr id="527364" name="Rectangle 4">
            <a:extLst>
              <a:ext uri="{FF2B5EF4-FFF2-40B4-BE49-F238E27FC236}">
                <a16:creationId xmlns:a16="http://schemas.microsoft.com/office/drawing/2014/main" id="{778FCF44-74CF-48B7-8846-8FA32DAE33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>
                <a:solidFill>
                  <a:srgbClr val="FF3300"/>
                </a:solidFill>
                <a:latin typeface="楷体_GB2312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>
                <a:solidFill>
                  <a:srgbClr val="FF3300"/>
                </a:solidFill>
                <a:latin typeface="楷体_GB2312" pitchFamily="49" charset="-122"/>
                <a:cs typeface="Times New Roman" panose="02020603050405020304" pitchFamily="18" charset="0"/>
              </a:rPr>
              <a:t>6.3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 设有关系模式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R(U,F)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属性集U={A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}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的子集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Y，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则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能用阿姆斯特朗公理从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导出</a:t>
            </a:r>
            <a:r>
              <a:rPr lang="zh-CN" altLang="en-US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baseline="30000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27365" name="AutoShape 5">
            <a:extLst>
              <a:ext uri="{FF2B5EF4-FFF2-40B4-BE49-F238E27FC236}">
                <a16:creationId xmlns:a16="http://schemas.microsoft.com/office/drawing/2014/main" id="{30E5F4AE-C393-4AD6-A7FA-594FFD3C0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076700"/>
            <a:ext cx="7273925" cy="2087563"/>
          </a:xfrm>
          <a:prstGeom prst="foldedCorner">
            <a:avLst>
              <a:gd name="adj" fmla="val 12500"/>
            </a:avLst>
          </a:prstGeom>
          <a:solidFill>
            <a:srgbClr val="00008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>
            <a:lvl1pPr marL="1746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kumimoji="0" lang="zh-CN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该定理把判定</a:t>
            </a:r>
            <a:r>
              <a:rPr kumimoji="0" lang="en-US" altLang="zh-CN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是否能由</a:t>
            </a:r>
            <a:r>
              <a:rPr kumimoji="0" lang="en-US" altLang="zh-CN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根据</a:t>
            </a:r>
            <a:r>
              <a:rPr kumimoji="0" lang="en-US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阿姆斯特朗</a:t>
            </a:r>
            <a:r>
              <a:rPr kumimoji="0" lang="zh-CN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公理导出的问题</a:t>
            </a:r>
            <a:r>
              <a:rPr kumimoji="0" lang="zh-CN" altLang="en-US" sz="2800" b="1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kumimoji="0"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求出</a:t>
            </a:r>
            <a:r>
              <a:rPr kumimoji="0"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800" b="1" baseline="30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0"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，判定</a:t>
            </a:r>
            <a:r>
              <a:rPr kumimoji="0"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是否为</a:t>
            </a:r>
            <a:r>
              <a:rPr kumimoji="0"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800" b="1" baseline="30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0"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的子集的问题。</a:t>
            </a:r>
          </a:p>
        </p:txBody>
      </p:sp>
      <p:pic>
        <p:nvPicPr>
          <p:cNvPr id="527366" name="Picture 6">
            <a:extLst>
              <a:ext uri="{FF2B5EF4-FFF2-40B4-BE49-F238E27FC236}">
                <a16:creationId xmlns:a16="http://schemas.microsoft.com/office/drawing/2014/main" id="{7E7700BF-D782-4283-A7B8-04E4F9E04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692150"/>
            <a:ext cx="1354138" cy="1347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374"/>
    </mc:Choice>
    <mc:Fallback xmlns="">
      <p:transition spd="slow" advTm="393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2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527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527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527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52736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5273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52736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5273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52736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5273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52736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52736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36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5">
            <a:extLst>
              <a:ext uri="{FF2B5EF4-FFF2-40B4-BE49-F238E27FC236}">
                <a16:creationId xmlns:a16="http://schemas.microsoft.com/office/drawing/2014/main" id="{A45392C8-A87F-4E19-8D2F-D62214213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563CC-2C1C-44D5-B65F-7F35966F8083}" type="slidenum">
              <a:rPr lang="zh-CN" altLang="en-US"/>
              <a:pPr/>
              <a:t>7</a:t>
            </a:fld>
            <a:endParaRPr lang="en-US" altLang="zh-CN"/>
          </a:p>
        </p:txBody>
      </p:sp>
      <p:grpSp>
        <p:nvGrpSpPr>
          <p:cNvPr id="497666" name="Group 2">
            <a:extLst>
              <a:ext uri="{FF2B5EF4-FFF2-40B4-BE49-F238E27FC236}">
                <a16:creationId xmlns:a16="http://schemas.microsoft.com/office/drawing/2014/main" id="{7ED862C6-0AFF-48E2-9497-A3E6419EC9FA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3141663"/>
            <a:ext cx="1944688" cy="2143125"/>
            <a:chOff x="884" y="1979"/>
            <a:chExt cx="1225" cy="1350"/>
          </a:xfrm>
        </p:grpSpPr>
        <p:sp>
          <p:nvSpPr>
            <p:cNvPr id="497667" name="Oval 3">
              <a:extLst>
                <a:ext uri="{FF2B5EF4-FFF2-40B4-BE49-F238E27FC236}">
                  <a16:creationId xmlns:a16="http://schemas.microsoft.com/office/drawing/2014/main" id="{8DC551C5-3F0C-4E81-B065-B1D5B2061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1979"/>
              <a:ext cx="1225" cy="998"/>
            </a:xfrm>
            <a:prstGeom prst="ellipse">
              <a:avLst/>
            </a:prstGeom>
            <a:solidFill>
              <a:srgbClr val="CCFFCC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3882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7668" name="Text Box 4">
              <a:extLst>
                <a:ext uri="{FF2B5EF4-FFF2-40B4-BE49-F238E27FC236}">
                  <a16:creationId xmlns:a16="http://schemas.microsoft.com/office/drawing/2014/main" id="{A5428538-7733-4E43-A0B4-360C32C634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3002"/>
              <a:ext cx="354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/>
                <a:t>X</a:t>
              </a:r>
              <a:r>
                <a:rPr lang="en-US" altLang="zh-CN" sz="2800" b="1" baseline="30000"/>
                <a:t>+</a:t>
              </a:r>
              <a:endParaRPr lang="en-US" altLang="zh-CN" sz="2800" b="1"/>
            </a:p>
          </p:txBody>
        </p:sp>
      </p:grpSp>
      <p:grpSp>
        <p:nvGrpSpPr>
          <p:cNvPr id="497669" name="Group 5">
            <a:extLst>
              <a:ext uri="{FF2B5EF4-FFF2-40B4-BE49-F238E27FC236}">
                <a16:creationId xmlns:a16="http://schemas.microsoft.com/office/drawing/2014/main" id="{6F855FBC-AB12-4FCD-8A22-0D7C0F9F7190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1973263"/>
            <a:ext cx="3168650" cy="3328987"/>
            <a:chOff x="3243" y="1243"/>
            <a:chExt cx="1996" cy="2097"/>
          </a:xfrm>
        </p:grpSpPr>
        <p:sp>
          <p:nvSpPr>
            <p:cNvPr id="497670" name="Rectangle 6">
              <a:extLst>
                <a:ext uri="{FF2B5EF4-FFF2-40B4-BE49-F238E27FC236}">
                  <a16:creationId xmlns:a16="http://schemas.microsoft.com/office/drawing/2014/main" id="{974B2FA7-E3C3-407F-8789-1836566A1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1616"/>
              <a:ext cx="681" cy="1724"/>
            </a:xfrm>
            <a:prstGeom prst="rect">
              <a:avLst/>
            </a:prstGeom>
            <a:solidFill>
              <a:srgbClr val="008080"/>
            </a:solidFill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53882" dir="2700000" algn="ctr" rotWithShape="0">
                <a:schemeClr val="tx1"/>
              </a:outerShdw>
            </a:effectLst>
          </p:spPr>
          <p:txBody>
            <a:bodyPr wrap="none" anchorCtr="1"/>
            <a:lstStyle/>
            <a:p>
              <a:pPr algn="ctr"/>
              <a:r>
                <a:rPr lang="zh-CN" altLang="en-US" sz="2400" b="1">
                  <a:solidFill>
                    <a:srgbClr val="CC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左边</a:t>
              </a:r>
            </a:p>
          </p:txBody>
        </p:sp>
        <p:sp>
          <p:nvSpPr>
            <p:cNvPr id="497671" name="Rectangle 7">
              <a:extLst>
                <a:ext uri="{FF2B5EF4-FFF2-40B4-BE49-F238E27FC236}">
                  <a16:creationId xmlns:a16="http://schemas.microsoft.com/office/drawing/2014/main" id="{BCC0E2ED-F7AD-4DB5-ADA6-32393ACCA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1616"/>
              <a:ext cx="681" cy="1724"/>
            </a:xfrm>
            <a:prstGeom prst="rect">
              <a:avLst/>
            </a:prstGeom>
            <a:solidFill>
              <a:srgbClr val="000080"/>
            </a:solidFill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53882" dir="2700000" algn="ctr" rotWithShape="0">
                <a:schemeClr val="tx1"/>
              </a:outerShdw>
            </a:effectLst>
          </p:spPr>
          <p:txBody>
            <a:bodyPr wrap="none" anchorCtr="1"/>
            <a:lstStyle/>
            <a:p>
              <a:pPr algn="ctr"/>
              <a:r>
                <a:rPr lang="zh-CN" altLang="en-US" sz="2400" b="1">
                  <a:solidFill>
                    <a:srgbClr val="CC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右边</a:t>
              </a:r>
            </a:p>
          </p:txBody>
        </p:sp>
        <p:sp>
          <p:nvSpPr>
            <p:cNvPr id="497672" name="AutoShape 8">
              <a:extLst>
                <a:ext uri="{FF2B5EF4-FFF2-40B4-BE49-F238E27FC236}">
                  <a16:creationId xmlns:a16="http://schemas.microsoft.com/office/drawing/2014/main" id="{35A37971-1AED-4C9E-A8BE-8AD576FAE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2387"/>
              <a:ext cx="409" cy="181"/>
            </a:xfrm>
            <a:prstGeom prst="rightArrow">
              <a:avLst>
                <a:gd name="adj1" fmla="val 50000"/>
                <a:gd name="adj2" fmla="val 56492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7673" name="Text Box 9">
              <a:extLst>
                <a:ext uri="{FF2B5EF4-FFF2-40B4-BE49-F238E27FC236}">
                  <a16:creationId xmlns:a16="http://schemas.microsoft.com/office/drawing/2014/main" id="{78B80B09-3233-4314-A2D6-F933EC1C86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" y="1243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</a:t>
              </a:r>
            </a:p>
          </p:txBody>
        </p:sp>
      </p:grpSp>
      <p:sp>
        <p:nvSpPr>
          <p:cNvPr id="497674" name="Text Box 10">
            <a:extLst>
              <a:ext uri="{FF2B5EF4-FFF2-40B4-BE49-F238E27FC236}">
                <a16:creationId xmlns:a16="http://schemas.microsoft.com/office/drawing/2014/main" id="{DC7BAD17-5526-4757-8CB5-827EE690F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3284538"/>
            <a:ext cx="500063" cy="4572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3366"/>
                </a:solidFill>
              </a:rPr>
              <a:t>X</a:t>
            </a:r>
            <a:r>
              <a:rPr lang="en-US" altLang="zh-CN" sz="2400" b="1" baseline="-25000">
                <a:solidFill>
                  <a:srgbClr val="003366"/>
                </a:solidFill>
              </a:rPr>
              <a:t>1</a:t>
            </a:r>
            <a:endParaRPr lang="en-US" altLang="zh-CN" sz="2400" b="1">
              <a:solidFill>
                <a:srgbClr val="003366"/>
              </a:solidFill>
            </a:endParaRPr>
          </a:p>
        </p:txBody>
      </p:sp>
      <p:sp>
        <p:nvSpPr>
          <p:cNvPr id="497675" name="Text Box 11">
            <a:extLst>
              <a:ext uri="{FF2B5EF4-FFF2-40B4-BE49-F238E27FC236}">
                <a16:creationId xmlns:a16="http://schemas.microsoft.com/office/drawing/2014/main" id="{55C96C09-731A-46E7-8164-576CAD2F6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925" y="3286125"/>
            <a:ext cx="500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altLang="zh-CN" sz="2400" b="1" baseline="-2500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endParaRPr lang="en-US" altLang="zh-CN" sz="2400" b="1">
              <a:solidFill>
                <a:srgbClr val="FFFF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97676" name="Text Box 12">
            <a:extLst>
              <a:ext uri="{FF2B5EF4-FFF2-40B4-BE49-F238E27FC236}">
                <a16:creationId xmlns:a16="http://schemas.microsoft.com/office/drawing/2014/main" id="{84919592-D368-4BD8-AC06-34AAA0686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3763963"/>
            <a:ext cx="612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  <a:r>
              <a:rPr lang="en-US" altLang="zh-CN" sz="2400" b="1" baseline="-2500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11</a:t>
            </a:r>
            <a:endParaRPr lang="en-US" altLang="zh-CN" sz="2400" b="1">
              <a:solidFill>
                <a:srgbClr val="FFFF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97677" name="Text Box 13">
            <a:extLst>
              <a:ext uri="{FF2B5EF4-FFF2-40B4-BE49-F238E27FC236}">
                <a16:creationId xmlns:a16="http://schemas.microsoft.com/office/drawing/2014/main" id="{ADF73BED-95CA-4C01-864D-7CEC16441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3716338"/>
            <a:ext cx="500063" cy="4572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3366"/>
                </a:solidFill>
              </a:rPr>
              <a:t>Y</a:t>
            </a:r>
            <a:r>
              <a:rPr lang="en-US" altLang="zh-CN" sz="2400" b="1" baseline="-25000">
                <a:solidFill>
                  <a:srgbClr val="003366"/>
                </a:solidFill>
              </a:rPr>
              <a:t>1</a:t>
            </a:r>
            <a:endParaRPr lang="en-US" altLang="zh-CN" sz="2400" b="1">
              <a:solidFill>
                <a:srgbClr val="003366"/>
              </a:solidFill>
            </a:endParaRPr>
          </a:p>
        </p:txBody>
      </p:sp>
      <p:cxnSp>
        <p:nvCxnSpPr>
          <p:cNvPr id="497678" name="AutoShape 14">
            <a:extLst>
              <a:ext uri="{FF2B5EF4-FFF2-40B4-BE49-F238E27FC236}">
                <a16:creationId xmlns:a16="http://schemas.microsoft.com/office/drawing/2014/main" id="{AF6EB5D7-AEA4-4D3C-8018-3C34988C07F2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5042694" y="2577307"/>
            <a:ext cx="26987" cy="5441950"/>
          </a:xfrm>
          <a:prstGeom prst="bentConnector3">
            <a:avLst>
              <a:gd name="adj1" fmla="val -811764"/>
            </a:avLst>
          </a:prstGeom>
          <a:noFill/>
          <a:ln w="31750" cap="sq">
            <a:solidFill>
              <a:srgbClr val="993366"/>
            </a:solidFill>
            <a:miter lim="800000"/>
            <a:headEnd type="none" w="sm" len="sm"/>
            <a:tailEnd type="triangle" w="lg" len="lg"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97679" name="Group 15">
            <a:extLst>
              <a:ext uri="{FF2B5EF4-FFF2-40B4-BE49-F238E27FC236}">
                <a16:creationId xmlns:a16="http://schemas.microsoft.com/office/drawing/2014/main" id="{43EDF046-40A0-462C-AD3A-426E36FFA0A3}"/>
              </a:ext>
            </a:extLst>
          </p:cNvPr>
          <p:cNvGrpSpPr>
            <a:grpSpLocks/>
          </p:cNvGrpSpPr>
          <p:nvPr/>
        </p:nvGrpSpPr>
        <p:grpSpPr bwMode="auto">
          <a:xfrm>
            <a:off x="2700338" y="3260725"/>
            <a:ext cx="3240087" cy="457200"/>
            <a:chOff x="1701" y="2054"/>
            <a:chExt cx="2041" cy="288"/>
          </a:xfrm>
        </p:grpSpPr>
        <p:sp>
          <p:nvSpPr>
            <p:cNvPr id="497680" name="Text Box 16">
              <a:extLst>
                <a:ext uri="{FF2B5EF4-FFF2-40B4-BE49-F238E27FC236}">
                  <a16:creationId xmlns:a16="http://schemas.microsoft.com/office/drawing/2014/main" id="{38016B48-F65B-475C-9CAA-5B067F935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7" y="2054"/>
              <a:ext cx="3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X</a:t>
              </a:r>
              <a:r>
                <a:rPr lang="en-US" altLang="zh-CN" sz="2400" b="1" baseline="-25000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sz="24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97681" name="Line 17">
              <a:extLst>
                <a:ext uri="{FF2B5EF4-FFF2-40B4-BE49-F238E27FC236}">
                  <a16:creationId xmlns:a16="http://schemas.microsoft.com/office/drawing/2014/main" id="{A5414182-799B-48FC-A2D0-3690818A51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251"/>
              <a:ext cx="1542" cy="0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round/>
              <a:headEnd type="none" w="sm" len="sm"/>
              <a:tailEnd type="triangle" w="lg" len="lg"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97682" name="Group 18">
            <a:extLst>
              <a:ext uri="{FF2B5EF4-FFF2-40B4-BE49-F238E27FC236}">
                <a16:creationId xmlns:a16="http://schemas.microsoft.com/office/drawing/2014/main" id="{7239C15D-5894-4F8C-9837-FA2F3748641E}"/>
              </a:ext>
            </a:extLst>
          </p:cNvPr>
          <p:cNvGrpSpPr>
            <a:grpSpLocks/>
          </p:cNvGrpSpPr>
          <p:nvPr/>
        </p:nvGrpSpPr>
        <p:grpSpPr bwMode="auto">
          <a:xfrm>
            <a:off x="2700338" y="3763963"/>
            <a:ext cx="3235325" cy="457200"/>
            <a:chOff x="1701" y="2371"/>
            <a:chExt cx="2038" cy="288"/>
          </a:xfrm>
        </p:grpSpPr>
        <p:sp>
          <p:nvSpPr>
            <p:cNvPr id="497683" name="Text Box 19">
              <a:extLst>
                <a:ext uri="{FF2B5EF4-FFF2-40B4-BE49-F238E27FC236}">
                  <a16:creationId xmlns:a16="http://schemas.microsoft.com/office/drawing/2014/main" id="{1658EE96-72FF-40F1-B089-1900E8C9CC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4" y="2371"/>
              <a:ext cx="3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Y</a:t>
              </a:r>
              <a:r>
                <a:rPr lang="en-US" altLang="zh-CN" sz="2400" b="1" baseline="-25000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sz="24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97684" name="Line 20">
              <a:extLst>
                <a:ext uri="{FF2B5EF4-FFF2-40B4-BE49-F238E27FC236}">
                  <a16:creationId xmlns:a16="http://schemas.microsoft.com/office/drawing/2014/main" id="{1C4E69F2-35E6-4706-9DE3-3E575E504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478"/>
              <a:ext cx="1542" cy="0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round/>
              <a:headEnd type="none" w="sm" len="sm"/>
              <a:tailEnd type="triangle" w="lg" len="lg"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97685" name="Group 21">
            <a:extLst>
              <a:ext uri="{FF2B5EF4-FFF2-40B4-BE49-F238E27FC236}">
                <a16:creationId xmlns:a16="http://schemas.microsoft.com/office/drawing/2014/main" id="{C70B2609-7AB6-4018-86E3-1E973EA4A5EE}"/>
              </a:ext>
            </a:extLst>
          </p:cNvPr>
          <p:cNvGrpSpPr>
            <a:grpSpLocks/>
          </p:cNvGrpSpPr>
          <p:nvPr/>
        </p:nvGrpSpPr>
        <p:grpSpPr bwMode="auto">
          <a:xfrm>
            <a:off x="1908175" y="4124325"/>
            <a:ext cx="5873750" cy="1203325"/>
            <a:chOff x="1202" y="2598"/>
            <a:chExt cx="3700" cy="758"/>
          </a:xfrm>
        </p:grpSpPr>
        <p:sp>
          <p:nvSpPr>
            <p:cNvPr id="497686" name="Text Box 22">
              <a:extLst>
                <a:ext uri="{FF2B5EF4-FFF2-40B4-BE49-F238E27FC236}">
                  <a16:creationId xmlns:a16="http://schemas.microsoft.com/office/drawing/2014/main" id="{68A993C4-5F6B-4E66-8103-5BB08E52E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2598"/>
              <a:ext cx="386" cy="288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3366"/>
                  </a:solidFill>
                </a:rPr>
                <a:t>Y</a:t>
              </a:r>
              <a:r>
                <a:rPr lang="en-US" altLang="zh-CN" sz="2400" b="1" baseline="-25000">
                  <a:solidFill>
                    <a:srgbClr val="003366"/>
                  </a:solidFill>
                </a:rPr>
                <a:t>11</a:t>
              </a:r>
              <a:endParaRPr lang="en-US" altLang="zh-CN" sz="2400" b="1">
                <a:solidFill>
                  <a:srgbClr val="003366"/>
                </a:solidFill>
              </a:endParaRPr>
            </a:p>
          </p:txBody>
        </p:sp>
        <p:cxnSp>
          <p:nvCxnSpPr>
            <p:cNvPr id="497687" name="AutoShape 23">
              <a:extLst>
                <a:ext uri="{FF2B5EF4-FFF2-40B4-BE49-F238E27FC236}">
                  <a16:creationId xmlns:a16="http://schemas.microsoft.com/office/drawing/2014/main" id="{85C1A310-DC9E-4427-B99A-745B8ABE83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3179" y="1634"/>
              <a:ext cx="17" cy="3428"/>
            </a:xfrm>
            <a:prstGeom prst="bentConnector3">
              <a:avLst>
                <a:gd name="adj1" fmla="val -1941181"/>
              </a:avLst>
            </a:prstGeom>
            <a:noFill/>
            <a:ln w="31750" cap="sq">
              <a:solidFill>
                <a:srgbClr val="993366"/>
              </a:solidFill>
              <a:miter lim="800000"/>
              <a:headEnd type="none" w="sm" len="sm"/>
              <a:tailEnd type="triangle" w="lg" len="lg"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97688" name="AutoShape 24">
            <a:extLst>
              <a:ext uri="{FF2B5EF4-FFF2-40B4-BE49-F238E27FC236}">
                <a16:creationId xmlns:a16="http://schemas.microsoft.com/office/drawing/2014/main" id="{9BCDFC3F-62C9-45D8-9232-5B3B87BAF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013325"/>
            <a:ext cx="863600" cy="792163"/>
          </a:xfrm>
          <a:prstGeom prst="wedgeRectCallout">
            <a:avLst>
              <a:gd name="adj1" fmla="val 98528"/>
              <a:gd name="adj2" fmla="val -117537"/>
            </a:avLst>
          </a:prstGeom>
          <a:solidFill>
            <a:srgbClr val="3333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endParaRPr lang="zh-CN" altLang="en-US" sz="2400" b="1" baseline="3000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7689" name="Rectangle 25">
            <a:extLst>
              <a:ext uri="{FF2B5EF4-FFF2-40B4-BE49-F238E27FC236}">
                <a16:creationId xmlns:a16="http://schemas.microsoft.com/office/drawing/2014/main" id="{D1B87F5C-227D-4F34-BA10-305A29B7AB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</a:t>
            </a:r>
            <a:r>
              <a:rPr lang="en-US" altLang="zh-CN"/>
              <a:t>X</a:t>
            </a:r>
            <a:r>
              <a:rPr lang="zh-CN" altLang="en-US"/>
              <a:t>关于</a:t>
            </a:r>
            <a:r>
              <a:rPr lang="en-US" altLang="zh-CN"/>
              <a:t>F</a:t>
            </a:r>
            <a:r>
              <a:rPr lang="zh-CN" altLang="en-US"/>
              <a:t>的闭包及其计算</a:t>
            </a:r>
          </a:p>
        </p:txBody>
      </p:sp>
      <p:sp>
        <p:nvSpPr>
          <p:cNvPr id="497690" name="Rectangle 26">
            <a:extLst>
              <a:ext uri="{FF2B5EF4-FFF2-40B4-BE49-F238E27FC236}">
                <a16:creationId xmlns:a16="http://schemas.microsoft.com/office/drawing/2014/main" id="{5E605F3B-0EE8-499A-958B-7630C85258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、求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baseline="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的算法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u="sng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</a:rPr>
              <a:t>思路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261"/>
    </mc:Choice>
    <mc:Fallback xmlns="">
      <p:transition spd="slow" advTm="892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97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49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97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97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49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49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97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49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1000"/>
                                        <p:tgtEl>
                                          <p:spTgt spid="4976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000"/>
                                        <p:tgtEl>
                                          <p:spTgt spid="49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49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49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1000"/>
                                        <p:tgtEl>
                                          <p:spTgt spid="49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74" grpId="0"/>
      <p:bldP spid="497675" grpId="0"/>
      <p:bldP spid="497676" grpId="0"/>
      <p:bldP spid="497677" grpId="0"/>
      <p:bldP spid="497688" grpId="0" animBg="1"/>
      <p:bldP spid="49769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158EAE4-170D-4852-918C-547DFEC0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393A5-7474-4245-9432-DEB311ADF910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499714" name="Rectangle 2">
            <a:extLst>
              <a:ext uri="{FF2B5EF4-FFF2-40B4-BE49-F238E27FC236}">
                <a16:creationId xmlns:a16="http://schemas.microsoft.com/office/drawing/2014/main" id="{1A0EE8FF-26E7-4F57-9D66-B4F10D510B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</a:t>
            </a:r>
            <a:r>
              <a:rPr lang="en-US" altLang="zh-CN"/>
              <a:t>X</a:t>
            </a:r>
            <a:r>
              <a:rPr lang="zh-CN" altLang="en-US"/>
              <a:t>关于</a:t>
            </a:r>
            <a:r>
              <a:rPr lang="en-US" altLang="zh-CN"/>
              <a:t>F</a:t>
            </a:r>
            <a:r>
              <a:rPr lang="zh-CN" altLang="en-US"/>
              <a:t>的闭包及其计算</a:t>
            </a:r>
          </a:p>
        </p:txBody>
      </p:sp>
      <p:sp>
        <p:nvSpPr>
          <p:cNvPr id="499715" name="Rectangle 3">
            <a:extLst>
              <a:ext uri="{FF2B5EF4-FFF2-40B4-BE49-F238E27FC236}">
                <a16:creationId xmlns:a16="http://schemas.microsoft.com/office/drawing/2014/main" id="{63E4D92D-504E-44A4-866A-82A01EBA4F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、求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baseline="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的算法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输入：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  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的全部属性集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U,U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上的函数依赖集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的子集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输出：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  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关于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的闭包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baseline="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方法：</a:t>
            </a:r>
            <a:endParaRPr lang="zh-CN" altLang="en-US"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469"/>
    </mc:Choice>
    <mc:Fallback xmlns="">
      <p:transition spd="slow" advTm="394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99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99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99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99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99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1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5">
            <a:extLst>
              <a:ext uri="{FF2B5EF4-FFF2-40B4-BE49-F238E27FC236}">
                <a16:creationId xmlns:a16="http://schemas.microsoft.com/office/drawing/2014/main" id="{D93FE67E-A7A3-446C-A3F1-D4E69F30D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91A0A-6EAC-4FE9-BA2F-E5D9ED0E5400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501762" name="Rectangle 2">
            <a:extLst>
              <a:ext uri="{FF2B5EF4-FFF2-40B4-BE49-F238E27FC236}">
                <a16:creationId xmlns:a16="http://schemas.microsoft.com/office/drawing/2014/main" id="{E12D344A-F7C8-467D-B178-6627CBF3C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412875"/>
            <a:ext cx="2133600" cy="720725"/>
          </a:xfrm>
          <a:prstGeom prst="rect">
            <a:avLst/>
          </a:prstGeom>
          <a:solidFill>
            <a:srgbClr val="CCFFFF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lIns="0" rIns="0" anchor="ctr" anchorCtr="1"/>
          <a:lstStyle/>
          <a:p>
            <a:pPr algn="ctr"/>
            <a:r>
              <a:rPr lang="en-US" altLang="zh-CN" sz="28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i=0,X</a:t>
            </a:r>
            <a:r>
              <a:rPr lang="en-US" altLang="zh-CN" sz="2800" b="1" baseline="30000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(i)</a:t>
            </a:r>
            <a:r>
              <a:rPr lang="en-US" altLang="zh-CN" sz="28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=X</a:t>
            </a:r>
            <a:endParaRPr lang="zh-CN" altLang="en-US" sz="2800" b="1">
              <a:solidFill>
                <a:srgbClr val="0033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01763" name="Group 3">
            <a:extLst>
              <a:ext uri="{FF2B5EF4-FFF2-40B4-BE49-F238E27FC236}">
                <a16:creationId xmlns:a16="http://schemas.microsoft.com/office/drawing/2014/main" id="{F960825A-D02F-4E45-90E9-09F215093299}"/>
              </a:ext>
            </a:extLst>
          </p:cNvPr>
          <p:cNvGrpSpPr>
            <a:grpSpLocks/>
          </p:cNvGrpSpPr>
          <p:nvPr/>
        </p:nvGrpSpPr>
        <p:grpSpPr bwMode="auto">
          <a:xfrm>
            <a:off x="2509838" y="2205038"/>
            <a:ext cx="4826000" cy="1584325"/>
            <a:chOff x="1581" y="1389"/>
            <a:chExt cx="3040" cy="998"/>
          </a:xfrm>
        </p:grpSpPr>
        <p:sp>
          <p:nvSpPr>
            <p:cNvPr id="501764" name="Rectangle 4">
              <a:extLst>
                <a:ext uri="{FF2B5EF4-FFF2-40B4-BE49-F238E27FC236}">
                  <a16:creationId xmlns:a16="http://schemas.microsoft.com/office/drawing/2014/main" id="{DF1792D9-DB1E-42EB-AAFB-808AB957D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1" y="1661"/>
              <a:ext cx="3040" cy="726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lIns="0" rIns="0" anchor="ctr" anchorCtr="1"/>
            <a:lstStyle/>
            <a:p>
              <a:pPr algn="ctr"/>
              <a:r>
                <a:rPr lang="zh-CN" altLang="en-US" sz="28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从</a:t>
              </a:r>
              <a:r>
                <a:rPr lang="en-US" altLang="zh-CN" sz="28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F</a:t>
              </a:r>
              <a:r>
                <a:rPr lang="zh-CN" altLang="en-US" sz="28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中找出满足条件</a:t>
              </a:r>
              <a:r>
                <a:rPr lang="en-US" altLang="zh-CN" sz="2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2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</a:t>
              </a:r>
              <a:r>
                <a:rPr lang="en-US" altLang="zh-CN" sz="2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800" b="1" baseline="300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(i)</a:t>
              </a:r>
            </a:p>
            <a:p>
              <a:pPr algn="ctr"/>
              <a:r>
                <a:rPr lang="zh-CN" altLang="en-US" sz="28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的所有函数依赖</a:t>
              </a:r>
              <a:r>
                <a:rPr lang="en-US" altLang="zh-CN" sz="28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V→W</a:t>
              </a:r>
              <a:endParaRPr lang="zh-CN" altLang="en-US" sz="28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1765" name="AutoShape 5">
              <a:extLst>
                <a:ext uri="{FF2B5EF4-FFF2-40B4-BE49-F238E27FC236}">
                  <a16:creationId xmlns:a16="http://schemas.microsoft.com/office/drawing/2014/main" id="{D5574596-73AF-44D9-8DA7-ACCC2BBD8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9" y="1389"/>
              <a:ext cx="136" cy="27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1766" name="Group 6">
            <a:extLst>
              <a:ext uri="{FF2B5EF4-FFF2-40B4-BE49-F238E27FC236}">
                <a16:creationId xmlns:a16="http://schemas.microsoft.com/office/drawing/2014/main" id="{358473C8-5961-43A7-B958-BB227FACEE33}"/>
              </a:ext>
            </a:extLst>
          </p:cNvPr>
          <p:cNvGrpSpPr>
            <a:grpSpLocks/>
          </p:cNvGrpSpPr>
          <p:nvPr/>
        </p:nvGrpSpPr>
        <p:grpSpPr bwMode="auto">
          <a:xfrm>
            <a:off x="3519488" y="3860800"/>
            <a:ext cx="2808287" cy="1152525"/>
            <a:chOff x="2217" y="2432"/>
            <a:chExt cx="1769" cy="726"/>
          </a:xfrm>
        </p:grpSpPr>
        <p:sp>
          <p:nvSpPr>
            <p:cNvPr id="501767" name="Rectangle 7">
              <a:extLst>
                <a:ext uri="{FF2B5EF4-FFF2-40B4-BE49-F238E27FC236}">
                  <a16:creationId xmlns:a16="http://schemas.microsoft.com/office/drawing/2014/main" id="{CB9A7896-BAA3-41BC-8F1C-C05C291AC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7" y="2704"/>
              <a:ext cx="1769" cy="454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rIns="0" anchor="ctr" anchorCtr="1"/>
            <a:lstStyle/>
            <a:p>
              <a:pPr algn="ctr"/>
              <a:r>
                <a:rPr lang="en-US" altLang="en-US" sz="28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Z</a:t>
              </a:r>
              <a:r>
                <a:rPr lang="en-US" altLang="zh-CN" sz="28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={</a:t>
              </a:r>
              <a:r>
                <a:rPr lang="zh-CN" altLang="en-US" sz="28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所有的</a:t>
              </a:r>
              <a:r>
                <a:rPr lang="en-US" altLang="en-US" sz="28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8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}</a:t>
              </a:r>
              <a:endParaRPr lang="zh-CN" altLang="en-US" sz="28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1768" name="AutoShape 8">
              <a:extLst>
                <a:ext uri="{FF2B5EF4-FFF2-40B4-BE49-F238E27FC236}">
                  <a16:creationId xmlns:a16="http://schemas.microsoft.com/office/drawing/2014/main" id="{E2C3C9D4-CFB1-4196-96A8-9CDEEE5F9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2432"/>
              <a:ext cx="136" cy="27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1769" name="Group 9">
            <a:extLst>
              <a:ext uri="{FF2B5EF4-FFF2-40B4-BE49-F238E27FC236}">
                <a16:creationId xmlns:a16="http://schemas.microsoft.com/office/drawing/2014/main" id="{DB9DE8A6-F9F4-4D18-BE49-FFD36AFDECE4}"/>
              </a:ext>
            </a:extLst>
          </p:cNvPr>
          <p:cNvGrpSpPr>
            <a:grpSpLocks/>
          </p:cNvGrpSpPr>
          <p:nvPr/>
        </p:nvGrpSpPr>
        <p:grpSpPr bwMode="auto">
          <a:xfrm>
            <a:off x="3116263" y="5084763"/>
            <a:ext cx="3455987" cy="1366837"/>
            <a:chOff x="1963" y="3203"/>
            <a:chExt cx="2177" cy="861"/>
          </a:xfrm>
        </p:grpSpPr>
        <p:sp>
          <p:nvSpPr>
            <p:cNvPr id="501770" name="AutoShape 10">
              <a:extLst>
                <a:ext uri="{FF2B5EF4-FFF2-40B4-BE49-F238E27FC236}">
                  <a16:creationId xmlns:a16="http://schemas.microsoft.com/office/drawing/2014/main" id="{B33C2391-10DF-48C1-A276-3882DEDB8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3" y="3475"/>
              <a:ext cx="2177" cy="589"/>
            </a:xfrm>
            <a:prstGeom prst="flowChartDecision">
              <a:avLst/>
            </a:prstGeom>
            <a:solidFill>
              <a:srgbClr val="333399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rIns="0" anchor="ctr" anchorCtr="1"/>
            <a:lstStyle/>
            <a:p>
              <a:pPr algn="ctr"/>
              <a:r>
                <a:rPr lang="en-US" altLang="zh-CN" sz="2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Z</a:t>
              </a:r>
              <a:r>
                <a:rPr lang="en-US" altLang="zh-CN" sz="2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</a:t>
              </a:r>
              <a:r>
                <a:rPr lang="en-US" altLang="zh-CN" sz="2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800" b="1" baseline="30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(i)</a:t>
              </a:r>
              <a:r>
                <a:rPr lang="zh-CN" altLang="en-US" sz="2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？</a:t>
              </a:r>
              <a:endParaRPr lang="zh-CN" altLang="en-US" sz="2800" b="1" baseline="30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1771" name="AutoShape 11">
              <a:extLst>
                <a:ext uri="{FF2B5EF4-FFF2-40B4-BE49-F238E27FC236}">
                  <a16:creationId xmlns:a16="http://schemas.microsoft.com/office/drawing/2014/main" id="{915FCD5F-98D9-45D3-8D51-E2820590C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203"/>
              <a:ext cx="136" cy="27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1772" name="Group 12">
            <a:extLst>
              <a:ext uri="{FF2B5EF4-FFF2-40B4-BE49-F238E27FC236}">
                <a16:creationId xmlns:a16="http://schemas.microsoft.com/office/drawing/2014/main" id="{2DA5EDB5-EFA7-4710-B6A9-A85BBBDBF63C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2276475"/>
            <a:ext cx="3455987" cy="3240088"/>
            <a:chOff x="839" y="1434"/>
            <a:chExt cx="2177" cy="2041"/>
          </a:xfrm>
        </p:grpSpPr>
        <p:sp>
          <p:nvSpPr>
            <p:cNvPr id="501773" name="Rectangle 13">
              <a:extLst>
                <a:ext uri="{FF2B5EF4-FFF2-40B4-BE49-F238E27FC236}">
                  <a16:creationId xmlns:a16="http://schemas.microsoft.com/office/drawing/2014/main" id="{68951099-ECCF-4123-A402-719F650A1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1480"/>
              <a:ext cx="68" cy="1995"/>
            </a:xfrm>
            <a:prstGeom prst="rect">
              <a:avLst/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774" name="AutoShape 14">
              <a:extLst>
                <a:ext uri="{FF2B5EF4-FFF2-40B4-BE49-F238E27FC236}">
                  <a16:creationId xmlns:a16="http://schemas.microsoft.com/office/drawing/2014/main" id="{6204EFE6-ABCA-4913-9BD2-3BD618B7FAA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860" y="413"/>
              <a:ext cx="136" cy="2177"/>
            </a:xfrm>
            <a:prstGeom prst="downArrow">
              <a:avLst>
                <a:gd name="adj1" fmla="val 52491"/>
                <a:gd name="adj2" fmla="val 131394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1775" name="Group 15">
            <a:extLst>
              <a:ext uri="{FF2B5EF4-FFF2-40B4-BE49-F238E27FC236}">
                <a16:creationId xmlns:a16="http://schemas.microsoft.com/office/drawing/2014/main" id="{F4C5B9E3-3372-4BC8-A6E7-DC60F1B4A935}"/>
              </a:ext>
            </a:extLst>
          </p:cNvPr>
          <p:cNvGrpSpPr>
            <a:grpSpLocks/>
          </p:cNvGrpSpPr>
          <p:nvPr/>
        </p:nvGrpSpPr>
        <p:grpSpPr bwMode="auto">
          <a:xfrm>
            <a:off x="6496050" y="5430838"/>
            <a:ext cx="2252663" cy="877887"/>
            <a:chOff x="4092" y="3421"/>
            <a:chExt cx="1419" cy="553"/>
          </a:xfrm>
        </p:grpSpPr>
        <p:sp>
          <p:nvSpPr>
            <p:cNvPr id="501776" name="Rectangle 16">
              <a:extLst>
                <a:ext uri="{FF2B5EF4-FFF2-40B4-BE49-F238E27FC236}">
                  <a16:creationId xmlns:a16="http://schemas.microsoft.com/office/drawing/2014/main" id="{25DB3A9C-A7EB-4326-B1DA-3953D690C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" y="3520"/>
              <a:ext cx="1089" cy="454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rIns="0" anchor="ctr" anchorCtr="1"/>
            <a:lstStyle/>
            <a:p>
              <a:pPr algn="ctr"/>
              <a:r>
                <a:rPr lang="zh-CN" altLang="en-US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输出</a:t>
              </a:r>
              <a:r>
                <a:rPr lang="en-US" altLang="zh-CN" sz="2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800" b="1" baseline="30000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+</a:t>
              </a:r>
              <a:endParaRPr lang="zh-CN" altLang="en-US" sz="2800" b="1" baseline="300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1777" name="AutoShape 17">
              <a:extLst>
                <a:ext uri="{FF2B5EF4-FFF2-40B4-BE49-F238E27FC236}">
                  <a16:creationId xmlns:a16="http://schemas.microsoft.com/office/drawing/2014/main" id="{FFA2F42C-BE3D-459A-9C63-97B970217D2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209" y="3634"/>
              <a:ext cx="136" cy="27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778" name="Text Box 18">
              <a:extLst>
                <a:ext uri="{FF2B5EF4-FFF2-40B4-BE49-F238E27FC236}">
                  <a16:creationId xmlns:a16="http://schemas.microsoft.com/office/drawing/2014/main" id="{BB467E76-E27E-4878-A037-E3DF7E2593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2" y="3421"/>
              <a:ext cx="240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rIns="0" anchor="ctr" anchorCtr="1"/>
            <a:lstStyle/>
            <a:p>
              <a:r>
                <a:rPr lang="en-US" altLang="zh-CN" sz="2800" b="1"/>
                <a:t>Y</a:t>
              </a:r>
            </a:p>
          </p:txBody>
        </p:sp>
      </p:grpSp>
      <p:grpSp>
        <p:nvGrpSpPr>
          <p:cNvPr id="501779" name="Group 19">
            <a:extLst>
              <a:ext uri="{FF2B5EF4-FFF2-40B4-BE49-F238E27FC236}">
                <a16:creationId xmlns:a16="http://schemas.microsoft.com/office/drawing/2014/main" id="{EF8ED44B-2573-4AA0-ACCC-59464CE1FB36}"/>
              </a:ext>
            </a:extLst>
          </p:cNvPr>
          <p:cNvGrpSpPr>
            <a:grpSpLocks/>
          </p:cNvGrpSpPr>
          <p:nvPr/>
        </p:nvGrpSpPr>
        <p:grpSpPr bwMode="auto">
          <a:xfrm>
            <a:off x="366713" y="5445125"/>
            <a:ext cx="2786062" cy="835025"/>
            <a:chOff x="231" y="3430"/>
            <a:chExt cx="1755" cy="526"/>
          </a:xfrm>
        </p:grpSpPr>
        <p:sp>
          <p:nvSpPr>
            <p:cNvPr id="501780" name="Rectangle 20">
              <a:extLst>
                <a:ext uri="{FF2B5EF4-FFF2-40B4-BE49-F238E27FC236}">
                  <a16:creationId xmlns:a16="http://schemas.microsoft.com/office/drawing/2014/main" id="{28A78ADA-76AD-4078-B29E-23EEE44C7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" y="3502"/>
              <a:ext cx="1452" cy="454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rIns="0" anchor="ctr" anchorCtr="1"/>
            <a:lstStyle/>
            <a:p>
              <a:pPr algn="ctr"/>
              <a:r>
                <a:rPr lang="en-US" altLang="zh-CN" sz="2800" b="1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800" b="1" baseline="3000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800" b="1" baseline="300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i+1</a:t>
              </a:r>
              <a:r>
                <a:rPr lang="en-US" altLang="zh-CN" sz="2800" b="1" baseline="3000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)</a:t>
              </a:r>
              <a:r>
                <a:rPr lang="en-US" altLang="zh-CN" sz="2800" b="1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=</a:t>
              </a:r>
              <a:r>
                <a:rPr lang="en-US" altLang="zh-CN" sz="2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800" b="1" baseline="300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(i)</a:t>
              </a:r>
              <a:r>
                <a:rPr lang="en-US" altLang="zh-CN" sz="2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Z</a:t>
              </a:r>
              <a:endPara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01781" name="AutoShape 21">
              <a:extLst>
                <a:ext uri="{FF2B5EF4-FFF2-40B4-BE49-F238E27FC236}">
                  <a16:creationId xmlns:a16="http://schemas.microsoft.com/office/drawing/2014/main" id="{D745A36E-B51A-4204-803C-D2D15BD867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777" y="3625"/>
              <a:ext cx="136" cy="27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782" name="Text Box 22">
              <a:extLst>
                <a:ext uri="{FF2B5EF4-FFF2-40B4-BE49-F238E27FC236}">
                  <a16:creationId xmlns:a16="http://schemas.microsoft.com/office/drawing/2014/main" id="{3988780E-B0D1-4C59-8CF6-C6030D4882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3430"/>
              <a:ext cx="240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rIns="0" anchor="ctr" anchorCtr="1"/>
            <a:lstStyle/>
            <a:p>
              <a:r>
                <a:rPr lang="en-US" altLang="zh-CN" sz="2800" b="1"/>
                <a:t>N</a:t>
              </a:r>
            </a:p>
          </p:txBody>
        </p:sp>
      </p:grpSp>
      <p:sp>
        <p:nvSpPr>
          <p:cNvPr id="501783" name="Rectangle 23">
            <a:extLst>
              <a:ext uri="{FF2B5EF4-FFF2-40B4-BE49-F238E27FC236}">
                <a16:creationId xmlns:a16="http://schemas.microsoft.com/office/drawing/2014/main" id="{A9F578E2-9788-49BC-935D-07A0C1C5E0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</a:t>
            </a:r>
            <a:r>
              <a:rPr lang="en-US" altLang="zh-CN"/>
              <a:t>X</a:t>
            </a:r>
            <a:r>
              <a:rPr lang="zh-CN" altLang="en-US"/>
              <a:t>关于</a:t>
            </a:r>
            <a:r>
              <a:rPr lang="en-US" altLang="zh-CN"/>
              <a:t>F</a:t>
            </a:r>
            <a:r>
              <a:rPr lang="zh-CN" altLang="en-US"/>
              <a:t>的闭包及其计算</a:t>
            </a:r>
          </a:p>
        </p:txBody>
      </p:sp>
      <p:sp>
        <p:nvSpPr>
          <p:cNvPr id="501784" name="Rectangle 24">
            <a:extLst>
              <a:ext uri="{FF2B5EF4-FFF2-40B4-BE49-F238E27FC236}">
                <a16:creationId xmlns:a16="http://schemas.microsoft.com/office/drawing/2014/main" id="{DA74977B-F9E1-4634-8B4F-FB7A68310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、求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baseline="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的算法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792"/>
    </mc:Choice>
    <mc:Fallback xmlns="">
      <p:transition spd="slow" advTm="1967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0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0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50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50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0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000"/>
                                        <p:tgtEl>
                                          <p:spTgt spid="50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50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6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04746D63-BFA8-4DCD-9318-E203A0B7F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42FCF-3A22-4BBA-B8E8-67C9BD3B0AD3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503810" name="Rectangle 2">
            <a:extLst>
              <a:ext uri="{FF2B5EF4-FFF2-40B4-BE49-F238E27FC236}">
                <a16:creationId xmlns:a16="http://schemas.microsoft.com/office/drawing/2014/main" id="{60AC5C9D-876D-4B03-9E7F-1B32A5CEE6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i="1" dirty="0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6.4 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R(U),U={A,B,C,D,E,G}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上的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FD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集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F={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AB→C,C→A,BC→D,ACD→B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D→EG,BE→C,CG→BD,CE→AG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}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X=BD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，求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baseline="30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BD→A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是否成立？</a:t>
            </a:r>
          </a:p>
        </p:txBody>
      </p:sp>
      <p:sp>
        <p:nvSpPr>
          <p:cNvPr id="503811" name="Line 3">
            <a:extLst>
              <a:ext uri="{FF2B5EF4-FFF2-40B4-BE49-F238E27FC236}">
                <a16:creationId xmlns:a16="http://schemas.microsoft.com/office/drawing/2014/main" id="{82298EC9-BD79-480D-8895-25DB978C4C6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6325" y="2492375"/>
            <a:ext cx="936625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3812" name="Line 4">
            <a:extLst>
              <a:ext uri="{FF2B5EF4-FFF2-40B4-BE49-F238E27FC236}">
                <a16:creationId xmlns:a16="http://schemas.microsoft.com/office/drawing/2014/main" id="{86438DC0-3A4B-4AA3-BAF7-DC67FDEC32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6325" y="2492375"/>
            <a:ext cx="2016125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3813" name="Line 5">
            <a:extLst>
              <a:ext uri="{FF2B5EF4-FFF2-40B4-BE49-F238E27FC236}">
                <a16:creationId xmlns:a16="http://schemas.microsoft.com/office/drawing/2014/main" id="{E2923CA3-ECD5-43B1-B203-01C4828B2B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2492375"/>
            <a:ext cx="1800225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3814" name="Line 6">
            <a:extLst>
              <a:ext uri="{FF2B5EF4-FFF2-40B4-BE49-F238E27FC236}">
                <a16:creationId xmlns:a16="http://schemas.microsoft.com/office/drawing/2014/main" id="{01ABF5E8-DB7F-4B13-BCC4-C1CF5F9A27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2275" y="3068638"/>
            <a:ext cx="23749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3815" name="Line 7">
            <a:extLst>
              <a:ext uri="{FF2B5EF4-FFF2-40B4-BE49-F238E27FC236}">
                <a16:creationId xmlns:a16="http://schemas.microsoft.com/office/drawing/2014/main" id="{67F5470E-AE6B-4FF6-A022-B79BF1ADDE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6325" y="2492375"/>
            <a:ext cx="2016125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3817" name="Line 9">
            <a:extLst>
              <a:ext uri="{FF2B5EF4-FFF2-40B4-BE49-F238E27FC236}">
                <a16:creationId xmlns:a16="http://schemas.microsoft.com/office/drawing/2014/main" id="{1210F7C5-0514-42F7-BB80-651144E930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492375"/>
            <a:ext cx="6481762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3818" name="Line 10">
            <a:extLst>
              <a:ext uri="{FF2B5EF4-FFF2-40B4-BE49-F238E27FC236}">
                <a16:creationId xmlns:a16="http://schemas.microsoft.com/office/drawing/2014/main" id="{30DBFB29-08C9-4132-ABE5-7E8FE6CB5B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2275" y="3068638"/>
            <a:ext cx="23749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3820" name="Rectangle 12">
            <a:extLst>
              <a:ext uri="{FF2B5EF4-FFF2-40B4-BE49-F238E27FC236}">
                <a16:creationId xmlns:a16="http://schemas.microsoft.com/office/drawing/2014/main" id="{0BBFEC83-B39A-4E60-A3DD-046E8A90EA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</a:t>
            </a:r>
            <a:r>
              <a:rPr lang="en-US" altLang="zh-CN"/>
              <a:t>X</a:t>
            </a:r>
            <a:r>
              <a:rPr lang="zh-CN" altLang="en-US"/>
              <a:t>关于</a:t>
            </a:r>
            <a:r>
              <a:rPr lang="en-US" altLang="zh-CN"/>
              <a:t>F</a:t>
            </a:r>
            <a:r>
              <a:rPr lang="zh-CN" altLang="en-US"/>
              <a:t>的闭包及其计算</a:t>
            </a:r>
          </a:p>
        </p:txBody>
      </p:sp>
      <p:sp>
        <p:nvSpPr>
          <p:cNvPr id="503821" name="Rectangle 13">
            <a:extLst>
              <a:ext uri="{FF2B5EF4-FFF2-40B4-BE49-F238E27FC236}">
                <a16:creationId xmlns:a16="http://schemas.microsoft.com/office/drawing/2014/main" id="{93F21CA2-99D1-4AA2-BBA1-272DB1B9B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25" y="3801269"/>
            <a:ext cx="8064500" cy="2735262"/>
          </a:xfrm>
          <a:prstGeom prst="rect">
            <a:avLst/>
          </a:prstGeom>
          <a:gradFill rotWithShape="1">
            <a:gsLst>
              <a:gs pos="0">
                <a:srgbClr val="FFCC99"/>
              </a:gs>
              <a:gs pos="50000">
                <a:schemeClr val="bg1"/>
              </a:gs>
              <a:gs pos="100000">
                <a:srgbClr val="FFCC99"/>
              </a:gs>
            </a:gsLst>
            <a:lin ang="270000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解：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(0)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=BD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  ① 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Z=EG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不属于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(0)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(1)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=BDEG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  ② 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Z=</a:t>
            </a:r>
            <a:r>
              <a:rPr lang="en-US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CEG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不属于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(2)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=BCDEG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  ③ </a:t>
            </a:r>
            <a:r>
              <a:rPr lang="en-US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Z=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ABCDEG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不属于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(3)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=ABCDEG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  ④ </a:t>
            </a:r>
            <a:r>
              <a:rPr lang="en-US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Z=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ABCDEG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属于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(3)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= X</a:t>
            </a:r>
            <a:r>
              <a:rPr lang="en-US" altLang="zh-CN" sz="24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(3)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03822" name="Text Box 14">
            <a:extLst>
              <a:ext uri="{FF2B5EF4-FFF2-40B4-BE49-F238E27FC236}">
                <a16:creationId xmlns:a16="http://schemas.microsoft.com/office/drawing/2014/main" id="{8420F884-D3CE-4F67-A5F6-3C1A788A0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4652963"/>
            <a:ext cx="4897438" cy="682625"/>
          </a:xfrm>
          <a:prstGeom prst="rect">
            <a:avLst/>
          </a:prstGeom>
          <a:solidFill>
            <a:srgbClr val="333399"/>
          </a:solidFill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tIns="0" bIns="0" anchor="ctr" anchorCtr="1"/>
          <a:lstStyle/>
          <a:p>
            <a:pPr algn="ctr"/>
            <a:r>
              <a:rPr lang="en-US" altLang="zh-CN" sz="2800" b="1">
                <a:solidFill>
                  <a:srgbClr val="66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baseline="30000">
                <a:solidFill>
                  <a:srgbClr val="66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＋</a:t>
            </a:r>
            <a:r>
              <a:rPr lang="en-US" altLang="zh-CN" sz="2800" b="1">
                <a:solidFill>
                  <a:srgbClr val="66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=ABCDEG</a:t>
            </a:r>
            <a:endParaRPr lang="zh-CN" altLang="en-US" sz="2800" b="1">
              <a:solidFill>
                <a:srgbClr val="66FFFF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03823" name="Text Box 15">
            <a:extLst>
              <a:ext uri="{FF2B5EF4-FFF2-40B4-BE49-F238E27FC236}">
                <a16:creationId xmlns:a16="http://schemas.microsoft.com/office/drawing/2014/main" id="{B0956DEB-ABDA-4927-8B18-BBA28212B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5516563"/>
            <a:ext cx="4897438" cy="682625"/>
          </a:xfrm>
          <a:prstGeom prst="rect">
            <a:avLst/>
          </a:prstGeom>
          <a:solidFill>
            <a:srgbClr val="333399"/>
          </a:solidFill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tIns="0" bIns="0" anchor="ctr" anchorCtr="1"/>
          <a:lstStyle/>
          <a:p>
            <a:pPr algn="ctr"/>
            <a:r>
              <a:rPr lang="en-US" altLang="zh-CN" sz="2800" b="1">
                <a:solidFill>
                  <a:srgbClr val="66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A∈BD</a:t>
            </a:r>
            <a:r>
              <a:rPr lang="zh-CN" altLang="en-US" sz="2800" b="1" baseline="30000">
                <a:solidFill>
                  <a:srgbClr val="66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 sz="2800" b="1">
                <a:solidFill>
                  <a:srgbClr val="66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，故</a:t>
            </a:r>
            <a:r>
              <a:rPr lang="en-US" altLang="zh-CN" sz="28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BD→A</a:t>
            </a:r>
            <a:r>
              <a:rPr lang="zh-CN" altLang="en-US" sz="28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成立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4188"/>
    </mc:Choice>
    <mc:Fallback xmlns="">
      <p:transition spd="slow" advTm="2341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3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38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3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38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3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38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038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038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038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038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038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038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50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503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822" grpId="0" animBg="1"/>
      <p:bldP spid="5038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C6A3BD-29E9-4BDF-97D6-C723919A3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2CE25-5DF3-4D26-B8F8-7572835BF508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505858" name="AutoShape 2">
            <a:extLst>
              <a:ext uri="{FF2B5EF4-FFF2-40B4-BE49-F238E27FC236}">
                <a16:creationId xmlns:a16="http://schemas.microsoft.com/office/drawing/2014/main" id="{FB0DFDE6-57D8-45C2-8077-7A1870666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268413"/>
            <a:ext cx="1439862" cy="792162"/>
          </a:xfrm>
          <a:prstGeom prst="flowChartDelay">
            <a:avLst/>
          </a:prstGeom>
          <a:solidFill>
            <a:srgbClr val="CCFFCC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lIns="0" rIns="0" anchor="ctr" anchorCtr="1"/>
          <a:lstStyle/>
          <a:p>
            <a:pPr algn="ctr"/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总结</a:t>
            </a:r>
          </a:p>
        </p:txBody>
      </p:sp>
      <p:sp>
        <p:nvSpPr>
          <p:cNvPr id="505859" name="AutoShape 3">
            <a:extLst>
              <a:ext uri="{FF2B5EF4-FFF2-40B4-BE49-F238E27FC236}">
                <a16:creationId xmlns:a16="http://schemas.microsoft.com/office/drawing/2014/main" id="{D0C66B70-C5D5-49BB-91B8-00B597983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347913"/>
            <a:ext cx="7416800" cy="1009650"/>
          </a:xfrm>
          <a:prstGeom prst="foldedCorner">
            <a:avLst>
              <a:gd name="adj" fmla="val 12500"/>
            </a:avLst>
          </a:prstGeom>
          <a:solidFill>
            <a:srgbClr val="000080"/>
          </a:solidFill>
          <a:ln w="190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lIns="0" rIns="0" anchor="ctr" anchorCtr="1"/>
          <a:lstStyle/>
          <a:p>
            <a:pPr algn="ctr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lang="zh-CN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通过检验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baseline="30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是否成立，验证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是否成立</a:t>
            </a:r>
          </a:p>
        </p:txBody>
      </p:sp>
      <p:sp>
        <p:nvSpPr>
          <p:cNvPr id="505860" name="Rectangle 4">
            <a:extLst>
              <a:ext uri="{FF2B5EF4-FFF2-40B4-BE49-F238E27FC236}">
                <a16:creationId xmlns:a16="http://schemas.microsoft.com/office/drawing/2014/main" id="{4045BAD6-EF8D-4D9B-BE7C-054E11B20B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</a:t>
            </a:r>
            <a:r>
              <a:rPr lang="en-US" altLang="zh-CN"/>
              <a:t>X</a:t>
            </a:r>
            <a:r>
              <a:rPr lang="zh-CN" altLang="en-US"/>
              <a:t>关于</a:t>
            </a:r>
            <a:r>
              <a:rPr lang="en-US" altLang="zh-CN"/>
              <a:t>F</a:t>
            </a:r>
            <a:r>
              <a:rPr lang="zh-CN" altLang="en-US"/>
              <a:t>的闭包及其计算</a:t>
            </a:r>
          </a:p>
        </p:txBody>
      </p:sp>
      <p:sp>
        <p:nvSpPr>
          <p:cNvPr id="505861" name="AutoShape 5">
            <a:extLst>
              <a:ext uri="{FF2B5EF4-FFF2-40B4-BE49-F238E27FC236}">
                <a16:creationId xmlns:a16="http://schemas.microsoft.com/office/drawing/2014/main" id="{2E98DA6A-FC3D-4415-9FA7-80E8CC555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573463"/>
            <a:ext cx="7416800" cy="2736850"/>
          </a:xfrm>
          <a:prstGeom prst="foldedCorner">
            <a:avLst>
              <a:gd name="adj" fmla="val 12500"/>
            </a:avLst>
          </a:prstGeom>
          <a:solidFill>
            <a:srgbClr val="000080"/>
          </a:solidFill>
          <a:ln w="190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tx1"/>
            </a:outerShdw>
          </a:effectLst>
        </p:spPr>
        <p:txBody>
          <a:bodyPr lIns="0" rIns="0" anchor="ctr" anchorCtr="1"/>
          <a:lstStyle/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给出了另一种计算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800" b="1" baseline="30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的方法：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lang="zh-CN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对任意 </a:t>
            </a:r>
            <a:r>
              <a:rPr lang="en-US" altLang="zh-CN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，求出</a:t>
            </a:r>
            <a:r>
              <a:rPr lang="en-US" altLang="zh-CN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baseline="300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lang="zh-CN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对任意的 </a:t>
            </a:r>
            <a:r>
              <a:rPr lang="en-US" altLang="zh-CN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baseline="300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，输出一个函数依赖</a:t>
            </a:r>
            <a:r>
              <a:rPr lang="en-US" altLang="zh-CN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lang="zh-CN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最后形成的集合即是</a:t>
            </a:r>
            <a:r>
              <a:rPr lang="en-US" altLang="zh-CN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800" b="1" baseline="300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631"/>
    </mc:Choice>
    <mc:Fallback xmlns="">
      <p:transition spd="slow" advTm="556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0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0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0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58" grpId="0" animBg="1"/>
      <p:bldP spid="505859" grpId="0" animBg="1"/>
      <p:bldP spid="50586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灯片编号占位符 5">
            <a:extLst>
              <a:ext uri="{FF2B5EF4-FFF2-40B4-BE49-F238E27FC236}">
                <a16:creationId xmlns:a16="http://schemas.microsoft.com/office/drawing/2014/main" id="{9E017463-A13B-4DC7-A112-222F0684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DF97-8CA0-4E47-8DDF-30579CB2EA52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533506" name="Rectangle 2">
            <a:extLst>
              <a:ext uri="{FF2B5EF4-FFF2-40B4-BE49-F238E27FC236}">
                <a16:creationId xmlns:a16="http://schemas.microsoft.com/office/drawing/2014/main" id="{4B3CA751-A6E6-42A6-A774-06EDAEEF24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33507" name="Rectangle 3">
            <a:extLst>
              <a:ext uri="{FF2B5EF4-FFF2-40B4-BE49-F238E27FC236}">
                <a16:creationId xmlns:a16="http://schemas.microsoft.com/office/drawing/2014/main" id="{50E4B343-F6E3-4CA5-B4B0-A2E5EB9E3F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zh-CN" altLang="en-US" i="1">
                <a:solidFill>
                  <a:srgbClr val="006600"/>
                </a:solidFill>
                <a:latin typeface="楷体_GB2312" pitchFamily="49" charset="-122"/>
              </a:rPr>
              <a:t>例</a:t>
            </a:r>
            <a:r>
              <a:rPr lang="zh-CN" altLang="en-US">
                <a:latin typeface="楷体_GB2312" pitchFamily="49" charset="-122"/>
              </a:rPr>
              <a:t>： </a:t>
            </a:r>
            <a:r>
              <a:rPr lang="en-US" altLang="zh-CN">
                <a:latin typeface="楷体_GB2312" pitchFamily="49" charset="-122"/>
              </a:rPr>
              <a:t>R(</a:t>
            </a:r>
            <a:r>
              <a:rPr lang="zh-CN" altLang="en-US">
                <a:latin typeface="楷体_GB2312" pitchFamily="49" charset="-122"/>
              </a:rPr>
              <a:t>教员，教研室，课程号，课程名</a:t>
            </a:r>
            <a:r>
              <a:rPr lang="en-US" altLang="zh-CN">
                <a:latin typeface="楷体_GB2312" pitchFamily="49" charset="-122"/>
              </a:rPr>
              <a:t>)</a:t>
            </a:r>
            <a:r>
              <a:rPr lang="zh-CN" altLang="en-US">
                <a:latin typeface="楷体_GB2312" pitchFamily="49" charset="-122"/>
              </a:rPr>
              <a:t>，</a:t>
            </a:r>
          </a:p>
          <a:p>
            <a:pPr>
              <a:buClrTx/>
              <a:buFontTx/>
              <a:buNone/>
            </a:pPr>
            <a:r>
              <a:rPr lang="zh-CN" altLang="en-US">
                <a:latin typeface="楷体_GB2312" pitchFamily="49" charset="-122"/>
              </a:rPr>
              <a:t>　　键</a:t>
            </a:r>
            <a:r>
              <a:rPr lang="en-US" altLang="zh-CN">
                <a:latin typeface="楷体_GB2312" pitchFamily="49" charset="-122"/>
              </a:rPr>
              <a:t>(</a:t>
            </a:r>
            <a:r>
              <a:rPr lang="zh-CN" altLang="en-US">
                <a:latin typeface="楷体_GB2312" pitchFamily="49" charset="-122"/>
              </a:rPr>
              <a:t>教员，课程号</a:t>
            </a:r>
            <a:r>
              <a:rPr lang="en-US" altLang="zh-CN">
                <a:latin typeface="楷体_GB2312" pitchFamily="49" charset="-122"/>
              </a:rPr>
              <a:t>)</a:t>
            </a:r>
            <a:endParaRPr lang="zh-CN" altLang="en-US">
              <a:latin typeface="楷体_GB2312" pitchFamily="49" charset="-122"/>
            </a:endParaRPr>
          </a:p>
        </p:txBody>
      </p:sp>
      <p:graphicFrame>
        <p:nvGraphicFramePr>
          <p:cNvPr id="533508" name="Group 4">
            <a:extLst>
              <a:ext uri="{FF2B5EF4-FFF2-40B4-BE49-F238E27FC236}">
                <a16:creationId xmlns:a16="http://schemas.microsoft.com/office/drawing/2014/main" id="{2F323904-9A72-4E8B-ADA9-3E8DF93E42FC}"/>
              </a:ext>
            </a:extLst>
          </p:cNvPr>
          <p:cNvGraphicFramePr>
            <a:graphicFrameLocks noGrp="1"/>
          </p:cNvGraphicFramePr>
          <p:nvPr/>
        </p:nvGraphicFramePr>
        <p:xfrm>
          <a:off x="1279525" y="2708275"/>
          <a:ext cx="6577013" cy="3241676"/>
        </p:xfrm>
        <a:graphic>
          <a:graphicData uri="http://schemas.openxmlformats.org/drawingml/2006/table">
            <a:tbl>
              <a:tblPr/>
              <a:tblGrid>
                <a:gridCol w="1387475">
                  <a:extLst>
                    <a:ext uri="{9D8B030D-6E8A-4147-A177-3AD203B41FA5}">
                      <a16:colId xmlns:a16="http://schemas.microsoft.com/office/drawing/2014/main" val="4011324097"/>
                    </a:ext>
                  </a:extLst>
                </a:gridCol>
                <a:gridCol w="1493838">
                  <a:extLst>
                    <a:ext uri="{9D8B030D-6E8A-4147-A177-3AD203B41FA5}">
                      <a16:colId xmlns:a16="http://schemas.microsoft.com/office/drawing/2014/main" val="3178692130"/>
                    </a:ext>
                  </a:extLst>
                </a:gridCol>
                <a:gridCol w="1606550">
                  <a:extLst>
                    <a:ext uri="{9D8B030D-6E8A-4147-A177-3AD203B41FA5}">
                      <a16:colId xmlns:a16="http://schemas.microsoft.com/office/drawing/2014/main" val="2568751050"/>
                    </a:ext>
                  </a:extLst>
                </a:gridCol>
                <a:gridCol w="2089150">
                  <a:extLst>
                    <a:ext uri="{9D8B030D-6E8A-4147-A177-3AD203B41FA5}">
                      <a16:colId xmlns:a16="http://schemas.microsoft.com/office/drawing/2014/main" val="215283338"/>
                    </a:ext>
                  </a:extLst>
                </a:gridCol>
              </a:tblGrid>
              <a:tr h="5413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教员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教研室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课程名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368666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徐浩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信息系统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271514"/>
                  </a:ext>
                </a:extLst>
              </a:tr>
              <a:tr h="5413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徐浩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094754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张国庆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602682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张国庆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VFP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设计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101451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通信原理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044659"/>
                  </a:ext>
                </a:extLst>
              </a:tr>
            </a:tbl>
          </a:graphicData>
        </a:graphic>
      </p:graphicFrame>
      <p:sp>
        <p:nvSpPr>
          <p:cNvPr id="533545" name="AutoShape 41">
            <a:extLst>
              <a:ext uri="{FF2B5EF4-FFF2-40B4-BE49-F238E27FC236}">
                <a16:creationId xmlns:a16="http://schemas.microsoft.com/office/drawing/2014/main" id="{0B12FA0F-E6E6-47D0-A8F7-D73F1746D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060575"/>
            <a:ext cx="5976937" cy="2592388"/>
          </a:xfrm>
          <a:prstGeom prst="wedgeRoundRectCallout">
            <a:avLst>
              <a:gd name="adj1" fmla="val 12708"/>
              <a:gd name="adj2" fmla="val -38977"/>
              <a:gd name="adj3" fmla="val 16667"/>
            </a:avLst>
          </a:prstGeom>
          <a:gradFill rotWithShape="1">
            <a:gsLst>
              <a:gs pos="0">
                <a:srgbClr val="C9E5FF">
                  <a:gamma/>
                  <a:tint val="0"/>
                  <a:invGamma/>
                </a:srgbClr>
              </a:gs>
              <a:gs pos="100000">
                <a:srgbClr val="C9E5FF"/>
              </a:gs>
            </a:gsLst>
            <a:path path="rect">
              <a:fillToRect l="50000" t="50000" r="50000" b="50000"/>
            </a:path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F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＝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{  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教研室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</a:p>
          <a:p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       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课程名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, </a:t>
            </a:r>
          </a:p>
          <a:p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       {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住址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, </a:t>
            </a:r>
          </a:p>
          <a:p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       {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{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教员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,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课程名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},</a:t>
            </a:r>
          </a:p>
          <a:p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　　　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{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教研室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教研室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</a:p>
          <a:p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       {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课程名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课程号 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533546" name="AutoShape 42">
            <a:extLst>
              <a:ext uri="{FF2B5EF4-FFF2-40B4-BE49-F238E27FC236}">
                <a16:creationId xmlns:a16="http://schemas.microsoft.com/office/drawing/2014/main" id="{6B656691-3048-4BD3-97EF-80EBE44AF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508500"/>
            <a:ext cx="6265862" cy="1727200"/>
          </a:xfrm>
          <a:prstGeom prst="wedgeRoundRectCallout">
            <a:avLst>
              <a:gd name="adj1" fmla="val -1889"/>
              <a:gd name="adj2" fmla="val -19208"/>
              <a:gd name="adj3" fmla="val 16667"/>
            </a:avLst>
          </a:prstGeom>
          <a:gradFill rotWithShape="1">
            <a:gsLst>
              <a:gs pos="0">
                <a:srgbClr val="E8C9FF">
                  <a:gamma/>
                  <a:tint val="0"/>
                  <a:invGamma/>
                </a:srgbClr>
              </a:gs>
              <a:gs pos="100000">
                <a:srgbClr val="E8C9FF"/>
              </a:gs>
            </a:gsLst>
            <a:path path="rect">
              <a:fillToRect l="50000" t="50000" r="50000" b="50000"/>
            </a:path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F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＝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{  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教研室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</a:p>
          <a:p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　　   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{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课程名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教研室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</a:p>
          <a:p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        {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课程名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课程名    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533547" name="AutoShape 43">
            <a:extLst>
              <a:ext uri="{FF2B5EF4-FFF2-40B4-BE49-F238E27FC236}">
                <a16:creationId xmlns:a16="http://schemas.microsoft.com/office/drawing/2014/main" id="{4C610AA8-A83B-422F-9863-DFB650CDD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429000"/>
            <a:ext cx="7488238" cy="1150938"/>
          </a:xfrm>
          <a:prstGeom prst="foldedCorner">
            <a:avLst>
              <a:gd name="adj" fmla="val 12500"/>
            </a:avLst>
          </a:prstGeom>
          <a:solidFill>
            <a:srgbClr val="008080"/>
          </a:solidFill>
          <a:ln w="12700" cap="sq">
            <a:solidFill>
              <a:srgbClr val="000066"/>
            </a:solidFill>
            <a:round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>
            <a:lvl1pPr marL="1746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kumimoji="0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8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8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有什么不同？它们是不是一样的呢？</a:t>
            </a:r>
          </a:p>
        </p:txBody>
      </p:sp>
      <p:sp>
        <p:nvSpPr>
          <p:cNvPr id="533548" name="AutoShape 44">
            <a:extLst>
              <a:ext uri="{FF2B5EF4-FFF2-40B4-BE49-F238E27FC236}">
                <a16:creationId xmlns:a16="http://schemas.microsoft.com/office/drawing/2014/main" id="{25A6A790-7AD9-4820-B0EC-40A622CC9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88900"/>
            <a:ext cx="1727200" cy="747713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FFFF99"/>
              </a:gs>
              <a:gs pos="50000">
                <a:srgbClr val="FFFFFF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algn="ctr"/>
            <a:r>
              <a:rPr lang="zh-CN" altLang="en-US" sz="32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引入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222"/>
    </mc:Choice>
    <mc:Fallback xmlns="">
      <p:transition spd="slow" advTm="942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53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53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3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33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45" grpId="0" animBg="1"/>
      <p:bldP spid="533546" grpId="0" animBg="1"/>
      <p:bldP spid="53354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3.8|2.4|0.9|33.1|3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9.9|2.1|2.8|12.2|1.1|6|1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39.5|52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23.3|13.2|18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|13.4|2.8|10.9|11.3|15.1|8.2|4.7|6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9|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47.2|22.5|29.9|65.4|11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7.1|5.3|3.9|31.8|1.4|41.7|9|53.3|5.5|30.2|2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1|40.4|9.1"/>
</p:tagLst>
</file>

<file path=ppt/theme/theme1.xml><?xml version="1.0" encoding="utf-8"?>
<a:theme xmlns:a="http://schemas.openxmlformats.org/drawingml/2006/main" name="cdb2004165l">
  <a:themeElements>
    <a:clrScheme name="cdb2004165l 3">
      <a:dk1>
        <a:srgbClr val="000000"/>
      </a:dk1>
      <a:lt1>
        <a:srgbClr val="FFFFFF"/>
      </a:lt1>
      <a:dk2>
        <a:srgbClr val="37399B"/>
      </a:dk2>
      <a:lt2>
        <a:srgbClr val="C0C0C0"/>
      </a:lt2>
      <a:accent1>
        <a:srgbClr val="699DE9"/>
      </a:accent1>
      <a:accent2>
        <a:srgbClr val="EFB049"/>
      </a:accent2>
      <a:accent3>
        <a:srgbClr val="FFFFFF"/>
      </a:accent3>
      <a:accent4>
        <a:srgbClr val="000000"/>
      </a:accent4>
      <a:accent5>
        <a:srgbClr val="B9CCF2"/>
      </a:accent5>
      <a:accent6>
        <a:srgbClr val="D99F41"/>
      </a:accent6>
      <a:hlink>
        <a:srgbClr val="7476DC"/>
      </a:hlink>
      <a:folHlink>
        <a:srgbClr val="9AC664"/>
      </a:folHlink>
    </a:clrScheme>
    <a:fontScheme name="cdb2004165l">
      <a:majorFont>
        <a:latin typeface="Arial"/>
        <a:ea typeface="幼圆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cdb2004165l 1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6F4EE6"/>
        </a:accent1>
        <a:accent2>
          <a:srgbClr val="69BFF9"/>
        </a:accent2>
        <a:accent3>
          <a:srgbClr val="FFFFFF"/>
        </a:accent3>
        <a:accent4>
          <a:srgbClr val="000000"/>
        </a:accent4>
        <a:accent5>
          <a:srgbClr val="BBB2F0"/>
        </a:accent5>
        <a:accent6>
          <a:srgbClr val="5EADE2"/>
        </a:accent6>
        <a:hlink>
          <a:srgbClr val="D17FB6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65l 2">
        <a:dk1>
          <a:srgbClr val="000000"/>
        </a:dk1>
        <a:lt1>
          <a:srgbClr val="FFFFFF"/>
        </a:lt1>
        <a:dk2>
          <a:srgbClr val="165E86"/>
        </a:dk2>
        <a:lt2>
          <a:srgbClr val="969696"/>
        </a:lt2>
        <a:accent1>
          <a:srgbClr val="33C5A9"/>
        </a:accent1>
        <a:accent2>
          <a:srgbClr val="90DE88"/>
        </a:accent2>
        <a:accent3>
          <a:srgbClr val="FFFFFF"/>
        </a:accent3>
        <a:accent4>
          <a:srgbClr val="000000"/>
        </a:accent4>
        <a:accent5>
          <a:srgbClr val="ADDFD1"/>
        </a:accent5>
        <a:accent6>
          <a:srgbClr val="82C97B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65l 3">
        <a:dk1>
          <a:srgbClr val="000000"/>
        </a:dk1>
        <a:lt1>
          <a:srgbClr val="FFFFFF"/>
        </a:lt1>
        <a:dk2>
          <a:srgbClr val="37399B"/>
        </a:dk2>
        <a:lt2>
          <a:srgbClr val="C0C0C0"/>
        </a:lt2>
        <a:accent1>
          <a:srgbClr val="699DE9"/>
        </a:accent1>
        <a:accent2>
          <a:srgbClr val="EFB049"/>
        </a:accent2>
        <a:accent3>
          <a:srgbClr val="FFFFFF"/>
        </a:accent3>
        <a:accent4>
          <a:srgbClr val="000000"/>
        </a:accent4>
        <a:accent5>
          <a:srgbClr val="B9CCF2"/>
        </a:accent5>
        <a:accent6>
          <a:srgbClr val="D99F41"/>
        </a:accent6>
        <a:hlink>
          <a:srgbClr val="7476DC"/>
        </a:hlink>
        <a:folHlink>
          <a:srgbClr val="9AC66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10127</TotalTime>
  <Words>1095</Words>
  <Application>Microsoft Office PowerPoint</Application>
  <PresentationFormat>全屏显示(4:3)</PresentationFormat>
  <Paragraphs>159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黑体</vt:lpstr>
      <vt:lpstr>楷体_GB2312</vt:lpstr>
      <vt:lpstr>Arial</vt:lpstr>
      <vt:lpstr>Comic Sans MS</vt:lpstr>
      <vt:lpstr>Tahoma</vt:lpstr>
      <vt:lpstr>Times New Roman</vt:lpstr>
      <vt:lpstr>Wingdings</vt:lpstr>
      <vt:lpstr>Wingdings 2</vt:lpstr>
      <vt:lpstr>cdb2004165l</vt:lpstr>
      <vt:lpstr>三、X关于F的闭包及其计算</vt:lpstr>
      <vt:lpstr>三、X关于F的闭包及其计算</vt:lpstr>
      <vt:lpstr>三、X关于F的闭包及其计算</vt:lpstr>
      <vt:lpstr>三、X关于F的闭包及其计算</vt:lpstr>
      <vt:lpstr>三、X关于F的闭包及其计算</vt:lpstr>
      <vt:lpstr>三、X关于F的闭包及其计算</vt:lpstr>
      <vt:lpstr>三、X关于F的闭包及其计算</vt:lpstr>
      <vt:lpstr>三、X关于F的闭包及其计算</vt:lpstr>
      <vt:lpstr>三、X关于F的闭包及其计算</vt:lpstr>
      <vt:lpstr>三、X关于F的闭包及其计算</vt:lpstr>
      <vt:lpstr>三、X关于F的闭包及其计算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543</cp:revision>
  <cp:lastPrinted>2000-08-23T09:10:16Z</cp:lastPrinted>
  <dcterms:created xsi:type="dcterms:W3CDTF">1601-01-01T00:00:00Z</dcterms:created>
  <dcterms:modified xsi:type="dcterms:W3CDTF">2021-04-20T14:37:24Z</dcterms:modified>
</cp:coreProperties>
</file>