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notesSlides/notesSlide11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7" r:id="rId1"/>
  </p:sldMasterIdLst>
  <p:notesMasterIdLst>
    <p:notesMasterId r:id="rId16"/>
  </p:notesMasterIdLst>
  <p:handoutMasterIdLst>
    <p:handoutMasterId r:id="rId17"/>
  </p:handoutMasterIdLst>
  <p:sldIdLst>
    <p:sldId id="603" r:id="rId2"/>
    <p:sldId id="604" r:id="rId3"/>
    <p:sldId id="605" r:id="rId4"/>
    <p:sldId id="606" r:id="rId5"/>
    <p:sldId id="607" r:id="rId6"/>
    <p:sldId id="608" r:id="rId7"/>
    <p:sldId id="609" r:id="rId8"/>
    <p:sldId id="610" r:id="rId9"/>
    <p:sldId id="611" r:id="rId10"/>
    <p:sldId id="612" r:id="rId11"/>
    <p:sldId id="614" r:id="rId12"/>
    <p:sldId id="615" r:id="rId13"/>
    <p:sldId id="618" r:id="rId14"/>
    <p:sldId id="595" r:id="rId15"/>
  </p:sldIdLst>
  <p:sldSz cx="9144000" cy="6858000" type="screen4x3"/>
  <p:notesSz cx="6662738" cy="98329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99FFCC"/>
    <a:srgbClr val="9900FF"/>
    <a:srgbClr val="CC00FF"/>
    <a:srgbClr val="990033"/>
    <a:srgbClr val="9900CC"/>
    <a:srgbClr val="6600CC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75" autoAdjust="0"/>
    <p:restoredTop sz="86449" autoAdjust="0"/>
  </p:normalViewPr>
  <p:slideViewPr>
    <p:cSldViewPr>
      <p:cViewPr varScale="1">
        <p:scale>
          <a:sx n="113" d="100"/>
          <a:sy n="113" d="100"/>
        </p:scale>
        <p:origin x="1540" y="80"/>
      </p:cViewPr>
      <p:guideLst>
        <p:guide orient="horz" pos="158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96114925-2787-4F69-9CE2-E0F5403D6C5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64268F38-461F-41E5-9C8C-6881D9F79F5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0000" y="0"/>
            <a:ext cx="281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7524" name="Rectangle 4">
            <a:extLst>
              <a:ext uri="{FF2B5EF4-FFF2-40B4-BE49-F238E27FC236}">
                <a16:creationId xmlns:a16="http://schemas.microsoft.com/office/drawing/2014/main" id="{D351D54A-68BB-4DC1-8E45-40FF2FDA718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7525" name="Rectangle 5">
            <a:extLst>
              <a:ext uri="{FF2B5EF4-FFF2-40B4-BE49-F238E27FC236}">
                <a16:creationId xmlns:a16="http://schemas.microsoft.com/office/drawing/2014/main" id="{2B7621A5-E60E-44BD-B731-8478B6A075A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0000" y="9372600"/>
            <a:ext cx="281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A834E118-333A-4BB8-8E1A-7979CCB3A16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>
            <a:extLst>
              <a:ext uri="{FF2B5EF4-FFF2-40B4-BE49-F238E27FC236}">
                <a16:creationId xmlns:a16="http://schemas.microsoft.com/office/drawing/2014/main" id="{28130078-918D-4EBA-9433-BAB4C4948BA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7663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342019" name="Rectangle 3">
            <a:extLst>
              <a:ext uri="{FF2B5EF4-FFF2-40B4-BE49-F238E27FC236}">
                <a16:creationId xmlns:a16="http://schemas.microsoft.com/office/drawing/2014/main" id="{DF476336-552F-461D-AAE9-07FA2CF0ED8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73488" y="0"/>
            <a:ext cx="2887662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42020" name="Rectangle 4">
            <a:extLst>
              <a:ext uri="{FF2B5EF4-FFF2-40B4-BE49-F238E27FC236}">
                <a16:creationId xmlns:a16="http://schemas.microsoft.com/office/drawing/2014/main" id="{61B73830-8C04-4366-A422-39A74DFC03E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4713" y="738188"/>
            <a:ext cx="4914900" cy="36861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2021" name="Rectangle 5">
            <a:extLst>
              <a:ext uri="{FF2B5EF4-FFF2-40B4-BE49-F238E27FC236}">
                <a16:creationId xmlns:a16="http://schemas.microsoft.com/office/drawing/2014/main" id="{E2901E58-882C-428B-93C4-DF3606D9FE9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750" y="4670425"/>
            <a:ext cx="5329238" cy="4424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42022" name="Rectangle 6">
            <a:extLst>
              <a:ext uri="{FF2B5EF4-FFF2-40B4-BE49-F238E27FC236}">
                <a16:creationId xmlns:a16="http://schemas.microsoft.com/office/drawing/2014/main" id="{05E54F48-FAD6-49AF-AEA2-68B38C393E4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39263"/>
            <a:ext cx="2887663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42023" name="Rectangle 7">
            <a:extLst>
              <a:ext uri="{FF2B5EF4-FFF2-40B4-BE49-F238E27FC236}">
                <a16:creationId xmlns:a16="http://schemas.microsoft.com/office/drawing/2014/main" id="{A57B8ACE-5D37-4C28-A4F5-03F7A31E25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3488" y="9339263"/>
            <a:ext cx="2887662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17BC72C0-7A26-44CD-A676-35D7261CE32E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784E869F-7C5F-4F53-BAF4-863D5C0147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F600A81-F250-4871-B1D6-948033DC83FC}" type="slidenum">
              <a:rPr lang="zh-CN" altLang="en-US"/>
              <a:pPr/>
              <a:t>1</a:t>
            </a:fld>
            <a:endParaRPr lang="en-US" altLang="zh-CN"/>
          </a:p>
        </p:txBody>
      </p:sp>
      <p:sp>
        <p:nvSpPr>
          <p:cNvPr id="535554" name="Rectangle 2">
            <a:extLst>
              <a:ext uri="{FF2B5EF4-FFF2-40B4-BE49-F238E27FC236}">
                <a16:creationId xmlns:a16="http://schemas.microsoft.com/office/drawing/2014/main" id="{BE078AFF-540F-4CF1-A0F7-DD5DF7AC88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5555" name="Rectangle 3">
            <a:extLst>
              <a:ext uri="{FF2B5EF4-FFF2-40B4-BE49-F238E27FC236}">
                <a16:creationId xmlns:a16="http://schemas.microsoft.com/office/drawing/2014/main" id="{C64AE9C1-126C-4B25-BDF5-708910F0E2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101B316-9858-40FE-A023-4393248A1D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090B5A-70F5-4DEA-B66A-ACBE3381EED2}" type="slidenum">
              <a:rPr lang="zh-CN" altLang="en-US"/>
              <a:pPr/>
              <a:t>2</a:t>
            </a:fld>
            <a:endParaRPr lang="en-US" altLang="zh-CN"/>
          </a:p>
        </p:txBody>
      </p:sp>
      <p:sp>
        <p:nvSpPr>
          <p:cNvPr id="537602" name="Rectangle 2">
            <a:extLst>
              <a:ext uri="{FF2B5EF4-FFF2-40B4-BE49-F238E27FC236}">
                <a16:creationId xmlns:a16="http://schemas.microsoft.com/office/drawing/2014/main" id="{5B20427A-AC42-454B-BD49-885969846D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7603" name="Rectangle 3">
            <a:extLst>
              <a:ext uri="{FF2B5EF4-FFF2-40B4-BE49-F238E27FC236}">
                <a16:creationId xmlns:a16="http://schemas.microsoft.com/office/drawing/2014/main" id="{B24BF2E0-0AB2-462F-89F8-DABD07550A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7D6F91E-4002-4755-9647-67B57E01EB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C0E621-873F-4422-B151-6A764CA0E6D1}" type="slidenum">
              <a:rPr lang="zh-CN" altLang="en-US"/>
              <a:pPr/>
              <a:t>3</a:t>
            </a:fld>
            <a:endParaRPr lang="en-US" altLang="zh-CN"/>
          </a:p>
        </p:txBody>
      </p:sp>
      <p:sp>
        <p:nvSpPr>
          <p:cNvPr id="539650" name="Rectangle 2">
            <a:extLst>
              <a:ext uri="{FF2B5EF4-FFF2-40B4-BE49-F238E27FC236}">
                <a16:creationId xmlns:a16="http://schemas.microsoft.com/office/drawing/2014/main" id="{3521503F-33F6-4A23-92D5-776036CA08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9651" name="Rectangle 3">
            <a:extLst>
              <a:ext uri="{FF2B5EF4-FFF2-40B4-BE49-F238E27FC236}">
                <a16:creationId xmlns:a16="http://schemas.microsoft.com/office/drawing/2014/main" id="{771ED5FF-BD70-44BF-ADDE-757DDAB456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0EE50A7-1797-49AA-9E9B-5BC72E41DB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8E58CE-9741-4AF5-9CA1-96FE7829F957}" type="slidenum">
              <a:rPr lang="zh-CN" altLang="en-US"/>
              <a:pPr/>
              <a:t>4</a:t>
            </a:fld>
            <a:endParaRPr lang="en-US" altLang="zh-CN"/>
          </a:p>
        </p:txBody>
      </p:sp>
      <p:sp>
        <p:nvSpPr>
          <p:cNvPr id="541698" name="Rectangle 2">
            <a:extLst>
              <a:ext uri="{FF2B5EF4-FFF2-40B4-BE49-F238E27FC236}">
                <a16:creationId xmlns:a16="http://schemas.microsoft.com/office/drawing/2014/main" id="{93BF304C-F3C0-4B9E-9B1B-ABCB96A113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1699" name="Rectangle 3">
            <a:extLst>
              <a:ext uri="{FF2B5EF4-FFF2-40B4-BE49-F238E27FC236}">
                <a16:creationId xmlns:a16="http://schemas.microsoft.com/office/drawing/2014/main" id="{18460651-0FCB-4EB7-B619-DC33915443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17328F6-8453-4EAB-8AB4-D39BDB7140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7929BFD-63F9-400E-9CED-A4CD01ED19ED}" type="slidenum">
              <a:rPr lang="zh-CN" altLang="en-US"/>
              <a:pPr/>
              <a:t>5</a:t>
            </a:fld>
            <a:endParaRPr lang="en-US" altLang="zh-CN"/>
          </a:p>
        </p:txBody>
      </p:sp>
      <p:sp>
        <p:nvSpPr>
          <p:cNvPr id="543746" name="Rectangle 2">
            <a:extLst>
              <a:ext uri="{FF2B5EF4-FFF2-40B4-BE49-F238E27FC236}">
                <a16:creationId xmlns:a16="http://schemas.microsoft.com/office/drawing/2014/main" id="{C19E0C80-C9EE-48AF-B242-6496A00B40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3747" name="Rectangle 3">
            <a:extLst>
              <a:ext uri="{FF2B5EF4-FFF2-40B4-BE49-F238E27FC236}">
                <a16:creationId xmlns:a16="http://schemas.microsoft.com/office/drawing/2014/main" id="{173D328D-0421-4467-88B5-BF03C8B6DE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9E79BE7-3A9D-46C5-AD75-D46ACBA98C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49D624-949A-47DC-8448-887F81E18ADA}" type="slidenum">
              <a:rPr lang="zh-CN" altLang="en-US"/>
              <a:pPr/>
              <a:t>6</a:t>
            </a:fld>
            <a:endParaRPr lang="en-US" altLang="zh-CN"/>
          </a:p>
        </p:txBody>
      </p:sp>
      <p:sp>
        <p:nvSpPr>
          <p:cNvPr id="545794" name="Rectangle 2">
            <a:extLst>
              <a:ext uri="{FF2B5EF4-FFF2-40B4-BE49-F238E27FC236}">
                <a16:creationId xmlns:a16="http://schemas.microsoft.com/office/drawing/2014/main" id="{5D58A07F-FBD3-473D-8FEA-3CDCCA6AA6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5795" name="Rectangle 3">
            <a:extLst>
              <a:ext uri="{FF2B5EF4-FFF2-40B4-BE49-F238E27FC236}">
                <a16:creationId xmlns:a16="http://schemas.microsoft.com/office/drawing/2014/main" id="{703DAA70-EF8C-42B5-AB97-BA932BA47B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91F80F2-BED6-4E92-9B7F-B089F70B0B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8E9DEB-FF1E-4BE3-A99C-7E9F409A0AE9}" type="slidenum">
              <a:rPr lang="zh-CN" altLang="en-US"/>
              <a:pPr/>
              <a:t>7</a:t>
            </a:fld>
            <a:endParaRPr lang="en-US" altLang="zh-CN"/>
          </a:p>
        </p:txBody>
      </p:sp>
      <p:sp>
        <p:nvSpPr>
          <p:cNvPr id="547842" name="Rectangle 2">
            <a:extLst>
              <a:ext uri="{FF2B5EF4-FFF2-40B4-BE49-F238E27FC236}">
                <a16:creationId xmlns:a16="http://schemas.microsoft.com/office/drawing/2014/main" id="{71BC90F9-F297-4C32-99C7-2891D69AD1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7843" name="Rectangle 3">
            <a:extLst>
              <a:ext uri="{FF2B5EF4-FFF2-40B4-BE49-F238E27FC236}">
                <a16:creationId xmlns:a16="http://schemas.microsoft.com/office/drawing/2014/main" id="{A461641C-D537-420F-A096-C2FF7C5055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0F48198-2B1F-4A5B-83F3-FB5F1E7C5A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7160F6E-9CFE-4EE1-96FE-BC665FC59E2D}" type="slidenum">
              <a:rPr lang="zh-CN" altLang="en-US"/>
              <a:pPr/>
              <a:t>8</a:t>
            </a:fld>
            <a:endParaRPr lang="en-US" altLang="zh-CN"/>
          </a:p>
        </p:txBody>
      </p:sp>
      <p:sp>
        <p:nvSpPr>
          <p:cNvPr id="549890" name="Rectangle 2">
            <a:extLst>
              <a:ext uri="{FF2B5EF4-FFF2-40B4-BE49-F238E27FC236}">
                <a16:creationId xmlns:a16="http://schemas.microsoft.com/office/drawing/2014/main" id="{AFF66410-A331-4E0D-9C64-9A1A758B89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9891" name="Rectangle 3">
            <a:extLst>
              <a:ext uri="{FF2B5EF4-FFF2-40B4-BE49-F238E27FC236}">
                <a16:creationId xmlns:a16="http://schemas.microsoft.com/office/drawing/2014/main" id="{1A8A44F1-F725-4001-9ED4-788B30B1E8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F32360D-FB16-496F-ADEE-4B6C361AC4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D82CA6-793A-4E9D-A5D9-E63BD48671EA}" type="slidenum">
              <a:rPr lang="zh-CN" altLang="en-US"/>
              <a:pPr/>
              <a:t>9</a:t>
            </a:fld>
            <a:endParaRPr lang="en-US" altLang="zh-CN"/>
          </a:p>
        </p:txBody>
      </p:sp>
      <p:sp>
        <p:nvSpPr>
          <p:cNvPr id="551938" name="Rectangle 2">
            <a:extLst>
              <a:ext uri="{FF2B5EF4-FFF2-40B4-BE49-F238E27FC236}">
                <a16:creationId xmlns:a16="http://schemas.microsoft.com/office/drawing/2014/main" id="{5E05BC2E-6A5E-411C-A554-FE0EFCED7B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1939" name="Rectangle 3">
            <a:extLst>
              <a:ext uri="{FF2B5EF4-FFF2-40B4-BE49-F238E27FC236}">
                <a16:creationId xmlns:a16="http://schemas.microsoft.com/office/drawing/2014/main" id="{A2FEF379-B609-439D-8A19-DD7B00B1B7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9DCBC3B-EA35-4456-BE46-FEDEAE639C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201C1E-F134-4224-A283-3CA10BAA5680}" type="slidenum">
              <a:rPr lang="zh-CN" altLang="en-US"/>
              <a:pPr/>
              <a:t>10</a:t>
            </a:fld>
            <a:endParaRPr lang="en-US" altLang="zh-CN"/>
          </a:p>
        </p:txBody>
      </p:sp>
      <p:sp>
        <p:nvSpPr>
          <p:cNvPr id="553986" name="Rectangle 2">
            <a:extLst>
              <a:ext uri="{FF2B5EF4-FFF2-40B4-BE49-F238E27FC236}">
                <a16:creationId xmlns:a16="http://schemas.microsoft.com/office/drawing/2014/main" id="{272924E0-2486-481C-8E03-0223285A41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987" name="Rectangle 3">
            <a:extLst>
              <a:ext uri="{FF2B5EF4-FFF2-40B4-BE49-F238E27FC236}">
                <a16:creationId xmlns:a16="http://schemas.microsoft.com/office/drawing/2014/main" id="{53444F78-E027-4DDC-AB82-3C8291EFAC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CA4F13B-7F5F-489E-8212-D83C78CDFC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DF4382-5A69-4977-A248-EF4F5CA1CE39}" type="slidenum">
              <a:rPr lang="zh-CN" altLang="en-US"/>
              <a:pPr/>
              <a:t>11</a:t>
            </a:fld>
            <a:endParaRPr lang="en-US" altLang="zh-CN"/>
          </a:p>
        </p:txBody>
      </p:sp>
      <p:sp>
        <p:nvSpPr>
          <p:cNvPr id="558082" name="Rectangle 2">
            <a:extLst>
              <a:ext uri="{FF2B5EF4-FFF2-40B4-BE49-F238E27FC236}">
                <a16:creationId xmlns:a16="http://schemas.microsoft.com/office/drawing/2014/main" id="{6FC5B753-BF38-455E-BC6E-5751811601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8083" name="Rectangle 3">
            <a:extLst>
              <a:ext uri="{FF2B5EF4-FFF2-40B4-BE49-F238E27FC236}">
                <a16:creationId xmlns:a16="http://schemas.microsoft.com/office/drawing/2014/main" id="{94375424-DA24-4DDF-B9E4-3A1BFCC871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23" name="Rectangle 7">
            <a:extLst>
              <a:ext uri="{FF2B5EF4-FFF2-40B4-BE49-F238E27FC236}">
                <a16:creationId xmlns:a16="http://schemas.microsoft.com/office/drawing/2014/main" id="{C1069965-8CCF-40AF-BEEC-BD84F5CEDAF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white">
          <a:xfrm>
            <a:off x="61913" y="6453188"/>
            <a:ext cx="2133600" cy="288925"/>
          </a:xfrm>
        </p:spPr>
        <p:txBody>
          <a:bodyPr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444424" name="Rectangle 8">
            <a:extLst>
              <a:ext uri="{FF2B5EF4-FFF2-40B4-BE49-F238E27FC236}">
                <a16:creationId xmlns:a16="http://schemas.microsoft.com/office/drawing/2014/main" id="{D9479681-A5F8-4BDE-A494-B37E2D9176F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white">
          <a:xfrm>
            <a:off x="3124200" y="6477000"/>
            <a:ext cx="2895600" cy="244475"/>
          </a:xfrm>
        </p:spPr>
        <p:txBody>
          <a:bodyPr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444425" name="Rectangle 9">
            <a:extLst>
              <a:ext uri="{FF2B5EF4-FFF2-40B4-BE49-F238E27FC236}">
                <a16:creationId xmlns:a16="http://schemas.microsoft.com/office/drawing/2014/main" id="{AC1B3D39-1AC4-4022-810B-9EEF79BF562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white">
          <a:xfrm>
            <a:off x="6588125" y="6477000"/>
            <a:ext cx="2133600" cy="244475"/>
          </a:xfrm>
        </p:spPr>
        <p:txBody>
          <a:bodyPr/>
          <a:lstStyle>
            <a:lvl1pPr>
              <a:defRPr sz="1200"/>
            </a:lvl1pPr>
          </a:lstStyle>
          <a:p>
            <a:fld id="{9A2FB4CC-1D85-40C7-8373-E7E0E0ED45F9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444440" name="Rectangle 24">
            <a:extLst>
              <a:ext uri="{FF2B5EF4-FFF2-40B4-BE49-F238E27FC236}">
                <a16:creationId xmlns:a16="http://schemas.microsoft.com/office/drawing/2014/main" id="{D3DA82A2-685B-42D0-B1BB-0C399023438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95288" y="1557338"/>
            <a:ext cx="8569325" cy="1041400"/>
          </a:xfrm>
          <a:effectLst>
            <a:outerShdw dist="35921" dir="2700000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4800">
                <a:solidFill>
                  <a:schemeClr val="tx2"/>
                </a:solidFill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grpSp>
        <p:nvGrpSpPr>
          <p:cNvPr id="444441" name="Group 25">
            <a:extLst>
              <a:ext uri="{FF2B5EF4-FFF2-40B4-BE49-F238E27FC236}">
                <a16:creationId xmlns:a16="http://schemas.microsoft.com/office/drawing/2014/main" id="{E9D19554-4E08-4B82-A62F-2D3DF91D72C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938" y="1773238"/>
            <a:ext cx="9009062" cy="1052512"/>
            <a:chOff x="0" y="1536"/>
            <a:chExt cx="5675" cy="663"/>
          </a:xfrm>
        </p:grpSpPr>
        <p:grpSp>
          <p:nvGrpSpPr>
            <p:cNvPr id="444442" name="Group 26">
              <a:extLst>
                <a:ext uri="{FF2B5EF4-FFF2-40B4-BE49-F238E27FC236}">
                  <a16:creationId xmlns:a16="http://schemas.microsoft.com/office/drawing/2014/main" id="{9E2CF8AA-EC7B-452C-97AD-26EE213E59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444443" name="Rectangle 27">
                <a:extLst>
                  <a:ext uri="{FF2B5EF4-FFF2-40B4-BE49-F238E27FC236}">
                    <a16:creationId xmlns:a16="http://schemas.microsoft.com/office/drawing/2014/main" id="{DC0E2A04-7F62-4430-AB8B-E189EAF803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4444" name="Rectangle 28">
                <a:extLst>
                  <a:ext uri="{FF2B5EF4-FFF2-40B4-BE49-F238E27FC236}">
                    <a16:creationId xmlns:a16="http://schemas.microsoft.com/office/drawing/2014/main" id="{BEE22B20-609E-4850-AD6F-13D9015596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rgbClr val="3333CC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4445" name="Group 29">
              <a:extLst>
                <a:ext uri="{FF2B5EF4-FFF2-40B4-BE49-F238E27FC236}">
                  <a16:creationId xmlns:a16="http://schemas.microsoft.com/office/drawing/2014/main" id="{BFF99D6F-625C-4F59-85F3-20D8A9CC1C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444446" name="Rectangle 30">
                <a:extLst>
                  <a:ext uri="{FF2B5EF4-FFF2-40B4-BE49-F238E27FC236}">
                    <a16:creationId xmlns:a16="http://schemas.microsoft.com/office/drawing/2014/main" id="{F9959E13-41F6-446A-B820-D5D15FB08B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rgbClr val="FFCF0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4447" name="Rectangle 31">
                <a:extLst>
                  <a:ext uri="{FF2B5EF4-FFF2-40B4-BE49-F238E27FC236}">
                    <a16:creationId xmlns:a16="http://schemas.microsoft.com/office/drawing/2014/main" id="{96C493E6-B35B-4C64-87BC-F4FAE67223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rgbClr val="FFCF01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44448" name="Rectangle 32">
              <a:extLst>
                <a:ext uri="{FF2B5EF4-FFF2-40B4-BE49-F238E27FC236}">
                  <a16:creationId xmlns:a16="http://schemas.microsoft.com/office/drawing/2014/main" id="{DE9F3056-C55E-4D87-B188-AD7E18C4B7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FF0000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4449" name="Rectangle 33">
              <a:extLst>
                <a:ext uri="{FF2B5EF4-FFF2-40B4-BE49-F238E27FC236}">
                  <a16:creationId xmlns:a16="http://schemas.microsoft.com/office/drawing/2014/main" id="{68635751-3585-4CD0-9F9D-EC9EC45FB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rgbClr val="1C1C1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1C1C1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4450" name="Rectangle 34">
              <a:extLst>
                <a:ext uri="{FF2B5EF4-FFF2-40B4-BE49-F238E27FC236}">
                  <a16:creationId xmlns:a16="http://schemas.microsoft.com/office/drawing/2014/main" id="{C80C2995-A7D9-430A-98EB-2302AD94340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rgbClr val="1C1C1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444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4440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658898-3DF4-45FD-91C5-608976ED0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170CF5-9866-40FC-BE85-E0D4B4005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F14867-E8B1-4B70-A363-8A09D08B8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62AAAC-8182-4F27-9E7F-AFF9A4EF2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AF1ED1-668E-4150-9CD6-AC4984E59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081748-688F-4F65-A138-BA081DE9D40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2387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7B9B07-5B89-4416-BC26-E40F081C9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AAE3A4-6B46-4E73-A66D-4AB4ADB5E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B9FB0E-A0E7-4535-8755-C34AA9A7D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401329-7780-46D8-872E-258B322E2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F0E356-00B8-4A0F-B960-181BF3252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54D0DF-FF90-45E4-A5D4-7387DF84EFA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8325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665D0E-37FF-4BEA-9E77-3FA98B5FA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DD36D1-2CB7-4B69-AE60-6CD3B91D87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4350" y="1295400"/>
            <a:ext cx="4040188" cy="4953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3D424CA-BD2D-4B56-8D48-7FBB63AC1F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06938" y="1295400"/>
            <a:ext cx="4041775" cy="4953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F80994-A927-4BE5-9515-6D01EDE4D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2C226D-6F40-449A-8FD1-E8B1C0B9D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70E726E-685B-4B89-B5D6-4508719FA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A8B881-A17F-420A-BB84-D6814AF9D53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5960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A87CCB-79DD-4F11-87C5-2E69D235B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1A07C0-D428-4998-B7C3-E727BCBA5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5319B9-0AC9-49FB-AE66-29B69C25EB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AFCDC0C-3A3C-42E5-A3C0-68399AE87C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382C19C-E3C3-41D6-9D24-795EB6C204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FF693DD-8F6E-477D-A84B-A5DB0142D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7B50FAA-6F5E-4DEB-888B-5405B64E6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9FAC838-B47E-4DD6-9B13-4A9B95FAC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4EDEDE-A31C-46FD-9CE9-4B334552798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2009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35FBD6-2EDE-4D28-8275-FF1C01573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43FCB46-1669-4A28-B3D2-753B8B015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CA8B5BB-97DC-4DFF-BC95-4EC246C53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39EA977-C8E4-4AF4-B0AF-D1E8DA93B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258AA3-6513-491D-9704-89EAB75EB68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7605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41284F5-A500-4016-83D1-BCF850C10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D1B31B-0EEC-457A-B8D8-431776C59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38A69C-4791-4688-A108-98BC76BD3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0BD4EE-D0B4-4D7E-8923-E1C7BACC94E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1855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06149D-362B-4DC9-B50F-10EBE4A00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37057F-6FD0-494C-B37A-8DFCEA84E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2854251-F702-42CF-A9EE-A4518DF9AA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D64502A-845C-4B81-9DF7-3E393A111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0A1C69C-62C2-4C5D-8644-B2C19FD05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4F80B6-5EBA-4A04-B93B-4A8DFF4D3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C2ECE2-8159-4B1E-A860-853C096B8E9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2336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CBF922-88E5-458E-A774-AC8E36D06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0729F75-97DB-49BC-BB29-F65F4ADAAF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822EEAD-4297-4CCC-936C-B8B3C0B766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336322-983D-42E7-81A2-A7A2A3524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022239-5C3B-40C4-B59B-1DA3E904F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11DD1D-ECF0-4D5C-969B-5D245FA6E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4AA4FE-C558-401E-8C36-52915C602F8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2165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8064AD-AA88-4BC8-95C5-DEBCF155C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61873E4-CD45-4F39-936F-D6957EAFBD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D2037F-43ED-4FD4-BDD4-32FBF94EC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936DFB-D383-4181-9095-9557AB804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365D6B-2E41-465F-9F38-CDCE60064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84D284-6197-4323-9FFC-011D70F7543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7808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CC0AB46-05C8-4F90-88DE-AF1AFD7100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99250" y="71438"/>
            <a:ext cx="2060575" cy="61769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C59DA7E-541E-4D9F-B966-3998A61E50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4350" y="71438"/>
            <a:ext cx="6032500" cy="617696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0F4563-CBDA-4607-BBD4-1ADFC2CD1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169BA6-B9D5-4457-A084-E48CFED30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A31921-3CEA-47A6-8290-882F9AD52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0AF003-02E0-47A1-BEED-385A5CC8DBE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1658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6" name="Rectangle 4">
            <a:extLst>
              <a:ext uri="{FF2B5EF4-FFF2-40B4-BE49-F238E27FC236}">
                <a16:creationId xmlns:a16="http://schemas.microsoft.com/office/drawing/2014/main" id="{22CCD371-C69E-4DE0-9A2D-92FA6EE807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14350" y="1295400"/>
            <a:ext cx="8234363" cy="49530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43402" name="Rectangle 10">
            <a:extLst>
              <a:ext uri="{FF2B5EF4-FFF2-40B4-BE49-F238E27FC236}">
                <a16:creationId xmlns:a16="http://schemas.microsoft.com/office/drawing/2014/main" id="{362E44CE-A348-42DF-A1C4-385D4494290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400800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443403" name="Rectangle 11">
            <a:extLst>
              <a:ext uri="{FF2B5EF4-FFF2-40B4-BE49-F238E27FC236}">
                <a16:creationId xmlns:a16="http://schemas.microsoft.com/office/drawing/2014/main" id="{6A8910F1-5D74-4941-96D9-B4BFAB2A609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443404" name="Rectangle 12">
            <a:extLst>
              <a:ext uri="{FF2B5EF4-FFF2-40B4-BE49-F238E27FC236}">
                <a16:creationId xmlns:a16="http://schemas.microsoft.com/office/drawing/2014/main" id="{1962CC15-0D60-405C-A688-184D0C3C11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5475" y="64928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宋体" panose="02010600030101010101" pitchFamily="2" charset="-122"/>
              </a:defRPr>
            </a:lvl1pPr>
          </a:lstStyle>
          <a:p>
            <a:fld id="{FCA90DE3-82A5-40EC-9564-3C72DB62A413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443405" name="Rectangle 13">
            <a:extLst>
              <a:ext uri="{FF2B5EF4-FFF2-40B4-BE49-F238E27FC236}">
                <a16:creationId xmlns:a16="http://schemas.microsoft.com/office/drawing/2014/main" id="{9365722A-B80D-4BE8-98A5-D717CED3D7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gray">
          <a:xfrm>
            <a:off x="1547813" y="71438"/>
            <a:ext cx="7212012" cy="836612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43407" name="Rectangle 15">
            <a:extLst>
              <a:ext uri="{FF2B5EF4-FFF2-40B4-BE49-F238E27FC236}">
                <a16:creationId xmlns:a16="http://schemas.microsoft.com/office/drawing/2014/main" id="{34257247-273B-47D1-B331-3F6A7843A61C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417513" y="252413"/>
            <a:ext cx="438150" cy="474662"/>
          </a:xfrm>
          <a:prstGeom prst="rect">
            <a:avLst/>
          </a:prstGeom>
          <a:solidFill>
            <a:srgbClr val="FFCF0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3408" name="Rectangle 16">
            <a:extLst>
              <a:ext uri="{FF2B5EF4-FFF2-40B4-BE49-F238E27FC236}">
                <a16:creationId xmlns:a16="http://schemas.microsoft.com/office/drawing/2014/main" id="{1C3A54A3-C0BF-4326-A572-A8063688E45C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800100" y="252413"/>
            <a:ext cx="328613" cy="474662"/>
          </a:xfrm>
          <a:prstGeom prst="rect">
            <a:avLst/>
          </a:prstGeom>
          <a:gradFill rotWithShape="0">
            <a:gsLst>
              <a:gs pos="0">
                <a:srgbClr val="FFCF01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3409" name="Rectangle 17">
            <a:extLst>
              <a:ext uri="{FF2B5EF4-FFF2-40B4-BE49-F238E27FC236}">
                <a16:creationId xmlns:a16="http://schemas.microsoft.com/office/drawing/2014/main" id="{1685A62B-45DE-4DAB-B29E-BD8FD5099D92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541338" y="674688"/>
            <a:ext cx="422275" cy="474662"/>
          </a:xfrm>
          <a:prstGeom prst="rect">
            <a:avLst/>
          </a:prstGeom>
          <a:solidFill>
            <a:srgbClr val="3333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3410" name="Rectangle 18">
            <a:extLst>
              <a:ext uri="{FF2B5EF4-FFF2-40B4-BE49-F238E27FC236}">
                <a16:creationId xmlns:a16="http://schemas.microsoft.com/office/drawing/2014/main" id="{6A6A80F3-3BE1-4F20-8983-116B5BBB5EA6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911225" y="674688"/>
            <a:ext cx="368300" cy="474662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3411" name="Rectangle 19">
            <a:extLst>
              <a:ext uri="{FF2B5EF4-FFF2-40B4-BE49-F238E27FC236}">
                <a16:creationId xmlns:a16="http://schemas.microsoft.com/office/drawing/2014/main" id="{0BCD779F-CAFB-4F77-AA20-FC68C9FDDF01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127000" y="601663"/>
            <a:ext cx="560388" cy="42227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3413" name="Rectangle 21">
            <a:extLst>
              <a:ext uri="{FF2B5EF4-FFF2-40B4-BE49-F238E27FC236}">
                <a16:creationId xmlns:a16="http://schemas.microsoft.com/office/drawing/2014/main" id="{E47463C2-E172-437A-A235-D6144D60A539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442913" y="908050"/>
            <a:ext cx="8226425" cy="31750"/>
          </a:xfrm>
          <a:prstGeom prst="rect">
            <a:avLst/>
          </a:prstGeom>
          <a:gradFill rotWithShape="0">
            <a:gsLst>
              <a:gs pos="0">
                <a:srgbClr val="1C1C1C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43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433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433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433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4433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3396" grpId="0" build="p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339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44339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339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44339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339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44339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339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44339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339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44339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600" b="1" kern="1200">
          <a:solidFill>
            <a:srgbClr val="333399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Arial" panose="020B0604020202020204" pitchFamily="34" charset="0"/>
          <a:ea typeface="幼圆" panose="02010509060101010101" pitchFamily="49" charset="-122"/>
        </a:defRPr>
      </a:lvl9pPr>
    </p:titleStyle>
    <p:bodyStyle>
      <a:lvl1pPr marL="342900" indent="-3429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009900"/>
        </a:buClr>
        <a:buSzPct val="70000"/>
        <a:buFont typeface="Wingdings" panose="05000000000000000000" pitchFamily="2" charset="2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009900"/>
        </a:buClr>
        <a:buSzPct val="70000"/>
        <a:buFont typeface="Wingdings" panose="05000000000000000000" pitchFamily="2" charset="2"/>
        <a:buChar char="u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n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har char="–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har char="»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5">
            <a:extLst>
              <a:ext uri="{FF2B5EF4-FFF2-40B4-BE49-F238E27FC236}">
                <a16:creationId xmlns:a16="http://schemas.microsoft.com/office/drawing/2014/main" id="{3F27F47C-9DA4-46B4-B6C6-607A50B89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8EAEF-293D-4D37-A03D-EADFEB60FF68}" type="slidenum">
              <a:rPr lang="zh-CN" altLang="en-US"/>
              <a:pPr/>
              <a:t>1</a:t>
            </a:fld>
            <a:endParaRPr lang="en-US" altLang="zh-CN"/>
          </a:p>
        </p:txBody>
      </p:sp>
      <p:sp>
        <p:nvSpPr>
          <p:cNvPr id="534530" name="Rectangle 2">
            <a:extLst>
              <a:ext uri="{FF2B5EF4-FFF2-40B4-BE49-F238E27FC236}">
                <a16:creationId xmlns:a16="http://schemas.microsoft.com/office/drawing/2014/main" id="{2E7BDC55-B80D-4A27-BCFF-1AAE82A8C4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CN">
                <a:latin typeface="楷体_GB2312" pitchFamily="49" charset="-122"/>
              </a:rPr>
              <a:t>1</a:t>
            </a:r>
            <a:r>
              <a:rPr lang="zh-CN" altLang="en-US">
                <a:latin typeface="楷体_GB2312" pitchFamily="49" charset="-122"/>
              </a:rPr>
              <a:t>、</a:t>
            </a:r>
            <a:r>
              <a:rPr lang="zh-CN" altLang="en-US"/>
              <a:t>函数依赖集的等价与覆盖</a:t>
            </a:r>
            <a:endParaRPr lang="zh-CN" altLang="en-US">
              <a:latin typeface="楷体_GB2312" pitchFamily="49" charset="-122"/>
            </a:endParaRPr>
          </a:p>
          <a:p>
            <a:pPr algn="just"/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定义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是两个函数依赖集，如果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baseline="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aseline="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，则称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等价。如果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等价，则称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覆盖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，同时也称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覆盖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534531" name="Line 3">
            <a:extLst>
              <a:ext uri="{FF2B5EF4-FFF2-40B4-BE49-F238E27FC236}">
                <a16:creationId xmlns:a16="http://schemas.microsoft.com/office/drawing/2014/main" id="{744731F0-F326-40C6-910C-8037F763B8E6}"/>
              </a:ext>
            </a:extLst>
          </p:cNvPr>
          <p:cNvSpPr>
            <a:spLocks noChangeShapeType="1"/>
          </p:cNvSpPr>
          <p:nvPr/>
        </p:nvSpPr>
        <p:spPr bwMode="auto">
          <a:xfrm>
            <a:off x="6661150" y="2420938"/>
            <a:ext cx="1295400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4532" name="Text Box 4">
            <a:extLst>
              <a:ext uri="{FF2B5EF4-FFF2-40B4-BE49-F238E27FC236}">
                <a16:creationId xmlns:a16="http://schemas.microsoft.com/office/drawing/2014/main" id="{E00938B5-D838-44D5-AD7A-85563348E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1625" y="4292600"/>
            <a:ext cx="1541463" cy="538163"/>
          </a:xfrm>
          <a:prstGeom prst="rect">
            <a:avLst/>
          </a:prstGeom>
          <a:solidFill>
            <a:srgbClr val="CCFFCC"/>
          </a:solidFill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algn="ctr"/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sz="2800" b="1" baseline="30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sz="2800" b="1" baseline="30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＋</a:t>
            </a:r>
            <a:endParaRPr lang="zh-CN" altLang="en-US" sz="2800" b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534533" name="AutoShape 5">
            <a:extLst>
              <a:ext uri="{FF2B5EF4-FFF2-40B4-BE49-F238E27FC236}">
                <a16:creationId xmlns:a16="http://schemas.microsoft.com/office/drawing/2014/main" id="{C063BC16-F5A2-41FA-A89B-D1F132DE7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789363"/>
            <a:ext cx="2879725" cy="936625"/>
          </a:xfrm>
          <a:prstGeom prst="wedgeRectCallout">
            <a:avLst>
              <a:gd name="adj1" fmla="val -5458"/>
              <a:gd name="adj2" fmla="val -161019"/>
            </a:avLst>
          </a:prstGeom>
          <a:solidFill>
            <a:srgbClr val="333399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53882" dir="2700000" algn="ctr" rotWithShape="0">
              <a:schemeClr val="tx1"/>
            </a:outerShdw>
          </a:effectLst>
        </p:spPr>
        <p:txBody>
          <a:bodyPr anchor="ctr"/>
          <a:lstStyle/>
          <a:p>
            <a:pPr algn="ctr"/>
            <a:r>
              <a:rPr lang="en-US" altLang="zh-CN" sz="24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sz="2400" b="1" baseline="30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lang="zh-CN" altLang="en-US" sz="24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sz="2400" b="1" baseline="30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lang="zh-CN" altLang="en-US" sz="2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4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sz="2400" b="1" baseline="30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lang="zh-CN" altLang="en-US" sz="24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</a:t>
            </a:r>
            <a:r>
              <a:rPr lang="en-US" altLang="zh-CN" sz="24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sz="2400" b="1" baseline="300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＋</a:t>
            </a:r>
          </a:p>
        </p:txBody>
      </p:sp>
      <p:grpSp>
        <p:nvGrpSpPr>
          <p:cNvPr id="534534" name="Group 6">
            <a:extLst>
              <a:ext uri="{FF2B5EF4-FFF2-40B4-BE49-F238E27FC236}">
                <a16:creationId xmlns:a16="http://schemas.microsoft.com/office/drawing/2014/main" id="{94B9EA42-4171-4CCE-B8B7-1F633EBAA149}"/>
              </a:ext>
            </a:extLst>
          </p:cNvPr>
          <p:cNvGrpSpPr>
            <a:grpSpLocks/>
          </p:cNvGrpSpPr>
          <p:nvPr/>
        </p:nvGrpSpPr>
        <p:grpSpPr bwMode="auto">
          <a:xfrm>
            <a:off x="2195513" y="4292600"/>
            <a:ext cx="1728787" cy="538163"/>
            <a:chOff x="1383" y="2704"/>
            <a:chExt cx="1089" cy="339"/>
          </a:xfrm>
        </p:grpSpPr>
        <p:sp>
          <p:nvSpPr>
            <p:cNvPr id="534535" name="AutoShape 7">
              <a:extLst>
                <a:ext uri="{FF2B5EF4-FFF2-40B4-BE49-F238E27FC236}">
                  <a16:creationId xmlns:a16="http://schemas.microsoft.com/office/drawing/2014/main" id="{33534FD7-0314-435B-9D80-8875ED3EF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2840"/>
              <a:ext cx="454" cy="136"/>
            </a:xfrm>
            <a:prstGeom prst="rightArrow">
              <a:avLst>
                <a:gd name="adj1" fmla="val 50000"/>
                <a:gd name="adj2" fmla="val 83456"/>
              </a:avLst>
            </a:prstGeom>
            <a:solidFill>
              <a:srgbClr val="00FFFF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4536" name="Text Box 8">
              <a:extLst>
                <a:ext uri="{FF2B5EF4-FFF2-40B4-BE49-F238E27FC236}">
                  <a16:creationId xmlns:a16="http://schemas.microsoft.com/office/drawing/2014/main" id="{8B4AA134-1796-47DD-A8E1-C425AA6495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3" y="2704"/>
              <a:ext cx="454" cy="339"/>
            </a:xfrm>
            <a:prstGeom prst="rect">
              <a:avLst/>
            </a:prstGeom>
            <a:solidFill>
              <a:srgbClr val="CCFFCC"/>
            </a:solidFill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>
              <a:spAutoFit/>
            </a:bodyPr>
            <a:lstStyle/>
            <a:p>
              <a:pPr algn="ctr"/>
              <a:r>
                <a:rPr lang="en-US" altLang="zh-CN" sz="2800" b="1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F</a:t>
              </a:r>
              <a:endPara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34537" name="Text Box 9">
            <a:extLst>
              <a:ext uri="{FF2B5EF4-FFF2-40B4-BE49-F238E27FC236}">
                <a16:creationId xmlns:a16="http://schemas.microsoft.com/office/drawing/2014/main" id="{C68F05CB-6850-426D-A9DB-0CE541FE6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1625" y="5483225"/>
            <a:ext cx="1541463" cy="538163"/>
          </a:xfrm>
          <a:prstGeom prst="rect">
            <a:avLst/>
          </a:prstGeom>
          <a:solidFill>
            <a:srgbClr val="CCFFCC"/>
          </a:solidFill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algn="ctr"/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sz="2800" b="1" baseline="30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＋</a:t>
            </a:r>
            <a:endParaRPr lang="zh-CN" altLang="en-US" sz="2800" b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534538" name="Group 10">
            <a:extLst>
              <a:ext uri="{FF2B5EF4-FFF2-40B4-BE49-F238E27FC236}">
                <a16:creationId xmlns:a16="http://schemas.microsoft.com/office/drawing/2014/main" id="{16E06196-29B5-41EB-A467-24CF0D912B7F}"/>
              </a:ext>
            </a:extLst>
          </p:cNvPr>
          <p:cNvGrpSpPr>
            <a:grpSpLocks/>
          </p:cNvGrpSpPr>
          <p:nvPr/>
        </p:nvGrpSpPr>
        <p:grpSpPr bwMode="auto">
          <a:xfrm>
            <a:off x="971550" y="3932238"/>
            <a:ext cx="2232025" cy="2055812"/>
            <a:chOff x="612" y="2477"/>
            <a:chExt cx="1406" cy="1295"/>
          </a:xfrm>
        </p:grpSpPr>
        <p:sp>
          <p:nvSpPr>
            <p:cNvPr id="534539" name="Text Box 11">
              <a:extLst>
                <a:ext uri="{FF2B5EF4-FFF2-40B4-BE49-F238E27FC236}">
                  <a16:creationId xmlns:a16="http://schemas.microsoft.com/office/drawing/2014/main" id="{3F67850A-AC54-41F9-AE28-117690E75C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7" y="3433"/>
              <a:ext cx="771" cy="339"/>
            </a:xfrm>
            <a:prstGeom prst="rect">
              <a:avLst/>
            </a:prstGeom>
            <a:solidFill>
              <a:srgbClr val="CCFFCC"/>
            </a:solidFill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>
              <a:spAutoFit/>
            </a:bodyPr>
            <a:lstStyle/>
            <a:p>
              <a:pPr algn="ctr"/>
              <a:r>
                <a:rPr lang="en-US" altLang="zh-CN" sz="2800" b="1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X</a:t>
              </a:r>
              <a:r>
                <a:rPr lang="en-US" altLang="en-US" sz="2800" b="1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→</a:t>
              </a:r>
              <a:r>
                <a:rPr lang="en-US" altLang="zh-CN" sz="2800" b="1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Y</a:t>
              </a:r>
              <a:endPara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34540" name="AutoShape 12">
              <a:extLst>
                <a:ext uri="{FF2B5EF4-FFF2-40B4-BE49-F238E27FC236}">
                  <a16:creationId xmlns:a16="http://schemas.microsoft.com/office/drawing/2014/main" id="{6C80EC22-B93A-400E-811B-AF610EE203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" y="2477"/>
              <a:ext cx="454" cy="590"/>
            </a:xfrm>
            <a:prstGeom prst="wedgeRectCallout">
              <a:avLst>
                <a:gd name="adj1" fmla="val 85241"/>
                <a:gd name="adj2" fmla="val 114745"/>
              </a:avLst>
            </a:prstGeom>
            <a:solidFill>
              <a:srgbClr val="333399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53882" dir="2700000" algn="ctr" rotWithShape="0">
                <a:schemeClr val="tx1"/>
              </a:outerShdw>
            </a:effectLst>
          </p:spPr>
          <p:txBody>
            <a:bodyPr anchor="ctr"/>
            <a:lstStyle/>
            <a:p>
              <a:pPr algn="ctr"/>
              <a:r>
                <a:rPr lang="zh-CN" altLang="en-US" sz="24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所有</a:t>
              </a:r>
              <a:endParaRPr lang="zh-CN" altLang="en-US" sz="2400" b="1" baseline="30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534541" name="Text Box 13">
            <a:extLst>
              <a:ext uri="{FF2B5EF4-FFF2-40B4-BE49-F238E27FC236}">
                <a16:creationId xmlns:a16="http://schemas.microsoft.com/office/drawing/2014/main" id="{01173299-9276-4C40-A651-12EB9B0D1A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475" y="5373688"/>
            <a:ext cx="509588" cy="64135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600" b="1">
                <a:solidFill>
                  <a:srgbClr val="CC3300"/>
                </a:solidFill>
                <a:ea typeface="Arial Unicode MS" panose="020B0604020202020204" pitchFamily="34" charset="-122"/>
                <a:cs typeface="Arial Unicode MS" panose="020B0604020202020204" pitchFamily="34" charset="-122"/>
                <a:sym typeface="Symbol" panose="05050102010706020507" pitchFamily="18" charset="2"/>
              </a:rPr>
              <a:t></a:t>
            </a:r>
          </a:p>
        </p:txBody>
      </p:sp>
      <p:sp>
        <p:nvSpPr>
          <p:cNvPr id="534542" name="AutoShape 14">
            <a:extLst>
              <a:ext uri="{FF2B5EF4-FFF2-40B4-BE49-F238E27FC236}">
                <a16:creationId xmlns:a16="http://schemas.microsoft.com/office/drawing/2014/main" id="{0659FBF0-D8BE-42F6-A434-1FDAAC5C8428}"/>
              </a:ext>
            </a:extLst>
          </p:cNvPr>
          <p:cNvSpPr>
            <a:spLocks noChangeArrowheads="1"/>
          </p:cNvSpPr>
          <p:nvPr/>
        </p:nvSpPr>
        <p:spPr bwMode="auto">
          <a:xfrm rot="19800000">
            <a:off x="3708400" y="5084763"/>
            <a:ext cx="722313" cy="231775"/>
          </a:xfrm>
          <a:prstGeom prst="rightArrow">
            <a:avLst>
              <a:gd name="adj1" fmla="val 50000"/>
              <a:gd name="adj2" fmla="val 77911"/>
            </a:avLst>
          </a:prstGeom>
          <a:solidFill>
            <a:srgbClr val="00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4543" name="AutoShape 15">
            <a:extLst>
              <a:ext uri="{FF2B5EF4-FFF2-40B4-BE49-F238E27FC236}">
                <a16:creationId xmlns:a16="http://schemas.microsoft.com/office/drawing/2014/main" id="{F8E57B23-432A-4B43-BBE9-99FFABE0F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4913313"/>
            <a:ext cx="215900" cy="503237"/>
          </a:xfrm>
          <a:prstGeom prst="downArrow">
            <a:avLst>
              <a:gd name="adj1" fmla="val 50000"/>
              <a:gd name="adj2" fmla="val 58272"/>
            </a:avLst>
          </a:prstGeom>
          <a:solidFill>
            <a:srgbClr val="00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4544" name="Text Box 16">
            <a:extLst>
              <a:ext uri="{FF2B5EF4-FFF2-40B4-BE49-F238E27FC236}">
                <a16:creationId xmlns:a16="http://schemas.microsoft.com/office/drawing/2014/main" id="{6055D1B4-D61C-481F-BD66-307D67EAD7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25" y="5483225"/>
            <a:ext cx="1800225" cy="538163"/>
          </a:xfrm>
          <a:prstGeom prst="rect">
            <a:avLst/>
          </a:prstGeom>
          <a:solidFill>
            <a:srgbClr val="333399"/>
          </a:solidFill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algn="ctr"/>
            <a:r>
              <a:rPr lang="en-US" altLang="zh-CN" sz="2800" b="1">
                <a:solidFill>
                  <a:srgbClr val="66FFFF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>
                <a:solidFill>
                  <a:srgbClr val="66FFFF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b="1">
                <a:solidFill>
                  <a:srgbClr val="66FFFF"/>
                </a:solidFill>
                <a:latin typeface="楷体_GB2312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sz="2800" b="1" baseline="30000">
                <a:solidFill>
                  <a:srgbClr val="66FFFF"/>
                </a:solidFill>
                <a:latin typeface="楷体_GB2312" pitchFamily="49" charset="-122"/>
                <a:cs typeface="Times New Roman" panose="02020603050405020304" pitchFamily="18" charset="0"/>
              </a:rPr>
              <a:t>＋</a:t>
            </a:r>
          </a:p>
        </p:txBody>
      </p:sp>
      <p:sp>
        <p:nvSpPr>
          <p:cNvPr id="534545" name="AutoShape 17">
            <a:extLst>
              <a:ext uri="{FF2B5EF4-FFF2-40B4-BE49-F238E27FC236}">
                <a16:creationId xmlns:a16="http://schemas.microsoft.com/office/drawing/2014/main" id="{6E0F18C3-55B5-4DF8-8064-F925C68E792D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011069" y="5517356"/>
            <a:ext cx="215900" cy="503238"/>
          </a:xfrm>
          <a:prstGeom prst="downArrow">
            <a:avLst>
              <a:gd name="adj1" fmla="val 50000"/>
              <a:gd name="adj2" fmla="val 58272"/>
            </a:avLst>
          </a:prstGeom>
          <a:solidFill>
            <a:srgbClr val="00FFFF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4546" name="Rectangle 18">
            <a:extLst>
              <a:ext uri="{FF2B5EF4-FFF2-40B4-BE49-F238E27FC236}">
                <a16:creationId xmlns:a16="http://schemas.microsoft.com/office/drawing/2014/main" id="{F34926E3-6747-48BE-8B89-BD5FF3A712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四、最小函数依赖集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8021"/>
    </mc:Choice>
    <mc:Fallback xmlns="">
      <p:transition spd="slow" advTm="1180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34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534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534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534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534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4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534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534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534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534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534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534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534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1000"/>
                                        <p:tgtEl>
                                          <p:spTgt spid="534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000"/>
                                        <p:tgtEl>
                                          <p:spTgt spid="534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4530" grpId="0" build="p"/>
      <p:bldP spid="534532" grpId="0" animBg="1"/>
      <p:bldP spid="534533" grpId="0" animBg="1"/>
      <p:bldP spid="534537" grpId="0" animBg="1"/>
      <p:bldP spid="534541" grpId="0"/>
      <p:bldP spid="53454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5">
            <a:extLst>
              <a:ext uri="{FF2B5EF4-FFF2-40B4-BE49-F238E27FC236}">
                <a16:creationId xmlns:a16="http://schemas.microsoft.com/office/drawing/2014/main" id="{29B0596C-325A-45C2-9B38-DF92EDF01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8C634-E053-4DDF-A3BD-61F6C38C0B82}" type="slidenum">
              <a:rPr lang="zh-CN" altLang="en-US"/>
              <a:pPr/>
              <a:t>2</a:t>
            </a:fld>
            <a:endParaRPr lang="en-US" altLang="zh-CN"/>
          </a:p>
        </p:txBody>
      </p:sp>
      <p:sp>
        <p:nvSpPr>
          <p:cNvPr id="536578" name="WordArt 2">
            <a:extLst>
              <a:ext uri="{FF2B5EF4-FFF2-40B4-BE49-F238E27FC236}">
                <a16:creationId xmlns:a16="http://schemas.microsoft.com/office/drawing/2014/main" id="{3D65DFEE-E489-4EDB-A777-CDDE8C769A6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403350" y="3068638"/>
            <a:ext cx="431800" cy="792162"/>
          </a:xfrm>
          <a:prstGeom prst="rect">
            <a:avLst/>
          </a:prstGeom>
        </p:spPr>
        <p:txBody>
          <a:bodyPr wrap="none" fromWordArt="1">
            <a:prstTxWarp prst="textInflate">
              <a:avLst>
                <a:gd name="adj" fmla="val 13634"/>
              </a:avLst>
            </a:prstTxWarp>
          </a:bodyPr>
          <a:lstStyle/>
          <a:p>
            <a:pPr algn="ctr"/>
            <a:r>
              <a:rPr lang="zh-CN" altLang="en-US" sz="4800" b="1" i="1" kern="10">
                <a:ln w="9525" cap="sq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solidFill>
                  <a:srgbClr val="993300"/>
                </a:solidFill>
                <a:effectLst>
                  <a:outerShdw dist="35921" dir="2700000" algn="ctr" rotWithShape="0">
                    <a:schemeClr val="tx1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？</a:t>
            </a:r>
          </a:p>
        </p:txBody>
      </p:sp>
      <p:sp>
        <p:nvSpPr>
          <p:cNvPr id="536579" name="Text Box 3">
            <a:extLst>
              <a:ext uri="{FF2B5EF4-FFF2-40B4-BE49-F238E27FC236}">
                <a16:creationId xmlns:a16="http://schemas.microsoft.com/office/drawing/2014/main" id="{D7B19FFE-3CF5-4E8E-A28C-4E51A9A4C1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475" y="3141663"/>
            <a:ext cx="1541463" cy="538162"/>
          </a:xfrm>
          <a:prstGeom prst="rect">
            <a:avLst/>
          </a:prstGeom>
          <a:solidFill>
            <a:srgbClr val="CCFFCC"/>
          </a:solidFill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algn="ctr"/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F </a:t>
            </a:r>
            <a:r>
              <a: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en-US" altLang="zh-CN" sz="28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sz="2800" b="1" baseline="30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＋</a:t>
            </a:r>
            <a:endParaRPr lang="zh-CN" altLang="en-US" sz="2800" b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536580" name="Group 4">
            <a:extLst>
              <a:ext uri="{FF2B5EF4-FFF2-40B4-BE49-F238E27FC236}">
                <a16:creationId xmlns:a16="http://schemas.microsoft.com/office/drawing/2014/main" id="{721B3312-B130-466C-A0AF-CD3F01A760DE}"/>
              </a:ext>
            </a:extLst>
          </p:cNvPr>
          <p:cNvGrpSpPr>
            <a:grpSpLocks/>
          </p:cNvGrpSpPr>
          <p:nvPr/>
        </p:nvGrpSpPr>
        <p:grpSpPr bwMode="auto">
          <a:xfrm>
            <a:off x="2554288" y="3933825"/>
            <a:ext cx="3673475" cy="647700"/>
            <a:chOff x="1791" y="2478"/>
            <a:chExt cx="2314" cy="408"/>
          </a:xfrm>
        </p:grpSpPr>
        <p:sp>
          <p:nvSpPr>
            <p:cNvPr id="536581" name="Text Box 5">
              <a:extLst>
                <a:ext uri="{FF2B5EF4-FFF2-40B4-BE49-F238E27FC236}">
                  <a16:creationId xmlns:a16="http://schemas.microsoft.com/office/drawing/2014/main" id="{9C3A5BAC-931A-4BB2-A8EB-D05752B781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4" y="2547"/>
              <a:ext cx="971" cy="339"/>
            </a:xfrm>
            <a:prstGeom prst="rect">
              <a:avLst/>
            </a:prstGeom>
            <a:solidFill>
              <a:srgbClr val="CCFFCC"/>
            </a:solidFill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>
              <a:spAutoFit/>
            </a:bodyPr>
            <a:lstStyle/>
            <a:p>
              <a:pPr algn="ctr"/>
              <a:r>
                <a:rPr lang="en-US" altLang="zh-CN" sz="2800" b="1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G</a:t>
              </a:r>
              <a:r>
                <a:rPr lang="zh-CN" altLang="en-US" sz="2800" b="1" baseline="30000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＋</a:t>
              </a:r>
              <a:endPara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36582" name="Text Box 6">
              <a:extLst>
                <a:ext uri="{FF2B5EF4-FFF2-40B4-BE49-F238E27FC236}">
                  <a16:creationId xmlns:a16="http://schemas.microsoft.com/office/drawing/2014/main" id="{92D66822-E4DC-4F28-B2AB-2ABD5AB0B8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1" y="2526"/>
              <a:ext cx="771" cy="339"/>
            </a:xfrm>
            <a:prstGeom prst="rect">
              <a:avLst/>
            </a:prstGeom>
            <a:solidFill>
              <a:srgbClr val="CCFFCC"/>
            </a:solidFill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>
              <a:spAutoFit/>
            </a:bodyPr>
            <a:lstStyle/>
            <a:p>
              <a:pPr algn="ctr"/>
              <a:r>
                <a:rPr lang="en-US" altLang="zh-CN" sz="2800" b="1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X</a:t>
              </a:r>
              <a:r>
                <a:rPr lang="en-US" altLang="en-US" sz="2800" b="1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→</a:t>
              </a:r>
              <a:r>
                <a:rPr lang="en-US" altLang="zh-CN" sz="2800" b="1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Y</a:t>
              </a:r>
              <a:endParaRPr lang="zh-CN" altLang="en-US" sz="28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36583" name="Text Box 7">
              <a:extLst>
                <a:ext uri="{FF2B5EF4-FFF2-40B4-BE49-F238E27FC236}">
                  <a16:creationId xmlns:a16="http://schemas.microsoft.com/office/drawing/2014/main" id="{D82578B5-8F5B-4B11-A3CF-B9729E95AA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8" y="2478"/>
              <a:ext cx="321" cy="404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3600" b="1">
                  <a:solidFill>
                    <a:srgbClr val="CC3300"/>
                  </a:solidFill>
                  <a:ea typeface="Arial Unicode MS" panose="020B0604020202020204" pitchFamily="34" charset="-122"/>
                  <a:cs typeface="Arial Unicode MS" panose="020B0604020202020204" pitchFamily="34" charset="-122"/>
                  <a:sym typeface="Symbol" panose="05050102010706020507" pitchFamily="18" charset="2"/>
                </a:rPr>
                <a:t></a:t>
              </a:r>
            </a:p>
          </p:txBody>
        </p:sp>
      </p:grpSp>
      <p:sp>
        <p:nvSpPr>
          <p:cNvPr id="536584" name="Text Box 8">
            <a:extLst>
              <a:ext uri="{FF2B5EF4-FFF2-40B4-BE49-F238E27FC236}">
                <a16:creationId xmlns:a16="http://schemas.microsoft.com/office/drawing/2014/main" id="{A9EEF8EC-CCF4-4395-B721-7E735F56D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6800" y="4797425"/>
            <a:ext cx="4897438" cy="684213"/>
          </a:xfrm>
          <a:prstGeom prst="rect">
            <a:avLst/>
          </a:prstGeom>
          <a:solidFill>
            <a:srgbClr val="333399"/>
          </a:solidFill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anchor="ctr" anchorCtr="1"/>
          <a:lstStyle/>
          <a:p>
            <a:pPr algn="ctr"/>
            <a:r>
              <a:rPr lang="en-US" altLang="zh-CN" sz="2800" b="1">
                <a:solidFill>
                  <a:srgbClr val="99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en-US" sz="2800" b="1">
                <a:solidFill>
                  <a:srgbClr val="99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→</a:t>
            </a:r>
            <a:r>
              <a:rPr lang="en-US" altLang="zh-CN" sz="2800" b="1">
                <a:solidFill>
                  <a:srgbClr val="99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 sz="2800" b="1">
                <a:solidFill>
                  <a:srgbClr val="99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能否由</a:t>
            </a:r>
            <a:r>
              <a:rPr lang="en-US" altLang="zh-CN" sz="2800" b="1">
                <a:solidFill>
                  <a:srgbClr val="99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sz="2800" b="1">
                <a:solidFill>
                  <a:srgbClr val="99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根据公理导出？</a:t>
            </a:r>
          </a:p>
        </p:txBody>
      </p:sp>
      <p:sp>
        <p:nvSpPr>
          <p:cNvPr id="536585" name="Text Box 9">
            <a:extLst>
              <a:ext uri="{FF2B5EF4-FFF2-40B4-BE49-F238E27FC236}">
                <a16:creationId xmlns:a16="http://schemas.microsoft.com/office/drawing/2014/main" id="{62B54C77-3876-453C-BF87-1EA712B33D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8388" y="5589588"/>
            <a:ext cx="4897437" cy="682625"/>
          </a:xfrm>
          <a:prstGeom prst="rect">
            <a:avLst/>
          </a:prstGeom>
          <a:solidFill>
            <a:srgbClr val="333399"/>
          </a:solidFill>
          <a:ln w="1905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tIns="0" bIns="0" anchor="ctr" anchorCtr="1"/>
          <a:lstStyle/>
          <a:p>
            <a:pPr algn="ctr"/>
            <a:r>
              <a:rPr lang="en-US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  <a:cs typeface="Times New Roman" panose="02020603050405020304" pitchFamily="18" charset="0"/>
              </a:rPr>
              <a:t>Y </a:t>
            </a:r>
            <a:r>
              <a:rPr lang="en-US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en-US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baseline="-30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2800" b="1" baseline="30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rPr>
              <a:t> </a:t>
            </a:r>
            <a:r>
              <a:rPr lang="zh-CN" altLang="en-US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rPr>
              <a:t>？</a:t>
            </a:r>
          </a:p>
        </p:txBody>
      </p:sp>
      <p:grpSp>
        <p:nvGrpSpPr>
          <p:cNvPr id="536586" name="Group 10">
            <a:extLst>
              <a:ext uri="{FF2B5EF4-FFF2-40B4-BE49-F238E27FC236}">
                <a16:creationId xmlns:a16="http://schemas.microsoft.com/office/drawing/2014/main" id="{9E008098-9C4E-4C80-B69A-72AA4567378D}"/>
              </a:ext>
            </a:extLst>
          </p:cNvPr>
          <p:cNvGrpSpPr>
            <a:grpSpLocks/>
          </p:cNvGrpSpPr>
          <p:nvPr/>
        </p:nvGrpSpPr>
        <p:grpSpPr bwMode="auto">
          <a:xfrm>
            <a:off x="6443663" y="4043363"/>
            <a:ext cx="1655762" cy="538162"/>
            <a:chOff x="4241" y="2547"/>
            <a:chExt cx="1043" cy="339"/>
          </a:xfrm>
        </p:grpSpPr>
        <p:sp>
          <p:nvSpPr>
            <p:cNvPr id="536587" name="AutoShape 11">
              <a:extLst>
                <a:ext uri="{FF2B5EF4-FFF2-40B4-BE49-F238E27FC236}">
                  <a16:creationId xmlns:a16="http://schemas.microsoft.com/office/drawing/2014/main" id="{DE836216-3BB8-4A34-8710-BFB137F709F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241" y="2659"/>
              <a:ext cx="454" cy="136"/>
            </a:xfrm>
            <a:prstGeom prst="rightArrow">
              <a:avLst>
                <a:gd name="adj1" fmla="val 50000"/>
                <a:gd name="adj2" fmla="val 83456"/>
              </a:avLst>
            </a:prstGeom>
            <a:solidFill>
              <a:srgbClr val="00FFFF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6588" name="Text Box 12">
              <a:extLst>
                <a:ext uri="{FF2B5EF4-FFF2-40B4-BE49-F238E27FC236}">
                  <a16:creationId xmlns:a16="http://schemas.microsoft.com/office/drawing/2014/main" id="{759658E2-C56C-4297-A3EE-9ECFB5197B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0" y="2547"/>
              <a:ext cx="454" cy="339"/>
            </a:xfrm>
            <a:prstGeom prst="rect">
              <a:avLst/>
            </a:prstGeom>
            <a:solidFill>
              <a:srgbClr val="CCFFCC"/>
            </a:solidFill>
            <a:ln w="1905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>
              <a:spAutoFit/>
            </a:bodyPr>
            <a:lstStyle/>
            <a:p>
              <a:pPr algn="ctr"/>
              <a:r>
                <a:rPr lang="en-US" altLang="zh-CN" sz="2800" b="1">
                  <a:solidFill>
                    <a:srgbClr val="000000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G</a:t>
              </a:r>
            </a:p>
          </p:txBody>
        </p:sp>
      </p:grpSp>
      <p:sp>
        <p:nvSpPr>
          <p:cNvPr id="536589" name="Rectangle 13">
            <a:extLst>
              <a:ext uri="{FF2B5EF4-FFF2-40B4-BE49-F238E27FC236}">
                <a16:creationId xmlns:a16="http://schemas.microsoft.com/office/drawing/2014/main" id="{C59B5949-10E8-4685-834A-F19AEC4350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四、最小函数依赖集</a:t>
            </a:r>
          </a:p>
        </p:txBody>
      </p:sp>
      <p:sp>
        <p:nvSpPr>
          <p:cNvPr id="536590" name="Rectangle 14">
            <a:extLst>
              <a:ext uri="{FF2B5EF4-FFF2-40B4-BE49-F238E27FC236}">
                <a16:creationId xmlns:a16="http://schemas.microsoft.com/office/drawing/2014/main" id="{177C56B2-EC5E-416D-9F3C-DBE5DDA0BE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CN">
                <a:latin typeface="楷体_GB2312" pitchFamily="49" charset="-122"/>
              </a:rPr>
              <a:t>1</a:t>
            </a:r>
            <a:r>
              <a:rPr lang="zh-CN" altLang="en-US">
                <a:latin typeface="楷体_GB2312" pitchFamily="49" charset="-122"/>
              </a:rPr>
              <a:t>、</a:t>
            </a:r>
            <a:r>
              <a:rPr lang="zh-CN" altLang="en-US"/>
              <a:t>函数依赖集的等价与覆盖</a:t>
            </a:r>
            <a:endParaRPr lang="en-US" altLang="zh-CN">
              <a:solidFill>
                <a:srgbClr val="000000"/>
              </a:solidFill>
              <a:latin typeface="楷体_GB2312" pitchFamily="49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 </a:t>
            </a:r>
            <a:r>
              <a:rPr lang="zh-CN" altLang="en-US">
                <a:solidFill>
                  <a:srgbClr val="000099"/>
                </a:solidFill>
                <a:latin typeface="楷体_GB2312" pitchFamily="49" charset="-122"/>
                <a:cs typeface="Times New Roman" panose="02020603050405020304" pitchFamily="18" charset="0"/>
              </a:rPr>
              <a:t>定理</a:t>
            </a:r>
            <a:r>
              <a:rPr lang="en-US" altLang="zh-CN">
                <a:solidFill>
                  <a:srgbClr val="000099"/>
                </a:solidFill>
                <a:latin typeface="楷体_GB2312" pitchFamily="49" charset="-122"/>
                <a:cs typeface="Times New Roman" panose="02020603050405020304" pitchFamily="18" charset="0"/>
              </a:rPr>
              <a:t>6.4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F</a:t>
            </a:r>
            <a:r>
              <a:rPr lang="zh-CN" altLang="en-US" baseline="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＝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aseline="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的充要条件是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baseline="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G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baseline="3000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＋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536591" name="AutoShape 15">
            <a:extLst>
              <a:ext uri="{FF2B5EF4-FFF2-40B4-BE49-F238E27FC236}">
                <a16:creationId xmlns:a16="http://schemas.microsoft.com/office/drawing/2014/main" id="{5C77FA8E-BF40-4ADB-9905-B3883EBA9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492375"/>
            <a:ext cx="5832475" cy="1871663"/>
          </a:xfrm>
          <a:prstGeom prst="wedgeRectCallout">
            <a:avLst>
              <a:gd name="adj1" fmla="val 1907"/>
              <a:gd name="adj2" fmla="val 70440"/>
            </a:avLst>
          </a:prstGeom>
          <a:gradFill rotWithShape="1">
            <a:gsLst>
              <a:gs pos="0">
                <a:srgbClr val="CC99FF"/>
              </a:gs>
              <a:gs pos="50000">
                <a:schemeClr val="bg1"/>
              </a:gs>
              <a:gs pos="100000">
                <a:srgbClr val="CC99FF"/>
              </a:gs>
            </a:gsLst>
            <a:lin ang="5400000" scaled="1"/>
          </a:gra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lIns="144000" rIns="72000" anchor="ctr"/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定理</a:t>
            </a: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6.3 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设有关系模式</a:t>
            </a: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R(U,F)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U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的子集。</a:t>
            </a: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能用阿姆斯特朗公理从</a:t>
            </a: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导出的充要条件是</a:t>
            </a: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en-US" altLang="zh-CN" sz="2800" b="1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X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F</a:t>
            </a:r>
            <a:r>
              <a:rPr lang="en-US" altLang="zh-CN" sz="2800" b="1" baseline="30000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zh-CN" altLang="en-US" sz="2800" b="1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zh-CN" altLang="en-US" sz="2800" b="1"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943"/>
    </mc:Choice>
    <mc:Fallback xmlns="">
      <p:transition spd="slow" advTm="659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365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36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36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536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36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1000"/>
                                        <p:tgtEl>
                                          <p:spTgt spid="536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536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365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36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536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6579" grpId="0" animBg="1"/>
      <p:bldP spid="536584" grpId="0" animBg="1"/>
      <p:bldP spid="536585" grpId="0" animBg="1"/>
      <p:bldP spid="536590" grpId="0" uiExpand="1" build="p"/>
      <p:bldP spid="53659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48926F25-378F-4DFC-82B8-6D683E2EC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CB76F-3B90-4FB8-A4C5-5E7B800788B5}" type="slidenum">
              <a:rPr lang="zh-CN" altLang="en-US"/>
              <a:pPr/>
              <a:t>3</a:t>
            </a:fld>
            <a:endParaRPr lang="en-US" altLang="zh-CN"/>
          </a:p>
        </p:txBody>
      </p:sp>
      <p:sp>
        <p:nvSpPr>
          <p:cNvPr id="538626" name="AutoShape 2">
            <a:extLst>
              <a:ext uri="{FF2B5EF4-FFF2-40B4-BE49-F238E27FC236}">
                <a16:creationId xmlns:a16="http://schemas.microsoft.com/office/drawing/2014/main" id="{5036C38C-3713-44A1-9892-ACF68C67A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4005263"/>
            <a:ext cx="7273925" cy="1871662"/>
          </a:xfrm>
          <a:prstGeom prst="foldedCorner">
            <a:avLst>
              <a:gd name="adj" fmla="val 12500"/>
            </a:avLst>
          </a:prstGeom>
          <a:solidFill>
            <a:srgbClr val="00008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anchor="ctr"/>
          <a:lstStyle>
            <a:lvl1pPr marL="1746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None/>
            </a:pPr>
            <a:r>
              <a:rPr kumimoji="0" lang="zh-CN" altLang="en-US" sz="2800" b="1">
                <a:solidFill>
                  <a:srgbClr val="66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作用：</a:t>
            </a:r>
            <a:r>
              <a:rPr kumimoji="0" lang="zh-CN" altLang="en-US" sz="2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任一函数依赖集都可转化成由右端只有单一属性的依赖组成的集合。</a:t>
            </a:r>
          </a:p>
          <a:p>
            <a:pPr algn="just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None/>
            </a:pPr>
            <a:r>
              <a:rPr kumimoji="0" lang="zh-CN" altLang="en-US" sz="28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 该结论是最小函数依赖集的基础。</a:t>
            </a:r>
          </a:p>
        </p:txBody>
      </p:sp>
      <p:sp>
        <p:nvSpPr>
          <p:cNvPr id="538627" name="Rectangle 3">
            <a:extLst>
              <a:ext uri="{FF2B5EF4-FFF2-40B4-BE49-F238E27FC236}">
                <a16:creationId xmlns:a16="http://schemas.microsoft.com/office/drawing/2014/main" id="{AAD52D1B-5003-4B8D-AB4A-BF4B1A36FA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四、最小函数依赖集</a:t>
            </a:r>
          </a:p>
        </p:txBody>
      </p:sp>
      <p:sp>
        <p:nvSpPr>
          <p:cNvPr id="538628" name="Rectangle 4">
            <a:extLst>
              <a:ext uri="{FF2B5EF4-FFF2-40B4-BE49-F238E27FC236}">
                <a16:creationId xmlns:a16="http://schemas.microsoft.com/office/drawing/2014/main" id="{DFA3940F-6A0E-4BC9-8B04-FC0FFEEBBE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CN">
                <a:latin typeface="楷体_GB2312" pitchFamily="49" charset="-122"/>
              </a:rPr>
              <a:t>1</a:t>
            </a:r>
            <a:r>
              <a:rPr lang="zh-CN" altLang="en-US">
                <a:latin typeface="楷体_GB2312" pitchFamily="49" charset="-122"/>
              </a:rPr>
              <a:t>、</a:t>
            </a:r>
            <a:r>
              <a:rPr lang="zh-CN" altLang="en-US"/>
              <a:t>函数依赖集的等价与覆盖</a:t>
            </a:r>
            <a:endParaRPr lang="zh-CN" altLang="en-US">
              <a:latin typeface="楷体_GB2312" pitchFamily="49" charset="-122"/>
            </a:endParaRPr>
          </a:p>
          <a:p>
            <a:pPr algn="just"/>
            <a:r>
              <a:rPr lang="zh-CN" altLang="en-US">
                <a:solidFill>
                  <a:srgbClr val="000099"/>
                </a:solidFill>
                <a:latin typeface="楷体_GB2312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u="sng">
                <a:solidFill>
                  <a:srgbClr val="000099"/>
                </a:solidFill>
                <a:latin typeface="楷体_GB2312" pitchFamily="49" charset="-122"/>
                <a:cs typeface="Times New Roman" panose="02020603050405020304" pitchFamily="18" charset="0"/>
              </a:rPr>
              <a:t>推论</a:t>
            </a:r>
            <a:endParaRPr lang="zh-CN" altLang="en-US">
              <a:solidFill>
                <a:srgbClr val="000099"/>
              </a:solidFill>
              <a:latin typeface="楷体_GB2312" pitchFamily="49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  每一个函数依赖集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都被其右端只有一个属性的函数依赖组成的依赖集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所覆盖。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313"/>
    </mc:Choice>
    <mc:Fallback xmlns="">
      <p:transition spd="slow" advTm="373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38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538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538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8626" grpId="0" animBg="1"/>
      <p:bldP spid="538628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E1B5BB5E-6FD2-4BD8-8864-6F828AC31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7A5F1-3D5C-4DBF-AE6E-01F66A79D13B}" type="slidenum">
              <a:rPr lang="zh-CN" altLang="en-US"/>
              <a:pPr/>
              <a:t>4</a:t>
            </a:fld>
            <a:endParaRPr lang="en-US" altLang="zh-CN"/>
          </a:p>
        </p:txBody>
      </p:sp>
      <p:sp>
        <p:nvSpPr>
          <p:cNvPr id="540674" name="Rectangle 2">
            <a:extLst>
              <a:ext uri="{FF2B5EF4-FFF2-40B4-BE49-F238E27FC236}">
                <a16:creationId xmlns:a16="http://schemas.microsoft.com/office/drawing/2014/main" id="{2302A84E-DA3E-46CC-BB5F-4F67F325F3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四、最小函数依赖集</a:t>
            </a:r>
          </a:p>
        </p:txBody>
      </p:sp>
      <p:sp>
        <p:nvSpPr>
          <p:cNvPr id="540675" name="Rectangle 3">
            <a:extLst>
              <a:ext uri="{FF2B5EF4-FFF2-40B4-BE49-F238E27FC236}">
                <a16:creationId xmlns:a16="http://schemas.microsoft.com/office/drawing/2014/main" id="{6BE0322B-A63B-4A05-ABD5-2D56110983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i="1">
                <a:solidFill>
                  <a:srgbClr val="006600"/>
                </a:solidFill>
              </a:rPr>
              <a:t>例</a:t>
            </a:r>
            <a:r>
              <a:rPr kumimoji="1" lang="zh-CN" altLang="en-US"/>
              <a:t>：</a:t>
            </a:r>
            <a:r>
              <a:rPr kumimoji="1" lang="en-US" altLang="zh-CN"/>
              <a:t>R(</a:t>
            </a:r>
            <a:r>
              <a:rPr kumimoji="1" lang="zh-CN" altLang="en-US"/>
              <a:t>教员，教研室，课程号，课程名</a:t>
            </a:r>
            <a:r>
              <a:rPr kumimoji="1" lang="en-US" altLang="zh-CN"/>
              <a:t>)</a:t>
            </a:r>
            <a:r>
              <a:rPr kumimoji="1" lang="zh-CN" altLang="en-US"/>
              <a:t>，</a:t>
            </a:r>
          </a:p>
          <a:p>
            <a:r>
              <a:rPr kumimoji="1" lang="zh-CN" altLang="en-US"/>
              <a:t>　　　键</a:t>
            </a:r>
            <a:r>
              <a:rPr kumimoji="1" lang="en-US" altLang="zh-CN"/>
              <a:t>(</a:t>
            </a:r>
            <a:r>
              <a:rPr kumimoji="1" lang="zh-CN" altLang="en-US"/>
              <a:t>教员，课程号</a:t>
            </a:r>
            <a:r>
              <a:rPr kumimoji="1" lang="en-US" altLang="zh-CN"/>
              <a:t>)</a:t>
            </a:r>
            <a:endParaRPr lang="zh-CN" altLang="en-US">
              <a:solidFill>
                <a:srgbClr val="000000"/>
              </a:solidFill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40676" name="AutoShape 4">
            <a:extLst>
              <a:ext uri="{FF2B5EF4-FFF2-40B4-BE49-F238E27FC236}">
                <a16:creationId xmlns:a16="http://schemas.microsoft.com/office/drawing/2014/main" id="{AD43A6D1-85C7-4347-AFFB-B488CAA6B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844675"/>
            <a:ext cx="4968875" cy="2233613"/>
          </a:xfrm>
          <a:prstGeom prst="wedgeRoundRectCallout">
            <a:avLst>
              <a:gd name="adj1" fmla="val 25431"/>
              <a:gd name="adj2" fmla="val -37208"/>
              <a:gd name="adj3" fmla="val 16667"/>
            </a:avLst>
          </a:prstGeom>
          <a:gradFill rotWithShape="1">
            <a:gsLst>
              <a:gs pos="0">
                <a:srgbClr val="C9E5FF">
                  <a:gamma/>
                  <a:tint val="0"/>
                  <a:invGamma/>
                </a:srgbClr>
              </a:gs>
              <a:gs pos="100000">
                <a:srgbClr val="C9E5FF"/>
              </a:gs>
            </a:gsLst>
            <a:path path="rect">
              <a:fillToRect l="50000" t="50000" r="50000" b="50000"/>
            </a:path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kumimoji="1" lang="en-US" altLang="zh-CN" sz="2000" b="1">
                <a:solidFill>
                  <a:srgbClr val="000000"/>
                </a:solidFill>
                <a:latin typeface="Comic Sans MS" panose="030F0702030302020204" pitchFamily="66" charset="0"/>
              </a:rPr>
              <a:t>F</a:t>
            </a:r>
            <a:r>
              <a:rPr kumimoji="1" lang="en-US" altLang="zh-CN" sz="2000" b="1" baseline="-25000">
                <a:solidFill>
                  <a:srgbClr val="000000"/>
                </a:solidFill>
                <a:latin typeface="Comic Sans MS" panose="030F0702030302020204" pitchFamily="66" charset="0"/>
              </a:rPr>
              <a:t>1</a:t>
            </a:r>
            <a:r>
              <a:rPr kumimoji="1" lang="zh-CN" altLang="en-US" sz="2000" b="1">
                <a:solidFill>
                  <a:srgbClr val="000000"/>
                </a:solidFill>
                <a:latin typeface="Comic Sans MS" panose="030F0702030302020204" pitchFamily="66" charset="0"/>
              </a:rPr>
              <a:t>＝</a:t>
            </a:r>
            <a:r>
              <a:rPr kumimoji="1" lang="en-US" altLang="zh-CN" sz="2000" b="1">
                <a:solidFill>
                  <a:srgbClr val="000000"/>
                </a:solidFill>
                <a:latin typeface="Comic Sans MS" panose="030F0702030302020204" pitchFamily="66" charset="0"/>
              </a:rPr>
              <a:t>{  </a:t>
            </a:r>
            <a:r>
              <a:rPr kumimoji="1" lang="zh-CN" altLang="en-US" sz="2000" b="1">
                <a:solidFill>
                  <a:srgbClr val="000000"/>
                </a:solidFill>
                <a:latin typeface="Comic Sans MS" panose="030F0702030302020204" pitchFamily="66" charset="0"/>
              </a:rPr>
              <a:t>教员</a:t>
            </a:r>
            <a:r>
              <a:rPr kumimoji="1" lang="zh-CN" altLang="en-US" sz="2000" b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 </a:t>
            </a:r>
            <a:r>
              <a:rPr kumimoji="1" lang="zh-CN" altLang="en-US" sz="2000" b="1">
                <a:solidFill>
                  <a:srgbClr val="000000"/>
                </a:solidFill>
                <a:latin typeface="Comic Sans MS" panose="030F0702030302020204" pitchFamily="66" charset="0"/>
              </a:rPr>
              <a:t>教研室</a:t>
            </a:r>
            <a:r>
              <a:rPr kumimoji="1" lang="en-US" altLang="zh-CN" sz="2000" b="1">
                <a:solidFill>
                  <a:srgbClr val="000000"/>
                </a:solidFill>
                <a:latin typeface="Comic Sans MS" panose="030F0702030302020204" pitchFamily="66" charset="0"/>
              </a:rPr>
              <a:t>,</a:t>
            </a:r>
          </a:p>
          <a:p>
            <a:r>
              <a:rPr kumimoji="1" lang="en-US" altLang="zh-CN" sz="2000" b="1">
                <a:solidFill>
                  <a:srgbClr val="000000"/>
                </a:solidFill>
                <a:latin typeface="Comic Sans MS" panose="030F0702030302020204" pitchFamily="66" charset="0"/>
              </a:rPr>
              <a:t>       </a:t>
            </a:r>
            <a:r>
              <a:rPr kumimoji="1" lang="zh-CN" altLang="en-US" sz="2000" b="1">
                <a:solidFill>
                  <a:srgbClr val="000000"/>
                </a:solidFill>
                <a:latin typeface="Comic Sans MS" panose="030F0702030302020204" pitchFamily="66" charset="0"/>
              </a:rPr>
              <a:t>课程号</a:t>
            </a:r>
            <a:r>
              <a:rPr kumimoji="1" lang="zh-CN" altLang="en-US" sz="2000" b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 </a:t>
            </a:r>
            <a:r>
              <a:rPr kumimoji="1" lang="zh-CN" altLang="en-US" sz="2000" b="1">
                <a:solidFill>
                  <a:srgbClr val="000000"/>
                </a:solidFill>
                <a:latin typeface="Comic Sans MS" panose="030F0702030302020204" pitchFamily="66" charset="0"/>
              </a:rPr>
              <a:t>课程名</a:t>
            </a:r>
            <a:r>
              <a:rPr kumimoji="1" lang="en-US" altLang="zh-CN" sz="2000" b="1">
                <a:solidFill>
                  <a:srgbClr val="000000"/>
                </a:solidFill>
                <a:latin typeface="Comic Sans MS" panose="030F0702030302020204" pitchFamily="66" charset="0"/>
              </a:rPr>
              <a:t>, </a:t>
            </a:r>
          </a:p>
          <a:p>
            <a:r>
              <a:rPr kumimoji="1" lang="en-US" altLang="zh-CN" sz="2000" b="1">
                <a:solidFill>
                  <a:srgbClr val="000000"/>
                </a:solidFill>
                <a:latin typeface="Comic Sans MS" panose="030F0702030302020204" pitchFamily="66" charset="0"/>
              </a:rPr>
              <a:t>       {</a:t>
            </a:r>
            <a:r>
              <a:rPr kumimoji="1" lang="zh-CN" altLang="en-US" sz="2000" b="1">
                <a:solidFill>
                  <a:srgbClr val="000000"/>
                </a:solidFill>
                <a:latin typeface="Comic Sans MS" panose="030F0702030302020204" pitchFamily="66" charset="0"/>
              </a:rPr>
              <a:t>教员</a:t>
            </a:r>
            <a:r>
              <a:rPr kumimoji="1" lang="en-US" altLang="zh-CN" sz="2000" b="1">
                <a:solidFill>
                  <a:srgbClr val="000000"/>
                </a:solidFill>
                <a:latin typeface="Comic Sans MS" panose="030F0702030302020204" pitchFamily="66" charset="0"/>
              </a:rPr>
              <a:t>,</a:t>
            </a:r>
            <a:r>
              <a:rPr kumimoji="1" lang="zh-CN" altLang="en-US" sz="2000" b="1">
                <a:solidFill>
                  <a:srgbClr val="000000"/>
                </a:solidFill>
                <a:latin typeface="Comic Sans MS" panose="030F0702030302020204" pitchFamily="66" charset="0"/>
              </a:rPr>
              <a:t>课程号</a:t>
            </a:r>
            <a:r>
              <a:rPr kumimoji="1" lang="en-US" altLang="zh-CN" sz="2000" b="1">
                <a:solidFill>
                  <a:srgbClr val="000000"/>
                </a:solidFill>
                <a:latin typeface="Comic Sans MS" panose="030F0702030302020204" pitchFamily="66" charset="0"/>
              </a:rPr>
              <a:t>} </a:t>
            </a:r>
            <a:r>
              <a:rPr kumimoji="1" lang="en-US" altLang="zh-CN" sz="2000" b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 </a:t>
            </a:r>
            <a:r>
              <a:rPr kumimoji="1" lang="zh-CN" altLang="en-US" sz="2000" b="1">
                <a:solidFill>
                  <a:srgbClr val="000000"/>
                </a:solidFill>
                <a:latin typeface="Comic Sans MS" panose="030F0702030302020204" pitchFamily="66" charset="0"/>
              </a:rPr>
              <a:t>教研室</a:t>
            </a:r>
            <a:r>
              <a:rPr kumimoji="1" lang="en-US" altLang="zh-CN" sz="2000" b="1">
                <a:solidFill>
                  <a:srgbClr val="000000"/>
                </a:solidFill>
                <a:latin typeface="Comic Sans MS" panose="030F0702030302020204" pitchFamily="66" charset="0"/>
              </a:rPr>
              <a:t>, </a:t>
            </a:r>
          </a:p>
          <a:p>
            <a:r>
              <a:rPr kumimoji="1" lang="en-US" altLang="zh-CN" sz="2000" b="1">
                <a:solidFill>
                  <a:srgbClr val="000000"/>
                </a:solidFill>
                <a:latin typeface="Comic Sans MS" panose="030F0702030302020204" pitchFamily="66" charset="0"/>
              </a:rPr>
              <a:t>       {</a:t>
            </a:r>
            <a:r>
              <a:rPr kumimoji="1" lang="zh-CN" altLang="en-US" sz="2000" b="1">
                <a:solidFill>
                  <a:srgbClr val="000000"/>
                </a:solidFill>
                <a:latin typeface="Comic Sans MS" panose="030F0702030302020204" pitchFamily="66" charset="0"/>
              </a:rPr>
              <a:t>教员</a:t>
            </a:r>
            <a:r>
              <a:rPr kumimoji="1" lang="en-US" altLang="zh-CN" sz="2000" b="1">
                <a:solidFill>
                  <a:srgbClr val="000000"/>
                </a:solidFill>
                <a:latin typeface="Comic Sans MS" panose="030F0702030302020204" pitchFamily="66" charset="0"/>
              </a:rPr>
              <a:t>,</a:t>
            </a:r>
            <a:r>
              <a:rPr kumimoji="1" lang="zh-CN" altLang="en-US" sz="2000" b="1">
                <a:solidFill>
                  <a:srgbClr val="000000"/>
                </a:solidFill>
                <a:latin typeface="Comic Sans MS" panose="030F0702030302020204" pitchFamily="66" charset="0"/>
              </a:rPr>
              <a:t>课程号</a:t>
            </a:r>
            <a:r>
              <a:rPr kumimoji="1" lang="en-US" altLang="zh-CN" sz="2000" b="1">
                <a:solidFill>
                  <a:srgbClr val="000000"/>
                </a:solidFill>
                <a:latin typeface="Comic Sans MS" panose="030F0702030302020204" pitchFamily="66" charset="0"/>
              </a:rPr>
              <a:t>} </a:t>
            </a:r>
            <a:r>
              <a:rPr kumimoji="1" lang="en-US" altLang="zh-CN" sz="2000" b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 {</a:t>
            </a:r>
            <a:r>
              <a:rPr kumimoji="1" lang="zh-CN" altLang="en-US" sz="2000" b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教员</a:t>
            </a:r>
            <a:r>
              <a:rPr kumimoji="1" lang="en-US" altLang="zh-CN" sz="2000" b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,</a:t>
            </a:r>
            <a:r>
              <a:rPr kumimoji="1" lang="zh-CN" altLang="en-US" sz="2000" b="1">
                <a:solidFill>
                  <a:srgbClr val="000000"/>
                </a:solidFill>
                <a:latin typeface="Comic Sans MS" panose="030F0702030302020204" pitchFamily="66" charset="0"/>
              </a:rPr>
              <a:t>课程名</a:t>
            </a:r>
            <a:r>
              <a:rPr kumimoji="1" lang="en-US" altLang="zh-CN" sz="2000" b="1">
                <a:solidFill>
                  <a:srgbClr val="000000"/>
                </a:solidFill>
                <a:latin typeface="Comic Sans MS" panose="030F0702030302020204" pitchFamily="66" charset="0"/>
              </a:rPr>
              <a:t>},</a:t>
            </a:r>
          </a:p>
          <a:p>
            <a:r>
              <a:rPr kumimoji="1" lang="zh-CN" altLang="en-US" sz="2000" b="1">
                <a:solidFill>
                  <a:srgbClr val="000000"/>
                </a:solidFill>
                <a:latin typeface="Comic Sans MS" panose="030F0702030302020204" pitchFamily="66" charset="0"/>
              </a:rPr>
              <a:t>　　　</a:t>
            </a:r>
            <a:r>
              <a:rPr kumimoji="1" lang="en-US" altLang="zh-CN" sz="2000" b="1">
                <a:solidFill>
                  <a:srgbClr val="000000"/>
                </a:solidFill>
                <a:latin typeface="Comic Sans MS" panose="030F0702030302020204" pitchFamily="66" charset="0"/>
              </a:rPr>
              <a:t>{</a:t>
            </a:r>
            <a:r>
              <a:rPr kumimoji="1" lang="zh-CN" altLang="en-US" sz="2000" b="1">
                <a:solidFill>
                  <a:srgbClr val="000000"/>
                </a:solidFill>
                <a:latin typeface="Comic Sans MS" panose="030F0702030302020204" pitchFamily="66" charset="0"/>
              </a:rPr>
              <a:t>教员</a:t>
            </a:r>
            <a:r>
              <a:rPr kumimoji="1" lang="en-US" altLang="zh-CN" sz="2000" b="1">
                <a:solidFill>
                  <a:srgbClr val="000000"/>
                </a:solidFill>
                <a:latin typeface="Comic Sans MS" panose="030F0702030302020204" pitchFamily="66" charset="0"/>
              </a:rPr>
              <a:t>,</a:t>
            </a:r>
            <a:r>
              <a:rPr kumimoji="1" lang="zh-CN" altLang="en-US" sz="2000" b="1">
                <a:solidFill>
                  <a:srgbClr val="000000"/>
                </a:solidFill>
                <a:latin typeface="Comic Sans MS" panose="030F0702030302020204" pitchFamily="66" charset="0"/>
              </a:rPr>
              <a:t>教研室</a:t>
            </a:r>
            <a:r>
              <a:rPr kumimoji="1" lang="en-US" altLang="zh-CN" sz="2000" b="1">
                <a:solidFill>
                  <a:srgbClr val="000000"/>
                </a:solidFill>
                <a:latin typeface="Comic Sans MS" panose="030F0702030302020204" pitchFamily="66" charset="0"/>
              </a:rPr>
              <a:t>} </a:t>
            </a:r>
            <a:r>
              <a:rPr kumimoji="1" lang="en-US" altLang="zh-CN" sz="2000" b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 </a:t>
            </a:r>
            <a:r>
              <a:rPr kumimoji="1" lang="zh-CN" altLang="en-US" sz="2000" b="1">
                <a:solidFill>
                  <a:srgbClr val="000000"/>
                </a:solidFill>
                <a:latin typeface="Comic Sans MS" panose="030F0702030302020204" pitchFamily="66" charset="0"/>
              </a:rPr>
              <a:t>教研室</a:t>
            </a:r>
            <a:r>
              <a:rPr kumimoji="1" lang="en-US" altLang="zh-CN" sz="2000" b="1">
                <a:solidFill>
                  <a:srgbClr val="000000"/>
                </a:solidFill>
                <a:latin typeface="Comic Sans MS" panose="030F0702030302020204" pitchFamily="66" charset="0"/>
              </a:rPr>
              <a:t>,</a:t>
            </a:r>
          </a:p>
          <a:p>
            <a:r>
              <a:rPr kumimoji="1" lang="en-US" altLang="zh-CN" sz="2000" b="1">
                <a:solidFill>
                  <a:srgbClr val="000000"/>
                </a:solidFill>
                <a:latin typeface="Comic Sans MS" panose="030F0702030302020204" pitchFamily="66" charset="0"/>
              </a:rPr>
              <a:t>       {</a:t>
            </a:r>
            <a:r>
              <a:rPr kumimoji="1" lang="zh-CN" altLang="en-US" sz="2000" b="1">
                <a:solidFill>
                  <a:srgbClr val="000000"/>
                </a:solidFill>
                <a:latin typeface="Comic Sans MS" panose="030F0702030302020204" pitchFamily="66" charset="0"/>
              </a:rPr>
              <a:t>课程号</a:t>
            </a:r>
            <a:r>
              <a:rPr kumimoji="1" lang="en-US" altLang="zh-CN" sz="2000" b="1">
                <a:solidFill>
                  <a:srgbClr val="000000"/>
                </a:solidFill>
                <a:latin typeface="Comic Sans MS" panose="030F0702030302020204" pitchFamily="66" charset="0"/>
              </a:rPr>
              <a:t>,</a:t>
            </a:r>
            <a:r>
              <a:rPr kumimoji="1" lang="zh-CN" altLang="en-US" sz="2000" b="1">
                <a:solidFill>
                  <a:srgbClr val="000000"/>
                </a:solidFill>
                <a:latin typeface="Comic Sans MS" panose="030F0702030302020204" pitchFamily="66" charset="0"/>
              </a:rPr>
              <a:t>课程名</a:t>
            </a:r>
            <a:r>
              <a:rPr kumimoji="1" lang="en-US" altLang="zh-CN" sz="2000" b="1">
                <a:solidFill>
                  <a:srgbClr val="000000"/>
                </a:solidFill>
                <a:latin typeface="Comic Sans MS" panose="030F0702030302020204" pitchFamily="66" charset="0"/>
              </a:rPr>
              <a:t>} </a:t>
            </a:r>
            <a:r>
              <a:rPr kumimoji="1" lang="en-US" altLang="zh-CN" sz="2000" b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 </a:t>
            </a:r>
            <a:r>
              <a:rPr kumimoji="1" lang="zh-CN" altLang="en-US" sz="2000" b="1">
                <a:solidFill>
                  <a:srgbClr val="000000"/>
                </a:solidFill>
                <a:latin typeface="Comic Sans MS" panose="030F0702030302020204" pitchFamily="66" charset="0"/>
              </a:rPr>
              <a:t>课程号 </a:t>
            </a:r>
            <a:r>
              <a:rPr kumimoji="1" lang="en-US" altLang="zh-CN" sz="2000" b="1">
                <a:solidFill>
                  <a:srgbClr val="000000"/>
                </a:solidFill>
                <a:latin typeface="Comic Sans MS" panose="030F0702030302020204" pitchFamily="66" charset="0"/>
              </a:rPr>
              <a:t>}</a:t>
            </a:r>
          </a:p>
        </p:txBody>
      </p:sp>
      <p:sp>
        <p:nvSpPr>
          <p:cNvPr id="540677" name="AutoShape 5">
            <a:extLst>
              <a:ext uri="{FF2B5EF4-FFF2-40B4-BE49-F238E27FC236}">
                <a16:creationId xmlns:a16="http://schemas.microsoft.com/office/drawing/2014/main" id="{D831DF1E-828A-435B-982B-7FC69AA20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1484313"/>
            <a:ext cx="4897437" cy="1368425"/>
          </a:xfrm>
          <a:prstGeom prst="wedgeRoundRectCallout">
            <a:avLst>
              <a:gd name="adj1" fmla="val 18944"/>
              <a:gd name="adj2" fmla="val -11139"/>
              <a:gd name="adj3" fmla="val 16667"/>
            </a:avLst>
          </a:prstGeom>
          <a:gradFill rotWithShape="1">
            <a:gsLst>
              <a:gs pos="0">
                <a:srgbClr val="E8C9FF">
                  <a:gamma/>
                  <a:tint val="0"/>
                  <a:invGamma/>
                </a:srgbClr>
              </a:gs>
              <a:gs pos="100000">
                <a:srgbClr val="E8C9FF"/>
              </a:gs>
            </a:gsLst>
            <a:path path="rect">
              <a:fillToRect l="50000" t="50000" r="50000" b="50000"/>
            </a:path>
          </a:gra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kumimoji="1" lang="en-US" altLang="zh-CN" sz="2000" b="1">
                <a:solidFill>
                  <a:srgbClr val="000000"/>
                </a:solidFill>
                <a:latin typeface="Comic Sans MS" panose="030F0702030302020204" pitchFamily="66" charset="0"/>
              </a:rPr>
              <a:t>F</a:t>
            </a:r>
            <a:r>
              <a:rPr kumimoji="1" lang="en-US" altLang="zh-CN" sz="2000" b="1" baseline="-250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  <a:r>
              <a:rPr kumimoji="1" lang="zh-CN" altLang="en-US" sz="2000" b="1">
                <a:solidFill>
                  <a:srgbClr val="000000"/>
                </a:solidFill>
                <a:latin typeface="Comic Sans MS" panose="030F0702030302020204" pitchFamily="66" charset="0"/>
              </a:rPr>
              <a:t>＝</a:t>
            </a:r>
            <a:r>
              <a:rPr kumimoji="1" lang="en-US" altLang="zh-CN" sz="2000" b="1">
                <a:solidFill>
                  <a:srgbClr val="000000"/>
                </a:solidFill>
                <a:latin typeface="Comic Sans MS" panose="030F0702030302020204" pitchFamily="66" charset="0"/>
              </a:rPr>
              <a:t>{</a:t>
            </a:r>
            <a:r>
              <a:rPr kumimoji="1" lang="zh-CN" altLang="en-US" sz="2000" b="1">
                <a:solidFill>
                  <a:srgbClr val="000000"/>
                </a:solidFill>
                <a:latin typeface="Comic Sans MS" panose="030F0702030302020204" pitchFamily="66" charset="0"/>
              </a:rPr>
              <a:t>教员</a:t>
            </a:r>
            <a:r>
              <a:rPr kumimoji="1" lang="zh-CN" altLang="en-US" sz="2000" b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 </a:t>
            </a:r>
            <a:r>
              <a:rPr kumimoji="1" lang="zh-CN" altLang="en-US" sz="2000" b="1">
                <a:solidFill>
                  <a:srgbClr val="000000"/>
                </a:solidFill>
                <a:latin typeface="Comic Sans MS" panose="030F0702030302020204" pitchFamily="66" charset="0"/>
              </a:rPr>
              <a:t>教研室</a:t>
            </a:r>
            <a:r>
              <a:rPr kumimoji="1" lang="en-US" altLang="zh-CN" sz="2000" b="1">
                <a:solidFill>
                  <a:srgbClr val="000000"/>
                </a:solidFill>
                <a:latin typeface="Comic Sans MS" panose="030F0702030302020204" pitchFamily="66" charset="0"/>
              </a:rPr>
              <a:t>,</a:t>
            </a:r>
          </a:p>
          <a:p>
            <a:r>
              <a:rPr kumimoji="1" lang="zh-CN" altLang="en-US" sz="2000" b="1">
                <a:solidFill>
                  <a:srgbClr val="000000"/>
                </a:solidFill>
                <a:latin typeface="Comic Sans MS" panose="030F0702030302020204" pitchFamily="66" charset="0"/>
              </a:rPr>
              <a:t>　　 </a:t>
            </a:r>
            <a:r>
              <a:rPr kumimoji="1" lang="en-US" altLang="zh-CN" sz="2000" b="1">
                <a:solidFill>
                  <a:srgbClr val="000000"/>
                </a:solidFill>
                <a:latin typeface="Comic Sans MS" panose="030F0702030302020204" pitchFamily="66" charset="0"/>
              </a:rPr>
              <a:t>{</a:t>
            </a:r>
            <a:r>
              <a:rPr kumimoji="1" lang="zh-CN" altLang="en-US" sz="2000" b="1">
                <a:solidFill>
                  <a:srgbClr val="000000"/>
                </a:solidFill>
                <a:latin typeface="Comic Sans MS" panose="030F0702030302020204" pitchFamily="66" charset="0"/>
              </a:rPr>
              <a:t>教员</a:t>
            </a:r>
            <a:r>
              <a:rPr kumimoji="1" lang="en-US" altLang="zh-CN" sz="2000" b="1">
                <a:solidFill>
                  <a:srgbClr val="000000"/>
                </a:solidFill>
                <a:latin typeface="Comic Sans MS" panose="030F0702030302020204" pitchFamily="66" charset="0"/>
              </a:rPr>
              <a:t>,</a:t>
            </a:r>
            <a:r>
              <a:rPr kumimoji="1" lang="zh-CN" altLang="en-US" sz="2000" b="1">
                <a:solidFill>
                  <a:srgbClr val="000000"/>
                </a:solidFill>
                <a:latin typeface="Comic Sans MS" panose="030F0702030302020204" pitchFamily="66" charset="0"/>
              </a:rPr>
              <a:t>课程号</a:t>
            </a:r>
            <a:r>
              <a:rPr kumimoji="1" lang="en-US" altLang="zh-CN" sz="2000" b="1">
                <a:solidFill>
                  <a:srgbClr val="000000"/>
                </a:solidFill>
                <a:latin typeface="Comic Sans MS" panose="030F0702030302020204" pitchFamily="66" charset="0"/>
              </a:rPr>
              <a:t>,</a:t>
            </a:r>
            <a:r>
              <a:rPr kumimoji="1" lang="zh-CN" altLang="en-US" sz="2000" b="1">
                <a:solidFill>
                  <a:srgbClr val="000000"/>
                </a:solidFill>
                <a:latin typeface="Comic Sans MS" panose="030F0702030302020204" pitchFamily="66" charset="0"/>
              </a:rPr>
              <a:t>课程名</a:t>
            </a:r>
            <a:r>
              <a:rPr kumimoji="1" lang="en-US" altLang="zh-CN" sz="2000" b="1">
                <a:solidFill>
                  <a:srgbClr val="000000"/>
                </a:solidFill>
                <a:latin typeface="Comic Sans MS" panose="030F0702030302020204" pitchFamily="66" charset="0"/>
              </a:rPr>
              <a:t>} </a:t>
            </a:r>
            <a:r>
              <a:rPr kumimoji="1" lang="en-US" altLang="zh-CN" sz="2000" b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 </a:t>
            </a:r>
            <a:r>
              <a:rPr kumimoji="1" lang="zh-CN" altLang="en-US" sz="2000" b="1">
                <a:solidFill>
                  <a:srgbClr val="000000"/>
                </a:solidFill>
                <a:latin typeface="Comic Sans MS" panose="030F0702030302020204" pitchFamily="66" charset="0"/>
              </a:rPr>
              <a:t>教研室</a:t>
            </a:r>
            <a:r>
              <a:rPr kumimoji="1" lang="en-US" altLang="zh-CN" sz="2000" b="1">
                <a:solidFill>
                  <a:srgbClr val="000000"/>
                </a:solidFill>
                <a:latin typeface="Comic Sans MS" panose="030F0702030302020204" pitchFamily="66" charset="0"/>
              </a:rPr>
              <a:t>,</a:t>
            </a:r>
          </a:p>
          <a:p>
            <a:r>
              <a:rPr kumimoji="1" lang="en-US" altLang="zh-CN" sz="2000" b="1">
                <a:solidFill>
                  <a:srgbClr val="000000"/>
                </a:solidFill>
                <a:latin typeface="Comic Sans MS" panose="030F0702030302020204" pitchFamily="66" charset="0"/>
              </a:rPr>
              <a:t>      {</a:t>
            </a:r>
            <a:r>
              <a:rPr kumimoji="1" lang="zh-CN" altLang="en-US" sz="2000" b="1">
                <a:solidFill>
                  <a:srgbClr val="000000"/>
                </a:solidFill>
                <a:latin typeface="Comic Sans MS" panose="030F0702030302020204" pitchFamily="66" charset="0"/>
              </a:rPr>
              <a:t>课程号</a:t>
            </a:r>
            <a:r>
              <a:rPr kumimoji="1" lang="en-US" altLang="zh-CN" sz="2000" b="1">
                <a:solidFill>
                  <a:srgbClr val="000000"/>
                </a:solidFill>
                <a:latin typeface="Comic Sans MS" panose="030F0702030302020204" pitchFamily="66" charset="0"/>
              </a:rPr>
              <a:t>,</a:t>
            </a:r>
            <a:r>
              <a:rPr kumimoji="1" lang="zh-CN" altLang="en-US" sz="2000" b="1">
                <a:solidFill>
                  <a:srgbClr val="000000"/>
                </a:solidFill>
                <a:latin typeface="Comic Sans MS" panose="030F0702030302020204" pitchFamily="66" charset="0"/>
              </a:rPr>
              <a:t>课程名</a:t>
            </a:r>
            <a:r>
              <a:rPr kumimoji="1" lang="en-US" altLang="zh-CN" sz="2000" b="1">
                <a:solidFill>
                  <a:srgbClr val="000000"/>
                </a:solidFill>
                <a:latin typeface="Comic Sans MS" panose="030F0702030302020204" pitchFamily="66" charset="0"/>
              </a:rPr>
              <a:t>}</a:t>
            </a:r>
            <a:r>
              <a:rPr kumimoji="1" lang="en-US" altLang="zh-CN" sz="2000" b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 </a:t>
            </a:r>
            <a:r>
              <a:rPr kumimoji="1" lang="zh-CN" altLang="en-US" sz="2000" b="1">
                <a:solidFill>
                  <a:srgbClr val="000000"/>
                </a:solidFill>
                <a:latin typeface="Comic Sans MS" panose="030F0702030302020204" pitchFamily="66" charset="0"/>
              </a:rPr>
              <a:t>课程名</a:t>
            </a:r>
            <a:r>
              <a:rPr kumimoji="1" lang="en-US" altLang="zh-CN" sz="2000" b="1">
                <a:solidFill>
                  <a:srgbClr val="000000"/>
                </a:solidFill>
                <a:latin typeface="Comic Sans MS" panose="030F0702030302020204" pitchFamily="66" charset="0"/>
              </a:rPr>
              <a:t>}</a:t>
            </a:r>
          </a:p>
        </p:txBody>
      </p:sp>
      <p:sp>
        <p:nvSpPr>
          <p:cNvPr id="540678" name="Rectangle 6">
            <a:extLst>
              <a:ext uri="{FF2B5EF4-FFF2-40B4-BE49-F238E27FC236}">
                <a16:creationId xmlns:a16="http://schemas.microsoft.com/office/drawing/2014/main" id="{774950C5-51CA-45CC-993C-D637EAA5C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005263"/>
            <a:ext cx="7704138" cy="2663825"/>
          </a:xfrm>
          <a:prstGeom prst="rect">
            <a:avLst/>
          </a:prstGeom>
          <a:solidFill>
            <a:srgbClr val="FFFF99"/>
          </a:solidFill>
          <a:ln w="25400" algn="ctr">
            <a:solidFill>
              <a:srgbClr val="000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zh-CN" altLang="en-US" sz="2400" b="1">
                <a:latin typeface="Comic Sans MS" panose="030F0702030302020204" pitchFamily="66" charset="0"/>
                <a:ea typeface="宋体" panose="02010600030101010101" pitchFamily="2" charset="-122"/>
              </a:rPr>
              <a:t> </a:t>
            </a:r>
            <a:r>
              <a:rPr kumimoji="1" lang="zh-CN" altLang="en-US" sz="2400" b="1">
                <a:latin typeface="楷体_GB2312" pitchFamily="49" charset="-122"/>
                <a:cs typeface="Times New Roman" panose="02020603050405020304" pitchFamily="18" charset="0"/>
              </a:rPr>
              <a:t>判断</a:t>
            </a:r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</a:rPr>
              <a:t>F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  <a:r>
              <a:rPr kumimoji="1" lang="zh-CN" altLang="en-US" sz="2400" b="1">
                <a:solidFill>
                  <a:srgbClr val="000000"/>
                </a:solidFill>
                <a:latin typeface="Comic Sans MS" panose="030F0702030302020204" pitchFamily="66" charset="0"/>
              </a:rPr>
              <a:t>中每一个</a:t>
            </a:r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</a:rPr>
              <a:t>FD</a:t>
            </a:r>
            <a:r>
              <a:rPr kumimoji="1" lang="zh-CN" altLang="en-US" sz="2400" b="1">
                <a:solidFill>
                  <a:srgbClr val="000000"/>
                </a:solidFill>
                <a:latin typeface="Comic Sans MS" panose="030F0702030302020204" pitchFamily="66" charset="0"/>
              </a:rPr>
              <a:t>是否能由</a:t>
            </a:r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</a:rPr>
              <a:t>F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Comic Sans MS" panose="030F0702030302020204" pitchFamily="66" charset="0"/>
              </a:rPr>
              <a:t>1</a:t>
            </a:r>
            <a:r>
              <a:rPr kumimoji="1" lang="zh-CN" altLang="en-US" sz="2400" b="1">
                <a:solidFill>
                  <a:srgbClr val="000000"/>
                </a:solidFill>
                <a:latin typeface="Comic Sans MS" panose="030F0702030302020204" pitchFamily="66" charset="0"/>
              </a:rPr>
              <a:t>导出？</a:t>
            </a:r>
          </a:p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</a:rPr>
              <a:t>①已存在</a:t>
            </a:r>
          </a:p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</a:rPr>
              <a:t>②</a:t>
            </a:r>
            <a:r>
              <a:rPr kumimoji="1" lang="en-US" altLang="zh-CN" sz="2400" b="1">
                <a:solidFill>
                  <a:srgbClr val="000000"/>
                </a:solidFill>
                <a:latin typeface="楷体_GB2312" pitchFamily="49" charset="-122"/>
              </a:rPr>
              <a:t>{</a:t>
            </a: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</a:rPr>
              <a:t>教研室</a:t>
            </a:r>
            <a:r>
              <a:rPr kumimoji="1" lang="en-US" altLang="zh-CN" sz="2400" b="1">
                <a:solidFill>
                  <a:srgbClr val="000000"/>
                </a:solidFill>
                <a:latin typeface="楷体_GB2312" pitchFamily="49" charset="-122"/>
              </a:rPr>
              <a:t>}</a:t>
            </a:r>
            <a:r>
              <a:rPr kumimoji="1" lang="en-US" altLang="zh-CN" sz="2400" b="1">
                <a:latin typeface="楷体_GB2312" pitchFamily="49" charset="-122"/>
                <a:sym typeface="Symbol" panose="05050102010706020507" pitchFamily="18" charset="2"/>
              </a:rPr>
              <a:t> </a:t>
            </a:r>
            <a:r>
              <a:rPr kumimoji="1" lang="en-US" altLang="zh-CN" sz="2400" b="1">
                <a:solidFill>
                  <a:srgbClr val="000000"/>
                </a:solidFill>
                <a:latin typeface="楷体_GB2312" pitchFamily="49" charset="-122"/>
              </a:rPr>
              <a:t>(</a:t>
            </a: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</a:rPr>
              <a:t>教员</a:t>
            </a:r>
            <a:r>
              <a:rPr kumimoji="1" lang="en-US" altLang="zh-CN" sz="2400" b="1">
                <a:solidFill>
                  <a:srgbClr val="000000"/>
                </a:solidFill>
                <a:latin typeface="楷体_GB2312" pitchFamily="49" charset="-122"/>
              </a:rPr>
              <a:t>,</a:t>
            </a: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</a:rPr>
              <a:t>课程号</a:t>
            </a:r>
            <a:r>
              <a:rPr kumimoji="1" lang="en-US" altLang="zh-CN" sz="2400" b="1">
                <a:solidFill>
                  <a:srgbClr val="000000"/>
                </a:solidFill>
                <a:latin typeface="楷体_GB2312" pitchFamily="49" charset="-122"/>
              </a:rPr>
              <a:t>,</a:t>
            </a: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</a:rPr>
              <a:t>课程名</a:t>
            </a:r>
            <a:r>
              <a:rPr kumimoji="1" lang="en-US" altLang="zh-CN" sz="2400" b="1">
                <a:solidFill>
                  <a:srgbClr val="000000"/>
                </a:solidFill>
                <a:latin typeface="楷体_GB2312" pitchFamily="49" charset="-122"/>
              </a:rPr>
              <a:t>)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楷体_GB2312" pitchFamily="49" charset="-122"/>
              </a:rPr>
              <a:t>F1</a:t>
            </a:r>
            <a:r>
              <a:rPr kumimoji="1" lang="zh-CN" altLang="en-US" sz="2400" b="1" baseline="30000">
                <a:solidFill>
                  <a:srgbClr val="000000"/>
                </a:solidFill>
                <a:latin typeface="楷体_GB2312" pitchFamily="49" charset="-122"/>
              </a:rPr>
              <a:t>＋</a:t>
            </a:r>
            <a:r>
              <a:rPr kumimoji="1" lang="en-US" altLang="zh-CN" sz="2400" b="1">
                <a:solidFill>
                  <a:srgbClr val="000000"/>
                </a:solidFill>
                <a:latin typeface="楷体_GB2312" pitchFamily="49" charset="-122"/>
              </a:rPr>
              <a:t>,</a:t>
            </a: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</a:rPr>
              <a:t>故可导出</a:t>
            </a:r>
            <a:endParaRPr kumimoji="1" lang="zh-CN" altLang="en-US" sz="2400" b="1" baseline="-25000">
              <a:latin typeface="楷体_GB2312" pitchFamily="49" charset="-122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</a:rPr>
              <a:t>③</a:t>
            </a:r>
            <a:r>
              <a:rPr kumimoji="1" lang="en-US" altLang="zh-CN" sz="2400" b="1">
                <a:solidFill>
                  <a:srgbClr val="000000"/>
                </a:solidFill>
                <a:latin typeface="楷体_GB2312" pitchFamily="49" charset="-122"/>
              </a:rPr>
              <a:t>{</a:t>
            </a: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</a:rPr>
              <a:t>课程名</a:t>
            </a:r>
            <a:r>
              <a:rPr kumimoji="1" lang="en-US" altLang="zh-CN" sz="2400" b="1">
                <a:solidFill>
                  <a:srgbClr val="000000"/>
                </a:solidFill>
                <a:latin typeface="楷体_GB2312" pitchFamily="49" charset="-122"/>
              </a:rPr>
              <a:t>}</a:t>
            </a:r>
            <a:r>
              <a:rPr kumimoji="1" lang="en-US" altLang="zh-CN" sz="2400" b="1">
                <a:latin typeface="楷体_GB2312" pitchFamily="49" charset="-122"/>
                <a:sym typeface="Symbol" panose="05050102010706020507" pitchFamily="18" charset="2"/>
              </a:rPr>
              <a:t> </a:t>
            </a:r>
            <a:r>
              <a:rPr kumimoji="1" lang="en-US" altLang="zh-CN" sz="2400" b="1">
                <a:solidFill>
                  <a:srgbClr val="000000"/>
                </a:solidFill>
                <a:latin typeface="楷体_GB2312" pitchFamily="49" charset="-122"/>
              </a:rPr>
              <a:t>(</a:t>
            </a: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</a:rPr>
              <a:t>课程号</a:t>
            </a:r>
            <a:r>
              <a:rPr kumimoji="1" lang="en-US" altLang="zh-CN" sz="2400" b="1">
                <a:solidFill>
                  <a:srgbClr val="000000"/>
                </a:solidFill>
                <a:latin typeface="楷体_GB2312" pitchFamily="49" charset="-122"/>
              </a:rPr>
              <a:t>,</a:t>
            </a: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</a:rPr>
              <a:t>课程名</a:t>
            </a:r>
            <a:r>
              <a:rPr kumimoji="1" lang="en-US" altLang="zh-CN" sz="2400" b="1">
                <a:solidFill>
                  <a:srgbClr val="000000"/>
                </a:solidFill>
                <a:latin typeface="楷体_GB2312" pitchFamily="49" charset="-122"/>
              </a:rPr>
              <a:t>)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楷体_GB2312" pitchFamily="49" charset="-122"/>
              </a:rPr>
              <a:t>F1</a:t>
            </a:r>
            <a:r>
              <a:rPr kumimoji="1" lang="zh-CN" altLang="en-US" sz="2400" b="1" baseline="30000">
                <a:solidFill>
                  <a:srgbClr val="000000"/>
                </a:solidFill>
                <a:latin typeface="楷体_GB2312" pitchFamily="49" charset="-122"/>
              </a:rPr>
              <a:t>＋</a:t>
            </a:r>
            <a:r>
              <a:rPr kumimoji="1" lang="en-US" altLang="zh-CN" sz="2400" b="1">
                <a:solidFill>
                  <a:srgbClr val="000000"/>
                </a:solidFill>
                <a:latin typeface="楷体_GB2312" pitchFamily="49" charset="-122"/>
              </a:rPr>
              <a:t>,</a:t>
            </a:r>
            <a:r>
              <a:rPr kumimoji="1" lang="zh-CN" altLang="en-US" sz="2400" b="1">
                <a:solidFill>
                  <a:srgbClr val="000000"/>
                </a:solidFill>
                <a:latin typeface="楷体_GB2312" pitchFamily="49" charset="-122"/>
              </a:rPr>
              <a:t>故可导出</a:t>
            </a:r>
          </a:p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Comic Sans MS" panose="030F0702030302020204" pitchFamily="66" charset="0"/>
              </a:rPr>
              <a:t>所以</a:t>
            </a:r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</a:rPr>
              <a:t>F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  <a:r>
              <a:rPr kumimoji="1" lang="zh-CN" altLang="en-US" sz="2400" b="1">
                <a:solidFill>
                  <a:srgbClr val="000000"/>
                </a:solidFill>
                <a:latin typeface="Comic Sans MS" panose="030F0702030302020204" pitchFamily="66" charset="0"/>
              </a:rPr>
              <a:t>中每一个</a:t>
            </a:r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</a:rPr>
              <a:t>FD</a:t>
            </a:r>
            <a:r>
              <a:rPr kumimoji="1" lang="zh-CN" altLang="en-US" sz="2400" b="1">
                <a:solidFill>
                  <a:srgbClr val="000000"/>
                </a:solidFill>
                <a:latin typeface="Comic Sans MS" panose="030F0702030302020204" pitchFamily="66" charset="0"/>
              </a:rPr>
              <a:t>都能由</a:t>
            </a:r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</a:rPr>
              <a:t>F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Comic Sans MS" panose="030F0702030302020204" pitchFamily="66" charset="0"/>
              </a:rPr>
              <a:t>1</a:t>
            </a:r>
            <a:r>
              <a:rPr kumimoji="1" lang="zh-CN" altLang="en-US" sz="2400" b="1">
                <a:solidFill>
                  <a:srgbClr val="000000"/>
                </a:solidFill>
                <a:latin typeface="Comic Sans MS" panose="030F0702030302020204" pitchFamily="66" charset="0"/>
              </a:rPr>
              <a:t>导出，</a:t>
            </a:r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</a:rPr>
              <a:t>F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Comic Sans MS" panose="030F0702030302020204" pitchFamily="66" charset="0"/>
              </a:rPr>
              <a:t>2 </a:t>
            </a:r>
            <a:r>
              <a:rPr kumimoji="1" lang="en-US" altLang="zh-CN" sz="2400" b="1">
                <a:latin typeface="楷体_GB2312" pitchFamily="49" charset="-122"/>
                <a:sym typeface="Symbol" panose="05050102010706020507" pitchFamily="18" charset="2"/>
              </a:rPr>
              <a:t> </a:t>
            </a:r>
            <a:r>
              <a:rPr kumimoji="1" lang="en-US" altLang="zh-CN" sz="2400" b="1">
                <a:solidFill>
                  <a:srgbClr val="000000"/>
                </a:solidFill>
                <a:latin typeface="Comic Sans MS" panose="030F0702030302020204" pitchFamily="66" charset="0"/>
              </a:rPr>
              <a:t>F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Comic Sans MS" panose="030F0702030302020204" pitchFamily="66" charset="0"/>
              </a:rPr>
              <a:t>1</a:t>
            </a:r>
            <a:r>
              <a:rPr kumimoji="1" lang="zh-CN" altLang="en-US" sz="2400" b="1" baseline="30000">
                <a:solidFill>
                  <a:srgbClr val="000000"/>
                </a:solidFill>
                <a:latin typeface="楷体_GB2312" pitchFamily="49" charset="-122"/>
              </a:rPr>
              <a:t>＋</a:t>
            </a:r>
          </a:p>
        </p:txBody>
      </p:sp>
      <p:sp>
        <p:nvSpPr>
          <p:cNvPr id="540679" name="Rectangle 7">
            <a:extLst>
              <a:ext uri="{FF2B5EF4-FFF2-40B4-BE49-F238E27FC236}">
                <a16:creationId xmlns:a16="http://schemas.microsoft.com/office/drawing/2014/main" id="{6AB47F81-0DD7-4608-9F39-F4A0EA484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005263"/>
            <a:ext cx="7704138" cy="2663825"/>
          </a:xfrm>
          <a:prstGeom prst="rect">
            <a:avLst/>
          </a:prstGeom>
          <a:solidFill>
            <a:srgbClr val="FFFF99"/>
          </a:solidFill>
          <a:ln w="25400" algn="ctr">
            <a:solidFill>
              <a:srgbClr val="000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zh-CN" altLang="en-US" sz="2400" b="1"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702030302020204" pitchFamily="66" charset="0"/>
                <a:ea typeface="宋体" panose="02010600030101010101" pitchFamily="2" charset="-122"/>
              </a:rPr>
              <a:t> </a:t>
            </a:r>
            <a:r>
              <a:rPr kumimoji="1" lang="zh-CN" altLang="en-US" sz="2400" b="1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判断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702030302020204" pitchFamily="66" charset="0"/>
              </a:rPr>
              <a:t>F</a:t>
            </a:r>
            <a:r>
              <a:rPr kumimoji="1" lang="en-US" altLang="zh-CN" sz="2400" b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702030302020204" pitchFamily="66" charset="0"/>
              </a:rPr>
              <a:t>1</a:t>
            </a:r>
            <a:r>
              <a:rPr kumimoji="1"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702030302020204" pitchFamily="66" charset="0"/>
              </a:rPr>
              <a:t>中每一个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702030302020204" pitchFamily="66" charset="0"/>
              </a:rPr>
              <a:t>FD</a:t>
            </a:r>
            <a:r>
              <a:rPr kumimoji="1"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702030302020204" pitchFamily="66" charset="0"/>
              </a:rPr>
              <a:t>是否能由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702030302020204" pitchFamily="66" charset="0"/>
              </a:rPr>
              <a:t>F</a:t>
            </a:r>
            <a:r>
              <a:rPr kumimoji="1" lang="en-US" altLang="zh-CN" sz="2400" b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702030302020204" pitchFamily="66" charset="0"/>
              </a:rPr>
              <a:t>2</a:t>
            </a:r>
            <a:r>
              <a:rPr kumimoji="1"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702030302020204" pitchFamily="66" charset="0"/>
              </a:rPr>
              <a:t>导出？</a:t>
            </a:r>
          </a:p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</a:rPr>
              <a:t>①已存在</a:t>
            </a:r>
          </a:p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</a:rPr>
              <a:t>②课程名</a:t>
            </a:r>
            <a:r>
              <a:rPr kumimoji="1" lang="en-US" altLang="zh-CN" sz="2400" b="1"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  <a:sym typeface="Symbol" panose="05050102010706020507" pitchFamily="18" charset="2"/>
              </a:rPr>
              <a:t> 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</a:rPr>
              <a:t>(</a:t>
            </a:r>
            <a:r>
              <a:rPr kumimoji="1"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</a:rPr>
              <a:t>课程号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</a:rPr>
              <a:t>)</a:t>
            </a:r>
            <a:r>
              <a:rPr kumimoji="1" lang="en-US" altLang="zh-CN" sz="2400" b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</a:rPr>
              <a:t>F2</a:t>
            </a:r>
            <a:r>
              <a:rPr kumimoji="1" lang="zh-CN" altLang="en-US" sz="2400" b="1" baseline="30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</a:rPr>
              <a:t>＋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</a:rPr>
              <a:t>,</a:t>
            </a:r>
            <a:r>
              <a:rPr kumimoji="1"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楷体_GB2312" pitchFamily="49" charset="-122"/>
              </a:rPr>
              <a:t>故不可导出</a:t>
            </a:r>
            <a:endParaRPr kumimoji="1" lang="zh-CN" altLang="en-US" sz="2400" b="1" baseline="-25000">
              <a:effectLst>
                <a:outerShdw blurRad="38100" dist="38100" dir="2700000" algn="tl">
                  <a:srgbClr val="FFFFFF"/>
                </a:outerShdw>
              </a:effectLst>
              <a:latin typeface="楷体_GB2312" pitchFamily="49" charset="-122"/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  <a:spcBef>
                <a:spcPct val="10000"/>
              </a:spcBef>
              <a:spcAft>
                <a:spcPct val="10000"/>
              </a:spcAft>
            </a:pPr>
            <a:r>
              <a:rPr kumimoji="1"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702030302020204" pitchFamily="66" charset="0"/>
              </a:rPr>
              <a:t>所以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702030302020204" pitchFamily="66" charset="0"/>
              </a:rPr>
              <a:t>F</a:t>
            </a:r>
            <a:r>
              <a:rPr kumimoji="1" lang="en-US" altLang="zh-CN" sz="2400" b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702030302020204" pitchFamily="66" charset="0"/>
              </a:rPr>
              <a:t>1</a:t>
            </a:r>
            <a:r>
              <a:rPr kumimoji="1"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702030302020204" pitchFamily="66" charset="0"/>
              </a:rPr>
              <a:t>中存在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702030302020204" pitchFamily="66" charset="0"/>
              </a:rPr>
              <a:t>FD</a:t>
            </a:r>
            <a:r>
              <a:rPr kumimoji="1"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702030302020204" pitchFamily="66" charset="0"/>
              </a:rPr>
              <a:t>不能由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702030302020204" pitchFamily="66" charset="0"/>
              </a:rPr>
              <a:t>F</a:t>
            </a:r>
            <a:r>
              <a:rPr kumimoji="1" lang="en-US" altLang="zh-CN" sz="2400" b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702030302020204" pitchFamily="66" charset="0"/>
              </a:rPr>
              <a:t>2</a:t>
            </a:r>
            <a:r>
              <a:rPr kumimoji="1"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702030302020204" pitchFamily="66" charset="0"/>
              </a:rPr>
              <a:t>导出，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702030302020204" pitchFamily="66" charset="0"/>
              </a:rPr>
              <a:t>F</a:t>
            </a:r>
            <a:r>
              <a:rPr kumimoji="1" lang="en-US" altLang="zh-CN" sz="2400" b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702030302020204" pitchFamily="66" charset="0"/>
              </a:rPr>
              <a:t>1</a:t>
            </a:r>
            <a:r>
              <a:rPr kumimoji="1"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702030302020204" pitchFamily="66" charset="0"/>
              </a:rPr>
              <a:t>和</a:t>
            </a:r>
            <a:r>
              <a:rPr kumimoji="1" lang="en-US" altLang="zh-CN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702030302020204" pitchFamily="66" charset="0"/>
              </a:rPr>
              <a:t>F</a:t>
            </a:r>
            <a:r>
              <a:rPr kumimoji="1" lang="en-US" altLang="zh-CN" sz="2400" b="1" baseline="-250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702030302020204" pitchFamily="66" charset="0"/>
              </a:rPr>
              <a:t>2</a:t>
            </a:r>
            <a:r>
              <a:rPr kumimoji="1" lang="zh-CN" altLang="en-US" sz="24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Comic Sans MS" panose="030F0702030302020204" pitchFamily="66" charset="0"/>
              </a:rPr>
              <a:t>不等价</a:t>
            </a:r>
            <a:endParaRPr kumimoji="1" lang="zh-CN" altLang="en-US" sz="2400" b="1" baseline="-2500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540680" name="AutoShape 8">
            <a:extLst>
              <a:ext uri="{FF2B5EF4-FFF2-40B4-BE49-F238E27FC236}">
                <a16:creationId xmlns:a16="http://schemas.microsoft.com/office/drawing/2014/main" id="{2579302F-D211-4A4C-B0DF-A504686C7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2779713"/>
            <a:ext cx="7704137" cy="2736850"/>
          </a:xfrm>
          <a:prstGeom prst="foldedCorner">
            <a:avLst>
              <a:gd name="adj" fmla="val 12500"/>
            </a:avLst>
          </a:prstGeom>
          <a:gradFill rotWithShape="1">
            <a:gsLst>
              <a:gs pos="0">
                <a:srgbClr val="FFCC99"/>
              </a:gs>
              <a:gs pos="50000">
                <a:schemeClr val="bg1"/>
              </a:gs>
              <a:gs pos="100000">
                <a:srgbClr val="FFCC99"/>
              </a:gs>
            </a:gsLst>
            <a:lin ang="2700000" scaled="1"/>
          </a:gradFill>
          <a:ln w="12700" cap="sq">
            <a:solidFill>
              <a:srgbClr val="000066"/>
            </a:solidFill>
            <a:round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anchor="ctr"/>
          <a:lstStyle>
            <a:lvl1pPr marL="1746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10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None/>
            </a:pPr>
            <a:r>
              <a:rPr kumimoji="0" lang="zh-CN" altLang="en-US" sz="2800" b="1">
                <a:solidFill>
                  <a:srgbClr val="66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问题：</a:t>
            </a:r>
          </a:p>
          <a:p>
            <a:pPr algn="just">
              <a:lnSpc>
                <a:spcPct val="110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None/>
            </a:pPr>
            <a:r>
              <a:rPr kumimoji="0" lang="nl-NL" altLang="zh-CN" sz="2800" b="1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F</a:t>
            </a:r>
            <a:r>
              <a:rPr kumimoji="0" lang="nl-NL" altLang="zh-CN" sz="2800" b="1" baseline="-25000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nl-NL" sz="2800" b="1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中的</a:t>
            </a:r>
            <a:r>
              <a:rPr kumimoji="0" lang="nl-NL" altLang="zh-CN" sz="2800" b="1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FD</a:t>
            </a:r>
            <a:r>
              <a:rPr kumimoji="0" lang="zh-CN" altLang="nl-NL" sz="2800" b="1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是否都是必要的？</a:t>
            </a:r>
          </a:p>
          <a:p>
            <a:pPr algn="just">
              <a:lnSpc>
                <a:spcPct val="110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None/>
            </a:pPr>
            <a:r>
              <a:rPr kumimoji="0" lang="zh-CN" altLang="nl-NL" sz="2800" b="1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是否存在多余的</a:t>
            </a:r>
            <a:r>
              <a:rPr kumimoji="0" lang="en-US" altLang="zh-CN" sz="2800" b="1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FD</a:t>
            </a:r>
            <a:r>
              <a:rPr kumimoji="0" lang="zh-CN" altLang="en-US" sz="2800" b="1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？</a:t>
            </a:r>
          </a:p>
          <a:p>
            <a:pPr algn="just">
              <a:lnSpc>
                <a:spcPct val="110000"/>
              </a:lnSpc>
              <a:spcBef>
                <a:spcPct val="20000"/>
              </a:spcBef>
              <a:spcAft>
                <a:spcPct val="2000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None/>
            </a:pPr>
            <a:r>
              <a:rPr kumimoji="0" lang="zh-CN" altLang="en-US" sz="2800" b="1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  每一个</a:t>
            </a:r>
            <a:r>
              <a:rPr kumimoji="0" lang="en-US" altLang="zh-CN" sz="2800" b="1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FD</a:t>
            </a:r>
            <a:r>
              <a:rPr kumimoji="0" lang="zh-CN" altLang="en-US" sz="2800" b="1">
                <a:solidFill>
                  <a:srgbClr val="00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  <a:cs typeface="Times New Roman" panose="02020603050405020304" pitchFamily="18" charset="0"/>
              </a:rPr>
              <a:t>的决定因素中是否存在多余属性？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7885"/>
    </mc:Choice>
    <mc:Fallback xmlns="">
      <p:transition spd="slow" advTm="1978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0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40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4067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4067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06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406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406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406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406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406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406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406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406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406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4067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4067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406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406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406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406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406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406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406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406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406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406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0676" grpId="0" animBg="1"/>
      <p:bldP spid="540677" grpId="0" animBg="1"/>
      <p:bldP spid="540678" grpId="0" build="p" animBg="1"/>
      <p:bldP spid="540679" grpId="0" build="p" animBg="1"/>
      <p:bldP spid="54068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61C21361-B082-4D74-95D8-61D44E297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09994-E2B6-4395-B988-974C4784C7AC}" type="slidenum">
              <a:rPr lang="zh-CN" altLang="en-US"/>
              <a:pPr/>
              <a:t>5</a:t>
            </a:fld>
            <a:endParaRPr lang="en-US" altLang="zh-CN"/>
          </a:p>
        </p:txBody>
      </p:sp>
      <p:sp>
        <p:nvSpPr>
          <p:cNvPr id="542722" name="Rectangle 2">
            <a:extLst>
              <a:ext uri="{FF2B5EF4-FFF2-40B4-BE49-F238E27FC236}">
                <a16:creationId xmlns:a16="http://schemas.microsoft.com/office/drawing/2014/main" id="{3ABED20F-E1DA-48F6-A614-1561DA7E02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CN">
                <a:latin typeface="楷体_GB2312" pitchFamily="49" charset="-122"/>
              </a:rPr>
              <a:t>2</a:t>
            </a:r>
            <a:r>
              <a:rPr lang="zh-CN" altLang="en-US">
                <a:latin typeface="楷体_GB2312" pitchFamily="49" charset="-122"/>
              </a:rPr>
              <a:t>、定义</a:t>
            </a:r>
            <a:r>
              <a:rPr lang="en-US" altLang="zh-CN">
                <a:latin typeface="楷体_GB2312" pitchFamily="49" charset="-122"/>
              </a:rPr>
              <a:t>6.6</a:t>
            </a:r>
          </a:p>
          <a:p>
            <a:pPr algn="just"/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   满足下列条件的函数依赖集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称为最小函数依赖集。</a:t>
            </a:r>
          </a:p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① F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中每一个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FD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的右端都是单个属性；</a:t>
            </a:r>
          </a:p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②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对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中任何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FD:X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F-{X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A}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不等价于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；</a:t>
            </a:r>
          </a:p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③ 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对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中的任何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FD:X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的任何真子集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Z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，</a:t>
            </a:r>
          </a:p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    (F-{X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A})∪{Z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A}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不等价于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。</a:t>
            </a:r>
            <a:endParaRPr lang="zh-CN" altLang="en-US"/>
          </a:p>
        </p:txBody>
      </p:sp>
      <p:sp>
        <p:nvSpPr>
          <p:cNvPr id="542723" name="AutoShape 3">
            <a:extLst>
              <a:ext uri="{FF2B5EF4-FFF2-40B4-BE49-F238E27FC236}">
                <a16:creationId xmlns:a16="http://schemas.microsoft.com/office/drawing/2014/main" id="{809A46B8-BEAD-4CE9-A858-9699E629D4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5734050"/>
            <a:ext cx="4679950" cy="719138"/>
          </a:xfrm>
          <a:prstGeom prst="wedgeRectCallout">
            <a:avLst>
              <a:gd name="adj1" fmla="val -66926"/>
              <a:gd name="adj2" fmla="val -85764"/>
            </a:avLst>
          </a:prstGeom>
          <a:solidFill>
            <a:srgbClr val="333399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53882" dir="2700000" algn="ctr" rotWithShape="0">
              <a:schemeClr val="tx1"/>
            </a:outerShdw>
          </a:effectLst>
        </p:spPr>
        <p:txBody>
          <a:bodyPr anchor="ctr"/>
          <a:lstStyle/>
          <a:p>
            <a:pPr algn="ctr"/>
            <a:r>
              <a:rPr lang="zh-CN" altLang="en-US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每个</a:t>
            </a:r>
            <a:r>
              <a:rPr lang="en-US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FD</a:t>
            </a:r>
            <a:r>
              <a:rPr lang="zh-CN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左端无多余的属性</a:t>
            </a:r>
            <a:endParaRPr lang="en-US" altLang="zh-CN" sz="2800" b="1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542724" name="Line 4">
            <a:extLst>
              <a:ext uri="{FF2B5EF4-FFF2-40B4-BE49-F238E27FC236}">
                <a16:creationId xmlns:a16="http://schemas.microsoft.com/office/drawing/2014/main" id="{D6D94B99-ACE9-43FD-A209-ED4F0F2CBA38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7900" y="4221163"/>
            <a:ext cx="3168650" cy="0"/>
          </a:xfrm>
          <a:prstGeom prst="line">
            <a:avLst/>
          </a:prstGeom>
          <a:noFill/>
          <a:ln w="38100" cap="sq">
            <a:solidFill>
              <a:srgbClr val="FF0000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725" name="Line 5">
            <a:extLst>
              <a:ext uri="{FF2B5EF4-FFF2-40B4-BE49-F238E27FC236}">
                <a16:creationId xmlns:a16="http://schemas.microsoft.com/office/drawing/2014/main" id="{94BE8262-31A1-40E9-BA50-D1B5A72C9B63}"/>
              </a:ext>
            </a:extLst>
          </p:cNvPr>
          <p:cNvSpPr>
            <a:spLocks noChangeShapeType="1"/>
          </p:cNvSpPr>
          <p:nvPr/>
        </p:nvSpPr>
        <p:spPr bwMode="auto">
          <a:xfrm>
            <a:off x="1476375" y="5373688"/>
            <a:ext cx="4824413" cy="0"/>
          </a:xfrm>
          <a:prstGeom prst="line">
            <a:avLst/>
          </a:prstGeom>
          <a:noFill/>
          <a:ln w="38100" cap="sq">
            <a:solidFill>
              <a:srgbClr val="FF0000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726" name="Rectangle 6">
            <a:extLst>
              <a:ext uri="{FF2B5EF4-FFF2-40B4-BE49-F238E27FC236}">
                <a16:creationId xmlns:a16="http://schemas.microsoft.com/office/drawing/2014/main" id="{A99E5302-7FAB-4969-959A-3741D99DC2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四、最小函数依赖集</a:t>
            </a:r>
          </a:p>
        </p:txBody>
      </p:sp>
      <p:sp>
        <p:nvSpPr>
          <p:cNvPr id="542727" name="AutoShape 7">
            <a:extLst>
              <a:ext uri="{FF2B5EF4-FFF2-40B4-BE49-F238E27FC236}">
                <a16:creationId xmlns:a16="http://schemas.microsoft.com/office/drawing/2014/main" id="{A3288501-1E93-4E1A-9F0C-49C1BB0D5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1341438"/>
            <a:ext cx="2879725" cy="936625"/>
          </a:xfrm>
          <a:prstGeom prst="wedgeRectCallout">
            <a:avLst>
              <a:gd name="adj1" fmla="val -17032"/>
              <a:gd name="adj2" fmla="val 205931"/>
            </a:avLst>
          </a:prstGeom>
          <a:solidFill>
            <a:srgbClr val="333399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53882" dir="2700000" algn="ctr" rotWithShape="0">
              <a:schemeClr val="tx1"/>
            </a:outerShdw>
          </a:effectLst>
        </p:spPr>
        <p:txBody>
          <a:bodyPr anchor="ctr"/>
          <a:lstStyle/>
          <a:p>
            <a:pPr algn="ctr"/>
            <a:r>
              <a:rPr lang="en-US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没有多余的</a:t>
            </a:r>
            <a:r>
              <a:rPr lang="en-US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FD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179"/>
    </mc:Choice>
    <mc:Fallback xmlns="">
      <p:transition spd="slow" advTm="1301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42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542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542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542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542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42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42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2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542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542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542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542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542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22" grpId="0" uiExpand="1" build="p"/>
      <p:bldP spid="542723" grpId="0" animBg="1"/>
      <p:bldP spid="542727" grpId="0" uiExpan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A2F8C5F-A9B0-4F99-8B64-45DB6019D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76579-433F-4234-ABAD-7CBB5224871C}" type="slidenum">
              <a:rPr lang="zh-CN" altLang="en-US"/>
              <a:pPr/>
              <a:t>6</a:t>
            </a:fld>
            <a:endParaRPr lang="en-US" altLang="zh-CN"/>
          </a:p>
        </p:txBody>
      </p:sp>
      <p:sp>
        <p:nvSpPr>
          <p:cNvPr id="544770" name="Rectangle 2">
            <a:extLst>
              <a:ext uri="{FF2B5EF4-FFF2-40B4-BE49-F238E27FC236}">
                <a16:creationId xmlns:a16="http://schemas.microsoft.com/office/drawing/2014/main" id="{DCC2D8AE-9823-43BA-845B-A0A7A631DA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四、最小函数依赖集</a:t>
            </a:r>
          </a:p>
        </p:txBody>
      </p:sp>
      <p:sp>
        <p:nvSpPr>
          <p:cNvPr id="544771" name="Rectangle 3">
            <a:extLst>
              <a:ext uri="{FF2B5EF4-FFF2-40B4-BE49-F238E27FC236}">
                <a16:creationId xmlns:a16="http://schemas.microsoft.com/office/drawing/2014/main" id="{52ECAF5C-D76B-4B1F-9166-313D9C21CF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、求解方法</a:t>
            </a:r>
          </a:p>
          <a:p>
            <a:pPr algn="just"/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）用分解规则将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中的所有函数依赖分解成右端为单个属性的函数依赖；</a:t>
            </a:r>
          </a:p>
        </p:txBody>
      </p:sp>
      <p:sp>
        <p:nvSpPr>
          <p:cNvPr id="544772" name="AutoShape 4">
            <a:extLst>
              <a:ext uri="{FF2B5EF4-FFF2-40B4-BE49-F238E27FC236}">
                <a16:creationId xmlns:a16="http://schemas.microsoft.com/office/drawing/2014/main" id="{F8AEB41B-A896-4C49-B594-44ABE5AAD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3933825"/>
            <a:ext cx="6192838" cy="1152525"/>
          </a:xfrm>
          <a:prstGeom prst="wedgeRectCallout">
            <a:avLst>
              <a:gd name="adj1" fmla="val -37079"/>
              <a:gd name="adj2" fmla="val -122315"/>
            </a:avLst>
          </a:prstGeom>
          <a:solidFill>
            <a:srgbClr val="333399"/>
          </a:solidFill>
          <a:ln w="12700" cap="sq">
            <a:solidFill>
              <a:srgbClr val="000000"/>
            </a:solidFill>
            <a:miter lim="800000"/>
            <a:headEnd type="none" w="sm" len="sm"/>
            <a:tailEnd type="none" w="sm" len="sm"/>
          </a:ln>
          <a:effectLst>
            <a:outerShdw dist="53882" dir="2700000" algn="ctr" rotWithShape="0">
              <a:schemeClr val="tx1"/>
            </a:outerShdw>
          </a:effectLst>
        </p:spPr>
        <p:txBody>
          <a:bodyPr anchor="ctr"/>
          <a:lstStyle/>
          <a:p>
            <a:r>
              <a:rPr lang="zh-CN" altLang="en-US"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阿姆斯特朗公理的推论</a:t>
            </a:r>
          </a:p>
          <a:p>
            <a:r>
              <a:rPr lang="zh-CN" altLang="en-US" sz="28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分解规则：</a:t>
            </a:r>
            <a:r>
              <a:rPr lang="zh-CN" altLang="en-US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，且</a:t>
            </a:r>
            <a:r>
              <a:rPr lang="en-US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Z</a:t>
            </a:r>
            <a:r>
              <a:rPr lang="en-US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，则</a:t>
            </a:r>
            <a:r>
              <a:rPr lang="en-US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Z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223"/>
    </mc:Choice>
    <mc:Fallback xmlns="">
      <p:transition spd="slow" advTm="3022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44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544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44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4771" grpId="0" uiExpand="1" build="p"/>
      <p:bldP spid="54477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灯片编号占位符 5">
            <a:extLst>
              <a:ext uri="{FF2B5EF4-FFF2-40B4-BE49-F238E27FC236}">
                <a16:creationId xmlns:a16="http://schemas.microsoft.com/office/drawing/2014/main" id="{2B07DAE6-8631-4603-8A3F-2C04393AC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8AAA3-DC6C-4F11-B4FE-6CAC1888D26F}" type="slidenum">
              <a:rPr lang="zh-CN" altLang="en-US"/>
              <a:pPr/>
              <a:t>7</a:t>
            </a:fld>
            <a:endParaRPr lang="en-US" altLang="zh-CN"/>
          </a:p>
        </p:txBody>
      </p:sp>
      <p:sp>
        <p:nvSpPr>
          <p:cNvPr id="546818" name="AutoShape 2">
            <a:extLst>
              <a:ext uri="{FF2B5EF4-FFF2-40B4-BE49-F238E27FC236}">
                <a16:creationId xmlns:a16="http://schemas.microsoft.com/office/drawing/2014/main" id="{25B8278C-4FC2-4E45-A1E0-29BD999A7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1125538"/>
            <a:ext cx="2735262" cy="1152525"/>
          </a:xfrm>
          <a:prstGeom prst="wedgeRectCallout">
            <a:avLst>
              <a:gd name="adj1" fmla="val -65208"/>
              <a:gd name="adj2" fmla="val 82921"/>
            </a:avLst>
          </a:prstGeom>
          <a:solidFill>
            <a:srgbClr val="333399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53882" dir="2700000" algn="ctr" rotWithShape="0">
              <a:schemeClr val="tx1"/>
            </a:outerShdw>
          </a:effectLst>
        </p:spPr>
        <p:txBody>
          <a:bodyPr anchor="ctr"/>
          <a:lstStyle/>
          <a:p>
            <a:pPr algn="ctr"/>
            <a:r>
              <a:rPr lang="en-US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FD考察顺序不同</a:t>
            </a:r>
            <a:endParaRPr lang="zh-CN" altLang="en-US" sz="2800" b="1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结果可能不同</a:t>
            </a:r>
          </a:p>
        </p:txBody>
      </p:sp>
      <p:sp>
        <p:nvSpPr>
          <p:cNvPr id="546819" name="Rectangle 3">
            <a:extLst>
              <a:ext uri="{FF2B5EF4-FFF2-40B4-BE49-F238E27FC236}">
                <a16:creationId xmlns:a16="http://schemas.microsoft.com/office/drawing/2014/main" id="{2DAD2B80-EB44-4C2C-953F-973FAFA2F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2732088"/>
            <a:ext cx="2808287" cy="539750"/>
          </a:xfrm>
          <a:prstGeom prst="rect">
            <a:avLst/>
          </a:prstGeom>
          <a:solidFill>
            <a:srgbClr val="CCFFFF"/>
          </a:solidFill>
          <a:ln w="254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wrap="none" lIns="0" rIns="0" anchor="ctr" anchorCtr="1"/>
          <a:lstStyle/>
          <a:p>
            <a:pPr algn="ctr"/>
            <a:r>
              <a:rPr lang="zh-CN" altLang="en-US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选择</a:t>
            </a:r>
            <a:r>
              <a:rPr lang="en-US" altLang="zh-CN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中一个</a:t>
            </a:r>
            <a:r>
              <a:rPr lang="en-US" altLang="zh-CN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endParaRPr lang="zh-CN" altLang="en-US" sz="2400" b="1">
              <a:solidFill>
                <a:srgbClr val="0033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546820" name="Group 4">
            <a:extLst>
              <a:ext uri="{FF2B5EF4-FFF2-40B4-BE49-F238E27FC236}">
                <a16:creationId xmlns:a16="http://schemas.microsoft.com/office/drawing/2014/main" id="{D5D1945C-9631-409E-8452-B3821F4B8004}"/>
              </a:ext>
            </a:extLst>
          </p:cNvPr>
          <p:cNvGrpSpPr>
            <a:grpSpLocks/>
          </p:cNvGrpSpPr>
          <p:nvPr/>
        </p:nvGrpSpPr>
        <p:grpSpPr bwMode="auto">
          <a:xfrm>
            <a:off x="3492500" y="3328988"/>
            <a:ext cx="2806700" cy="827087"/>
            <a:chOff x="2200" y="2242"/>
            <a:chExt cx="1768" cy="521"/>
          </a:xfrm>
        </p:grpSpPr>
        <p:sp>
          <p:nvSpPr>
            <p:cNvPr id="546821" name="Rectangle 5">
              <a:extLst>
                <a:ext uri="{FF2B5EF4-FFF2-40B4-BE49-F238E27FC236}">
                  <a16:creationId xmlns:a16="http://schemas.microsoft.com/office/drawing/2014/main" id="{C877A3D5-A354-4B75-A6ED-8F18D3E99F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0" y="2423"/>
              <a:ext cx="1768" cy="340"/>
            </a:xfrm>
            <a:prstGeom prst="rect">
              <a:avLst/>
            </a:prstGeom>
            <a:solidFill>
              <a:srgbClr val="CCFFFF"/>
            </a:solidFill>
            <a:ln w="254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 lIns="0" rIns="0" anchor="ctr" anchorCtr="1"/>
            <a:lstStyle/>
            <a:p>
              <a:r>
                <a:rPr lang="en-US" altLang="zh-CN" sz="2400" b="1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G = F-{X</a:t>
              </a:r>
              <a:r>
                <a:rPr lang="en-US" altLang="zh-CN" sz="2400" b="1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lang="en-US" altLang="zh-CN" sz="2400" b="1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Y}</a:t>
              </a:r>
              <a:endParaRPr lang="zh-CN" altLang="en-US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46822" name="AutoShape 6">
              <a:extLst>
                <a:ext uri="{FF2B5EF4-FFF2-40B4-BE49-F238E27FC236}">
                  <a16:creationId xmlns:a16="http://schemas.microsoft.com/office/drawing/2014/main" id="{E4291C9F-6360-4958-86E4-6953C5B7F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8" y="2242"/>
              <a:ext cx="136" cy="159"/>
            </a:xfrm>
            <a:prstGeom prst="downArrow">
              <a:avLst>
                <a:gd name="adj1" fmla="val 50000"/>
                <a:gd name="adj2" fmla="val 29228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46823" name="Group 7">
            <a:extLst>
              <a:ext uri="{FF2B5EF4-FFF2-40B4-BE49-F238E27FC236}">
                <a16:creationId xmlns:a16="http://schemas.microsoft.com/office/drawing/2014/main" id="{8D2C8FCC-9919-43F9-83E6-CDE319322741}"/>
              </a:ext>
            </a:extLst>
          </p:cNvPr>
          <p:cNvGrpSpPr>
            <a:grpSpLocks/>
          </p:cNvGrpSpPr>
          <p:nvPr/>
        </p:nvGrpSpPr>
        <p:grpSpPr bwMode="auto">
          <a:xfrm>
            <a:off x="3490913" y="4221163"/>
            <a:ext cx="2808287" cy="814387"/>
            <a:chOff x="2199" y="2804"/>
            <a:chExt cx="1769" cy="513"/>
          </a:xfrm>
        </p:grpSpPr>
        <p:sp>
          <p:nvSpPr>
            <p:cNvPr id="546824" name="Rectangle 8">
              <a:extLst>
                <a:ext uri="{FF2B5EF4-FFF2-40B4-BE49-F238E27FC236}">
                  <a16:creationId xmlns:a16="http://schemas.microsoft.com/office/drawing/2014/main" id="{B4EE38F3-EB14-47C0-9B18-667863E23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9" y="2977"/>
              <a:ext cx="1769" cy="340"/>
            </a:xfrm>
            <a:prstGeom prst="rect">
              <a:avLst/>
            </a:prstGeom>
            <a:solidFill>
              <a:srgbClr val="CCFFFF"/>
            </a:solidFill>
            <a:ln w="254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 wrap="none" lIns="0" rIns="0" anchor="ctr" anchorCtr="1"/>
            <a:lstStyle/>
            <a:p>
              <a:pPr algn="ctr"/>
              <a:r>
                <a:rPr lang="zh-CN" altLang="en-US" sz="2400" b="1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求</a:t>
              </a:r>
              <a:r>
                <a:rPr lang="en-US" altLang="zh-CN" sz="2400" b="1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30000">
                  <a:solidFill>
                    <a:srgbClr val="A5002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G</a:t>
              </a:r>
              <a:r>
                <a:rPr lang="en-US" altLang="zh-CN" sz="2400" b="1" baseline="30000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+</a:t>
              </a:r>
              <a:endParaRPr lang="zh-CN" altLang="en-US" sz="2400" b="1" baseline="30000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endParaRPr>
            </a:p>
          </p:txBody>
        </p:sp>
        <p:sp>
          <p:nvSpPr>
            <p:cNvPr id="546825" name="AutoShape 9">
              <a:extLst>
                <a:ext uri="{FF2B5EF4-FFF2-40B4-BE49-F238E27FC236}">
                  <a16:creationId xmlns:a16="http://schemas.microsoft.com/office/drawing/2014/main" id="{7CA7C808-FEE7-457B-AB80-EA66CD2444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8" y="2804"/>
              <a:ext cx="136" cy="159"/>
            </a:xfrm>
            <a:prstGeom prst="downArrow">
              <a:avLst>
                <a:gd name="adj1" fmla="val 50000"/>
                <a:gd name="adj2" fmla="val 29228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46826" name="Group 10">
            <a:extLst>
              <a:ext uri="{FF2B5EF4-FFF2-40B4-BE49-F238E27FC236}">
                <a16:creationId xmlns:a16="http://schemas.microsoft.com/office/drawing/2014/main" id="{C0767CD6-795D-45D2-88A0-BA5003A04C8D}"/>
              </a:ext>
            </a:extLst>
          </p:cNvPr>
          <p:cNvGrpSpPr>
            <a:grpSpLocks/>
          </p:cNvGrpSpPr>
          <p:nvPr/>
        </p:nvGrpSpPr>
        <p:grpSpPr bwMode="auto">
          <a:xfrm>
            <a:off x="3249613" y="5100638"/>
            <a:ext cx="3238500" cy="1136650"/>
            <a:chOff x="2047" y="3358"/>
            <a:chExt cx="2040" cy="716"/>
          </a:xfrm>
        </p:grpSpPr>
        <p:sp>
          <p:nvSpPr>
            <p:cNvPr id="546827" name="AutoShape 11">
              <a:extLst>
                <a:ext uri="{FF2B5EF4-FFF2-40B4-BE49-F238E27FC236}">
                  <a16:creationId xmlns:a16="http://schemas.microsoft.com/office/drawing/2014/main" id="{7022A369-87F9-4E88-BFF6-BCA6B674D5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7" y="3530"/>
              <a:ext cx="2040" cy="544"/>
            </a:xfrm>
            <a:prstGeom prst="flowChartDecision">
              <a:avLst/>
            </a:prstGeom>
            <a:solidFill>
              <a:srgbClr val="333399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 wrap="none" lIns="0" rIns="0" anchor="ctr" anchorCtr="1"/>
            <a:lstStyle/>
            <a:p>
              <a:pPr algn="ctr"/>
              <a:r>
                <a:rPr lang="en-US" altLang="zh-CN" sz="24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Y</a:t>
              </a:r>
              <a:r>
                <a:rPr lang="en-US" altLang="zh-CN" sz="24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  <a:sym typeface="Symbol" panose="05050102010706020507" pitchFamily="18" charset="2"/>
                </a:rPr>
                <a:t></a:t>
              </a:r>
              <a:r>
                <a:rPr lang="en-US" altLang="zh-CN" sz="24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30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G</a:t>
              </a:r>
              <a:r>
                <a:rPr lang="en-US" altLang="zh-CN" sz="2400" b="1" baseline="30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+ </a:t>
              </a:r>
              <a:r>
                <a:rPr lang="zh-CN" altLang="en-US" sz="24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？</a:t>
              </a:r>
            </a:p>
          </p:txBody>
        </p:sp>
        <p:sp>
          <p:nvSpPr>
            <p:cNvPr id="546828" name="AutoShape 12">
              <a:extLst>
                <a:ext uri="{FF2B5EF4-FFF2-40B4-BE49-F238E27FC236}">
                  <a16:creationId xmlns:a16="http://schemas.microsoft.com/office/drawing/2014/main" id="{B5C0AA5F-7DA1-4C56-86D5-EDC96A52B6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8" y="3358"/>
              <a:ext cx="136" cy="159"/>
            </a:xfrm>
            <a:prstGeom prst="downArrow">
              <a:avLst>
                <a:gd name="adj1" fmla="val 50000"/>
                <a:gd name="adj2" fmla="val 29228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46829" name="Rectangle 13">
            <a:extLst>
              <a:ext uri="{FF2B5EF4-FFF2-40B4-BE49-F238E27FC236}">
                <a16:creationId xmlns:a16="http://schemas.microsoft.com/office/drawing/2014/main" id="{07D13B34-04EF-4B03-AAAA-45CE1FFCC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250" y="5524500"/>
            <a:ext cx="1728788" cy="539750"/>
          </a:xfrm>
          <a:prstGeom prst="rect">
            <a:avLst/>
          </a:prstGeom>
          <a:solidFill>
            <a:srgbClr val="CCFFFF"/>
          </a:solidFill>
          <a:ln w="254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wrap="none" lIns="0" rIns="0" anchor="ctr" anchorCtr="1"/>
          <a:lstStyle/>
          <a:p>
            <a:pPr algn="ctr"/>
            <a:r>
              <a:rPr lang="en-US" altLang="zh-CN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多余</a:t>
            </a:r>
          </a:p>
        </p:txBody>
      </p:sp>
      <p:grpSp>
        <p:nvGrpSpPr>
          <p:cNvPr id="546830" name="Group 14">
            <a:extLst>
              <a:ext uri="{FF2B5EF4-FFF2-40B4-BE49-F238E27FC236}">
                <a16:creationId xmlns:a16="http://schemas.microsoft.com/office/drawing/2014/main" id="{EF4CA8A7-7E03-49CF-8D69-40B9B74ADE98}"/>
              </a:ext>
            </a:extLst>
          </p:cNvPr>
          <p:cNvGrpSpPr>
            <a:grpSpLocks/>
          </p:cNvGrpSpPr>
          <p:nvPr/>
        </p:nvGrpSpPr>
        <p:grpSpPr bwMode="auto">
          <a:xfrm>
            <a:off x="6429375" y="5257800"/>
            <a:ext cx="509588" cy="661988"/>
            <a:chOff x="4050" y="3457"/>
            <a:chExt cx="321" cy="417"/>
          </a:xfrm>
        </p:grpSpPr>
        <p:sp>
          <p:nvSpPr>
            <p:cNvPr id="546831" name="AutoShape 15">
              <a:extLst>
                <a:ext uri="{FF2B5EF4-FFF2-40B4-BE49-F238E27FC236}">
                  <a16:creationId xmlns:a16="http://schemas.microsoft.com/office/drawing/2014/main" id="{1FA77DD5-BAEA-48CA-967C-35EB3EE719C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167" y="3670"/>
              <a:ext cx="136" cy="272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6832" name="Text Box 16">
              <a:extLst>
                <a:ext uri="{FF2B5EF4-FFF2-40B4-BE49-F238E27FC236}">
                  <a16:creationId xmlns:a16="http://schemas.microsoft.com/office/drawing/2014/main" id="{3EF4F9A3-6478-4601-9055-EFB508CAB7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0" y="3457"/>
              <a:ext cx="240" cy="327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0" rIns="0" anchor="ctr" anchorCtr="1"/>
            <a:lstStyle/>
            <a:p>
              <a:r>
                <a:rPr lang="en-US" altLang="zh-CN" sz="2800" b="1"/>
                <a:t>Y</a:t>
              </a:r>
            </a:p>
          </p:txBody>
        </p:sp>
      </p:grpSp>
      <p:sp>
        <p:nvSpPr>
          <p:cNvPr id="546833" name="Rectangle 17">
            <a:extLst>
              <a:ext uri="{FF2B5EF4-FFF2-40B4-BE49-F238E27FC236}">
                <a16:creationId xmlns:a16="http://schemas.microsoft.com/office/drawing/2014/main" id="{04702D17-A5F2-4E74-9E50-43E06F272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5524500"/>
            <a:ext cx="2111375" cy="539750"/>
          </a:xfrm>
          <a:prstGeom prst="rect">
            <a:avLst/>
          </a:prstGeom>
          <a:solidFill>
            <a:srgbClr val="CCFFFF"/>
          </a:solidFill>
          <a:ln w="254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wrap="none" lIns="0" rIns="0" anchor="ctr" anchorCtr="1"/>
          <a:lstStyle/>
          <a:p>
            <a:pPr algn="ctr"/>
            <a:r>
              <a:rPr lang="en-US" altLang="zh-CN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不多余</a:t>
            </a:r>
          </a:p>
        </p:txBody>
      </p:sp>
      <p:grpSp>
        <p:nvGrpSpPr>
          <p:cNvPr id="546834" name="Group 18">
            <a:extLst>
              <a:ext uri="{FF2B5EF4-FFF2-40B4-BE49-F238E27FC236}">
                <a16:creationId xmlns:a16="http://schemas.microsoft.com/office/drawing/2014/main" id="{AD043925-932B-4D25-BA3E-6F79EE71FB7F}"/>
              </a:ext>
            </a:extLst>
          </p:cNvPr>
          <p:cNvGrpSpPr>
            <a:grpSpLocks/>
          </p:cNvGrpSpPr>
          <p:nvPr/>
        </p:nvGrpSpPr>
        <p:grpSpPr bwMode="auto">
          <a:xfrm>
            <a:off x="2836863" y="5257800"/>
            <a:ext cx="439737" cy="661988"/>
            <a:chOff x="1787" y="3457"/>
            <a:chExt cx="277" cy="417"/>
          </a:xfrm>
        </p:grpSpPr>
        <p:sp>
          <p:nvSpPr>
            <p:cNvPr id="546835" name="AutoShape 19">
              <a:extLst>
                <a:ext uri="{FF2B5EF4-FFF2-40B4-BE49-F238E27FC236}">
                  <a16:creationId xmlns:a16="http://schemas.microsoft.com/office/drawing/2014/main" id="{2EB00573-03C8-42EA-99C2-BB3157E6353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855" y="3670"/>
              <a:ext cx="136" cy="272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6836" name="Text Box 20">
              <a:extLst>
                <a:ext uri="{FF2B5EF4-FFF2-40B4-BE49-F238E27FC236}">
                  <a16:creationId xmlns:a16="http://schemas.microsoft.com/office/drawing/2014/main" id="{94263654-78D4-4166-B462-8FA35935C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3457"/>
              <a:ext cx="240" cy="327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0" rIns="0" anchor="ctr" anchorCtr="1"/>
            <a:lstStyle/>
            <a:p>
              <a:r>
                <a:rPr lang="en-US" altLang="zh-CN" sz="2800" b="1"/>
                <a:t>N</a:t>
              </a:r>
            </a:p>
          </p:txBody>
        </p:sp>
      </p:grpSp>
      <p:grpSp>
        <p:nvGrpSpPr>
          <p:cNvPr id="546837" name="Group 21">
            <a:extLst>
              <a:ext uri="{FF2B5EF4-FFF2-40B4-BE49-F238E27FC236}">
                <a16:creationId xmlns:a16="http://schemas.microsoft.com/office/drawing/2014/main" id="{204D958E-FAAF-4FCF-8CD7-1BA5D8F002FA}"/>
              </a:ext>
            </a:extLst>
          </p:cNvPr>
          <p:cNvGrpSpPr>
            <a:grpSpLocks/>
          </p:cNvGrpSpPr>
          <p:nvPr/>
        </p:nvGrpSpPr>
        <p:grpSpPr bwMode="auto">
          <a:xfrm>
            <a:off x="6953250" y="2732088"/>
            <a:ext cx="1727200" cy="2771775"/>
            <a:chOff x="4380" y="1866"/>
            <a:chExt cx="1088" cy="1746"/>
          </a:xfrm>
        </p:grpSpPr>
        <p:sp>
          <p:nvSpPr>
            <p:cNvPr id="546838" name="Rectangle 22">
              <a:extLst>
                <a:ext uri="{FF2B5EF4-FFF2-40B4-BE49-F238E27FC236}">
                  <a16:creationId xmlns:a16="http://schemas.microsoft.com/office/drawing/2014/main" id="{3859C791-CB9F-4452-9A04-25B8CF2648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0" y="1866"/>
              <a:ext cx="1088" cy="340"/>
            </a:xfrm>
            <a:prstGeom prst="rect">
              <a:avLst/>
            </a:prstGeom>
            <a:solidFill>
              <a:srgbClr val="CCFFFF"/>
            </a:solidFill>
            <a:ln w="254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 wrap="none" lIns="0" rIns="0" anchor="ctr" anchorCtr="1"/>
            <a:lstStyle/>
            <a:p>
              <a:pPr algn="ctr"/>
              <a:r>
                <a:rPr lang="en-US" altLang="zh-CN" sz="2400" b="1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F=G</a:t>
              </a:r>
              <a:endParaRPr lang="zh-CN" altLang="en-US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endParaRPr>
            </a:p>
          </p:txBody>
        </p:sp>
        <p:sp>
          <p:nvSpPr>
            <p:cNvPr id="546839" name="AutoShape 23">
              <a:extLst>
                <a:ext uri="{FF2B5EF4-FFF2-40B4-BE49-F238E27FC236}">
                  <a16:creationId xmlns:a16="http://schemas.microsoft.com/office/drawing/2014/main" id="{13556519-BE12-4253-8D91-34AB6215BDC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831" y="2251"/>
              <a:ext cx="136" cy="1361"/>
            </a:xfrm>
            <a:prstGeom prst="downArrow">
              <a:avLst>
                <a:gd name="adj1" fmla="val 39565"/>
                <a:gd name="adj2" fmla="val 120505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46840" name="Group 24">
            <a:extLst>
              <a:ext uri="{FF2B5EF4-FFF2-40B4-BE49-F238E27FC236}">
                <a16:creationId xmlns:a16="http://schemas.microsoft.com/office/drawing/2014/main" id="{E9BAD031-ADF8-4141-B763-07DCDBDD7657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2732088"/>
            <a:ext cx="1727200" cy="2771775"/>
            <a:chOff x="521" y="1866"/>
            <a:chExt cx="1088" cy="1746"/>
          </a:xfrm>
        </p:grpSpPr>
        <p:sp>
          <p:nvSpPr>
            <p:cNvPr id="546841" name="Rectangle 25">
              <a:extLst>
                <a:ext uri="{FF2B5EF4-FFF2-40B4-BE49-F238E27FC236}">
                  <a16:creationId xmlns:a16="http://schemas.microsoft.com/office/drawing/2014/main" id="{D6993694-17BA-44C5-A977-D3FC732AA3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1866"/>
              <a:ext cx="1088" cy="340"/>
            </a:xfrm>
            <a:prstGeom prst="rect">
              <a:avLst/>
            </a:prstGeom>
            <a:solidFill>
              <a:srgbClr val="CCFFFF"/>
            </a:solidFill>
            <a:ln w="254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 wrap="none" lIns="0" rIns="0" anchor="ctr" anchorCtr="1"/>
            <a:lstStyle/>
            <a:p>
              <a:pPr algn="ctr"/>
              <a:r>
                <a:rPr lang="en-US" altLang="zh-CN" sz="2400" b="1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F</a:t>
              </a:r>
              <a:r>
                <a:rPr lang="zh-CN" altLang="en-US" sz="2400" b="1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不变</a:t>
              </a:r>
              <a:endParaRPr lang="en-US" altLang="zh-CN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endParaRPr>
            </a:p>
          </p:txBody>
        </p:sp>
        <p:sp>
          <p:nvSpPr>
            <p:cNvPr id="546842" name="AutoShape 26">
              <a:extLst>
                <a:ext uri="{FF2B5EF4-FFF2-40B4-BE49-F238E27FC236}">
                  <a16:creationId xmlns:a16="http://schemas.microsoft.com/office/drawing/2014/main" id="{5FF461A9-4F23-49FB-9256-132A3FBE2AE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973" y="2251"/>
              <a:ext cx="136" cy="1361"/>
            </a:xfrm>
            <a:prstGeom prst="downArrow">
              <a:avLst>
                <a:gd name="adj1" fmla="val 39565"/>
                <a:gd name="adj2" fmla="val 120505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46843" name="AutoShape 27">
            <a:extLst>
              <a:ext uri="{FF2B5EF4-FFF2-40B4-BE49-F238E27FC236}">
                <a16:creationId xmlns:a16="http://schemas.microsoft.com/office/drawing/2014/main" id="{D525D972-86BA-4046-BD78-9F28443BB52D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944813" y="2579687"/>
            <a:ext cx="215900" cy="879475"/>
          </a:xfrm>
          <a:prstGeom prst="downArrow">
            <a:avLst>
              <a:gd name="adj1" fmla="val 50000"/>
              <a:gd name="adj2" fmla="val 101838"/>
            </a:avLst>
          </a:prstGeom>
          <a:solidFill>
            <a:srgbClr val="00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6844" name="AutoShape 28">
            <a:extLst>
              <a:ext uri="{FF2B5EF4-FFF2-40B4-BE49-F238E27FC236}">
                <a16:creationId xmlns:a16="http://schemas.microsoft.com/office/drawing/2014/main" id="{CC004C6A-F20E-4178-8974-9DFAE4C9F764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530976" y="2738437"/>
            <a:ext cx="215900" cy="561975"/>
          </a:xfrm>
          <a:prstGeom prst="downArrow">
            <a:avLst>
              <a:gd name="adj1" fmla="val 50000"/>
              <a:gd name="adj2" fmla="val 65074"/>
            </a:avLst>
          </a:prstGeom>
          <a:solidFill>
            <a:srgbClr val="00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6845" name="AutoShape 29">
            <a:extLst>
              <a:ext uri="{FF2B5EF4-FFF2-40B4-BE49-F238E27FC236}">
                <a16:creationId xmlns:a16="http://schemas.microsoft.com/office/drawing/2014/main" id="{D581A0A6-4121-462F-9F44-F6197C475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1989138"/>
            <a:ext cx="2087563" cy="1152525"/>
          </a:xfrm>
          <a:prstGeom prst="wedgeRectCallout">
            <a:avLst>
              <a:gd name="adj1" fmla="val -28861"/>
              <a:gd name="adj2" fmla="val 107852"/>
            </a:avLst>
          </a:prstGeom>
          <a:solidFill>
            <a:srgbClr val="00008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lIns="0" rIns="0" anchor="ctr" anchorCtr="1"/>
          <a:lstStyle/>
          <a:p>
            <a:pPr algn="ctr"/>
            <a:r>
              <a:rPr lang="zh-CN" altLang="en-US" sz="24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从</a:t>
            </a:r>
            <a:r>
              <a:rPr lang="en-US" altLang="zh-CN" sz="24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G</a:t>
            </a:r>
            <a:r>
              <a:rPr lang="zh-CN" altLang="en-US" sz="24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中导出</a:t>
            </a:r>
          </a:p>
          <a:p>
            <a:pPr algn="ctr"/>
            <a:r>
              <a:rPr lang="en-US" altLang="zh-CN" sz="24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Y </a:t>
            </a:r>
            <a:r>
              <a:rPr lang="zh-CN" altLang="en-US" sz="24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546846" name="Rectangle 30">
            <a:extLst>
              <a:ext uri="{FF2B5EF4-FFF2-40B4-BE49-F238E27FC236}">
                <a16:creationId xmlns:a16="http://schemas.microsoft.com/office/drawing/2014/main" id="{AA84BEBC-5114-4CE0-A62E-4C063C1650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四、最小函数依赖集</a:t>
            </a:r>
          </a:p>
        </p:txBody>
      </p:sp>
      <p:sp>
        <p:nvSpPr>
          <p:cNvPr id="546847" name="Rectangle 31">
            <a:extLst>
              <a:ext uri="{FF2B5EF4-FFF2-40B4-BE49-F238E27FC236}">
                <a16:creationId xmlns:a16="http://schemas.microsoft.com/office/drawing/2014/main" id="{02AA29F3-D5ED-4243-8E95-95AF3A69B5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、求解方法</a:t>
            </a:r>
          </a:p>
          <a:p>
            <a:pPr algn="just"/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）去掉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中冗余的函数依赖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9050"/>
    </mc:Choice>
    <mc:Fallback xmlns="">
      <p:transition spd="slow" advTm="10905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68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46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46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46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46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6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546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546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46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46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546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546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546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546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546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46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46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46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6818" grpId="0" animBg="1"/>
      <p:bldP spid="546819" grpId="0" animBg="1"/>
      <p:bldP spid="546829" grpId="0" animBg="1"/>
      <p:bldP spid="546833" grpId="0" animBg="1"/>
      <p:bldP spid="546845" grpId="0" animBg="1"/>
      <p:bldP spid="546847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灯片编号占位符 5">
            <a:extLst>
              <a:ext uri="{FF2B5EF4-FFF2-40B4-BE49-F238E27FC236}">
                <a16:creationId xmlns:a16="http://schemas.microsoft.com/office/drawing/2014/main" id="{AB425841-A06A-4AC8-A47B-7A34DBF01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ABBD1-52C1-4CF0-94D1-2FDA79018F25}" type="slidenum">
              <a:rPr lang="zh-CN" altLang="en-US"/>
              <a:pPr/>
              <a:t>8</a:t>
            </a:fld>
            <a:endParaRPr lang="en-US" altLang="zh-CN"/>
          </a:p>
        </p:txBody>
      </p:sp>
      <p:sp>
        <p:nvSpPr>
          <p:cNvPr id="548866" name="Rectangle 2">
            <a:extLst>
              <a:ext uri="{FF2B5EF4-FFF2-40B4-BE49-F238E27FC236}">
                <a16:creationId xmlns:a16="http://schemas.microsoft.com/office/drawing/2014/main" id="{F617715B-F33F-473E-B327-58BD1E05E8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2819400"/>
            <a:ext cx="2808287" cy="539750"/>
          </a:xfrm>
          <a:prstGeom prst="rect">
            <a:avLst/>
          </a:prstGeom>
          <a:solidFill>
            <a:srgbClr val="CCFFFF"/>
          </a:solidFill>
          <a:ln w="254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wrap="none" lIns="0" rIns="0" anchor="ctr" anchorCtr="1"/>
          <a:lstStyle/>
          <a:p>
            <a:pPr algn="ctr"/>
            <a:r>
              <a:rPr lang="zh-CN" altLang="en-US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选择</a:t>
            </a:r>
            <a:r>
              <a:rPr lang="en-US" altLang="zh-CN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中一个</a:t>
            </a:r>
            <a:r>
              <a:rPr lang="en-US" altLang="zh-CN" sz="2400" b="1">
                <a:solidFill>
                  <a:srgbClr val="6600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XY</a:t>
            </a:r>
            <a:r>
              <a:rPr lang="en-US" altLang="zh-CN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A</a:t>
            </a:r>
            <a:endParaRPr lang="zh-CN" altLang="en-US" sz="2400" b="1">
              <a:solidFill>
                <a:srgbClr val="0033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548867" name="Group 3">
            <a:extLst>
              <a:ext uri="{FF2B5EF4-FFF2-40B4-BE49-F238E27FC236}">
                <a16:creationId xmlns:a16="http://schemas.microsoft.com/office/drawing/2014/main" id="{55CB69E6-087F-4F80-8A57-4A91FF536EBD}"/>
              </a:ext>
            </a:extLst>
          </p:cNvPr>
          <p:cNvGrpSpPr>
            <a:grpSpLocks/>
          </p:cNvGrpSpPr>
          <p:nvPr/>
        </p:nvGrpSpPr>
        <p:grpSpPr bwMode="auto">
          <a:xfrm>
            <a:off x="2987675" y="3416300"/>
            <a:ext cx="3743325" cy="827088"/>
            <a:chOff x="1882" y="2242"/>
            <a:chExt cx="2358" cy="521"/>
          </a:xfrm>
        </p:grpSpPr>
        <p:sp>
          <p:nvSpPr>
            <p:cNvPr id="548868" name="Rectangle 4">
              <a:extLst>
                <a:ext uri="{FF2B5EF4-FFF2-40B4-BE49-F238E27FC236}">
                  <a16:creationId xmlns:a16="http://schemas.microsoft.com/office/drawing/2014/main" id="{0018AE70-DD7D-4D61-895E-A33AAD608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2" y="2423"/>
              <a:ext cx="2358" cy="340"/>
            </a:xfrm>
            <a:prstGeom prst="rect">
              <a:avLst/>
            </a:prstGeom>
            <a:solidFill>
              <a:srgbClr val="CCFFFF"/>
            </a:solidFill>
            <a:ln w="254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 lIns="0" rIns="0" anchor="ctr" anchorCtr="1"/>
            <a:lstStyle/>
            <a:p>
              <a:r>
                <a:rPr lang="en-US" altLang="zh-CN" sz="2400" b="1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G=(F-{XY</a:t>
              </a:r>
              <a:r>
                <a:rPr lang="en-US" altLang="zh-CN" sz="2400" b="1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lang="en-US" altLang="zh-CN" sz="2400" b="1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A})∪{X</a:t>
              </a:r>
              <a:r>
                <a:rPr lang="en-US" altLang="zh-CN" sz="2400" b="1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r>
                <a:rPr lang="en-US" altLang="zh-CN" sz="2400" b="1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A}</a:t>
              </a:r>
              <a:endParaRPr lang="zh-CN" altLang="en-US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48869" name="AutoShape 5">
              <a:extLst>
                <a:ext uri="{FF2B5EF4-FFF2-40B4-BE49-F238E27FC236}">
                  <a16:creationId xmlns:a16="http://schemas.microsoft.com/office/drawing/2014/main" id="{B9DED73C-1661-4338-80E1-CFDF366A3D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8" y="2242"/>
              <a:ext cx="136" cy="159"/>
            </a:xfrm>
            <a:prstGeom prst="downArrow">
              <a:avLst>
                <a:gd name="adj1" fmla="val 50000"/>
                <a:gd name="adj2" fmla="val 29228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48870" name="Group 6">
            <a:extLst>
              <a:ext uri="{FF2B5EF4-FFF2-40B4-BE49-F238E27FC236}">
                <a16:creationId xmlns:a16="http://schemas.microsoft.com/office/drawing/2014/main" id="{B10CEB68-816B-49E6-9A5A-0B1BA1BE2548}"/>
              </a:ext>
            </a:extLst>
          </p:cNvPr>
          <p:cNvGrpSpPr>
            <a:grpSpLocks/>
          </p:cNvGrpSpPr>
          <p:nvPr/>
        </p:nvGrpSpPr>
        <p:grpSpPr bwMode="auto">
          <a:xfrm>
            <a:off x="3490913" y="4308475"/>
            <a:ext cx="2808287" cy="814388"/>
            <a:chOff x="2199" y="2804"/>
            <a:chExt cx="1769" cy="513"/>
          </a:xfrm>
        </p:grpSpPr>
        <p:sp>
          <p:nvSpPr>
            <p:cNvPr id="548871" name="Rectangle 7">
              <a:extLst>
                <a:ext uri="{FF2B5EF4-FFF2-40B4-BE49-F238E27FC236}">
                  <a16:creationId xmlns:a16="http://schemas.microsoft.com/office/drawing/2014/main" id="{BEB9510D-DA68-4CB6-9086-92697FCEBA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9" y="2977"/>
              <a:ext cx="1769" cy="340"/>
            </a:xfrm>
            <a:prstGeom prst="rect">
              <a:avLst/>
            </a:prstGeom>
            <a:solidFill>
              <a:srgbClr val="CCFFFF"/>
            </a:solidFill>
            <a:ln w="254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 wrap="none" lIns="0" rIns="0" anchor="ctr" anchorCtr="1"/>
            <a:lstStyle/>
            <a:p>
              <a:pPr algn="ctr"/>
              <a:r>
                <a:rPr lang="zh-CN" altLang="en-US" sz="2400" b="1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求</a:t>
              </a:r>
              <a:r>
                <a:rPr lang="en-US" altLang="zh-CN" sz="2400" b="1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30000">
                  <a:solidFill>
                    <a:srgbClr val="A5002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F</a:t>
              </a:r>
              <a:r>
                <a:rPr lang="en-US" altLang="zh-CN" sz="2400" b="1" baseline="30000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+</a:t>
              </a:r>
              <a:endParaRPr lang="zh-CN" altLang="en-US" sz="2400" b="1" baseline="30000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endParaRPr>
            </a:p>
          </p:txBody>
        </p:sp>
        <p:sp>
          <p:nvSpPr>
            <p:cNvPr id="548872" name="AutoShape 8">
              <a:extLst>
                <a:ext uri="{FF2B5EF4-FFF2-40B4-BE49-F238E27FC236}">
                  <a16:creationId xmlns:a16="http://schemas.microsoft.com/office/drawing/2014/main" id="{494D8C24-BA18-4195-8BE0-6C1A00EC62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8" y="2804"/>
              <a:ext cx="136" cy="159"/>
            </a:xfrm>
            <a:prstGeom prst="downArrow">
              <a:avLst>
                <a:gd name="adj1" fmla="val 50000"/>
                <a:gd name="adj2" fmla="val 29228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48873" name="Group 9">
            <a:extLst>
              <a:ext uri="{FF2B5EF4-FFF2-40B4-BE49-F238E27FC236}">
                <a16:creationId xmlns:a16="http://schemas.microsoft.com/office/drawing/2014/main" id="{95B0142E-861C-48ED-8603-1D7E49D894D1}"/>
              </a:ext>
            </a:extLst>
          </p:cNvPr>
          <p:cNvGrpSpPr>
            <a:grpSpLocks/>
          </p:cNvGrpSpPr>
          <p:nvPr/>
        </p:nvGrpSpPr>
        <p:grpSpPr bwMode="auto">
          <a:xfrm>
            <a:off x="3249613" y="5187950"/>
            <a:ext cx="3238500" cy="1136650"/>
            <a:chOff x="2047" y="3358"/>
            <a:chExt cx="2040" cy="716"/>
          </a:xfrm>
        </p:grpSpPr>
        <p:sp>
          <p:nvSpPr>
            <p:cNvPr id="548874" name="AutoShape 10">
              <a:extLst>
                <a:ext uri="{FF2B5EF4-FFF2-40B4-BE49-F238E27FC236}">
                  <a16:creationId xmlns:a16="http://schemas.microsoft.com/office/drawing/2014/main" id="{6A736569-1E90-4ECD-8F41-50BABC3941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7" y="3530"/>
              <a:ext cx="2040" cy="544"/>
            </a:xfrm>
            <a:prstGeom prst="flowChartDecision">
              <a:avLst/>
            </a:prstGeom>
            <a:solidFill>
              <a:srgbClr val="333399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 wrap="none" lIns="0" rIns="0" anchor="ctr" anchorCtr="1"/>
            <a:lstStyle/>
            <a:p>
              <a:pPr algn="ctr"/>
              <a:r>
                <a:rPr lang="en-US" altLang="zh-CN" sz="24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A</a:t>
              </a:r>
              <a:r>
                <a:rPr lang="en-US" altLang="zh-CN" sz="24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  <a:sym typeface="Symbol" panose="05050102010706020507" pitchFamily="18" charset="2"/>
                </a:rPr>
                <a:t></a:t>
              </a:r>
              <a:r>
                <a:rPr lang="en-US" altLang="zh-CN" sz="24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X</a:t>
              </a:r>
              <a:r>
                <a:rPr lang="en-US" altLang="zh-CN" sz="2400" b="1" baseline="-30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F</a:t>
              </a:r>
              <a:r>
                <a:rPr lang="en-US" altLang="zh-CN" sz="2400" b="1" baseline="300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+ </a:t>
              </a:r>
              <a:r>
                <a:rPr lang="zh-CN" altLang="en-US" sz="24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楷体_GB2312" pitchFamily="49" charset="-122"/>
                  <a:cs typeface="Times New Roman" panose="02020603050405020304" pitchFamily="18" charset="0"/>
                </a:rPr>
                <a:t>？</a:t>
              </a:r>
            </a:p>
          </p:txBody>
        </p:sp>
        <p:sp>
          <p:nvSpPr>
            <p:cNvPr id="548875" name="AutoShape 11">
              <a:extLst>
                <a:ext uri="{FF2B5EF4-FFF2-40B4-BE49-F238E27FC236}">
                  <a16:creationId xmlns:a16="http://schemas.microsoft.com/office/drawing/2014/main" id="{F561E88D-9514-4910-83AE-E6B234F645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8" y="3358"/>
              <a:ext cx="136" cy="159"/>
            </a:xfrm>
            <a:prstGeom prst="downArrow">
              <a:avLst>
                <a:gd name="adj1" fmla="val 50000"/>
                <a:gd name="adj2" fmla="val 29228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48876" name="Rectangle 12">
            <a:extLst>
              <a:ext uri="{FF2B5EF4-FFF2-40B4-BE49-F238E27FC236}">
                <a16:creationId xmlns:a16="http://schemas.microsoft.com/office/drawing/2014/main" id="{35EDD77B-9C8B-4344-B0F8-E8B757C6E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250" y="5611813"/>
            <a:ext cx="1728788" cy="539750"/>
          </a:xfrm>
          <a:prstGeom prst="rect">
            <a:avLst/>
          </a:prstGeom>
          <a:solidFill>
            <a:srgbClr val="CCFFFF"/>
          </a:solidFill>
          <a:ln w="254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wrap="none" lIns="0" rIns="0" anchor="ctr" anchorCtr="1"/>
          <a:lstStyle/>
          <a:p>
            <a:pPr algn="ctr"/>
            <a:r>
              <a:rPr lang="en-US" altLang="zh-CN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多余</a:t>
            </a:r>
          </a:p>
        </p:txBody>
      </p:sp>
      <p:grpSp>
        <p:nvGrpSpPr>
          <p:cNvPr id="548877" name="Group 13">
            <a:extLst>
              <a:ext uri="{FF2B5EF4-FFF2-40B4-BE49-F238E27FC236}">
                <a16:creationId xmlns:a16="http://schemas.microsoft.com/office/drawing/2014/main" id="{7BA29393-9DE4-44B5-8AE1-EEB35793AB30}"/>
              </a:ext>
            </a:extLst>
          </p:cNvPr>
          <p:cNvGrpSpPr>
            <a:grpSpLocks/>
          </p:cNvGrpSpPr>
          <p:nvPr/>
        </p:nvGrpSpPr>
        <p:grpSpPr bwMode="auto">
          <a:xfrm>
            <a:off x="6429375" y="5345113"/>
            <a:ext cx="509588" cy="661987"/>
            <a:chOff x="4050" y="3457"/>
            <a:chExt cx="321" cy="417"/>
          </a:xfrm>
        </p:grpSpPr>
        <p:sp>
          <p:nvSpPr>
            <p:cNvPr id="548878" name="AutoShape 14">
              <a:extLst>
                <a:ext uri="{FF2B5EF4-FFF2-40B4-BE49-F238E27FC236}">
                  <a16:creationId xmlns:a16="http://schemas.microsoft.com/office/drawing/2014/main" id="{DC1660BF-1C2D-4E68-8E14-E28F97923AD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167" y="3670"/>
              <a:ext cx="136" cy="272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8879" name="Text Box 15">
              <a:extLst>
                <a:ext uri="{FF2B5EF4-FFF2-40B4-BE49-F238E27FC236}">
                  <a16:creationId xmlns:a16="http://schemas.microsoft.com/office/drawing/2014/main" id="{17CBFBC7-CE80-419B-A3FD-DB57EE5726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0" y="3457"/>
              <a:ext cx="240" cy="327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0" rIns="0" anchor="ctr" anchorCtr="1"/>
            <a:lstStyle/>
            <a:p>
              <a:r>
                <a:rPr lang="en-US" altLang="zh-CN" sz="2800" b="1"/>
                <a:t>Y</a:t>
              </a:r>
            </a:p>
          </p:txBody>
        </p:sp>
      </p:grpSp>
      <p:sp>
        <p:nvSpPr>
          <p:cNvPr id="548880" name="Rectangle 16">
            <a:extLst>
              <a:ext uri="{FF2B5EF4-FFF2-40B4-BE49-F238E27FC236}">
                <a16:creationId xmlns:a16="http://schemas.microsoft.com/office/drawing/2014/main" id="{E81DD079-8254-4F9A-A3C2-CFCC8CD7A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5611813"/>
            <a:ext cx="2111375" cy="539750"/>
          </a:xfrm>
          <a:prstGeom prst="rect">
            <a:avLst/>
          </a:prstGeom>
          <a:solidFill>
            <a:srgbClr val="CCFFFF"/>
          </a:solidFill>
          <a:ln w="254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wrap="none" lIns="0" rIns="0" anchor="ctr" anchorCtr="1"/>
          <a:lstStyle/>
          <a:p>
            <a:pPr algn="ctr"/>
            <a:r>
              <a:rPr lang="en-US" altLang="zh-CN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不多余</a:t>
            </a:r>
          </a:p>
        </p:txBody>
      </p:sp>
      <p:grpSp>
        <p:nvGrpSpPr>
          <p:cNvPr id="548881" name="Group 17">
            <a:extLst>
              <a:ext uri="{FF2B5EF4-FFF2-40B4-BE49-F238E27FC236}">
                <a16:creationId xmlns:a16="http://schemas.microsoft.com/office/drawing/2014/main" id="{8AE0BC26-938A-4FE5-A2CB-44233E3FBA94}"/>
              </a:ext>
            </a:extLst>
          </p:cNvPr>
          <p:cNvGrpSpPr>
            <a:grpSpLocks/>
          </p:cNvGrpSpPr>
          <p:nvPr/>
        </p:nvGrpSpPr>
        <p:grpSpPr bwMode="auto">
          <a:xfrm>
            <a:off x="2836863" y="5345113"/>
            <a:ext cx="439737" cy="661987"/>
            <a:chOff x="1787" y="3457"/>
            <a:chExt cx="277" cy="417"/>
          </a:xfrm>
        </p:grpSpPr>
        <p:sp>
          <p:nvSpPr>
            <p:cNvPr id="548882" name="AutoShape 18">
              <a:extLst>
                <a:ext uri="{FF2B5EF4-FFF2-40B4-BE49-F238E27FC236}">
                  <a16:creationId xmlns:a16="http://schemas.microsoft.com/office/drawing/2014/main" id="{835C7B30-2D73-4B05-873D-40B167E2B45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855" y="3670"/>
              <a:ext cx="136" cy="272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8883" name="Text Box 19">
              <a:extLst>
                <a:ext uri="{FF2B5EF4-FFF2-40B4-BE49-F238E27FC236}">
                  <a16:creationId xmlns:a16="http://schemas.microsoft.com/office/drawing/2014/main" id="{453951FA-1516-4A80-90E1-69D353DA42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3457"/>
              <a:ext cx="240" cy="327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0" rIns="0" anchor="ctr" anchorCtr="1"/>
            <a:lstStyle/>
            <a:p>
              <a:r>
                <a:rPr lang="en-US" altLang="zh-CN" sz="2800" b="1"/>
                <a:t>N</a:t>
              </a:r>
            </a:p>
          </p:txBody>
        </p:sp>
      </p:grpSp>
      <p:grpSp>
        <p:nvGrpSpPr>
          <p:cNvPr id="548884" name="Group 20">
            <a:extLst>
              <a:ext uri="{FF2B5EF4-FFF2-40B4-BE49-F238E27FC236}">
                <a16:creationId xmlns:a16="http://schemas.microsoft.com/office/drawing/2014/main" id="{EFEF833E-0F86-4DEE-8001-6BBDEF363EAB}"/>
              </a:ext>
            </a:extLst>
          </p:cNvPr>
          <p:cNvGrpSpPr>
            <a:grpSpLocks/>
          </p:cNvGrpSpPr>
          <p:nvPr/>
        </p:nvGrpSpPr>
        <p:grpSpPr bwMode="auto">
          <a:xfrm>
            <a:off x="6953250" y="2819400"/>
            <a:ext cx="1727200" cy="2771775"/>
            <a:chOff x="4380" y="1866"/>
            <a:chExt cx="1088" cy="1746"/>
          </a:xfrm>
        </p:grpSpPr>
        <p:sp>
          <p:nvSpPr>
            <p:cNvPr id="548885" name="Rectangle 21">
              <a:extLst>
                <a:ext uri="{FF2B5EF4-FFF2-40B4-BE49-F238E27FC236}">
                  <a16:creationId xmlns:a16="http://schemas.microsoft.com/office/drawing/2014/main" id="{38CB5FAA-2173-432E-9FE8-13D2D048AE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0" y="1866"/>
              <a:ext cx="1088" cy="340"/>
            </a:xfrm>
            <a:prstGeom prst="rect">
              <a:avLst/>
            </a:prstGeom>
            <a:solidFill>
              <a:srgbClr val="CCFFFF"/>
            </a:solidFill>
            <a:ln w="254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 wrap="none" lIns="0" rIns="0" anchor="ctr" anchorCtr="1"/>
            <a:lstStyle/>
            <a:p>
              <a:pPr algn="ctr"/>
              <a:r>
                <a:rPr lang="en-US" altLang="zh-CN" sz="2400" b="1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F=G</a:t>
              </a:r>
              <a:endParaRPr lang="zh-CN" altLang="en-US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endParaRPr>
            </a:p>
          </p:txBody>
        </p:sp>
        <p:sp>
          <p:nvSpPr>
            <p:cNvPr id="548886" name="AutoShape 22">
              <a:extLst>
                <a:ext uri="{FF2B5EF4-FFF2-40B4-BE49-F238E27FC236}">
                  <a16:creationId xmlns:a16="http://schemas.microsoft.com/office/drawing/2014/main" id="{6DD1038C-0DD7-4109-88BE-8F1D12F67F9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831" y="2251"/>
              <a:ext cx="136" cy="1361"/>
            </a:xfrm>
            <a:prstGeom prst="downArrow">
              <a:avLst>
                <a:gd name="adj1" fmla="val 39565"/>
                <a:gd name="adj2" fmla="val 120505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48887" name="Group 23">
            <a:extLst>
              <a:ext uri="{FF2B5EF4-FFF2-40B4-BE49-F238E27FC236}">
                <a16:creationId xmlns:a16="http://schemas.microsoft.com/office/drawing/2014/main" id="{705B035C-07E3-4693-A774-B327278BD75D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2819400"/>
            <a:ext cx="1727200" cy="2771775"/>
            <a:chOff x="521" y="1866"/>
            <a:chExt cx="1088" cy="1746"/>
          </a:xfrm>
        </p:grpSpPr>
        <p:sp>
          <p:nvSpPr>
            <p:cNvPr id="548888" name="Rectangle 24">
              <a:extLst>
                <a:ext uri="{FF2B5EF4-FFF2-40B4-BE49-F238E27FC236}">
                  <a16:creationId xmlns:a16="http://schemas.microsoft.com/office/drawing/2014/main" id="{B9E5C59C-A348-4F82-AEF6-96CD3B8317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1866"/>
              <a:ext cx="1088" cy="340"/>
            </a:xfrm>
            <a:prstGeom prst="rect">
              <a:avLst/>
            </a:prstGeom>
            <a:solidFill>
              <a:srgbClr val="CCFFFF"/>
            </a:solidFill>
            <a:ln w="254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71842" dir="2700000" algn="ctr" rotWithShape="0">
                <a:schemeClr val="tx1"/>
              </a:outerShdw>
            </a:effectLst>
          </p:spPr>
          <p:txBody>
            <a:bodyPr wrap="none" lIns="0" rIns="0" anchor="ctr" anchorCtr="1"/>
            <a:lstStyle/>
            <a:p>
              <a:pPr algn="ctr"/>
              <a:r>
                <a:rPr lang="en-US" altLang="zh-CN" sz="2400" b="1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F</a:t>
              </a:r>
              <a:r>
                <a:rPr lang="zh-CN" altLang="en-US" sz="2400" b="1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anose="02020603050405020304" pitchFamily="18" charset="0"/>
                </a:rPr>
                <a:t>不变</a:t>
              </a:r>
              <a:endParaRPr lang="en-US" altLang="zh-CN" sz="2400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endParaRPr>
            </a:p>
          </p:txBody>
        </p:sp>
        <p:sp>
          <p:nvSpPr>
            <p:cNvPr id="548889" name="AutoShape 25">
              <a:extLst>
                <a:ext uri="{FF2B5EF4-FFF2-40B4-BE49-F238E27FC236}">
                  <a16:creationId xmlns:a16="http://schemas.microsoft.com/office/drawing/2014/main" id="{C014BDA1-D245-4230-9918-20580DBE9DB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973" y="2251"/>
              <a:ext cx="136" cy="1361"/>
            </a:xfrm>
            <a:prstGeom prst="downArrow">
              <a:avLst>
                <a:gd name="adj1" fmla="val 39565"/>
                <a:gd name="adj2" fmla="val 120505"/>
              </a:avLst>
            </a:prstGeom>
            <a:solidFill>
              <a:srgbClr val="00FF00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48890" name="AutoShape 26">
            <a:extLst>
              <a:ext uri="{FF2B5EF4-FFF2-40B4-BE49-F238E27FC236}">
                <a16:creationId xmlns:a16="http://schemas.microsoft.com/office/drawing/2014/main" id="{D3827889-AA84-406A-8CC7-45438199194E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2944813" y="2667000"/>
            <a:ext cx="215900" cy="879475"/>
          </a:xfrm>
          <a:prstGeom prst="downArrow">
            <a:avLst>
              <a:gd name="adj1" fmla="val 50000"/>
              <a:gd name="adj2" fmla="val 101838"/>
            </a:avLst>
          </a:prstGeom>
          <a:solidFill>
            <a:srgbClr val="00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8891" name="AutoShape 27">
            <a:extLst>
              <a:ext uri="{FF2B5EF4-FFF2-40B4-BE49-F238E27FC236}">
                <a16:creationId xmlns:a16="http://schemas.microsoft.com/office/drawing/2014/main" id="{9D6D1493-2D5A-469F-A055-F96CC8CB23EA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530976" y="2825750"/>
            <a:ext cx="215900" cy="561975"/>
          </a:xfrm>
          <a:prstGeom prst="downArrow">
            <a:avLst>
              <a:gd name="adj1" fmla="val 50000"/>
              <a:gd name="adj2" fmla="val 65074"/>
            </a:avLst>
          </a:prstGeom>
          <a:solidFill>
            <a:srgbClr val="00FF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8892" name="AutoShape 28">
            <a:extLst>
              <a:ext uri="{FF2B5EF4-FFF2-40B4-BE49-F238E27FC236}">
                <a16:creationId xmlns:a16="http://schemas.microsoft.com/office/drawing/2014/main" id="{E12CFB30-7124-4D7F-8187-457716855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1917700"/>
            <a:ext cx="2087562" cy="1152525"/>
          </a:xfrm>
          <a:prstGeom prst="wedgeRectCallout">
            <a:avLst>
              <a:gd name="adj1" fmla="val -28861"/>
              <a:gd name="adj2" fmla="val 107852"/>
            </a:avLst>
          </a:prstGeom>
          <a:solidFill>
            <a:srgbClr val="00008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lIns="0" rIns="0" anchor="ctr" anchorCtr="1"/>
          <a:lstStyle/>
          <a:p>
            <a:pPr algn="ctr"/>
            <a:r>
              <a:rPr lang="zh-CN" altLang="en-US" sz="24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从</a:t>
            </a:r>
            <a:r>
              <a:rPr lang="en-US" altLang="zh-CN" sz="24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sz="24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中导出</a:t>
            </a:r>
          </a:p>
          <a:p>
            <a:pPr algn="ctr"/>
            <a:r>
              <a:rPr lang="en-US" altLang="zh-CN" sz="2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4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548893" name="AutoShape 29">
            <a:extLst>
              <a:ext uri="{FF2B5EF4-FFF2-40B4-BE49-F238E27FC236}">
                <a16:creationId xmlns:a16="http://schemas.microsoft.com/office/drawing/2014/main" id="{EF12E662-90D3-4B5A-997F-2521EE9E5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1125538"/>
            <a:ext cx="1655763" cy="1152525"/>
          </a:xfrm>
          <a:prstGeom prst="wedgeRectCallout">
            <a:avLst>
              <a:gd name="adj1" fmla="val -23347"/>
              <a:gd name="adj2" fmla="val 107852"/>
            </a:avLst>
          </a:prstGeom>
          <a:solidFill>
            <a:srgbClr val="00008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lIns="0" rIns="0" anchor="ctr" anchorCtr="1"/>
          <a:lstStyle/>
          <a:p>
            <a:pPr algn="ctr"/>
            <a:r>
              <a:rPr lang="zh-CN" altLang="en-US" sz="24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再看</a:t>
            </a:r>
            <a:r>
              <a:rPr lang="en-US" altLang="zh-CN" sz="2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4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是否多余</a:t>
            </a:r>
          </a:p>
        </p:txBody>
      </p:sp>
      <p:sp>
        <p:nvSpPr>
          <p:cNvPr id="548894" name="AutoShape 30">
            <a:extLst>
              <a:ext uri="{FF2B5EF4-FFF2-40B4-BE49-F238E27FC236}">
                <a16:creationId xmlns:a16="http://schemas.microsoft.com/office/drawing/2014/main" id="{E6483182-B107-41BD-8154-19DE21D30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1125538"/>
            <a:ext cx="1655762" cy="1152525"/>
          </a:xfrm>
          <a:prstGeom prst="wedgeRectCallout">
            <a:avLst>
              <a:gd name="adj1" fmla="val -23347"/>
              <a:gd name="adj2" fmla="val 107852"/>
            </a:avLst>
          </a:prstGeom>
          <a:solidFill>
            <a:srgbClr val="00008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lIns="0" rIns="0" anchor="ctr" anchorCtr="1"/>
          <a:lstStyle/>
          <a:p>
            <a:pPr algn="ctr"/>
            <a:r>
              <a:rPr lang="zh-CN" altLang="en-US" sz="24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先看</a:t>
            </a:r>
            <a:r>
              <a:rPr lang="en-US" altLang="zh-CN" sz="24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 sz="2400" b="1">
                <a:solidFill>
                  <a:srgbClr val="66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cs typeface="Times New Roman" panose="02020603050405020304" pitchFamily="18" charset="0"/>
              </a:rPr>
              <a:t>是否多余</a:t>
            </a:r>
          </a:p>
        </p:txBody>
      </p:sp>
      <p:sp>
        <p:nvSpPr>
          <p:cNvPr id="548895" name="Rectangle 31">
            <a:extLst>
              <a:ext uri="{FF2B5EF4-FFF2-40B4-BE49-F238E27FC236}">
                <a16:creationId xmlns:a16="http://schemas.microsoft.com/office/drawing/2014/main" id="{A8137407-EAE6-41D2-862F-07967E4D82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四、最小函数依赖集</a:t>
            </a:r>
          </a:p>
        </p:txBody>
      </p:sp>
      <p:sp>
        <p:nvSpPr>
          <p:cNvPr id="548896" name="Rectangle 32">
            <a:extLst>
              <a:ext uri="{FF2B5EF4-FFF2-40B4-BE49-F238E27FC236}">
                <a16:creationId xmlns:a16="http://schemas.microsoft.com/office/drawing/2014/main" id="{2D2D7601-764A-4546-BFD3-377E14F6A6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4350" y="1152525"/>
            <a:ext cx="8234363" cy="4953000"/>
          </a:xfrm>
        </p:spPr>
        <p:txBody>
          <a:bodyPr/>
          <a:lstStyle/>
          <a:p>
            <a:pPr algn="just"/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、求解方法</a:t>
            </a:r>
          </a:p>
          <a:p>
            <a:pPr algn="just"/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）去掉左端多余的属性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4503"/>
    </mc:Choice>
    <mc:Fallback xmlns="">
      <p:transition spd="slow" advTm="845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88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48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488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488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8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48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48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48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8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48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48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48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48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48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548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548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548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548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48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48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48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48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8866" grpId="0" animBg="1"/>
      <p:bldP spid="548876" grpId="0" animBg="1"/>
      <p:bldP spid="548880" grpId="0" animBg="1"/>
      <p:bldP spid="548892" grpId="0" animBg="1"/>
      <p:bldP spid="548893" grpId="0" animBg="1"/>
      <p:bldP spid="548894" grpId="0" animBg="1"/>
      <p:bldP spid="548896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id="{3A3E66C1-871A-41EA-9B99-22A079825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B441C-C9F2-4F88-A241-8D0ABD8673A8}" type="slidenum">
              <a:rPr lang="zh-CN" altLang="en-US"/>
              <a:pPr/>
              <a:t>9</a:t>
            </a:fld>
            <a:endParaRPr lang="en-US" altLang="zh-CN"/>
          </a:p>
        </p:txBody>
      </p:sp>
      <p:sp>
        <p:nvSpPr>
          <p:cNvPr id="550914" name="AutoShape 2">
            <a:extLst>
              <a:ext uri="{FF2B5EF4-FFF2-40B4-BE49-F238E27FC236}">
                <a16:creationId xmlns:a16="http://schemas.microsoft.com/office/drawing/2014/main" id="{69CF8AED-02A1-4EF2-99A0-1423DF75B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2205038"/>
            <a:ext cx="4535487" cy="1439862"/>
          </a:xfrm>
          <a:prstGeom prst="bracePair">
            <a:avLst>
              <a:gd name="adj" fmla="val 8333"/>
            </a:avLst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/>
            <a:r>
              <a:rPr lang="en-US" altLang="zh-CN" sz="2400" b="1" dirty="0">
                <a:latin typeface="仿宋_GB2312" charset="-122"/>
                <a:ea typeface="仿宋_GB2312" charset="-122"/>
              </a:rPr>
              <a:t>AB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C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C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A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BC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D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</a:p>
          <a:p>
            <a:pPr algn="just"/>
            <a:r>
              <a:rPr lang="en-US" altLang="zh-CN" sz="2400" b="1" dirty="0">
                <a:latin typeface="仿宋_GB2312" charset="-122"/>
                <a:ea typeface="仿宋_GB2312" charset="-122"/>
              </a:rPr>
              <a:t>ACD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B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D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EG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BE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C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</a:p>
          <a:p>
            <a:pPr algn="just"/>
            <a:r>
              <a:rPr lang="en-US" altLang="zh-CN" sz="2400" b="1" dirty="0">
                <a:latin typeface="仿宋_GB2312" charset="-122"/>
                <a:ea typeface="仿宋_GB2312" charset="-122"/>
              </a:rPr>
              <a:t>CG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BD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CE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AG</a:t>
            </a:r>
          </a:p>
        </p:txBody>
      </p:sp>
      <p:sp>
        <p:nvSpPr>
          <p:cNvPr id="550915" name="Text Box 3">
            <a:extLst>
              <a:ext uri="{FF2B5EF4-FFF2-40B4-BE49-F238E27FC236}">
                <a16:creationId xmlns:a16="http://schemas.microsoft.com/office/drawing/2014/main" id="{85BFF47F-8A23-4AAB-BD65-930303472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2636838"/>
            <a:ext cx="542925" cy="519112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仿宋_GB2312" charset="-122"/>
                <a:ea typeface="仿宋_GB2312" charset="-122"/>
              </a:rPr>
              <a:t>F=</a:t>
            </a:r>
          </a:p>
        </p:txBody>
      </p:sp>
      <p:sp>
        <p:nvSpPr>
          <p:cNvPr id="550916" name="AutoShape 4">
            <a:extLst>
              <a:ext uri="{FF2B5EF4-FFF2-40B4-BE49-F238E27FC236}">
                <a16:creationId xmlns:a16="http://schemas.microsoft.com/office/drawing/2014/main" id="{37E29E83-967B-42CB-801B-4A114B6DB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4292600"/>
            <a:ext cx="5400675" cy="1368425"/>
          </a:xfrm>
          <a:prstGeom prst="bracePair">
            <a:avLst>
              <a:gd name="adj" fmla="val 8333"/>
            </a:avLst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/>
            <a:r>
              <a:rPr lang="en-US" altLang="zh-CN" sz="2400" b="1" dirty="0">
                <a:latin typeface="仿宋_GB2312" charset="-122"/>
                <a:ea typeface="仿宋_GB2312" charset="-122"/>
              </a:rPr>
              <a:t>AB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C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C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A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BC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D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ACD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B,</a:t>
            </a:r>
          </a:p>
          <a:p>
            <a:pPr algn="just"/>
            <a:r>
              <a:rPr lang="en-US" altLang="zh-CN" sz="2400" b="1" dirty="0">
                <a:latin typeface="仿宋_GB2312" charset="-122"/>
                <a:ea typeface="仿宋_GB2312" charset="-122"/>
              </a:rPr>
              <a:t>D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E,D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G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BE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C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CG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B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endParaRPr lang="en-US" altLang="zh-CN" sz="2400" b="1" dirty="0">
              <a:latin typeface="仿宋_GB2312" charset="-122"/>
              <a:ea typeface="仿宋_GB2312" charset="-122"/>
            </a:endParaRPr>
          </a:p>
          <a:p>
            <a:pPr algn="just"/>
            <a:r>
              <a:rPr lang="en-US" altLang="zh-CN" sz="2400" b="1" dirty="0">
                <a:latin typeface="仿宋_GB2312" charset="-122"/>
                <a:ea typeface="仿宋_GB2312" charset="-122"/>
              </a:rPr>
              <a:t>CG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D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CE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A,CE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G</a:t>
            </a:r>
          </a:p>
        </p:txBody>
      </p:sp>
      <p:sp>
        <p:nvSpPr>
          <p:cNvPr id="550917" name="Text Box 5">
            <a:extLst>
              <a:ext uri="{FF2B5EF4-FFF2-40B4-BE49-F238E27FC236}">
                <a16:creationId xmlns:a16="http://schemas.microsoft.com/office/drawing/2014/main" id="{4C07F31A-B2FB-4416-9FD7-1FE3B4DFA4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4710113"/>
            <a:ext cx="1381125" cy="519112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仿宋_GB2312" charset="-122"/>
                <a:ea typeface="仿宋_GB2312" charset="-122"/>
              </a:rPr>
              <a:t>①  F</a:t>
            </a:r>
            <a:r>
              <a:rPr lang="en-US" altLang="zh-CN" sz="2800" b="1" baseline="-25000">
                <a:latin typeface="仿宋_GB2312" charset="-122"/>
                <a:ea typeface="仿宋_GB2312" charset="-122"/>
              </a:rPr>
              <a:t>1</a:t>
            </a:r>
            <a:r>
              <a:rPr lang="en-US" altLang="zh-CN" sz="2800" b="1">
                <a:latin typeface="仿宋_GB2312" charset="-122"/>
                <a:ea typeface="仿宋_GB2312" charset="-122"/>
              </a:rPr>
              <a:t>=</a:t>
            </a:r>
          </a:p>
        </p:txBody>
      </p:sp>
      <p:sp>
        <p:nvSpPr>
          <p:cNvPr id="550918" name="Line 6">
            <a:extLst>
              <a:ext uri="{FF2B5EF4-FFF2-40B4-BE49-F238E27FC236}">
                <a16:creationId xmlns:a16="http://schemas.microsoft.com/office/drawing/2014/main" id="{500C373B-766C-4C93-A25F-D00B494510CF}"/>
              </a:ext>
            </a:extLst>
          </p:cNvPr>
          <p:cNvSpPr>
            <a:spLocks noChangeShapeType="1"/>
          </p:cNvSpPr>
          <p:nvPr/>
        </p:nvSpPr>
        <p:spPr bwMode="auto">
          <a:xfrm>
            <a:off x="4154488" y="3141663"/>
            <a:ext cx="865187" cy="0"/>
          </a:xfrm>
          <a:prstGeom prst="line">
            <a:avLst/>
          </a:prstGeom>
          <a:noFill/>
          <a:ln w="38100" cap="sq">
            <a:solidFill>
              <a:srgbClr val="FF0000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0919" name="Line 7">
            <a:extLst>
              <a:ext uri="{FF2B5EF4-FFF2-40B4-BE49-F238E27FC236}">
                <a16:creationId xmlns:a16="http://schemas.microsoft.com/office/drawing/2014/main" id="{B3052981-D482-4060-92A4-0B9C581065C0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0188" y="3573463"/>
            <a:ext cx="2449512" cy="0"/>
          </a:xfrm>
          <a:prstGeom prst="line">
            <a:avLst/>
          </a:prstGeom>
          <a:noFill/>
          <a:ln w="38100" cap="sq">
            <a:solidFill>
              <a:srgbClr val="FF0000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0920" name="Line 8">
            <a:extLst>
              <a:ext uri="{FF2B5EF4-FFF2-40B4-BE49-F238E27FC236}">
                <a16:creationId xmlns:a16="http://schemas.microsoft.com/office/drawing/2014/main" id="{EC8793D9-DD54-40D4-8A99-D844C7472A31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0338" y="5229225"/>
            <a:ext cx="1655762" cy="0"/>
          </a:xfrm>
          <a:prstGeom prst="line">
            <a:avLst/>
          </a:prstGeom>
          <a:noFill/>
          <a:ln w="38100" cap="sq">
            <a:solidFill>
              <a:srgbClr val="FF0000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0921" name="Line 9">
            <a:extLst>
              <a:ext uri="{FF2B5EF4-FFF2-40B4-BE49-F238E27FC236}">
                <a16:creationId xmlns:a16="http://schemas.microsoft.com/office/drawing/2014/main" id="{75F830DE-F1AC-4BBF-8F31-69DE993FD1AF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1775" y="5661025"/>
            <a:ext cx="3168650" cy="0"/>
          </a:xfrm>
          <a:prstGeom prst="line">
            <a:avLst/>
          </a:prstGeom>
          <a:noFill/>
          <a:ln w="38100" cap="sq">
            <a:solidFill>
              <a:srgbClr val="FF0000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0922" name="Line 10">
            <a:extLst>
              <a:ext uri="{FF2B5EF4-FFF2-40B4-BE49-F238E27FC236}">
                <a16:creationId xmlns:a16="http://schemas.microsoft.com/office/drawing/2014/main" id="{C3733BFA-EE5A-4420-90EB-84CDA5836A67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5229225"/>
            <a:ext cx="1081088" cy="0"/>
          </a:xfrm>
          <a:prstGeom prst="line">
            <a:avLst/>
          </a:prstGeom>
          <a:noFill/>
          <a:ln w="38100" cap="sq">
            <a:solidFill>
              <a:srgbClr val="FF0000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0923" name="Rectangle 11">
            <a:extLst>
              <a:ext uri="{FF2B5EF4-FFF2-40B4-BE49-F238E27FC236}">
                <a16:creationId xmlns:a16="http://schemas.microsoft.com/office/drawing/2014/main" id="{14A28445-75A9-4FEF-B475-6A59EBB10C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0537" y="1215641"/>
            <a:ext cx="8234363" cy="4953000"/>
          </a:xfrm>
        </p:spPr>
        <p:txBody>
          <a:bodyPr/>
          <a:lstStyle/>
          <a:p>
            <a:pPr algn="just"/>
            <a:r>
              <a:rPr lang="zh-CN" altLang="en-US" i="1" dirty="0">
                <a:solidFill>
                  <a:srgbClr val="008000"/>
                </a:solidFill>
                <a:latin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6.5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：求函数依赖集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的最小函数依赖集</a:t>
            </a:r>
          </a:p>
          <a:p>
            <a:pPr algn="just"/>
            <a:endParaRPr lang="zh-CN" altLang="en-US" dirty="0">
              <a:solidFill>
                <a:srgbClr val="000000"/>
              </a:solidFill>
              <a:latin typeface="楷体_GB2312" pitchFamily="49" charset="-122"/>
              <a:cs typeface="Times New Roman" panose="02020603050405020304" pitchFamily="18" charset="0"/>
            </a:endParaRPr>
          </a:p>
          <a:p>
            <a:pPr algn="just"/>
            <a:endParaRPr lang="zh-CN" altLang="en-US" dirty="0">
              <a:solidFill>
                <a:srgbClr val="000000"/>
              </a:solidFill>
              <a:latin typeface="楷体_GB2312" pitchFamily="49" charset="-122"/>
              <a:cs typeface="Times New Roman" panose="02020603050405020304" pitchFamily="18" charset="0"/>
            </a:endParaRPr>
          </a:p>
          <a:p>
            <a:pPr algn="just"/>
            <a:endParaRPr lang="zh-CN" altLang="en-US" dirty="0"/>
          </a:p>
        </p:txBody>
      </p:sp>
      <p:sp>
        <p:nvSpPr>
          <p:cNvPr id="550924" name="Rectangle 12">
            <a:extLst>
              <a:ext uri="{FF2B5EF4-FFF2-40B4-BE49-F238E27FC236}">
                <a16:creationId xmlns:a16="http://schemas.microsoft.com/office/drawing/2014/main" id="{E009A444-B36F-4637-8F12-510C2C5F79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zh-CN" altLang="en-US"/>
              <a:t>四、最小函数依赖集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344"/>
    </mc:Choice>
    <mc:Fallback xmlns="">
      <p:transition spd="slow" advTm="3334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50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550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50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50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550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550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550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0916" grpId="0" animBg="1"/>
      <p:bldP spid="5509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id="{C98ECB19-CEE1-4A5E-AA32-1595FFED0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4CFDE-E3DB-484F-9FBE-D52D88163A8A}" type="slidenum">
              <a:rPr lang="zh-CN" altLang="en-US"/>
              <a:pPr/>
              <a:t>10</a:t>
            </a:fld>
            <a:endParaRPr lang="en-US" altLang="zh-CN"/>
          </a:p>
        </p:txBody>
      </p:sp>
      <p:sp>
        <p:nvSpPr>
          <p:cNvPr id="552962" name="Text Box 2">
            <a:extLst>
              <a:ext uri="{FF2B5EF4-FFF2-40B4-BE49-F238E27FC236}">
                <a16:creationId xmlns:a16="http://schemas.microsoft.com/office/drawing/2014/main" id="{02E9141B-1148-457E-BA5C-6B9EE77597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4017963"/>
            <a:ext cx="781050" cy="519112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仿宋_GB2312" charset="-122"/>
                <a:ea typeface="仿宋_GB2312" charset="-122"/>
              </a:rPr>
              <a:t>F</a:t>
            </a:r>
            <a:r>
              <a:rPr lang="en-US" altLang="zh-CN" sz="2800" b="1" baseline="-25000">
                <a:latin typeface="仿宋_GB2312" charset="-122"/>
                <a:ea typeface="仿宋_GB2312" charset="-122"/>
              </a:rPr>
              <a:t>21</a:t>
            </a:r>
            <a:r>
              <a:rPr lang="en-US" altLang="zh-CN" sz="2800" b="1">
                <a:latin typeface="仿宋_GB2312" charset="-122"/>
                <a:ea typeface="仿宋_GB2312" charset="-122"/>
              </a:rPr>
              <a:t>=</a:t>
            </a:r>
          </a:p>
        </p:txBody>
      </p:sp>
      <p:sp>
        <p:nvSpPr>
          <p:cNvPr id="552963" name="AutoShape 3">
            <a:extLst>
              <a:ext uri="{FF2B5EF4-FFF2-40B4-BE49-F238E27FC236}">
                <a16:creationId xmlns:a16="http://schemas.microsoft.com/office/drawing/2014/main" id="{90278553-0964-4C3F-A17B-083173E27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2060575"/>
            <a:ext cx="5400675" cy="1368425"/>
          </a:xfrm>
          <a:prstGeom prst="bracePair">
            <a:avLst>
              <a:gd name="adj" fmla="val 8333"/>
            </a:avLst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/>
            <a:r>
              <a:rPr lang="en-US" altLang="zh-CN" sz="2400" b="1" dirty="0">
                <a:latin typeface="仿宋_GB2312" charset="-122"/>
                <a:ea typeface="仿宋_GB2312" charset="-122"/>
              </a:rPr>
              <a:t>AB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C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C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A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BC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D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ACD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B,</a:t>
            </a:r>
          </a:p>
          <a:p>
            <a:pPr algn="just"/>
            <a:r>
              <a:rPr lang="en-US" altLang="zh-CN" sz="2400" b="1" dirty="0">
                <a:latin typeface="仿宋_GB2312" charset="-122"/>
                <a:ea typeface="仿宋_GB2312" charset="-122"/>
              </a:rPr>
              <a:t>D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E,D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G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BE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C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CG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B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endParaRPr lang="en-US" altLang="zh-CN" sz="2400" b="1" dirty="0">
              <a:latin typeface="仿宋_GB2312" charset="-122"/>
              <a:ea typeface="仿宋_GB2312" charset="-122"/>
            </a:endParaRPr>
          </a:p>
          <a:p>
            <a:pPr algn="just"/>
            <a:r>
              <a:rPr lang="en-US" altLang="zh-CN" sz="2800" b="1" dirty="0">
                <a:latin typeface="仿宋_GB2312" charset="-122"/>
                <a:ea typeface="仿宋_GB2312" charset="-122"/>
              </a:rPr>
              <a:t>CG</a:t>
            </a:r>
            <a:r>
              <a:rPr lang="en-US" altLang="zh-CN" sz="28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仿宋_GB2312" charset="-122"/>
                <a:ea typeface="仿宋_GB2312" charset="-122"/>
              </a:rPr>
              <a:t>D</a:t>
            </a:r>
            <a:r>
              <a:rPr lang="zh-CN" altLang="en-US" sz="28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800" b="1" dirty="0">
                <a:latin typeface="仿宋_GB2312" charset="-122"/>
                <a:ea typeface="仿宋_GB2312" charset="-122"/>
              </a:rPr>
              <a:t>CE</a:t>
            </a:r>
            <a:r>
              <a:rPr lang="en-US" altLang="zh-CN" sz="28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仿宋_GB2312" charset="-122"/>
                <a:ea typeface="仿宋_GB2312" charset="-122"/>
              </a:rPr>
              <a:t>A,CE</a:t>
            </a:r>
            <a:r>
              <a:rPr lang="en-US" altLang="zh-CN" sz="28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latin typeface="仿宋_GB2312" charset="-122"/>
                <a:ea typeface="仿宋_GB2312" charset="-122"/>
              </a:rPr>
              <a:t>G</a:t>
            </a:r>
          </a:p>
        </p:txBody>
      </p:sp>
      <p:sp>
        <p:nvSpPr>
          <p:cNvPr id="552964" name="Text Box 4">
            <a:extLst>
              <a:ext uri="{FF2B5EF4-FFF2-40B4-BE49-F238E27FC236}">
                <a16:creationId xmlns:a16="http://schemas.microsoft.com/office/drawing/2014/main" id="{9ABD63E5-A5A1-4653-A7F5-6EE1E7284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2478088"/>
            <a:ext cx="1193800" cy="519112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仿宋_GB2312" charset="-122"/>
                <a:ea typeface="仿宋_GB2312" charset="-122"/>
              </a:rPr>
              <a:t>② F</a:t>
            </a:r>
            <a:r>
              <a:rPr lang="en-US" altLang="zh-CN" sz="2800" b="1" baseline="-25000">
                <a:latin typeface="仿宋_GB2312" charset="-122"/>
                <a:ea typeface="仿宋_GB2312" charset="-122"/>
              </a:rPr>
              <a:t>1</a:t>
            </a:r>
            <a:r>
              <a:rPr lang="en-US" altLang="zh-CN" sz="2800" b="1">
                <a:latin typeface="仿宋_GB2312" charset="-122"/>
                <a:ea typeface="仿宋_GB2312" charset="-122"/>
              </a:rPr>
              <a:t>=</a:t>
            </a:r>
          </a:p>
        </p:txBody>
      </p:sp>
      <p:sp>
        <p:nvSpPr>
          <p:cNvPr id="552965" name="Line 5">
            <a:extLst>
              <a:ext uri="{FF2B5EF4-FFF2-40B4-BE49-F238E27FC236}">
                <a16:creationId xmlns:a16="http://schemas.microsoft.com/office/drawing/2014/main" id="{B8ED25E0-0F02-41EB-A860-4F675EA0F656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7763" y="3024188"/>
            <a:ext cx="865187" cy="0"/>
          </a:xfrm>
          <a:prstGeom prst="line">
            <a:avLst/>
          </a:prstGeom>
          <a:noFill/>
          <a:ln w="38100" cap="sq">
            <a:solidFill>
              <a:srgbClr val="FF0000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2966" name="AutoShape 6">
            <a:extLst>
              <a:ext uri="{FF2B5EF4-FFF2-40B4-BE49-F238E27FC236}">
                <a16:creationId xmlns:a16="http://schemas.microsoft.com/office/drawing/2014/main" id="{B31D7856-E84D-4621-BC44-17058C61BB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3600450"/>
            <a:ext cx="5473700" cy="1412875"/>
          </a:xfrm>
          <a:prstGeom prst="bracePair">
            <a:avLst>
              <a:gd name="adj" fmla="val 8333"/>
            </a:avLst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/>
            <a:r>
              <a:rPr lang="en-US" altLang="zh-CN" sz="2400" b="1" dirty="0">
                <a:latin typeface="仿宋_GB2312" charset="-122"/>
                <a:ea typeface="仿宋_GB2312" charset="-122"/>
              </a:rPr>
              <a:t>AB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C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C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A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BC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D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ACD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B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D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E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D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G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BE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C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CG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D</a:t>
            </a:r>
            <a:r>
              <a:rPr lang="zh-CN" altLang="en-US" sz="28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CE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A,CE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G</a:t>
            </a:r>
          </a:p>
        </p:txBody>
      </p:sp>
      <p:sp>
        <p:nvSpPr>
          <p:cNvPr id="552967" name="Rectangle 7">
            <a:extLst>
              <a:ext uri="{FF2B5EF4-FFF2-40B4-BE49-F238E27FC236}">
                <a16:creationId xmlns:a16="http://schemas.microsoft.com/office/drawing/2014/main" id="{E03C330F-9A02-433E-8804-39758E0FFA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zh-CN" altLang="en-US"/>
              <a:t>四、最小函数依赖集</a:t>
            </a:r>
          </a:p>
        </p:txBody>
      </p:sp>
      <p:sp>
        <p:nvSpPr>
          <p:cNvPr id="552968" name="Rectangle 8">
            <a:extLst>
              <a:ext uri="{FF2B5EF4-FFF2-40B4-BE49-F238E27FC236}">
                <a16:creationId xmlns:a16="http://schemas.microsoft.com/office/drawing/2014/main" id="{664CE072-190F-4E0B-B5C2-4D825B8ECA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43158" y="1306551"/>
            <a:ext cx="8234363" cy="4953000"/>
          </a:xfrm>
        </p:spPr>
        <p:txBody>
          <a:bodyPr/>
          <a:lstStyle/>
          <a:p>
            <a:r>
              <a:rPr lang="zh-CN" altLang="en-US" i="1" dirty="0">
                <a:solidFill>
                  <a:srgbClr val="008000"/>
                </a:solidFill>
                <a:latin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6.5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：求函数依赖集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的最小函数依赖集</a:t>
            </a:r>
          </a:p>
        </p:txBody>
      </p:sp>
      <p:sp>
        <p:nvSpPr>
          <p:cNvPr id="552969" name="Line 9">
            <a:extLst>
              <a:ext uri="{FF2B5EF4-FFF2-40B4-BE49-F238E27FC236}">
                <a16:creationId xmlns:a16="http://schemas.microsoft.com/office/drawing/2014/main" id="{8FB1B192-55BB-46F0-9593-33FD87152DEA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9113" y="5013325"/>
            <a:ext cx="935037" cy="0"/>
          </a:xfrm>
          <a:prstGeom prst="line">
            <a:avLst/>
          </a:prstGeom>
          <a:noFill/>
          <a:ln w="38100" cap="sq">
            <a:solidFill>
              <a:srgbClr val="FF0000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2970" name="Text Box 10">
            <a:extLst>
              <a:ext uri="{FF2B5EF4-FFF2-40B4-BE49-F238E27FC236}">
                <a16:creationId xmlns:a16="http://schemas.microsoft.com/office/drawing/2014/main" id="{B91DFE10-38D1-4AD1-AF34-748C759BB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5529263"/>
            <a:ext cx="781050" cy="519112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仿宋_GB2312" charset="-122"/>
                <a:ea typeface="仿宋_GB2312" charset="-122"/>
              </a:rPr>
              <a:t>F</a:t>
            </a:r>
            <a:r>
              <a:rPr lang="en-US" altLang="zh-CN" sz="2800" b="1" baseline="-25000">
                <a:latin typeface="仿宋_GB2312" charset="-122"/>
                <a:ea typeface="仿宋_GB2312" charset="-122"/>
              </a:rPr>
              <a:t>22</a:t>
            </a:r>
            <a:r>
              <a:rPr lang="en-US" altLang="zh-CN" sz="2800" b="1">
                <a:latin typeface="仿宋_GB2312" charset="-122"/>
                <a:ea typeface="仿宋_GB2312" charset="-122"/>
              </a:rPr>
              <a:t>=</a:t>
            </a:r>
          </a:p>
        </p:txBody>
      </p:sp>
      <p:sp>
        <p:nvSpPr>
          <p:cNvPr id="552971" name="AutoShape 11">
            <a:extLst>
              <a:ext uri="{FF2B5EF4-FFF2-40B4-BE49-F238E27FC236}">
                <a16:creationId xmlns:a16="http://schemas.microsoft.com/office/drawing/2014/main" id="{65ECF9C4-72B2-4FDB-A80E-94C6C5293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5111750"/>
            <a:ext cx="4132262" cy="1412875"/>
          </a:xfrm>
          <a:prstGeom prst="bracePair">
            <a:avLst>
              <a:gd name="adj" fmla="val 8333"/>
            </a:avLst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/>
            <a:r>
              <a:rPr lang="en-US" altLang="zh-CN" sz="2400" b="1" dirty="0">
                <a:latin typeface="仿宋_GB2312" charset="-122"/>
                <a:ea typeface="仿宋_GB2312" charset="-122"/>
              </a:rPr>
              <a:t>AB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C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C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A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BC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D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ACD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B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D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E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D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G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BE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C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CG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D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CE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G</a:t>
            </a:r>
          </a:p>
        </p:txBody>
      </p:sp>
      <p:sp>
        <p:nvSpPr>
          <p:cNvPr id="552973" name="Line 13">
            <a:extLst>
              <a:ext uri="{FF2B5EF4-FFF2-40B4-BE49-F238E27FC236}">
                <a16:creationId xmlns:a16="http://schemas.microsoft.com/office/drawing/2014/main" id="{B5E24331-C631-4C08-A2B6-232AE66EBD5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6725" y="2565400"/>
            <a:ext cx="865188" cy="0"/>
          </a:xfrm>
          <a:prstGeom prst="line">
            <a:avLst/>
          </a:prstGeom>
          <a:noFill/>
          <a:ln w="38100" cap="sq">
            <a:solidFill>
              <a:srgbClr val="FF0000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068"/>
    </mc:Choice>
    <mc:Fallback xmlns="">
      <p:transition spd="slow" advTm="3906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529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2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52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552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52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552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1000"/>
                                        <p:tgtEl>
                                          <p:spTgt spid="552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52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62" grpId="0"/>
      <p:bldP spid="552966" grpId="0" animBg="1"/>
      <p:bldP spid="552970" grpId="0"/>
      <p:bldP spid="55297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5">
            <a:extLst>
              <a:ext uri="{FF2B5EF4-FFF2-40B4-BE49-F238E27FC236}">
                <a16:creationId xmlns:a16="http://schemas.microsoft.com/office/drawing/2014/main" id="{E5E2C4B4-D9CD-4511-8CAB-2BC285915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D60B2-01EB-440A-96FC-3F71AC304632}" type="slidenum">
              <a:rPr lang="zh-CN" altLang="en-US"/>
              <a:pPr/>
              <a:t>11</a:t>
            </a:fld>
            <a:endParaRPr lang="en-US" altLang="zh-CN"/>
          </a:p>
        </p:txBody>
      </p:sp>
      <p:sp>
        <p:nvSpPr>
          <p:cNvPr id="557058" name="AutoShape 2">
            <a:extLst>
              <a:ext uri="{FF2B5EF4-FFF2-40B4-BE49-F238E27FC236}">
                <a16:creationId xmlns:a16="http://schemas.microsoft.com/office/drawing/2014/main" id="{0E7DF45A-47FC-4513-B232-42C3F283F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7663" y="2232025"/>
            <a:ext cx="4132262" cy="1412875"/>
          </a:xfrm>
          <a:prstGeom prst="bracePair">
            <a:avLst>
              <a:gd name="adj" fmla="val 8333"/>
            </a:avLst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/>
            <a:r>
              <a:rPr lang="en-US" altLang="zh-CN" sz="2400" b="1" dirty="0">
                <a:latin typeface="仿宋_GB2312" charset="-122"/>
                <a:ea typeface="仿宋_GB2312" charset="-122"/>
              </a:rPr>
              <a:t>AB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C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C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A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BC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D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ACD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B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D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E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D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G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BE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C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CG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D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CE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G</a:t>
            </a:r>
          </a:p>
        </p:txBody>
      </p:sp>
      <p:sp>
        <p:nvSpPr>
          <p:cNvPr id="557059" name="Text Box 3">
            <a:extLst>
              <a:ext uri="{FF2B5EF4-FFF2-40B4-BE49-F238E27FC236}">
                <a16:creationId xmlns:a16="http://schemas.microsoft.com/office/drawing/2014/main" id="{EF6988CD-745B-4220-A2D1-0E3C5BE56D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4763" y="2649538"/>
            <a:ext cx="1314450" cy="519112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仿宋_GB2312" charset="-122"/>
                <a:ea typeface="仿宋_GB2312" charset="-122"/>
              </a:rPr>
              <a:t>③ F</a:t>
            </a:r>
            <a:r>
              <a:rPr lang="en-US" altLang="zh-CN" sz="2800" b="1" baseline="-25000">
                <a:latin typeface="仿宋_GB2312" charset="-122"/>
                <a:ea typeface="仿宋_GB2312" charset="-122"/>
              </a:rPr>
              <a:t>22</a:t>
            </a:r>
            <a:r>
              <a:rPr lang="en-US" altLang="zh-CN" sz="2800" b="1">
                <a:latin typeface="仿宋_GB2312" charset="-122"/>
                <a:ea typeface="仿宋_GB2312" charset="-122"/>
              </a:rPr>
              <a:t>=</a:t>
            </a:r>
          </a:p>
        </p:txBody>
      </p:sp>
      <p:sp>
        <p:nvSpPr>
          <p:cNvPr id="557060" name="Line 4">
            <a:extLst>
              <a:ext uri="{FF2B5EF4-FFF2-40B4-BE49-F238E27FC236}">
                <a16:creationId xmlns:a16="http://schemas.microsoft.com/office/drawing/2014/main" id="{46E1CA0A-F009-4890-8BFA-34BEF696D2AA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2138" y="3213100"/>
            <a:ext cx="1152525" cy="0"/>
          </a:xfrm>
          <a:prstGeom prst="line">
            <a:avLst/>
          </a:prstGeom>
          <a:noFill/>
          <a:ln w="38100" cap="sq">
            <a:solidFill>
              <a:srgbClr val="FF0000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7061" name="Text Box 5">
            <a:extLst>
              <a:ext uri="{FF2B5EF4-FFF2-40B4-BE49-F238E27FC236}">
                <a16:creationId xmlns:a16="http://schemas.microsoft.com/office/drawing/2014/main" id="{A9649A21-6C20-4D7A-B9C1-735E446C40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8438" y="4783138"/>
            <a:ext cx="1016000" cy="519112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仿宋_GB2312" charset="-122"/>
                <a:ea typeface="仿宋_GB2312" charset="-122"/>
              </a:rPr>
              <a:t>  F</a:t>
            </a:r>
            <a:r>
              <a:rPr lang="en-US" altLang="zh-CN" sz="2800" b="1" baseline="-25000">
                <a:latin typeface="仿宋_GB2312" charset="-122"/>
                <a:ea typeface="仿宋_GB2312" charset="-122"/>
              </a:rPr>
              <a:t>3</a:t>
            </a:r>
            <a:r>
              <a:rPr lang="en-US" altLang="zh-CN" sz="2800" b="1">
                <a:latin typeface="仿宋_GB2312" charset="-122"/>
                <a:ea typeface="仿宋_GB2312" charset="-122"/>
              </a:rPr>
              <a:t>=</a:t>
            </a:r>
          </a:p>
        </p:txBody>
      </p:sp>
      <p:sp>
        <p:nvSpPr>
          <p:cNvPr id="557062" name="AutoShape 6">
            <a:extLst>
              <a:ext uri="{FF2B5EF4-FFF2-40B4-BE49-F238E27FC236}">
                <a16:creationId xmlns:a16="http://schemas.microsoft.com/office/drawing/2014/main" id="{72D61FD3-6B06-4574-943E-CC47541B9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4638" y="4294188"/>
            <a:ext cx="4205287" cy="1511300"/>
          </a:xfrm>
          <a:prstGeom prst="bracePair">
            <a:avLst>
              <a:gd name="adj" fmla="val 8333"/>
            </a:avLst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>
            <a:outerShdw dist="1796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just"/>
            <a:r>
              <a:rPr lang="en-US" altLang="zh-CN" sz="2400" b="1" dirty="0">
                <a:latin typeface="仿宋_GB2312" charset="-122"/>
                <a:ea typeface="仿宋_GB2312" charset="-122"/>
              </a:rPr>
              <a:t>AB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C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C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A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BC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D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</a:p>
          <a:p>
            <a:pPr algn="just"/>
            <a:r>
              <a:rPr lang="en-US" altLang="zh-CN" sz="2400" b="1" dirty="0">
                <a:latin typeface="仿宋_GB2312" charset="-122"/>
                <a:ea typeface="仿宋_GB2312" charset="-122"/>
              </a:rPr>
              <a:t>CD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B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D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E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D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G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</a:p>
          <a:p>
            <a:pPr algn="just"/>
            <a:r>
              <a:rPr lang="en-US" altLang="zh-CN" sz="2400" b="1" dirty="0">
                <a:latin typeface="仿宋_GB2312" charset="-122"/>
                <a:ea typeface="仿宋_GB2312" charset="-122"/>
              </a:rPr>
              <a:t>BE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C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CG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D</a:t>
            </a:r>
            <a:r>
              <a:rPr lang="zh-CN" altLang="en-US" sz="2400" b="1" dirty="0">
                <a:latin typeface="仿宋_GB2312" charset="-122"/>
                <a:ea typeface="仿宋_GB2312" charset="-122"/>
              </a:rPr>
              <a:t>，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CE</a:t>
            </a:r>
            <a:r>
              <a:rPr lang="en-US" altLang="zh-CN" sz="2400" b="1" dirty="0">
                <a:latin typeface="仿宋_GB2312" charset="-122"/>
                <a:ea typeface="仿宋_GB2312" charset="-122"/>
                <a:sym typeface="Symbol" panose="05050102010706020507" pitchFamily="18" charset="2"/>
              </a:rPr>
              <a:t></a:t>
            </a:r>
            <a:r>
              <a:rPr lang="en-US" altLang="zh-CN" sz="2400" b="1" dirty="0">
                <a:latin typeface="仿宋_GB2312" charset="-122"/>
                <a:ea typeface="仿宋_GB2312" charset="-122"/>
              </a:rPr>
              <a:t>G</a:t>
            </a:r>
          </a:p>
        </p:txBody>
      </p:sp>
      <p:sp>
        <p:nvSpPr>
          <p:cNvPr id="557063" name="Line 7">
            <a:extLst>
              <a:ext uri="{FF2B5EF4-FFF2-40B4-BE49-F238E27FC236}">
                <a16:creationId xmlns:a16="http://schemas.microsoft.com/office/drawing/2014/main" id="{8225F333-B9E7-4068-8519-916563E8EE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03563" y="5229225"/>
            <a:ext cx="892175" cy="14288"/>
          </a:xfrm>
          <a:prstGeom prst="line">
            <a:avLst/>
          </a:prstGeom>
          <a:noFill/>
          <a:ln w="38100" cap="sq">
            <a:solidFill>
              <a:srgbClr val="FF0000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7064" name="Rectangle 8">
            <a:extLst>
              <a:ext uri="{FF2B5EF4-FFF2-40B4-BE49-F238E27FC236}">
                <a16:creationId xmlns:a16="http://schemas.microsoft.com/office/drawing/2014/main" id="{A00805A8-E278-4324-9D6F-CB58D900A4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zh-CN" altLang="en-US"/>
              <a:t>四、最小函数依赖集</a:t>
            </a:r>
          </a:p>
        </p:txBody>
      </p:sp>
      <p:sp>
        <p:nvSpPr>
          <p:cNvPr id="557065" name="Rectangle 9">
            <a:extLst>
              <a:ext uri="{FF2B5EF4-FFF2-40B4-BE49-F238E27FC236}">
                <a16:creationId xmlns:a16="http://schemas.microsoft.com/office/drawing/2014/main" id="{6E382A6D-C24E-4A06-8AD6-CE5B1815F5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4818" y="1246187"/>
            <a:ext cx="8234363" cy="4953000"/>
          </a:xfrm>
        </p:spPr>
        <p:txBody>
          <a:bodyPr/>
          <a:lstStyle/>
          <a:p>
            <a:r>
              <a:rPr lang="zh-CN" altLang="en-US" i="1" dirty="0">
                <a:solidFill>
                  <a:srgbClr val="008000"/>
                </a:solidFill>
                <a:latin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6.5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：求函数依赖集</a:t>
            </a:r>
            <a:r>
              <a:rPr lang="en-US" altLang="zh-CN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 dirty="0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的最小函数依赖集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435"/>
    </mc:Choice>
    <mc:Fallback xmlns="">
      <p:transition spd="slow" advTm="4343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57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7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57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557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7061" grpId="0"/>
      <p:bldP spid="55706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灯片编号占位符 5">
            <a:extLst>
              <a:ext uri="{FF2B5EF4-FFF2-40B4-BE49-F238E27FC236}">
                <a16:creationId xmlns:a16="http://schemas.microsoft.com/office/drawing/2014/main" id="{FC0C9254-CC6E-4EE0-8483-6DBCB6D05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B8CF3F-BF8D-4F45-9C8D-A97716756EF0}" type="slidenum">
              <a:rPr lang="zh-CN" altLang="en-US"/>
              <a:pPr/>
              <a:t>12</a:t>
            </a:fld>
            <a:endParaRPr lang="en-US" altLang="zh-CN"/>
          </a:p>
        </p:txBody>
      </p:sp>
      <p:sp>
        <p:nvSpPr>
          <p:cNvPr id="559106" name="Rectangle 2">
            <a:extLst>
              <a:ext uri="{FF2B5EF4-FFF2-40B4-BE49-F238E27FC236}">
                <a16:creationId xmlns:a16="http://schemas.microsoft.com/office/drawing/2014/main" id="{4245DC59-833F-4390-909C-934C4D8270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四、最小函数依赖集</a:t>
            </a:r>
          </a:p>
        </p:txBody>
      </p:sp>
      <p:sp>
        <p:nvSpPr>
          <p:cNvPr id="559107" name="Rectangle 3">
            <a:extLst>
              <a:ext uri="{FF2B5EF4-FFF2-40B4-BE49-F238E27FC236}">
                <a16:creationId xmlns:a16="http://schemas.microsoft.com/office/drawing/2014/main" id="{3BDE0EBB-220D-4233-BB15-7A9A7D29E7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zh-CN" altLang="en-US" i="1">
                <a:solidFill>
                  <a:srgbClr val="008000"/>
                </a:solidFill>
                <a:latin typeface="楷体_GB2312" pitchFamily="49" charset="-122"/>
                <a:cs typeface="Times New Roman" panose="02020603050405020304" pitchFamily="18" charset="0"/>
              </a:rPr>
              <a:t>例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：求</a:t>
            </a:r>
            <a:r>
              <a:rPr lang="en-US" altLang="zh-CN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F</a:t>
            </a:r>
            <a:r>
              <a:rPr lang="zh-CN" altLang="en-US">
                <a:solidFill>
                  <a:srgbClr val="000000"/>
                </a:solidFill>
                <a:latin typeface="楷体_GB2312" pitchFamily="49" charset="-122"/>
                <a:cs typeface="Times New Roman" panose="02020603050405020304" pitchFamily="18" charset="0"/>
              </a:rPr>
              <a:t>的最小函数依赖集</a:t>
            </a:r>
          </a:p>
          <a:p>
            <a:r>
              <a:rPr lang="en-US" altLang="zh-CN">
                <a:latin typeface="楷体_GB2312" pitchFamily="49" charset="-122"/>
                <a:cs typeface="Times New Roman" panose="02020603050405020304" pitchFamily="18" charset="0"/>
              </a:rPr>
              <a:t>R(</a:t>
            </a:r>
            <a:r>
              <a:rPr lang="zh-CN" altLang="en-US">
                <a:latin typeface="楷体_GB2312" pitchFamily="49" charset="-122"/>
                <a:cs typeface="Times New Roman" panose="02020603050405020304" pitchFamily="18" charset="0"/>
              </a:rPr>
              <a:t>教员，教研室，课程号，课程名</a:t>
            </a:r>
            <a:r>
              <a:rPr lang="en-US" altLang="zh-CN">
                <a:latin typeface="楷体_GB2312" pitchFamily="49" charset="-122"/>
                <a:cs typeface="Times New Roman" panose="02020603050405020304" pitchFamily="18" charset="0"/>
              </a:rPr>
              <a:t>)</a:t>
            </a:r>
            <a:endParaRPr lang="zh-CN" altLang="en-US"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59108" name="Group 4">
            <a:extLst>
              <a:ext uri="{FF2B5EF4-FFF2-40B4-BE49-F238E27FC236}">
                <a16:creationId xmlns:a16="http://schemas.microsoft.com/office/drawing/2014/main" id="{AE1CC034-58A7-4CEB-8215-E7567FB2E504}"/>
              </a:ext>
            </a:extLst>
          </p:cNvPr>
          <p:cNvGraphicFramePr>
            <a:graphicFrameLocks noGrp="1"/>
          </p:cNvGraphicFramePr>
          <p:nvPr/>
        </p:nvGraphicFramePr>
        <p:xfrm>
          <a:off x="1279525" y="2779713"/>
          <a:ext cx="6577013" cy="3241676"/>
        </p:xfrm>
        <a:graphic>
          <a:graphicData uri="http://schemas.openxmlformats.org/drawingml/2006/table">
            <a:tbl>
              <a:tblPr/>
              <a:tblGrid>
                <a:gridCol w="1387475">
                  <a:extLst>
                    <a:ext uri="{9D8B030D-6E8A-4147-A177-3AD203B41FA5}">
                      <a16:colId xmlns:a16="http://schemas.microsoft.com/office/drawing/2014/main" val="1407396084"/>
                    </a:ext>
                  </a:extLst>
                </a:gridCol>
                <a:gridCol w="1493838">
                  <a:extLst>
                    <a:ext uri="{9D8B030D-6E8A-4147-A177-3AD203B41FA5}">
                      <a16:colId xmlns:a16="http://schemas.microsoft.com/office/drawing/2014/main" val="3004575208"/>
                    </a:ext>
                  </a:extLst>
                </a:gridCol>
                <a:gridCol w="1606550">
                  <a:extLst>
                    <a:ext uri="{9D8B030D-6E8A-4147-A177-3AD203B41FA5}">
                      <a16:colId xmlns:a16="http://schemas.microsoft.com/office/drawing/2014/main" val="3767561647"/>
                    </a:ext>
                  </a:extLst>
                </a:gridCol>
                <a:gridCol w="2089150">
                  <a:extLst>
                    <a:ext uri="{9D8B030D-6E8A-4147-A177-3AD203B41FA5}">
                      <a16:colId xmlns:a16="http://schemas.microsoft.com/office/drawing/2014/main" val="2173278089"/>
                    </a:ext>
                  </a:extLst>
                </a:gridCol>
              </a:tblGrid>
              <a:tr h="5413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  <a:cs typeface="Times New Roman" panose="02020603050405020304" pitchFamily="18" charset="0"/>
                        </a:rPr>
                        <a:t>教员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  <a:cs typeface="Times New Roman" panose="02020603050405020304" pitchFamily="18" charset="0"/>
                        </a:rPr>
                        <a:t>教研室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  <a:cs typeface="Times New Roman" panose="02020603050405020304" pitchFamily="18" charset="0"/>
                        </a:rPr>
                        <a:t>课程号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99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  <a:cs typeface="Times New Roman" panose="02020603050405020304" pitchFamily="18" charset="0"/>
                        </a:rPr>
                        <a:t>课程名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3713387"/>
                  </a:ext>
                </a:extLst>
              </a:tr>
              <a:tr h="5397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徐浩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402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</a:rPr>
                        <a:t>c1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信息系统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7861127"/>
                  </a:ext>
                </a:extLst>
              </a:tr>
              <a:tr h="541338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徐浩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402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</a:rPr>
                        <a:t>c2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数据库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8201927"/>
                  </a:ext>
                </a:extLst>
              </a:tr>
              <a:tr h="5397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张国庆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402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</a:rPr>
                        <a:t>c2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数据库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943337"/>
                  </a:ext>
                </a:extLst>
              </a:tr>
              <a:tr h="5397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张国庆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402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</a:rPr>
                        <a:t>c3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VFP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设计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0159694"/>
                  </a:ext>
                </a:extLst>
              </a:tr>
              <a:tr h="539750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李阳洋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403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楷体_GB2312" pitchFamily="49" charset="-122"/>
                          <a:ea typeface="楷体_GB2312" pitchFamily="49" charset="-122"/>
                        </a:rPr>
                        <a:t>c6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1pPr>
                      <a:lvl2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2pPr>
                      <a:lvl3pPr>
                        <a:lnSpc>
                          <a:spcPct val="120000"/>
                        </a:lnSpc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3pPr>
                      <a:lvl4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4pPr>
                      <a:lvl5pPr>
                        <a:lnSpc>
                          <a:spcPct val="120000"/>
                        </a:lnSpc>
                        <a:spcBef>
                          <a:spcPct val="20000"/>
                        </a:spcBef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5pPr>
                      <a:lvl6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6pPr>
                      <a:lvl7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7pPr>
                      <a:lvl8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8pPr>
                      <a:lvl9pPr fontAlgn="base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defRPr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9900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49" charset="-122"/>
                        </a:rPr>
                        <a:t>通信原理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4228044"/>
                  </a:ext>
                </a:extLst>
              </a:tr>
            </a:tbl>
          </a:graphicData>
        </a:graphic>
      </p:graphicFrame>
      <p:sp>
        <p:nvSpPr>
          <p:cNvPr id="559145" name="AutoShape 41">
            <a:extLst>
              <a:ext uri="{FF2B5EF4-FFF2-40B4-BE49-F238E27FC236}">
                <a16:creationId xmlns:a16="http://schemas.microsoft.com/office/drawing/2014/main" id="{31541227-7B09-4678-8A92-D354E579A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4425" y="2060575"/>
            <a:ext cx="7273925" cy="3313113"/>
          </a:xfrm>
          <a:prstGeom prst="wedgeRoundRectCallout">
            <a:avLst>
              <a:gd name="adj1" fmla="val -40375"/>
              <a:gd name="adj2" fmla="val -54981"/>
              <a:gd name="adj3" fmla="val 16667"/>
            </a:avLst>
          </a:prstGeom>
          <a:gradFill rotWithShape="1">
            <a:gsLst>
              <a:gs pos="0">
                <a:srgbClr val="C9E5FF">
                  <a:gamma/>
                  <a:tint val="0"/>
                  <a:invGamma/>
                </a:srgbClr>
              </a:gs>
              <a:gs pos="100000">
                <a:srgbClr val="C9E5FF"/>
              </a:gs>
            </a:gsLst>
            <a:path path="rect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F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Comic Sans MS" panose="030F0702030302020204" pitchFamily="66" charset="0"/>
              </a:rPr>
              <a:t>1</a:t>
            </a:r>
            <a:r>
              <a:rPr kumimoji="1" lang="zh-CN" altLang="en-US" sz="2800" b="1">
                <a:solidFill>
                  <a:srgbClr val="000000"/>
                </a:solidFill>
                <a:latin typeface="Comic Sans MS" panose="030F0702030302020204" pitchFamily="66" charset="0"/>
              </a:rPr>
              <a:t>＝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{  </a:t>
            </a:r>
            <a:r>
              <a:rPr kumimoji="1" lang="zh-CN" altLang="en-US" sz="2800" b="1">
                <a:solidFill>
                  <a:srgbClr val="000000"/>
                </a:solidFill>
                <a:latin typeface="Comic Sans MS" panose="030F0702030302020204" pitchFamily="66" charset="0"/>
              </a:rPr>
              <a:t>教员</a:t>
            </a:r>
            <a:r>
              <a:rPr kumimoji="1" lang="zh-CN" altLang="en-US" sz="2800" b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 </a:t>
            </a:r>
            <a:r>
              <a:rPr kumimoji="1" lang="zh-CN" altLang="en-US" sz="2800" b="1">
                <a:solidFill>
                  <a:srgbClr val="000000"/>
                </a:solidFill>
                <a:latin typeface="Comic Sans MS" panose="030F0702030302020204" pitchFamily="66" charset="0"/>
              </a:rPr>
              <a:t>教研室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,</a:t>
            </a:r>
          </a:p>
          <a:p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       </a:t>
            </a:r>
            <a:r>
              <a:rPr kumimoji="1" lang="zh-CN" altLang="en-US" sz="2800" b="1">
                <a:solidFill>
                  <a:srgbClr val="000000"/>
                </a:solidFill>
                <a:latin typeface="Comic Sans MS" panose="030F0702030302020204" pitchFamily="66" charset="0"/>
              </a:rPr>
              <a:t>课程号</a:t>
            </a:r>
            <a:r>
              <a:rPr kumimoji="1" lang="zh-CN" altLang="en-US" sz="2800" b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 </a:t>
            </a:r>
            <a:r>
              <a:rPr kumimoji="1" lang="zh-CN" altLang="en-US" sz="2800" b="1">
                <a:solidFill>
                  <a:srgbClr val="000000"/>
                </a:solidFill>
                <a:latin typeface="Comic Sans MS" panose="030F0702030302020204" pitchFamily="66" charset="0"/>
              </a:rPr>
              <a:t>课程名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, </a:t>
            </a:r>
          </a:p>
          <a:p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       {</a:t>
            </a:r>
            <a:r>
              <a:rPr kumimoji="1" lang="zh-CN" altLang="en-US" sz="2800" b="1">
                <a:solidFill>
                  <a:srgbClr val="000000"/>
                </a:solidFill>
                <a:latin typeface="Comic Sans MS" panose="030F0702030302020204" pitchFamily="66" charset="0"/>
              </a:rPr>
              <a:t>教员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,</a:t>
            </a:r>
            <a:r>
              <a:rPr kumimoji="1" lang="zh-CN" altLang="en-US" sz="2800" b="1">
                <a:solidFill>
                  <a:srgbClr val="000000"/>
                </a:solidFill>
                <a:latin typeface="Comic Sans MS" panose="030F0702030302020204" pitchFamily="66" charset="0"/>
              </a:rPr>
              <a:t>课程号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} 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 </a:t>
            </a:r>
            <a:r>
              <a:rPr kumimoji="1" lang="zh-CN" altLang="en-US" sz="2800" b="1">
                <a:solidFill>
                  <a:srgbClr val="000000"/>
                </a:solidFill>
                <a:latin typeface="Comic Sans MS" panose="030F0702030302020204" pitchFamily="66" charset="0"/>
              </a:rPr>
              <a:t>教研室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, </a:t>
            </a:r>
          </a:p>
          <a:p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       {</a:t>
            </a:r>
            <a:r>
              <a:rPr kumimoji="1" lang="zh-CN" altLang="en-US" sz="2800" b="1">
                <a:solidFill>
                  <a:srgbClr val="000000"/>
                </a:solidFill>
                <a:latin typeface="Comic Sans MS" panose="030F0702030302020204" pitchFamily="66" charset="0"/>
              </a:rPr>
              <a:t>教员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,</a:t>
            </a:r>
            <a:r>
              <a:rPr kumimoji="1" lang="zh-CN" altLang="en-US" sz="2800" b="1">
                <a:solidFill>
                  <a:srgbClr val="000000"/>
                </a:solidFill>
                <a:latin typeface="Comic Sans MS" panose="030F0702030302020204" pitchFamily="66" charset="0"/>
              </a:rPr>
              <a:t>课程号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} 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 {</a:t>
            </a:r>
            <a:r>
              <a:rPr kumimoji="1" lang="zh-CN" altLang="en-US" sz="2800" b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教员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,</a:t>
            </a:r>
            <a:r>
              <a:rPr kumimoji="1" lang="zh-CN" altLang="en-US" sz="2800" b="1">
                <a:solidFill>
                  <a:srgbClr val="000000"/>
                </a:solidFill>
                <a:latin typeface="Comic Sans MS" panose="030F0702030302020204" pitchFamily="66" charset="0"/>
              </a:rPr>
              <a:t>课程名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},</a:t>
            </a:r>
          </a:p>
          <a:p>
            <a:r>
              <a:rPr kumimoji="1" lang="zh-CN" altLang="en-US" sz="2800" b="1">
                <a:solidFill>
                  <a:srgbClr val="000000"/>
                </a:solidFill>
                <a:latin typeface="Comic Sans MS" panose="030F0702030302020204" pitchFamily="66" charset="0"/>
              </a:rPr>
              <a:t>　　　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{</a:t>
            </a:r>
            <a:r>
              <a:rPr kumimoji="1" lang="zh-CN" altLang="en-US" sz="2800" b="1">
                <a:solidFill>
                  <a:srgbClr val="000000"/>
                </a:solidFill>
                <a:latin typeface="Comic Sans MS" panose="030F0702030302020204" pitchFamily="66" charset="0"/>
              </a:rPr>
              <a:t>教员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,</a:t>
            </a:r>
            <a:r>
              <a:rPr kumimoji="1" lang="zh-CN" altLang="en-US" sz="2800" b="1">
                <a:solidFill>
                  <a:srgbClr val="000000"/>
                </a:solidFill>
                <a:latin typeface="Comic Sans MS" panose="030F0702030302020204" pitchFamily="66" charset="0"/>
              </a:rPr>
              <a:t>教研室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} 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</a:t>
            </a:r>
            <a:r>
              <a:rPr kumimoji="1" lang="zh-CN" altLang="en-US" sz="2800" b="1">
                <a:solidFill>
                  <a:srgbClr val="000000"/>
                </a:solidFill>
                <a:latin typeface="Comic Sans MS" panose="030F0702030302020204" pitchFamily="66" charset="0"/>
              </a:rPr>
              <a:t>教研室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,</a:t>
            </a:r>
          </a:p>
          <a:p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       {</a:t>
            </a:r>
            <a:r>
              <a:rPr kumimoji="1" lang="zh-CN" altLang="en-US" sz="2800" b="1">
                <a:solidFill>
                  <a:srgbClr val="000000"/>
                </a:solidFill>
                <a:latin typeface="Comic Sans MS" panose="030F0702030302020204" pitchFamily="66" charset="0"/>
              </a:rPr>
              <a:t>课程号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,</a:t>
            </a:r>
            <a:r>
              <a:rPr kumimoji="1" lang="zh-CN" altLang="en-US" sz="2800" b="1">
                <a:solidFill>
                  <a:srgbClr val="000000"/>
                </a:solidFill>
                <a:latin typeface="Comic Sans MS" panose="030F0702030302020204" pitchFamily="66" charset="0"/>
              </a:rPr>
              <a:t>课程名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} 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 </a:t>
            </a:r>
            <a:r>
              <a:rPr kumimoji="1" lang="zh-CN" altLang="en-US" sz="2800" b="1">
                <a:solidFill>
                  <a:srgbClr val="000000"/>
                </a:solidFill>
                <a:latin typeface="Comic Sans MS" panose="030F0702030302020204" pitchFamily="66" charset="0"/>
              </a:rPr>
              <a:t>课程号 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}</a:t>
            </a:r>
          </a:p>
        </p:txBody>
      </p:sp>
      <p:sp>
        <p:nvSpPr>
          <p:cNvPr id="559146" name="AutoShape 42">
            <a:extLst>
              <a:ext uri="{FF2B5EF4-FFF2-40B4-BE49-F238E27FC236}">
                <a16:creationId xmlns:a16="http://schemas.microsoft.com/office/drawing/2014/main" id="{D2BB5A49-9D0F-4F2A-87C5-6F4B7AFF3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4425" y="2060575"/>
            <a:ext cx="7273925" cy="4105275"/>
          </a:xfrm>
          <a:prstGeom prst="wedgeRoundRectCallout">
            <a:avLst>
              <a:gd name="adj1" fmla="val -39569"/>
              <a:gd name="adj2" fmla="val -49769"/>
              <a:gd name="adj3" fmla="val 16667"/>
            </a:avLst>
          </a:prstGeom>
          <a:gradFill rotWithShape="1">
            <a:gsLst>
              <a:gs pos="0">
                <a:srgbClr val="C9E5FF">
                  <a:gamma/>
                  <a:tint val="0"/>
                  <a:invGamma/>
                </a:srgbClr>
              </a:gs>
              <a:gs pos="100000">
                <a:srgbClr val="C9E5FF"/>
              </a:gs>
            </a:gsLst>
            <a:path path="rect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F</a:t>
            </a:r>
            <a:r>
              <a:rPr kumimoji="1" lang="en-US" altLang="zh-CN" sz="2800" b="1" baseline="-25000">
                <a:solidFill>
                  <a:srgbClr val="000000"/>
                </a:solidFill>
                <a:latin typeface="Comic Sans MS" panose="030F0702030302020204" pitchFamily="66" charset="0"/>
              </a:rPr>
              <a:t>11</a:t>
            </a:r>
            <a:r>
              <a:rPr kumimoji="1" lang="zh-CN" altLang="en-US" sz="2800" b="1">
                <a:solidFill>
                  <a:srgbClr val="000000"/>
                </a:solidFill>
                <a:latin typeface="Comic Sans MS" panose="030F0702030302020204" pitchFamily="66" charset="0"/>
              </a:rPr>
              <a:t>＝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{  </a:t>
            </a:r>
            <a:r>
              <a:rPr kumimoji="1" lang="zh-CN" altLang="en-US" sz="2800" b="1">
                <a:solidFill>
                  <a:srgbClr val="000000"/>
                </a:solidFill>
                <a:latin typeface="Comic Sans MS" panose="030F0702030302020204" pitchFamily="66" charset="0"/>
              </a:rPr>
              <a:t>教员</a:t>
            </a:r>
            <a:r>
              <a:rPr kumimoji="1" lang="zh-CN" altLang="en-US" sz="2800" b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 </a:t>
            </a:r>
            <a:r>
              <a:rPr kumimoji="1" lang="zh-CN" altLang="en-US" sz="2800" b="1">
                <a:solidFill>
                  <a:srgbClr val="000000"/>
                </a:solidFill>
                <a:latin typeface="Comic Sans MS" panose="030F0702030302020204" pitchFamily="66" charset="0"/>
              </a:rPr>
              <a:t>教研室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,</a:t>
            </a:r>
          </a:p>
          <a:p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       </a:t>
            </a:r>
            <a:r>
              <a:rPr kumimoji="1" lang="zh-CN" altLang="en-US" sz="2800" b="1">
                <a:solidFill>
                  <a:srgbClr val="000000"/>
                </a:solidFill>
                <a:latin typeface="Comic Sans MS" panose="030F0702030302020204" pitchFamily="66" charset="0"/>
              </a:rPr>
              <a:t>课程号</a:t>
            </a:r>
            <a:r>
              <a:rPr kumimoji="1" lang="zh-CN" altLang="en-US" sz="2800" b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 </a:t>
            </a:r>
            <a:r>
              <a:rPr kumimoji="1" lang="zh-CN" altLang="en-US" sz="2800" b="1">
                <a:solidFill>
                  <a:srgbClr val="000000"/>
                </a:solidFill>
                <a:latin typeface="Comic Sans MS" panose="030F0702030302020204" pitchFamily="66" charset="0"/>
              </a:rPr>
              <a:t>课程名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, </a:t>
            </a:r>
          </a:p>
          <a:p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       {</a:t>
            </a:r>
            <a:r>
              <a:rPr kumimoji="1" lang="zh-CN" altLang="en-US" sz="2800" b="1">
                <a:solidFill>
                  <a:srgbClr val="000000"/>
                </a:solidFill>
                <a:latin typeface="Comic Sans MS" panose="030F0702030302020204" pitchFamily="66" charset="0"/>
              </a:rPr>
              <a:t>教员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,</a:t>
            </a:r>
            <a:r>
              <a:rPr kumimoji="1" lang="zh-CN" altLang="en-US" sz="2800" b="1">
                <a:solidFill>
                  <a:srgbClr val="000000"/>
                </a:solidFill>
                <a:latin typeface="Comic Sans MS" panose="030F0702030302020204" pitchFamily="66" charset="0"/>
              </a:rPr>
              <a:t>课程号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} 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 </a:t>
            </a:r>
            <a:r>
              <a:rPr kumimoji="1" lang="zh-CN" altLang="en-US" sz="2800" b="1">
                <a:solidFill>
                  <a:srgbClr val="000000"/>
                </a:solidFill>
                <a:latin typeface="Comic Sans MS" panose="030F0702030302020204" pitchFamily="66" charset="0"/>
              </a:rPr>
              <a:t>教研室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, </a:t>
            </a:r>
          </a:p>
          <a:p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       {</a:t>
            </a:r>
            <a:r>
              <a:rPr kumimoji="1" lang="zh-CN" altLang="en-US" sz="2800" b="1">
                <a:solidFill>
                  <a:srgbClr val="000000"/>
                </a:solidFill>
                <a:latin typeface="Comic Sans MS" panose="030F0702030302020204" pitchFamily="66" charset="0"/>
              </a:rPr>
              <a:t>教员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,</a:t>
            </a:r>
            <a:r>
              <a:rPr kumimoji="1" lang="zh-CN" altLang="en-US" sz="2800" b="1">
                <a:solidFill>
                  <a:srgbClr val="000000"/>
                </a:solidFill>
                <a:latin typeface="Comic Sans MS" panose="030F0702030302020204" pitchFamily="66" charset="0"/>
              </a:rPr>
              <a:t>课程号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} 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 </a:t>
            </a:r>
            <a:r>
              <a:rPr kumimoji="1" lang="zh-CN" altLang="en-US" sz="2800" b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教员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,</a:t>
            </a:r>
          </a:p>
          <a:p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       {</a:t>
            </a:r>
            <a:r>
              <a:rPr kumimoji="1" lang="zh-CN" altLang="en-US" sz="2800" b="1">
                <a:solidFill>
                  <a:srgbClr val="000000"/>
                </a:solidFill>
                <a:latin typeface="Comic Sans MS" panose="030F0702030302020204" pitchFamily="66" charset="0"/>
              </a:rPr>
              <a:t>教员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,</a:t>
            </a:r>
            <a:r>
              <a:rPr kumimoji="1" lang="zh-CN" altLang="en-US" sz="2800" b="1">
                <a:solidFill>
                  <a:srgbClr val="000000"/>
                </a:solidFill>
                <a:latin typeface="Comic Sans MS" panose="030F0702030302020204" pitchFamily="66" charset="0"/>
              </a:rPr>
              <a:t>课程号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} 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 </a:t>
            </a:r>
            <a:r>
              <a:rPr kumimoji="1" lang="zh-CN" altLang="en-US" sz="2800" b="1">
                <a:solidFill>
                  <a:srgbClr val="000000"/>
                </a:solidFill>
                <a:latin typeface="Comic Sans MS" panose="030F0702030302020204" pitchFamily="66" charset="0"/>
              </a:rPr>
              <a:t>课程名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,</a:t>
            </a:r>
          </a:p>
          <a:p>
            <a:r>
              <a:rPr kumimoji="1" lang="zh-CN" altLang="en-US" sz="2800" b="1">
                <a:solidFill>
                  <a:srgbClr val="000000"/>
                </a:solidFill>
                <a:latin typeface="Comic Sans MS" panose="030F0702030302020204" pitchFamily="66" charset="0"/>
              </a:rPr>
              <a:t>　　　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{</a:t>
            </a:r>
            <a:r>
              <a:rPr kumimoji="1" lang="zh-CN" altLang="en-US" sz="2800" b="1">
                <a:solidFill>
                  <a:srgbClr val="000000"/>
                </a:solidFill>
                <a:latin typeface="Comic Sans MS" panose="030F0702030302020204" pitchFamily="66" charset="0"/>
              </a:rPr>
              <a:t>教员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,</a:t>
            </a:r>
            <a:r>
              <a:rPr kumimoji="1" lang="zh-CN" altLang="en-US" sz="2800" b="1">
                <a:solidFill>
                  <a:srgbClr val="000000"/>
                </a:solidFill>
                <a:latin typeface="Comic Sans MS" panose="030F0702030302020204" pitchFamily="66" charset="0"/>
              </a:rPr>
              <a:t>教研室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} 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 </a:t>
            </a:r>
            <a:r>
              <a:rPr kumimoji="1" lang="zh-CN" altLang="en-US" sz="2800" b="1">
                <a:solidFill>
                  <a:srgbClr val="000000"/>
                </a:solidFill>
                <a:latin typeface="Comic Sans MS" panose="030F0702030302020204" pitchFamily="66" charset="0"/>
              </a:rPr>
              <a:t>教研室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,</a:t>
            </a:r>
          </a:p>
          <a:p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       {</a:t>
            </a:r>
            <a:r>
              <a:rPr kumimoji="1" lang="zh-CN" altLang="en-US" sz="2800" b="1">
                <a:solidFill>
                  <a:srgbClr val="000000"/>
                </a:solidFill>
                <a:latin typeface="Comic Sans MS" panose="030F0702030302020204" pitchFamily="66" charset="0"/>
              </a:rPr>
              <a:t>课程号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,</a:t>
            </a:r>
            <a:r>
              <a:rPr kumimoji="1" lang="zh-CN" altLang="en-US" sz="2800" b="1">
                <a:solidFill>
                  <a:srgbClr val="000000"/>
                </a:solidFill>
                <a:latin typeface="Comic Sans MS" panose="030F0702030302020204" pitchFamily="66" charset="0"/>
              </a:rPr>
              <a:t>课程名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} 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 </a:t>
            </a:r>
            <a:r>
              <a:rPr kumimoji="1" lang="zh-CN" altLang="en-US" sz="2800" b="1">
                <a:solidFill>
                  <a:srgbClr val="000000"/>
                </a:solidFill>
                <a:latin typeface="Comic Sans MS" panose="030F0702030302020204" pitchFamily="66" charset="0"/>
              </a:rPr>
              <a:t>课程号 </a:t>
            </a:r>
            <a:r>
              <a:rPr kumimoji="1" lang="en-US" altLang="zh-CN" sz="2800" b="1">
                <a:solidFill>
                  <a:srgbClr val="000000"/>
                </a:solidFill>
                <a:latin typeface="Comic Sans MS" panose="030F0702030302020204" pitchFamily="66" charset="0"/>
              </a:rPr>
              <a:t>}</a:t>
            </a:r>
          </a:p>
        </p:txBody>
      </p:sp>
      <p:sp>
        <p:nvSpPr>
          <p:cNvPr id="559147" name="Line 43">
            <a:extLst>
              <a:ext uri="{FF2B5EF4-FFF2-40B4-BE49-F238E27FC236}">
                <a16:creationId xmlns:a16="http://schemas.microsoft.com/office/drawing/2014/main" id="{5817D8E6-9EA4-4616-85BB-A819CF247C3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3644900"/>
            <a:ext cx="4608513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9148" name="Line 44">
            <a:extLst>
              <a:ext uri="{FF2B5EF4-FFF2-40B4-BE49-F238E27FC236}">
                <a16:creationId xmlns:a16="http://schemas.microsoft.com/office/drawing/2014/main" id="{C2254864-16F7-4203-9229-4D788083C82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4076700"/>
            <a:ext cx="4608513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9149" name="Line 45">
            <a:extLst>
              <a:ext uri="{FF2B5EF4-FFF2-40B4-BE49-F238E27FC236}">
                <a16:creationId xmlns:a16="http://schemas.microsoft.com/office/drawing/2014/main" id="{32E78C89-23E8-4DEB-B534-749C3801C3C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4508500"/>
            <a:ext cx="4608513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9150" name="Line 46">
            <a:extLst>
              <a:ext uri="{FF2B5EF4-FFF2-40B4-BE49-F238E27FC236}">
                <a16:creationId xmlns:a16="http://schemas.microsoft.com/office/drawing/2014/main" id="{F41D3BC6-6FB1-4686-AB2A-54CC933E819C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4941888"/>
            <a:ext cx="4608513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9151" name="Line 47">
            <a:extLst>
              <a:ext uri="{FF2B5EF4-FFF2-40B4-BE49-F238E27FC236}">
                <a16:creationId xmlns:a16="http://schemas.microsoft.com/office/drawing/2014/main" id="{9A531E0B-974F-45CA-8DD0-1164E97B85C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5373688"/>
            <a:ext cx="4608513" cy="0"/>
          </a:xfrm>
          <a:prstGeom prst="line">
            <a:avLst/>
          </a:prstGeom>
          <a:noFill/>
          <a:ln w="28575" cap="sq">
            <a:solidFill>
              <a:srgbClr val="FF0000"/>
            </a:solidFill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59152" name="AutoShape 48">
            <a:extLst>
              <a:ext uri="{FF2B5EF4-FFF2-40B4-BE49-F238E27FC236}">
                <a16:creationId xmlns:a16="http://schemas.microsoft.com/office/drawing/2014/main" id="{9AA9C5E3-9487-4DFC-80FC-6DD80564F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213100"/>
            <a:ext cx="8351838" cy="1152525"/>
          </a:xfrm>
          <a:prstGeom prst="foldedCorner">
            <a:avLst>
              <a:gd name="adj" fmla="val 12500"/>
            </a:avLst>
          </a:prstGeom>
          <a:solidFill>
            <a:srgbClr val="003366"/>
          </a:solidFill>
          <a:ln w="12700" cap="sq">
            <a:solidFill>
              <a:srgbClr val="000066"/>
            </a:solidFill>
            <a:round/>
            <a:headEnd type="none" w="sm" len="sm"/>
            <a:tailEnd type="none" w="sm" len="sm"/>
          </a:ln>
          <a:effectLst>
            <a:outerShdw dist="71842" dir="2700000" algn="ctr" rotWithShape="0">
              <a:schemeClr val="tx1"/>
            </a:outerShdw>
          </a:effectLst>
        </p:spPr>
        <p:txBody>
          <a:bodyPr anchor="ctr"/>
          <a:lstStyle>
            <a:lvl1pPr marL="17462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32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kumimoji="0" lang="en-US" altLang="zh-CN" sz="3200" b="1" baseline="-250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min</a:t>
            </a:r>
            <a:r>
              <a:rPr kumimoji="0" lang="zh-CN" altLang="en-US" sz="32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＝</a:t>
            </a:r>
            <a:r>
              <a:rPr kumimoji="0" lang="en-US" altLang="zh-CN" sz="32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0" lang="zh-CN" altLang="en-US" sz="32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教员</a:t>
            </a:r>
            <a:r>
              <a:rPr kumimoji="0" lang="zh-CN" altLang="en-US" sz="32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kumimoji="0" lang="zh-CN" altLang="en-US" sz="32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教研室</a:t>
            </a:r>
            <a:r>
              <a:rPr kumimoji="0" lang="en-US" altLang="zh-CN" sz="32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0" lang="zh-CN" altLang="en-US" sz="32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课程号</a:t>
            </a:r>
            <a:r>
              <a:rPr kumimoji="0" lang="zh-CN" altLang="en-US" sz="32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kumimoji="0" lang="zh-CN" altLang="en-US" sz="32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课程名</a:t>
            </a:r>
            <a:r>
              <a:rPr kumimoji="0" lang="en-US" altLang="zh-CN" sz="32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976"/>
    </mc:Choice>
    <mc:Fallback xmlns="">
      <p:transition spd="slow" advTm="239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559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559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9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9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59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59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59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591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591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9145" grpId="0" animBg="1"/>
      <p:bldP spid="559146" grpId="0" animBg="1"/>
      <p:bldP spid="55915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灯片编号占位符 5">
            <a:extLst>
              <a:ext uri="{FF2B5EF4-FFF2-40B4-BE49-F238E27FC236}">
                <a16:creationId xmlns:a16="http://schemas.microsoft.com/office/drawing/2014/main" id="{D12CB7F2-AC12-4D8F-89BA-2BC85B11B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3838E-2EDB-46B1-A10D-7A122AE9D2D0}" type="slidenum">
              <a:rPr lang="zh-CN" altLang="en-US"/>
              <a:pPr/>
              <a:t>13</a:t>
            </a:fld>
            <a:endParaRPr lang="en-US" altLang="zh-CN"/>
          </a:p>
        </p:txBody>
      </p:sp>
      <p:sp>
        <p:nvSpPr>
          <p:cNvPr id="563202" name="Rectangle 2">
            <a:extLst>
              <a:ext uri="{FF2B5EF4-FFF2-40B4-BE49-F238E27FC236}">
                <a16:creationId xmlns:a16="http://schemas.microsoft.com/office/drawing/2014/main" id="{CFAEC7E7-D04F-43E9-88E0-5A516940AF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小结</a:t>
            </a:r>
          </a:p>
        </p:txBody>
      </p:sp>
      <p:sp>
        <p:nvSpPr>
          <p:cNvPr id="563212" name="AutoShape 12">
            <a:extLst>
              <a:ext uri="{FF2B5EF4-FFF2-40B4-BE49-F238E27FC236}">
                <a16:creationId xmlns:a16="http://schemas.microsoft.com/office/drawing/2014/main" id="{50A65758-F62E-405F-B383-6148A6DF0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838" y="331788"/>
            <a:ext cx="3384550" cy="1296987"/>
          </a:xfrm>
          <a:prstGeom prst="cloudCallout">
            <a:avLst>
              <a:gd name="adj1" fmla="val -64306"/>
              <a:gd name="adj2" fmla="val 78398"/>
            </a:avLst>
          </a:prstGeom>
          <a:solidFill>
            <a:srgbClr val="00008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 anchorCtr="1"/>
          <a:lstStyle/>
          <a:p>
            <a:pPr algn="ctr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24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阿姆斯特朗公理</a:t>
            </a:r>
          </a:p>
          <a:p>
            <a:pPr algn="ctr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zh-CN" altLang="en-US" sz="24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三条推理规则</a:t>
            </a:r>
          </a:p>
        </p:txBody>
      </p:sp>
      <p:sp>
        <p:nvSpPr>
          <p:cNvPr id="563213" name="AutoShape 13">
            <a:extLst>
              <a:ext uri="{FF2B5EF4-FFF2-40B4-BE49-F238E27FC236}">
                <a16:creationId xmlns:a16="http://schemas.microsoft.com/office/drawing/2014/main" id="{09EE7BF1-F8D4-4723-9F8E-589FB5022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076700"/>
            <a:ext cx="1366838" cy="865188"/>
          </a:xfrm>
          <a:prstGeom prst="cloudCallout">
            <a:avLst>
              <a:gd name="adj1" fmla="val 52556"/>
              <a:gd name="adj2" fmla="val -88898"/>
            </a:avLst>
          </a:prstGeom>
          <a:solidFill>
            <a:srgbClr val="00008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 anchorCtr="1"/>
          <a:lstStyle/>
          <a:p>
            <a:pPr algn="just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1" lang="en-US" altLang="zh-CN" sz="2800" b="1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kumimoji="1" lang="en-US" altLang="zh-CN" sz="2800" b="1" baseline="3000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endParaRPr kumimoji="1" lang="zh-CN" altLang="en-US" sz="2800" b="1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63226" name="Group 26">
            <a:extLst>
              <a:ext uri="{FF2B5EF4-FFF2-40B4-BE49-F238E27FC236}">
                <a16:creationId xmlns:a16="http://schemas.microsoft.com/office/drawing/2014/main" id="{BCEF6DC8-F372-4B9E-840C-A075EC518703}"/>
              </a:ext>
            </a:extLst>
          </p:cNvPr>
          <p:cNvGrpSpPr>
            <a:grpSpLocks/>
          </p:cNvGrpSpPr>
          <p:nvPr/>
        </p:nvGrpSpPr>
        <p:grpSpPr bwMode="auto">
          <a:xfrm>
            <a:off x="5003800" y="3717925"/>
            <a:ext cx="2232025" cy="2738438"/>
            <a:chOff x="3923" y="2249"/>
            <a:chExt cx="1406" cy="1725"/>
          </a:xfrm>
        </p:grpSpPr>
        <p:sp>
          <p:nvSpPr>
            <p:cNvPr id="563227" name="AutoShape 27">
              <a:extLst>
                <a:ext uri="{FF2B5EF4-FFF2-40B4-BE49-F238E27FC236}">
                  <a16:creationId xmlns:a16="http://schemas.microsoft.com/office/drawing/2014/main" id="{B95F0561-3CEB-49E5-B6A0-923C9F8BCC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3" y="2296"/>
              <a:ext cx="136" cy="1678"/>
            </a:xfrm>
            <a:prstGeom prst="leftBrace">
              <a:avLst>
                <a:gd name="adj1" fmla="val 102819"/>
                <a:gd name="adj2" fmla="val 50000"/>
              </a:avLst>
            </a:prstGeom>
            <a:noFill/>
            <a:ln w="317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>
              <a:outerShdw dist="17961" dir="2700000" algn="ctr" rotWithShape="0">
                <a:schemeClr val="tx1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3228" name="Rectangle 28">
              <a:extLst>
                <a:ext uri="{FF2B5EF4-FFF2-40B4-BE49-F238E27FC236}">
                  <a16:creationId xmlns:a16="http://schemas.microsoft.com/office/drawing/2014/main" id="{FC1FCFBE-8847-449E-8B75-AC33E08358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0" y="2249"/>
              <a:ext cx="1179" cy="637"/>
            </a:xfrm>
            <a:prstGeom prst="rect">
              <a:avLst/>
            </a:prstGeom>
            <a:solidFill>
              <a:srgbClr val="00808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53882" dir="2700000" algn="ctr" rotWithShape="0">
                <a:schemeClr val="tx1"/>
              </a:outerShdw>
            </a:effectLst>
          </p:spPr>
          <p:txBody>
            <a:bodyPr lIns="0" rIns="0" anchor="ctr" anchorCtr="1"/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en-US" altLang="zh-CN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FD</a:t>
              </a:r>
              <a:r>
                <a:rPr lang="zh-CN" altLang="en-US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右边</a:t>
              </a:r>
            </a:p>
            <a:p>
              <a:pPr algn="ctr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zh-CN" altLang="en-US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单属性</a:t>
              </a:r>
              <a:endParaRPr lang="en-US" altLang="zh-CN" b="1" baseline="300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563229" name="Rectangle 29">
            <a:extLst>
              <a:ext uri="{FF2B5EF4-FFF2-40B4-BE49-F238E27FC236}">
                <a16:creationId xmlns:a16="http://schemas.microsoft.com/office/drawing/2014/main" id="{438A97C6-526C-47C2-9428-C13DD7B6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4872038"/>
            <a:ext cx="1871662" cy="579437"/>
          </a:xfrm>
          <a:prstGeom prst="rect">
            <a:avLst/>
          </a:prstGeom>
          <a:solidFill>
            <a:srgbClr val="00808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tx1"/>
            </a:outerShdw>
          </a:effectLst>
        </p:spPr>
        <p:txBody>
          <a:bodyPr lIns="0" rIns="0" anchor="ctr" anchorCtr="1"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lang="zh-CN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无多余</a:t>
            </a:r>
            <a:r>
              <a:rPr lang="en-US" altLang="zh-CN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FD</a:t>
            </a:r>
            <a:endParaRPr lang="en-US" altLang="zh-CN" b="1" baseline="300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3230" name="Rectangle 30">
            <a:extLst>
              <a:ext uri="{FF2B5EF4-FFF2-40B4-BE49-F238E27FC236}">
                <a16:creationId xmlns:a16="http://schemas.microsoft.com/office/drawing/2014/main" id="{3079DC63-C9BB-4D76-8A82-DE6E72443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5589588"/>
            <a:ext cx="1871662" cy="1011237"/>
          </a:xfrm>
          <a:prstGeom prst="rect">
            <a:avLst/>
          </a:prstGeom>
          <a:solidFill>
            <a:srgbClr val="00808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53882" dir="2700000" algn="ctr" rotWithShape="0">
              <a:schemeClr val="tx1"/>
            </a:outerShdw>
          </a:effectLst>
        </p:spPr>
        <p:txBody>
          <a:bodyPr lIns="0" rIns="0" anchor="ctr" anchorCtr="1"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lang="en-US" altLang="zh-CN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FD</a:t>
            </a:r>
            <a:r>
              <a:rPr lang="zh-CN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左边</a:t>
            </a:r>
          </a:p>
          <a:p>
            <a:pPr algn="ctr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lang="zh-CN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无多余属性</a:t>
            </a:r>
            <a:endParaRPr lang="zh-CN" altLang="en-US" b="1" baseline="3000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63251" name="Group 51">
            <a:extLst>
              <a:ext uri="{FF2B5EF4-FFF2-40B4-BE49-F238E27FC236}">
                <a16:creationId xmlns:a16="http://schemas.microsoft.com/office/drawing/2014/main" id="{43D4C71C-5751-417B-A632-395DFE4EA90C}"/>
              </a:ext>
            </a:extLst>
          </p:cNvPr>
          <p:cNvGrpSpPr>
            <a:grpSpLocks/>
          </p:cNvGrpSpPr>
          <p:nvPr/>
        </p:nvGrpSpPr>
        <p:grpSpPr bwMode="auto">
          <a:xfrm>
            <a:off x="919163" y="1771650"/>
            <a:ext cx="3962400" cy="579438"/>
            <a:chOff x="579" y="1116"/>
            <a:chExt cx="2496" cy="365"/>
          </a:xfrm>
        </p:grpSpPr>
        <p:sp>
          <p:nvSpPr>
            <p:cNvPr id="563205" name="Rectangle 5">
              <a:extLst>
                <a:ext uri="{FF2B5EF4-FFF2-40B4-BE49-F238E27FC236}">
                  <a16:creationId xmlns:a16="http://schemas.microsoft.com/office/drawing/2014/main" id="{F123E483-991C-4BC8-9BA4-D786C10BD2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9" y="1116"/>
              <a:ext cx="1134" cy="36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53882" dir="2700000" algn="ctr" rotWithShape="0">
                <a:schemeClr val="tx1"/>
              </a:outerShdw>
            </a:effectLst>
          </p:spPr>
          <p:txBody>
            <a:bodyPr lIns="0" rIns="0" anchor="ctr" anchorCtr="1"/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en-US" altLang="zh-CN" b="1">
                  <a:solidFill>
                    <a:srgbClr val="080808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  <a:r>
                <a:rPr lang="en-US" altLang="zh-CN" b="1">
                  <a:solidFill>
                    <a:srgbClr val="080808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  <a:sym typeface="Symbol" panose="05050102010706020507" pitchFamily="18" charset="2"/>
                </a:rPr>
                <a:t></a:t>
              </a:r>
              <a:r>
                <a:rPr lang="en-US" altLang="zh-CN" b="1">
                  <a:solidFill>
                    <a:srgbClr val="080808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=X→Y</a:t>
              </a:r>
            </a:p>
          </p:txBody>
        </p:sp>
        <p:sp>
          <p:nvSpPr>
            <p:cNvPr id="563208" name="Rectangle 8">
              <a:extLst>
                <a:ext uri="{FF2B5EF4-FFF2-40B4-BE49-F238E27FC236}">
                  <a16:creationId xmlns:a16="http://schemas.microsoft.com/office/drawing/2014/main" id="{F7225EF8-9B99-4C66-B430-205A29CE7A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4" y="1116"/>
              <a:ext cx="501" cy="36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53882" dir="2700000" algn="ctr" rotWithShape="0">
                <a:schemeClr val="tx1"/>
              </a:outerShdw>
            </a:effectLst>
          </p:spPr>
          <p:txBody>
            <a:bodyPr lIns="0" rIns="0" anchor="ctr" anchorCtr="1"/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en-US" altLang="zh-CN" b="1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  <a:r>
                <a:rPr lang="en-US" altLang="zh-CN" b="1" baseline="30000">
                  <a:solidFill>
                    <a:srgbClr val="003399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+</a:t>
              </a:r>
              <a:endParaRPr lang="en-US" altLang="zh-CN" b="1">
                <a:solidFill>
                  <a:srgbClr val="00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236" name="AutoShape 36">
              <a:extLst>
                <a:ext uri="{FF2B5EF4-FFF2-40B4-BE49-F238E27FC236}">
                  <a16:creationId xmlns:a16="http://schemas.microsoft.com/office/drawing/2014/main" id="{A9F508FD-DDEC-425D-9D7C-473F27F2E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8" y="1253"/>
              <a:ext cx="771" cy="136"/>
            </a:xfrm>
            <a:prstGeom prst="rightArrow">
              <a:avLst>
                <a:gd name="adj1" fmla="val 50000"/>
                <a:gd name="adj2" fmla="val 141728"/>
              </a:avLst>
            </a:prstGeom>
            <a:solidFill>
              <a:srgbClr val="00FF00"/>
            </a:solidFill>
            <a:ln w="12700" cap="sq">
              <a:solidFill>
                <a:srgbClr val="00FF00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63247" name="Group 47">
            <a:extLst>
              <a:ext uri="{FF2B5EF4-FFF2-40B4-BE49-F238E27FC236}">
                <a16:creationId xmlns:a16="http://schemas.microsoft.com/office/drawing/2014/main" id="{09D3A67E-5E10-4535-BBFF-621E9D42165A}"/>
              </a:ext>
            </a:extLst>
          </p:cNvPr>
          <p:cNvGrpSpPr>
            <a:grpSpLocks/>
          </p:cNvGrpSpPr>
          <p:nvPr/>
        </p:nvGrpSpPr>
        <p:grpSpPr bwMode="auto">
          <a:xfrm>
            <a:off x="4951413" y="1771650"/>
            <a:ext cx="1871662" cy="579438"/>
            <a:chOff x="3119" y="1116"/>
            <a:chExt cx="1179" cy="365"/>
          </a:xfrm>
        </p:grpSpPr>
        <p:sp>
          <p:nvSpPr>
            <p:cNvPr id="563222" name="Rectangle 22">
              <a:extLst>
                <a:ext uri="{FF2B5EF4-FFF2-40B4-BE49-F238E27FC236}">
                  <a16:creationId xmlns:a16="http://schemas.microsoft.com/office/drawing/2014/main" id="{424D7897-C8C0-42E0-8E1D-E06B4296FA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2" y="1116"/>
              <a:ext cx="726" cy="365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63500" dir="2212194" algn="ctr" rotWithShape="0">
                <a:schemeClr val="tx1"/>
              </a:outerShdw>
            </a:effectLst>
          </p:spPr>
          <p:txBody>
            <a:bodyPr lIns="0" rIns="0" anchor="ctr" anchorCtr="1"/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en-US" altLang="zh-CN" b="1">
                  <a:solidFill>
                    <a:srgbClr val="08080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  <a:r>
                <a:rPr lang="en-US" altLang="zh-CN" b="1" baseline="30000">
                  <a:solidFill>
                    <a:srgbClr val="08080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+ </a:t>
              </a:r>
              <a:r>
                <a:rPr lang="en-US" altLang="zh-CN" b="1">
                  <a:solidFill>
                    <a:srgbClr val="08080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=G</a:t>
              </a:r>
              <a:r>
                <a:rPr lang="en-US" altLang="zh-CN" b="1" baseline="30000">
                  <a:solidFill>
                    <a:srgbClr val="080808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+</a:t>
              </a:r>
              <a:endParaRPr lang="en-US" altLang="zh-CN" b="1">
                <a:solidFill>
                  <a:srgbClr val="080808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237" name="AutoShape 37">
              <a:extLst>
                <a:ext uri="{FF2B5EF4-FFF2-40B4-BE49-F238E27FC236}">
                  <a16:creationId xmlns:a16="http://schemas.microsoft.com/office/drawing/2014/main" id="{4BFF0F28-50ED-4D56-B705-A05799E3B4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9" y="1253"/>
              <a:ext cx="408" cy="136"/>
            </a:xfrm>
            <a:prstGeom prst="rightArrow">
              <a:avLst>
                <a:gd name="adj1" fmla="val 50000"/>
                <a:gd name="adj2" fmla="val 75000"/>
              </a:avLst>
            </a:prstGeom>
            <a:solidFill>
              <a:srgbClr val="00FF00"/>
            </a:solidFill>
            <a:ln w="12700" cap="sq">
              <a:solidFill>
                <a:srgbClr val="00FF00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63238" name="Rectangle 38">
            <a:extLst>
              <a:ext uri="{FF2B5EF4-FFF2-40B4-BE49-F238E27FC236}">
                <a16:creationId xmlns:a16="http://schemas.microsoft.com/office/drawing/2014/main" id="{D3ADEE81-1A0B-4BFB-824A-D2922978A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5463" y="1557338"/>
            <a:ext cx="1152525" cy="1008062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2212194" algn="ctr" rotWithShape="0">
              <a:schemeClr val="tx1"/>
            </a:outerShdw>
          </a:effectLst>
        </p:spPr>
        <p:txBody>
          <a:bodyPr lIns="0" rIns="0" anchor="ctr" anchorCtr="1"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0" lang="en-US" altLang="zh-CN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kumimoji="0" lang="en-US" altLang="zh-CN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kumimoji="0" lang="en-US" altLang="zh-CN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kumimoji="0" lang="zh-CN" altLang="en-US" b="1" baseline="30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＋</a:t>
            </a:r>
          </a:p>
          <a:p>
            <a:pPr algn="just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kumimoji="0" lang="en-US" altLang="zh-CN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kumimoji="0" lang="en-US" altLang="zh-CN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kumimoji="0" lang="en-US" altLang="zh-CN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kumimoji="0" lang="zh-CN" altLang="en-US" b="1" baseline="300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＋</a:t>
            </a:r>
            <a:endParaRPr kumimoji="0" lang="en-US" altLang="zh-CN" b="1" baseline="3000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563252" name="Group 52">
            <a:extLst>
              <a:ext uri="{FF2B5EF4-FFF2-40B4-BE49-F238E27FC236}">
                <a16:creationId xmlns:a16="http://schemas.microsoft.com/office/drawing/2014/main" id="{9051FF6A-424F-4B4D-88BC-E79625D529EC}"/>
              </a:ext>
            </a:extLst>
          </p:cNvPr>
          <p:cNvGrpSpPr>
            <a:grpSpLocks/>
          </p:cNvGrpSpPr>
          <p:nvPr/>
        </p:nvGrpSpPr>
        <p:grpSpPr bwMode="auto">
          <a:xfrm>
            <a:off x="2195513" y="2224088"/>
            <a:ext cx="2305050" cy="1419225"/>
            <a:chOff x="1383" y="1401"/>
            <a:chExt cx="1452" cy="894"/>
          </a:xfrm>
        </p:grpSpPr>
        <p:sp>
          <p:nvSpPr>
            <p:cNvPr id="563211" name="Rectangle 11">
              <a:extLst>
                <a:ext uri="{FF2B5EF4-FFF2-40B4-BE49-F238E27FC236}">
                  <a16:creationId xmlns:a16="http://schemas.microsoft.com/office/drawing/2014/main" id="{92215350-8AFB-4895-BDB8-7621291590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1888"/>
              <a:ext cx="1452" cy="407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53882" dir="2700000" algn="ctr" rotWithShape="0">
                <a:schemeClr val="tx1"/>
              </a:outerShdw>
            </a:effectLst>
          </p:spPr>
          <p:txBody>
            <a:bodyPr lIns="0" rIns="0" anchor="ctr" anchorCtr="1"/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en-US" altLang="zh-CN" b="1">
                  <a:solidFill>
                    <a:srgbClr val="80008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X→Y</a:t>
              </a:r>
              <a:r>
                <a:rPr lang="zh-CN" altLang="en-US" b="1">
                  <a:solidFill>
                    <a:srgbClr val="80008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从</a:t>
              </a:r>
              <a:r>
                <a:rPr lang="en-US" altLang="zh-CN" b="1">
                  <a:solidFill>
                    <a:srgbClr val="80008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F</a:t>
              </a:r>
              <a:r>
                <a:rPr lang="zh-CN" altLang="en-US" b="1">
                  <a:solidFill>
                    <a:srgbClr val="80008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导出</a:t>
              </a:r>
            </a:p>
          </p:txBody>
        </p:sp>
        <p:sp>
          <p:nvSpPr>
            <p:cNvPr id="563239" name="AutoShape 39">
              <a:extLst>
                <a:ext uri="{FF2B5EF4-FFF2-40B4-BE49-F238E27FC236}">
                  <a16:creationId xmlns:a16="http://schemas.microsoft.com/office/drawing/2014/main" id="{FC41C03F-457E-403C-97BA-755ED08FE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0" y="1401"/>
              <a:ext cx="136" cy="453"/>
            </a:xfrm>
            <a:prstGeom prst="downArrow">
              <a:avLst>
                <a:gd name="adj1" fmla="val 50000"/>
                <a:gd name="adj2" fmla="val 83272"/>
              </a:avLst>
            </a:prstGeom>
            <a:solidFill>
              <a:srgbClr val="00FF00"/>
            </a:solidFill>
            <a:ln w="12700" cap="sq">
              <a:solidFill>
                <a:srgbClr val="00FF00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63248" name="Group 48">
            <a:extLst>
              <a:ext uri="{FF2B5EF4-FFF2-40B4-BE49-F238E27FC236}">
                <a16:creationId xmlns:a16="http://schemas.microsoft.com/office/drawing/2014/main" id="{D9B98623-FB6C-4F3B-888E-EA2ACE8C48D7}"/>
              </a:ext>
            </a:extLst>
          </p:cNvPr>
          <p:cNvGrpSpPr>
            <a:grpSpLocks/>
          </p:cNvGrpSpPr>
          <p:nvPr/>
        </p:nvGrpSpPr>
        <p:grpSpPr bwMode="auto">
          <a:xfrm>
            <a:off x="5364163" y="2420938"/>
            <a:ext cx="1871662" cy="1174750"/>
            <a:chOff x="3379" y="1525"/>
            <a:chExt cx="1179" cy="740"/>
          </a:xfrm>
        </p:grpSpPr>
        <p:sp>
          <p:nvSpPr>
            <p:cNvPr id="563225" name="Rectangle 25">
              <a:extLst>
                <a:ext uri="{FF2B5EF4-FFF2-40B4-BE49-F238E27FC236}">
                  <a16:creationId xmlns:a16="http://schemas.microsoft.com/office/drawing/2014/main" id="{B89F53FA-C7BA-463E-971F-7609BCA9BF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9" y="1900"/>
              <a:ext cx="1179" cy="365"/>
            </a:xfrm>
            <a:prstGeom prst="rect">
              <a:avLst/>
            </a:prstGeom>
            <a:solidFill>
              <a:srgbClr val="CCFF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63500" dir="2212194" algn="ctr" rotWithShape="0">
                <a:schemeClr val="tx1"/>
              </a:outerShdw>
            </a:effectLst>
          </p:spPr>
          <p:txBody>
            <a:bodyPr lIns="0" rIns="0" anchor="ctr" anchorCtr="1"/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zh-CN" altLang="en-US" b="1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求最小</a:t>
              </a:r>
              <a:r>
                <a:rPr lang="en-US" altLang="zh-CN" b="1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FD</a:t>
              </a:r>
              <a:r>
                <a:rPr lang="zh-CN" altLang="en-US" b="1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集</a:t>
              </a:r>
            </a:p>
          </p:txBody>
        </p:sp>
        <p:sp>
          <p:nvSpPr>
            <p:cNvPr id="563240" name="AutoShape 40">
              <a:extLst>
                <a:ext uri="{FF2B5EF4-FFF2-40B4-BE49-F238E27FC236}">
                  <a16:creationId xmlns:a16="http://schemas.microsoft.com/office/drawing/2014/main" id="{BFD9B437-BCBA-4CD9-9205-648FEF23E1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4" y="1525"/>
              <a:ext cx="136" cy="363"/>
            </a:xfrm>
            <a:prstGeom prst="downArrow">
              <a:avLst>
                <a:gd name="adj1" fmla="val 50000"/>
                <a:gd name="adj2" fmla="val 66728"/>
              </a:avLst>
            </a:prstGeom>
            <a:solidFill>
              <a:srgbClr val="00FF00"/>
            </a:solidFill>
            <a:ln w="12700" cap="sq">
              <a:solidFill>
                <a:srgbClr val="00FF00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63253" name="Group 53">
            <a:extLst>
              <a:ext uri="{FF2B5EF4-FFF2-40B4-BE49-F238E27FC236}">
                <a16:creationId xmlns:a16="http://schemas.microsoft.com/office/drawing/2014/main" id="{B9703D91-24B0-49A9-8FC0-2E04B4D7BE58}"/>
              </a:ext>
            </a:extLst>
          </p:cNvPr>
          <p:cNvGrpSpPr>
            <a:grpSpLocks/>
          </p:cNvGrpSpPr>
          <p:nvPr/>
        </p:nvGrpSpPr>
        <p:grpSpPr bwMode="auto">
          <a:xfrm>
            <a:off x="2719388" y="3698875"/>
            <a:ext cx="1295400" cy="1344613"/>
            <a:chOff x="1713" y="2330"/>
            <a:chExt cx="816" cy="847"/>
          </a:xfrm>
        </p:grpSpPr>
        <p:sp>
          <p:nvSpPr>
            <p:cNvPr id="563216" name="Rectangle 16">
              <a:extLst>
                <a:ext uri="{FF2B5EF4-FFF2-40B4-BE49-F238E27FC236}">
                  <a16:creationId xmlns:a16="http://schemas.microsoft.com/office/drawing/2014/main" id="{F70E49E6-201F-49DA-8785-08AD0791E6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3" y="2812"/>
              <a:ext cx="816" cy="365"/>
            </a:xfrm>
            <a:prstGeom prst="rect">
              <a:avLst/>
            </a:prstGeom>
            <a:solidFill>
              <a:srgbClr val="CCFF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63500" dir="2212194" algn="ctr" rotWithShape="0">
                <a:schemeClr val="tx1"/>
              </a:outerShdw>
            </a:effectLst>
          </p:spPr>
          <p:txBody>
            <a:bodyPr lIns="0" rIns="0" anchor="ctr" anchorCtr="1"/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en-US" altLang="zh-CN" b="1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en-US" altLang="zh-CN" b="1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  <a:sym typeface="Symbol" panose="05050102010706020507" pitchFamily="18" charset="2"/>
                </a:rPr>
                <a:t>X</a:t>
              </a:r>
              <a:r>
                <a:rPr lang="en-US" altLang="zh-CN" b="1" baseline="3000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  <a:sym typeface="Symbol" panose="05050102010706020507" pitchFamily="18" charset="2"/>
                </a:rPr>
                <a:t>+</a:t>
              </a:r>
              <a:endParaRPr lang="en-US" altLang="en-US" b="1" baseline="3000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563241" name="AutoShape 41">
              <a:extLst>
                <a:ext uri="{FF2B5EF4-FFF2-40B4-BE49-F238E27FC236}">
                  <a16:creationId xmlns:a16="http://schemas.microsoft.com/office/drawing/2014/main" id="{18476816-7B89-4201-9B64-4CA2758CE4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0" y="2330"/>
              <a:ext cx="136" cy="453"/>
            </a:xfrm>
            <a:prstGeom prst="upDownArrow">
              <a:avLst>
                <a:gd name="adj1" fmla="val 50000"/>
                <a:gd name="adj2" fmla="val 66618"/>
              </a:avLst>
            </a:prstGeom>
            <a:solidFill>
              <a:srgbClr val="FF0000"/>
            </a:solidFill>
            <a:ln w="12700" cap="sq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63246" name="Group 46">
            <a:extLst>
              <a:ext uri="{FF2B5EF4-FFF2-40B4-BE49-F238E27FC236}">
                <a16:creationId xmlns:a16="http://schemas.microsoft.com/office/drawing/2014/main" id="{91056954-EB45-4772-9DF8-17B1D055E184}"/>
              </a:ext>
            </a:extLst>
          </p:cNvPr>
          <p:cNvGrpSpPr>
            <a:grpSpLocks/>
          </p:cNvGrpSpPr>
          <p:nvPr/>
        </p:nvGrpSpPr>
        <p:grpSpPr bwMode="auto">
          <a:xfrm>
            <a:off x="2719388" y="5103813"/>
            <a:ext cx="1295400" cy="1185862"/>
            <a:chOff x="1713" y="2943"/>
            <a:chExt cx="816" cy="747"/>
          </a:xfrm>
        </p:grpSpPr>
        <p:sp>
          <p:nvSpPr>
            <p:cNvPr id="563219" name="Rectangle 19">
              <a:extLst>
                <a:ext uri="{FF2B5EF4-FFF2-40B4-BE49-F238E27FC236}">
                  <a16:creationId xmlns:a16="http://schemas.microsoft.com/office/drawing/2014/main" id="{22DF16D4-418F-40F2-8F29-AE5FBE3E04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3" y="3325"/>
              <a:ext cx="816" cy="365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53882" dir="2700000" algn="ctr" rotWithShape="0">
                <a:schemeClr val="tx1"/>
              </a:outerShdw>
            </a:effectLst>
          </p:spPr>
          <p:txBody>
            <a:bodyPr lIns="0" rIns="0" anchor="ctr" anchorCtr="1"/>
            <a:lstStyle>
              <a:lvl1pPr marL="3429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zh-CN" altLang="en-US" b="1">
                  <a:solidFill>
                    <a:srgbClr val="80008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求</a:t>
              </a:r>
              <a:r>
                <a:rPr lang="en-US" altLang="zh-CN" b="1">
                  <a:solidFill>
                    <a:srgbClr val="80008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en-US" altLang="zh-CN" b="1" baseline="30000">
                  <a:solidFill>
                    <a:srgbClr val="80008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黑体" panose="02010609060101010101" pitchFamily="49" charset="-122"/>
                  <a:ea typeface="黑体" panose="02010609060101010101" pitchFamily="49" charset="-122"/>
                </a:rPr>
                <a:t>+</a:t>
              </a:r>
              <a:endParaRPr lang="zh-CN" altLang="en-US" b="1" baseline="30000">
                <a:solidFill>
                  <a:srgbClr val="80008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242" name="AutoShape 42">
              <a:extLst>
                <a:ext uri="{FF2B5EF4-FFF2-40B4-BE49-F238E27FC236}">
                  <a16:creationId xmlns:a16="http://schemas.microsoft.com/office/drawing/2014/main" id="{F61424B4-A164-4358-BE9B-1A6CEB31BD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0" y="2943"/>
              <a:ext cx="136" cy="363"/>
            </a:xfrm>
            <a:prstGeom prst="downArrow">
              <a:avLst>
                <a:gd name="adj1" fmla="val 50000"/>
                <a:gd name="adj2" fmla="val 66728"/>
              </a:avLst>
            </a:prstGeom>
            <a:solidFill>
              <a:srgbClr val="00FF00"/>
            </a:solidFill>
            <a:ln w="12700" cap="sq">
              <a:solidFill>
                <a:srgbClr val="00FF00"/>
              </a:solidFill>
              <a:miter lim="800000"/>
              <a:headEnd type="none" w="sm" len="sm"/>
              <a:tailEnd type="none" w="sm" len="sm"/>
            </a:ln>
            <a:effectLst>
              <a:outerShdw dist="35921" dir="27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63250" name="AutoShape 50">
            <a:extLst>
              <a:ext uri="{FF2B5EF4-FFF2-40B4-BE49-F238E27FC236}">
                <a16:creationId xmlns:a16="http://schemas.microsoft.com/office/drawing/2014/main" id="{88EF1EC1-DB9A-4CCD-988D-665196CF7D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3933825"/>
            <a:ext cx="1439863" cy="215900"/>
          </a:xfrm>
          <a:prstGeom prst="rightArrow">
            <a:avLst>
              <a:gd name="adj1" fmla="val 50000"/>
              <a:gd name="adj2" fmla="val 166728"/>
            </a:avLst>
          </a:prstGeom>
          <a:solidFill>
            <a:srgbClr val="00FF00"/>
          </a:solidFill>
          <a:ln w="12700" cap="sq">
            <a:solidFill>
              <a:srgbClr val="00FF00"/>
            </a:solidFill>
            <a:miter lim="800000"/>
            <a:headEnd type="none" w="sm" len="sm"/>
            <a:tailEnd type="none" w="sm" len="sm"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113"/>
    </mc:Choice>
    <mc:Fallback xmlns="">
      <p:transition spd="slow" advTm="8111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6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563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563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563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5632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5632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5632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5632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5632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5632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5632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5632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563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563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563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0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5632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1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5632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5632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3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5632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5632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5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5632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5632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7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5632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6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563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63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63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563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1000"/>
                                        <p:tgtEl>
                                          <p:spTgt spid="563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1000"/>
                                        <p:tgtEl>
                                          <p:spTgt spid="563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1000"/>
                                        <p:tgtEl>
                                          <p:spTgt spid="563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6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12" grpId="0" animBg="1"/>
      <p:bldP spid="563213" grpId="0" animBg="1"/>
      <p:bldP spid="563229" grpId="0" animBg="1"/>
      <p:bldP spid="563230" grpId="0" animBg="1"/>
      <p:bldP spid="56323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062659F3-8FEB-4A86-B076-37DC0DE55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A2757-DB1A-4633-AB9B-8D2F8FFBEA75}" type="slidenum">
              <a:rPr lang="zh-CN" altLang="en-US"/>
              <a:pPr/>
              <a:t>14</a:t>
            </a:fld>
            <a:endParaRPr lang="en-US" altLang="zh-CN"/>
          </a:p>
        </p:txBody>
      </p:sp>
      <p:sp>
        <p:nvSpPr>
          <p:cNvPr id="514050" name="Rectangle 2">
            <a:extLst>
              <a:ext uri="{FF2B5EF4-FFF2-40B4-BE49-F238E27FC236}">
                <a16:creationId xmlns:a16="http://schemas.microsoft.com/office/drawing/2014/main" id="{F488B656-DD0E-485F-AAF7-AB170C5CF1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14051" name="Rectangle 3">
            <a:extLst>
              <a:ext uri="{FF2B5EF4-FFF2-40B4-BE49-F238E27FC236}">
                <a16:creationId xmlns:a16="http://schemas.microsoft.com/office/drawing/2014/main" id="{3D02DEF4-C7B4-4C32-A9AE-106CCCEC0B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14052" name="Rectangle 4">
            <a:extLst>
              <a:ext uri="{FF2B5EF4-FFF2-40B4-BE49-F238E27FC236}">
                <a16:creationId xmlns:a16="http://schemas.microsoft.com/office/drawing/2014/main" id="{D5DDB942-6D61-47E2-B30B-23CF583C2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8913" y="2590800"/>
            <a:ext cx="6237287" cy="11430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</a:pPr>
            <a:r>
              <a:rPr kumimoji="0" lang="zh-CN" altLang="en-US" sz="6000" b="1">
                <a:solidFill>
                  <a:srgbClr val="FF6600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谢谢大家！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61"/>
    </mc:Choice>
    <mc:Fallback xmlns="">
      <p:transition spd="slow" advTm="2961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6.1|1.3|24.1|1.6|2|7.4|1.9|1.9|18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9|5.2|11.1|1.7|6.7|18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1|9|11.8|4.5|12|4.4|48.3|8.1|1.3|17.9|11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8.6|1.2|0.9|1|2.2|1.2|1.3|1.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5|9.2|3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5|8.6|3.6|6.2|6.2|7.4|12.5|19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5|3|16.6|20.1|1.4|0.9|3.8|9.9|9.5|1.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4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5.1|1.7|3.4|4.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|3.1|1.8|1.2|1|0.9|0.9|4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7|20.9|5.7|2.7|11.8|8.9|3|4.6|7.4|5.5|4.6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"/>
</p:tagLst>
</file>

<file path=ppt/theme/theme1.xml><?xml version="1.0" encoding="utf-8"?>
<a:theme xmlns:a="http://schemas.openxmlformats.org/drawingml/2006/main" name="cdb2004165l">
  <a:themeElements>
    <a:clrScheme name="cdb2004165l 3">
      <a:dk1>
        <a:srgbClr val="000000"/>
      </a:dk1>
      <a:lt1>
        <a:srgbClr val="FFFFFF"/>
      </a:lt1>
      <a:dk2>
        <a:srgbClr val="37399B"/>
      </a:dk2>
      <a:lt2>
        <a:srgbClr val="C0C0C0"/>
      </a:lt2>
      <a:accent1>
        <a:srgbClr val="699DE9"/>
      </a:accent1>
      <a:accent2>
        <a:srgbClr val="EFB049"/>
      </a:accent2>
      <a:accent3>
        <a:srgbClr val="FFFFFF"/>
      </a:accent3>
      <a:accent4>
        <a:srgbClr val="000000"/>
      </a:accent4>
      <a:accent5>
        <a:srgbClr val="B9CCF2"/>
      </a:accent5>
      <a:accent6>
        <a:srgbClr val="D99F41"/>
      </a:accent6>
      <a:hlink>
        <a:srgbClr val="7476DC"/>
      </a:hlink>
      <a:folHlink>
        <a:srgbClr val="9AC664"/>
      </a:folHlink>
    </a:clrScheme>
    <a:fontScheme name="cdb2004165l">
      <a:majorFont>
        <a:latin typeface="Arial"/>
        <a:ea typeface="幼圆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cdb2004165l 1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6F4EE6"/>
        </a:accent1>
        <a:accent2>
          <a:srgbClr val="69BFF9"/>
        </a:accent2>
        <a:accent3>
          <a:srgbClr val="FFFFFF"/>
        </a:accent3>
        <a:accent4>
          <a:srgbClr val="000000"/>
        </a:accent4>
        <a:accent5>
          <a:srgbClr val="BBB2F0"/>
        </a:accent5>
        <a:accent6>
          <a:srgbClr val="5EADE2"/>
        </a:accent6>
        <a:hlink>
          <a:srgbClr val="D17FB6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65l 2">
        <a:dk1>
          <a:srgbClr val="000000"/>
        </a:dk1>
        <a:lt1>
          <a:srgbClr val="FFFFFF"/>
        </a:lt1>
        <a:dk2>
          <a:srgbClr val="165E86"/>
        </a:dk2>
        <a:lt2>
          <a:srgbClr val="969696"/>
        </a:lt2>
        <a:accent1>
          <a:srgbClr val="33C5A9"/>
        </a:accent1>
        <a:accent2>
          <a:srgbClr val="90DE88"/>
        </a:accent2>
        <a:accent3>
          <a:srgbClr val="FFFFFF"/>
        </a:accent3>
        <a:accent4>
          <a:srgbClr val="000000"/>
        </a:accent4>
        <a:accent5>
          <a:srgbClr val="ADDFD1"/>
        </a:accent5>
        <a:accent6>
          <a:srgbClr val="82C97B"/>
        </a:accent6>
        <a:hlink>
          <a:srgbClr val="7D96D3"/>
        </a:hlink>
        <a:folHlink>
          <a:srgbClr val="DEDB7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65l 3">
        <a:dk1>
          <a:srgbClr val="000000"/>
        </a:dk1>
        <a:lt1>
          <a:srgbClr val="FFFFFF"/>
        </a:lt1>
        <a:dk2>
          <a:srgbClr val="37399B"/>
        </a:dk2>
        <a:lt2>
          <a:srgbClr val="C0C0C0"/>
        </a:lt2>
        <a:accent1>
          <a:srgbClr val="699DE9"/>
        </a:accent1>
        <a:accent2>
          <a:srgbClr val="EFB049"/>
        </a:accent2>
        <a:accent3>
          <a:srgbClr val="FFFFFF"/>
        </a:accent3>
        <a:accent4>
          <a:srgbClr val="000000"/>
        </a:accent4>
        <a:accent5>
          <a:srgbClr val="B9CCF2"/>
        </a:accent5>
        <a:accent6>
          <a:srgbClr val="D99F41"/>
        </a:accent6>
        <a:hlink>
          <a:srgbClr val="7476DC"/>
        </a:hlink>
        <a:folHlink>
          <a:srgbClr val="9AC66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10127</TotalTime>
  <Words>1452</Words>
  <Application>Microsoft Office PowerPoint</Application>
  <PresentationFormat>全屏显示(4:3)</PresentationFormat>
  <Paragraphs>216</Paragraphs>
  <Slides>14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Monotype Sorts</vt:lpstr>
      <vt:lpstr>仿宋_GB2312</vt:lpstr>
      <vt:lpstr>黑体</vt:lpstr>
      <vt:lpstr>楷体_GB2312</vt:lpstr>
      <vt:lpstr>隶书</vt:lpstr>
      <vt:lpstr>宋体</vt:lpstr>
      <vt:lpstr>Arial</vt:lpstr>
      <vt:lpstr>Comic Sans MS</vt:lpstr>
      <vt:lpstr>Tahoma</vt:lpstr>
      <vt:lpstr>Times New Roman</vt:lpstr>
      <vt:lpstr>Wingdings</vt:lpstr>
      <vt:lpstr>Wingdings 2</vt:lpstr>
      <vt:lpstr>cdb2004165l</vt:lpstr>
      <vt:lpstr>四、最小函数依赖集</vt:lpstr>
      <vt:lpstr>四、最小函数依赖集</vt:lpstr>
      <vt:lpstr>四、最小函数依赖集</vt:lpstr>
      <vt:lpstr>四、最小函数依赖集</vt:lpstr>
      <vt:lpstr>四、最小函数依赖集</vt:lpstr>
      <vt:lpstr>四、最小函数依赖集</vt:lpstr>
      <vt:lpstr>四、最小函数依赖集</vt:lpstr>
      <vt:lpstr>四、最小函数依赖集</vt:lpstr>
      <vt:lpstr>四、最小函数依赖集</vt:lpstr>
      <vt:lpstr>四、最小函数依赖集</vt:lpstr>
      <vt:lpstr>四、最小函数依赖集</vt:lpstr>
      <vt:lpstr>四、最小函数依赖集</vt:lpstr>
      <vt:lpstr>小结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乔淋漓的冷汗</dc:creator>
  <cp:lastModifiedBy>乔 淋漓的冷汗</cp:lastModifiedBy>
  <cp:revision>543</cp:revision>
  <cp:lastPrinted>2000-08-23T09:10:16Z</cp:lastPrinted>
  <dcterms:created xsi:type="dcterms:W3CDTF">1601-01-01T00:00:00Z</dcterms:created>
  <dcterms:modified xsi:type="dcterms:W3CDTF">2021-04-20T14:38:16Z</dcterms:modified>
</cp:coreProperties>
</file>