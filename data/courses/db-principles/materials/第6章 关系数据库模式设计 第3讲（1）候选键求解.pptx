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5"/>
  </p:notesMasterIdLst>
  <p:handoutMasterIdLst>
    <p:handoutMasterId r:id="rId26"/>
  </p:handoutMasterIdLst>
  <p:sldIdLst>
    <p:sldId id="716" r:id="rId2"/>
    <p:sldId id="697" r:id="rId3"/>
    <p:sldId id="698" r:id="rId4"/>
    <p:sldId id="714" r:id="rId5"/>
    <p:sldId id="515" r:id="rId6"/>
    <p:sldId id="719" r:id="rId7"/>
    <p:sldId id="720" r:id="rId8"/>
    <p:sldId id="721" r:id="rId9"/>
    <p:sldId id="722" r:id="rId10"/>
    <p:sldId id="723" r:id="rId11"/>
    <p:sldId id="724" r:id="rId12"/>
    <p:sldId id="725" r:id="rId13"/>
    <p:sldId id="726" r:id="rId14"/>
    <p:sldId id="727" r:id="rId15"/>
    <p:sldId id="728" r:id="rId16"/>
    <p:sldId id="729" r:id="rId17"/>
    <p:sldId id="731" r:id="rId18"/>
    <p:sldId id="730" r:id="rId19"/>
    <p:sldId id="733" r:id="rId20"/>
    <p:sldId id="734" r:id="rId21"/>
    <p:sldId id="735" r:id="rId22"/>
    <p:sldId id="604" r:id="rId23"/>
    <p:sldId id="699" r:id="rId24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00"/>
    <a:srgbClr val="336600"/>
    <a:srgbClr val="006600"/>
    <a:srgbClr val="FF99FF"/>
    <a:srgbClr val="CCCCFF"/>
    <a:srgbClr val="FF66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86278" autoAdjust="0"/>
  </p:normalViewPr>
  <p:slideViewPr>
    <p:cSldViewPr>
      <p:cViewPr varScale="1">
        <p:scale>
          <a:sx n="131" d="100"/>
          <a:sy n="131" d="100"/>
        </p:scale>
        <p:origin x="884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2C025CC-6C2D-4663-85F9-9A8C5A18A8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F17BF2F-E7FA-4FD3-9F9F-103D46751BD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88D6B17F-8756-44B3-B508-0EA0B2D426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30E08ED1-58CF-49DF-8F86-39782D6261B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C554C430-A42F-4EEC-B6D4-D9BB3DB712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AAB39FC8-4BAA-4DC7-B44E-9F8AD1396D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D763CA7F-0F30-4EDE-BEB0-E4F3B8F2D2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>
            <a:extLst>
              <a:ext uri="{FF2B5EF4-FFF2-40B4-BE49-F238E27FC236}">
                <a16:creationId xmlns:a16="http://schemas.microsoft.com/office/drawing/2014/main" id="{BE37B2CF-FD8A-4C29-A107-2536CEDA9A8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E81A2B88-FC89-4B46-9681-3B6C57CF085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64D12B86-20B5-48C8-9106-CC039BC30D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09C9FDCB-31BC-4117-90AE-FF33D3E8E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9B0B2777-31DB-4673-9C3C-0D1BAD296E0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219C5B-E575-4B57-B1BA-CA6697643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C47DDB-E2D5-4D69-9135-F81346E275F0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1062914" name="Rectangle 2">
            <a:extLst>
              <a:ext uri="{FF2B5EF4-FFF2-40B4-BE49-F238E27FC236}">
                <a16:creationId xmlns:a16="http://schemas.microsoft.com/office/drawing/2014/main" id="{8D22FFFA-8BCB-4780-9508-AB46312E30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2915" name="Rectangle 3">
            <a:extLst>
              <a:ext uri="{FF2B5EF4-FFF2-40B4-BE49-F238E27FC236}">
                <a16:creationId xmlns:a16="http://schemas.microsoft.com/office/drawing/2014/main" id="{E41784DA-2933-4696-9187-D487FD01B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388550A-C703-41A2-BAA8-6C30F974E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C9AA22-F83B-46C0-B284-2077B187FFBC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063938" name="Rectangle 2">
            <a:extLst>
              <a:ext uri="{FF2B5EF4-FFF2-40B4-BE49-F238E27FC236}">
                <a16:creationId xmlns:a16="http://schemas.microsoft.com/office/drawing/2014/main" id="{95C7078F-1DD3-4108-9E11-A03BC6EB7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3939" name="Rectangle 3">
            <a:extLst>
              <a:ext uri="{FF2B5EF4-FFF2-40B4-BE49-F238E27FC236}">
                <a16:creationId xmlns:a16="http://schemas.microsoft.com/office/drawing/2014/main" id="{54B96258-CED2-41EF-A214-41DD1F2EE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7E057EB-9E0F-4E4E-9307-E277405BB9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BCC03-470C-4088-9747-1818B6BBB644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019906" name="Rectangle 2">
            <a:extLst>
              <a:ext uri="{FF2B5EF4-FFF2-40B4-BE49-F238E27FC236}">
                <a16:creationId xmlns:a16="http://schemas.microsoft.com/office/drawing/2014/main" id="{A990A640-8763-440F-8CC0-896BC98029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>
            <a:extLst>
              <a:ext uri="{FF2B5EF4-FFF2-40B4-BE49-F238E27FC236}">
                <a16:creationId xmlns:a16="http://schemas.microsoft.com/office/drawing/2014/main" id="{71515C2F-CD41-4D12-8D0B-0A96BF78B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2AE5F69-B474-4BDF-A487-35590D65A7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CEAB64-3D4C-48FE-9E10-E42C22EEF5AA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376834" name="Rectangle 2">
            <a:extLst>
              <a:ext uri="{FF2B5EF4-FFF2-40B4-BE49-F238E27FC236}">
                <a16:creationId xmlns:a16="http://schemas.microsoft.com/office/drawing/2014/main" id="{AB65BE29-F4EB-4A8B-9421-561F8028C7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CAD725D3-4D51-4073-A482-16F4D6CC8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1933A0-74E7-443E-9B74-D5CDE12A1A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583B2D-A5DD-4A02-B8C7-0D2B1C3C2DDB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027074" name="Rectangle 2">
            <a:extLst>
              <a:ext uri="{FF2B5EF4-FFF2-40B4-BE49-F238E27FC236}">
                <a16:creationId xmlns:a16="http://schemas.microsoft.com/office/drawing/2014/main" id="{941EC7EB-50EF-4F43-9132-E4D7C670C3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7075" name="Rectangle 3">
            <a:extLst>
              <a:ext uri="{FF2B5EF4-FFF2-40B4-BE49-F238E27FC236}">
                <a16:creationId xmlns:a16="http://schemas.microsoft.com/office/drawing/2014/main" id="{9580CAA3-E09D-431F-AD9B-80C979F49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FDD18D8-FD73-46EB-A84B-0C31573A34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729D50-861A-4E69-9CDB-99725B7A0289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029122" name="Rectangle 2">
            <a:extLst>
              <a:ext uri="{FF2B5EF4-FFF2-40B4-BE49-F238E27FC236}">
                <a16:creationId xmlns:a16="http://schemas.microsoft.com/office/drawing/2014/main" id="{0957960E-A9AA-4268-9CEB-494912F390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9123" name="Rectangle 3">
            <a:extLst>
              <a:ext uri="{FF2B5EF4-FFF2-40B4-BE49-F238E27FC236}">
                <a16:creationId xmlns:a16="http://schemas.microsoft.com/office/drawing/2014/main" id="{86802348-CC97-4A1F-8370-0FB3A798E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73B5C70-70AA-4A50-A5A9-7C4CAAD26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B0A547-B59B-4C1B-BA71-75D915803920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031170" name="Rectangle 2">
            <a:extLst>
              <a:ext uri="{FF2B5EF4-FFF2-40B4-BE49-F238E27FC236}">
                <a16:creationId xmlns:a16="http://schemas.microsoft.com/office/drawing/2014/main" id="{B0F0B631-A5ED-479F-B52B-17B414279C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1171" name="Rectangle 3">
            <a:extLst>
              <a:ext uri="{FF2B5EF4-FFF2-40B4-BE49-F238E27FC236}">
                <a16:creationId xmlns:a16="http://schemas.microsoft.com/office/drawing/2014/main" id="{536669B3-F06D-4547-BD4D-BA0B74545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A72EFA5-61FC-4970-9A4A-3755D1381C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9D32D4-94C0-4336-8517-3671DAF7F463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033218" name="Rectangle 2">
            <a:extLst>
              <a:ext uri="{FF2B5EF4-FFF2-40B4-BE49-F238E27FC236}">
                <a16:creationId xmlns:a16="http://schemas.microsoft.com/office/drawing/2014/main" id="{89707CFB-585B-4F48-8498-B373EAE500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3219" name="Rectangle 3">
            <a:extLst>
              <a:ext uri="{FF2B5EF4-FFF2-40B4-BE49-F238E27FC236}">
                <a16:creationId xmlns:a16="http://schemas.microsoft.com/office/drawing/2014/main" id="{4E3D73F2-30BA-481B-B423-484503B59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CB8BECD-D1C8-4DC9-9210-74B1536E29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58F443-2BCA-4F8D-A266-2BD03F944D63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035266" name="Rectangle 2">
            <a:extLst>
              <a:ext uri="{FF2B5EF4-FFF2-40B4-BE49-F238E27FC236}">
                <a16:creationId xmlns:a16="http://schemas.microsoft.com/office/drawing/2014/main" id="{8140DE3E-C113-42E8-851B-36BC099B9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5267" name="Rectangle 3">
            <a:extLst>
              <a:ext uri="{FF2B5EF4-FFF2-40B4-BE49-F238E27FC236}">
                <a16:creationId xmlns:a16="http://schemas.microsoft.com/office/drawing/2014/main" id="{A7D52B3E-AF7B-4CDA-9C87-1C1CC772C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182BB50-215B-44D2-8C66-AB8E134B09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D3981C-3B2A-4C87-AB73-975AFE18DD67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037314" name="Rectangle 2">
            <a:extLst>
              <a:ext uri="{FF2B5EF4-FFF2-40B4-BE49-F238E27FC236}">
                <a16:creationId xmlns:a16="http://schemas.microsoft.com/office/drawing/2014/main" id="{764E54F8-6092-4528-9FC4-A952827FD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7315" name="Rectangle 3">
            <a:extLst>
              <a:ext uri="{FF2B5EF4-FFF2-40B4-BE49-F238E27FC236}">
                <a16:creationId xmlns:a16="http://schemas.microsoft.com/office/drawing/2014/main" id="{1D321295-53B5-491C-A521-353E5A435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3FE5C27-996D-498F-8798-B49268FFAE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5A5EE8-3ECD-453A-863C-CE751D674B38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039362" name="Rectangle 2">
            <a:extLst>
              <a:ext uri="{FF2B5EF4-FFF2-40B4-BE49-F238E27FC236}">
                <a16:creationId xmlns:a16="http://schemas.microsoft.com/office/drawing/2014/main" id="{CB51F7BB-DD8B-4C16-9C13-0066EEB3A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9363" name="Rectangle 3">
            <a:extLst>
              <a:ext uri="{FF2B5EF4-FFF2-40B4-BE49-F238E27FC236}">
                <a16:creationId xmlns:a16="http://schemas.microsoft.com/office/drawing/2014/main" id="{D3229F74-2A68-4ADC-991D-7641B878E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B570A93-3593-40EA-B638-B7BC568DF2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EBC8F6-1FDB-464C-B62C-7945A5952ECF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041410" name="Rectangle 2">
            <a:extLst>
              <a:ext uri="{FF2B5EF4-FFF2-40B4-BE49-F238E27FC236}">
                <a16:creationId xmlns:a16="http://schemas.microsoft.com/office/drawing/2014/main" id="{E7E63B1D-5494-4F06-993C-E1B84B9D02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1411" name="Rectangle 3">
            <a:extLst>
              <a:ext uri="{FF2B5EF4-FFF2-40B4-BE49-F238E27FC236}">
                <a16:creationId xmlns:a16="http://schemas.microsoft.com/office/drawing/2014/main" id="{2D2A5CC5-27C2-4625-BCEF-23806FB43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28DD491-8DD1-4C3D-85EB-7F435C0AC8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563D6C-34A9-4436-8AAC-AE182C1030EB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043458" name="Rectangle 2">
            <a:extLst>
              <a:ext uri="{FF2B5EF4-FFF2-40B4-BE49-F238E27FC236}">
                <a16:creationId xmlns:a16="http://schemas.microsoft.com/office/drawing/2014/main" id="{8F22C4CB-93DA-4E24-80FF-411F940B3C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3459" name="Rectangle 3">
            <a:extLst>
              <a:ext uri="{FF2B5EF4-FFF2-40B4-BE49-F238E27FC236}">
                <a16:creationId xmlns:a16="http://schemas.microsoft.com/office/drawing/2014/main" id="{085EB1B2-1E96-4580-801D-7642FD28F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459C018-5194-4F8A-83A7-027A00154E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B3C5CB-0858-41E9-B7EC-245C8D2EAA0B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045506" name="Rectangle 2">
            <a:extLst>
              <a:ext uri="{FF2B5EF4-FFF2-40B4-BE49-F238E27FC236}">
                <a16:creationId xmlns:a16="http://schemas.microsoft.com/office/drawing/2014/main" id="{D51D23E6-7043-46BA-970B-A5FF317434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5507" name="Rectangle 3">
            <a:extLst>
              <a:ext uri="{FF2B5EF4-FFF2-40B4-BE49-F238E27FC236}">
                <a16:creationId xmlns:a16="http://schemas.microsoft.com/office/drawing/2014/main" id="{8A1BD214-0395-44E0-8650-7AA8B321E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C06442F-BFB1-4959-8E2C-0F516197E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ED54A7-DBE1-49D3-8FED-A77F74B50C2F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049602" name="Rectangle 2">
            <a:extLst>
              <a:ext uri="{FF2B5EF4-FFF2-40B4-BE49-F238E27FC236}">
                <a16:creationId xmlns:a16="http://schemas.microsoft.com/office/drawing/2014/main" id="{29913F95-EE81-4500-BA53-5B758AC46B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9603" name="Rectangle 3">
            <a:extLst>
              <a:ext uri="{FF2B5EF4-FFF2-40B4-BE49-F238E27FC236}">
                <a16:creationId xmlns:a16="http://schemas.microsoft.com/office/drawing/2014/main" id="{0BC0D966-2F45-4A7F-81DA-8355620F7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5002C6F-9766-42D6-AB1F-6E28836EE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9927DF-D5AF-4E06-9F7D-45D0807B1F18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047554" name="Rectangle 2">
            <a:extLst>
              <a:ext uri="{FF2B5EF4-FFF2-40B4-BE49-F238E27FC236}">
                <a16:creationId xmlns:a16="http://schemas.microsoft.com/office/drawing/2014/main" id="{ED17C912-36BF-4011-8D2D-6758D9DCF7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7555" name="Rectangle 3">
            <a:extLst>
              <a:ext uri="{FF2B5EF4-FFF2-40B4-BE49-F238E27FC236}">
                <a16:creationId xmlns:a16="http://schemas.microsoft.com/office/drawing/2014/main" id="{1593CDB7-27A5-463A-B726-458B3AA18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E4F37A7-22A3-4B4F-BCDD-6D21353BA8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D97E2B-5FBD-456F-AE09-BFC15ADEA516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053698" name="Rectangle 2">
            <a:extLst>
              <a:ext uri="{FF2B5EF4-FFF2-40B4-BE49-F238E27FC236}">
                <a16:creationId xmlns:a16="http://schemas.microsoft.com/office/drawing/2014/main" id="{EA113170-1D13-44F0-A590-2AEA387B72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3699" name="Rectangle 3">
            <a:extLst>
              <a:ext uri="{FF2B5EF4-FFF2-40B4-BE49-F238E27FC236}">
                <a16:creationId xmlns:a16="http://schemas.microsoft.com/office/drawing/2014/main" id="{9E2E6454-8ECA-446F-8BEF-48363A948E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5EFE1BF-3C52-4774-8BF5-F55AFBF880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4FFA06-AA06-434F-B34E-7878E4B1D6E3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055746" name="Rectangle 2">
            <a:extLst>
              <a:ext uri="{FF2B5EF4-FFF2-40B4-BE49-F238E27FC236}">
                <a16:creationId xmlns:a16="http://schemas.microsoft.com/office/drawing/2014/main" id="{0820C76E-E1B1-456C-B670-D022302BCC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5747" name="Rectangle 3">
            <a:extLst>
              <a:ext uri="{FF2B5EF4-FFF2-40B4-BE49-F238E27FC236}">
                <a16:creationId xmlns:a16="http://schemas.microsoft.com/office/drawing/2014/main" id="{F719478C-AB1C-4B69-88A9-50CA43BEF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ADD0557-9E80-4C94-BFC6-5DC8FC010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0CAD56-895A-4775-9B53-6617CDFF45C6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057794" name="Rectangle 2">
            <a:extLst>
              <a:ext uri="{FF2B5EF4-FFF2-40B4-BE49-F238E27FC236}">
                <a16:creationId xmlns:a16="http://schemas.microsoft.com/office/drawing/2014/main" id="{31158233-64E2-4E36-BEB3-75F18A99DE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7795" name="Rectangle 3">
            <a:extLst>
              <a:ext uri="{FF2B5EF4-FFF2-40B4-BE49-F238E27FC236}">
                <a16:creationId xmlns:a16="http://schemas.microsoft.com/office/drawing/2014/main" id="{CD869426-440E-46D7-9561-B1FB4946F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EC2ED8-B8EB-43EB-AD93-9DB2E895B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4D2DA7-91BA-4383-A430-88F889864832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813058" name="Rectangle 2">
            <a:extLst>
              <a:ext uri="{FF2B5EF4-FFF2-40B4-BE49-F238E27FC236}">
                <a16:creationId xmlns:a16="http://schemas.microsoft.com/office/drawing/2014/main" id="{D9BBE0E8-A92C-45B3-B51B-EC54B34629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3059" name="Rectangle 3">
            <a:extLst>
              <a:ext uri="{FF2B5EF4-FFF2-40B4-BE49-F238E27FC236}">
                <a16:creationId xmlns:a16="http://schemas.microsoft.com/office/drawing/2014/main" id="{2DED7190-A33D-4E12-B728-24EDF8005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763CDAE-3CA5-4B12-AE11-68E364D8E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6892F2-6445-423A-AFEB-64BFEFDFC95D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969730" name="Rectangle 2">
            <a:extLst>
              <a:ext uri="{FF2B5EF4-FFF2-40B4-BE49-F238E27FC236}">
                <a16:creationId xmlns:a16="http://schemas.microsoft.com/office/drawing/2014/main" id="{53FF6BCA-3EEA-4F57-9184-608AE17EC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1" name="Rectangle 3">
            <a:extLst>
              <a:ext uri="{FF2B5EF4-FFF2-40B4-BE49-F238E27FC236}">
                <a16:creationId xmlns:a16="http://schemas.microsoft.com/office/drawing/2014/main" id="{30B1F236-F97D-4C02-BD6A-7CA32A8631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91" name="Rectangle 7">
            <a:extLst>
              <a:ext uri="{FF2B5EF4-FFF2-40B4-BE49-F238E27FC236}">
                <a16:creationId xmlns:a16="http://schemas.microsoft.com/office/drawing/2014/main" id="{84A21AC4-F404-4DD4-81C9-460F2AFEA9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63592" name="Rectangle 8">
            <a:extLst>
              <a:ext uri="{FF2B5EF4-FFF2-40B4-BE49-F238E27FC236}">
                <a16:creationId xmlns:a16="http://schemas.microsoft.com/office/drawing/2014/main" id="{45836433-0209-4218-876E-9A2CD20C56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63593" name="Rectangle 9">
            <a:extLst>
              <a:ext uri="{FF2B5EF4-FFF2-40B4-BE49-F238E27FC236}">
                <a16:creationId xmlns:a16="http://schemas.microsoft.com/office/drawing/2014/main" id="{207766E4-6410-43FA-B9FE-C0D3145F91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91D19774-D6B8-47DA-AC5D-8A78C4B6ACE8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63608" name="Rectangle 24">
            <a:extLst>
              <a:ext uri="{FF2B5EF4-FFF2-40B4-BE49-F238E27FC236}">
                <a16:creationId xmlns:a16="http://schemas.microsoft.com/office/drawing/2014/main" id="{A84947EA-2858-4422-8B6A-C7ED18F303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grpSp>
        <p:nvGrpSpPr>
          <p:cNvPr id="963609" name="Group 25">
            <a:extLst>
              <a:ext uri="{FF2B5EF4-FFF2-40B4-BE49-F238E27FC236}">
                <a16:creationId xmlns:a16="http://schemas.microsoft.com/office/drawing/2014/main" id="{A9B47DF1-A815-443C-9C6B-F5ABF0ED5A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963610" name="Group 26">
              <a:extLst>
                <a:ext uri="{FF2B5EF4-FFF2-40B4-BE49-F238E27FC236}">
                  <a16:creationId xmlns:a16="http://schemas.microsoft.com/office/drawing/2014/main" id="{1B9D7289-8B23-48DB-BF8D-76CD48119F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963611" name="Rectangle 27">
                <a:extLst>
                  <a:ext uri="{FF2B5EF4-FFF2-40B4-BE49-F238E27FC236}">
                    <a16:creationId xmlns:a16="http://schemas.microsoft.com/office/drawing/2014/main" id="{A860CD07-5630-4AAD-9DAC-6142F1B88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612" name="Rectangle 28">
                <a:extLst>
                  <a:ext uri="{FF2B5EF4-FFF2-40B4-BE49-F238E27FC236}">
                    <a16:creationId xmlns:a16="http://schemas.microsoft.com/office/drawing/2014/main" id="{20A03C15-65F3-4C31-BC6A-219DB8336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63613" name="Group 29">
              <a:extLst>
                <a:ext uri="{FF2B5EF4-FFF2-40B4-BE49-F238E27FC236}">
                  <a16:creationId xmlns:a16="http://schemas.microsoft.com/office/drawing/2014/main" id="{16B3C36D-F5A7-4050-8C76-0F95A04D7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63614" name="Rectangle 30">
                <a:extLst>
                  <a:ext uri="{FF2B5EF4-FFF2-40B4-BE49-F238E27FC236}">
                    <a16:creationId xmlns:a16="http://schemas.microsoft.com/office/drawing/2014/main" id="{3E575E0A-F9F6-4572-9137-FE7F93D7D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3615" name="Rectangle 31">
                <a:extLst>
                  <a:ext uri="{FF2B5EF4-FFF2-40B4-BE49-F238E27FC236}">
                    <a16:creationId xmlns:a16="http://schemas.microsoft.com/office/drawing/2014/main" id="{BBB0E59F-09AD-4039-9D6D-94A00AF8D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63616" name="Rectangle 32">
              <a:extLst>
                <a:ext uri="{FF2B5EF4-FFF2-40B4-BE49-F238E27FC236}">
                  <a16:creationId xmlns:a16="http://schemas.microsoft.com/office/drawing/2014/main" id="{A311B985-B7E7-4A6A-BDCB-64A05E7AD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617" name="Rectangle 33">
              <a:extLst>
                <a:ext uri="{FF2B5EF4-FFF2-40B4-BE49-F238E27FC236}">
                  <a16:creationId xmlns:a16="http://schemas.microsoft.com/office/drawing/2014/main" id="{183B086D-563B-4B25-9600-FCBC6C5B6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3618" name="Rectangle 34">
              <a:extLst>
                <a:ext uri="{FF2B5EF4-FFF2-40B4-BE49-F238E27FC236}">
                  <a16:creationId xmlns:a16="http://schemas.microsoft.com/office/drawing/2014/main" id="{6E07354A-308F-49ED-8BBC-4FDB1CADC3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96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60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B8EEA-9CCF-4185-816E-43B2BC5B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FF07A-4AA8-48D1-8BBB-E61EA3522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21264F-977C-4E23-BF7B-A939D8A4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8B330-CCE5-47EF-AB7B-F3F73663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1D3BC-AB75-4971-AD26-14690883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D2A65-0391-4169-8A6C-EC01B58F64F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62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724EB-4CB5-413F-9CB7-903541C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CAF2C0-5B30-4EB7-B567-F64808AE8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8E18B7-020C-4265-8A69-9DE353262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081F4-4B88-43E9-94C3-E4F15135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1F8BB-C338-42C2-9348-0C8A1B9B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97D42A-F6F9-4950-A172-0AD96D9712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07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250049-42B1-4B22-A19A-CA31FA46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716A7-FAC4-49A8-8668-5858A0D16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3AA596-46BB-4E35-920C-7D6693333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4022B-B8E7-42D6-8FB6-A5CF20ED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64A55C-DCE2-453B-BE9A-26580AAC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DE26F-DF94-4C43-9B2D-BAE7BF84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FCD5B-BCF3-4080-8E5D-EB5CAEC808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94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6AA5D-D9CE-443A-9ABB-8A53DC17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8F758B-C22D-49E0-BCB4-2AC744C13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1D9BEB-A17E-469C-819F-5469C839C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8D7BC0-AE18-4568-AF7C-852735475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A6DE62-B3FA-40D7-8C6A-7FEC121D4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F0D5C1-B6DB-4770-873F-F9F844D7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9A8940-EF34-49A7-930D-2287DC02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93C004-0A74-451F-833E-5521D160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3529B-5E78-469E-93CB-5B2C788B0F0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77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DC1D7-7CE7-4383-A1E0-BE184E15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B3E8D1-D6EE-4FA5-8E6C-9B7E9843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323704-6D76-4630-B311-442BCB5F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972E01-B824-459D-8BB6-A7900F49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DEA7C-A291-4B30-9464-7DE8CE8726E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56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F06362-8BB3-4C59-8C19-54A34A49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48EAAC-67DF-4F4E-B17F-058CC315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0441C4-FC3C-4D2E-985B-B3EB2ADD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D9177C-85CB-427D-8379-F454D36D0A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1620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B00CE-841C-4D8B-A7C1-A367DE06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F93B21-359C-42AE-B10F-317CF4D2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8E1ACA-DF7C-4DA1-81CF-295E02046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BAB0C-16D4-4C20-8D36-12C019AE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09BDF-3995-498E-A6CB-1018CEF3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196753-FF7B-4C04-A29E-824CEE28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0B396-B437-4FEE-874A-29C9074A00F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97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DAD01-92DF-415A-90B4-B9856B28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3BC64B-AB58-4E52-B21A-BD76C8AB4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83AC1C-7EE9-4D81-A963-0311C929F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D96331-F0B9-4FC6-ADAF-D85C91B4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6A8C06-F658-4713-B265-684465CB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4FFA09-400D-488E-AB25-4E1AACF3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265D7-4FBB-4D54-80C8-186FCAF720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60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5725E-E227-4E7C-94F0-73EBA973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B3A78E-CA03-430B-A051-5642C6FA5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19FFE4-37C4-47E5-9365-A551789A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B0DFC-5F7F-4D21-9FA6-0EDE6FEC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79EDE-C1CD-48EA-9119-93CE9EFE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8AFF9-95D4-4DD8-B25D-4D6A5EB2682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66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0ECF59-4A40-4FA9-AFBA-4F27F533D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BA9FED-7CDA-4316-9E32-3D0C1DC92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7EE61-B872-4323-8D06-E2CFF72F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4F6ABD-2607-477E-A42A-5E453D51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A6D39-1FFE-45ED-A87A-AC4F146B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D320FC-ED11-48D9-B464-39C33C594C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425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4" name="Rectangle 4">
            <a:extLst>
              <a:ext uri="{FF2B5EF4-FFF2-40B4-BE49-F238E27FC236}">
                <a16:creationId xmlns:a16="http://schemas.microsoft.com/office/drawing/2014/main" id="{289EE23C-E8E9-44FA-8D4E-D81742D06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62570" name="Rectangle 10">
            <a:extLst>
              <a:ext uri="{FF2B5EF4-FFF2-40B4-BE49-F238E27FC236}">
                <a16:creationId xmlns:a16="http://schemas.microsoft.com/office/drawing/2014/main" id="{64F7C070-DF6E-4A12-B85F-3E8F3D2E2C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62571" name="Rectangle 11">
            <a:extLst>
              <a:ext uri="{FF2B5EF4-FFF2-40B4-BE49-F238E27FC236}">
                <a16:creationId xmlns:a16="http://schemas.microsoft.com/office/drawing/2014/main" id="{43BFE943-5427-48DC-8E65-CE2E00FD6F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62572" name="Rectangle 12">
            <a:extLst>
              <a:ext uri="{FF2B5EF4-FFF2-40B4-BE49-F238E27FC236}">
                <a16:creationId xmlns:a16="http://schemas.microsoft.com/office/drawing/2014/main" id="{B1E4447D-3D56-423C-A082-B6AECEFE2E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21438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3A52254-94D2-4B41-B109-F12D7D1B7E1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62573" name="Rectangle 13">
            <a:extLst>
              <a:ext uri="{FF2B5EF4-FFF2-40B4-BE49-F238E27FC236}">
                <a16:creationId xmlns:a16="http://schemas.microsoft.com/office/drawing/2014/main" id="{CC85E08F-F7C1-462F-BCA1-CE5BA0920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62575" name="Rectangle 15">
            <a:extLst>
              <a:ext uri="{FF2B5EF4-FFF2-40B4-BE49-F238E27FC236}">
                <a16:creationId xmlns:a16="http://schemas.microsoft.com/office/drawing/2014/main" id="{BAAE93B6-5394-4A59-BFFE-63A5D12B49D4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6" name="Rectangle 16">
            <a:extLst>
              <a:ext uri="{FF2B5EF4-FFF2-40B4-BE49-F238E27FC236}">
                <a16:creationId xmlns:a16="http://schemas.microsoft.com/office/drawing/2014/main" id="{96BF1D28-9148-4CEE-84F6-3D186330E654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7" name="Rectangle 17">
            <a:extLst>
              <a:ext uri="{FF2B5EF4-FFF2-40B4-BE49-F238E27FC236}">
                <a16:creationId xmlns:a16="http://schemas.microsoft.com/office/drawing/2014/main" id="{A850A7D4-697C-49FC-9974-CF9CA16D4491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8" name="Rectangle 18">
            <a:extLst>
              <a:ext uri="{FF2B5EF4-FFF2-40B4-BE49-F238E27FC236}">
                <a16:creationId xmlns:a16="http://schemas.microsoft.com/office/drawing/2014/main" id="{FBED296F-0A9E-4DA3-ABB6-17D8BFFCF76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79" name="Rectangle 19">
            <a:extLst>
              <a:ext uri="{FF2B5EF4-FFF2-40B4-BE49-F238E27FC236}">
                <a16:creationId xmlns:a16="http://schemas.microsoft.com/office/drawing/2014/main" id="{AAB26C13-FE09-4333-A48B-F3929E285D9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2581" name="Rectangle 21">
            <a:extLst>
              <a:ext uri="{FF2B5EF4-FFF2-40B4-BE49-F238E27FC236}">
                <a16:creationId xmlns:a16="http://schemas.microsoft.com/office/drawing/2014/main" id="{5E74FCCF-74AE-4F07-A27C-94AAAA0C2D34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2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62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62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62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62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64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25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9625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hyperlink" Target="http://www.techcn.com.cn/uploads/200905/1243393727oXyLRazu.jp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858" name="Rectangle 2">
            <a:extLst>
              <a:ext uri="{FF2B5EF4-FFF2-40B4-BE49-F238E27FC236}">
                <a16:creationId xmlns:a16="http://schemas.microsoft.com/office/drawing/2014/main" id="{F9106EF9-3A86-4E2D-936F-94B1498344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关系数据库模式设计</a:t>
            </a:r>
          </a:p>
        </p:txBody>
      </p:sp>
      <p:sp>
        <p:nvSpPr>
          <p:cNvPr id="1017859" name="Rectangle 3">
            <a:extLst>
              <a:ext uri="{FF2B5EF4-FFF2-40B4-BE49-F238E27FC236}">
                <a16:creationId xmlns:a16="http://schemas.microsoft.com/office/drawing/2014/main" id="{86F134C1-CEA5-49CA-948B-16CB30A10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3887788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/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017860" name="Text Box 4">
            <a:extLst>
              <a:ext uri="{FF2B5EF4-FFF2-40B4-BE49-F238E27FC236}">
                <a16:creationId xmlns:a16="http://schemas.microsoft.com/office/drawing/2014/main" id="{CF5B780D-BADF-4F3F-AA66-2506C1138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708275"/>
            <a:ext cx="4681537" cy="7016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33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（第三讲）</a:t>
            </a:r>
            <a:endParaRPr lang="zh-CN" altLang="en-US" sz="4000" b="1" dirty="0">
              <a:solidFill>
                <a:srgbClr val="003366"/>
              </a:solidFill>
              <a:latin typeface="隶书" panose="02010509060101010101" pitchFamily="49" charset="-122"/>
              <a:ea typeface="华文新魏" panose="02010800040101010101" pitchFamily="2" charset="-122"/>
            </a:endParaRPr>
          </a:p>
        </p:txBody>
      </p:sp>
      <p:pic>
        <p:nvPicPr>
          <p:cNvPr id="1017861" name="Picture 5">
            <a:extLst>
              <a:ext uri="{FF2B5EF4-FFF2-40B4-BE49-F238E27FC236}">
                <a16:creationId xmlns:a16="http://schemas.microsoft.com/office/drawing/2014/main" id="{A540C83D-AA5B-44A6-AEB3-35B7BBD9C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57700"/>
            <a:ext cx="2411413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7864" name="Rectangle 8">
            <a:extLst>
              <a:ext uri="{FF2B5EF4-FFF2-40B4-BE49-F238E27FC236}">
                <a16:creationId xmlns:a16="http://schemas.microsoft.com/office/drawing/2014/main" id="{5C359DDC-B330-4F39-822D-1117D921E5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90688" y="3789363"/>
            <a:ext cx="5905500" cy="79216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4000" b="1">
                <a:solidFill>
                  <a:srgbClr val="0066FF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0"/>
    </mc:Choice>
    <mc:Fallback xmlns="">
      <p:transition spd="slow" advTm="32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Rectangle 2">
            <a:extLst>
              <a:ext uri="{FF2B5EF4-FFF2-40B4-BE49-F238E27FC236}">
                <a16:creationId xmlns:a16="http://schemas.microsoft.com/office/drawing/2014/main" id="{235727F6-FE3C-44A6-B1F4-2848CCD146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700213"/>
            <a:ext cx="8569325" cy="1041400"/>
          </a:xfrm>
        </p:spPr>
        <p:txBody>
          <a:bodyPr/>
          <a:lstStyle/>
          <a:p>
            <a:r>
              <a:rPr lang="zh-CN" altLang="en-US" dirty="0"/>
              <a:t>第三讲</a:t>
            </a:r>
          </a:p>
        </p:txBody>
      </p:sp>
      <p:sp>
        <p:nvSpPr>
          <p:cNvPr id="966660" name="Rectangle 4">
            <a:extLst>
              <a:ext uri="{FF2B5EF4-FFF2-40B4-BE49-F238E27FC236}">
                <a16:creationId xmlns:a16="http://schemas.microsoft.com/office/drawing/2014/main" id="{D942708B-B2E8-440C-A579-CE139EDC5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80963"/>
            <a:ext cx="4645025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6</a:t>
            </a: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 关系数据库模式设计</a:t>
            </a:r>
          </a:p>
        </p:txBody>
      </p:sp>
      <p:sp>
        <p:nvSpPr>
          <p:cNvPr id="966665" name="Rectangle 9">
            <a:extLst>
              <a:ext uri="{FF2B5EF4-FFF2-40B4-BE49-F238E27FC236}">
                <a16:creationId xmlns:a16="http://schemas.microsoft.com/office/drawing/2014/main" id="{03FA9578-3442-4DBC-9558-3F906F8A8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068638"/>
            <a:ext cx="6048375" cy="1944687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6.6 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关系模式的规范化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6.7 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关系模式的规范化方法小结</a:t>
            </a:r>
            <a:endParaRPr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72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66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2">
            <a:extLst>
              <a:ext uri="{FF2B5EF4-FFF2-40B4-BE49-F238E27FC236}">
                <a16:creationId xmlns:a16="http://schemas.microsoft.com/office/drawing/2014/main" id="{F565E9A4-D041-4372-8430-AD7EFBE0B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grpSp>
        <p:nvGrpSpPr>
          <p:cNvPr id="967683" name="Group 3">
            <a:extLst>
              <a:ext uri="{FF2B5EF4-FFF2-40B4-BE49-F238E27FC236}">
                <a16:creationId xmlns:a16="http://schemas.microsoft.com/office/drawing/2014/main" id="{868D6DB6-3486-4A39-B086-08F031D0B1E7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2005013"/>
            <a:ext cx="6048375" cy="863600"/>
            <a:chOff x="1066" y="1117"/>
            <a:chExt cx="3810" cy="544"/>
          </a:xfrm>
        </p:grpSpPr>
        <p:sp>
          <p:nvSpPr>
            <p:cNvPr id="967684" name="AutoShape 4">
              <a:extLst>
                <a:ext uri="{FF2B5EF4-FFF2-40B4-BE49-F238E27FC236}">
                  <a16:creationId xmlns:a16="http://schemas.microsoft.com/office/drawing/2014/main" id="{34C9B73E-9631-42F8-8BD7-9C9030ECAFD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1211"/>
              <a:ext cx="3503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685" name="AutoShape 5">
              <a:extLst>
                <a:ext uri="{FF2B5EF4-FFF2-40B4-BE49-F238E27FC236}">
                  <a16:creationId xmlns:a16="http://schemas.microsoft.com/office/drawing/2014/main" id="{44546DDE-EA15-43AB-BE3D-25CCC9B030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1117"/>
              <a:ext cx="553" cy="544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686" name="Text Box 6">
              <a:extLst>
                <a:ext uri="{FF2B5EF4-FFF2-40B4-BE49-F238E27FC236}">
                  <a16:creationId xmlns:a16="http://schemas.microsoft.com/office/drawing/2014/main" id="{5A422315-3AFE-4A72-882C-9B0FC1C8B4C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8" y="1256"/>
              <a:ext cx="2765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第一范式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967687" name="Text Box 7">
              <a:extLst>
                <a:ext uri="{FF2B5EF4-FFF2-40B4-BE49-F238E27FC236}">
                  <a16:creationId xmlns:a16="http://schemas.microsoft.com/office/drawing/2014/main" id="{87C7C15A-38A6-4AA5-800F-CA30C0A712B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1" y="1207"/>
              <a:ext cx="242" cy="326"/>
            </a:xfrm>
            <a:prstGeom prst="rect">
              <a:avLst/>
            </a:prstGeom>
            <a:noFill/>
            <a:ln>
              <a:noFill/>
            </a:ln>
            <a:effectLst>
              <a:outerShdw dist="17961" dir="81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967688" name="Group 8">
            <a:extLst>
              <a:ext uri="{FF2B5EF4-FFF2-40B4-BE49-F238E27FC236}">
                <a16:creationId xmlns:a16="http://schemas.microsoft.com/office/drawing/2014/main" id="{7E349BD1-EF87-4CBA-80DA-E56668F71654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2886075"/>
            <a:ext cx="6049962" cy="863600"/>
            <a:chOff x="1066" y="1728"/>
            <a:chExt cx="3811" cy="544"/>
          </a:xfrm>
        </p:grpSpPr>
        <p:sp>
          <p:nvSpPr>
            <p:cNvPr id="967689" name="AutoShape 9">
              <a:extLst>
                <a:ext uri="{FF2B5EF4-FFF2-40B4-BE49-F238E27FC236}">
                  <a16:creationId xmlns:a16="http://schemas.microsoft.com/office/drawing/2014/main" id="{BA19176F-C617-4EE5-892D-D84EDCEE04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1822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690" name="AutoShape 10">
              <a:extLst>
                <a:ext uri="{FF2B5EF4-FFF2-40B4-BE49-F238E27FC236}">
                  <a16:creationId xmlns:a16="http://schemas.microsoft.com/office/drawing/2014/main" id="{716D90C3-C186-4A56-8BF5-A5DDC1C0941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1728"/>
              <a:ext cx="553" cy="544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691" name="Text Box 11">
              <a:extLst>
                <a:ext uri="{FF2B5EF4-FFF2-40B4-BE49-F238E27FC236}">
                  <a16:creationId xmlns:a16="http://schemas.microsoft.com/office/drawing/2014/main" id="{00127180-4220-492F-AA7F-B8CC35572D2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7" y="1867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第二范式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967692" name="Text Box 12">
              <a:extLst>
                <a:ext uri="{FF2B5EF4-FFF2-40B4-BE49-F238E27FC236}">
                  <a16:creationId xmlns:a16="http://schemas.microsoft.com/office/drawing/2014/main" id="{F1AFD104-39C3-4C6B-8C68-A07FAB11901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2" y="1833"/>
              <a:ext cx="241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967693" name="Group 13">
            <a:extLst>
              <a:ext uri="{FF2B5EF4-FFF2-40B4-BE49-F238E27FC236}">
                <a16:creationId xmlns:a16="http://schemas.microsoft.com/office/drawing/2014/main" id="{EBBCB927-2D95-4BBB-BAF0-8CE9C56FAD25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3765550"/>
            <a:ext cx="6049962" cy="863600"/>
            <a:chOff x="1066" y="2401"/>
            <a:chExt cx="3811" cy="544"/>
          </a:xfrm>
        </p:grpSpPr>
        <p:sp>
          <p:nvSpPr>
            <p:cNvPr id="967694" name="AutoShape 14">
              <a:extLst>
                <a:ext uri="{FF2B5EF4-FFF2-40B4-BE49-F238E27FC236}">
                  <a16:creationId xmlns:a16="http://schemas.microsoft.com/office/drawing/2014/main" id="{6F53563E-9FDE-497C-9F18-1360F01BE6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2495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695" name="AutoShape 15">
              <a:extLst>
                <a:ext uri="{FF2B5EF4-FFF2-40B4-BE49-F238E27FC236}">
                  <a16:creationId xmlns:a16="http://schemas.microsoft.com/office/drawing/2014/main" id="{1AE0AF7D-B3A3-4BDC-9522-6A6F1E3B373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2401"/>
              <a:ext cx="553" cy="544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696" name="Text Box 16">
              <a:extLst>
                <a:ext uri="{FF2B5EF4-FFF2-40B4-BE49-F238E27FC236}">
                  <a16:creationId xmlns:a16="http://schemas.microsoft.com/office/drawing/2014/main" id="{A8A8C668-1247-4D13-94E8-04DF594E3EB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7" y="2540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第三范式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967697" name="Text Box 17">
              <a:extLst>
                <a:ext uri="{FF2B5EF4-FFF2-40B4-BE49-F238E27FC236}">
                  <a16:creationId xmlns:a16="http://schemas.microsoft.com/office/drawing/2014/main" id="{EC6253EF-58CF-4A37-849E-EB54A77BB8D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2" y="2523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967708" name="Group 28">
            <a:extLst>
              <a:ext uri="{FF2B5EF4-FFF2-40B4-BE49-F238E27FC236}">
                <a16:creationId xmlns:a16="http://schemas.microsoft.com/office/drawing/2014/main" id="{A29A4EAB-3CB5-4C93-826C-C2FFA02ECEF3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4646613"/>
            <a:ext cx="6049962" cy="863600"/>
            <a:chOff x="1020" y="3022"/>
            <a:chExt cx="3811" cy="544"/>
          </a:xfrm>
        </p:grpSpPr>
        <p:sp>
          <p:nvSpPr>
            <p:cNvPr id="967709" name="AutoShape 29">
              <a:extLst>
                <a:ext uri="{FF2B5EF4-FFF2-40B4-BE49-F238E27FC236}">
                  <a16:creationId xmlns:a16="http://schemas.microsoft.com/office/drawing/2014/main" id="{C167C9BA-E492-449B-AC50-F878F62CDD0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27" y="3116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710" name="AutoShape 30">
              <a:extLst>
                <a:ext uri="{FF2B5EF4-FFF2-40B4-BE49-F238E27FC236}">
                  <a16:creationId xmlns:a16="http://schemas.microsoft.com/office/drawing/2014/main" id="{DF29E2C8-046C-475F-8E4A-1566397480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20" y="3022"/>
              <a:ext cx="553" cy="544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711" name="Text Box 31">
              <a:extLst>
                <a:ext uri="{FF2B5EF4-FFF2-40B4-BE49-F238E27FC236}">
                  <a16:creationId xmlns:a16="http://schemas.microsoft.com/office/drawing/2014/main" id="{1109839F-BF6C-4005-BA88-0EC2BACDD39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91" y="3161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鲍依斯</a:t>
              </a:r>
              <a:r>
                <a:rPr lang="en-US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-</a:t>
              </a:r>
              <a:r>
                <a:rPr lang="zh-CN" altLang="en-US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柯德范式</a:t>
              </a:r>
            </a:p>
          </p:txBody>
        </p:sp>
        <p:sp>
          <p:nvSpPr>
            <p:cNvPr id="967712" name="Text Box 32">
              <a:extLst>
                <a:ext uri="{FF2B5EF4-FFF2-40B4-BE49-F238E27FC236}">
                  <a16:creationId xmlns:a16="http://schemas.microsoft.com/office/drawing/2014/main" id="{96CCEC3C-D3D0-4411-B58D-B3AD18EACDF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6" y="3113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</p:grpSp>
      <p:grpSp>
        <p:nvGrpSpPr>
          <p:cNvPr id="967713" name="Group 33">
            <a:extLst>
              <a:ext uri="{FF2B5EF4-FFF2-40B4-BE49-F238E27FC236}">
                <a16:creationId xmlns:a16="http://schemas.microsoft.com/office/drawing/2014/main" id="{CCB6CA95-1CBB-40FE-9115-086D04420E86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5527675"/>
            <a:ext cx="6049962" cy="854075"/>
            <a:chOff x="1020" y="3678"/>
            <a:chExt cx="3811" cy="538"/>
          </a:xfrm>
        </p:grpSpPr>
        <p:sp>
          <p:nvSpPr>
            <p:cNvPr id="967714" name="AutoShape 34">
              <a:extLst>
                <a:ext uri="{FF2B5EF4-FFF2-40B4-BE49-F238E27FC236}">
                  <a16:creationId xmlns:a16="http://schemas.microsoft.com/office/drawing/2014/main" id="{D3D3119E-74F6-492E-A6B8-8E0E24ACB0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27" y="3771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715" name="AutoShape 35">
              <a:extLst>
                <a:ext uri="{FF2B5EF4-FFF2-40B4-BE49-F238E27FC236}">
                  <a16:creationId xmlns:a16="http://schemas.microsoft.com/office/drawing/2014/main" id="{CF2E7CC7-360E-4FC7-B28A-8F10DDD9151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20" y="3678"/>
              <a:ext cx="553" cy="538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716" name="Text Box 36">
              <a:extLst>
                <a:ext uri="{FF2B5EF4-FFF2-40B4-BE49-F238E27FC236}">
                  <a16:creationId xmlns:a16="http://schemas.microsoft.com/office/drawing/2014/main" id="{B4115B04-2DB0-498E-9D23-17A716CE219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91" y="3815"/>
              <a:ext cx="2804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关系模型的规范化设计过程</a:t>
              </a:r>
              <a:endParaRPr lang="en-US" altLang="zh-CN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967717" name="Text Box 37">
              <a:extLst>
                <a:ext uri="{FF2B5EF4-FFF2-40B4-BE49-F238E27FC236}">
                  <a16:creationId xmlns:a16="http://schemas.microsoft.com/office/drawing/2014/main" id="{80E6AA1D-C8F6-4330-BBCA-E1E7CD6FA06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6" y="3783"/>
              <a:ext cx="241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</p:grpSp>
      <p:grpSp>
        <p:nvGrpSpPr>
          <p:cNvPr id="967718" name="Group 38">
            <a:extLst>
              <a:ext uri="{FF2B5EF4-FFF2-40B4-BE49-F238E27FC236}">
                <a16:creationId xmlns:a16="http://schemas.microsoft.com/office/drawing/2014/main" id="{E3B73E50-9525-42B3-B2F4-ACBC81717707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1125538"/>
            <a:ext cx="6049962" cy="863600"/>
            <a:chOff x="1066" y="2401"/>
            <a:chExt cx="3811" cy="544"/>
          </a:xfrm>
        </p:grpSpPr>
        <p:sp>
          <p:nvSpPr>
            <p:cNvPr id="967719" name="AutoShape 39">
              <a:extLst>
                <a:ext uri="{FF2B5EF4-FFF2-40B4-BE49-F238E27FC236}">
                  <a16:creationId xmlns:a16="http://schemas.microsoft.com/office/drawing/2014/main" id="{53781EC4-5D94-4925-8DC1-63CBB7A4D7E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3" y="2495"/>
              <a:ext cx="35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720" name="AutoShape 40">
              <a:extLst>
                <a:ext uri="{FF2B5EF4-FFF2-40B4-BE49-F238E27FC236}">
                  <a16:creationId xmlns:a16="http://schemas.microsoft.com/office/drawing/2014/main" id="{4808F13F-59B9-4469-BD76-4BDD681B98C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6" y="2401"/>
              <a:ext cx="553" cy="544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7721" name="Text Box 41">
              <a:extLst>
                <a:ext uri="{FF2B5EF4-FFF2-40B4-BE49-F238E27FC236}">
                  <a16:creationId xmlns:a16="http://schemas.microsoft.com/office/drawing/2014/main" id="{3B6F7779-E016-45FE-8BFF-770978AF893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37" y="2540"/>
              <a:ext cx="276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00"/>
                  </a:solidFill>
                  <a:latin typeface="仿宋_GB2312" charset="-122"/>
                  <a:ea typeface="仿宋_GB2312" charset="-122"/>
                </a:rPr>
                <a:t>候选键的求解方法</a:t>
              </a:r>
              <a:endParaRPr lang="zh-CN" altLang="en-US" sz="2800" b="1">
                <a:solidFill>
                  <a:srgbClr val="000000"/>
                </a:solidFill>
                <a:latin typeface="仿宋_GB2312" charset="-122"/>
                <a:ea typeface="仿宋_GB2312" charset="-122"/>
              </a:endParaRPr>
            </a:p>
          </p:txBody>
        </p:sp>
        <p:sp>
          <p:nvSpPr>
            <p:cNvPr id="967722" name="Text Box 42">
              <a:extLst>
                <a:ext uri="{FF2B5EF4-FFF2-40B4-BE49-F238E27FC236}">
                  <a16:creationId xmlns:a16="http://schemas.microsoft.com/office/drawing/2014/main" id="{EFC202EF-6FF8-4F00-AEB1-251EEF13331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12" y="2523"/>
              <a:ext cx="241" cy="326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47"/>
    </mc:Choice>
    <mc:Fallback xmlns="">
      <p:transition spd="slow" advTm="156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6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96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96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96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96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96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>
            <a:extLst>
              <a:ext uri="{FF2B5EF4-FFF2-40B4-BE49-F238E27FC236}">
                <a16:creationId xmlns:a16="http://schemas.microsoft.com/office/drawing/2014/main" id="{FAFD5951-A4D4-4AC5-AB61-3465ACB49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2739" name="Rectangle 3">
            <a:extLst>
              <a:ext uri="{FF2B5EF4-FFF2-40B4-BE49-F238E27FC236}">
                <a16:creationId xmlns:a16="http://schemas.microsoft.com/office/drawing/2014/main" id="{721A70D0-A4C1-4FE4-A209-49E7637AC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2751" name="AutoShape 15">
            <a:extLst>
              <a:ext uri="{FF2B5EF4-FFF2-40B4-BE49-F238E27FC236}">
                <a16:creationId xmlns:a16="http://schemas.microsoft.com/office/drawing/2014/main" id="{BDE41701-2CCC-41D6-B89F-85FC10420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388" y="1903413"/>
            <a:ext cx="1296987" cy="1020762"/>
          </a:xfrm>
          <a:prstGeom prst="flowChartMultidocument">
            <a:avLst/>
          </a:prstGeom>
          <a:solidFill>
            <a:srgbClr val="FF99CC"/>
          </a:solidFill>
          <a:ln w="254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el-GR" altLang="zh-CN" sz="32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ρ</a:t>
            </a:r>
          </a:p>
        </p:txBody>
      </p:sp>
      <p:sp>
        <p:nvSpPr>
          <p:cNvPr id="1012752" name="AutoShape 16">
            <a:extLst>
              <a:ext uri="{FF2B5EF4-FFF2-40B4-BE49-F238E27FC236}">
                <a16:creationId xmlns:a16="http://schemas.microsoft.com/office/drawing/2014/main" id="{AAF01FCC-80BC-4A2E-884E-53C78685B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2205038"/>
            <a:ext cx="1368425" cy="620712"/>
          </a:xfrm>
          <a:prstGeom prst="flowChartDocument">
            <a:avLst/>
          </a:prstGeom>
          <a:solidFill>
            <a:srgbClr val="990099"/>
          </a:solidFill>
          <a:ln w="12700" cap="sq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0099"/>
            </a:extrusionClr>
            <a:contourClr>
              <a:srgbClr val="9900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zh-CN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R(U,F)</a:t>
            </a:r>
          </a:p>
        </p:txBody>
      </p:sp>
      <p:sp>
        <p:nvSpPr>
          <p:cNvPr id="1012753" name="Rectangle 17">
            <a:extLst>
              <a:ext uri="{FF2B5EF4-FFF2-40B4-BE49-F238E27FC236}">
                <a16:creationId xmlns:a16="http://schemas.microsoft.com/office/drawing/2014/main" id="{680064B0-DBCC-47CF-8C8B-055B50A1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0" y="1989138"/>
            <a:ext cx="5510213" cy="647700"/>
          </a:xfrm>
          <a:prstGeom prst="rect">
            <a:avLst/>
          </a:prstGeom>
          <a:solidFill>
            <a:srgbClr val="00008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18000" tIns="10800" rIns="18000" bIns="10800" anchor="ctr" anchorCtr="1"/>
          <a:lstStyle/>
          <a:p>
            <a:pPr algn="ctr"/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= {R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(U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,F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),R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(U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,F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),…,R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k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(U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k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,F</a:t>
            </a:r>
            <a:r>
              <a:rPr lang="en-US" altLang="zh-CN" sz="2600" b="1" baseline="-30000">
                <a:solidFill>
                  <a:srgbClr val="FFFF00"/>
                </a:solidFill>
                <a:cs typeface="Times New Roman" panose="02020603050405020304" pitchFamily="18" charset="0"/>
              </a:rPr>
              <a:t>k</a:t>
            </a:r>
            <a:r>
              <a:rPr lang="en-US" altLang="zh-CN" sz="2600" b="1">
                <a:solidFill>
                  <a:srgbClr val="FFFF00"/>
                </a:solidFill>
                <a:cs typeface="Times New Roman" panose="02020603050405020304" pitchFamily="18" charset="0"/>
              </a:rPr>
              <a:t>)}</a:t>
            </a:r>
          </a:p>
        </p:txBody>
      </p:sp>
      <p:sp>
        <p:nvSpPr>
          <p:cNvPr id="1012754" name="AutoShape 18">
            <a:extLst>
              <a:ext uri="{FF2B5EF4-FFF2-40B4-BE49-F238E27FC236}">
                <a16:creationId xmlns:a16="http://schemas.microsoft.com/office/drawing/2014/main" id="{7B968FF0-1393-4D1B-B877-1E9FE6668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2276475"/>
            <a:ext cx="503238" cy="287338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12756" name="Group 20">
            <a:extLst>
              <a:ext uri="{FF2B5EF4-FFF2-40B4-BE49-F238E27FC236}">
                <a16:creationId xmlns:a16="http://schemas.microsoft.com/office/drawing/2014/main" id="{17F4A067-7C6F-4E5E-AEFF-1671161D9A3E}"/>
              </a:ext>
            </a:extLst>
          </p:cNvPr>
          <p:cNvGrpSpPr>
            <a:grpSpLocks/>
          </p:cNvGrpSpPr>
          <p:nvPr/>
        </p:nvGrpSpPr>
        <p:grpSpPr bwMode="auto">
          <a:xfrm>
            <a:off x="5075238" y="3143250"/>
            <a:ext cx="2266950" cy="2446338"/>
            <a:chOff x="3379" y="2296"/>
            <a:chExt cx="1428" cy="1541"/>
          </a:xfrm>
        </p:grpSpPr>
        <p:sp>
          <p:nvSpPr>
            <p:cNvPr id="1012757" name="AutoShape 21">
              <a:extLst>
                <a:ext uri="{FF2B5EF4-FFF2-40B4-BE49-F238E27FC236}">
                  <a16:creationId xmlns:a16="http://schemas.microsoft.com/office/drawing/2014/main" id="{92827BCA-881B-4CF4-88F6-C45F17E0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296"/>
              <a:ext cx="181" cy="408"/>
            </a:xfrm>
            <a:prstGeom prst="downArrow">
              <a:avLst>
                <a:gd name="adj1" fmla="val 50000"/>
                <a:gd name="adj2" fmla="val 56354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2758" name="Oval 22">
              <a:extLst>
                <a:ext uri="{FF2B5EF4-FFF2-40B4-BE49-F238E27FC236}">
                  <a16:creationId xmlns:a16="http://schemas.microsoft.com/office/drawing/2014/main" id="{89EA34FD-4FDD-4ADA-854B-A7789E891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2750"/>
              <a:ext cx="1428" cy="49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lIns="18000" tIns="0" rIns="18000" bIns="0" anchor="ctr" anchorCtr="1"/>
            <a:lstStyle/>
            <a:p>
              <a:r>
                <a:rPr lang="zh-CN" altLang="en-US" sz="2800" b="1">
                  <a:solidFill>
                    <a:srgbClr val="9900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anose="02010509060101010101" pitchFamily="49" charset="-122"/>
                </a:rPr>
                <a:t>衡量标准</a:t>
              </a:r>
            </a:p>
          </p:txBody>
        </p:sp>
        <p:sp>
          <p:nvSpPr>
            <p:cNvPr id="1012759" name="Oval 23">
              <a:extLst>
                <a:ext uri="{FF2B5EF4-FFF2-40B4-BE49-F238E27FC236}">
                  <a16:creationId xmlns:a16="http://schemas.microsoft.com/office/drawing/2014/main" id="{1DDF167D-5634-4B2E-B843-64AD0C1C7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3339"/>
              <a:ext cx="1428" cy="49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lIns="18000" tIns="0" rIns="18000" bIns="0" anchor="ctr" anchorCtr="1"/>
            <a:lstStyle/>
            <a:p>
              <a:r>
                <a:rPr lang="zh-CN" altLang="en-US" sz="2800" b="1">
                  <a:solidFill>
                    <a:srgbClr val="9900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anose="02010509060101010101" pitchFamily="49" charset="-122"/>
                </a:rPr>
                <a:t>改进措施</a:t>
              </a:r>
            </a:p>
          </p:txBody>
        </p:sp>
      </p:grpSp>
      <p:grpSp>
        <p:nvGrpSpPr>
          <p:cNvPr id="1012760" name="Group 24">
            <a:extLst>
              <a:ext uri="{FF2B5EF4-FFF2-40B4-BE49-F238E27FC236}">
                <a16:creationId xmlns:a16="http://schemas.microsoft.com/office/drawing/2014/main" id="{0A49AC92-184B-4F76-9CFF-731418CAF82A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35413"/>
            <a:ext cx="2663825" cy="1512887"/>
            <a:chOff x="975" y="2795"/>
            <a:chExt cx="1678" cy="953"/>
          </a:xfrm>
        </p:grpSpPr>
        <p:sp>
          <p:nvSpPr>
            <p:cNvPr id="1012761" name="Rectangle 25">
              <a:extLst>
                <a:ext uri="{FF2B5EF4-FFF2-40B4-BE49-F238E27FC236}">
                  <a16:creationId xmlns:a16="http://schemas.microsoft.com/office/drawing/2014/main" id="{77403246-D356-4507-8DF9-20B3D34A2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795"/>
              <a:ext cx="1360" cy="408"/>
            </a:xfrm>
            <a:prstGeom prst="rect">
              <a:avLst/>
            </a:prstGeom>
            <a:solidFill>
              <a:srgbClr val="00008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18000" tIns="0" rIns="18000" bIns="0" anchor="ctr"/>
            <a:lstStyle/>
            <a:p>
              <a:pPr algn="ctr"/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范式</a:t>
              </a:r>
            </a:p>
          </p:txBody>
        </p:sp>
        <p:sp>
          <p:nvSpPr>
            <p:cNvPr id="1012762" name="Rectangle 26">
              <a:extLst>
                <a:ext uri="{FF2B5EF4-FFF2-40B4-BE49-F238E27FC236}">
                  <a16:creationId xmlns:a16="http://schemas.microsoft.com/office/drawing/2014/main" id="{765C02DF-22B5-461B-B0A8-05291D9ED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3340"/>
              <a:ext cx="1361" cy="408"/>
            </a:xfrm>
            <a:prstGeom prst="rect">
              <a:avLst/>
            </a:prstGeom>
            <a:solidFill>
              <a:srgbClr val="000080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18000" tIns="0" rIns="18000" bIns="0" anchor="ctr"/>
            <a:lstStyle/>
            <a:p>
              <a:pPr algn="ctr"/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分解算法</a:t>
              </a:r>
            </a:p>
          </p:txBody>
        </p:sp>
        <p:sp>
          <p:nvSpPr>
            <p:cNvPr id="1012763" name="AutoShape 27">
              <a:extLst>
                <a:ext uri="{FF2B5EF4-FFF2-40B4-BE49-F238E27FC236}">
                  <a16:creationId xmlns:a16="http://schemas.microsoft.com/office/drawing/2014/main" id="{5F57FAAC-22AF-4423-9586-CAAE7AD5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931"/>
              <a:ext cx="181" cy="771"/>
            </a:xfrm>
            <a:prstGeom prst="leftBrace">
              <a:avLst>
                <a:gd name="adj1" fmla="val 3549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12764" name="AutoShape 28">
            <a:extLst>
              <a:ext uri="{FF2B5EF4-FFF2-40B4-BE49-F238E27FC236}">
                <a16:creationId xmlns:a16="http://schemas.microsoft.com/office/drawing/2014/main" id="{6A9222F5-9894-4BD4-860A-ADCB41406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88913"/>
            <a:ext cx="1512887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54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663"/>
    </mc:Choice>
    <mc:Fallback xmlns="">
      <p:transition spd="slow" advTm="856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1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12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12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1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1" name="AutoShape 3">
            <a:extLst>
              <a:ext uri="{FF2B5EF4-FFF2-40B4-BE49-F238E27FC236}">
                <a16:creationId xmlns:a16="http://schemas.microsoft.com/office/drawing/2014/main" id="{64514F8B-C450-4922-809B-F14AD6886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292600"/>
            <a:ext cx="5832475" cy="1800225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0000" rIns="18000" anchor="ctr"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范式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是符合某一种级别的关系模式的集合，是衡量关系模式规范化程度的标准。</a:t>
            </a:r>
          </a:p>
        </p:txBody>
      </p:sp>
      <p:sp>
        <p:nvSpPr>
          <p:cNvPr id="375813" name="AutoShape 5">
            <a:extLst>
              <a:ext uri="{FF2B5EF4-FFF2-40B4-BE49-F238E27FC236}">
                <a16:creationId xmlns:a16="http://schemas.microsoft.com/office/drawing/2014/main" id="{7536BF1F-7EE9-44CA-AAAA-CCC607AE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00213"/>
            <a:ext cx="7704138" cy="1800225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0000" rIns="18000" anchor="ctr"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范式理论是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E.F.Codd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首先提出的，他认为：</a:t>
            </a:r>
            <a:r>
              <a:rPr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一个关系数据库的关系，都应满足一定的规范，才能构造出好的数据模式。</a:t>
            </a:r>
          </a:p>
        </p:txBody>
      </p:sp>
      <p:sp>
        <p:nvSpPr>
          <p:cNvPr id="375815" name="AutoShape 7">
            <a:extLst>
              <a:ext uri="{FF2B5EF4-FFF2-40B4-BE49-F238E27FC236}">
                <a16:creationId xmlns:a16="http://schemas.microsoft.com/office/drawing/2014/main" id="{7292AB81-1679-4D77-8E71-370DD89E8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88913"/>
            <a:ext cx="1512887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54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</a:p>
        </p:txBody>
      </p:sp>
      <p:pic>
        <p:nvPicPr>
          <p:cNvPr id="375816" name="Picture 8" descr="（图）埃德加·科德">
            <a:hlinkClick r:id="rId4" tooltip="点击查看原图"/>
            <a:extLst>
              <a:ext uri="{FF2B5EF4-FFF2-40B4-BE49-F238E27FC236}">
                <a16:creationId xmlns:a16="http://schemas.microsoft.com/office/drawing/2014/main" id="{65040348-7B2A-4331-A1C2-9C77E981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925" y="4565650"/>
            <a:ext cx="1600200" cy="2276475"/>
          </a:xfrm>
          <a:prstGeom prst="rect">
            <a:avLst/>
          </a:prstGeom>
          <a:noFill/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 advTm="369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1" grpId="0" animBg="1"/>
      <p:bldP spid="3758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6" name="Rectangle 2">
            <a:extLst>
              <a:ext uri="{FF2B5EF4-FFF2-40B4-BE49-F238E27FC236}">
                <a16:creationId xmlns:a16="http://schemas.microsoft.com/office/drawing/2014/main" id="{2D44C40E-AD6A-4C8E-88FE-33EFD4DF2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25027" name="Rectangle 3">
            <a:extLst>
              <a:ext uri="{FF2B5EF4-FFF2-40B4-BE49-F238E27FC236}">
                <a16:creationId xmlns:a16="http://schemas.microsoft.com/office/drawing/2014/main" id="{AA38E5A9-BF34-4009-BE99-C325CBD26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、候选键的形式化定义</a:t>
            </a:r>
          </a:p>
          <a:p>
            <a:pPr algn="just"/>
            <a:r>
              <a:rPr lang="zh-CN" altLang="en-US" dirty="0">
                <a:solidFill>
                  <a:srgbClr val="008000"/>
                </a:solidFill>
                <a:latin typeface="楷体_GB2312" pitchFamily="49" charset="-122"/>
              </a:rPr>
              <a:t>分析</a:t>
            </a: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①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一个属性集能唯一地标识一个关系中的元组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>
                <a:solidFill>
                  <a:srgbClr val="FF0066"/>
                </a:solidFill>
                <a:latin typeface="楷体_GB2312" pitchFamily="49" charset="-122"/>
              </a:rPr>
              <a:t> </a:t>
            </a:r>
          </a:p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   ②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</a:rPr>
              <a:t>不含有多余的属性</a:t>
            </a:r>
          </a:p>
        </p:txBody>
      </p:sp>
      <p:sp>
        <p:nvSpPr>
          <p:cNvPr id="1025028" name="Text Box 4">
            <a:extLst>
              <a:ext uri="{FF2B5EF4-FFF2-40B4-BE49-F238E27FC236}">
                <a16:creationId xmlns:a16="http://schemas.microsoft.com/office/drawing/2014/main" id="{264E7CA2-73D7-4DCE-AAFF-E7D087E7B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9" y="3268663"/>
            <a:ext cx="2519760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X→A</a:t>
            </a:r>
            <a:r>
              <a:rPr lang="en-US" altLang="zh-CN" sz="2800" b="1" baseline="-30000" dirty="0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lang="en-US" altLang="zh-CN" sz="2800" b="1" baseline="-30000" dirty="0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</a:rPr>
              <a:t>…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A</a:t>
            </a:r>
            <a:r>
              <a:rPr lang="en-US" altLang="zh-CN" sz="2800" b="1" baseline="-30000" dirty="0">
                <a:solidFill>
                  <a:schemeClr val="tx2"/>
                </a:solidFill>
                <a:latin typeface="楷体_GB2312" pitchFamily="49" charset="-122"/>
              </a:rPr>
              <a:t>n</a:t>
            </a:r>
            <a:endParaRPr lang="zh-CN" altLang="en-US" sz="2800" b="1" baseline="-30000" dirty="0">
              <a:solidFill>
                <a:schemeClr val="tx2"/>
              </a:solidFill>
              <a:latin typeface="楷体_GB2312" pitchFamily="49" charset="-122"/>
            </a:endParaRPr>
          </a:p>
        </p:txBody>
      </p:sp>
      <p:sp>
        <p:nvSpPr>
          <p:cNvPr id="1025029" name="Text Box 5">
            <a:extLst>
              <a:ext uri="{FF2B5EF4-FFF2-40B4-BE49-F238E27FC236}">
                <a16:creationId xmlns:a16="http://schemas.microsoft.com/office/drawing/2014/main" id="{32B598C6-D6F1-4F7F-A28A-309C7BF52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349750"/>
            <a:ext cx="3816350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</a:rPr>
              <a:t>X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</a:rPr>
              <a:t>中没有多余的属性</a:t>
            </a:r>
            <a:endParaRPr lang="zh-CN" altLang="en-US" sz="2800" b="1" baseline="-30000">
              <a:solidFill>
                <a:schemeClr val="tx2"/>
              </a:solidFill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602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2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2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2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7" grpId="0" build="p"/>
      <p:bldP spid="1025028" grpId="0"/>
      <p:bldP spid="10250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0" name="Rectangle 2">
            <a:extLst>
              <a:ext uri="{FF2B5EF4-FFF2-40B4-BE49-F238E27FC236}">
                <a16:creationId xmlns:a16="http://schemas.microsoft.com/office/drawing/2014/main" id="{161D7CA8-0ED2-419D-A53F-50E9408DC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、候选键的形式化定义</a:t>
            </a:r>
            <a:endParaRPr lang="zh-CN" altLang="en-US">
              <a:solidFill>
                <a:srgbClr val="008000"/>
              </a:solidFill>
              <a:latin typeface="楷体_GB2312" pitchFamily="49" charset="-122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     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R(U,F)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和属性集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。如果：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①X→A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属于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②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不存在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的真子集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en-US" altLang="zh-CN" baseline="30000">
                <a:solidFill>
                  <a:srgbClr val="000000"/>
                </a:solidFill>
              </a:rPr>
              <a:t>’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，使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en-US" altLang="zh-CN" baseline="30000">
                <a:solidFill>
                  <a:srgbClr val="000000"/>
                </a:solidFill>
              </a:rPr>
              <a:t>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→A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∈F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。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  则称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的一个候选键。</a:t>
            </a:r>
          </a:p>
        </p:txBody>
      </p:sp>
      <p:sp>
        <p:nvSpPr>
          <p:cNvPr id="1026051" name="Rectangle 3">
            <a:extLst>
              <a:ext uri="{FF2B5EF4-FFF2-40B4-BE49-F238E27FC236}">
                <a16:creationId xmlns:a16="http://schemas.microsoft.com/office/drawing/2014/main" id="{928005F5-12B3-43E7-8623-1D7E54C8A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751"/>
    </mc:Choice>
    <mc:Fallback xmlns="">
      <p:transition spd="slow" advTm="1367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26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26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26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098" name="Rectangle 2">
            <a:extLst>
              <a:ext uri="{FF2B5EF4-FFF2-40B4-BE49-F238E27FC236}">
                <a16:creationId xmlns:a16="http://schemas.microsoft.com/office/drawing/2014/main" id="{B647AFED-6F75-4F59-BB67-DCBC1670E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28099" name="Rectangle 3">
            <a:extLst>
              <a:ext uri="{FF2B5EF4-FFF2-40B4-BE49-F238E27FC236}">
                <a16:creationId xmlns:a16="http://schemas.microsoft.com/office/drawing/2014/main" id="{40514412-210B-42FB-9F6B-4A0C89FDD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、候选键的充分条件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对于给定的关系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）和函数依赖集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，可将其属性分为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类：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① L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类：仅出现在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的函数依赖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左部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的属性；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② 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类：仅出现在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的函数依赖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右部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的属性；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③ 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类：在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左右两边均</a:t>
            </a:r>
            <a:r>
              <a:rPr lang="zh-CN" altLang="en-US">
                <a:solidFill>
                  <a:srgbClr val="006600"/>
                </a:solidFill>
                <a:latin typeface="楷体_GB2312" pitchFamily="49" charset="-122"/>
                <a:cs typeface="Times New Roman" panose="02020603050405020304" pitchFamily="18" charset="0"/>
              </a:rPr>
              <a:t>未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出现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的属性；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④ LR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类：在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左右两边均出现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的属性。</a:t>
            </a:r>
          </a:p>
        </p:txBody>
      </p:sp>
      <p:sp>
        <p:nvSpPr>
          <p:cNvPr id="1028100" name="Rectangle 4">
            <a:extLst>
              <a:ext uri="{FF2B5EF4-FFF2-40B4-BE49-F238E27FC236}">
                <a16:creationId xmlns:a16="http://schemas.microsoft.com/office/drawing/2014/main" id="{2FDB44C6-D8B8-4589-A303-804EB6A56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364038"/>
            <a:ext cx="7561263" cy="1728787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26000" anchor="ctr"/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设有关系模式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R(U ,F 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和属性集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U=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={A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的子集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类属性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必为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的某一候选键的成员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28101" name="Rectangle 5">
            <a:extLst>
              <a:ext uri="{FF2B5EF4-FFF2-40B4-BE49-F238E27FC236}">
                <a16:creationId xmlns:a16="http://schemas.microsoft.com/office/drawing/2014/main" id="{09581347-A4C0-41FB-AE92-04A44DC65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08500"/>
            <a:ext cx="7561263" cy="1728788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26000" anchor="ctr"/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设有关系模式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R(U ,F 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和属性集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U=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={A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的子集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类属性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不是任一候选键的成员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28102" name="Rectangle 6">
            <a:extLst>
              <a:ext uri="{FF2B5EF4-FFF2-40B4-BE49-F238E27FC236}">
                <a16:creationId xmlns:a16="http://schemas.microsoft.com/office/drawing/2014/main" id="{D79C1ADF-F5CE-42F4-B151-2FDF84A28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79938"/>
            <a:ext cx="7561263" cy="1728787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26000" anchor="ctr"/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(4)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设有关系模式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R(U ,F 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和属性集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U=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={A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的子集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若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N</a:t>
            </a:r>
            <a:r>
              <a:rPr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类属性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，则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X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必包含在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的任一候选键中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28103" name="Rectangle 7">
            <a:extLst>
              <a:ext uri="{FF2B5EF4-FFF2-40B4-BE49-F238E27FC236}">
                <a16:creationId xmlns:a16="http://schemas.microsoft.com/office/drawing/2014/main" id="{683C9FD7-9756-4ECE-B8C2-77871A5AE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79938"/>
            <a:ext cx="7561263" cy="1728787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126000" anchor="ctr"/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设有关系模式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R(U ,F 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和属性集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U= 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={A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="1" baseline="-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的子集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，若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类属性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800" b="1" baseline="30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包含了</a:t>
            </a:r>
            <a:r>
              <a:rPr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的全部属性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X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必为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的唯一候选键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278"/>
    </mc:Choice>
    <mc:Fallback xmlns="">
      <p:transition spd="slow" advTm="2492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2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2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8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8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2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8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2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8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02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099" grpId="0" uiExpand="1" build="p"/>
      <p:bldP spid="1028100" grpId="0" uiExpand="1" animBg="1"/>
      <p:bldP spid="1028101" grpId="0" uiExpand="1" animBg="1"/>
      <p:bldP spid="1028102" grpId="0" uiExpand="1" animBg="1"/>
      <p:bldP spid="1028103" grpId="0" uiExpan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6" name="Rectangle 2">
            <a:extLst>
              <a:ext uri="{FF2B5EF4-FFF2-40B4-BE49-F238E27FC236}">
                <a16:creationId xmlns:a16="http://schemas.microsoft.com/office/drawing/2014/main" id="{863E5979-4515-46E9-96D3-8E4A8C0DA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30147" name="Rectangle 3">
            <a:extLst>
              <a:ext uri="{FF2B5EF4-FFF2-40B4-BE49-F238E27FC236}">
                <a16:creationId xmlns:a16="http://schemas.microsoft.com/office/drawing/2014/main" id="{B1695418-2D13-4413-A93D-1EEE56343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、候选键的充分条件</a:t>
            </a:r>
          </a:p>
          <a:p>
            <a:pPr algn="just"/>
            <a:r>
              <a:rPr lang="zh-CN" altLang="en-US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  <a:cs typeface="Times New Roman" panose="02020603050405020304" pitchFamily="18" charset="0"/>
              </a:rPr>
              <a:t>(5) </a:t>
            </a:r>
            <a:r>
              <a:rPr lang="zh-CN" altLang="en-US">
                <a:latin typeface="楷体_GB2312" pitchFamily="49" charset="-122"/>
              </a:rPr>
              <a:t>设有关系模式</a:t>
            </a:r>
            <a:r>
              <a:rPr lang="en-US" altLang="zh-CN">
                <a:latin typeface="楷体_GB2312" pitchFamily="49" charset="-122"/>
              </a:rPr>
              <a:t>R(U,F)</a:t>
            </a:r>
            <a:r>
              <a:rPr lang="zh-CN" altLang="en-US">
                <a:latin typeface="楷体_GB2312" pitchFamily="49" charset="-122"/>
              </a:rPr>
              <a:t>和属性集</a:t>
            </a:r>
            <a:r>
              <a:rPr lang="en-US" altLang="zh-CN">
                <a:latin typeface="楷体_GB2312" pitchFamily="49" charset="-122"/>
              </a:rPr>
              <a:t>U=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latin typeface="楷体_GB2312" pitchFamily="49" charset="-122"/>
              </a:rPr>
              <a:t>的子集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类和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类属性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组成的属性集，且</a:t>
            </a: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>
                <a:solidFill>
                  <a:srgbClr val="800080"/>
                </a:solidFill>
                <a:latin typeface="楷体_GB2312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cs typeface="Times New Roman" panose="02020603050405020304" pitchFamily="18" charset="0"/>
              </a:rPr>
              <a:t>包含了</a:t>
            </a:r>
            <a:r>
              <a:rPr lang="en-US" altLang="zh-CN">
                <a:solidFill>
                  <a:srgbClr val="80008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800080"/>
                </a:solidFill>
                <a:latin typeface="楷体_GB2312" pitchFamily="49" charset="-122"/>
                <a:cs typeface="Times New Roman" panose="02020603050405020304" pitchFamily="18" charset="0"/>
              </a:rPr>
              <a:t>的全部属性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的唯一候选键。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67"/>
    </mc:Choice>
    <mc:Fallback xmlns="">
      <p:transition spd="slow" advTm="278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3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14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94" name="Rectangle 2">
            <a:extLst>
              <a:ext uri="{FF2B5EF4-FFF2-40B4-BE49-F238E27FC236}">
                <a16:creationId xmlns:a16="http://schemas.microsoft.com/office/drawing/2014/main" id="{350B17DF-7E7C-4755-83AC-5B0F25D1D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32195" name="Rectangle 3">
            <a:extLst>
              <a:ext uri="{FF2B5EF4-FFF2-40B4-BE49-F238E27FC236}">
                <a16:creationId xmlns:a16="http://schemas.microsoft.com/office/drawing/2014/main" id="{E4DF251D-2B9E-471C-BD6F-E2359493B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、候选键的充分条件</a:t>
            </a:r>
          </a:p>
        </p:txBody>
      </p:sp>
      <p:sp>
        <p:nvSpPr>
          <p:cNvPr id="1032196" name="Rectangle 4">
            <a:extLst>
              <a:ext uri="{FF2B5EF4-FFF2-40B4-BE49-F238E27FC236}">
                <a16:creationId xmlns:a16="http://schemas.microsoft.com/office/drawing/2014/main" id="{4447C032-9796-4FAE-9B2E-69D27142A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278063"/>
            <a:ext cx="4968875" cy="1152525"/>
          </a:xfrm>
          <a:prstGeom prst="rect">
            <a:avLst/>
          </a:prstGeom>
          <a:solidFill>
            <a:srgbClr val="CCFFFF"/>
          </a:solidFill>
          <a:ln w="254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先找出所有的</a:t>
            </a:r>
            <a:r>
              <a:rPr lang="en-US" altLang="zh-CN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类和</a:t>
            </a:r>
            <a:r>
              <a:rPr lang="en-US" altLang="zh-CN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类属性，</a:t>
            </a:r>
          </a:p>
          <a:p>
            <a:pPr algn="ctr"/>
            <a:r>
              <a:rPr lang="zh-CN" altLang="en-US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令它们的并集等于</a:t>
            </a:r>
            <a:r>
              <a:rPr lang="en-US" altLang="zh-CN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</a:p>
        </p:txBody>
      </p:sp>
      <p:grpSp>
        <p:nvGrpSpPr>
          <p:cNvPr id="1032197" name="Group 5">
            <a:extLst>
              <a:ext uri="{FF2B5EF4-FFF2-40B4-BE49-F238E27FC236}">
                <a16:creationId xmlns:a16="http://schemas.microsoft.com/office/drawing/2014/main" id="{31BE8BB3-D349-4230-BF07-8E825557494D}"/>
              </a:ext>
            </a:extLst>
          </p:cNvPr>
          <p:cNvGrpSpPr>
            <a:grpSpLocks/>
          </p:cNvGrpSpPr>
          <p:nvPr/>
        </p:nvGrpSpPr>
        <p:grpSpPr bwMode="auto">
          <a:xfrm>
            <a:off x="3040063" y="3502025"/>
            <a:ext cx="2808287" cy="1152525"/>
            <a:chOff x="2217" y="2432"/>
            <a:chExt cx="1769" cy="726"/>
          </a:xfrm>
        </p:grpSpPr>
        <p:sp>
          <p:nvSpPr>
            <p:cNvPr id="1032198" name="Rectangle 6">
              <a:extLst>
                <a:ext uri="{FF2B5EF4-FFF2-40B4-BE49-F238E27FC236}">
                  <a16:creationId xmlns:a16="http://schemas.microsoft.com/office/drawing/2014/main" id="{B7F796C6-9A78-4279-8C99-938C54E69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704"/>
              <a:ext cx="1769" cy="454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tIns="0" rIns="0" bIns="0" anchor="ctr" anchorCtr="1"/>
            <a:lstStyle/>
            <a:p>
              <a:pPr algn="ctr"/>
              <a:r>
                <a:rPr lang="zh-CN" altLang="en-US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计算</a:t>
              </a:r>
              <a:r>
                <a:rPr lang="en-US" altLang="zh-CN" sz="28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+</a:t>
              </a:r>
              <a:endParaRPr lang="en-US" altLang="zh-CN" sz="28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2199" name="AutoShape 7">
              <a:extLst>
                <a:ext uri="{FF2B5EF4-FFF2-40B4-BE49-F238E27FC236}">
                  <a16:creationId xmlns:a16="http://schemas.microsoft.com/office/drawing/2014/main" id="{DFF3B422-0B35-4A11-AF91-35405FF38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432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0" tIns="0" rIns="0" bIns="0" anchor="ctr" anchorCtr="1"/>
            <a:lstStyle/>
            <a:p>
              <a:endParaRPr lang="zh-CN" altLang="en-US"/>
            </a:p>
          </p:txBody>
        </p:sp>
      </p:grpSp>
      <p:grpSp>
        <p:nvGrpSpPr>
          <p:cNvPr id="1032200" name="Group 8">
            <a:extLst>
              <a:ext uri="{FF2B5EF4-FFF2-40B4-BE49-F238E27FC236}">
                <a16:creationId xmlns:a16="http://schemas.microsoft.com/office/drawing/2014/main" id="{EB7BF472-E5B8-49E4-9E72-459976A9AAFB}"/>
              </a:ext>
            </a:extLst>
          </p:cNvPr>
          <p:cNvGrpSpPr>
            <a:grpSpLocks/>
          </p:cNvGrpSpPr>
          <p:nvPr/>
        </p:nvGrpSpPr>
        <p:grpSpPr bwMode="auto">
          <a:xfrm>
            <a:off x="2679700" y="4725988"/>
            <a:ext cx="3455988" cy="1366837"/>
            <a:chOff x="1963" y="3203"/>
            <a:chExt cx="2177" cy="861"/>
          </a:xfrm>
        </p:grpSpPr>
        <p:sp>
          <p:nvSpPr>
            <p:cNvPr id="1032201" name="AutoShape 9">
              <a:extLst>
                <a:ext uri="{FF2B5EF4-FFF2-40B4-BE49-F238E27FC236}">
                  <a16:creationId xmlns:a16="http://schemas.microsoft.com/office/drawing/2014/main" id="{90C23882-7A44-42F5-9BEE-984FB7026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3" y="3475"/>
              <a:ext cx="2177" cy="589"/>
            </a:xfrm>
            <a:prstGeom prst="flowChartDecision">
              <a:avLst/>
            </a:prstGeom>
            <a:solidFill>
              <a:srgbClr val="000050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=U</a:t>
              </a:r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  <a:endParaRPr lang="zh-CN" altLang="en-US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2202" name="AutoShape 10">
              <a:extLst>
                <a:ext uri="{FF2B5EF4-FFF2-40B4-BE49-F238E27FC236}">
                  <a16:creationId xmlns:a16="http://schemas.microsoft.com/office/drawing/2014/main" id="{7169FE6E-28F1-4699-A27F-3D0A903B9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203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0" tIns="0" rIns="0" bIns="0" anchor="ctr" anchorCtr="1"/>
            <a:lstStyle/>
            <a:p>
              <a:endParaRPr lang="zh-CN" altLang="en-US"/>
            </a:p>
          </p:txBody>
        </p:sp>
      </p:grpSp>
      <p:grpSp>
        <p:nvGrpSpPr>
          <p:cNvPr id="1032203" name="Group 11">
            <a:extLst>
              <a:ext uri="{FF2B5EF4-FFF2-40B4-BE49-F238E27FC236}">
                <a16:creationId xmlns:a16="http://schemas.microsoft.com/office/drawing/2014/main" id="{A1343A67-03AB-4D47-A61D-6D4D361F4034}"/>
              </a:ext>
            </a:extLst>
          </p:cNvPr>
          <p:cNvGrpSpPr>
            <a:grpSpLocks/>
          </p:cNvGrpSpPr>
          <p:nvPr/>
        </p:nvGrpSpPr>
        <p:grpSpPr bwMode="auto">
          <a:xfrm>
            <a:off x="6135688" y="5086350"/>
            <a:ext cx="2252662" cy="877888"/>
            <a:chOff x="4092" y="3421"/>
            <a:chExt cx="1419" cy="553"/>
          </a:xfrm>
        </p:grpSpPr>
        <p:sp>
          <p:nvSpPr>
            <p:cNvPr id="1032204" name="Rectangle 12">
              <a:extLst>
                <a:ext uri="{FF2B5EF4-FFF2-40B4-BE49-F238E27FC236}">
                  <a16:creationId xmlns:a16="http://schemas.microsoft.com/office/drawing/2014/main" id="{20BEA211-9054-4B44-9C6F-FBCCD4511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3520"/>
              <a:ext cx="1089" cy="454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为候选键</a:t>
              </a:r>
              <a:endParaRPr lang="zh-CN" altLang="en-US" sz="28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32205" name="AutoShape 13">
              <a:extLst>
                <a:ext uri="{FF2B5EF4-FFF2-40B4-BE49-F238E27FC236}">
                  <a16:creationId xmlns:a16="http://schemas.microsoft.com/office/drawing/2014/main" id="{6C9FA7C0-5831-4989-A4CB-42D4AA850E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209" y="3634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2206" name="Text Box 14">
              <a:extLst>
                <a:ext uri="{FF2B5EF4-FFF2-40B4-BE49-F238E27FC236}">
                  <a16:creationId xmlns:a16="http://schemas.microsoft.com/office/drawing/2014/main" id="{A6A70FAA-A892-4B0D-986F-542446011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" y="3421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0" rIns="0" bIns="0" anchor="ctr" anchorCtr="1"/>
            <a:lstStyle/>
            <a:p>
              <a:r>
                <a:rPr lang="en-US" altLang="zh-CN" sz="2800" b="1">
                  <a:solidFill>
                    <a:srgbClr val="000000"/>
                  </a:solidFill>
                </a:rPr>
                <a:t>Y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829"/>
    </mc:Choice>
    <mc:Fallback xmlns="">
      <p:transition spd="slow" advTm="488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3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3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3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19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42" name="Text Box 2">
            <a:extLst>
              <a:ext uri="{FF2B5EF4-FFF2-40B4-BE49-F238E27FC236}">
                <a16:creationId xmlns:a16="http://schemas.microsoft.com/office/drawing/2014/main" id="{FE68BBE0-9229-44ED-B1AC-848AF14F5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4221163"/>
            <a:ext cx="4897438" cy="682625"/>
          </a:xfrm>
          <a:prstGeom prst="rect">
            <a:avLst/>
          </a:prstGeom>
          <a:solidFill>
            <a:srgbClr val="333399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tIns="0" bIns="0" anchor="ctr" anchorCtr="1"/>
          <a:lstStyle/>
          <a:p>
            <a:pPr algn="ctr"/>
            <a:r>
              <a:rPr lang="en-US" altLang="en-US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R的候选键</a:t>
            </a:r>
            <a:r>
              <a:rPr lang="zh-CN" altLang="en-US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CEP</a:t>
            </a:r>
          </a:p>
        </p:txBody>
      </p:sp>
      <p:sp>
        <p:nvSpPr>
          <p:cNvPr id="1034243" name="Rectangle 3">
            <a:extLst>
              <a:ext uri="{FF2B5EF4-FFF2-40B4-BE49-F238E27FC236}">
                <a16:creationId xmlns:a16="http://schemas.microsoft.com/office/drawing/2014/main" id="{63159027-E069-4360-87B4-57C3593B9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34244" name="Rectangle 4">
            <a:extLst>
              <a:ext uri="{FF2B5EF4-FFF2-40B4-BE49-F238E27FC236}">
                <a16:creationId xmlns:a16="http://schemas.microsoft.com/office/drawing/2014/main" id="{3D2AFBC7-7D7A-4FA0-BC28-DA42F883DB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、候选键的充分条件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i="1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A,B,C,D,E,P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{A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D,E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D,D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B,BC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D,DC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A},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的所有候选键。</a:t>
            </a:r>
          </a:p>
        </p:txBody>
      </p:sp>
      <p:sp>
        <p:nvSpPr>
          <p:cNvPr id="1034245" name="Line 5">
            <a:extLst>
              <a:ext uri="{FF2B5EF4-FFF2-40B4-BE49-F238E27FC236}">
                <a16:creationId xmlns:a16="http://schemas.microsoft.com/office/drawing/2014/main" id="{0FB346DC-9CB3-45F0-8A67-6586FA8D4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2492375"/>
            <a:ext cx="288925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46" name="Line 6">
            <a:extLst>
              <a:ext uri="{FF2B5EF4-FFF2-40B4-BE49-F238E27FC236}">
                <a16:creationId xmlns:a16="http://schemas.microsoft.com/office/drawing/2014/main" id="{4695435D-857E-43E0-BE72-A9FD9B020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997200"/>
            <a:ext cx="288925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47" name="Line 7">
            <a:extLst>
              <a:ext uri="{FF2B5EF4-FFF2-40B4-BE49-F238E27FC236}">
                <a16:creationId xmlns:a16="http://schemas.microsoft.com/office/drawing/2014/main" id="{8F9A0F36-FEB2-45EE-BD96-B2F1AEBF8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2997200"/>
            <a:ext cx="288925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550"/>
    </mc:Choice>
    <mc:Fallback xmlns="">
      <p:transition spd="slow" advTm="71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34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3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42" grpId="0" animBg="1"/>
      <p:bldP spid="103424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295" name="Rectangle 7">
            <a:extLst>
              <a:ext uri="{FF2B5EF4-FFF2-40B4-BE49-F238E27FC236}">
                <a16:creationId xmlns:a16="http://schemas.microsoft.com/office/drawing/2014/main" id="{CDA8E497-0064-47B6-A949-92208C6E4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36296" name="Rectangle 8">
            <a:extLst>
              <a:ext uri="{FF2B5EF4-FFF2-40B4-BE49-F238E27FC236}">
                <a16:creationId xmlns:a16="http://schemas.microsoft.com/office/drawing/2014/main" id="{1C24A377-A2F9-4272-83E1-E14380BE5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候选键的依赖图判定方法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/>
              <a:t>       设关系模式</a:t>
            </a:r>
            <a:r>
              <a:rPr lang="en-US" altLang="zh-CN"/>
              <a:t>R</a:t>
            </a:r>
            <a:r>
              <a:rPr lang="zh-CN" altLang="en-US"/>
              <a:t>的依赖集</a:t>
            </a:r>
            <a:r>
              <a:rPr lang="en-US" altLang="zh-CN"/>
              <a:t>F</a:t>
            </a:r>
            <a:r>
              <a:rPr lang="zh-CN" altLang="en-US"/>
              <a:t>已经为最小依赖集（即，蕴含依赖右端只有单个属性），且</a:t>
            </a:r>
            <a:r>
              <a:rPr lang="en-US" altLang="zh-CN"/>
              <a:t>F</a:t>
            </a:r>
            <a:r>
              <a:rPr lang="zh-CN" altLang="en-US"/>
              <a:t>中</a:t>
            </a:r>
            <a:r>
              <a:rPr lang="zh-CN" altLang="en-US">
                <a:solidFill>
                  <a:schemeClr val="tx2"/>
                </a:solidFill>
              </a:rPr>
              <a:t>每个函数依赖的左边为单个属性</a:t>
            </a:r>
            <a:r>
              <a:rPr lang="zh-CN" altLang="en-US"/>
              <a:t>，则关系模式</a:t>
            </a:r>
            <a:r>
              <a:rPr lang="en-US" altLang="zh-CN"/>
              <a:t>R</a:t>
            </a:r>
            <a:r>
              <a:rPr lang="zh-CN" altLang="en-US"/>
              <a:t>的函数依赖图是一个有序二元组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G=(R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F)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67"/>
    </mc:Choice>
    <mc:Fallback xmlns="">
      <p:transition spd="slow" advTm="372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36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36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29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38" name="AutoShape 2">
            <a:extLst>
              <a:ext uri="{FF2B5EF4-FFF2-40B4-BE49-F238E27FC236}">
                <a16:creationId xmlns:a16="http://schemas.microsoft.com/office/drawing/2014/main" id="{9AD93EEA-12A8-41C6-A0EC-0D2DAF57F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287838"/>
            <a:ext cx="612775" cy="582612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1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38339" name="AutoShape 3">
            <a:extLst>
              <a:ext uri="{FF2B5EF4-FFF2-40B4-BE49-F238E27FC236}">
                <a16:creationId xmlns:a16="http://schemas.microsoft.com/office/drawing/2014/main" id="{049A094C-DAEC-497C-A78F-047D2CF9A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4279900"/>
            <a:ext cx="614362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2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38340" name="AutoShape 4">
            <a:extLst>
              <a:ext uri="{FF2B5EF4-FFF2-40B4-BE49-F238E27FC236}">
                <a16:creationId xmlns:a16="http://schemas.microsoft.com/office/drawing/2014/main" id="{72E309E6-8FD5-4811-B3A7-C31AE5750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149850"/>
            <a:ext cx="614363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i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38341" name="AutoShape 5">
            <a:extLst>
              <a:ext uri="{FF2B5EF4-FFF2-40B4-BE49-F238E27FC236}">
                <a16:creationId xmlns:a16="http://schemas.microsoft.com/office/drawing/2014/main" id="{F076AC0D-12ED-4097-BDCF-D3710B3B5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149850"/>
            <a:ext cx="614362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j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38342" name="AutoShape 6">
            <a:extLst>
              <a:ext uri="{FF2B5EF4-FFF2-40B4-BE49-F238E27FC236}">
                <a16:creationId xmlns:a16="http://schemas.microsoft.com/office/drawing/2014/main" id="{0E9B4736-B04D-4706-81DD-E86BC43B1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510088"/>
            <a:ext cx="614363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n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38343" name="Rectangle 7">
            <a:extLst>
              <a:ext uri="{FF2B5EF4-FFF2-40B4-BE49-F238E27FC236}">
                <a16:creationId xmlns:a16="http://schemas.microsoft.com/office/drawing/2014/main" id="{B923F70B-F402-45F7-9F54-75E94E871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38344" name="Rectangle 8">
            <a:extLst>
              <a:ext uri="{FF2B5EF4-FFF2-40B4-BE49-F238E27FC236}">
                <a16:creationId xmlns:a16="http://schemas.microsoft.com/office/drawing/2014/main" id="{39A4A8E3-9E0F-4249-995F-6A957BE673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dirty="0"/>
              <a:t>候选键的依赖图判定方法</a:t>
            </a:r>
            <a:endParaRPr lang="en-US" altLang="zh-CN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U={A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是一个有限非空集，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=1,2,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,n)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的结点；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76"/>
    </mc:Choice>
    <mc:Fallback xmlns="">
      <p:transition spd="slow" advTm="282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8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8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38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500"/>
                                        <p:tgtEl>
                                          <p:spTgt spid="103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8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8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500"/>
                                        <p:tgtEl>
                                          <p:spTgt spid="103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8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38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500"/>
                                        <p:tgtEl>
                                          <p:spTgt spid="103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38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38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500"/>
                                        <p:tgtEl>
                                          <p:spTgt spid="103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8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8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500"/>
                                        <p:tgtEl>
                                          <p:spTgt spid="103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338" grpId="0" animBg="1"/>
      <p:bldP spid="1038339" grpId="0" animBg="1"/>
      <p:bldP spid="1038340" grpId="0" animBg="1"/>
      <p:bldP spid="1038341" grpId="0" animBg="1"/>
      <p:bldP spid="1038342" grpId="0" animBg="1"/>
      <p:bldP spid="103834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386" name="AutoShape 2">
            <a:extLst>
              <a:ext uri="{FF2B5EF4-FFF2-40B4-BE49-F238E27FC236}">
                <a16:creationId xmlns:a16="http://schemas.microsoft.com/office/drawing/2014/main" id="{CF34A70D-6E8A-4940-9A3D-820CAF3F2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516438"/>
            <a:ext cx="612775" cy="582612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1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0387" name="AutoShape 3">
            <a:extLst>
              <a:ext uri="{FF2B5EF4-FFF2-40B4-BE49-F238E27FC236}">
                <a16:creationId xmlns:a16="http://schemas.microsoft.com/office/drawing/2014/main" id="{D25E7E9F-7785-4650-B99B-80267276E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4508500"/>
            <a:ext cx="614362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2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0388" name="Line 4">
            <a:extLst>
              <a:ext uri="{FF2B5EF4-FFF2-40B4-BE49-F238E27FC236}">
                <a16:creationId xmlns:a16="http://schemas.microsoft.com/office/drawing/2014/main" id="{47105E52-1DD2-421A-B8AD-26E330D0E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5673725"/>
            <a:ext cx="1443038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389" name="AutoShape 5">
            <a:extLst>
              <a:ext uri="{FF2B5EF4-FFF2-40B4-BE49-F238E27FC236}">
                <a16:creationId xmlns:a16="http://schemas.microsoft.com/office/drawing/2014/main" id="{9EEAA791-967F-46A4-A91E-2897A3B30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378450"/>
            <a:ext cx="614363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i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0390" name="AutoShape 6">
            <a:extLst>
              <a:ext uri="{FF2B5EF4-FFF2-40B4-BE49-F238E27FC236}">
                <a16:creationId xmlns:a16="http://schemas.microsoft.com/office/drawing/2014/main" id="{407F1068-A977-44A8-8DD3-74BDE4225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378450"/>
            <a:ext cx="614362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j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0391" name="AutoShape 7">
            <a:extLst>
              <a:ext uri="{FF2B5EF4-FFF2-40B4-BE49-F238E27FC236}">
                <a16:creationId xmlns:a16="http://schemas.microsoft.com/office/drawing/2014/main" id="{BFB0C940-2D9B-47C6-84C2-61EF48D85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4738688"/>
            <a:ext cx="614363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n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0392" name="Rectangle 8">
            <a:extLst>
              <a:ext uri="{FF2B5EF4-FFF2-40B4-BE49-F238E27FC236}">
                <a16:creationId xmlns:a16="http://schemas.microsoft.com/office/drawing/2014/main" id="{3821AF09-557B-4CC1-97D5-3D3A72519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40393" name="Rectangle 9">
            <a:extLst>
              <a:ext uri="{FF2B5EF4-FFF2-40B4-BE49-F238E27FC236}">
                <a16:creationId xmlns:a16="http://schemas.microsoft.com/office/drawing/2014/main" id="{4A6C8A3A-56D2-43A7-8D3B-2D716177A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候选键的依赖图判定方法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的一个非空边集，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中的一条有向边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。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）若结点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与结点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之间存在一条有向边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(A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 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，则该边称为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的出边和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的入边。</a:t>
            </a:r>
          </a:p>
        </p:txBody>
      </p:sp>
      <p:sp>
        <p:nvSpPr>
          <p:cNvPr id="1040394" name="AutoShape 10">
            <a:extLst>
              <a:ext uri="{FF2B5EF4-FFF2-40B4-BE49-F238E27FC236}">
                <a16:creationId xmlns:a16="http://schemas.microsoft.com/office/drawing/2014/main" id="{CE7223F7-AC58-44AC-8596-BC49F5AB9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445125"/>
            <a:ext cx="1225550" cy="792163"/>
          </a:xfrm>
          <a:prstGeom prst="wedgeRoundRectCallout">
            <a:avLst>
              <a:gd name="adj1" fmla="val -99481"/>
              <a:gd name="adj2" fmla="val -27153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入边</a:t>
            </a:r>
          </a:p>
        </p:txBody>
      </p:sp>
      <p:sp>
        <p:nvSpPr>
          <p:cNvPr id="1040395" name="AutoShape 11">
            <a:extLst>
              <a:ext uri="{FF2B5EF4-FFF2-40B4-BE49-F238E27FC236}">
                <a16:creationId xmlns:a16="http://schemas.microsoft.com/office/drawing/2014/main" id="{599D2D6D-5F76-4B96-8350-0EE0CA77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373688"/>
            <a:ext cx="1225550" cy="792162"/>
          </a:xfrm>
          <a:prstGeom prst="wedgeRoundRectCallout">
            <a:avLst>
              <a:gd name="adj1" fmla="val 100648"/>
              <a:gd name="adj2" fmla="val -32565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出边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667"/>
    </mc:Choice>
    <mc:Fallback xmlns="">
      <p:transition spd="slow" advTm="586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0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0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40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500"/>
                                        <p:tgtEl>
                                          <p:spTgt spid="104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0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0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500"/>
                                        <p:tgtEl>
                                          <p:spTgt spid="104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393" grpId="0" uiExpand="1" build="p"/>
      <p:bldP spid="1040394" grpId="0" animBg="1"/>
      <p:bldP spid="104039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436" name="Group 4">
            <a:extLst>
              <a:ext uri="{FF2B5EF4-FFF2-40B4-BE49-F238E27FC236}">
                <a16:creationId xmlns:a16="http://schemas.microsoft.com/office/drawing/2014/main" id="{CB2CCA27-BA77-4322-B435-E72B81247A64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3933825"/>
            <a:ext cx="5149850" cy="1454150"/>
            <a:chOff x="1202" y="2478"/>
            <a:chExt cx="3244" cy="916"/>
          </a:xfrm>
        </p:grpSpPr>
        <p:sp>
          <p:nvSpPr>
            <p:cNvPr id="1042437" name="AutoShape 5">
              <a:extLst>
                <a:ext uri="{FF2B5EF4-FFF2-40B4-BE49-F238E27FC236}">
                  <a16:creationId xmlns:a16="http://schemas.microsoft.com/office/drawing/2014/main" id="{2B0AAFAD-5ED8-49D3-B856-6ECDE1D45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483"/>
              <a:ext cx="386" cy="367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A</a:t>
              </a:r>
              <a:r>
                <a:rPr lang="en-US" altLang="zh-CN" sz="2400" b="1" baseline="-25000">
                  <a:latin typeface="楷体_GB2312" pitchFamily="49" charset="-122"/>
                </a:rPr>
                <a:t>1</a:t>
              </a:r>
              <a:endParaRPr lang="en-US" altLang="zh-CN" sz="2400" b="1">
                <a:latin typeface="楷体_GB2312" pitchFamily="49" charset="-122"/>
              </a:endParaRPr>
            </a:p>
          </p:txBody>
        </p:sp>
        <p:sp>
          <p:nvSpPr>
            <p:cNvPr id="1042438" name="AutoShape 6">
              <a:extLst>
                <a:ext uri="{FF2B5EF4-FFF2-40B4-BE49-F238E27FC236}">
                  <a16:creationId xmlns:a16="http://schemas.microsoft.com/office/drawing/2014/main" id="{A9EF1977-E7E1-4CF3-B71B-96E915211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2478"/>
              <a:ext cx="387" cy="36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A</a:t>
              </a:r>
              <a:r>
                <a:rPr lang="en-US" altLang="zh-CN" sz="2400" b="1" baseline="-25000">
                  <a:latin typeface="楷体_GB2312" pitchFamily="49" charset="-122"/>
                </a:rPr>
                <a:t>2</a:t>
              </a:r>
              <a:endParaRPr lang="en-US" altLang="zh-CN" sz="2400" b="1">
                <a:latin typeface="楷体_GB2312" pitchFamily="49" charset="-122"/>
              </a:endParaRPr>
            </a:p>
          </p:txBody>
        </p:sp>
        <p:sp>
          <p:nvSpPr>
            <p:cNvPr id="1042439" name="Line 7">
              <a:extLst>
                <a:ext uri="{FF2B5EF4-FFF2-40B4-BE49-F238E27FC236}">
                  <a16:creationId xmlns:a16="http://schemas.microsoft.com/office/drawing/2014/main" id="{43C613A6-2EF1-445D-B1B6-2BA79AD9C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3167"/>
              <a:ext cx="909" cy="0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headEnd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440" name="AutoShape 8">
              <a:extLst>
                <a:ext uri="{FF2B5EF4-FFF2-40B4-BE49-F238E27FC236}">
                  <a16:creationId xmlns:a16="http://schemas.microsoft.com/office/drawing/2014/main" id="{CE95478C-13DA-47AC-A29F-2838EE8D0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026"/>
              <a:ext cx="387" cy="36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A</a:t>
              </a:r>
              <a:r>
                <a:rPr lang="en-US" altLang="zh-CN" sz="2400" b="1" baseline="-25000">
                  <a:latin typeface="楷体_GB2312" pitchFamily="49" charset="-122"/>
                </a:rPr>
                <a:t>i</a:t>
              </a:r>
              <a:endParaRPr lang="en-US" altLang="zh-CN" sz="2400" b="1">
                <a:latin typeface="楷体_GB2312" pitchFamily="49" charset="-122"/>
              </a:endParaRPr>
            </a:p>
          </p:txBody>
        </p:sp>
        <p:sp>
          <p:nvSpPr>
            <p:cNvPr id="1042441" name="AutoShape 9">
              <a:extLst>
                <a:ext uri="{FF2B5EF4-FFF2-40B4-BE49-F238E27FC236}">
                  <a16:creationId xmlns:a16="http://schemas.microsoft.com/office/drawing/2014/main" id="{4F07B18B-592C-48F1-99D6-53D591AA3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026"/>
              <a:ext cx="387" cy="36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A</a:t>
              </a:r>
              <a:r>
                <a:rPr lang="en-US" altLang="zh-CN" sz="2400" b="1" baseline="-25000">
                  <a:latin typeface="楷体_GB2312" pitchFamily="49" charset="-122"/>
                </a:rPr>
                <a:t>j</a:t>
              </a:r>
              <a:endParaRPr lang="en-US" altLang="zh-CN" sz="2400" b="1">
                <a:latin typeface="楷体_GB2312" pitchFamily="49" charset="-122"/>
              </a:endParaRPr>
            </a:p>
          </p:txBody>
        </p:sp>
        <p:sp>
          <p:nvSpPr>
            <p:cNvPr id="1042442" name="AutoShape 10">
              <a:extLst>
                <a:ext uri="{FF2B5EF4-FFF2-40B4-BE49-F238E27FC236}">
                  <a16:creationId xmlns:a16="http://schemas.microsoft.com/office/drawing/2014/main" id="{76294AF5-A1E2-42C1-8375-A77B4B4DB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623"/>
              <a:ext cx="387" cy="36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A</a:t>
              </a:r>
              <a:r>
                <a:rPr lang="en-US" altLang="zh-CN" sz="2400" b="1" baseline="-25000">
                  <a:latin typeface="楷体_GB2312" pitchFamily="49" charset="-122"/>
                </a:rPr>
                <a:t>n</a:t>
              </a:r>
              <a:endParaRPr lang="en-US" altLang="zh-CN" sz="2400" b="1">
                <a:latin typeface="楷体_GB2312" pitchFamily="49" charset="-122"/>
              </a:endParaRPr>
            </a:p>
          </p:txBody>
        </p:sp>
        <p:sp>
          <p:nvSpPr>
            <p:cNvPr id="1042443" name="Line 11">
              <a:extLst>
                <a:ext uri="{FF2B5EF4-FFF2-40B4-BE49-F238E27FC236}">
                  <a16:creationId xmlns:a16="http://schemas.microsoft.com/office/drawing/2014/main" id="{5DD0A9E1-DD85-4AF5-B0CE-CDA86B649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659"/>
              <a:ext cx="909" cy="0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headEnd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42444" name="AutoShape 12">
            <a:extLst>
              <a:ext uri="{FF2B5EF4-FFF2-40B4-BE49-F238E27FC236}">
                <a16:creationId xmlns:a16="http://schemas.microsoft.com/office/drawing/2014/main" id="{253C712B-BB1C-47A8-95A3-E5BD18A4B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2997200"/>
            <a:ext cx="1370013" cy="792163"/>
          </a:xfrm>
          <a:prstGeom prst="wedgeRoundRectCallout">
            <a:avLst>
              <a:gd name="adj1" fmla="val -5389"/>
              <a:gd name="adj2" fmla="val 81060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原始点（</a:t>
            </a:r>
            <a:r>
              <a:rPr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L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类）</a:t>
            </a:r>
          </a:p>
        </p:txBody>
      </p:sp>
      <p:sp>
        <p:nvSpPr>
          <p:cNvPr id="1042445" name="AutoShape 13">
            <a:extLst>
              <a:ext uri="{FF2B5EF4-FFF2-40B4-BE49-F238E27FC236}">
                <a16:creationId xmlns:a16="http://schemas.microsoft.com/office/drawing/2014/main" id="{A6081DB8-30FA-483E-8C86-9B75416A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2997200"/>
            <a:ext cx="1370013" cy="792163"/>
          </a:xfrm>
          <a:prstGeom prst="wedgeRoundRectCallout">
            <a:avLst>
              <a:gd name="adj1" fmla="val -58343"/>
              <a:gd name="adj2" fmla="val 81060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终结点（</a:t>
            </a:r>
            <a:r>
              <a:rPr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类）</a:t>
            </a:r>
          </a:p>
        </p:txBody>
      </p:sp>
      <p:sp>
        <p:nvSpPr>
          <p:cNvPr id="1042446" name="AutoShape 14">
            <a:extLst>
              <a:ext uri="{FF2B5EF4-FFF2-40B4-BE49-F238E27FC236}">
                <a16:creationId xmlns:a16="http://schemas.microsoft.com/office/drawing/2014/main" id="{B21BAC4D-48E0-4257-9201-2AEE2A2C7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5661025"/>
            <a:ext cx="1512888" cy="792163"/>
          </a:xfrm>
          <a:prstGeom prst="wedgeRoundRectCallout">
            <a:avLst>
              <a:gd name="adj1" fmla="val -39296"/>
              <a:gd name="adj2" fmla="val -89477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途中点（</a:t>
            </a:r>
            <a:r>
              <a:rPr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LR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类）</a:t>
            </a:r>
          </a:p>
        </p:txBody>
      </p:sp>
      <p:sp>
        <p:nvSpPr>
          <p:cNvPr id="1042447" name="AutoShape 15">
            <a:extLst>
              <a:ext uri="{FF2B5EF4-FFF2-40B4-BE49-F238E27FC236}">
                <a16:creationId xmlns:a16="http://schemas.microsoft.com/office/drawing/2014/main" id="{CF233152-FDAE-4A1A-83F1-99862F710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068638"/>
            <a:ext cx="1439863" cy="792162"/>
          </a:xfrm>
          <a:prstGeom prst="wedgeRoundRectCallout">
            <a:avLst>
              <a:gd name="adj1" fmla="val -58931"/>
              <a:gd name="adj2" fmla="val 82866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孤立点（</a:t>
            </a:r>
            <a:r>
              <a:rPr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N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类）</a:t>
            </a:r>
          </a:p>
        </p:txBody>
      </p:sp>
      <p:sp>
        <p:nvSpPr>
          <p:cNvPr id="1042448" name="AutoShape 16">
            <a:extLst>
              <a:ext uri="{FF2B5EF4-FFF2-40B4-BE49-F238E27FC236}">
                <a16:creationId xmlns:a16="http://schemas.microsoft.com/office/drawing/2014/main" id="{4CC2F7B8-4980-4483-8C0C-EF1C972F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4062413"/>
            <a:ext cx="863600" cy="792162"/>
          </a:xfrm>
          <a:prstGeom prst="flowChartConnector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2449" name="Line 17">
            <a:extLst>
              <a:ext uri="{FF2B5EF4-FFF2-40B4-BE49-F238E27FC236}">
                <a16:creationId xmlns:a16="http://schemas.microsoft.com/office/drawing/2014/main" id="{C99DBD55-295E-409E-BF81-498434D1A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5188" y="5229225"/>
            <a:ext cx="1443037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 type="triangle" w="lg" len="lg"/>
            <a:tailEnd type="non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2450" name="Rectangle 18">
            <a:extLst>
              <a:ext uri="{FF2B5EF4-FFF2-40B4-BE49-F238E27FC236}">
                <a16:creationId xmlns:a16="http://schemas.microsoft.com/office/drawing/2014/main" id="{FE65FC38-42E0-4F11-B06C-F4662467F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42451" name="Rectangle 19">
            <a:extLst>
              <a:ext uri="{FF2B5EF4-FFF2-40B4-BE49-F238E27FC236}">
                <a16:creationId xmlns:a16="http://schemas.microsoft.com/office/drawing/2014/main" id="{A9037E9B-BD7B-4F74-9DC9-A7EA5131F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候选键的依赖图判定方法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）术语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50"/>
    </mc:Choice>
    <mc:Fallback xmlns="">
      <p:transition spd="slow" advTm="388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42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2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500"/>
                                        <p:tgtEl>
                                          <p:spTgt spid="10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42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2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500"/>
                                        <p:tgtEl>
                                          <p:spTgt spid="10424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42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42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500"/>
                                        <p:tgtEl>
                                          <p:spTgt spid="1042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42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42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500"/>
                                        <p:tgtEl>
                                          <p:spTgt spid="10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4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2444" grpId="0" animBg="1"/>
      <p:bldP spid="1042445" grpId="0" animBg="1"/>
      <p:bldP spid="1042446" grpId="0" animBg="1"/>
      <p:bldP spid="1042447" grpId="0" animBg="1"/>
      <p:bldP spid="10424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82" name="AutoShape 2">
            <a:extLst>
              <a:ext uri="{FF2B5EF4-FFF2-40B4-BE49-F238E27FC236}">
                <a16:creationId xmlns:a16="http://schemas.microsoft.com/office/drawing/2014/main" id="{C53080C0-AB4E-4C76-9703-5A115E6D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927475"/>
            <a:ext cx="612775" cy="582613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1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4483" name="AutoShape 3">
            <a:extLst>
              <a:ext uri="{FF2B5EF4-FFF2-40B4-BE49-F238E27FC236}">
                <a16:creationId xmlns:a16="http://schemas.microsoft.com/office/drawing/2014/main" id="{433D490C-A296-4B98-84E8-2207B51ED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3919538"/>
            <a:ext cx="614363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2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4484" name="Line 4">
            <a:extLst>
              <a:ext uri="{FF2B5EF4-FFF2-40B4-BE49-F238E27FC236}">
                <a16:creationId xmlns:a16="http://schemas.microsoft.com/office/drawing/2014/main" id="{9477681E-B670-4820-A025-B6DA3EA0E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5013325"/>
            <a:ext cx="1443038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485" name="AutoShape 5">
            <a:extLst>
              <a:ext uri="{FF2B5EF4-FFF2-40B4-BE49-F238E27FC236}">
                <a16:creationId xmlns:a16="http://schemas.microsoft.com/office/drawing/2014/main" id="{10923EB6-BD02-460C-B76A-890C58C81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789488"/>
            <a:ext cx="614363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i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4486" name="AutoShape 6">
            <a:extLst>
              <a:ext uri="{FF2B5EF4-FFF2-40B4-BE49-F238E27FC236}">
                <a16:creationId xmlns:a16="http://schemas.microsoft.com/office/drawing/2014/main" id="{58239030-079A-47EC-897E-2F26BD016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789488"/>
            <a:ext cx="614362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j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4487" name="AutoShape 7">
            <a:extLst>
              <a:ext uri="{FF2B5EF4-FFF2-40B4-BE49-F238E27FC236}">
                <a16:creationId xmlns:a16="http://schemas.microsoft.com/office/drawing/2014/main" id="{4219258F-FBF7-498E-84FF-0C48A304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149725"/>
            <a:ext cx="614362" cy="584200"/>
          </a:xfrm>
          <a:prstGeom prst="flowChartConnector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latin typeface="楷体_GB2312" pitchFamily="49" charset="-122"/>
              </a:rPr>
              <a:t>A</a:t>
            </a:r>
            <a:r>
              <a:rPr lang="en-US" altLang="zh-CN" sz="2400" b="1" baseline="-25000">
                <a:latin typeface="楷体_GB2312" pitchFamily="49" charset="-122"/>
              </a:rPr>
              <a:t>n</a:t>
            </a:r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4488" name="Line 8">
            <a:extLst>
              <a:ext uri="{FF2B5EF4-FFF2-40B4-BE49-F238E27FC236}">
                <a16:creationId xmlns:a16="http://schemas.microsoft.com/office/drawing/2014/main" id="{D0A3C6DD-C69B-411D-AF3A-BAA84B165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4206875"/>
            <a:ext cx="1443038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491" name="AutoShape 11">
            <a:extLst>
              <a:ext uri="{FF2B5EF4-FFF2-40B4-BE49-F238E27FC236}">
                <a16:creationId xmlns:a16="http://schemas.microsoft.com/office/drawing/2014/main" id="{C49CB583-1987-4621-B92D-A39875BF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4048125"/>
            <a:ext cx="863600" cy="792163"/>
          </a:xfrm>
          <a:prstGeom prst="flowChartConnector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4492" name="Line 12">
            <a:extLst>
              <a:ext uri="{FF2B5EF4-FFF2-40B4-BE49-F238E27FC236}">
                <a16:creationId xmlns:a16="http://schemas.microsoft.com/office/drawing/2014/main" id="{2B8F3866-4D7E-4B28-BE81-2DE8ED4EA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5188" y="5214938"/>
            <a:ext cx="1443037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 type="triangle" w="lg" len="lg"/>
            <a:tailEnd type="non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493" name="Rectangle 13">
            <a:extLst>
              <a:ext uri="{FF2B5EF4-FFF2-40B4-BE49-F238E27FC236}">
                <a16:creationId xmlns:a16="http://schemas.microsoft.com/office/drawing/2014/main" id="{BFB4175E-F448-434D-9608-38D49A879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068638"/>
            <a:ext cx="1657350" cy="647700"/>
          </a:xfrm>
          <a:prstGeom prst="rect">
            <a:avLst/>
          </a:prstGeom>
          <a:solidFill>
            <a:srgbClr val="0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关键点</a:t>
            </a:r>
          </a:p>
        </p:txBody>
      </p:sp>
      <p:sp>
        <p:nvSpPr>
          <p:cNvPr id="1044494" name="AutoShape 14">
            <a:extLst>
              <a:ext uri="{FF2B5EF4-FFF2-40B4-BE49-F238E27FC236}">
                <a16:creationId xmlns:a16="http://schemas.microsoft.com/office/drawing/2014/main" id="{F203F6BE-6D97-4C9D-85C8-48AEB46CA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314700"/>
            <a:ext cx="1223962" cy="215900"/>
          </a:xfrm>
          <a:prstGeom prst="rightArrow">
            <a:avLst>
              <a:gd name="adj1" fmla="val 50000"/>
              <a:gd name="adj2" fmla="val 14172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495" name="AutoShape 15">
            <a:extLst>
              <a:ext uri="{FF2B5EF4-FFF2-40B4-BE49-F238E27FC236}">
                <a16:creationId xmlns:a16="http://schemas.microsoft.com/office/drawing/2014/main" id="{4A0D0BFE-220A-44B1-BF09-C0F25010777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67388" y="3313113"/>
            <a:ext cx="1223962" cy="215900"/>
          </a:xfrm>
          <a:prstGeom prst="rightArrow">
            <a:avLst>
              <a:gd name="adj1" fmla="val 50000"/>
              <a:gd name="adj2" fmla="val 14172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496" name="Rectangle 16">
            <a:extLst>
              <a:ext uri="{FF2B5EF4-FFF2-40B4-BE49-F238E27FC236}">
                <a16:creationId xmlns:a16="http://schemas.microsoft.com/office/drawing/2014/main" id="{2A56A397-FCE4-416C-80CA-18F112EBE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349500"/>
            <a:ext cx="1657350" cy="647700"/>
          </a:xfrm>
          <a:prstGeom prst="rect">
            <a:avLst/>
          </a:prstGeom>
          <a:solidFill>
            <a:srgbClr val="0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关键属性</a:t>
            </a:r>
          </a:p>
        </p:txBody>
      </p:sp>
      <p:sp>
        <p:nvSpPr>
          <p:cNvPr id="1044497" name="Oval 17">
            <a:extLst>
              <a:ext uri="{FF2B5EF4-FFF2-40B4-BE49-F238E27FC236}">
                <a16:creationId xmlns:a16="http://schemas.microsoft.com/office/drawing/2014/main" id="{26C405A7-9A9D-45C4-934D-08A737CC3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508500"/>
            <a:ext cx="3384550" cy="1152525"/>
          </a:xfrm>
          <a:prstGeom prst="ellips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498" name="AutoShape 18">
            <a:extLst>
              <a:ext uri="{FF2B5EF4-FFF2-40B4-BE49-F238E27FC236}">
                <a16:creationId xmlns:a16="http://schemas.microsoft.com/office/drawing/2014/main" id="{9B0DCA41-C86C-4386-81C9-64FCA0B5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5229225"/>
            <a:ext cx="1801813" cy="792163"/>
          </a:xfrm>
          <a:prstGeom prst="wedgeRoundRectCallout">
            <a:avLst>
              <a:gd name="adj1" fmla="val -82954"/>
              <a:gd name="adj2" fmla="val -36171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独立回路</a:t>
            </a:r>
          </a:p>
        </p:txBody>
      </p:sp>
      <p:sp>
        <p:nvSpPr>
          <p:cNvPr id="1044499" name="Line 19">
            <a:extLst>
              <a:ext uri="{FF2B5EF4-FFF2-40B4-BE49-F238E27FC236}">
                <a16:creationId xmlns:a16="http://schemas.microsoft.com/office/drawing/2014/main" id="{806D7EE8-80A5-4CE4-9E6A-C1C6C55CE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4351338"/>
            <a:ext cx="503238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ffectLst>
            <a:outerShdw dist="254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00" name="Rectangle 20">
            <a:extLst>
              <a:ext uri="{FF2B5EF4-FFF2-40B4-BE49-F238E27FC236}">
                <a16:creationId xmlns:a16="http://schemas.microsoft.com/office/drawing/2014/main" id="{352820BD-5D89-4A03-8E0A-80E4F05B6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44501" name="Rectangle 21">
            <a:extLst>
              <a:ext uri="{FF2B5EF4-FFF2-40B4-BE49-F238E27FC236}">
                <a16:creationId xmlns:a16="http://schemas.microsoft.com/office/drawing/2014/main" id="{8CC99B27-84A5-4311-892A-B56C97634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候选键的依赖图判定方法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）术语</a:t>
            </a:r>
          </a:p>
        </p:txBody>
      </p:sp>
      <p:sp>
        <p:nvSpPr>
          <p:cNvPr id="1044502" name="AutoShape 22">
            <a:extLst>
              <a:ext uri="{FF2B5EF4-FFF2-40B4-BE49-F238E27FC236}">
                <a16:creationId xmlns:a16="http://schemas.microsoft.com/office/drawing/2014/main" id="{A719EC2A-BC39-4EA6-B76F-618F64FCB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2997200"/>
            <a:ext cx="1370013" cy="792163"/>
          </a:xfrm>
          <a:prstGeom prst="wedgeRoundRectCallout">
            <a:avLst>
              <a:gd name="adj1" fmla="val -5389"/>
              <a:gd name="adj2" fmla="val 81060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原始点（</a:t>
            </a:r>
            <a:r>
              <a:rPr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L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类）</a:t>
            </a:r>
          </a:p>
        </p:txBody>
      </p:sp>
      <p:sp>
        <p:nvSpPr>
          <p:cNvPr id="1044503" name="AutoShape 23">
            <a:extLst>
              <a:ext uri="{FF2B5EF4-FFF2-40B4-BE49-F238E27FC236}">
                <a16:creationId xmlns:a16="http://schemas.microsoft.com/office/drawing/2014/main" id="{2F5C11CD-2DEB-447A-94CC-CB85F6454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068638"/>
            <a:ext cx="1439863" cy="792162"/>
          </a:xfrm>
          <a:prstGeom prst="wedgeRoundRectCallout">
            <a:avLst>
              <a:gd name="adj1" fmla="val -58931"/>
              <a:gd name="adj2" fmla="val 82866"/>
              <a:gd name="adj3" fmla="val 16667"/>
            </a:avLst>
          </a:prstGeom>
          <a:solidFill>
            <a:srgbClr val="CC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孤立点（</a:t>
            </a:r>
            <a:r>
              <a:rPr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N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类）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258"/>
    </mc:Choice>
    <mc:Fallback xmlns="">
      <p:transition spd="slow" advTm="96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4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44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104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1000"/>
                                        <p:tgtEl>
                                          <p:spTgt spid="104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04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4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44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104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04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93" grpId="0" animBg="1"/>
      <p:bldP spid="1044496" grpId="0" animBg="1"/>
      <p:bldP spid="104449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2">
            <a:extLst>
              <a:ext uri="{FF2B5EF4-FFF2-40B4-BE49-F238E27FC236}">
                <a16:creationId xmlns:a16="http://schemas.microsoft.com/office/drawing/2014/main" id="{5EA92AFC-D3D1-4306-843C-BDEE02958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746375"/>
            <a:ext cx="2808288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的最小依赖集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 baseline="-25000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m</a:t>
            </a:r>
            <a:endParaRPr lang="zh-CN" altLang="en-US" sz="2400" b="1" baseline="-25000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48579" name="Group 3">
            <a:extLst>
              <a:ext uri="{FF2B5EF4-FFF2-40B4-BE49-F238E27FC236}">
                <a16:creationId xmlns:a16="http://schemas.microsoft.com/office/drawing/2014/main" id="{6C9BD6E3-9248-435B-9FC9-0696D57F645C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3343275"/>
            <a:ext cx="2806700" cy="827088"/>
            <a:chOff x="2200" y="2242"/>
            <a:chExt cx="1768" cy="521"/>
          </a:xfrm>
        </p:grpSpPr>
        <p:sp>
          <p:nvSpPr>
            <p:cNvPr id="1048580" name="Rectangle 4">
              <a:extLst>
                <a:ext uri="{FF2B5EF4-FFF2-40B4-BE49-F238E27FC236}">
                  <a16:creationId xmlns:a16="http://schemas.microsoft.com/office/drawing/2014/main" id="{4574E4BD-06C0-4C92-907E-B6A9586DB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423"/>
              <a:ext cx="176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0" rIns="0" anchor="ctr" anchorCtr="1"/>
            <a:lstStyle/>
            <a:p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构造函数依赖图G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8581" name="AutoShape 5">
              <a:extLst>
                <a:ext uri="{FF2B5EF4-FFF2-40B4-BE49-F238E27FC236}">
                  <a16:creationId xmlns:a16="http://schemas.microsoft.com/office/drawing/2014/main" id="{ED7B44F0-B4E2-4AEF-9E00-80143D909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242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8582" name="Group 6">
            <a:extLst>
              <a:ext uri="{FF2B5EF4-FFF2-40B4-BE49-F238E27FC236}">
                <a16:creationId xmlns:a16="http://schemas.microsoft.com/office/drawing/2014/main" id="{0D5508BB-0C89-4234-9509-00BF14E5CF83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4235450"/>
            <a:ext cx="2808288" cy="814388"/>
            <a:chOff x="2199" y="2804"/>
            <a:chExt cx="1769" cy="513"/>
          </a:xfrm>
        </p:grpSpPr>
        <p:sp>
          <p:nvSpPr>
            <p:cNvPr id="1048583" name="Rectangle 7">
              <a:extLst>
                <a:ext uri="{FF2B5EF4-FFF2-40B4-BE49-F238E27FC236}">
                  <a16:creationId xmlns:a16="http://schemas.microsoft.com/office/drawing/2014/main" id="{B5FAFC7C-8365-447C-9CA4-B095BBD34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977"/>
              <a:ext cx="1769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zh-CN" altLang="en-US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找出关键属性集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1048584" name="AutoShape 8">
              <a:extLst>
                <a:ext uri="{FF2B5EF4-FFF2-40B4-BE49-F238E27FC236}">
                  <a16:creationId xmlns:a16="http://schemas.microsoft.com/office/drawing/2014/main" id="{099DFB80-0893-4F87-B827-F2583435A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804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8585" name="Group 9">
            <a:extLst>
              <a:ext uri="{FF2B5EF4-FFF2-40B4-BE49-F238E27FC236}">
                <a16:creationId xmlns:a16="http://schemas.microsoft.com/office/drawing/2014/main" id="{67E695EC-84D8-46C0-8960-17122AC9FE0D}"/>
              </a:ext>
            </a:extLst>
          </p:cNvPr>
          <p:cNvGrpSpPr>
            <a:grpSpLocks/>
          </p:cNvGrpSpPr>
          <p:nvPr/>
        </p:nvGrpSpPr>
        <p:grpSpPr bwMode="auto">
          <a:xfrm>
            <a:off x="2816225" y="5114925"/>
            <a:ext cx="3238500" cy="1136650"/>
            <a:chOff x="2047" y="3358"/>
            <a:chExt cx="2040" cy="716"/>
          </a:xfrm>
        </p:grpSpPr>
        <p:sp>
          <p:nvSpPr>
            <p:cNvPr id="1048586" name="AutoShape 10">
              <a:extLst>
                <a:ext uri="{FF2B5EF4-FFF2-40B4-BE49-F238E27FC236}">
                  <a16:creationId xmlns:a16="http://schemas.microsoft.com/office/drawing/2014/main" id="{A954127B-4775-4C72-8241-D314275F0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3530"/>
              <a:ext cx="2040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G中独立回路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1048587" name="AutoShape 11">
              <a:extLst>
                <a:ext uri="{FF2B5EF4-FFF2-40B4-BE49-F238E27FC236}">
                  <a16:creationId xmlns:a16="http://schemas.microsoft.com/office/drawing/2014/main" id="{7024778F-A87E-4FE7-A25A-060215677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358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48588" name="Rectangle 12">
            <a:extLst>
              <a:ext uri="{FF2B5EF4-FFF2-40B4-BE49-F238E27FC236}">
                <a16:creationId xmlns:a16="http://schemas.microsoft.com/office/drawing/2014/main" id="{8E5F53DE-DCC4-4A1F-BB78-C0908751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4076700"/>
            <a:ext cx="2228850" cy="215900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各独立回路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各取一结点对应的属性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与X组合成一候选键</a:t>
            </a:r>
            <a:endParaRPr lang="zh-CN" altLang="en-US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48589" name="Group 13">
            <a:extLst>
              <a:ext uri="{FF2B5EF4-FFF2-40B4-BE49-F238E27FC236}">
                <a16:creationId xmlns:a16="http://schemas.microsoft.com/office/drawing/2014/main" id="{28294EDD-5201-4579-860B-2887F50267CE}"/>
              </a:ext>
            </a:extLst>
          </p:cNvPr>
          <p:cNvGrpSpPr>
            <a:grpSpLocks/>
          </p:cNvGrpSpPr>
          <p:nvPr/>
        </p:nvGrpSpPr>
        <p:grpSpPr bwMode="auto">
          <a:xfrm>
            <a:off x="5995988" y="5272088"/>
            <a:ext cx="509587" cy="661987"/>
            <a:chOff x="4050" y="3457"/>
            <a:chExt cx="321" cy="417"/>
          </a:xfrm>
        </p:grpSpPr>
        <p:sp>
          <p:nvSpPr>
            <p:cNvPr id="1048590" name="AutoShape 14">
              <a:extLst>
                <a:ext uri="{FF2B5EF4-FFF2-40B4-BE49-F238E27FC236}">
                  <a16:creationId xmlns:a16="http://schemas.microsoft.com/office/drawing/2014/main" id="{869389C1-173C-4F13-B47B-4E4BAD8A77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67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591" name="Text Box 15">
              <a:extLst>
                <a:ext uri="{FF2B5EF4-FFF2-40B4-BE49-F238E27FC236}">
                  <a16:creationId xmlns:a16="http://schemas.microsoft.com/office/drawing/2014/main" id="{50C9C1CF-2959-4090-AACB-E8CB12D81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</p:grpSp>
      <p:sp>
        <p:nvSpPr>
          <p:cNvPr id="1048592" name="Rectangle 16">
            <a:extLst>
              <a:ext uri="{FF2B5EF4-FFF2-40B4-BE49-F238E27FC236}">
                <a16:creationId xmlns:a16="http://schemas.microsoft.com/office/drawing/2014/main" id="{D4283278-8B0D-4177-A0A0-55A4D4D5C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013325"/>
            <a:ext cx="1319212" cy="1065213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>
              <a:lnSpc>
                <a:spcPct val="120000"/>
              </a:lnSpc>
            </a:pP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唯一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候选键</a:t>
            </a:r>
            <a:endParaRPr lang="zh-CN" altLang="en-US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48593" name="Group 17">
            <a:extLst>
              <a:ext uri="{FF2B5EF4-FFF2-40B4-BE49-F238E27FC236}">
                <a16:creationId xmlns:a16="http://schemas.microsoft.com/office/drawing/2014/main" id="{4A56104E-BE71-4BC9-ADB0-D35A56AD9741}"/>
              </a:ext>
            </a:extLst>
          </p:cNvPr>
          <p:cNvGrpSpPr>
            <a:grpSpLocks/>
          </p:cNvGrpSpPr>
          <p:nvPr/>
        </p:nvGrpSpPr>
        <p:grpSpPr bwMode="auto">
          <a:xfrm>
            <a:off x="2403475" y="5272088"/>
            <a:ext cx="439738" cy="661987"/>
            <a:chOff x="1787" y="3457"/>
            <a:chExt cx="277" cy="417"/>
          </a:xfrm>
        </p:grpSpPr>
        <p:sp>
          <p:nvSpPr>
            <p:cNvPr id="1048594" name="AutoShape 18">
              <a:extLst>
                <a:ext uri="{FF2B5EF4-FFF2-40B4-BE49-F238E27FC236}">
                  <a16:creationId xmlns:a16="http://schemas.microsoft.com/office/drawing/2014/main" id="{A22851D0-4B49-4187-A8AE-9DE25ACA1A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55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595" name="Text Box 19">
              <a:extLst>
                <a:ext uri="{FF2B5EF4-FFF2-40B4-BE49-F238E27FC236}">
                  <a16:creationId xmlns:a16="http://schemas.microsoft.com/office/drawing/2014/main" id="{C4306334-5E64-43AA-AF68-7BDC5BAC9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</p:grpSp>
      <p:sp>
        <p:nvSpPr>
          <p:cNvPr id="1048596" name="Rectangle 20">
            <a:extLst>
              <a:ext uri="{FF2B5EF4-FFF2-40B4-BE49-F238E27FC236}">
                <a16:creationId xmlns:a16="http://schemas.microsoft.com/office/drawing/2014/main" id="{E049A896-98BF-4352-A07D-3A21AD052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48597" name="Rectangle 21">
            <a:extLst>
              <a:ext uri="{FF2B5EF4-FFF2-40B4-BE49-F238E27FC236}">
                <a16:creationId xmlns:a16="http://schemas.microsoft.com/office/drawing/2014/main" id="{3E2EFCCF-EFB1-43FC-BDFC-CCB951AFD8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候选键的依赖图判定方法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：候选键的依赖图判定法</a:t>
            </a:r>
          </a:p>
        </p:txBody>
      </p:sp>
      <p:sp>
        <p:nvSpPr>
          <p:cNvPr id="1048598" name="AutoShape 22">
            <a:extLst>
              <a:ext uri="{FF2B5EF4-FFF2-40B4-BE49-F238E27FC236}">
                <a16:creationId xmlns:a16="http://schemas.microsoft.com/office/drawing/2014/main" id="{8F6C34F9-E309-4D45-ADC2-0D62F0937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771650"/>
            <a:ext cx="2663825" cy="1512888"/>
          </a:xfrm>
          <a:prstGeom prst="wedgeRectCallout">
            <a:avLst>
              <a:gd name="adj1" fmla="val -7806"/>
              <a:gd name="adj2" fmla="val 103935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取尽所有可能的组合，即为R的全部候选键</a:t>
            </a:r>
            <a:endParaRPr lang="zh-CN" altLang="en-US" sz="24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572"/>
    </mc:Choice>
    <mc:Fallback xmlns="">
      <p:transition spd="slow" advTm="100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4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4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4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04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104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104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4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4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78" grpId="0" animBg="1"/>
      <p:bldP spid="1048588" grpId="0" animBg="1"/>
      <p:bldP spid="1048592" grpId="0" animBg="1"/>
      <p:bldP spid="104859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30" name="Line 2">
            <a:extLst>
              <a:ext uri="{FF2B5EF4-FFF2-40B4-BE49-F238E27FC236}">
                <a16:creationId xmlns:a16="http://schemas.microsoft.com/office/drawing/2014/main" id="{D5E9850B-5DF0-46F0-A70E-A093DE964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8675" y="3913188"/>
            <a:ext cx="14430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31" name="Line 3">
            <a:extLst>
              <a:ext uri="{FF2B5EF4-FFF2-40B4-BE49-F238E27FC236}">
                <a16:creationId xmlns:a16="http://schemas.microsoft.com/office/drawing/2014/main" id="{542EAB7F-EBB6-46A3-83BB-B94DE0CBE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4119563"/>
            <a:ext cx="14446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lg" len="lg"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32" name="Line 4">
            <a:extLst>
              <a:ext uri="{FF2B5EF4-FFF2-40B4-BE49-F238E27FC236}">
                <a16:creationId xmlns:a16="http://schemas.microsoft.com/office/drawing/2014/main" id="{394EA078-4FF7-4E49-9C83-81473E80A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6138" y="4810125"/>
            <a:ext cx="14446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33" name="Line 5">
            <a:extLst>
              <a:ext uri="{FF2B5EF4-FFF2-40B4-BE49-F238E27FC236}">
                <a16:creationId xmlns:a16="http://schemas.microsoft.com/office/drawing/2014/main" id="{7DDED7E6-A0E3-450D-97E8-73B164321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9150" y="5010150"/>
            <a:ext cx="14446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lg" len="lg"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34" name="Line 6">
            <a:extLst>
              <a:ext uri="{FF2B5EF4-FFF2-40B4-BE49-F238E27FC236}">
                <a16:creationId xmlns:a16="http://schemas.microsoft.com/office/drawing/2014/main" id="{22EC34C7-3C19-4A5A-87F6-023645A3D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488" y="4818063"/>
            <a:ext cx="14430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6535" name="Line 7">
            <a:extLst>
              <a:ext uri="{FF2B5EF4-FFF2-40B4-BE49-F238E27FC236}">
                <a16:creationId xmlns:a16="http://schemas.microsoft.com/office/drawing/2014/main" id="{A2B409B2-71B4-477E-BE06-A98694D59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788" y="5019675"/>
            <a:ext cx="14430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lg" len="lg"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46536" name="Group 8">
            <a:extLst>
              <a:ext uri="{FF2B5EF4-FFF2-40B4-BE49-F238E27FC236}">
                <a16:creationId xmlns:a16="http://schemas.microsoft.com/office/drawing/2014/main" id="{D025777B-374B-4D5A-B462-519702508760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716338"/>
            <a:ext cx="4706938" cy="2363787"/>
            <a:chOff x="930" y="2216"/>
            <a:chExt cx="2965" cy="1489"/>
          </a:xfrm>
        </p:grpSpPr>
        <p:sp>
          <p:nvSpPr>
            <p:cNvPr id="1046537" name="AutoShape 9">
              <a:extLst>
                <a:ext uri="{FF2B5EF4-FFF2-40B4-BE49-F238E27FC236}">
                  <a16:creationId xmlns:a16="http://schemas.microsoft.com/office/drawing/2014/main" id="{482E7513-2E2A-42D3-8A7D-79AE5F2E3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2221"/>
              <a:ext cx="386" cy="367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S</a:t>
              </a:r>
            </a:p>
          </p:txBody>
        </p:sp>
        <p:sp>
          <p:nvSpPr>
            <p:cNvPr id="1046538" name="AutoShape 10">
              <a:extLst>
                <a:ext uri="{FF2B5EF4-FFF2-40B4-BE49-F238E27FC236}">
                  <a16:creationId xmlns:a16="http://schemas.microsoft.com/office/drawing/2014/main" id="{BA0E4BDB-2716-4336-88A9-72C9E5D0C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" y="2216"/>
              <a:ext cx="387" cy="36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D</a:t>
              </a:r>
            </a:p>
          </p:txBody>
        </p:sp>
        <p:sp>
          <p:nvSpPr>
            <p:cNvPr id="1046539" name="AutoShape 11">
              <a:extLst>
                <a:ext uri="{FF2B5EF4-FFF2-40B4-BE49-F238E27FC236}">
                  <a16:creationId xmlns:a16="http://schemas.microsoft.com/office/drawing/2014/main" id="{0C603F4E-F5FF-43D4-B25D-16C5B945F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" y="2800"/>
              <a:ext cx="386" cy="368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I</a:t>
              </a:r>
            </a:p>
          </p:txBody>
        </p:sp>
        <p:sp>
          <p:nvSpPr>
            <p:cNvPr id="1046540" name="AutoShape 12">
              <a:extLst>
                <a:ext uri="{FF2B5EF4-FFF2-40B4-BE49-F238E27FC236}">
                  <a16:creationId xmlns:a16="http://schemas.microsoft.com/office/drawing/2014/main" id="{A21D90A0-D5F6-4050-A016-F2839CDBC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2796"/>
              <a:ext cx="387" cy="367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B</a:t>
              </a:r>
            </a:p>
          </p:txBody>
        </p:sp>
        <p:sp>
          <p:nvSpPr>
            <p:cNvPr id="1046541" name="AutoShape 13">
              <a:extLst>
                <a:ext uri="{FF2B5EF4-FFF2-40B4-BE49-F238E27FC236}">
                  <a16:creationId xmlns:a16="http://schemas.microsoft.com/office/drawing/2014/main" id="{CAA1CE53-F008-45E9-A682-848921502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" y="2796"/>
              <a:ext cx="386" cy="367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O</a:t>
              </a:r>
            </a:p>
          </p:txBody>
        </p:sp>
        <p:sp>
          <p:nvSpPr>
            <p:cNvPr id="1046542" name="AutoShape 14">
              <a:extLst>
                <a:ext uri="{FF2B5EF4-FFF2-40B4-BE49-F238E27FC236}">
                  <a16:creationId xmlns:a16="http://schemas.microsoft.com/office/drawing/2014/main" id="{F68CDF80-0DDC-40FE-9C12-4C4089BCC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" y="3403"/>
              <a:ext cx="323" cy="302"/>
            </a:xfrm>
            <a:prstGeom prst="flowChartConnector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/>
            <a:p>
              <a:pPr algn="ctr"/>
              <a:r>
                <a:rPr lang="en-US" altLang="zh-CN" sz="2400" b="1">
                  <a:latin typeface="楷体_GB2312" pitchFamily="49" charset="-122"/>
                </a:rPr>
                <a:t>Q</a:t>
              </a:r>
            </a:p>
          </p:txBody>
        </p:sp>
      </p:grpSp>
      <p:sp>
        <p:nvSpPr>
          <p:cNvPr id="1046543" name="AutoShape 15">
            <a:extLst>
              <a:ext uri="{FF2B5EF4-FFF2-40B4-BE49-F238E27FC236}">
                <a16:creationId xmlns:a16="http://schemas.microsoft.com/office/drawing/2014/main" id="{2F350C70-924C-4E7E-95B7-19889D434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925" y="5513388"/>
            <a:ext cx="720725" cy="649287"/>
          </a:xfrm>
          <a:prstGeom prst="flowChartConnector">
            <a:avLst/>
          </a:prstGeom>
          <a:noFill/>
          <a:ln w="28575">
            <a:solidFill>
              <a:srgbClr val="00008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en-US" altLang="zh-CN" sz="2400" b="1">
              <a:latin typeface="楷体_GB2312" pitchFamily="49" charset="-122"/>
            </a:endParaRPr>
          </a:p>
        </p:txBody>
      </p:sp>
      <p:sp>
        <p:nvSpPr>
          <p:cNvPr id="1046544" name="Rectangle 16">
            <a:extLst>
              <a:ext uri="{FF2B5EF4-FFF2-40B4-BE49-F238E27FC236}">
                <a16:creationId xmlns:a16="http://schemas.microsoft.com/office/drawing/2014/main" id="{0B4ED373-AF8C-49CD-98A8-F1866B040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46545" name="Rectangle 17">
            <a:extLst>
              <a:ext uri="{FF2B5EF4-FFF2-40B4-BE49-F238E27FC236}">
                <a16:creationId xmlns:a16="http://schemas.microsoft.com/office/drawing/2014/main" id="{2BCD8778-AA9B-4FFD-B08B-1110A0FE2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候选键的依赖图判定方法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i="1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O,B,I,S,Q,D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{S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D,D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S,I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B,B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I,B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O,O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的所有候选键。</a:t>
            </a:r>
          </a:p>
        </p:txBody>
      </p:sp>
      <p:sp>
        <p:nvSpPr>
          <p:cNvPr id="1046546" name="Text Box 18">
            <a:extLst>
              <a:ext uri="{FF2B5EF4-FFF2-40B4-BE49-F238E27FC236}">
                <a16:creationId xmlns:a16="http://schemas.microsoft.com/office/drawing/2014/main" id="{A1B1BB2F-8820-47E2-99A2-C2FC26FAB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473700"/>
            <a:ext cx="5113338" cy="908050"/>
          </a:xfrm>
          <a:prstGeom prst="rect">
            <a:avLst/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89803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R的候选键：</a:t>
            </a:r>
            <a:endParaRPr lang="en-US" altLang="zh-CN" sz="2400" b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   </a:t>
            </a:r>
            <a:r>
              <a:rPr lang="en-US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QSI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,</a:t>
            </a:r>
            <a:r>
              <a:rPr lang="en-US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QSB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,</a:t>
            </a:r>
            <a:r>
              <a:rPr lang="en-US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QSO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,</a:t>
            </a:r>
            <a:r>
              <a:rPr lang="en-US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QDI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,</a:t>
            </a:r>
            <a:r>
              <a:rPr lang="en-US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QDB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,</a:t>
            </a:r>
            <a:r>
              <a:rPr lang="en-US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QDO</a:t>
            </a:r>
            <a:endParaRPr lang="zh-CN" altLang="en-US" sz="24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36"/>
    </mc:Choice>
    <mc:Fallback xmlns="">
      <p:transition spd="slow" advTm="63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4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6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6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6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46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4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104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4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104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4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104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4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43" grpId="0" animBg="1"/>
      <p:bldP spid="10465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4" name="Rectangle 2">
            <a:extLst>
              <a:ext uri="{FF2B5EF4-FFF2-40B4-BE49-F238E27FC236}">
                <a16:creationId xmlns:a16="http://schemas.microsoft.com/office/drawing/2014/main" id="{AEC563CB-3D3C-45F0-8519-E58FCA778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276475"/>
            <a:ext cx="5976937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的属性分类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:X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代表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类，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代表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LR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类</a:t>
            </a:r>
            <a:endParaRPr lang="en-US" altLang="zh-CN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52675" name="Group 3">
            <a:extLst>
              <a:ext uri="{FF2B5EF4-FFF2-40B4-BE49-F238E27FC236}">
                <a16:creationId xmlns:a16="http://schemas.microsoft.com/office/drawing/2014/main" id="{7E7A95DD-9C7E-44A7-9A7E-D3592FC9BAC5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2873375"/>
            <a:ext cx="2806700" cy="827088"/>
            <a:chOff x="2200" y="2242"/>
            <a:chExt cx="1768" cy="521"/>
          </a:xfrm>
        </p:grpSpPr>
        <p:sp>
          <p:nvSpPr>
            <p:cNvPr id="1052676" name="Rectangle 4">
              <a:extLst>
                <a:ext uri="{FF2B5EF4-FFF2-40B4-BE49-F238E27FC236}">
                  <a16:creationId xmlns:a16="http://schemas.microsoft.com/office/drawing/2014/main" id="{6F0C0738-8C55-4F21-9B07-728FF364F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423"/>
              <a:ext cx="176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0" rIns="0" anchor="ctr" anchorCtr="1"/>
            <a:lstStyle/>
            <a:p>
              <a:r>
                <a:rPr lang="zh-CN" altLang="en-US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en-US" sz="2400" b="1" baseline="3000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1052677" name="AutoShape 5">
              <a:extLst>
                <a:ext uri="{FF2B5EF4-FFF2-40B4-BE49-F238E27FC236}">
                  <a16:creationId xmlns:a16="http://schemas.microsoft.com/office/drawing/2014/main" id="{1F8F1CCF-924A-4076-B230-1A847345F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242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2678" name="Group 6">
            <a:extLst>
              <a:ext uri="{FF2B5EF4-FFF2-40B4-BE49-F238E27FC236}">
                <a16:creationId xmlns:a16="http://schemas.microsoft.com/office/drawing/2014/main" id="{B01D1F2E-1F22-4008-AB40-43D00B0844B5}"/>
              </a:ext>
            </a:extLst>
          </p:cNvPr>
          <p:cNvGrpSpPr>
            <a:grpSpLocks/>
          </p:cNvGrpSpPr>
          <p:nvPr/>
        </p:nvGrpSpPr>
        <p:grpSpPr bwMode="auto">
          <a:xfrm>
            <a:off x="2816225" y="3749675"/>
            <a:ext cx="3238500" cy="1136650"/>
            <a:chOff x="2047" y="3358"/>
            <a:chExt cx="2040" cy="716"/>
          </a:xfrm>
        </p:grpSpPr>
        <p:sp>
          <p:nvSpPr>
            <p:cNvPr id="1052679" name="AutoShape 7">
              <a:extLst>
                <a:ext uri="{FF2B5EF4-FFF2-40B4-BE49-F238E27FC236}">
                  <a16:creationId xmlns:a16="http://schemas.microsoft.com/office/drawing/2014/main" id="{C9C957CA-ED57-4334-B1E3-2929AC299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3530"/>
              <a:ext cx="2040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U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+ 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1052680" name="AutoShape 8">
              <a:extLst>
                <a:ext uri="{FF2B5EF4-FFF2-40B4-BE49-F238E27FC236}">
                  <a16:creationId xmlns:a16="http://schemas.microsoft.com/office/drawing/2014/main" id="{51A5BB14-F6F1-4C0B-A5ED-23464334D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358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2681" name="Group 9">
            <a:extLst>
              <a:ext uri="{FF2B5EF4-FFF2-40B4-BE49-F238E27FC236}">
                <a16:creationId xmlns:a16="http://schemas.microsoft.com/office/drawing/2014/main" id="{74E60F89-4358-46CD-B6FA-75D08012BA7C}"/>
              </a:ext>
            </a:extLst>
          </p:cNvPr>
          <p:cNvGrpSpPr>
            <a:grpSpLocks/>
          </p:cNvGrpSpPr>
          <p:nvPr/>
        </p:nvGrpSpPr>
        <p:grpSpPr bwMode="auto">
          <a:xfrm>
            <a:off x="5995988" y="3894138"/>
            <a:ext cx="509587" cy="661987"/>
            <a:chOff x="4050" y="3457"/>
            <a:chExt cx="321" cy="417"/>
          </a:xfrm>
        </p:grpSpPr>
        <p:sp>
          <p:nvSpPr>
            <p:cNvPr id="1052682" name="AutoShape 10">
              <a:extLst>
                <a:ext uri="{FF2B5EF4-FFF2-40B4-BE49-F238E27FC236}">
                  <a16:creationId xmlns:a16="http://schemas.microsoft.com/office/drawing/2014/main" id="{309ACE51-FD77-465B-82EE-3C71D36B84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67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683" name="Text Box 11">
              <a:extLst>
                <a:ext uri="{FF2B5EF4-FFF2-40B4-BE49-F238E27FC236}">
                  <a16:creationId xmlns:a16="http://schemas.microsoft.com/office/drawing/2014/main" id="{AFCCB875-742B-4DA8-AB27-A3F8B8936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</p:grpSp>
      <p:sp>
        <p:nvSpPr>
          <p:cNvPr id="1052684" name="Rectangle 12">
            <a:extLst>
              <a:ext uri="{FF2B5EF4-FFF2-40B4-BE49-F238E27FC236}">
                <a16:creationId xmlns:a16="http://schemas.microsoft.com/office/drawing/2014/main" id="{41C0C22C-5A03-4C64-888B-199E6F856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836988"/>
            <a:ext cx="1319212" cy="1065212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>
              <a:lnSpc>
                <a:spcPct val="120000"/>
              </a:lnSpc>
            </a:pP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唯一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候选键</a:t>
            </a:r>
            <a:endParaRPr lang="zh-CN" altLang="en-US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52685" name="Group 13">
            <a:extLst>
              <a:ext uri="{FF2B5EF4-FFF2-40B4-BE49-F238E27FC236}">
                <a16:creationId xmlns:a16="http://schemas.microsoft.com/office/drawing/2014/main" id="{6C77A1F9-4C8D-4980-9406-BC806587E94C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5297488"/>
            <a:ext cx="2808288" cy="828675"/>
            <a:chOff x="1926" y="3452"/>
            <a:chExt cx="1769" cy="522"/>
          </a:xfrm>
        </p:grpSpPr>
        <p:sp>
          <p:nvSpPr>
            <p:cNvPr id="1052686" name="Rectangle 14">
              <a:extLst>
                <a:ext uri="{FF2B5EF4-FFF2-40B4-BE49-F238E27FC236}">
                  <a16:creationId xmlns:a16="http://schemas.microsoft.com/office/drawing/2014/main" id="{113905AB-0BDE-4F03-8E06-38765AD7E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3452"/>
              <a:ext cx="1769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M=1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1052687" name="AutoShape 15">
              <a:extLst>
                <a:ext uri="{FF2B5EF4-FFF2-40B4-BE49-F238E27FC236}">
                  <a16:creationId xmlns:a16="http://schemas.microsoft.com/office/drawing/2014/main" id="{DD0F1685-BE3F-4EBE-A66F-377A49953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815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2688" name="Group 16">
            <a:extLst>
              <a:ext uri="{FF2B5EF4-FFF2-40B4-BE49-F238E27FC236}">
                <a16:creationId xmlns:a16="http://schemas.microsoft.com/office/drawing/2014/main" id="{A2CCD202-D17C-401C-AE67-E65B309A2B3E}"/>
              </a:ext>
            </a:extLst>
          </p:cNvPr>
          <p:cNvGrpSpPr>
            <a:grpSpLocks/>
          </p:cNvGrpSpPr>
          <p:nvPr/>
        </p:nvGrpSpPr>
        <p:grpSpPr bwMode="auto">
          <a:xfrm>
            <a:off x="4311650" y="4816475"/>
            <a:ext cx="692150" cy="519113"/>
            <a:chOff x="2716" y="3149"/>
            <a:chExt cx="436" cy="327"/>
          </a:xfrm>
        </p:grpSpPr>
        <p:sp>
          <p:nvSpPr>
            <p:cNvPr id="1052689" name="Text Box 17">
              <a:extLst>
                <a:ext uri="{FF2B5EF4-FFF2-40B4-BE49-F238E27FC236}">
                  <a16:creationId xmlns:a16="http://schemas.microsoft.com/office/drawing/2014/main" id="{42D4AB61-CD35-4CEC-BCF4-29FC732A6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2" y="3149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  <p:sp>
          <p:nvSpPr>
            <p:cNvPr id="1052690" name="AutoShape 18">
              <a:extLst>
                <a:ext uri="{FF2B5EF4-FFF2-40B4-BE49-F238E27FC236}">
                  <a16:creationId xmlns:a16="http://schemas.microsoft.com/office/drawing/2014/main" id="{F00BA7AB-5F34-4DED-BC2F-418661284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3222"/>
              <a:ext cx="146" cy="208"/>
            </a:xfrm>
            <a:prstGeom prst="downArrow">
              <a:avLst>
                <a:gd name="adj1" fmla="val 50000"/>
                <a:gd name="adj2" fmla="val 35616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2691" name="Rectangle 19">
            <a:extLst>
              <a:ext uri="{FF2B5EF4-FFF2-40B4-BE49-F238E27FC236}">
                <a16:creationId xmlns:a16="http://schemas.microsoft.com/office/drawing/2014/main" id="{586DBDF9-7286-48A8-AFCA-CDF45F224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52692" name="Rectangle 20">
            <a:extLst>
              <a:ext uri="{FF2B5EF4-FFF2-40B4-BE49-F238E27FC236}">
                <a16:creationId xmlns:a16="http://schemas.microsoft.com/office/drawing/2014/main" id="{327D099C-5BE4-4332-B9A7-B40ACABD1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多属性候选键的求解方法（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6.4</a:t>
            </a:r>
            <a:r>
              <a:rPr lang="zh-CN" altLang="en-US"/>
              <a:t>）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46"/>
    </mc:Choice>
    <mc:Fallback xmlns="">
      <p:transition spd="slow" advTm="54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5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5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5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5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5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05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05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674" grpId="0" animBg="1"/>
      <p:bldP spid="10526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>
            <a:extLst>
              <a:ext uri="{FF2B5EF4-FFF2-40B4-BE49-F238E27FC236}">
                <a16:creationId xmlns:a16="http://schemas.microsoft.com/office/drawing/2014/main" id="{D580C760-6C6A-4B2C-ABCB-5FE72C4FA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276475"/>
            <a:ext cx="4679950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中取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个属性形成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，求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(XA)</a:t>
            </a:r>
            <a:r>
              <a:rPr lang="zh-CN" altLang="en-US" sz="2400" b="1" baseline="30000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endParaRPr lang="en-US" altLang="zh-CN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54723" name="Group 3">
            <a:extLst>
              <a:ext uri="{FF2B5EF4-FFF2-40B4-BE49-F238E27FC236}">
                <a16:creationId xmlns:a16="http://schemas.microsoft.com/office/drawing/2014/main" id="{59CE9236-0794-4BA3-A019-33036BCD7AFD}"/>
              </a:ext>
            </a:extLst>
          </p:cNvPr>
          <p:cNvGrpSpPr>
            <a:grpSpLocks/>
          </p:cNvGrpSpPr>
          <p:nvPr/>
        </p:nvGrpSpPr>
        <p:grpSpPr bwMode="auto">
          <a:xfrm>
            <a:off x="2859088" y="2886075"/>
            <a:ext cx="3238500" cy="1136650"/>
            <a:chOff x="2047" y="3358"/>
            <a:chExt cx="2040" cy="716"/>
          </a:xfrm>
        </p:grpSpPr>
        <p:sp>
          <p:nvSpPr>
            <p:cNvPr id="1054724" name="AutoShape 4">
              <a:extLst>
                <a:ext uri="{FF2B5EF4-FFF2-40B4-BE49-F238E27FC236}">
                  <a16:creationId xmlns:a16="http://schemas.microsoft.com/office/drawing/2014/main" id="{B8D2D267-387F-482D-B79E-52FB6096E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3530"/>
              <a:ext cx="2040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U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  <a:sym typeface="Symbol" panose="05050102010706020507" pitchFamily="18" charset="2"/>
                </a:rPr>
                <a:t>(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XA)</a:t>
              </a:r>
              <a:r>
                <a:rPr lang="en-US" altLang="zh-CN" sz="2400" b="1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+ 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1054725" name="AutoShape 5">
              <a:extLst>
                <a:ext uri="{FF2B5EF4-FFF2-40B4-BE49-F238E27FC236}">
                  <a16:creationId xmlns:a16="http://schemas.microsoft.com/office/drawing/2014/main" id="{DEDCC8D5-EBA4-4238-9263-0E4915D47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358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4726" name="Group 6">
            <a:extLst>
              <a:ext uri="{FF2B5EF4-FFF2-40B4-BE49-F238E27FC236}">
                <a16:creationId xmlns:a16="http://schemas.microsoft.com/office/drawing/2014/main" id="{02316A8E-33FA-4C61-9FBF-6D7F8BD81AC9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3028950"/>
            <a:ext cx="509588" cy="661988"/>
            <a:chOff x="4050" y="3457"/>
            <a:chExt cx="321" cy="417"/>
          </a:xfrm>
        </p:grpSpPr>
        <p:sp>
          <p:nvSpPr>
            <p:cNvPr id="1054727" name="AutoShape 7">
              <a:extLst>
                <a:ext uri="{FF2B5EF4-FFF2-40B4-BE49-F238E27FC236}">
                  <a16:creationId xmlns:a16="http://schemas.microsoft.com/office/drawing/2014/main" id="{4D0D20E9-1A4F-48E6-A6A9-EC5EFD1D18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67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728" name="Text Box 8">
              <a:extLst>
                <a:ext uri="{FF2B5EF4-FFF2-40B4-BE49-F238E27FC236}">
                  <a16:creationId xmlns:a16="http://schemas.microsoft.com/office/drawing/2014/main" id="{832ED8E8-5BDC-46E1-BF1A-38EC9221D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</p:grpSp>
      <p:sp>
        <p:nvSpPr>
          <p:cNvPr id="1054729" name="Rectangle 9">
            <a:extLst>
              <a:ext uri="{FF2B5EF4-FFF2-40B4-BE49-F238E27FC236}">
                <a16:creationId xmlns:a16="http://schemas.microsoft.com/office/drawing/2014/main" id="{C1109F5E-3134-4813-BAED-311FAC913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3044825"/>
            <a:ext cx="1319213" cy="1065213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>
              <a:lnSpc>
                <a:spcPct val="120000"/>
              </a:lnSpc>
            </a:pP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XA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sz="2400" b="1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一个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候选键</a:t>
            </a:r>
            <a:endParaRPr lang="zh-CN" altLang="en-US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54730" name="Group 10">
            <a:extLst>
              <a:ext uri="{FF2B5EF4-FFF2-40B4-BE49-F238E27FC236}">
                <a16:creationId xmlns:a16="http://schemas.microsoft.com/office/drawing/2014/main" id="{A9D70E39-3FF6-485F-8E30-59C21B4D71B0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3922713"/>
            <a:ext cx="5616575" cy="1252537"/>
            <a:chOff x="1030" y="2522"/>
            <a:chExt cx="3538" cy="789"/>
          </a:xfrm>
        </p:grpSpPr>
        <p:sp>
          <p:nvSpPr>
            <p:cNvPr id="1054731" name="Text Box 11">
              <a:extLst>
                <a:ext uri="{FF2B5EF4-FFF2-40B4-BE49-F238E27FC236}">
                  <a16:creationId xmlns:a16="http://schemas.microsoft.com/office/drawing/2014/main" id="{5E7B1AED-E239-4954-A94D-A52B6D0C4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2" y="2522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  <p:sp>
          <p:nvSpPr>
            <p:cNvPr id="1054732" name="AutoShape 12">
              <a:extLst>
                <a:ext uri="{FF2B5EF4-FFF2-40B4-BE49-F238E27FC236}">
                  <a16:creationId xmlns:a16="http://schemas.microsoft.com/office/drawing/2014/main" id="{5557D210-3688-4339-8BEE-B99532517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" y="2767"/>
              <a:ext cx="3538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en-US" sz="20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取M个属性</a:t>
              </a:r>
              <a:r>
                <a:rPr lang="zh-CN" altLang="en-US" sz="20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的取法是否已完</a:t>
              </a:r>
              <a:r>
                <a:rPr lang="zh-CN" altLang="en-US" sz="20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1054733" name="AutoShape 13">
              <a:extLst>
                <a:ext uri="{FF2B5EF4-FFF2-40B4-BE49-F238E27FC236}">
                  <a16:creationId xmlns:a16="http://schemas.microsoft.com/office/drawing/2014/main" id="{A5A9A145-F4D2-43D8-BA30-F0D0E7F98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2595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4734" name="Group 14">
            <a:extLst>
              <a:ext uri="{FF2B5EF4-FFF2-40B4-BE49-F238E27FC236}">
                <a16:creationId xmlns:a16="http://schemas.microsoft.com/office/drawing/2014/main" id="{4A38F3B4-116D-40B6-9E24-B189759E5038}"/>
              </a:ext>
            </a:extLst>
          </p:cNvPr>
          <p:cNvGrpSpPr>
            <a:grpSpLocks/>
          </p:cNvGrpSpPr>
          <p:nvPr/>
        </p:nvGrpSpPr>
        <p:grpSpPr bwMode="auto">
          <a:xfrm>
            <a:off x="1857375" y="2886075"/>
            <a:ext cx="596900" cy="1800225"/>
            <a:chOff x="1143" y="1869"/>
            <a:chExt cx="376" cy="1134"/>
          </a:xfrm>
        </p:grpSpPr>
        <p:sp>
          <p:nvSpPr>
            <p:cNvPr id="1054735" name="Text Box 15">
              <a:extLst>
                <a:ext uri="{FF2B5EF4-FFF2-40B4-BE49-F238E27FC236}">
                  <a16:creationId xmlns:a16="http://schemas.microsoft.com/office/drawing/2014/main" id="{8FEBEC7A-DD06-4165-B34B-9199219E9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" y="2595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  <p:sp>
          <p:nvSpPr>
            <p:cNvPr id="1054736" name="AutoShape 16">
              <a:extLst>
                <a:ext uri="{FF2B5EF4-FFF2-40B4-BE49-F238E27FC236}">
                  <a16:creationId xmlns:a16="http://schemas.microsoft.com/office/drawing/2014/main" id="{877ABDFC-C1ED-4BFF-921B-75060AF7DD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383" y="1869"/>
              <a:ext cx="136" cy="1134"/>
            </a:xfrm>
            <a:prstGeom prst="downArrow">
              <a:avLst>
                <a:gd name="adj1" fmla="val 39565"/>
                <a:gd name="adj2" fmla="val 100406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4737" name="Group 17">
            <a:extLst>
              <a:ext uri="{FF2B5EF4-FFF2-40B4-BE49-F238E27FC236}">
                <a16:creationId xmlns:a16="http://schemas.microsoft.com/office/drawing/2014/main" id="{E609B203-F250-4001-BF15-88D8CA7A1BEF}"/>
              </a:ext>
            </a:extLst>
          </p:cNvPr>
          <p:cNvGrpSpPr>
            <a:grpSpLocks/>
          </p:cNvGrpSpPr>
          <p:nvPr/>
        </p:nvGrpSpPr>
        <p:grpSpPr bwMode="auto">
          <a:xfrm>
            <a:off x="2093913" y="5119688"/>
            <a:ext cx="4810125" cy="1252537"/>
            <a:chOff x="1292" y="3276"/>
            <a:chExt cx="3030" cy="789"/>
          </a:xfrm>
        </p:grpSpPr>
        <p:sp>
          <p:nvSpPr>
            <p:cNvPr id="1054738" name="Text Box 18">
              <a:extLst>
                <a:ext uri="{FF2B5EF4-FFF2-40B4-BE49-F238E27FC236}">
                  <a16:creationId xmlns:a16="http://schemas.microsoft.com/office/drawing/2014/main" id="{A765A6CB-BE39-4B3C-ABFD-5264841BB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1" y="3276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  <p:sp>
          <p:nvSpPr>
            <p:cNvPr id="1054739" name="AutoShape 19">
              <a:extLst>
                <a:ext uri="{FF2B5EF4-FFF2-40B4-BE49-F238E27FC236}">
                  <a16:creationId xmlns:a16="http://schemas.microsoft.com/office/drawing/2014/main" id="{1286C808-B332-4DBD-83A7-D37217F38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3521"/>
              <a:ext cx="3030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M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Y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的属性个数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1054740" name="AutoShape 20">
              <a:extLst>
                <a:ext uri="{FF2B5EF4-FFF2-40B4-BE49-F238E27FC236}">
                  <a16:creationId xmlns:a16="http://schemas.microsoft.com/office/drawing/2014/main" id="{BC10BAF7-53E5-42E2-8BDD-28B1237D4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" y="3349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54741" name="Group 21">
            <a:extLst>
              <a:ext uri="{FF2B5EF4-FFF2-40B4-BE49-F238E27FC236}">
                <a16:creationId xmlns:a16="http://schemas.microsoft.com/office/drawing/2014/main" id="{8457949B-4603-4479-A676-1E4B9A549572}"/>
              </a:ext>
            </a:extLst>
          </p:cNvPr>
          <p:cNvGrpSpPr>
            <a:grpSpLocks/>
          </p:cNvGrpSpPr>
          <p:nvPr/>
        </p:nvGrpSpPr>
        <p:grpSpPr bwMode="auto">
          <a:xfrm>
            <a:off x="6846888" y="5394325"/>
            <a:ext cx="1901825" cy="790575"/>
            <a:chOff x="4286" y="3449"/>
            <a:chExt cx="1198" cy="498"/>
          </a:xfrm>
        </p:grpSpPr>
        <p:grpSp>
          <p:nvGrpSpPr>
            <p:cNvPr id="1054742" name="Group 22">
              <a:extLst>
                <a:ext uri="{FF2B5EF4-FFF2-40B4-BE49-F238E27FC236}">
                  <a16:creationId xmlns:a16="http://schemas.microsoft.com/office/drawing/2014/main" id="{069E073B-7E53-4285-90E6-AF44DBFB35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6" y="3449"/>
              <a:ext cx="321" cy="417"/>
              <a:chOff x="4050" y="3457"/>
              <a:chExt cx="321" cy="417"/>
            </a:xfrm>
          </p:grpSpPr>
          <p:sp>
            <p:nvSpPr>
              <p:cNvPr id="1054743" name="AutoShape 23">
                <a:extLst>
                  <a:ext uri="{FF2B5EF4-FFF2-40B4-BE49-F238E27FC236}">
                    <a16:creationId xmlns:a16="http://schemas.microsoft.com/office/drawing/2014/main" id="{A6443D6E-F11B-48BE-96A4-A4111E96E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4167" y="3670"/>
                <a:ext cx="136" cy="272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00FF00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4744" name="Text Box 24">
                <a:extLst>
                  <a:ext uri="{FF2B5EF4-FFF2-40B4-BE49-F238E27FC236}">
                    <a16:creationId xmlns:a16="http://schemas.microsoft.com/office/drawing/2014/main" id="{7D19B509-8485-4E21-8D1B-3FE40E19BE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0" y="3457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0" rIns="0" anchor="ctr" anchorCtr="1"/>
              <a:lstStyle/>
              <a:p>
                <a:r>
                  <a:rPr lang="en-US" altLang="zh-CN" sz="2800" b="1"/>
                  <a:t>N</a:t>
                </a:r>
              </a:p>
            </p:txBody>
          </p:sp>
        </p:grpSp>
        <p:sp>
          <p:nvSpPr>
            <p:cNvPr id="1054745" name="AutoShape 25">
              <a:extLst>
                <a:ext uri="{FF2B5EF4-FFF2-40B4-BE49-F238E27FC236}">
                  <a16:creationId xmlns:a16="http://schemas.microsoft.com/office/drawing/2014/main" id="{0EB0C48A-5078-42BF-92E4-1462FA22F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3630"/>
              <a:ext cx="862" cy="317"/>
            </a:xfrm>
            <a:prstGeom prst="flowChartAlternateProcess">
              <a:avLst/>
            </a:prstGeom>
            <a:solidFill>
              <a:srgbClr val="FFCC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anose="02010609060101010101" pitchFamily="49" charset="-122"/>
                </a:rPr>
                <a:t>结束</a:t>
              </a:r>
            </a:p>
          </p:txBody>
        </p:sp>
      </p:grpSp>
      <p:grpSp>
        <p:nvGrpSpPr>
          <p:cNvPr id="1054746" name="Group 26">
            <a:extLst>
              <a:ext uri="{FF2B5EF4-FFF2-40B4-BE49-F238E27FC236}">
                <a16:creationId xmlns:a16="http://schemas.microsoft.com/office/drawing/2014/main" id="{FC010E83-0668-43CF-A2A7-C63AB745E36B}"/>
              </a:ext>
            </a:extLst>
          </p:cNvPr>
          <p:cNvGrpSpPr>
            <a:grpSpLocks/>
          </p:cNvGrpSpPr>
          <p:nvPr/>
        </p:nvGrpSpPr>
        <p:grpSpPr bwMode="auto">
          <a:xfrm>
            <a:off x="1222375" y="2498725"/>
            <a:ext cx="944563" cy="3095625"/>
            <a:chOff x="743" y="1625"/>
            <a:chExt cx="595" cy="1950"/>
          </a:xfrm>
        </p:grpSpPr>
        <p:sp>
          <p:nvSpPr>
            <p:cNvPr id="1054747" name="Rectangle 27">
              <a:extLst>
                <a:ext uri="{FF2B5EF4-FFF2-40B4-BE49-F238E27FC236}">
                  <a16:creationId xmlns:a16="http://schemas.microsoft.com/office/drawing/2014/main" id="{DD221B2B-D793-40B6-8027-7EC12AA52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706"/>
              <a:ext cx="68" cy="1869"/>
            </a:xfrm>
            <a:prstGeom prst="rect">
              <a:avLst/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748" name="AutoShape 28">
              <a:extLst>
                <a:ext uri="{FF2B5EF4-FFF2-40B4-BE49-F238E27FC236}">
                  <a16:creationId xmlns:a16="http://schemas.microsoft.com/office/drawing/2014/main" id="{3D5FE6AC-F507-400F-BF3D-7B941481FD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977" y="1391"/>
              <a:ext cx="127" cy="595"/>
            </a:xfrm>
            <a:prstGeom prst="downArrow">
              <a:avLst>
                <a:gd name="adj1" fmla="val 50000"/>
                <a:gd name="adj2" fmla="val 117126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4749" name="AutoShape 29">
            <a:extLst>
              <a:ext uri="{FF2B5EF4-FFF2-40B4-BE49-F238E27FC236}">
                <a16:creationId xmlns:a16="http://schemas.microsoft.com/office/drawing/2014/main" id="{8936608E-6B3B-4046-804F-CC95F6B39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4140200"/>
            <a:ext cx="215900" cy="576263"/>
          </a:xfrm>
          <a:prstGeom prst="downArrow">
            <a:avLst>
              <a:gd name="adj1" fmla="val 50000"/>
              <a:gd name="adj2" fmla="val 6672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4750" name="Group 30">
            <a:extLst>
              <a:ext uri="{FF2B5EF4-FFF2-40B4-BE49-F238E27FC236}">
                <a16:creationId xmlns:a16="http://schemas.microsoft.com/office/drawing/2014/main" id="{1060C1F7-D03F-4511-A957-A6FCDBB3471B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5378450"/>
            <a:ext cx="1512888" cy="777875"/>
            <a:chOff x="385" y="3439"/>
            <a:chExt cx="953" cy="490"/>
          </a:xfrm>
        </p:grpSpPr>
        <p:sp>
          <p:nvSpPr>
            <p:cNvPr id="1054751" name="Rectangle 31">
              <a:extLst>
                <a:ext uri="{FF2B5EF4-FFF2-40B4-BE49-F238E27FC236}">
                  <a16:creationId xmlns:a16="http://schemas.microsoft.com/office/drawing/2014/main" id="{D72CB3E1-5F0C-4230-A011-CD48CEFD9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589"/>
              <a:ext cx="650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0" rIns="0" anchor="ctr" anchorCtr="1"/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M++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grpSp>
          <p:nvGrpSpPr>
            <p:cNvPr id="1054752" name="Group 32">
              <a:extLst>
                <a:ext uri="{FF2B5EF4-FFF2-40B4-BE49-F238E27FC236}">
                  <a16:creationId xmlns:a16="http://schemas.microsoft.com/office/drawing/2014/main" id="{AA4662C0-0C4C-4793-B16D-F52ADC2E1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1" y="3439"/>
              <a:ext cx="277" cy="417"/>
              <a:chOff x="1787" y="3457"/>
              <a:chExt cx="277" cy="417"/>
            </a:xfrm>
          </p:grpSpPr>
          <p:sp>
            <p:nvSpPr>
              <p:cNvPr id="1054753" name="AutoShape 33">
                <a:extLst>
                  <a:ext uri="{FF2B5EF4-FFF2-40B4-BE49-F238E27FC236}">
                    <a16:creationId xmlns:a16="http://schemas.microsoft.com/office/drawing/2014/main" id="{5A4FEB2E-357A-415A-9E8D-83DFBD34A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855" y="3670"/>
                <a:ext cx="136" cy="272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00FF00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4754" name="Text Box 34">
                <a:extLst>
                  <a:ext uri="{FF2B5EF4-FFF2-40B4-BE49-F238E27FC236}">
                    <a16:creationId xmlns:a16="http://schemas.microsoft.com/office/drawing/2014/main" id="{7DCCED46-6679-43D6-81DE-6BD145CC0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3457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chemeClr val="tx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lIns="0" rIns="0" anchor="ctr" anchorCtr="1"/>
              <a:lstStyle/>
              <a:p>
                <a:r>
                  <a:rPr lang="en-US" altLang="zh-CN" sz="2800" b="1"/>
                  <a:t>Y</a:t>
                </a:r>
              </a:p>
            </p:txBody>
          </p:sp>
        </p:grpSp>
      </p:grpSp>
      <p:sp>
        <p:nvSpPr>
          <p:cNvPr id="1054755" name="AutoShape 35">
            <a:extLst>
              <a:ext uri="{FF2B5EF4-FFF2-40B4-BE49-F238E27FC236}">
                <a16:creationId xmlns:a16="http://schemas.microsoft.com/office/drawing/2014/main" id="{A8484AD0-13C2-45C2-BEE8-A625D406E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348038"/>
            <a:ext cx="2663825" cy="1081087"/>
          </a:xfrm>
          <a:prstGeom prst="wedgeRectCallout">
            <a:avLst>
              <a:gd name="adj1" fmla="val 62394"/>
              <a:gd name="adj2" fmla="val -87296"/>
            </a:avLst>
          </a:prstGeom>
          <a:solidFill>
            <a:srgbClr val="8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去除</a:t>
            </a:r>
            <a:r>
              <a:rPr lang="en-US" altLang="zh-CN" sz="2400" b="1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类中已成为主属性的属性！</a:t>
            </a:r>
          </a:p>
        </p:txBody>
      </p:sp>
      <p:sp>
        <p:nvSpPr>
          <p:cNvPr id="1054756" name="Rectangle 36">
            <a:extLst>
              <a:ext uri="{FF2B5EF4-FFF2-40B4-BE49-F238E27FC236}">
                <a16:creationId xmlns:a16="http://schemas.microsoft.com/office/drawing/2014/main" id="{15325741-ADFE-4F4D-9056-4FE3CF64A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54757" name="Rectangle 37">
            <a:extLst>
              <a:ext uri="{FF2B5EF4-FFF2-40B4-BE49-F238E27FC236}">
                <a16:creationId xmlns:a16="http://schemas.microsoft.com/office/drawing/2014/main" id="{BE1E05FE-BA95-472A-B6BE-71158A424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多属性候选键的求解方法（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6.4</a:t>
            </a:r>
            <a:r>
              <a:rPr lang="zh-CN" altLang="en-US"/>
              <a:t>）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669"/>
    </mc:Choice>
    <mc:Fallback xmlns="">
      <p:transition spd="slow" advTm="127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5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5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5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05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05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05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05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05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5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105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1000"/>
                                        <p:tgtEl>
                                          <p:spTgt spid="105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5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2" grpId="0" animBg="1"/>
      <p:bldP spid="1054729" grpId="0" animBg="1"/>
      <p:bldP spid="105475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>
            <a:extLst>
              <a:ext uri="{FF2B5EF4-FFF2-40B4-BE49-F238E27FC236}">
                <a16:creationId xmlns:a16="http://schemas.microsoft.com/office/drawing/2014/main" id="{C80EE1BA-4D82-4223-B291-6152F21B1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一、候选键的求解方法</a:t>
            </a:r>
          </a:p>
        </p:txBody>
      </p:sp>
      <p:sp>
        <p:nvSpPr>
          <p:cNvPr id="1056771" name="Rectangle 3">
            <a:extLst>
              <a:ext uri="{FF2B5EF4-FFF2-40B4-BE49-F238E27FC236}">
                <a16:creationId xmlns:a16="http://schemas.microsoft.com/office/drawing/2014/main" id="{0D0B3925-E42B-4CF3-8763-9F1AE492F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/>
              <a:t>多属性候选键的求解方法（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6.4</a:t>
            </a:r>
            <a:r>
              <a:rPr lang="zh-CN" altLang="en-US"/>
              <a:t>）</a:t>
            </a:r>
            <a:endParaRPr lang="zh-CN" altLang="en-US" i="1">
              <a:solidFill>
                <a:srgbClr val="0066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i="1">
                <a:solidFill>
                  <a:srgbClr val="0066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A,B,C,D,E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{A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BC,CD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E,B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D,E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的所有候选键。</a:t>
            </a:r>
          </a:p>
          <a:p>
            <a:pPr algn="just"/>
            <a:endParaRPr lang="zh-CN" altLang="en-US">
              <a:latin typeface="楷体_GB2312" pitchFamily="49" charset="-122"/>
            </a:endParaRPr>
          </a:p>
        </p:txBody>
      </p:sp>
      <p:sp>
        <p:nvSpPr>
          <p:cNvPr id="1056772" name="Text Box 4">
            <a:extLst>
              <a:ext uri="{FF2B5EF4-FFF2-40B4-BE49-F238E27FC236}">
                <a16:creationId xmlns:a16="http://schemas.microsoft.com/office/drawing/2014/main" id="{FBF1E37A-8D99-46E1-AE5A-30AB2307C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3716338"/>
            <a:ext cx="4897438" cy="682625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tIns="0" bIns="0" anchor="ctr" anchorCtr="1"/>
          <a:lstStyle/>
          <a:p>
            <a:pPr algn="ctr"/>
            <a:r>
              <a:rPr lang="en-US" altLang="en-US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R的候选键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CD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60"/>
    </mc:Choice>
    <mc:Fallback xmlns="">
      <p:transition spd="slow" advTm="140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5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64" name="Rectangle 104">
            <a:extLst>
              <a:ext uri="{FF2B5EF4-FFF2-40B4-BE49-F238E27FC236}">
                <a16:creationId xmlns:a16="http://schemas.microsoft.com/office/drawing/2014/main" id="{52F16616-28E2-44B9-9EC0-020535B42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sz="2600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TRS:</a:t>
            </a:r>
            <a:r>
              <a:rPr lang="zh-CN" altLang="en-US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教研室，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F={C#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TNAME,{S#,C#}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sz="2600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04162" name="AutoShape 2">
            <a:extLst>
              <a:ext uri="{FF2B5EF4-FFF2-40B4-BE49-F238E27FC236}">
                <a16:creationId xmlns:a16="http://schemas.microsoft.com/office/drawing/2014/main" id="{4780DA6B-E0F9-4282-BA5F-038409A91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5888"/>
            <a:ext cx="1944688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CCFF"/>
              </a:gs>
              <a:gs pos="50000">
                <a:schemeClr val="bg1"/>
              </a:gs>
              <a:gs pos="100000">
                <a:srgbClr val="CCCCFF"/>
              </a:gs>
            </a:gsLst>
            <a:lin ang="27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问题分析</a:t>
            </a:r>
          </a:p>
        </p:txBody>
      </p:sp>
      <p:graphicFrame>
        <p:nvGraphicFramePr>
          <p:cNvPr id="604271" name="Group 111">
            <a:extLst>
              <a:ext uri="{FF2B5EF4-FFF2-40B4-BE49-F238E27FC236}">
                <a16:creationId xmlns:a16="http://schemas.microsoft.com/office/drawing/2014/main" id="{AD4A81A2-3A46-4EC7-A84B-F8943C294600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924175"/>
          <a:ext cx="6286500" cy="3431354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4042748466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5879775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78734418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171039876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209746444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876143"/>
                  </a:ext>
                </a:extLst>
              </a:tr>
              <a:tr h="1262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67422"/>
                  </a:ext>
                </a:extLst>
              </a:tr>
              <a:tr h="841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900603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359741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06761"/>
                  </a:ext>
                </a:extLst>
              </a:tr>
            </a:tbl>
          </a:graphicData>
        </a:graphic>
      </p:graphicFrame>
      <p:sp>
        <p:nvSpPr>
          <p:cNvPr id="604263" name="Line 103">
            <a:extLst>
              <a:ext uri="{FF2B5EF4-FFF2-40B4-BE49-F238E27FC236}">
                <a16:creationId xmlns:a16="http://schemas.microsoft.com/office/drawing/2014/main" id="{C1502195-FF75-4AE3-B91C-17CB1D5B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20938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2" name="AutoShape 112">
            <a:extLst>
              <a:ext uri="{FF2B5EF4-FFF2-40B4-BE49-F238E27FC236}">
                <a16:creationId xmlns:a16="http://schemas.microsoft.com/office/drawing/2014/main" id="{9C327300-8924-4300-89EC-0438603CA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292600"/>
            <a:ext cx="5832475" cy="1008063"/>
          </a:xfrm>
          <a:prstGeom prst="foldedCorner">
            <a:avLst>
              <a:gd name="adj" fmla="val 12500"/>
            </a:avLst>
          </a:prstGeom>
          <a:solidFill>
            <a:srgbClr val="333399"/>
          </a:solidFill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这样的数据表是否合适呢？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29"/>
    </mc:Choice>
    <mc:Fallback xmlns="">
      <p:transition spd="slow" advTm="189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04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60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0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64" grpId="0" uiExpand="1" build="p"/>
      <p:bldP spid="6042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>
            <a:extLst>
              <a:ext uri="{FF2B5EF4-FFF2-40B4-BE49-F238E27FC236}">
                <a16:creationId xmlns:a16="http://schemas.microsoft.com/office/drawing/2014/main" id="{6C78DA2C-A383-429A-A376-E17640F63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99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R=(S#,C#,GRADE,TNAME,TRS)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F={C#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TNAME,(S#,C#)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GRADE,TNAME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TRS}</a:t>
            </a:r>
            <a:endParaRPr lang="en-US" altLang="en-US" sz="2400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68708" name="Group 4">
            <a:extLst>
              <a:ext uri="{FF2B5EF4-FFF2-40B4-BE49-F238E27FC236}">
                <a16:creationId xmlns:a16="http://schemas.microsoft.com/office/drawing/2014/main" id="{A3474F3A-AB96-4405-8E1A-21B49BC421A0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924175"/>
          <a:ext cx="6286500" cy="3384552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4293762687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17811435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51612729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182451293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854091348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TNAME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TRS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371573"/>
                  </a:ext>
                </a:extLst>
              </a:tr>
              <a:tr h="1262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C403001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85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宋    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27385"/>
                  </a:ext>
                </a:extLst>
              </a:tr>
              <a:tr h="841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88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889278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200401003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C402002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b1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621384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200402001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C401004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    浩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546422"/>
                  </a:ext>
                </a:extLst>
              </a:tr>
            </a:tbl>
          </a:graphicData>
        </a:graphic>
      </p:graphicFrame>
      <p:grpSp>
        <p:nvGrpSpPr>
          <p:cNvPr id="968746" name="Group 42">
            <a:extLst>
              <a:ext uri="{FF2B5EF4-FFF2-40B4-BE49-F238E27FC236}">
                <a16:creationId xmlns:a16="http://schemas.microsoft.com/office/drawing/2014/main" id="{5D6C983E-71B0-4857-AA55-D8EBD60CCE73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3357563"/>
            <a:ext cx="4797425" cy="1223962"/>
            <a:chOff x="1927" y="2115"/>
            <a:chExt cx="3022" cy="771"/>
          </a:xfrm>
        </p:grpSpPr>
        <p:sp>
          <p:nvSpPr>
            <p:cNvPr id="968747" name="Oval 43">
              <a:extLst>
                <a:ext uri="{FF2B5EF4-FFF2-40B4-BE49-F238E27FC236}">
                  <a16:creationId xmlns:a16="http://schemas.microsoft.com/office/drawing/2014/main" id="{C0D23901-DD39-404A-A24D-8E147CD59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115"/>
              <a:ext cx="907" cy="771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8748" name="Oval 44">
              <a:extLst>
                <a:ext uri="{FF2B5EF4-FFF2-40B4-BE49-F238E27FC236}">
                  <a16:creationId xmlns:a16="http://schemas.microsoft.com/office/drawing/2014/main" id="{DD500613-58CF-4A82-853B-AB65499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" y="2115"/>
              <a:ext cx="680" cy="771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8749" name="Oval 45">
              <a:extLst>
                <a:ext uri="{FF2B5EF4-FFF2-40B4-BE49-F238E27FC236}">
                  <a16:creationId xmlns:a16="http://schemas.microsoft.com/office/drawing/2014/main" id="{666F45D8-5E90-4814-8A66-EBE9E3B45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115"/>
              <a:ext cx="771" cy="771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8750" name="Oval 46">
              <a:extLst>
                <a:ext uri="{FF2B5EF4-FFF2-40B4-BE49-F238E27FC236}">
                  <a16:creationId xmlns:a16="http://schemas.microsoft.com/office/drawing/2014/main" id="{C6D839A7-73F3-4825-9156-8C2AF9DAB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4" y="2115"/>
              <a:ext cx="635" cy="771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8751" name="AutoShape 47">
            <a:extLst>
              <a:ext uri="{FF2B5EF4-FFF2-40B4-BE49-F238E27FC236}">
                <a16:creationId xmlns:a16="http://schemas.microsoft.com/office/drawing/2014/main" id="{7A248974-D7E9-4AFC-9AE3-B3B05D29D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797425"/>
            <a:ext cx="2087562" cy="1582738"/>
          </a:xfrm>
          <a:prstGeom prst="wedgeRoundRectCallout">
            <a:avLst>
              <a:gd name="adj1" fmla="val -108782"/>
              <a:gd name="adj2" fmla="val -68153"/>
              <a:gd name="adj3" fmla="val 16667"/>
            </a:avLst>
          </a:prstGeom>
          <a:solidFill>
            <a:srgbClr val="00FFFF"/>
          </a:solidFill>
          <a:ln w="12700" cap="sq">
            <a:solidFill>
              <a:srgbClr val="080808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800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属性值中存在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子表</a:t>
            </a:r>
          </a:p>
        </p:txBody>
      </p:sp>
      <p:sp>
        <p:nvSpPr>
          <p:cNvPr id="968752" name="Line 48">
            <a:extLst>
              <a:ext uri="{FF2B5EF4-FFF2-40B4-BE49-F238E27FC236}">
                <a16:creationId xmlns:a16="http://schemas.microsoft.com/office/drawing/2014/main" id="{3B90CBC2-D67A-4C8E-B60A-9A6BCA5A5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2492375"/>
            <a:ext cx="1152525" cy="0"/>
          </a:xfrm>
          <a:prstGeom prst="line">
            <a:avLst/>
          </a:prstGeom>
          <a:noFill/>
          <a:ln w="38100" cap="sq">
            <a:solidFill>
              <a:srgbClr val="993366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8754" name="AutoShape 50">
            <a:extLst>
              <a:ext uri="{FF2B5EF4-FFF2-40B4-BE49-F238E27FC236}">
                <a16:creationId xmlns:a16="http://schemas.microsoft.com/office/drawing/2014/main" id="{438BAD6F-9E4B-4C99-8D77-CCB4461BE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5888"/>
            <a:ext cx="1944688" cy="64770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CCFF"/>
              </a:gs>
              <a:gs pos="50000">
                <a:schemeClr val="bg1"/>
              </a:gs>
              <a:gs pos="100000">
                <a:srgbClr val="CCCCFF"/>
              </a:gs>
            </a:gsLst>
            <a:lin ang="2700000" scaled="1"/>
          </a:gradFill>
          <a:ln>
            <a:noFill/>
          </a:ln>
          <a:effectLst>
            <a:outerShdw dist="71842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问题分析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07"/>
    </mc:Choice>
    <mc:Fallback xmlns="">
      <p:transition spd="slow" advTm="688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68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68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5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8|9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20.9|14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1|26.2|46.4|47.1|9.7|26.7|6.4|55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30.9|6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5.4|3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5.8|5.2|7.2|5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31.9|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8.8|7.9|9.2|10.4|2.5|6.3|4.7|17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9.4|5.9|10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12.5|10|2.8|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8.8|7.9|30|2.3|21.3|11|19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13275</TotalTime>
  <Words>1646</Words>
  <Application>Microsoft Office PowerPoint</Application>
  <PresentationFormat>全屏显示(4:3)</PresentationFormat>
  <Paragraphs>272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仿宋_GB2312</vt:lpstr>
      <vt:lpstr>黑体</vt:lpstr>
      <vt:lpstr>华文新魏</vt:lpstr>
      <vt:lpstr>楷体_GB2312</vt:lpstr>
      <vt:lpstr>隶书</vt:lpstr>
      <vt:lpstr>Arial</vt:lpstr>
      <vt:lpstr>Tahoma</vt:lpstr>
      <vt:lpstr>Times New Roman</vt:lpstr>
      <vt:lpstr>Wingdings</vt:lpstr>
      <vt:lpstr>cdb2004165l</vt:lpstr>
      <vt:lpstr>第6章  关系数据库模式设计</vt:lpstr>
      <vt:lpstr>第三讲</vt:lpstr>
      <vt:lpstr>主要内容</vt:lpstr>
      <vt:lpstr>PowerPoint 演示文稿</vt:lpstr>
      <vt:lpstr>PowerPoint 演示文稿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一、候选键的求解方法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652</cp:revision>
  <cp:lastPrinted>2000-08-23T09:10:16Z</cp:lastPrinted>
  <dcterms:created xsi:type="dcterms:W3CDTF">1601-01-01T00:00:00Z</dcterms:created>
  <dcterms:modified xsi:type="dcterms:W3CDTF">2021-04-20T14:39:35Z</dcterms:modified>
</cp:coreProperties>
</file>