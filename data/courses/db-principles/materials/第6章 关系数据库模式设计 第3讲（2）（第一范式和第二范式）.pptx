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6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6"/>
  </p:notesMasterIdLst>
  <p:handoutMasterIdLst>
    <p:handoutMasterId r:id="rId27"/>
  </p:handoutMasterIdLst>
  <p:sldIdLst>
    <p:sldId id="676" r:id="rId2"/>
    <p:sldId id="677" r:id="rId3"/>
    <p:sldId id="678" r:id="rId4"/>
    <p:sldId id="679" r:id="rId5"/>
    <p:sldId id="609" r:id="rId6"/>
    <p:sldId id="608" r:id="rId7"/>
    <p:sldId id="701" r:id="rId8"/>
    <p:sldId id="702" r:id="rId9"/>
    <p:sldId id="703" r:id="rId10"/>
    <p:sldId id="479" r:id="rId11"/>
    <p:sldId id="519" r:id="rId12"/>
    <p:sldId id="689" r:id="rId13"/>
    <p:sldId id="482" r:id="rId14"/>
    <p:sldId id="520" r:id="rId15"/>
    <p:sldId id="549" r:id="rId16"/>
    <p:sldId id="550" r:id="rId17"/>
    <p:sldId id="551" r:id="rId18"/>
    <p:sldId id="582" r:id="rId19"/>
    <p:sldId id="680" r:id="rId20"/>
    <p:sldId id="681" r:id="rId21"/>
    <p:sldId id="705" r:id="rId22"/>
    <p:sldId id="704" r:id="rId23"/>
    <p:sldId id="706" r:id="rId24"/>
    <p:sldId id="717" r:id="rId25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00"/>
    <a:srgbClr val="336600"/>
    <a:srgbClr val="006600"/>
    <a:srgbClr val="FF99FF"/>
    <a:srgbClr val="CCCCFF"/>
    <a:srgbClr val="FF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86278" autoAdjust="0"/>
  </p:normalViewPr>
  <p:slideViewPr>
    <p:cSldViewPr>
      <p:cViewPr varScale="1">
        <p:scale>
          <a:sx n="131" d="100"/>
          <a:sy n="131" d="100"/>
        </p:scale>
        <p:origin x="884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2C025CC-6C2D-4663-85F9-9A8C5A18A8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F17BF2F-E7FA-4FD3-9F9F-103D46751BD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88D6B17F-8756-44B3-B508-0EA0B2D426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30E08ED1-58CF-49DF-8F86-39782D6261B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C554C430-A42F-4EEC-B6D4-D9BB3DB712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AAB39FC8-4BAA-4DC7-B44E-9F8AD1396D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D763CA7F-0F30-4EDE-BEB0-E4F3B8F2D2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>
            <a:extLst>
              <a:ext uri="{FF2B5EF4-FFF2-40B4-BE49-F238E27FC236}">
                <a16:creationId xmlns:a16="http://schemas.microsoft.com/office/drawing/2014/main" id="{BE37B2CF-FD8A-4C29-A107-2536CEDA9A8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E81A2B88-FC89-4B46-9681-3B6C57CF085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64D12B86-20B5-48C8-9106-CC039BC30D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09C9FDCB-31BC-4117-90AE-FF33D3E8E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9B0B2777-31DB-4673-9C3C-0D1BAD296E0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52D9CA-F811-466E-932E-78B545E8B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75FF52-E7A1-4E89-8AF4-6F7F0355C2FD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898050" name="Rectangle 2">
            <a:extLst>
              <a:ext uri="{FF2B5EF4-FFF2-40B4-BE49-F238E27FC236}">
                <a16:creationId xmlns:a16="http://schemas.microsoft.com/office/drawing/2014/main" id="{69F74D0C-3920-4E74-8433-89260179D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8051" name="Rectangle 3">
            <a:extLst>
              <a:ext uri="{FF2B5EF4-FFF2-40B4-BE49-F238E27FC236}">
                <a16:creationId xmlns:a16="http://schemas.microsoft.com/office/drawing/2014/main" id="{AE1BF9DC-19E2-4696-85C9-BC1D97828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C75BD6A-E01D-4E19-9CFE-C6640A079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289817-BCD7-43DA-8452-B1959A4D544C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900098" name="Rectangle 2">
            <a:extLst>
              <a:ext uri="{FF2B5EF4-FFF2-40B4-BE49-F238E27FC236}">
                <a16:creationId xmlns:a16="http://schemas.microsoft.com/office/drawing/2014/main" id="{0F74F01D-B291-48DB-A755-E5E33E3D1D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365D509F-92B4-48E3-AFD8-515A1C92D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271B62C-35BB-4C7D-B43D-B2B693BF38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BCB878-BE4A-486A-A895-5495E62B194E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902146" name="Rectangle 2">
            <a:extLst>
              <a:ext uri="{FF2B5EF4-FFF2-40B4-BE49-F238E27FC236}">
                <a16:creationId xmlns:a16="http://schemas.microsoft.com/office/drawing/2014/main" id="{4C297C47-6211-430A-B5E9-7B20A9FE8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B9290EF7-126C-4F2C-857F-9AA5BBF49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834D17B-1266-437E-B83C-902E991C9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E2BA97-0087-40E5-9869-C9B2AF164B78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7B387C15-D4B9-4181-8CF2-754DEE2304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D8D3FBB3-FCE1-4232-A580-D01C032B0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4C90815-66C7-4778-9EFC-CEFDEE7C63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5BF5C2-32B0-43D9-AFF0-58FAD3665E31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815106" name="Rectangle 2">
            <a:extLst>
              <a:ext uri="{FF2B5EF4-FFF2-40B4-BE49-F238E27FC236}">
                <a16:creationId xmlns:a16="http://schemas.microsoft.com/office/drawing/2014/main" id="{D1387F1E-260B-4DBB-8DA9-A17E823B1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5107" name="Rectangle 3">
            <a:extLst>
              <a:ext uri="{FF2B5EF4-FFF2-40B4-BE49-F238E27FC236}">
                <a16:creationId xmlns:a16="http://schemas.microsoft.com/office/drawing/2014/main" id="{4E72C7FE-AA55-4D86-90BE-4A438AFA0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60DFDF9-4D46-4109-93E4-4F2CFFBAAC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4656E3-E532-46AB-A0B0-311F2FC5B735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814082" name="Rectangle 2">
            <a:extLst>
              <a:ext uri="{FF2B5EF4-FFF2-40B4-BE49-F238E27FC236}">
                <a16:creationId xmlns:a16="http://schemas.microsoft.com/office/drawing/2014/main" id="{62264167-CDC7-450E-9029-1D1896B1B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4083" name="Rectangle 3">
            <a:extLst>
              <a:ext uri="{FF2B5EF4-FFF2-40B4-BE49-F238E27FC236}">
                <a16:creationId xmlns:a16="http://schemas.microsoft.com/office/drawing/2014/main" id="{C35EC4A6-71A3-4D18-9E11-A83F23CAA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70E75C6-CD68-4A2E-A3C2-18E6C049B0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81531-BD15-4238-BFCF-172ED7F29077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980994" name="Rectangle 2">
            <a:extLst>
              <a:ext uri="{FF2B5EF4-FFF2-40B4-BE49-F238E27FC236}">
                <a16:creationId xmlns:a16="http://schemas.microsoft.com/office/drawing/2014/main" id="{57A30729-480A-4179-A129-7C8BABCDEC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0995" name="Rectangle 3">
            <a:extLst>
              <a:ext uri="{FF2B5EF4-FFF2-40B4-BE49-F238E27FC236}">
                <a16:creationId xmlns:a16="http://schemas.microsoft.com/office/drawing/2014/main" id="{FE874DD5-605C-4BCA-8710-B2DE99D81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9D5654C-6757-4478-AB75-76DE5E980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7A9AD4-4092-4950-A346-BB2F1218682C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984066" name="Rectangle 2">
            <a:extLst>
              <a:ext uri="{FF2B5EF4-FFF2-40B4-BE49-F238E27FC236}">
                <a16:creationId xmlns:a16="http://schemas.microsoft.com/office/drawing/2014/main" id="{6EEBE810-F501-470F-9271-77C26DB64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4067" name="Rectangle 3">
            <a:extLst>
              <a:ext uri="{FF2B5EF4-FFF2-40B4-BE49-F238E27FC236}">
                <a16:creationId xmlns:a16="http://schemas.microsoft.com/office/drawing/2014/main" id="{E6D2B9E0-7DE3-4005-8F6F-41C9C21EA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AE44E26-89F7-4FC6-9A0B-6A2B053F87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C78D24-DA2A-4308-ACE2-25934D40BE7C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987138" name="Rectangle 2">
            <a:extLst>
              <a:ext uri="{FF2B5EF4-FFF2-40B4-BE49-F238E27FC236}">
                <a16:creationId xmlns:a16="http://schemas.microsoft.com/office/drawing/2014/main" id="{DE3F5A16-D05E-438C-B44C-1C97092886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>
            <a:extLst>
              <a:ext uri="{FF2B5EF4-FFF2-40B4-BE49-F238E27FC236}">
                <a16:creationId xmlns:a16="http://schemas.microsoft.com/office/drawing/2014/main" id="{4DD28929-15CC-41A3-A212-13929355A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A15EAF6-115A-444B-A9F6-EC867A5D2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90DC8E-7E07-496A-89E3-8BA85AD534C4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825346" name="Rectangle 2">
            <a:extLst>
              <a:ext uri="{FF2B5EF4-FFF2-40B4-BE49-F238E27FC236}">
                <a16:creationId xmlns:a16="http://schemas.microsoft.com/office/drawing/2014/main" id="{3BA292D2-582F-49F0-AA0D-420A701F86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5347" name="Rectangle 3">
            <a:extLst>
              <a:ext uri="{FF2B5EF4-FFF2-40B4-BE49-F238E27FC236}">
                <a16:creationId xmlns:a16="http://schemas.microsoft.com/office/drawing/2014/main" id="{56BD3533-7701-4839-87F6-061569656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90D5D8-D67A-45BA-95FC-3E494C288A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2B6140-D2D7-4248-A57A-C48BF5CD9FC7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826370" name="Rectangle 2">
            <a:extLst>
              <a:ext uri="{FF2B5EF4-FFF2-40B4-BE49-F238E27FC236}">
                <a16:creationId xmlns:a16="http://schemas.microsoft.com/office/drawing/2014/main" id="{8AB08AE0-AB4D-4800-9545-F1EE9E09C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>
            <a:extLst>
              <a:ext uri="{FF2B5EF4-FFF2-40B4-BE49-F238E27FC236}">
                <a16:creationId xmlns:a16="http://schemas.microsoft.com/office/drawing/2014/main" id="{DF958666-475E-4A3D-957D-51072E2B4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05BF0C-8370-4CDF-B1BF-4568A666FD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68FEBE-6148-4120-A0BF-8AB954B455BA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943106" name="Rectangle 2">
            <a:extLst>
              <a:ext uri="{FF2B5EF4-FFF2-40B4-BE49-F238E27FC236}">
                <a16:creationId xmlns:a16="http://schemas.microsoft.com/office/drawing/2014/main" id="{7CE63D02-7010-4DE1-B045-B87802ED47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3107" name="Rectangle 3">
            <a:extLst>
              <a:ext uri="{FF2B5EF4-FFF2-40B4-BE49-F238E27FC236}">
                <a16:creationId xmlns:a16="http://schemas.microsoft.com/office/drawing/2014/main" id="{A43B15A3-F548-42E7-9978-2E7B182CB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9DB78C9-EEE5-4724-B3DC-6373269BE3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23C350-617D-4ABF-8166-60CBCD0E6C61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827394" name="Rectangle 2">
            <a:extLst>
              <a:ext uri="{FF2B5EF4-FFF2-40B4-BE49-F238E27FC236}">
                <a16:creationId xmlns:a16="http://schemas.microsoft.com/office/drawing/2014/main" id="{8E000336-07E5-43F8-91EA-AC810E5F45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5" name="Rectangle 3">
            <a:extLst>
              <a:ext uri="{FF2B5EF4-FFF2-40B4-BE49-F238E27FC236}">
                <a16:creationId xmlns:a16="http://schemas.microsoft.com/office/drawing/2014/main" id="{4A4BC7D9-1B61-4255-BB29-939E49454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86F4E7-E2BA-4052-9046-0DAC79654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06426F-41DC-4576-AD19-CD890E2C249D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828418" name="Rectangle 2">
            <a:extLst>
              <a:ext uri="{FF2B5EF4-FFF2-40B4-BE49-F238E27FC236}">
                <a16:creationId xmlns:a16="http://schemas.microsoft.com/office/drawing/2014/main" id="{2A5B4232-B572-4EB2-8013-381F8FFB6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8419" name="Rectangle 3">
            <a:extLst>
              <a:ext uri="{FF2B5EF4-FFF2-40B4-BE49-F238E27FC236}">
                <a16:creationId xmlns:a16="http://schemas.microsoft.com/office/drawing/2014/main" id="{D1EC1D19-F71B-4C1F-855F-DEB87A634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CDE820E-CB86-4012-A880-C76C68791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88365-80D4-406E-AE56-BE7695A41008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830466" name="Rectangle 2">
            <a:extLst>
              <a:ext uri="{FF2B5EF4-FFF2-40B4-BE49-F238E27FC236}">
                <a16:creationId xmlns:a16="http://schemas.microsoft.com/office/drawing/2014/main" id="{6964A63F-21B8-4C9F-A24D-62A23A294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0467" name="Rectangle 3">
            <a:extLst>
              <a:ext uri="{FF2B5EF4-FFF2-40B4-BE49-F238E27FC236}">
                <a16:creationId xmlns:a16="http://schemas.microsoft.com/office/drawing/2014/main" id="{462DFD27-EA3F-4A9E-A710-40AE0B5DE2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FD5EE28-11F0-4E0C-A893-EF047053FA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25DFAE-3FFF-4CFA-88C7-E43CD730D234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831490" name="Rectangle 2">
            <a:extLst>
              <a:ext uri="{FF2B5EF4-FFF2-40B4-BE49-F238E27FC236}">
                <a16:creationId xmlns:a16="http://schemas.microsoft.com/office/drawing/2014/main" id="{AA91503F-0778-43C3-A7BA-42B125051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1491" name="Rectangle 3">
            <a:extLst>
              <a:ext uri="{FF2B5EF4-FFF2-40B4-BE49-F238E27FC236}">
                <a16:creationId xmlns:a16="http://schemas.microsoft.com/office/drawing/2014/main" id="{9847D664-C831-4129-B38A-56F2D71EE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B5A8E93-1659-4538-9419-91CFBA357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B53004-2119-4C26-84F1-4ACA38DA50A0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832514" name="Rectangle 2">
            <a:extLst>
              <a:ext uri="{FF2B5EF4-FFF2-40B4-BE49-F238E27FC236}">
                <a16:creationId xmlns:a16="http://schemas.microsoft.com/office/drawing/2014/main" id="{F10169B3-3DCF-42CD-8E5E-4790868F0A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2515" name="Rectangle 3">
            <a:extLst>
              <a:ext uri="{FF2B5EF4-FFF2-40B4-BE49-F238E27FC236}">
                <a16:creationId xmlns:a16="http://schemas.microsoft.com/office/drawing/2014/main" id="{5EDDB74B-6BCA-43EC-B9D7-A9A09DB1C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93D4F62-32B7-4ED7-9E68-6532F036D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808B4F-BECE-4E20-A037-11A140531357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833538" name="Rectangle 2">
            <a:extLst>
              <a:ext uri="{FF2B5EF4-FFF2-40B4-BE49-F238E27FC236}">
                <a16:creationId xmlns:a16="http://schemas.microsoft.com/office/drawing/2014/main" id="{7017BE15-EAAC-4379-9511-B7738A9200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3539" name="Rectangle 3">
            <a:extLst>
              <a:ext uri="{FF2B5EF4-FFF2-40B4-BE49-F238E27FC236}">
                <a16:creationId xmlns:a16="http://schemas.microsoft.com/office/drawing/2014/main" id="{08189929-2F23-417A-A742-EA6F6A361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1B6209-55D9-4259-999F-EA07E922DF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ADBA1A-D5FE-47E6-819C-BE4FD8E790AB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911362" name="Rectangle 2">
            <a:extLst>
              <a:ext uri="{FF2B5EF4-FFF2-40B4-BE49-F238E27FC236}">
                <a16:creationId xmlns:a16="http://schemas.microsoft.com/office/drawing/2014/main" id="{9273BC50-1652-4123-A173-ABF263D41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63" name="Rectangle 3">
            <a:extLst>
              <a:ext uri="{FF2B5EF4-FFF2-40B4-BE49-F238E27FC236}">
                <a16:creationId xmlns:a16="http://schemas.microsoft.com/office/drawing/2014/main" id="{454AD054-125A-4D8C-8E63-CE7DD8AD4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2D8AB8C-E91E-4CCE-ACD2-8ED85A1C7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A9162C-66C3-4ED0-BBB7-7C1FA2B4062D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913410" name="Rectangle 2">
            <a:extLst>
              <a:ext uri="{FF2B5EF4-FFF2-40B4-BE49-F238E27FC236}">
                <a16:creationId xmlns:a16="http://schemas.microsoft.com/office/drawing/2014/main" id="{826E6A83-F798-444E-8ACF-28A1384F5E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EBD114CA-3F27-40A2-945D-3622BB8F7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410FC04-6F1E-43B8-839E-D8702523BB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ED26B4-2253-4576-893F-9A60D30F1A5D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993282" name="Rectangle 2">
            <a:extLst>
              <a:ext uri="{FF2B5EF4-FFF2-40B4-BE49-F238E27FC236}">
                <a16:creationId xmlns:a16="http://schemas.microsoft.com/office/drawing/2014/main" id="{6537D902-9DA2-4E9D-AB3D-6C3989F3E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283" name="Rectangle 3">
            <a:extLst>
              <a:ext uri="{FF2B5EF4-FFF2-40B4-BE49-F238E27FC236}">
                <a16:creationId xmlns:a16="http://schemas.microsoft.com/office/drawing/2014/main" id="{8F5A04CA-C497-4E36-A4D3-77845CCB9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BBB13AB-9A9F-43A9-A4F2-3B3E4D9DA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D4A9C2-D624-4821-B285-F70AC53C9D00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991234" name="Rectangle 2">
            <a:extLst>
              <a:ext uri="{FF2B5EF4-FFF2-40B4-BE49-F238E27FC236}">
                <a16:creationId xmlns:a16="http://schemas.microsoft.com/office/drawing/2014/main" id="{917C90CB-8F40-4584-9003-58D57FA502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1235" name="Rectangle 3">
            <a:extLst>
              <a:ext uri="{FF2B5EF4-FFF2-40B4-BE49-F238E27FC236}">
                <a16:creationId xmlns:a16="http://schemas.microsoft.com/office/drawing/2014/main" id="{8F01210E-08B9-450E-B5E4-21DDCEB6F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4206F9A-5C51-4075-A9FE-CBEB54412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CCE2A8-472A-4891-96D2-6AC9F7B44ED3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997378" name="Rectangle 2">
            <a:extLst>
              <a:ext uri="{FF2B5EF4-FFF2-40B4-BE49-F238E27FC236}">
                <a16:creationId xmlns:a16="http://schemas.microsoft.com/office/drawing/2014/main" id="{C8497BD9-2F67-4528-B79D-1727A8909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7379" name="Rectangle 3">
            <a:extLst>
              <a:ext uri="{FF2B5EF4-FFF2-40B4-BE49-F238E27FC236}">
                <a16:creationId xmlns:a16="http://schemas.microsoft.com/office/drawing/2014/main" id="{3584B29A-09EF-4CDD-A418-D66395A9C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91" name="Rectangle 7">
            <a:extLst>
              <a:ext uri="{FF2B5EF4-FFF2-40B4-BE49-F238E27FC236}">
                <a16:creationId xmlns:a16="http://schemas.microsoft.com/office/drawing/2014/main" id="{84A21AC4-F404-4DD4-81C9-460F2AFEA9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63592" name="Rectangle 8">
            <a:extLst>
              <a:ext uri="{FF2B5EF4-FFF2-40B4-BE49-F238E27FC236}">
                <a16:creationId xmlns:a16="http://schemas.microsoft.com/office/drawing/2014/main" id="{45836433-0209-4218-876E-9A2CD20C56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63593" name="Rectangle 9">
            <a:extLst>
              <a:ext uri="{FF2B5EF4-FFF2-40B4-BE49-F238E27FC236}">
                <a16:creationId xmlns:a16="http://schemas.microsoft.com/office/drawing/2014/main" id="{207766E4-6410-43FA-B9FE-C0D3145F91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91D19774-D6B8-47DA-AC5D-8A78C4B6ACE8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63608" name="Rectangle 24">
            <a:extLst>
              <a:ext uri="{FF2B5EF4-FFF2-40B4-BE49-F238E27FC236}">
                <a16:creationId xmlns:a16="http://schemas.microsoft.com/office/drawing/2014/main" id="{A84947EA-2858-4422-8B6A-C7ED18F303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grpSp>
        <p:nvGrpSpPr>
          <p:cNvPr id="963609" name="Group 25">
            <a:extLst>
              <a:ext uri="{FF2B5EF4-FFF2-40B4-BE49-F238E27FC236}">
                <a16:creationId xmlns:a16="http://schemas.microsoft.com/office/drawing/2014/main" id="{A9B47DF1-A815-443C-9C6B-F5ABF0ED5A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963610" name="Group 26">
              <a:extLst>
                <a:ext uri="{FF2B5EF4-FFF2-40B4-BE49-F238E27FC236}">
                  <a16:creationId xmlns:a16="http://schemas.microsoft.com/office/drawing/2014/main" id="{1B9D7289-8B23-48DB-BF8D-76CD48119F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963611" name="Rectangle 27">
                <a:extLst>
                  <a:ext uri="{FF2B5EF4-FFF2-40B4-BE49-F238E27FC236}">
                    <a16:creationId xmlns:a16="http://schemas.microsoft.com/office/drawing/2014/main" id="{A860CD07-5630-4AAD-9DAC-6142F1B88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612" name="Rectangle 28">
                <a:extLst>
                  <a:ext uri="{FF2B5EF4-FFF2-40B4-BE49-F238E27FC236}">
                    <a16:creationId xmlns:a16="http://schemas.microsoft.com/office/drawing/2014/main" id="{20A03C15-65F3-4C31-BC6A-219DB8336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63613" name="Group 29">
              <a:extLst>
                <a:ext uri="{FF2B5EF4-FFF2-40B4-BE49-F238E27FC236}">
                  <a16:creationId xmlns:a16="http://schemas.microsoft.com/office/drawing/2014/main" id="{16B3C36D-F5A7-4050-8C76-0F95A04D7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63614" name="Rectangle 30">
                <a:extLst>
                  <a:ext uri="{FF2B5EF4-FFF2-40B4-BE49-F238E27FC236}">
                    <a16:creationId xmlns:a16="http://schemas.microsoft.com/office/drawing/2014/main" id="{3E575E0A-F9F6-4572-9137-FE7F93D7D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615" name="Rectangle 31">
                <a:extLst>
                  <a:ext uri="{FF2B5EF4-FFF2-40B4-BE49-F238E27FC236}">
                    <a16:creationId xmlns:a16="http://schemas.microsoft.com/office/drawing/2014/main" id="{BBB0E59F-09AD-4039-9D6D-94A00AF8D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63616" name="Rectangle 32">
              <a:extLst>
                <a:ext uri="{FF2B5EF4-FFF2-40B4-BE49-F238E27FC236}">
                  <a16:creationId xmlns:a16="http://schemas.microsoft.com/office/drawing/2014/main" id="{A311B985-B7E7-4A6A-BDCB-64A05E7AD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617" name="Rectangle 33">
              <a:extLst>
                <a:ext uri="{FF2B5EF4-FFF2-40B4-BE49-F238E27FC236}">
                  <a16:creationId xmlns:a16="http://schemas.microsoft.com/office/drawing/2014/main" id="{183B086D-563B-4B25-9600-FCBC6C5B6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618" name="Rectangle 34">
              <a:extLst>
                <a:ext uri="{FF2B5EF4-FFF2-40B4-BE49-F238E27FC236}">
                  <a16:creationId xmlns:a16="http://schemas.microsoft.com/office/drawing/2014/main" id="{6E07354A-308F-49ED-8BBC-4FDB1CADC3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96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60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B8EEA-9CCF-4185-816E-43B2BC5B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FF07A-4AA8-48D1-8BBB-E61EA3522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1264F-977C-4E23-BF7B-A939D8A4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8B330-CCE5-47EF-AB7B-F3F73663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1D3BC-AB75-4971-AD26-14690883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D2A65-0391-4169-8A6C-EC01B58F64F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62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724EB-4CB5-413F-9CB7-903541C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CAF2C0-5B30-4EB7-B567-F64808AE8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8E18B7-020C-4265-8A69-9DE353262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081F4-4B88-43E9-94C3-E4F15135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1F8BB-C338-42C2-9348-0C8A1B9B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97D42A-F6F9-4950-A172-0AD96D9712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07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50049-42B1-4B22-A19A-CA31FA46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716A7-FAC4-49A8-8668-5858A0D16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3AA596-46BB-4E35-920C-7D6693333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4022B-B8E7-42D6-8FB6-A5CF20ED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64A55C-DCE2-453B-BE9A-26580AAC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DE26F-DF94-4C43-9B2D-BAE7BF84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FCD5B-BCF3-4080-8E5D-EB5CAEC808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94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6AA5D-D9CE-443A-9ABB-8A53DC17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F758B-C22D-49E0-BCB4-2AC744C13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1D9BEB-A17E-469C-819F-5469C839C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8D7BC0-AE18-4568-AF7C-852735475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A6DE62-B3FA-40D7-8C6A-7FEC121D4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F0D5C1-B6DB-4770-873F-F9F844D7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9A8940-EF34-49A7-930D-2287DC02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93C004-0A74-451F-833E-5521D160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3529B-5E78-469E-93CB-5B2C788B0F0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77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DC1D7-7CE7-4383-A1E0-BE184E15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B3E8D1-D6EE-4FA5-8E6C-9B7E9843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323704-6D76-4630-B311-442BCB5F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972E01-B824-459D-8BB6-A7900F49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DEA7C-A291-4B30-9464-7DE8CE8726E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56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F06362-8BB3-4C59-8C19-54A34A49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48EAAC-67DF-4F4E-B17F-058CC315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0441C4-FC3C-4D2E-985B-B3EB2ADD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D9177C-85CB-427D-8379-F454D36D0A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1620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B00CE-841C-4D8B-A7C1-A367DE06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F93B21-359C-42AE-B10F-317CF4D2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8E1ACA-DF7C-4DA1-81CF-295E02046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BAB0C-16D4-4C20-8D36-12C019AE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09BDF-3995-498E-A6CB-1018CEF3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196753-FF7B-4C04-A29E-824CEE28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0B396-B437-4FEE-874A-29C9074A00F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97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AD01-92DF-415A-90B4-B9856B28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3BC64B-AB58-4E52-B21A-BD76C8AB4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83AC1C-7EE9-4D81-A963-0311C929F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D96331-F0B9-4FC6-ADAF-D85C91B4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6A8C06-F658-4713-B265-684465CB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4FFA09-400D-488E-AB25-4E1AACF3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265D7-4FBB-4D54-80C8-186FCAF720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60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5725E-E227-4E7C-94F0-73EBA973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B3A78E-CA03-430B-A051-5642C6FA5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19FFE4-37C4-47E5-9365-A551789A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B0DFC-5F7F-4D21-9FA6-0EDE6FEC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79EDE-C1CD-48EA-9119-93CE9EFE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8AFF9-95D4-4DD8-B25D-4D6A5EB268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66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0ECF59-4A40-4FA9-AFBA-4F27F533D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BA9FED-7CDA-4316-9E32-3D0C1DC92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7EE61-B872-4323-8D06-E2CFF72F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4F6ABD-2607-477E-A42A-5E453D51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A6D39-1FFE-45ED-A87A-AC4F146B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D320FC-ED11-48D9-B464-39C33C594C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425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4" name="Rectangle 4">
            <a:extLst>
              <a:ext uri="{FF2B5EF4-FFF2-40B4-BE49-F238E27FC236}">
                <a16:creationId xmlns:a16="http://schemas.microsoft.com/office/drawing/2014/main" id="{289EE23C-E8E9-44FA-8D4E-D81742D06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62570" name="Rectangle 10">
            <a:extLst>
              <a:ext uri="{FF2B5EF4-FFF2-40B4-BE49-F238E27FC236}">
                <a16:creationId xmlns:a16="http://schemas.microsoft.com/office/drawing/2014/main" id="{64F7C070-DF6E-4A12-B85F-3E8F3D2E2C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62571" name="Rectangle 11">
            <a:extLst>
              <a:ext uri="{FF2B5EF4-FFF2-40B4-BE49-F238E27FC236}">
                <a16:creationId xmlns:a16="http://schemas.microsoft.com/office/drawing/2014/main" id="{43BFE943-5427-48DC-8E65-CE2E00FD6F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62572" name="Rectangle 12">
            <a:extLst>
              <a:ext uri="{FF2B5EF4-FFF2-40B4-BE49-F238E27FC236}">
                <a16:creationId xmlns:a16="http://schemas.microsoft.com/office/drawing/2014/main" id="{B1E4447D-3D56-423C-A082-B6AECEFE2E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21438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3A52254-94D2-4B41-B109-F12D7D1B7E1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62573" name="Rectangle 13">
            <a:extLst>
              <a:ext uri="{FF2B5EF4-FFF2-40B4-BE49-F238E27FC236}">
                <a16:creationId xmlns:a16="http://schemas.microsoft.com/office/drawing/2014/main" id="{CC85E08F-F7C1-462F-BCA1-CE5BA0920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62575" name="Rectangle 15">
            <a:extLst>
              <a:ext uri="{FF2B5EF4-FFF2-40B4-BE49-F238E27FC236}">
                <a16:creationId xmlns:a16="http://schemas.microsoft.com/office/drawing/2014/main" id="{BAAE93B6-5394-4A59-BFFE-63A5D12B49D4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6" name="Rectangle 16">
            <a:extLst>
              <a:ext uri="{FF2B5EF4-FFF2-40B4-BE49-F238E27FC236}">
                <a16:creationId xmlns:a16="http://schemas.microsoft.com/office/drawing/2014/main" id="{96BF1D28-9148-4CEE-84F6-3D186330E654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7" name="Rectangle 17">
            <a:extLst>
              <a:ext uri="{FF2B5EF4-FFF2-40B4-BE49-F238E27FC236}">
                <a16:creationId xmlns:a16="http://schemas.microsoft.com/office/drawing/2014/main" id="{A850A7D4-697C-49FC-9974-CF9CA16D4491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8" name="Rectangle 18">
            <a:extLst>
              <a:ext uri="{FF2B5EF4-FFF2-40B4-BE49-F238E27FC236}">
                <a16:creationId xmlns:a16="http://schemas.microsoft.com/office/drawing/2014/main" id="{FBED296F-0A9E-4DA3-ABB6-17D8BFFCF76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9" name="Rectangle 19">
            <a:extLst>
              <a:ext uri="{FF2B5EF4-FFF2-40B4-BE49-F238E27FC236}">
                <a16:creationId xmlns:a16="http://schemas.microsoft.com/office/drawing/2014/main" id="{AAB26C13-FE09-4333-A48B-F3929E285D9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81" name="Rectangle 21">
            <a:extLst>
              <a:ext uri="{FF2B5EF4-FFF2-40B4-BE49-F238E27FC236}">
                <a16:creationId xmlns:a16="http://schemas.microsoft.com/office/drawing/2014/main" id="{5E74FCCF-74AE-4F07-A27C-94AAAA0C2D34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2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62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62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62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62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64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69" name="Rectangle 45">
            <a:extLst>
              <a:ext uri="{FF2B5EF4-FFF2-40B4-BE49-F238E27FC236}">
                <a16:creationId xmlns:a16="http://schemas.microsoft.com/office/drawing/2014/main" id="{95371332-38B1-4E23-82C9-467F70D01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在一个关系模式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中，如果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每一个属性的值域中的值都是不可再分的最小数据单位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是第一范式（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）的关系模式</a:t>
            </a:r>
            <a:endParaRPr lang="zh-CN" altLang="en-US"/>
          </a:p>
        </p:txBody>
      </p:sp>
      <p:sp>
        <p:nvSpPr>
          <p:cNvPr id="897070" name="Rectangle 46">
            <a:extLst>
              <a:ext uri="{FF2B5EF4-FFF2-40B4-BE49-F238E27FC236}">
                <a16:creationId xmlns:a16="http://schemas.microsoft.com/office/drawing/2014/main" id="{7B214F42-AFF9-4B88-ADF4-690074590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二、第一范式</a:t>
            </a:r>
          </a:p>
        </p:txBody>
      </p:sp>
      <p:graphicFrame>
        <p:nvGraphicFramePr>
          <p:cNvPr id="897150" name="Group 126">
            <a:extLst>
              <a:ext uri="{FF2B5EF4-FFF2-40B4-BE49-F238E27FC236}">
                <a16:creationId xmlns:a16="http://schemas.microsoft.com/office/drawing/2014/main" id="{A3069417-E679-41C7-B5BB-FA595C3393FB}"/>
              </a:ext>
            </a:extLst>
          </p:cNvPr>
          <p:cNvGraphicFramePr>
            <a:graphicFrameLocks noGrp="1"/>
          </p:cNvGraphicFramePr>
          <p:nvPr/>
        </p:nvGraphicFramePr>
        <p:xfrm>
          <a:off x="2028825" y="3789363"/>
          <a:ext cx="5207000" cy="2120902"/>
        </p:xfrm>
        <a:graphic>
          <a:graphicData uri="http://schemas.openxmlformats.org/drawingml/2006/table">
            <a:tbl>
              <a:tblPr/>
              <a:tblGrid>
                <a:gridCol w="1462088">
                  <a:extLst>
                    <a:ext uri="{9D8B030D-6E8A-4147-A177-3AD203B41FA5}">
                      <a16:colId xmlns:a16="http://schemas.microsoft.com/office/drawing/2014/main" val="4136029314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84211816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330940308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234496121"/>
                    </a:ext>
                  </a:extLst>
                </a:gridCol>
              </a:tblGrid>
              <a:tr h="4381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94098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50808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287118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971527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nm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45701"/>
                  </a:ext>
                </a:extLst>
              </a:tr>
            </a:tbl>
          </a:graphicData>
        </a:graphic>
      </p:graphicFrame>
      <p:graphicFrame>
        <p:nvGraphicFramePr>
          <p:cNvPr id="897142" name="Group 118">
            <a:extLst>
              <a:ext uri="{FF2B5EF4-FFF2-40B4-BE49-F238E27FC236}">
                <a16:creationId xmlns:a16="http://schemas.microsoft.com/office/drawing/2014/main" id="{B9D9D850-2F0A-46C0-B359-2CC20DF63C25}"/>
              </a:ext>
            </a:extLst>
          </p:cNvPr>
          <p:cNvGraphicFramePr>
            <a:graphicFrameLocks noGrp="1"/>
          </p:cNvGraphicFramePr>
          <p:nvPr/>
        </p:nvGraphicFramePr>
        <p:xfrm>
          <a:off x="3490913" y="4652963"/>
          <a:ext cx="1368425" cy="42068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360163286"/>
                    </a:ext>
                  </a:extLst>
                </a:gridCol>
              </a:tblGrid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属性值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936948"/>
                  </a:ext>
                </a:extLst>
              </a:tr>
            </a:tbl>
          </a:graphicData>
        </a:graphic>
      </p:graphicFrame>
      <p:sp>
        <p:nvSpPr>
          <p:cNvPr id="897148" name="AutoShape 124">
            <a:extLst>
              <a:ext uri="{FF2B5EF4-FFF2-40B4-BE49-F238E27FC236}">
                <a16:creationId xmlns:a16="http://schemas.microsoft.com/office/drawing/2014/main" id="{388F3EF0-67AC-4197-BBEE-6FCAB68D0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860800"/>
            <a:ext cx="6696075" cy="2016125"/>
          </a:xfrm>
          <a:prstGeom prst="foldedCorner">
            <a:avLst>
              <a:gd name="adj" fmla="val 12500"/>
            </a:avLst>
          </a:prstGeom>
          <a:solidFill>
            <a:srgbClr val="333399"/>
          </a:solidFill>
          <a:ln w="12700" cap="sq">
            <a:solidFill>
              <a:srgbClr val="080808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1NF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是最基本的范式，满足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1NF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的关系称为规范化的关系，否则，称为非规范化的关系。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955"/>
    </mc:Choice>
    <mc:Fallback xmlns="">
      <p:transition spd="slow" advTm="100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97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89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9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" dur="500"/>
                                        <p:tgtEl>
                                          <p:spTgt spid="897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" dur="500"/>
                                        <p:tgtEl>
                                          <p:spTgt spid="897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9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69" grpId="0" build="p"/>
      <p:bldP spid="89714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120" name="Rectangle 48">
            <a:extLst>
              <a:ext uri="{FF2B5EF4-FFF2-40B4-BE49-F238E27FC236}">
                <a16:creationId xmlns:a16="http://schemas.microsoft.com/office/drawing/2014/main" id="{304FF174-7715-43C2-A5D9-7D4A9606B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9121" name="Rectangle 49">
            <a:extLst>
              <a:ext uri="{FF2B5EF4-FFF2-40B4-BE49-F238E27FC236}">
                <a16:creationId xmlns:a16="http://schemas.microsoft.com/office/drawing/2014/main" id="{7DE1633E-C18C-48C1-934D-9A0D92FB2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二、第一范式</a:t>
            </a:r>
          </a:p>
        </p:txBody>
      </p:sp>
      <p:graphicFrame>
        <p:nvGraphicFramePr>
          <p:cNvPr id="899162" name="Group 90">
            <a:extLst>
              <a:ext uri="{FF2B5EF4-FFF2-40B4-BE49-F238E27FC236}">
                <a16:creationId xmlns:a16="http://schemas.microsoft.com/office/drawing/2014/main" id="{859A63BE-F526-4998-96A4-C16C29495684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924175"/>
          <a:ext cx="6286500" cy="3384552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83235891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3482407774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42331948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66616717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861132866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191025"/>
                  </a:ext>
                </a:extLst>
              </a:tr>
              <a:tr h="1262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193416"/>
                  </a:ext>
                </a:extLst>
              </a:tr>
              <a:tr h="841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08631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639375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83620"/>
                  </a:ext>
                </a:extLst>
              </a:tr>
            </a:tbl>
          </a:graphicData>
        </a:graphic>
      </p:graphicFrame>
      <p:grpSp>
        <p:nvGrpSpPr>
          <p:cNvPr id="899114" name="Group 42">
            <a:extLst>
              <a:ext uri="{FF2B5EF4-FFF2-40B4-BE49-F238E27FC236}">
                <a16:creationId xmlns:a16="http://schemas.microsoft.com/office/drawing/2014/main" id="{A538C6AA-1B71-4097-AA48-94C55CF53AC4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357563"/>
            <a:ext cx="5327650" cy="2663825"/>
            <a:chOff x="1973" y="2112"/>
            <a:chExt cx="3356" cy="1678"/>
          </a:xfrm>
        </p:grpSpPr>
        <p:sp>
          <p:nvSpPr>
            <p:cNvPr id="899115" name="Oval 43">
              <a:extLst>
                <a:ext uri="{FF2B5EF4-FFF2-40B4-BE49-F238E27FC236}">
                  <a16:creationId xmlns:a16="http://schemas.microsoft.com/office/drawing/2014/main" id="{ABF3F7E0-1A1E-489C-A9BA-13C125B9D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112"/>
              <a:ext cx="1043" cy="771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9116" name="AutoShape 44">
              <a:extLst>
                <a:ext uri="{FF2B5EF4-FFF2-40B4-BE49-F238E27FC236}">
                  <a16:creationId xmlns:a16="http://schemas.microsoft.com/office/drawing/2014/main" id="{349D954F-EF3E-4691-A8CF-346F408A4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747"/>
              <a:ext cx="1995" cy="1043"/>
            </a:xfrm>
            <a:prstGeom prst="wedgeRectCallout">
              <a:avLst>
                <a:gd name="adj1" fmla="val -65440"/>
                <a:gd name="adj2" fmla="val -64093"/>
              </a:avLst>
            </a:prstGeom>
            <a:solidFill>
              <a:srgbClr val="000080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幼圆" panose="02010509060101010101" pitchFamily="49" charset="-122"/>
                </a:rPr>
                <a:t>问题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幼圆" panose="02010509060101010101" pitchFamily="49" charset="-122"/>
                </a:rPr>
                <a:t>1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4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幼圆" panose="02010509060101010101" pitchFamily="49" charset="-122"/>
                </a:rPr>
                <a:t>    属性值中存在子表</a:t>
              </a:r>
            </a:p>
          </p:txBody>
        </p:sp>
      </p:grpSp>
      <p:sp>
        <p:nvSpPr>
          <p:cNvPr id="899117" name="AutoShape 45">
            <a:extLst>
              <a:ext uri="{FF2B5EF4-FFF2-40B4-BE49-F238E27FC236}">
                <a16:creationId xmlns:a16="http://schemas.microsoft.com/office/drawing/2014/main" id="{2D1117BC-65D5-477E-B272-E1F66BED6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716338"/>
            <a:ext cx="5832475" cy="1511300"/>
          </a:xfrm>
          <a:prstGeom prst="flowChartDocument">
            <a:avLst/>
          </a:prstGeom>
          <a:solidFill>
            <a:srgbClr val="008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结论：R不是1NF模式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9200" name="Line 128">
            <a:extLst>
              <a:ext uri="{FF2B5EF4-FFF2-40B4-BE49-F238E27FC236}">
                <a16:creationId xmlns:a16="http://schemas.microsoft.com/office/drawing/2014/main" id="{AC5603CE-4332-49B9-900D-DB03059F7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631"/>
    </mc:Choice>
    <mc:Fallback xmlns="">
      <p:transition spd="slow" advTm="596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99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99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9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9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1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3" name="AutoShape 3">
            <a:extLst>
              <a:ext uri="{FF2B5EF4-FFF2-40B4-BE49-F238E27FC236}">
                <a16:creationId xmlns:a16="http://schemas.microsoft.com/office/drawing/2014/main" id="{DCEF5ECD-9158-4BF4-BA7D-AC202FD3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060575"/>
            <a:ext cx="7272337" cy="3240088"/>
          </a:xfrm>
          <a:prstGeom prst="foldedCorner">
            <a:avLst>
              <a:gd name="adj" fmla="val 12500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解决方法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    对于有子表的非规范关系，一般采用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重复所在行的其它属性的值，增加新的记录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，从而把子表中的值分开，将非规范关系转换成规范关系。</a:t>
            </a:r>
          </a:p>
        </p:txBody>
      </p:sp>
      <p:sp>
        <p:nvSpPr>
          <p:cNvPr id="901124" name="Rectangle 4">
            <a:extLst>
              <a:ext uri="{FF2B5EF4-FFF2-40B4-BE49-F238E27FC236}">
                <a16:creationId xmlns:a16="http://schemas.microsoft.com/office/drawing/2014/main" id="{57296115-BBCD-4FF1-AF41-F966D5F5C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二、第一范式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04"/>
    </mc:Choice>
    <mc:Fallback xmlns="">
      <p:transition spd="slow" advTm="22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0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0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252" name="Rectangle 84">
            <a:extLst>
              <a:ext uri="{FF2B5EF4-FFF2-40B4-BE49-F238E27FC236}">
                <a16:creationId xmlns:a16="http://schemas.microsoft.com/office/drawing/2014/main" id="{3DB9C0BA-A821-47D0-9F72-5E9C7686C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 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03253" name="Rectangle 85">
            <a:extLst>
              <a:ext uri="{FF2B5EF4-FFF2-40B4-BE49-F238E27FC236}">
                <a16:creationId xmlns:a16="http://schemas.microsoft.com/office/drawing/2014/main" id="{8A1A2E47-6268-4F31-8FAA-702B08105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二、第一范式</a:t>
            </a:r>
          </a:p>
        </p:txBody>
      </p:sp>
      <p:graphicFrame>
        <p:nvGraphicFramePr>
          <p:cNvPr id="903294" name="Group 126">
            <a:extLst>
              <a:ext uri="{FF2B5EF4-FFF2-40B4-BE49-F238E27FC236}">
                <a16:creationId xmlns:a16="http://schemas.microsoft.com/office/drawing/2014/main" id="{904E4C65-51A8-4749-874C-0248C79F1954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924175"/>
          <a:ext cx="6286500" cy="3384552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372901017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1782600744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3728667349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4110684816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049565259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616735"/>
                  </a:ext>
                </a:extLst>
              </a:tr>
              <a:tr h="1262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768301"/>
                  </a:ext>
                </a:extLst>
              </a:tr>
              <a:tr h="841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73574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75196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45652"/>
                  </a:ext>
                </a:extLst>
              </a:tr>
            </a:tbl>
          </a:graphicData>
        </a:graphic>
      </p:graphicFrame>
      <p:graphicFrame>
        <p:nvGraphicFramePr>
          <p:cNvPr id="903409" name="Group 241">
            <a:extLst>
              <a:ext uri="{FF2B5EF4-FFF2-40B4-BE49-F238E27FC236}">
                <a16:creationId xmlns:a16="http://schemas.microsoft.com/office/drawing/2014/main" id="{6D271F46-C42C-4E07-A263-8BBBDF3518D4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3371850"/>
          <a:ext cx="6286500" cy="2006602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74759487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55770868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419967409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311334972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141628350"/>
                    </a:ext>
                  </a:extLst>
                </a:gridCol>
              </a:tblGrid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598193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487071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78311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857418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776815"/>
                  </a:ext>
                </a:extLst>
              </a:tr>
            </a:tbl>
          </a:graphicData>
        </a:graphic>
      </p:graphicFrame>
      <p:sp>
        <p:nvSpPr>
          <p:cNvPr id="903248" name="AutoShape 80">
            <a:extLst>
              <a:ext uri="{FF2B5EF4-FFF2-40B4-BE49-F238E27FC236}">
                <a16:creationId xmlns:a16="http://schemas.microsoft.com/office/drawing/2014/main" id="{5A324358-2C18-4CBE-B556-45D8B4D7E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646488"/>
            <a:ext cx="5832475" cy="1511300"/>
          </a:xfrm>
          <a:prstGeom prst="flowChartDocument">
            <a:avLst/>
          </a:prstGeom>
          <a:solidFill>
            <a:srgbClr val="008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结论：R是1NF模式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03410" name="Line 242">
            <a:extLst>
              <a:ext uri="{FF2B5EF4-FFF2-40B4-BE49-F238E27FC236}">
                <a16:creationId xmlns:a16="http://schemas.microsoft.com/office/drawing/2014/main" id="{EEDA2D36-22A8-48F2-AE3E-44C981E9E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94"/>
    </mc:Choice>
    <mc:Fallback xmlns="">
      <p:transition spd="slow" advTm="214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0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03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03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0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2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384" name="Line 104">
            <a:extLst>
              <a:ext uri="{FF2B5EF4-FFF2-40B4-BE49-F238E27FC236}">
                <a16:creationId xmlns:a16="http://schemas.microsoft.com/office/drawing/2014/main" id="{4DA4DD67-16D3-4FBF-944B-8DAFBA643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9540" name="Rectangle 260">
            <a:extLst>
              <a:ext uri="{FF2B5EF4-FFF2-40B4-BE49-F238E27FC236}">
                <a16:creationId xmlns:a16="http://schemas.microsoft.com/office/drawing/2014/main" id="{7EEC8CE5-D022-404E-9996-019FB9151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09795" name="Group 515">
            <a:extLst>
              <a:ext uri="{FF2B5EF4-FFF2-40B4-BE49-F238E27FC236}">
                <a16:creationId xmlns:a16="http://schemas.microsoft.com/office/drawing/2014/main" id="{2F9ACB8B-35D9-48E2-81FF-29FE2A62ADF2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943225"/>
          <a:ext cx="6286500" cy="3375347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313754529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345183032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450562218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362074149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045307414"/>
                    </a:ext>
                  </a:extLst>
                </a:gridCol>
              </a:tblGrid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940396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743344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361989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535052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668052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367127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0195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510913"/>
                  </a:ext>
                </a:extLst>
              </a:tr>
            </a:tbl>
          </a:graphicData>
        </a:graphic>
      </p:graphicFrame>
      <p:grpSp>
        <p:nvGrpSpPr>
          <p:cNvPr id="609379" name="Group 99">
            <a:extLst>
              <a:ext uri="{FF2B5EF4-FFF2-40B4-BE49-F238E27FC236}">
                <a16:creationId xmlns:a16="http://schemas.microsoft.com/office/drawing/2014/main" id="{D324FC1D-AA43-4173-9E31-E87F1DDA4429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3817938"/>
            <a:ext cx="4967288" cy="1195387"/>
            <a:chOff x="2064" y="2405"/>
            <a:chExt cx="2131" cy="753"/>
          </a:xfrm>
        </p:grpSpPr>
        <p:sp>
          <p:nvSpPr>
            <p:cNvPr id="609375" name="Line 95">
              <a:extLst>
                <a:ext uri="{FF2B5EF4-FFF2-40B4-BE49-F238E27FC236}">
                  <a16:creationId xmlns:a16="http://schemas.microsoft.com/office/drawing/2014/main" id="{A33CFAFB-1F83-4FAB-9748-DE4B301AC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05"/>
              <a:ext cx="2131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9376" name="Line 96">
              <a:extLst>
                <a:ext uri="{FF2B5EF4-FFF2-40B4-BE49-F238E27FC236}">
                  <a16:creationId xmlns:a16="http://schemas.microsoft.com/office/drawing/2014/main" id="{4D0B44BD-BE9A-45B7-A6DE-431FBF7AB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58"/>
              <a:ext cx="2131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09537" name="Group 257">
            <a:extLst>
              <a:ext uri="{FF2B5EF4-FFF2-40B4-BE49-F238E27FC236}">
                <a16:creationId xmlns:a16="http://schemas.microsoft.com/office/drawing/2014/main" id="{C0CF194A-82CC-42C6-8F54-6E17E6496A05}"/>
              </a:ext>
            </a:extLst>
          </p:cNvPr>
          <p:cNvGrpSpPr>
            <a:grpSpLocks/>
          </p:cNvGrpSpPr>
          <p:nvPr/>
        </p:nvGrpSpPr>
        <p:grpSpPr bwMode="auto">
          <a:xfrm>
            <a:off x="5578475" y="3357563"/>
            <a:ext cx="1227138" cy="1655762"/>
            <a:chOff x="3514" y="2115"/>
            <a:chExt cx="773" cy="1043"/>
          </a:xfrm>
        </p:grpSpPr>
        <p:sp>
          <p:nvSpPr>
            <p:cNvPr id="609381" name="Oval 101">
              <a:extLst>
                <a:ext uri="{FF2B5EF4-FFF2-40B4-BE49-F238E27FC236}">
                  <a16:creationId xmlns:a16="http://schemas.microsoft.com/office/drawing/2014/main" id="{F3682936-9016-4D18-8DA7-3C4A2BAE9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2115"/>
              <a:ext cx="772" cy="272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9382" name="Oval 102">
              <a:extLst>
                <a:ext uri="{FF2B5EF4-FFF2-40B4-BE49-F238E27FC236}">
                  <a16:creationId xmlns:a16="http://schemas.microsoft.com/office/drawing/2014/main" id="{C0CA0082-8AA4-4A59-BF65-0837DEC4F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886"/>
              <a:ext cx="772" cy="272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9797" name="AutoShape 517">
            <a:extLst>
              <a:ext uri="{FF2B5EF4-FFF2-40B4-BE49-F238E27FC236}">
                <a16:creationId xmlns:a16="http://schemas.microsoft.com/office/drawing/2014/main" id="{9436AAF3-2540-4037-89FF-65FB90006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5888"/>
            <a:ext cx="1944688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CCFF"/>
              </a:gs>
              <a:gs pos="50000">
                <a:schemeClr val="bg1"/>
              </a:gs>
              <a:gs pos="100000">
                <a:srgbClr val="CCCCFF"/>
              </a:gs>
            </a:gsLst>
            <a:lin ang="27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问题分析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96"/>
    </mc:Choice>
    <mc:Fallback xmlns="">
      <p:transition spd="slow" advTm="367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0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60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316" name="Group 60">
            <a:extLst>
              <a:ext uri="{FF2B5EF4-FFF2-40B4-BE49-F238E27FC236}">
                <a16:creationId xmlns:a16="http://schemas.microsoft.com/office/drawing/2014/main" id="{8736BF65-1C92-4744-8FAD-D2856578CF9E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300413"/>
            <a:ext cx="4608512" cy="949325"/>
            <a:chOff x="1438" y="2115"/>
            <a:chExt cx="2222" cy="598"/>
          </a:xfrm>
        </p:grpSpPr>
        <p:sp>
          <p:nvSpPr>
            <p:cNvPr id="608317" name="Rectangle 61">
              <a:extLst>
                <a:ext uri="{FF2B5EF4-FFF2-40B4-BE49-F238E27FC236}">
                  <a16:creationId xmlns:a16="http://schemas.microsoft.com/office/drawing/2014/main" id="{EE6BE422-F391-4949-AAF2-4B9A1212B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2115"/>
              <a:ext cx="2222" cy="59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8318" name="Text Box 62">
              <a:extLst>
                <a:ext uri="{FF2B5EF4-FFF2-40B4-BE49-F238E27FC236}">
                  <a16:creationId xmlns:a16="http://schemas.microsoft.com/office/drawing/2014/main" id="{9DFB70E3-8C19-4238-951B-3B0816C43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学号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(S#)</a:t>
              </a:r>
            </a:p>
          </p:txBody>
        </p:sp>
        <p:sp>
          <p:nvSpPr>
            <p:cNvPr id="608319" name="Text Box 63">
              <a:extLst>
                <a:ext uri="{FF2B5EF4-FFF2-40B4-BE49-F238E27FC236}">
                  <a16:creationId xmlns:a16="http://schemas.microsoft.com/office/drawing/2014/main" id="{2FABD2C3-8021-4A8B-BC0B-0A6072ACE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课程号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(C#)</a:t>
              </a:r>
            </a:p>
          </p:txBody>
        </p:sp>
      </p:grpSp>
      <p:grpSp>
        <p:nvGrpSpPr>
          <p:cNvPr id="608320" name="Group 64">
            <a:extLst>
              <a:ext uri="{FF2B5EF4-FFF2-40B4-BE49-F238E27FC236}">
                <a16:creationId xmlns:a16="http://schemas.microsoft.com/office/drawing/2014/main" id="{BAB5B1D0-5A71-4C78-9161-E0B41B972E09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257675"/>
            <a:ext cx="2305050" cy="1039813"/>
            <a:chOff x="1383" y="2718"/>
            <a:chExt cx="998" cy="655"/>
          </a:xfrm>
        </p:grpSpPr>
        <p:sp>
          <p:nvSpPr>
            <p:cNvPr id="608321" name="Text Box 65">
              <a:extLst>
                <a:ext uri="{FF2B5EF4-FFF2-40B4-BE49-F238E27FC236}">
                  <a16:creationId xmlns:a16="http://schemas.microsoft.com/office/drawing/2014/main" id="{630C42BE-B531-43BB-B419-D3B0F6EE7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967"/>
              <a:ext cx="998" cy="406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成绩</a:t>
              </a:r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(GRADE)</a:t>
              </a:r>
            </a:p>
          </p:txBody>
        </p:sp>
        <p:sp>
          <p:nvSpPr>
            <p:cNvPr id="608322" name="Line 66">
              <a:extLst>
                <a:ext uri="{FF2B5EF4-FFF2-40B4-BE49-F238E27FC236}">
                  <a16:creationId xmlns:a16="http://schemas.microsoft.com/office/drawing/2014/main" id="{52138623-6C5E-4F7F-8DA0-21F61EA86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18"/>
              <a:ext cx="0" cy="2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8324" name="Text Box 68">
            <a:extLst>
              <a:ext uri="{FF2B5EF4-FFF2-40B4-BE49-F238E27FC236}">
                <a16:creationId xmlns:a16="http://schemas.microsoft.com/office/drawing/2014/main" id="{76B0705B-7B89-4962-9FEA-7BFEF9042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654550"/>
            <a:ext cx="2449513" cy="642938"/>
          </a:xfrm>
          <a:prstGeom prst="rect">
            <a:avLst/>
          </a:prstGeom>
          <a:solidFill>
            <a:srgbClr val="FF99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0" rIns="0" bIns="10800" anchor="ctr" anchorCtr="1"/>
          <a:lstStyle/>
          <a:p>
            <a:pPr algn="ctr"/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教师名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(TNAME)</a:t>
            </a:r>
          </a:p>
        </p:txBody>
      </p:sp>
      <p:sp>
        <p:nvSpPr>
          <p:cNvPr id="608325" name="Line 69">
            <a:extLst>
              <a:ext uri="{FF2B5EF4-FFF2-40B4-BE49-F238E27FC236}">
                <a16:creationId xmlns:a16="http://schemas.microsoft.com/office/drawing/2014/main" id="{AC9FBBAA-4F73-48CE-8274-08053B3B1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0450" y="4079875"/>
            <a:ext cx="0" cy="5730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08326" name="Group 70">
            <a:extLst>
              <a:ext uri="{FF2B5EF4-FFF2-40B4-BE49-F238E27FC236}">
                <a16:creationId xmlns:a16="http://schemas.microsoft.com/office/drawing/2014/main" id="{5D147988-907B-4FEA-AA4C-53FF845D4106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508500"/>
            <a:ext cx="2519362" cy="936625"/>
            <a:chOff x="3727" y="2945"/>
            <a:chExt cx="1303" cy="485"/>
          </a:xfrm>
        </p:grpSpPr>
        <p:sp>
          <p:nvSpPr>
            <p:cNvPr id="608327" name="Text Box 71">
              <a:extLst>
                <a:ext uri="{FF2B5EF4-FFF2-40B4-BE49-F238E27FC236}">
                  <a16:creationId xmlns:a16="http://schemas.microsoft.com/office/drawing/2014/main" id="{ADA45C77-D646-400D-8EC7-9F47DA61B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" y="2945"/>
              <a:ext cx="952" cy="485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教研室</a:t>
              </a:r>
            </a:p>
            <a:p>
              <a:pPr algn="ctr"/>
              <a:r>
                <a:rPr lang="en-US" altLang="zh-CN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(TRS)</a:t>
              </a:r>
            </a:p>
          </p:txBody>
        </p:sp>
        <p:sp>
          <p:nvSpPr>
            <p:cNvPr id="608328" name="Line 72">
              <a:extLst>
                <a:ext uri="{FF2B5EF4-FFF2-40B4-BE49-F238E27FC236}">
                  <a16:creationId xmlns:a16="http://schemas.microsoft.com/office/drawing/2014/main" id="{A3331523-B4C8-447C-9F8E-2F8B93A325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897" y="3024"/>
              <a:ext cx="0" cy="3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8334" name="Group 78">
            <a:extLst>
              <a:ext uri="{FF2B5EF4-FFF2-40B4-BE49-F238E27FC236}">
                <a16:creationId xmlns:a16="http://schemas.microsoft.com/office/drawing/2014/main" id="{91CCAA02-7A82-435B-B1A6-69ED74ED9BF6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365625"/>
            <a:ext cx="8281987" cy="2087563"/>
            <a:chOff x="385" y="2750"/>
            <a:chExt cx="5217" cy="1315"/>
          </a:xfrm>
        </p:grpSpPr>
        <p:sp>
          <p:nvSpPr>
            <p:cNvPr id="608332" name="Rectangle 76">
              <a:extLst>
                <a:ext uri="{FF2B5EF4-FFF2-40B4-BE49-F238E27FC236}">
                  <a16:creationId xmlns:a16="http://schemas.microsoft.com/office/drawing/2014/main" id="{5416F849-9532-40D8-B1F9-0A0CC0FE8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750"/>
              <a:ext cx="5217" cy="771"/>
            </a:xfrm>
            <a:prstGeom prst="rect">
              <a:avLst/>
            </a:prstGeom>
            <a:noFill/>
            <a:ln w="38100">
              <a:solidFill>
                <a:srgbClr val="800080"/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8333" name="AutoShape 77">
              <a:extLst>
                <a:ext uri="{FF2B5EF4-FFF2-40B4-BE49-F238E27FC236}">
                  <a16:creationId xmlns:a16="http://schemas.microsoft.com/office/drawing/2014/main" id="{38D91C48-B049-4ABD-9EAC-572CDEC88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612"/>
              <a:ext cx="1224" cy="453"/>
            </a:xfrm>
            <a:prstGeom prst="wedgeRoundRectCallout">
              <a:avLst>
                <a:gd name="adj1" fmla="val -105718"/>
                <a:gd name="adj2" fmla="val -71856"/>
                <a:gd name="adj3" fmla="val 16667"/>
              </a:avLst>
            </a:prstGeom>
            <a:solidFill>
              <a:srgbClr val="FFFF99"/>
            </a:solidFill>
            <a:ln w="12700" cap="sq">
              <a:solidFill>
                <a:srgbClr val="080808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非主属性</a:t>
              </a:r>
              <a:endParaRPr lang="en-US" altLang="zh-CN" sz="2800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endParaRPr>
            </a:p>
          </p:txBody>
        </p:sp>
      </p:grpSp>
      <p:sp>
        <p:nvSpPr>
          <p:cNvPr id="608337" name="Line 81">
            <a:extLst>
              <a:ext uri="{FF2B5EF4-FFF2-40B4-BE49-F238E27FC236}">
                <a16:creationId xmlns:a16="http://schemas.microsoft.com/office/drawing/2014/main" id="{C6BAA921-01BD-4F8A-8015-FA2952437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8340" name="Rectangle 84">
            <a:extLst>
              <a:ext uri="{FF2B5EF4-FFF2-40B4-BE49-F238E27FC236}">
                <a16:creationId xmlns:a16="http://schemas.microsoft.com/office/drawing/2014/main" id="{4C7EA083-5FF5-4FA9-850F-8F8011E7F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08341" name="AutoShape 85">
            <a:extLst>
              <a:ext uri="{FF2B5EF4-FFF2-40B4-BE49-F238E27FC236}">
                <a16:creationId xmlns:a16="http://schemas.microsoft.com/office/drawing/2014/main" id="{436F1AB7-7FDB-4AD0-B9A0-BAACCE022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076700"/>
            <a:ext cx="215900" cy="576263"/>
          </a:xfrm>
          <a:prstGeom prst="downArrow">
            <a:avLst>
              <a:gd name="adj1" fmla="val 50000"/>
              <a:gd name="adj2" fmla="val 66728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8342" name="AutoShape 86">
            <a:extLst>
              <a:ext uri="{FF2B5EF4-FFF2-40B4-BE49-F238E27FC236}">
                <a16:creationId xmlns:a16="http://schemas.microsoft.com/office/drawing/2014/main" id="{E7F1F08D-DAEF-4ACE-8AB7-665FC059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5888"/>
            <a:ext cx="1944688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CCFF"/>
              </a:gs>
              <a:gs pos="50000">
                <a:schemeClr val="bg1"/>
              </a:gs>
              <a:gs pos="100000">
                <a:srgbClr val="CCCCFF"/>
              </a:gs>
            </a:gsLst>
            <a:lin ang="27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问题分析</a:t>
            </a:r>
          </a:p>
        </p:txBody>
      </p:sp>
      <p:sp>
        <p:nvSpPr>
          <p:cNvPr id="608343" name="AutoShape 87">
            <a:extLst>
              <a:ext uri="{FF2B5EF4-FFF2-40B4-BE49-F238E27FC236}">
                <a16:creationId xmlns:a16="http://schemas.microsoft.com/office/drawing/2014/main" id="{7B009924-B6C3-49C4-BD38-0AE37EEFF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292600"/>
            <a:ext cx="215900" cy="360363"/>
          </a:xfrm>
          <a:prstGeom prst="downArrow">
            <a:avLst>
              <a:gd name="adj1" fmla="val 50000"/>
              <a:gd name="adj2" fmla="val 4172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77"/>
    </mc:Choice>
    <mc:Fallback xmlns="">
      <p:transition spd="slow" advTm="543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8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8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0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0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0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0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60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60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3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80" name="Rectangle 12">
            <a:extLst>
              <a:ext uri="{FF2B5EF4-FFF2-40B4-BE49-F238E27FC236}">
                <a16:creationId xmlns:a16="http://schemas.microsoft.com/office/drawing/2014/main" id="{A4789B32-3904-4489-8D6D-7E06DAB9C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完全依赖和部分依赖</a:t>
            </a:r>
          </a:p>
        </p:txBody>
      </p:sp>
      <p:sp>
        <p:nvSpPr>
          <p:cNvPr id="979981" name="Rectangle 13">
            <a:extLst>
              <a:ext uri="{FF2B5EF4-FFF2-40B4-BE49-F238E27FC236}">
                <a16:creationId xmlns:a16="http://schemas.microsoft.com/office/drawing/2014/main" id="{728A2E6C-4920-4111-88EA-E0871D1E9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49263" lvl="1" indent="-269875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</a:rPr>
              <a:t>、完全依赖 </a:t>
            </a:r>
          </a:p>
          <a:p>
            <a:pPr marL="0" indent="0"/>
            <a:r>
              <a:rPr lang="zh-CN" altLang="en-US" dirty="0">
                <a:latin typeface="楷体_GB2312" pitchFamily="49" charset="-122"/>
              </a:rPr>
              <a:t>    设有关系模式</a:t>
            </a:r>
            <a:r>
              <a:rPr lang="en-US" altLang="zh-CN" dirty="0">
                <a:latin typeface="楷体_GB2312" pitchFamily="49" charset="-122"/>
              </a:rPr>
              <a:t>R(U,F)</a:t>
            </a:r>
            <a:r>
              <a:rPr lang="zh-CN" altLang="en-US" dirty="0">
                <a:latin typeface="楷体_GB2312" pitchFamily="49" charset="-122"/>
              </a:rPr>
              <a:t>和属性集</a:t>
            </a:r>
            <a:r>
              <a:rPr lang="en-US" altLang="zh-CN" dirty="0">
                <a:latin typeface="楷体_GB2312" pitchFamily="49" charset="-122"/>
              </a:rPr>
              <a:t>U={A</a:t>
            </a:r>
            <a:r>
              <a:rPr lang="en-US" altLang="zh-CN" baseline="-25000" dirty="0">
                <a:latin typeface="楷体_GB2312" pitchFamily="49" charset="-122"/>
              </a:rPr>
              <a:t>1</a:t>
            </a:r>
            <a:r>
              <a:rPr lang="en-US" altLang="zh-CN" dirty="0">
                <a:latin typeface="楷体_GB2312" pitchFamily="49" charset="-122"/>
              </a:rPr>
              <a:t>,A</a:t>
            </a:r>
            <a:r>
              <a:rPr lang="en-US" altLang="zh-CN" baseline="-25000" dirty="0">
                <a:latin typeface="楷体_GB2312" pitchFamily="49" charset="-122"/>
              </a:rPr>
              <a:t>2</a:t>
            </a:r>
            <a:r>
              <a:rPr lang="en-US" altLang="zh-CN" dirty="0">
                <a:latin typeface="楷体_GB2312" pitchFamily="49" charset="-122"/>
              </a:rPr>
              <a:t>,</a:t>
            </a:r>
            <a:r>
              <a:rPr lang="en-US" altLang="zh-CN" dirty="0"/>
              <a:t>…</a:t>
            </a:r>
            <a:r>
              <a:rPr lang="en-US" altLang="zh-CN" dirty="0">
                <a:latin typeface="楷体_GB2312" pitchFamily="49" charset="-122"/>
              </a:rPr>
              <a:t>,A</a:t>
            </a:r>
            <a:r>
              <a:rPr lang="en-US" altLang="zh-CN" baseline="-25000" dirty="0">
                <a:latin typeface="楷体_GB2312" pitchFamily="49" charset="-122"/>
              </a:rPr>
              <a:t>n</a:t>
            </a:r>
            <a:r>
              <a:rPr lang="en-US" altLang="zh-CN" dirty="0">
                <a:latin typeface="楷体_GB2312" pitchFamily="49" charset="-122"/>
              </a:rPr>
              <a:t>}</a:t>
            </a:r>
            <a:r>
              <a:rPr lang="zh-CN" altLang="en-US" dirty="0">
                <a:latin typeface="楷体_GB2312" pitchFamily="49" charset="-122"/>
              </a:rPr>
              <a:t>的子集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</a:rPr>
              <a:t>、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。如果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en-US" altLang="zh-CN" dirty="0"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，并且对于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</a:rPr>
              <a:t>的任何真子集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en-US" altLang="zh-CN" dirty="0"/>
              <a:t>’</a:t>
            </a:r>
            <a:r>
              <a:rPr lang="zh-CN" altLang="en-US" dirty="0">
                <a:latin typeface="楷体_GB2312" pitchFamily="49" charset="-122"/>
              </a:rPr>
              <a:t>，都有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en-US" altLang="zh-CN" dirty="0"/>
              <a:t>’</a:t>
            </a:r>
            <a:r>
              <a:rPr lang="en-US" altLang="zh-CN" dirty="0"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不成立，则称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完全依赖于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</a:rPr>
              <a:t>，记为：</a:t>
            </a:r>
          </a:p>
          <a:p>
            <a:pPr marL="0" indent="0"/>
            <a:endParaRPr lang="en-US" altLang="zh-CN" dirty="0">
              <a:latin typeface="楷体_GB2312" pitchFamily="49" charset="-122"/>
            </a:endParaRPr>
          </a:p>
          <a:p>
            <a:pPr marL="0" indent="0"/>
            <a:r>
              <a:rPr lang="en-US" altLang="zh-CN" dirty="0">
                <a:latin typeface="楷体_GB2312" pitchFamily="49" charset="-122"/>
              </a:rPr>
              <a:t>      X                Y</a:t>
            </a:r>
          </a:p>
        </p:txBody>
      </p:sp>
      <p:graphicFrame>
        <p:nvGraphicFramePr>
          <p:cNvPr id="979984" name="Object 16">
            <a:extLst>
              <a:ext uri="{FF2B5EF4-FFF2-40B4-BE49-F238E27FC236}">
                <a16:creationId xmlns:a16="http://schemas.microsoft.com/office/drawing/2014/main" id="{0C17FDC6-AE63-448E-B061-DC2A4D005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1988" y="3789363"/>
          <a:ext cx="6953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0440" imgH="279360" progId="Equation.3">
                  <p:embed/>
                </p:oleObj>
              </mc:Choice>
              <mc:Fallback>
                <p:oleObj name="公式" r:id="rId3" imgW="190440" imgH="2793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3789363"/>
                        <a:ext cx="695325" cy="935037"/>
                      </a:xfrm>
                      <a:prstGeom prst="rect">
                        <a:avLst/>
                      </a:prstGeom>
                      <a:noFill/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622"/>
    </mc:Choice>
    <mc:Fallback xmlns="">
      <p:transition spd="slow" advTm="586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79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79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79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7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8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>
            <a:extLst>
              <a:ext uri="{FF2B5EF4-FFF2-40B4-BE49-F238E27FC236}">
                <a16:creationId xmlns:a16="http://schemas.microsoft.com/office/drawing/2014/main" id="{0F84CA65-EE0E-4374-AB42-AE80E0183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完全依赖和部分依赖</a:t>
            </a:r>
          </a:p>
        </p:txBody>
      </p:sp>
      <p:sp>
        <p:nvSpPr>
          <p:cNvPr id="983043" name="Rectangle 3">
            <a:extLst>
              <a:ext uri="{FF2B5EF4-FFF2-40B4-BE49-F238E27FC236}">
                <a16:creationId xmlns:a16="http://schemas.microsoft.com/office/drawing/2014/main" id="{375903C3-DCAB-4297-95F8-7CD9C250D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49263" lvl="1" indent="-269875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2</a:t>
            </a:r>
            <a:r>
              <a:rPr lang="zh-CN" altLang="en-US" dirty="0">
                <a:latin typeface="楷体_GB2312" pitchFamily="49" charset="-122"/>
              </a:rPr>
              <a:t>、部分依赖</a:t>
            </a:r>
          </a:p>
          <a:p>
            <a:pPr marL="0" indent="0"/>
            <a:r>
              <a:rPr lang="zh-CN" altLang="en-US" dirty="0">
                <a:latin typeface="楷体_GB2312" pitchFamily="49" charset="-122"/>
              </a:rPr>
              <a:t>    设有关系模式</a:t>
            </a:r>
            <a:r>
              <a:rPr lang="en-US" altLang="zh-CN" dirty="0">
                <a:latin typeface="楷体_GB2312" pitchFamily="49" charset="-122"/>
              </a:rPr>
              <a:t>R(U,F)</a:t>
            </a:r>
            <a:r>
              <a:rPr lang="zh-CN" altLang="en-US" dirty="0">
                <a:latin typeface="楷体_GB2312" pitchFamily="49" charset="-122"/>
              </a:rPr>
              <a:t>和属性集</a:t>
            </a:r>
            <a:r>
              <a:rPr lang="en-US" altLang="zh-CN" dirty="0">
                <a:latin typeface="楷体_GB2312" pitchFamily="49" charset="-122"/>
              </a:rPr>
              <a:t>U={A</a:t>
            </a:r>
            <a:r>
              <a:rPr lang="en-US" altLang="zh-CN" baseline="-25000" dirty="0">
                <a:latin typeface="楷体_GB2312" pitchFamily="49" charset="-122"/>
              </a:rPr>
              <a:t>1</a:t>
            </a:r>
            <a:r>
              <a:rPr lang="en-US" altLang="zh-CN" dirty="0">
                <a:latin typeface="楷体_GB2312" pitchFamily="49" charset="-122"/>
              </a:rPr>
              <a:t>,A</a:t>
            </a:r>
            <a:r>
              <a:rPr lang="en-US" altLang="zh-CN" baseline="-25000" dirty="0">
                <a:latin typeface="楷体_GB2312" pitchFamily="49" charset="-122"/>
              </a:rPr>
              <a:t>2</a:t>
            </a:r>
            <a:r>
              <a:rPr lang="en-US" altLang="zh-CN" dirty="0">
                <a:latin typeface="楷体_GB2312" pitchFamily="49" charset="-122"/>
              </a:rPr>
              <a:t>,</a:t>
            </a:r>
            <a:r>
              <a:rPr lang="en-US" altLang="zh-CN" dirty="0"/>
              <a:t>…</a:t>
            </a:r>
            <a:r>
              <a:rPr lang="en-US" altLang="zh-CN" dirty="0">
                <a:latin typeface="楷体_GB2312" pitchFamily="49" charset="-122"/>
              </a:rPr>
              <a:t>,A</a:t>
            </a:r>
            <a:r>
              <a:rPr lang="en-US" altLang="zh-CN" baseline="-25000" dirty="0">
                <a:latin typeface="楷体_GB2312" pitchFamily="49" charset="-122"/>
              </a:rPr>
              <a:t>n</a:t>
            </a:r>
            <a:r>
              <a:rPr lang="en-US" altLang="zh-CN" dirty="0">
                <a:latin typeface="楷体_GB2312" pitchFamily="49" charset="-122"/>
              </a:rPr>
              <a:t>}</a:t>
            </a:r>
            <a:r>
              <a:rPr lang="zh-CN" altLang="en-US" dirty="0">
                <a:latin typeface="楷体_GB2312" pitchFamily="49" charset="-122"/>
              </a:rPr>
              <a:t>的子集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</a:rPr>
              <a:t>、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。如果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en-US" altLang="zh-CN" dirty="0"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，但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不完全依赖于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</a:rPr>
              <a:t>，则称</a:t>
            </a:r>
            <a:r>
              <a:rPr lang="en-US" altLang="zh-CN" dirty="0">
                <a:latin typeface="楷体_GB2312" pitchFamily="49" charset="-122"/>
              </a:rPr>
              <a:t>Y</a:t>
            </a:r>
            <a:r>
              <a:rPr lang="zh-CN" altLang="en-US" dirty="0">
                <a:latin typeface="楷体_GB2312" pitchFamily="49" charset="-122"/>
              </a:rPr>
              <a:t>部分依赖于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zh-CN" altLang="en-US" dirty="0">
                <a:latin typeface="楷体_GB2312" pitchFamily="49" charset="-122"/>
              </a:rPr>
              <a:t>，记为：</a:t>
            </a:r>
          </a:p>
          <a:p>
            <a:pPr marL="0" indent="0"/>
            <a:endParaRPr lang="en-US" altLang="zh-CN" dirty="0">
              <a:latin typeface="楷体_GB2312" pitchFamily="49" charset="-122"/>
            </a:endParaRPr>
          </a:p>
          <a:p>
            <a:pPr marL="0" indent="0"/>
            <a:r>
              <a:rPr lang="en-US" altLang="zh-CN" dirty="0">
                <a:latin typeface="楷体_GB2312" pitchFamily="49" charset="-122"/>
              </a:rPr>
              <a:t>     X           Y</a:t>
            </a:r>
            <a:r>
              <a:rPr lang="zh-CN" altLang="en-US" dirty="0">
                <a:latin typeface="楷体_GB2312" pitchFamily="49" charset="-122"/>
              </a:rPr>
              <a:t>。</a:t>
            </a:r>
          </a:p>
        </p:txBody>
      </p:sp>
      <p:graphicFrame>
        <p:nvGraphicFramePr>
          <p:cNvPr id="983047" name="Object 7">
            <a:extLst>
              <a:ext uri="{FF2B5EF4-FFF2-40B4-BE49-F238E27FC236}">
                <a16:creationId xmlns:a16="http://schemas.microsoft.com/office/drawing/2014/main" id="{1704CB5F-E30C-4D2C-89DC-86193F2B4E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6088" y="3789363"/>
          <a:ext cx="6953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440" imgH="279360" progId="Equation.3">
                  <p:embed/>
                </p:oleObj>
              </mc:Choice>
              <mc:Fallback>
                <p:oleObj name="公式" r:id="rId4" imgW="190440" imgH="279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3789363"/>
                        <a:ext cx="695325" cy="935037"/>
                      </a:xfrm>
                      <a:prstGeom prst="rect">
                        <a:avLst/>
                      </a:prstGeom>
                      <a:noFill/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49" name="AutoShape 9">
            <a:extLst>
              <a:ext uri="{FF2B5EF4-FFF2-40B4-BE49-F238E27FC236}">
                <a16:creationId xmlns:a16="http://schemas.microsoft.com/office/drawing/2014/main" id="{B4FA8573-2831-4876-822E-5E0319E95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221163"/>
            <a:ext cx="4608513" cy="1223962"/>
          </a:xfrm>
          <a:prstGeom prst="wedgeRectCallout">
            <a:avLst>
              <a:gd name="adj1" fmla="val -8593"/>
              <a:gd name="adj2" fmla="val -147667"/>
            </a:avLst>
          </a:prstGeom>
          <a:solidFill>
            <a:srgbClr val="333399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800" b="1">
                <a:solidFill>
                  <a:srgbClr val="66FFFF"/>
                </a:solidFill>
                <a:latin typeface="楷体_GB2312" pitchFamily="49" charset="-122"/>
              </a:rPr>
              <a:t>存在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</a:rPr>
              <a:t>X</a:t>
            </a:r>
            <a:r>
              <a:rPr lang="zh-CN" altLang="en-US" sz="2800" b="1">
                <a:solidFill>
                  <a:srgbClr val="66FFFF"/>
                </a:solidFill>
                <a:latin typeface="楷体_GB2312" pitchFamily="49" charset="-122"/>
              </a:rPr>
              <a:t>的真子集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</a:rPr>
              <a:t>X</a:t>
            </a:r>
            <a:r>
              <a:rPr lang="en-US" altLang="zh-CN" sz="2800" b="1">
                <a:solidFill>
                  <a:srgbClr val="66FFFF"/>
                </a:solidFill>
              </a:rPr>
              <a:t>’</a:t>
            </a:r>
            <a:r>
              <a:rPr lang="zh-CN" altLang="en-US" sz="2800" b="1">
                <a:solidFill>
                  <a:srgbClr val="66FFFF"/>
                </a:solidFill>
                <a:latin typeface="楷体_GB2312" pitchFamily="49" charset="-122"/>
              </a:rPr>
              <a:t>，有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</a:rPr>
              <a:t>X</a:t>
            </a:r>
            <a:r>
              <a:rPr lang="en-US" altLang="zh-CN" sz="2800" b="1">
                <a:solidFill>
                  <a:srgbClr val="66FFFF"/>
                </a:solidFill>
              </a:rPr>
              <a:t>’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</a:rPr>
              <a:t>Y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623"/>
    </mc:Choice>
    <mc:Fallback xmlns="">
      <p:transition spd="slow" advTm="386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8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8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8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8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83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83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8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43" grpId="0" build="p"/>
      <p:bldP spid="9830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6114" name="Group 2">
            <a:extLst>
              <a:ext uri="{FF2B5EF4-FFF2-40B4-BE49-F238E27FC236}">
                <a16:creationId xmlns:a16="http://schemas.microsoft.com/office/drawing/2014/main" id="{39DB9478-D1F0-4879-9C1F-91FD3F05BD4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300413"/>
            <a:ext cx="4608512" cy="949325"/>
            <a:chOff x="1438" y="2115"/>
            <a:chExt cx="2222" cy="598"/>
          </a:xfrm>
        </p:grpSpPr>
        <p:sp>
          <p:nvSpPr>
            <p:cNvPr id="986115" name="Rectangle 3">
              <a:extLst>
                <a:ext uri="{FF2B5EF4-FFF2-40B4-BE49-F238E27FC236}">
                  <a16:creationId xmlns:a16="http://schemas.microsoft.com/office/drawing/2014/main" id="{D0BC232B-A421-4926-A015-5BDDD5D9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2115"/>
              <a:ext cx="2222" cy="59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6116" name="Text Box 4">
              <a:extLst>
                <a:ext uri="{FF2B5EF4-FFF2-40B4-BE49-F238E27FC236}">
                  <a16:creationId xmlns:a16="http://schemas.microsoft.com/office/drawing/2014/main" id="{624AA6B5-5DAE-4AB3-A1B3-5C52EE917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学号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(S#)</a:t>
              </a:r>
            </a:p>
          </p:txBody>
        </p:sp>
        <p:sp>
          <p:nvSpPr>
            <p:cNvPr id="986117" name="Text Box 5">
              <a:extLst>
                <a:ext uri="{FF2B5EF4-FFF2-40B4-BE49-F238E27FC236}">
                  <a16:creationId xmlns:a16="http://schemas.microsoft.com/office/drawing/2014/main" id="{2F6EC60B-E419-4491-9082-72B760DC2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课程号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(C#)</a:t>
              </a:r>
            </a:p>
          </p:txBody>
        </p:sp>
      </p:grpSp>
      <p:grpSp>
        <p:nvGrpSpPr>
          <p:cNvPr id="986118" name="Group 6">
            <a:extLst>
              <a:ext uri="{FF2B5EF4-FFF2-40B4-BE49-F238E27FC236}">
                <a16:creationId xmlns:a16="http://schemas.microsoft.com/office/drawing/2014/main" id="{6AE90C45-C02E-4B3D-A796-FAAEFD1FDCF2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257675"/>
            <a:ext cx="2305050" cy="1039813"/>
            <a:chOff x="1383" y="2718"/>
            <a:chExt cx="998" cy="655"/>
          </a:xfrm>
        </p:grpSpPr>
        <p:sp>
          <p:nvSpPr>
            <p:cNvPr id="986119" name="Text Box 7">
              <a:extLst>
                <a:ext uri="{FF2B5EF4-FFF2-40B4-BE49-F238E27FC236}">
                  <a16:creationId xmlns:a16="http://schemas.microsoft.com/office/drawing/2014/main" id="{27C95326-ADA4-45D1-8579-D5C15D285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967"/>
              <a:ext cx="998" cy="406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成绩</a:t>
              </a:r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(GRADE)</a:t>
              </a:r>
            </a:p>
          </p:txBody>
        </p:sp>
        <p:sp>
          <p:nvSpPr>
            <p:cNvPr id="986120" name="Line 8">
              <a:extLst>
                <a:ext uri="{FF2B5EF4-FFF2-40B4-BE49-F238E27FC236}">
                  <a16:creationId xmlns:a16="http://schemas.microsoft.com/office/drawing/2014/main" id="{4C85F200-5D23-4612-A0EF-DC0D9D8C6C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18"/>
              <a:ext cx="0" cy="2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6121" name="Text Box 9">
            <a:extLst>
              <a:ext uri="{FF2B5EF4-FFF2-40B4-BE49-F238E27FC236}">
                <a16:creationId xmlns:a16="http://schemas.microsoft.com/office/drawing/2014/main" id="{99A628BE-71C7-4312-AB37-02562C06D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654550"/>
            <a:ext cx="2449513" cy="642938"/>
          </a:xfrm>
          <a:prstGeom prst="rect">
            <a:avLst/>
          </a:prstGeom>
          <a:solidFill>
            <a:srgbClr val="FF99CC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0" rIns="0" bIns="10800" anchor="ctr" anchorCtr="1"/>
          <a:lstStyle/>
          <a:p>
            <a:pPr algn="ctr"/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教师名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(TNAME)</a:t>
            </a:r>
          </a:p>
        </p:txBody>
      </p:sp>
      <p:sp>
        <p:nvSpPr>
          <p:cNvPr id="986122" name="Line 10">
            <a:extLst>
              <a:ext uri="{FF2B5EF4-FFF2-40B4-BE49-F238E27FC236}">
                <a16:creationId xmlns:a16="http://schemas.microsoft.com/office/drawing/2014/main" id="{8202E6BE-CDC2-4C97-9906-5E804C965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0450" y="4079875"/>
            <a:ext cx="0" cy="5730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86123" name="Group 11">
            <a:extLst>
              <a:ext uri="{FF2B5EF4-FFF2-40B4-BE49-F238E27FC236}">
                <a16:creationId xmlns:a16="http://schemas.microsoft.com/office/drawing/2014/main" id="{25C51263-E7C1-47A2-91B0-91B9C1AC6514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508500"/>
            <a:ext cx="2519362" cy="936625"/>
            <a:chOff x="3727" y="2945"/>
            <a:chExt cx="1303" cy="485"/>
          </a:xfrm>
        </p:grpSpPr>
        <p:sp>
          <p:nvSpPr>
            <p:cNvPr id="986124" name="Text Box 12">
              <a:extLst>
                <a:ext uri="{FF2B5EF4-FFF2-40B4-BE49-F238E27FC236}">
                  <a16:creationId xmlns:a16="http://schemas.microsoft.com/office/drawing/2014/main" id="{93261A81-9E94-4FDF-9E0F-50C9A7A29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" y="2945"/>
              <a:ext cx="952" cy="485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教研室</a:t>
              </a:r>
            </a:p>
            <a:p>
              <a:pPr algn="ctr"/>
              <a:r>
                <a:rPr lang="en-US" altLang="zh-CN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(TRS)</a:t>
              </a:r>
            </a:p>
          </p:txBody>
        </p:sp>
        <p:sp>
          <p:nvSpPr>
            <p:cNvPr id="986125" name="Line 13">
              <a:extLst>
                <a:ext uri="{FF2B5EF4-FFF2-40B4-BE49-F238E27FC236}">
                  <a16:creationId xmlns:a16="http://schemas.microsoft.com/office/drawing/2014/main" id="{D3A8A8C7-D73D-4517-857C-E6047ED853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897" y="3024"/>
              <a:ext cx="0" cy="3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6126" name="Group 14">
            <a:extLst>
              <a:ext uri="{FF2B5EF4-FFF2-40B4-BE49-F238E27FC236}">
                <a16:creationId xmlns:a16="http://schemas.microsoft.com/office/drawing/2014/main" id="{55A71A5A-4F8E-497C-B5D3-93D3BF831CB6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365625"/>
            <a:ext cx="8281987" cy="2087563"/>
            <a:chOff x="385" y="2750"/>
            <a:chExt cx="5217" cy="1315"/>
          </a:xfrm>
        </p:grpSpPr>
        <p:sp>
          <p:nvSpPr>
            <p:cNvPr id="986127" name="Rectangle 15">
              <a:extLst>
                <a:ext uri="{FF2B5EF4-FFF2-40B4-BE49-F238E27FC236}">
                  <a16:creationId xmlns:a16="http://schemas.microsoft.com/office/drawing/2014/main" id="{FC606E1D-1D01-48D9-A19F-DB1325F98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750"/>
              <a:ext cx="5217" cy="771"/>
            </a:xfrm>
            <a:prstGeom prst="rect">
              <a:avLst/>
            </a:prstGeom>
            <a:noFill/>
            <a:ln w="38100">
              <a:solidFill>
                <a:srgbClr val="800080"/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6128" name="AutoShape 16">
              <a:extLst>
                <a:ext uri="{FF2B5EF4-FFF2-40B4-BE49-F238E27FC236}">
                  <a16:creationId xmlns:a16="http://schemas.microsoft.com/office/drawing/2014/main" id="{FF6E592A-C637-42F6-AA01-A50A740C9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612"/>
              <a:ext cx="1224" cy="453"/>
            </a:xfrm>
            <a:prstGeom prst="wedgeRoundRectCallout">
              <a:avLst>
                <a:gd name="adj1" fmla="val -105718"/>
                <a:gd name="adj2" fmla="val -71856"/>
                <a:gd name="adj3" fmla="val 16667"/>
              </a:avLst>
            </a:prstGeom>
            <a:solidFill>
              <a:srgbClr val="FFFF99"/>
            </a:solidFill>
            <a:ln w="12700" cap="sq">
              <a:solidFill>
                <a:srgbClr val="080808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非主属性</a:t>
              </a:r>
              <a:endParaRPr lang="en-US" altLang="zh-CN" sz="2800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endParaRPr>
            </a:p>
          </p:txBody>
        </p:sp>
      </p:grpSp>
      <p:sp>
        <p:nvSpPr>
          <p:cNvPr id="986129" name="AutoShape 17">
            <a:extLst>
              <a:ext uri="{FF2B5EF4-FFF2-40B4-BE49-F238E27FC236}">
                <a16:creationId xmlns:a16="http://schemas.microsoft.com/office/drawing/2014/main" id="{72C2F8C6-5ACD-49E4-842F-CCC2E3F6B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492375"/>
            <a:ext cx="2808288" cy="1296988"/>
          </a:xfrm>
          <a:prstGeom prst="wedgeRoundRectCallout">
            <a:avLst>
              <a:gd name="adj1" fmla="val -83463"/>
              <a:gd name="adj2" fmla="val 100060"/>
              <a:gd name="adj3" fmla="val 16667"/>
            </a:avLst>
          </a:prstGeom>
          <a:solidFill>
            <a:srgbClr val="00FFFF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18000" rIns="18000" anchor="ctr"/>
          <a:lstStyle/>
          <a:p>
            <a:pPr algn="ctr"/>
            <a:r>
              <a:rPr lang="zh-CN" altLang="en-US" sz="2800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非主属性对候选键的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部分依赖</a:t>
            </a:r>
          </a:p>
        </p:txBody>
      </p:sp>
      <p:sp>
        <p:nvSpPr>
          <p:cNvPr id="986130" name="Line 18">
            <a:extLst>
              <a:ext uri="{FF2B5EF4-FFF2-40B4-BE49-F238E27FC236}">
                <a16:creationId xmlns:a16="http://schemas.microsoft.com/office/drawing/2014/main" id="{F0366FBA-F321-46A7-860F-9D1724FCD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6132" name="Rectangle 20">
            <a:extLst>
              <a:ext uri="{FF2B5EF4-FFF2-40B4-BE49-F238E27FC236}">
                <a16:creationId xmlns:a16="http://schemas.microsoft.com/office/drawing/2014/main" id="{1AB9F36E-1B16-42B3-8F1E-CE30BF6B7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86133" name="Rectangle 21">
            <a:extLst>
              <a:ext uri="{FF2B5EF4-FFF2-40B4-BE49-F238E27FC236}">
                <a16:creationId xmlns:a16="http://schemas.microsoft.com/office/drawing/2014/main" id="{F6D89D8E-2678-465A-AA0F-5C4540C4E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完全依赖和部分依赖</a:t>
            </a:r>
          </a:p>
        </p:txBody>
      </p:sp>
      <p:sp>
        <p:nvSpPr>
          <p:cNvPr id="986134" name="AutoShape 22">
            <a:extLst>
              <a:ext uri="{FF2B5EF4-FFF2-40B4-BE49-F238E27FC236}">
                <a16:creationId xmlns:a16="http://schemas.microsoft.com/office/drawing/2014/main" id="{762BD334-6812-4933-9560-E3C43F7E5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076700"/>
            <a:ext cx="215900" cy="576263"/>
          </a:xfrm>
          <a:prstGeom prst="downArrow">
            <a:avLst>
              <a:gd name="adj1" fmla="val 50000"/>
              <a:gd name="adj2" fmla="val 66728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86140" name="Group 28">
            <a:extLst>
              <a:ext uri="{FF2B5EF4-FFF2-40B4-BE49-F238E27FC236}">
                <a16:creationId xmlns:a16="http://schemas.microsoft.com/office/drawing/2014/main" id="{417F2B96-4A7B-4AF2-8E84-B7C9D1908BC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659438"/>
            <a:ext cx="5761037" cy="1009650"/>
            <a:chOff x="839" y="3565"/>
            <a:chExt cx="3629" cy="636"/>
          </a:xfrm>
        </p:grpSpPr>
        <p:sp>
          <p:nvSpPr>
            <p:cNvPr id="986136" name="AutoShape 24">
              <a:extLst>
                <a:ext uri="{FF2B5EF4-FFF2-40B4-BE49-F238E27FC236}">
                  <a16:creationId xmlns:a16="http://schemas.microsoft.com/office/drawing/2014/main" id="{CB9D5868-C362-4352-BA0C-DF2417931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565"/>
              <a:ext cx="3629" cy="636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CC99FF"/>
                </a:gs>
                <a:gs pos="50000">
                  <a:schemeClr val="bg1"/>
                </a:gs>
                <a:gs pos="100000">
                  <a:srgbClr val="CC99FF"/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b" anchorCtr="1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{S#</a:t>
              </a:r>
              <a:r>
                <a:rPr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，</a:t>
              </a:r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C#}         GRADE</a:t>
              </a:r>
              <a:endPara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endParaRPr>
            </a:p>
          </p:txBody>
        </p:sp>
        <p:graphicFrame>
          <p:nvGraphicFramePr>
            <p:cNvPr id="986139" name="Object 27">
              <a:extLst>
                <a:ext uri="{FF2B5EF4-FFF2-40B4-BE49-F238E27FC236}">
                  <a16:creationId xmlns:a16="http://schemas.microsoft.com/office/drawing/2014/main" id="{ACAEA019-7753-4651-8BDE-479D2188E1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7" y="3567"/>
            <a:ext cx="438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90440" imgH="279360" progId="Equation.3">
                    <p:embed/>
                  </p:oleObj>
                </mc:Choice>
                <mc:Fallback>
                  <p:oleObj name="公式" r:id="rId4" imgW="190440" imgH="27936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3567"/>
                          <a:ext cx="438" cy="589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35921" dir="2700000" algn="ctr" rotWithShape="0">
                            <a:schemeClr val="tx1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6145" name="Group 33">
            <a:extLst>
              <a:ext uri="{FF2B5EF4-FFF2-40B4-BE49-F238E27FC236}">
                <a16:creationId xmlns:a16="http://schemas.microsoft.com/office/drawing/2014/main" id="{DBBA9A2B-7B1B-4BE3-AB0C-D1859655D30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659438"/>
            <a:ext cx="5761037" cy="1009650"/>
            <a:chOff x="839" y="3565"/>
            <a:chExt cx="3629" cy="636"/>
          </a:xfrm>
        </p:grpSpPr>
        <p:sp>
          <p:nvSpPr>
            <p:cNvPr id="986141" name="AutoShape 29">
              <a:extLst>
                <a:ext uri="{FF2B5EF4-FFF2-40B4-BE49-F238E27FC236}">
                  <a16:creationId xmlns:a16="http://schemas.microsoft.com/office/drawing/2014/main" id="{81C4CEEE-0C14-4C10-8723-B8D92FFB8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565"/>
              <a:ext cx="3629" cy="636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CC99FF"/>
                </a:gs>
                <a:gs pos="50000">
                  <a:schemeClr val="bg1"/>
                </a:gs>
                <a:gs pos="100000">
                  <a:srgbClr val="CC99FF"/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b" anchorCtr="1"/>
            <a:lstStyle/>
            <a:p>
              <a:pPr algn="ctr"/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{S#</a:t>
              </a:r>
              <a:r>
                <a:rPr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，</a:t>
              </a:r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C#}         T</a:t>
              </a:r>
              <a:r>
                <a:rPr lang="en-US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NAME</a:t>
              </a:r>
              <a:endPara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endParaRPr>
            </a:p>
          </p:txBody>
        </p:sp>
        <p:graphicFrame>
          <p:nvGraphicFramePr>
            <p:cNvPr id="986144" name="Object 32">
              <a:extLst>
                <a:ext uri="{FF2B5EF4-FFF2-40B4-BE49-F238E27FC236}">
                  <a16:creationId xmlns:a16="http://schemas.microsoft.com/office/drawing/2014/main" id="{C1372080-167F-4703-BCF1-5C0C0DFA99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2" y="3567"/>
            <a:ext cx="438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79360" progId="Equation.3">
                    <p:embed/>
                  </p:oleObj>
                </mc:Choice>
                <mc:Fallback>
                  <p:oleObj name="公式" r:id="rId6" imgW="190440" imgH="27936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3567"/>
                          <a:ext cx="438" cy="589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35921" dir="2700000" algn="ctr" rotWithShape="0">
                            <a:schemeClr val="tx1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6146" name="AutoShape 34">
            <a:extLst>
              <a:ext uri="{FF2B5EF4-FFF2-40B4-BE49-F238E27FC236}">
                <a16:creationId xmlns:a16="http://schemas.microsoft.com/office/drawing/2014/main" id="{B091C076-119B-42ED-A320-C39CFA3BA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292600"/>
            <a:ext cx="215900" cy="360363"/>
          </a:xfrm>
          <a:prstGeom prst="downArrow">
            <a:avLst>
              <a:gd name="adj1" fmla="val 50000"/>
              <a:gd name="adj2" fmla="val 4172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98"/>
    </mc:Choice>
    <mc:Fallback xmlns="">
      <p:transition spd="slow" advTm="740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6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6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86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86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899" name="Group 59">
            <a:extLst>
              <a:ext uri="{FF2B5EF4-FFF2-40B4-BE49-F238E27FC236}">
                <a16:creationId xmlns:a16="http://schemas.microsoft.com/office/drawing/2014/main" id="{94EE6DCC-8ACB-48F0-A613-4271C2819A5D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4135438"/>
            <a:ext cx="5184775" cy="1885950"/>
            <a:chOff x="1202" y="2605"/>
            <a:chExt cx="3266" cy="1188"/>
          </a:xfrm>
        </p:grpSpPr>
        <p:sp>
          <p:nvSpPr>
            <p:cNvPr id="291892" name="Rectangle 52">
              <a:extLst>
                <a:ext uri="{FF2B5EF4-FFF2-40B4-BE49-F238E27FC236}">
                  <a16:creationId xmlns:a16="http://schemas.microsoft.com/office/drawing/2014/main" id="{286684A2-5BA5-46DA-BDF2-813DCDA42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605"/>
              <a:ext cx="1769" cy="118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r>
                <a:rPr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候选键</a:t>
              </a:r>
            </a:p>
          </p:txBody>
        </p:sp>
        <p:sp>
          <p:nvSpPr>
            <p:cNvPr id="291893" name="Text Box 53">
              <a:extLst>
                <a:ext uri="{FF2B5EF4-FFF2-40B4-BE49-F238E27FC236}">
                  <a16:creationId xmlns:a16="http://schemas.microsoft.com/office/drawing/2014/main" id="{034FF333-6D43-4683-B2FB-8883AA370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18"/>
              <a:ext cx="771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X1</a:t>
              </a:r>
            </a:p>
          </p:txBody>
        </p:sp>
        <p:sp>
          <p:nvSpPr>
            <p:cNvPr id="291894" name="Text Box 54">
              <a:extLst>
                <a:ext uri="{FF2B5EF4-FFF2-40B4-BE49-F238E27FC236}">
                  <a16:creationId xmlns:a16="http://schemas.microsoft.com/office/drawing/2014/main" id="{FC42F4E1-2D5D-4173-918A-FA1A71E7F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7" y="2724"/>
              <a:ext cx="771" cy="405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</a:t>
              </a:r>
            </a:p>
          </p:txBody>
        </p:sp>
        <p:sp>
          <p:nvSpPr>
            <p:cNvPr id="291897" name="Text Box 57">
              <a:extLst>
                <a:ext uri="{FF2B5EF4-FFF2-40B4-BE49-F238E27FC236}">
                  <a16:creationId xmlns:a16="http://schemas.microsoft.com/office/drawing/2014/main" id="{EDCDAEAA-D270-4123-A464-2E34CB163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276"/>
              <a:ext cx="771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X2</a:t>
              </a:r>
            </a:p>
          </p:txBody>
        </p:sp>
      </p:grpSp>
      <p:sp>
        <p:nvSpPr>
          <p:cNvPr id="291898" name="Line 58">
            <a:extLst>
              <a:ext uri="{FF2B5EF4-FFF2-40B4-BE49-F238E27FC236}">
                <a16:creationId xmlns:a16="http://schemas.microsoft.com/office/drawing/2014/main" id="{36E79BB8-4E7D-42EA-8A93-6257E61967EF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5299869" y="4242594"/>
            <a:ext cx="12700" cy="1122362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lg" len="lg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1901" name="Group 61">
            <a:extLst>
              <a:ext uri="{FF2B5EF4-FFF2-40B4-BE49-F238E27FC236}">
                <a16:creationId xmlns:a16="http://schemas.microsoft.com/office/drawing/2014/main" id="{9DDBA58A-B062-446A-A3E8-BFD451DD974C}"/>
              </a:ext>
            </a:extLst>
          </p:cNvPr>
          <p:cNvGrpSpPr>
            <a:grpSpLocks/>
          </p:cNvGrpSpPr>
          <p:nvPr/>
        </p:nvGrpSpPr>
        <p:grpSpPr bwMode="auto">
          <a:xfrm>
            <a:off x="4529138" y="3286125"/>
            <a:ext cx="3641725" cy="1327150"/>
            <a:chOff x="2853" y="2070"/>
            <a:chExt cx="2294" cy="836"/>
          </a:xfrm>
        </p:grpSpPr>
        <p:sp>
          <p:nvSpPr>
            <p:cNvPr id="291895" name="Line 55">
              <a:extLst>
                <a:ext uri="{FF2B5EF4-FFF2-40B4-BE49-F238E27FC236}">
                  <a16:creationId xmlns:a16="http://schemas.microsoft.com/office/drawing/2014/main" id="{8735E6F7-6B9A-4814-BC3F-5895481ED5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262" y="2497"/>
              <a:ext cx="0" cy="817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900" name="AutoShape 60">
              <a:extLst>
                <a:ext uri="{FF2B5EF4-FFF2-40B4-BE49-F238E27FC236}">
                  <a16:creationId xmlns:a16="http://schemas.microsoft.com/office/drawing/2014/main" id="{D6C537E0-DCCF-43C1-BB3D-11B3A4FEF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070"/>
              <a:ext cx="1224" cy="544"/>
            </a:xfrm>
            <a:prstGeom prst="wedgeRoundRectCallout">
              <a:avLst>
                <a:gd name="adj1" fmla="val -113153"/>
                <a:gd name="adj2" fmla="val 98528"/>
                <a:gd name="adj3" fmla="val 16667"/>
              </a:avLst>
            </a:prstGeom>
            <a:solidFill>
              <a:srgbClr val="00FFFF"/>
            </a:solidFill>
            <a:ln w="12700" cap="sq">
              <a:solidFill>
                <a:srgbClr val="080808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部分依赖</a:t>
              </a:r>
            </a:p>
          </p:txBody>
        </p:sp>
      </p:grpSp>
      <p:sp>
        <p:nvSpPr>
          <p:cNvPr id="291902" name="AutoShape 62">
            <a:extLst>
              <a:ext uri="{FF2B5EF4-FFF2-40B4-BE49-F238E27FC236}">
                <a16:creationId xmlns:a16="http://schemas.microsoft.com/office/drawing/2014/main" id="{70F183FE-4934-4899-9108-DAD259C65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300663"/>
            <a:ext cx="1943100" cy="863600"/>
          </a:xfrm>
          <a:prstGeom prst="wedgeRoundRectCallout">
            <a:avLst>
              <a:gd name="adj1" fmla="val -107926"/>
              <a:gd name="adj2" fmla="val -91361"/>
              <a:gd name="adj3" fmla="val 16667"/>
            </a:avLst>
          </a:prstGeom>
          <a:solidFill>
            <a:srgbClr val="00FFFF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800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完全依赖</a:t>
            </a:r>
          </a:p>
        </p:txBody>
      </p:sp>
      <p:sp>
        <p:nvSpPr>
          <p:cNvPr id="291903" name="Rectangle 63">
            <a:extLst>
              <a:ext uri="{FF2B5EF4-FFF2-40B4-BE49-F238E27FC236}">
                <a16:creationId xmlns:a16="http://schemas.microsoft.com/office/drawing/2014/main" id="{5D3458BA-0359-4311-89DA-98269402C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291904" name="Rectangle 64">
            <a:extLst>
              <a:ext uri="{FF2B5EF4-FFF2-40B4-BE49-F238E27FC236}">
                <a16:creationId xmlns:a16="http://schemas.microsoft.com/office/drawing/2014/main" id="{1ED2839B-C0A8-4ADA-9D26-F3E3075F5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、定义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如果一个关系模式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，且它的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每一个非主属性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都完全函数依赖于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候选键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，那么称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是满足第二范式（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）的关系模式。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509"/>
    </mc:Choice>
    <mc:Fallback xmlns="">
      <p:transition spd="slow" advTm="745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1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1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1000"/>
                                        <p:tgtEl>
                                          <p:spTgt spid="29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9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29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902" grpId="0" animBg="1"/>
      <p:bldP spid="29190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978" name="Group 18">
            <a:extLst>
              <a:ext uri="{FF2B5EF4-FFF2-40B4-BE49-F238E27FC236}">
                <a16:creationId xmlns:a16="http://schemas.microsoft.com/office/drawing/2014/main" id="{A0DA2602-F165-4DC4-BD1B-1243E2C73099}"/>
              </a:ext>
            </a:extLst>
          </p:cNvPr>
          <p:cNvGrpSpPr>
            <a:grpSpLocks/>
          </p:cNvGrpSpPr>
          <p:nvPr/>
        </p:nvGrpSpPr>
        <p:grpSpPr bwMode="auto">
          <a:xfrm>
            <a:off x="2528888" y="3976688"/>
            <a:ext cx="2763837" cy="2044700"/>
            <a:chOff x="1593" y="2505"/>
            <a:chExt cx="1741" cy="1288"/>
          </a:xfrm>
        </p:grpSpPr>
        <p:sp>
          <p:nvSpPr>
            <p:cNvPr id="424968" name="AutoShape 8">
              <a:extLst>
                <a:ext uri="{FF2B5EF4-FFF2-40B4-BE49-F238E27FC236}">
                  <a16:creationId xmlns:a16="http://schemas.microsoft.com/office/drawing/2014/main" id="{827CD6A6-4DCB-4C66-938A-C1CD1E577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2659"/>
              <a:ext cx="272" cy="1134"/>
            </a:xfrm>
            <a:prstGeom prst="leftBrace">
              <a:avLst>
                <a:gd name="adj1" fmla="val 34743"/>
                <a:gd name="adj2" fmla="val 50000"/>
              </a:avLst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4969" name="Text Box 9">
              <a:extLst>
                <a:ext uri="{FF2B5EF4-FFF2-40B4-BE49-F238E27FC236}">
                  <a16:creationId xmlns:a16="http://schemas.microsoft.com/office/drawing/2014/main" id="{A6CB5258-026B-4529-908E-758B55903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6" y="2505"/>
              <a:ext cx="1378" cy="335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33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anose="02010609060101010101" pitchFamily="49" charset="-122"/>
                </a:rPr>
                <a:t>单属性</a:t>
              </a:r>
            </a:p>
          </p:txBody>
        </p:sp>
        <p:sp>
          <p:nvSpPr>
            <p:cNvPr id="424970" name="Text Box 10">
              <a:extLst>
                <a:ext uri="{FF2B5EF4-FFF2-40B4-BE49-F238E27FC236}">
                  <a16:creationId xmlns:a16="http://schemas.microsoft.com/office/drawing/2014/main" id="{98FB0112-D22E-49C9-867D-525825E5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6" y="3058"/>
              <a:ext cx="1378" cy="335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3366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anose="02010609060101010101" pitchFamily="49" charset="-122"/>
                </a:rPr>
                <a:t>全键</a:t>
              </a:r>
            </a:p>
          </p:txBody>
        </p:sp>
      </p:grpSp>
      <p:sp>
        <p:nvSpPr>
          <p:cNvPr id="424972" name="Text Box 12">
            <a:extLst>
              <a:ext uri="{FF2B5EF4-FFF2-40B4-BE49-F238E27FC236}">
                <a16:creationId xmlns:a16="http://schemas.microsoft.com/office/drawing/2014/main" id="{C20F220D-C650-4DB7-B75D-8B85A90A1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767263"/>
            <a:ext cx="1255713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候选键</a:t>
            </a:r>
          </a:p>
        </p:txBody>
      </p:sp>
      <p:sp>
        <p:nvSpPr>
          <p:cNvPr id="424973" name="Text Box 13">
            <a:extLst>
              <a:ext uri="{FF2B5EF4-FFF2-40B4-BE49-F238E27FC236}">
                <a16:creationId xmlns:a16="http://schemas.microsoft.com/office/drawing/2014/main" id="{EC96FD19-9713-45CB-96D1-AFE887DA2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150" y="5734050"/>
            <a:ext cx="2187575" cy="531813"/>
          </a:xfrm>
          <a:prstGeom prst="rect">
            <a:avLst/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复合候选键</a:t>
            </a:r>
          </a:p>
        </p:txBody>
      </p:sp>
      <p:sp>
        <p:nvSpPr>
          <p:cNvPr id="424974" name="AutoShape 14">
            <a:extLst>
              <a:ext uri="{FF2B5EF4-FFF2-40B4-BE49-F238E27FC236}">
                <a16:creationId xmlns:a16="http://schemas.microsoft.com/office/drawing/2014/main" id="{412C8C70-A992-4CC5-874B-ABB537F2B0CE}"/>
              </a:ext>
            </a:extLst>
          </p:cNvPr>
          <p:cNvSpPr>
            <a:spLocks/>
          </p:cNvSpPr>
          <p:nvPr/>
        </p:nvSpPr>
        <p:spPr bwMode="auto">
          <a:xfrm rot="10800000">
            <a:off x="5508625" y="4149725"/>
            <a:ext cx="431800" cy="1150938"/>
          </a:xfrm>
          <a:prstGeom prst="leftBrace">
            <a:avLst>
              <a:gd name="adj1" fmla="val 22212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4976" name="AutoShape 16">
            <a:extLst>
              <a:ext uri="{FF2B5EF4-FFF2-40B4-BE49-F238E27FC236}">
                <a16:creationId xmlns:a16="http://schemas.microsoft.com/office/drawing/2014/main" id="{DAD98F41-CCE0-4A66-A4E8-32BE881B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365625"/>
            <a:ext cx="2159000" cy="719138"/>
          </a:xfrm>
          <a:prstGeom prst="ribbon">
            <a:avLst>
              <a:gd name="adj1" fmla="val 8611"/>
              <a:gd name="adj2" fmla="val 68657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2NF</a:t>
            </a:r>
          </a:p>
        </p:txBody>
      </p:sp>
      <p:sp>
        <p:nvSpPr>
          <p:cNvPr id="424977" name="AutoShape 17">
            <a:extLst>
              <a:ext uri="{FF2B5EF4-FFF2-40B4-BE49-F238E27FC236}">
                <a16:creationId xmlns:a16="http://schemas.microsoft.com/office/drawing/2014/main" id="{83600317-8333-4861-A6BF-CC231DF7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634038"/>
            <a:ext cx="2159000" cy="719137"/>
          </a:xfrm>
          <a:prstGeom prst="ribbon">
            <a:avLst>
              <a:gd name="adj1" fmla="val 8611"/>
              <a:gd name="adj2" fmla="val 68657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可能</a:t>
            </a:r>
          </a:p>
        </p:txBody>
      </p:sp>
      <p:sp>
        <p:nvSpPr>
          <p:cNvPr id="424979" name="Rectangle 19">
            <a:extLst>
              <a:ext uri="{FF2B5EF4-FFF2-40B4-BE49-F238E27FC236}">
                <a16:creationId xmlns:a16="http://schemas.microsoft.com/office/drawing/2014/main" id="{CEC5B96C-5851-49C0-B846-55D77ED9E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424980" name="Rectangle 20">
            <a:extLst>
              <a:ext uri="{FF2B5EF4-FFF2-40B4-BE49-F238E27FC236}">
                <a16:creationId xmlns:a16="http://schemas.microsoft.com/office/drawing/2014/main" id="{07E25799-733F-4B34-B3C2-A3D103053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、定义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如果一个关系模式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，且它的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每一个非主属性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都完全函数依赖于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候选键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，那么称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是第二范式（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92"/>
    </mc:Choice>
    <mc:Fallback xmlns="">
      <p:transition spd="slow" advTm="413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2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2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2" grpId="0"/>
      <p:bldP spid="424973" grpId="0" animBg="1"/>
      <p:bldP spid="424976" grpId="0" animBg="1"/>
      <p:bldP spid="4249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AutoShape 2">
            <a:extLst>
              <a:ext uri="{FF2B5EF4-FFF2-40B4-BE49-F238E27FC236}">
                <a16:creationId xmlns:a16="http://schemas.microsoft.com/office/drawing/2014/main" id="{5042F0F5-092D-4501-8B88-14C0EC208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005263"/>
            <a:ext cx="6696075" cy="1944687"/>
          </a:xfrm>
          <a:prstGeom prst="foldedCorner">
            <a:avLst>
              <a:gd name="adj" fmla="val 12500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保证数据库中各关系模式属于2NF是数据库逻辑设计中的最低要求。</a:t>
            </a:r>
            <a:endParaRPr lang="zh-CN" altLang="en-US" sz="28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42088" name="Rectangle 8">
            <a:extLst>
              <a:ext uri="{FF2B5EF4-FFF2-40B4-BE49-F238E27FC236}">
                <a16:creationId xmlns:a16="http://schemas.microsoft.com/office/drawing/2014/main" id="{43D502A0-071F-4354-A7B9-DA40CF660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942089" name="Rectangle 9">
            <a:extLst>
              <a:ext uri="{FF2B5EF4-FFF2-40B4-BE49-F238E27FC236}">
                <a16:creationId xmlns:a16="http://schemas.microsoft.com/office/drawing/2014/main" id="{56D5FD67-4F93-4DFE-A186-BA45B1164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、定义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如果一个关系模式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，且它的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每一个非主属性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都完全函数依赖于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候选键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，那么称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是第二范式（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2NF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79"/>
    </mc:Choice>
    <mc:Fallback xmlns="">
      <p:transition spd="slow" advTm="151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08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942" name="Group 30">
            <a:extLst>
              <a:ext uri="{FF2B5EF4-FFF2-40B4-BE49-F238E27FC236}">
                <a16:creationId xmlns:a16="http://schemas.microsoft.com/office/drawing/2014/main" id="{FCE734F1-93C9-49AB-96D6-F9ED522C4089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357563"/>
            <a:ext cx="6696075" cy="2144712"/>
            <a:chOff x="975" y="2115"/>
            <a:chExt cx="4218" cy="1351"/>
          </a:xfrm>
        </p:grpSpPr>
        <p:grpSp>
          <p:nvGrpSpPr>
            <p:cNvPr id="294936" name="Group 24">
              <a:extLst>
                <a:ext uri="{FF2B5EF4-FFF2-40B4-BE49-F238E27FC236}">
                  <a16:creationId xmlns:a16="http://schemas.microsoft.com/office/drawing/2014/main" id="{9353C249-3605-4959-BC6B-48DC1DDC2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" y="2115"/>
              <a:ext cx="2594" cy="598"/>
              <a:chOff x="1438" y="2115"/>
              <a:chExt cx="2222" cy="598"/>
            </a:xfrm>
          </p:grpSpPr>
          <p:sp>
            <p:nvSpPr>
              <p:cNvPr id="294923" name="Rectangle 11">
                <a:extLst>
                  <a:ext uri="{FF2B5EF4-FFF2-40B4-BE49-F238E27FC236}">
                    <a16:creationId xmlns:a16="http://schemas.microsoft.com/office/drawing/2014/main" id="{A663EDD2-ADCE-4AF0-BA64-E93991862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" y="2115"/>
                <a:ext cx="2222" cy="598"/>
              </a:xfrm>
              <a:prstGeom prst="rect">
                <a:avLst/>
              </a:prstGeom>
              <a:solidFill>
                <a:srgbClr val="CCFF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24" name="Text Box 12">
                <a:extLst>
                  <a:ext uri="{FF2B5EF4-FFF2-40B4-BE49-F238E27FC236}">
                    <a16:creationId xmlns:a16="http://schemas.microsoft.com/office/drawing/2014/main" id="{2F342742-2349-477F-B34E-456D14BCFF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2200"/>
                <a:ext cx="952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学号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(S#)</a:t>
                </a:r>
              </a:p>
            </p:txBody>
          </p:sp>
          <p:sp>
            <p:nvSpPr>
              <p:cNvPr id="294925" name="Text Box 13">
                <a:extLst>
                  <a:ext uri="{FF2B5EF4-FFF2-40B4-BE49-F238E27FC236}">
                    <a16:creationId xmlns:a16="http://schemas.microsoft.com/office/drawing/2014/main" id="{10BB8E93-E4B9-498A-8E63-4EB8B198F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8" y="2200"/>
                <a:ext cx="952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课程号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(C#)</a:t>
                </a:r>
              </a:p>
            </p:txBody>
          </p:sp>
        </p:grpSp>
        <p:grpSp>
          <p:nvGrpSpPr>
            <p:cNvPr id="294938" name="Group 26">
              <a:extLst>
                <a:ext uri="{FF2B5EF4-FFF2-40B4-BE49-F238E27FC236}">
                  <a16:creationId xmlns:a16="http://schemas.microsoft.com/office/drawing/2014/main" id="{F92DBFBC-CB26-4B94-91CE-33C14585E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2718"/>
              <a:ext cx="1225" cy="655"/>
              <a:chOff x="1383" y="2718"/>
              <a:chExt cx="998" cy="655"/>
            </a:xfrm>
          </p:grpSpPr>
          <p:sp>
            <p:nvSpPr>
              <p:cNvPr id="294928" name="Text Box 16">
                <a:extLst>
                  <a:ext uri="{FF2B5EF4-FFF2-40B4-BE49-F238E27FC236}">
                    <a16:creationId xmlns:a16="http://schemas.microsoft.com/office/drawing/2014/main" id="{3DDAEFCA-82C7-4DA7-96CE-18CB268D00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2967"/>
                <a:ext cx="998" cy="406"/>
              </a:xfrm>
              <a:prstGeom prst="rect">
                <a:avLst/>
              </a:prstGeom>
              <a:solidFill>
                <a:srgbClr val="FF99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成绩</a:t>
                </a:r>
                <a:r>
                  <a:rPr lang="en-US" altLang="zh-CN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(GRADE)</a:t>
                </a:r>
              </a:p>
            </p:txBody>
          </p:sp>
          <p:sp>
            <p:nvSpPr>
              <p:cNvPr id="294933" name="Line 21">
                <a:extLst>
                  <a:ext uri="{FF2B5EF4-FFF2-40B4-BE49-F238E27FC236}">
                    <a16:creationId xmlns:a16="http://schemas.microsoft.com/office/drawing/2014/main" id="{33E4EFEF-FC41-412E-A6E3-D7606CDF8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718"/>
                <a:ext cx="0" cy="24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4937" name="Group 25">
              <a:extLst>
                <a:ext uri="{FF2B5EF4-FFF2-40B4-BE49-F238E27FC236}">
                  <a16:creationId xmlns:a16="http://schemas.microsoft.com/office/drawing/2014/main" id="{1854025A-249F-47C0-96A5-09A85ABDC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5" y="2606"/>
              <a:ext cx="1429" cy="767"/>
              <a:chOff x="2490" y="2606"/>
              <a:chExt cx="1224" cy="767"/>
            </a:xfrm>
          </p:grpSpPr>
          <p:sp>
            <p:nvSpPr>
              <p:cNvPr id="294929" name="Text Box 17">
                <a:extLst>
                  <a:ext uri="{FF2B5EF4-FFF2-40B4-BE49-F238E27FC236}">
                    <a16:creationId xmlns:a16="http://schemas.microsoft.com/office/drawing/2014/main" id="{A048B63F-A1F8-4878-9782-E5D6F6DC3F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0" y="2968"/>
                <a:ext cx="1224" cy="405"/>
              </a:xfrm>
              <a:prstGeom prst="rect">
                <a:avLst/>
              </a:prstGeom>
              <a:solidFill>
                <a:srgbClr val="FF99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教师名</a:t>
                </a:r>
                <a:r>
                  <a:rPr lang="en-US" altLang="zh-CN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(TNAME)</a:t>
                </a:r>
              </a:p>
            </p:txBody>
          </p:sp>
          <p:sp>
            <p:nvSpPr>
              <p:cNvPr id="294934" name="Line 22">
                <a:extLst>
                  <a:ext uri="{FF2B5EF4-FFF2-40B4-BE49-F238E27FC236}">
                    <a16:creationId xmlns:a16="http://schemas.microsoft.com/office/drawing/2014/main" id="{17A1E7A3-3279-4D29-AF8B-2F229CD08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2606"/>
                <a:ext cx="0" cy="36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4939" name="Group 27">
              <a:extLst>
                <a:ext uri="{FF2B5EF4-FFF2-40B4-BE49-F238E27FC236}">
                  <a16:creationId xmlns:a16="http://schemas.microsoft.com/office/drawing/2014/main" id="{881F8DD9-25F7-4129-8593-7DE83D426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8" y="2876"/>
              <a:ext cx="1475" cy="590"/>
              <a:chOff x="3727" y="2945"/>
              <a:chExt cx="1303" cy="485"/>
            </a:xfrm>
          </p:grpSpPr>
          <p:sp>
            <p:nvSpPr>
              <p:cNvPr id="294930" name="Text Box 18">
                <a:extLst>
                  <a:ext uri="{FF2B5EF4-FFF2-40B4-BE49-F238E27FC236}">
                    <a16:creationId xmlns:a16="http://schemas.microsoft.com/office/drawing/2014/main" id="{E16787CE-ED92-4395-88DB-6957C29C5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8" y="2945"/>
                <a:ext cx="952" cy="485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/>
              <a:lstStyle/>
              <a:p>
                <a:pPr algn="ctr"/>
                <a:r>
                  <a:rPr lang="zh-CN" altLang="en-US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_GB2312" pitchFamily="49" charset="-122"/>
                  </a:rPr>
                  <a:t>教研室</a:t>
                </a:r>
              </a:p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_GB2312" pitchFamily="49" charset="-122"/>
                  </a:rPr>
                  <a:t>(TRS)</a:t>
                </a:r>
              </a:p>
            </p:txBody>
          </p:sp>
          <p:sp>
            <p:nvSpPr>
              <p:cNvPr id="294935" name="Line 23">
                <a:extLst>
                  <a:ext uri="{FF2B5EF4-FFF2-40B4-BE49-F238E27FC236}">
                    <a16:creationId xmlns:a16="http://schemas.microsoft.com/office/drawing/2014/main" id="{0FBFCCD5-17F4-4749-8F66-27E2D3695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897" y="3024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94940" name="AutoShape 28">
            <a:extLst>
              <a:ext uri="{FF2B5EF4-FFF2-40B4-BE49-F238E27FC236}">
                <a16:creationId xmlns:a16="http://schemas.microsoft.com/office/drawing/2014/main" id="{147F20F1-394C-4185-8F89-2F7BD9E22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213100"/>
            <a:ext cx="1943100" cy="863600"/>
          </a:xfrm>
          <a:prstGeom prst="wedgeRoundRectCallout">
            <a:avLst>
              <a:gd name="adj1" fmla="val -136273"/>
              <a:gd name="adj2" fmla="val 98528"/>
              <a:gd name="adj3" fmla="val 16667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部分依赖</a:t>
            </a:r>
          </a:p>
        </p:txBody>
      </p:sp>
      <p:sp>
        <p:nvSpPr>
          <p:cNvPr id="294945" name="Rectangle 33">
            <a:extLst>
              <a:ext uri="{FF2B5EF4-FFF2-40B4-BE49-F238E27FC236}">
                <a16:creationId xmlns:a16="http://schemas.microsoft.com/office/drawing/2014/main" id="{9AC019B7-9056-4782-AB68-B5E5E796B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4946" name="Rectangle 34">
            <a:extLst>
              <a:ext uri="{FF2B5EF4-FFF2-40B4-BE49-F238E27FC236}">
                <a16:creationId xmlns:a16="http://schemas.microsoft.com/office/drawing/2014/main" id="{A779BEC7-E679-47C6-A8B4-F157DBE77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294947" name="AutoShape 35">
            <a:extLst>
              <a:ext uri="{FF2B5EF4-FFF2-40B4-BE49-F238E27FC236}">
                <a16:creationId xmlns:a16="http://schemas.microsoft.com/office/drawing/2014/main" id="{1027ED5D-0466-40EA-A49F-8A07CB252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713" y="4140200"/>
            <a:ext cx="215900" cy="576263"/>
          </a:xfrm>
          <a:prstGeom prst="downArrow">
            <a:avLst>
              <a:gd name="adj1" fmla="val 50000"/>
              <a:gd name="adj2" fmla="val 66728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4941" name="AutoShape 29">
            <a:extLst>
              <a:ext uri="{FF2B5EF4-FFF2-40B4-BE49-F238E27FC236}">
                <a16:creationId xmlns:a16="http://schemas.microsoft.com/office/drawing/2014/main" id="{7780040F-F187-429C-820F-D5A468F32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430588"/>
            <a:ext cx="5832475" cy="1511300"/>
          </a:xfrm>
          <a:prstGeom prst="flowChartDocument">
            <a:avLst/>
          </a:prstGeom>
          <a:solidFill>
            <a:srgbClr val="008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结论：R不是2NF模式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37"/>
    </mc:Choice>
    <mc:Fallback xmlns="">
      <p:transition spd="slow" advTm="208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4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4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91" name="AutoShape 7">
            <a:extLst>
              <a:ext uri="{FF2B5EF4-FFF2-40B4-BE49-F238E27FC236}">
                <a16:creationId xmlns:a16="http://schemas.microsoft.com/office/drawing/2014/main" id="{F6BC11CD-10ED-42A2-BD2F-A3980A170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349500"/>
            <a:ext cx="1296987" cy="647700"/>
          </a:xfrm>
          <a:prstGeom prst="flowChartDelay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思路</a:t>
            </a:r>
          </a:p>
        </p:txBody>
      </p:sp>
      <p:grpSp>
        <p:nvGrpSpPr>
          <p:cNvPr id="426006" name="Group 22">
            <a:extLst>
              <a:ext uri="{FF2B5EF4-FFF2-40B4-BE49-F238E27FC236}">
                <a16:creationId xmlns:a16="http://schemas.microsoft.com/office/drawing/2014/main" id="{E0D38FCB-5836-4A15-9E44-D66FDD70761F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3716338"/>
            <a:ext cx="2808287" cy="2160587"/>
            <a:chOff x="793" y="2297"/>
            <a:chExt cx="1769" cy="1361"/>
          </a:xfrm>
        </p:grpSpPr>
        <p:sp>
          <p:nvSpPr>
            <p:cNvPr id="425993" name="Rectangle 9">
              <a:extLst>
                <a:ext uri="{FF2B5EF4-FFF2-40B4-BE49-F238E27FC236}">
                  <a16:creationId xmlns:a16="http://schemas.microsoft.com/office/drawing/2014/main" id="{5647ACB8-3171-48D6-9161-7014AE100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297"/>
              <a:ext cx="1769" cy="59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r>
                <a:rPr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候选键</a:t>
              </a:r>
            </a:p>
          </p:txBody>
        </p:sp>
        <p:sp>
          <p:nvSpPr>
            <p:cNvPr id="425995" name="Text Box 11">
              <a:extLst>
                <a:ext uri="{FF2B5EF4-FFF2-40B4-BE49-F238E27FC236}">
                  <a16:creationId xmlns:a16="http://schemas.microsoft.com/office/drawing/2014/main" id="{4E9D1C49-6264-49DF-9C75-F2AED2CF7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2382"/>
              <a:ext cx="771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</a:p>
          </p:txBody>
        </p:sp>
        <p:sp>
          <p:nvSpPr>
            <p:cNvPr id="425997" name="Text Box 13">
              <a:extLst>
                <a:ext uri="{FF2B5EF4-FFF2-40B4-BE49-F238E27FC236}">
                  <a16:creationId xmlns:a16="http://schemas.microsoft.com/office/drawing/2014/main" id="{F7E28E3F-3602-4E06-9203-3106557DE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253"/>
              <a:ext cx="771" cy="405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</a:t>
              </a:r>
            </a:p>
          </p:txBody>
        </p:sp>
        <p:sp>
          <p:nvSpPr>
            <p:cNvPr id="425998" name="Line 14">
              <a:extLst>
                <a:ext uri="{FF2B5EF4-FFF2-40B4-BE49-F238E27FC236}">
                  <a16:creationId xmlns:a16="http://schemas.microsoft.com/office/drawing/2014/main" id="{E2751CC5-0CF6-4EEA-AE3E-704F36C19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7" y="2788"/>
              <a:ext cx="0" cy="4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6008" name="Group 24">
            <a:extLst>
              <a:ext uri="{FF2B5EF4-FFF2-40B4-BE49-F238E27FC236}">
                <a16:creationId xmlns:a16="http://schemas.microsoft.com/office/drawing/2014/main" id="{0E03503F-9534-44D8-9A0F-F73239E15CD9}"/>
              </a:ext>
            </a:extLst>
          </p:cNvPr>
          <p:cNvGrpSpPr>
            <a:grpSpLocks/>
          </p:cNvGrpSpPr>
          <p:nvPr/>
        </p:nvGrpSpPr>
        <p:grpSpPr bwMode="auto">
          <a:xfrm>
            <a:off x="7235825" y="3786188"/>
            <a:ext cx="1223963" cy="2025650"/>
            <a:chOff x="4558" y="2341"/>
            <a:chExt cx="771" cy="1276"/>
          </a:xfrm>
        </p:grpSpPr>
        <p:sp>
          <p:nvSpPr>
            <p:cNvPr id="425999" name="Text Box 15">
              <a:extLst>
                <a:ext uri="{FF2B5EF4-FFF2-40B4-BE49-F238E27FC236}">
                  <a16:creationId xmlns:a16="http://schemas.microsoft.com/office/drawing/2014/main" id="{C907F417-5ED7-4C94-8385-B009C33D0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2341"/>
              <a:ext cx="771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</a:p>
          </p:txBody>
        </p:sp>
        <p:sp>
          <p:nvSpPr>
            <p:cNvPr id="426000" name="Text Box 16">
              <a:extLst>
                <a:ext uri="{FF2B5EF4-FFF2-40B4-BE49-F238E27FC236}">
                  <a16:creationId xmlns:a16="http://schemas.microsoft.com/office/drawing/2014/main" id="{F907CF1C-65B8-4F1D-B585-D5CB4DD2B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3212"/>
              <a:ext cx="771" cy="405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</a:t>
              </a:r>
            </a:p>
          </p:txBody>
        </p:sp>
        <p:sp>
          <p:nvSpPr>
            <p:cNvPr id="426001" name="Line 17">
              <a:extLst>
                <a:ext uri="{FF2B5EF4-FFF2-40B4-BE49-F238E27FC236}">
                  <a16:creationId xmlns:a16="http://schemas.microsoft.com/office/drawing/2014/main" id="{48FE00BB-69A3-43B9-898B-E8B905550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2747"/>
              <a:ext cx="0" cy="4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6003" name="Rectangle 19">
            <a:extLst>
              <a:ext uri="{FF2B5EF4-FFF2-40B4-BE49-F238E27FC236}">
                <a16:creationId xmlns:a16="http://schemas.microsoft.com/office/drawing/2014/main" id="{A9F5495F-79B6-4410-9F19-56A27DAB4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427413"/>
            <a:ext cx="3455987" cy="2665412"/>
          </a:xfrm>
          <a:prstGeom prst="rect">
            <a:avLst/>
          </a:prstGeom>
          <a:noFill/>
          <a:ln w="38100">
            <a:solidFill>
              <a:schemeClr val="tx1"/>
            </a:solidFill>
            <a:prstDash val="lgDash"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b"/>
          <a:lstStyle/>
          <a:p>
            <a:r>
              <a:rPr lang="en-US" altLang="zh-CN" sz="2800">
                <a:solidFill>
                  <a:srgbClr val="003399"/>
                </a:solidFill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6005" name="AutoShape 21">
            <a:extLst>
              <a:ext uri="{FF2B5EF4-FFF2-40B4-BE49-F238E27FC236}">
                <a16:creationId xmlns:a16="http://schemas.microsoft.com/office/drawing/2014/main" id="{6797B273-03F2-4BAD-847D-F49EFB472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578350"/>
            <a:ext cx="504825" cy="288925"/>
          </a:xfrm>
          <a:prstGeom prst="rightArrow">
            <a:avLst>
              <a:gd name="adj1" fmla="val 50000"/>
              <a:gd name="adj2" fmla="val 43681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6010" name="Group 26">
            <a:extLst>
              <a:ext uri="{FF2B5EF4-FFF2-40B4-BE49-F238E27FC236}">
                <a16:creationId xmlns:a16="http://schemas.microsoft.com/office/drawing/2014/main" id="{1085721E-34F9-473C-8B8E-B990CC937229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427413"/>
            <a:ext cx="1944688" cy="2665412"/>
            <a:chOff x="3152" y="2159"/>
            <a:chExt cx="1225" cy="1679"/>
          </a:xfrm>
        </p:grpSpPr>
        <p:sp>
          <p:nvSpPr>
            <p:cNvPr id="426002" name="Rectangle 18">
              <a:extLst>
                <a:ext uri="{FF2B5EF4-FFF2-40B4-BE49-F238E27FC236}">
                  <a16:creationId xmlns:a16="http://schemas.microsoft.com/office/drawing/2014/main" id="{26E95CEE-D7FA-4E96-B172-334E7394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2295"/>
              <a:ext cx="997" cy="999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r>
                <a:rPr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候选键</a:t>
              </a:r>
            </a:p>
          </p:txBody>
        </p:sp>
        <p:sp>
          <p:nvSpPr>
            <p:cNvPr id="426004" name="Rectangle 20">
              <a:extLst>
                <a:ext uri="{FF2B5EF4-FFF2-40B4-BE49-F238E27FC236}">
                  <a16:creationId xmlns:a16="http://schemas.microsoft.com/office/drawing/2014/main" id="{49B52ACE-0C49-4E3D-86C1-C08B84661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2159"/>
              <a:ext cx="1225" cy="167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lgDash"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b"/>
            <a:lstStyle/>
            <a:p>
              <a:endParaRPr lang="en-US" altLang="zh-CN" sz="2800">
                <a:solidFill>
                  <a:srgbClr val="00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26009" name="Text Box 25">
              <a:extLst>
                <a:ext uri="{FF2B5EF4-FFF2-40B4-BE49-F238E27FC236}">
                  <a16:creationId xmlns:a16="http://schemas.microsoft.com/office/drawing/2014/main" id="{4F106391-B438-4B02-AD6C-CD6976F2F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750"/>
              <a:ext cx="771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</a:p>
          </p:txBody>
        </p:sp>
      </p:grpSp>
      <p:sp>
        <p:nvSpPr>
          <p:cNvPr id="426011" name="Rectangle 27">
            <a:extLst>
              <a:ext uri="{FF2B5EF4-FFF2-40B4-BE49-F238E27FC236}">
                <a16:creationId xmlns:a16="http://schemas.microsoft.com/office/drawing/2014/main" id="{6E8BD55C-2176-455B-B03F-2A6E3ABCB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426012" name="Rectangle 28">
            <a:extLst>
              <a:ext uri="{FF2B5EF4-FFF2-40B4-BE49-F238E27FC236}">
                <a16:creationId xmlns:a16="http://schemas.microsoft.com/office/drawing/2014/main" id="{CC88EED1-DCBD-46DA-AAEE-DF7F1B7FC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、方法：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将关系模式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分解成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2NF</a:t>
            </a:r>
            <a:r>
              <a:rPr lang="zh-CN" altLang="en-US">
                <a:solidFill>
                  <a:schemeClr val="tx2"/>
                </a:solidFill>
                <a:latin typeface="楷体_GB2312" pitchFamily="49" charset="-122"/>
                <a:cs typeface="Times New Roman" panose="02020603050405020304" pitchFamily="18" charset="0"/>
              </a:rPr>
              <a:t>模式集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515"/>
    </mc:Choice>
    <mc:Fallback xmlns="">
      <p:transition spd="slow" advTm="485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6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4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1" grpId="0" animBg="1"/>
      <p:bldP spid="426003" grpId="0" animBg="1"/>
      <p:bldP spid="42601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155" name="Group 19">
            <a:extLst>
              <a:ext uri="{FF2B5EF4-FFF2-40B4-BE49-F238E27FC236}">
                <a16:creationId xmlns:a16="http://schemas.microsoft.com/office/drawing/2014/main" id="{CCEA0228-2BCD-4E64-977A-5D7271C9AAEB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141663"/>
            <a:ext cx="6696075" cy="2144712"/>
            <a:chOff x="975" y="2115"/>
            <a:chExt cx="4218" cy="1351"/>
          </a:xfrm>
        </p:grpSpPr>
        <p:grpSp>
          <p:nvGrpSpPr>
            <p:cNvPr id="475140" name="Group 4">
              <a:extLst>
                <a:ext uri="{FF2B5EF4-FFF2-40B4-BE49-F238E27FC236}">
                  <a16:creationId xmlns:a16="http://schemas.microsoft.com/office/drawing/2014/main" id="{C0E0BCAA-79DE-4A76-B48C-C2361AE66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" y="2115"/>
              <a:ext cx="2594" cy="598"/>
              <a:chOff x="1438" y="2115"/>
              <a:chExt cx="2222" cy="598"/>
            </a:xfrm>
          </p:grpSpPr>
          <p:sp>
            <p:nvSpPr>
              <p:cNvPr id="475141" name="Rectangle 5">
                <a:extLst>
                  <a:ext uri="{FF2B5EF4-FFF2-40B4-BE49-F238E27FC236}">
                    <a16:creationId xmlns:a16="http://schemas.microsoft.com/office/drawing/2014/main" id="{C67E4E1C-2A62-4C09-B5E6-F5612F3BB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" y="2115"/>
                <a:ext cx="2222" cy="598"/>
              </a:xfrm>
              <a:prstGeom prst="rect">
                <a:avLst/>
              </a:prstGeom>
              <a:solidFill>
                <a:srgbClr val="CCFF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5142" name="Text Box 6">
                <a:extLst>
                  <a:ext uri="{FF2B5EF4-FFF2-40B4-BE49-F238E27FC236}">
                    <a16:creationId xmlns:a16="http://schemas.microsoft.com/office/drawing/2014/main" id="{CD028182-80F8-48FE-A994-B1174E6A46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2200"/>
                <a:ext cx="952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学号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(S#)</a:t>
                </a:r>
              </a:p>
            </p:txBody>
          </p:sp>
          <p:sp>
            <p:nvSpPr>
              <p:cNvPr id="475143" name="Text Box 7">
                <a:extLst>
                  <a:ext uri="{FF2B5EF4-FFF2-40B4-BE49-F238E27FC236}">
                    <a16:creationId xmlns:a16="http://schemas.microsoft.com/office/drawing/2014/main" id="{E37DE4C5-5BF0-48D3-85E7-6F38F34DDB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8" y="2200"/>
                <a:ext cx="952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课程号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(C#)</a:t>
                </a:r>
              </a:p>
            </p:txBody>
          </p:sp>
        </p:grpSp>
        <p:grpSp>
          <p:nvGrpSpPr>
            <p:cNvPr id="475144" name="Group 8">
              <a:extLst>
                <a:ext uri="{FF2B5EF4-FFF2-40B4-BE49-F238E27FC236}">
                  <a16:creationId xmlns:a16="http://schemas.microsoft.com/office/drawing/2014/main" id="{767C47AA-54A4-446D-89D7-685F89B544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2718"/>
              <a:ext cx="1225" cy="655"/>
              <a:chOff x="1383" y="2718"/>
              <a:chExt cx="998" cy="655"/>
            </a:xfrm>
          </p:grpSpPr>
          <p:sp>
            <p:nvSpPr>
              <p:cNvPr id="475145" name="Text Box 9">
                <a:extLst>
                  <a:ext uri="{FF2B5EF4-FFF2-40B4-BE49-F238E27FC236}">
                    <a16:creationId xmlns:a16="http://schemas.microsoft.com/office/drawing/2014/main" id="{98E961B7-BF59-490F-AE83-4317C38617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2967"/>
                <a:ext cx="998" cy="406"/>
              </a:xfrm>
              <a:prstGeom prst="rect">
                <a:avLst/>
              </a:prstGeom>
              <a:solidFill>
                <a:srgbClr val="FF99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成绩</a:t>
                </a:r>
                <a:r>
                  <a:rPr lang="en-US" altLang="zh-CN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(GRADE)</a:t>
                </a:r>
              </a:p>
            </p:txBody>
          </p:sp>
          <p:sp>
            <p:nvSpPr>
              <p:cNvPr id="475146" name="Line 10">
                <a:extLst>
                  <a:ext uri="{FF2B5EF4-FFF2-40B4-BE49-F238E27FC236}">
                    <a16:creationId xmlns:a16="http://schemas.microsoft.com/office/drawing/2014/main" id="{4C2ADEEA-14F0-4F1C-94EA-4D6D5CEA6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718"/>
                <a:ext cx="0" cy="24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5147" name="Group 11">
              <a:extLst>
                <a:ext uri="{FF2B5EF4-FFF2-40B4-BE49-F238E27FC236}">
                  <a16:creationId xmlns:a16="http://schemas.microsoft.com/office/drawing/2014/main" id="{71742DD3-CDFE-4946-B7A5-CE764032DA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5" y="2606"/>
              <a:ext cx="1429" cy="767"/>
              <a:chOff x="2490" y="2606"/>
              <a:chExt cx="1224" cy="767"/>
            </a:xfrm>
          </p:grpSpPr>
          <p:sp>
            <p:nvSpPr>
              <p:cNvPr id="475148" name="Text Box 12">
                <a:extLst>
                  <a:ext uri="{FF2B5EF4-FFF2-40B4-BE49-F238E27FC236}">
                    <a16:creationId xmlns:a16="http://schemas.microsoft.com/office/drawing/2014/main" id="{B3BFBF6B-6C00-4581-BEE3-075484D5F8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0" y="2968"/>
                <a:ext cx="1224" cy="405"/>
              </a:xfrm>
              <a:prstGeom prst="rect">
                <a:avLst/>
              </a:prstGeom>
              <a:solidFill>
                <a:srgbClr val="FF99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教师名</a:t>
                </a:r>
                <a:r>
                  <a:rPr lang="en-US" altLang="zh-CN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(TNAME)</a:t>
                </a:r>
              </a:p>
            </p:txBody>
          </p:sp>
          <p:sp>
            <p:nvSpPr>
              <p:cNvPr id="475149" name="Line 13">
                <a:extLst>
                  <a:ext uri="{FF2B5EF4-FFF2-40B4-BE49-F238E27FC236}">
                    <a16:creationId xmlns:a16="http://schemas.microsoft.com/office/drawing/2014/main" id="{8F722C73-27D5-4D1E-9960-4360C772F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2606"/>
                <a:ext cx="0" cy="36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5150" name="Group 14">
              <a:extLst>
                <a:ext uri="{FF2B5EF4-FFF2-40B4-BE49-F238E27FC236}">
                  <a16:creationId xmlns:a16="http://schemas.microsoft.com/office/drawing/2014/main" id="{A7014CA8-CCC4-4313-9E5A-ECCCD3599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8" y="2876"/>
              <a:ext cx="1475" cy="590"/>
              <a:chOff x="3727" y="2945"/>
              <a:chExt cx="1303" cy="485"/>
            </a:xfrm>
          </p:grpSpPr>
          <p:sp>
            <p:nvSpPr>
              <p:cNvPr id="475151" name="Text Box 15">
                <a:extLst>
                  <a:ext uri="{FF2B5EF4-FFF2-40B4-BE49-F238E27FC236}">
                    <a16:creationId xmlns:a16="http://schemas.microsoft.com/office/drawing/2014/main" id="{F9A523F3-3C72-4327-97DD-C924A9C20C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8" y="2945"/>
                <a:ext cx="952" cy="485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/>
              <a:lstStyle/>
              <a:p>
                <a:pPr algn="ctr"/>
                <a:r>
                  <a:rPr lang="zh-CN" altLang="en-US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_GB2312" pitchFamily="49" charset="-122"/>
                  </a:rPr>
                  <a:t>教研室</a:t>
                </a:r>
              </a:p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_GB2312" pitchFamily="49" charset="-122"/>
                  </a:rPr>
                  <a:t>(TRS)</a:t>
                </a:r>
              </a:p>
            </p:txBody>
          </p:sp>
          <p:sp>
            <p:nvSpPr>
              <p:cNvPr id="475152" name="Line 16">
                <a:extLst>
                  <a:ext uri="{FF2B5EF4-FFF2-40B4-BE49-F238E27FC236}">
                    <a16:creationId xmlns:a16="http://schemas.microsoft.com/office/drawing/2014/main" id="{2BE6A1BB-363A-4078-A5F7-CA431A0EB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897" y="3024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75157" name="Text Box 21">
            <a:extLst>
              <a:ext uri="{FF2B5EF4-FFF2-40B4-BE49-F238E27FC236}">
                <a16:creationId xmlns:a16="http://schemas.microsoft.com/office/drawing/2014/main" id="{8871410E-1EDD-42E7-B637-FDE9A8AD3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938" y="5445125"/>
            <a:ext cx="3568700" cy="457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C#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TNAME</a:t>
            </a:r>
            <a:r>
              <a:rPr lang="zh-CN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C#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TRS</a:t>
            </a:r>
            <a:endParaRPr lang="zh-CN" altLang="en-US" sz="24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5159" name="AutoShape 23">
            <a:extLst>
              <a:ext uri="{FF2B5EF4-FFF2-40B4-BE49-F238E27FC236}">
                <a16:creationId xmlns:a16="http://schemas.microsoft.com/office/drawing/2014/main" id="{078AD349-0795-4226-B6E8-6FDFD2BE3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3933825"/>
            <a:ext cx="215900" cy="574675"/>
          </a:xfrm>
          <a:prstGeom prst="downArrow">
            <a:avLst>
              <a:gd name="adj1" fmla="val 50000"/>
              <a:gd name="adj2" fmla="val 6654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60" name="AutoShape 24">
            <a:extLst>
              <a:ext uri="{FF2B5EF4-FFF2-40B4-BE49-F238E27FC236}">
                <a16:creationId xmlns:a16="http://schemas.microsoft.com/office/drawing/2014/main" id="{1EB0A35B-FFD3-47E0-A124-E2A8EF2AC0B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121401" y="4546600"/>
            <a:ext cx="215900" cy="574675"/>
          </a:xfrm>
          <a:prstGeom prst="downArrow">
            <a:avLst>
              <a:gd name="adj1" fmla="val 50000"/>
              <a:gd name="adj2" fmla="val 6654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5161" name="Text Box 25">
            <a:extLst>
              <a:ext uri="{FF2B5EF4-FFF2-40B4-BE49-F238E27FC236}">
                <a16:creationId xmlns:a16="http://schemas.microsoft.com/office/drawing/2014/main" id="{00FB6B12-0B30-4EF5-8AB1-B7AF26439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995988"/>
            <a:ext cx="3282950" cy="457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C#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{ 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TNAME</a:t>
            </a:r>
            <a:r>
              <a:rPr lang="zh-CN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TRS</a:t>
            </a: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 }</a:t>
            </a:r>
            <a:endParaRPr lang="zh-CN" altLang="en-US" sz="24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5164" name="Rectangle 28">
            <a:extLst>
              <a:ext uri="{FF2B5EF4-FFF2-40B4-BE49-F238E27FC236}">
                <a16:creationId xmlns:a16="http://schemas.microsoft.com/office/drawing/2014/main" id="{69A0C6DA-5D0E-4EFF-8CC6-B1814D49E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5165" name="Rectangle 29">
            <a:extLst>
              <a:ext uri="{FF2B5EF4-FFF2-40B4-BE49-F238E27FC236}">
                <a16:creationId xmlns:a16="http://schemas.microsoft.com/office/drawing/2014/main" id="{86FCBD3F-1621-48AC-BC8E-93BD92B84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14"/>
    </mc:Choice>
    <mc:Fallback xmlns="">
      <p:transition spd="slow" advTm="472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7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7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5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5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7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5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5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57" grpId="0"/>
      <p:bldP spid="4751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164" name="Group 4">
            <a:extLst>
              <a:ext uri="{FF2B5EF4-FFF2-40B4-BE49-F238E27FC236}">
                <a16:creationId xmlns:a16="http://schemas.microsoft.com/office/drawing/2014/main" id="{37C6197B-7C6E-4220-B1C1-D0E9C658765D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141663"/>
            <a:ext cx="6696075" cy="2144712"/>
            <a:chOff x="975" y="2115"/>
            <a:chExt cx="4218" cy="1351"/>
          </a:xfrm>
        </p:grpSpPr>
        <p:grpSp>
          <p:nvGrpSpPr>
            <p:cNvPr id="476165" name="Group 5">
              <a:extLst>
                <a:ext uri="{FF2B5EF4-FFF2-40B4-BE49-F238E27FC236}">
                  <a16:creationId xmlns:a16="http://schemas.microsoft.com/office/drawing/2014/main" id="{92776838-309F-44E8-B4E9-F8D674EAFD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" y="2115"/>
              <a:ext cx="2594" cy="598"/>
              <a:chOff x="1438" y="2115"/>
              <a:chExt cx="2222" cy="598"/>
            </a:xfrm>
          </p:grpSpPr>
          <p:sp>
            <p:nvSpPr>
              <p:cNvPr id="476166" name="Rectangle 6">
                <a:extLst>
                  <a:ext uri="{FF2B5EF4-FFF2-40B4-BE49-F238E27FC236}">
                    <a16:creationId xmlns:a16="http://schemas.microsoft.com/office/drawing/2014/main" id="{EDE9CAD1-D49C-4266-B2FE-CC9A005F4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" y="2115"/>
                <a:ext cx="2222" cy="598"/>
              </a:xfrm>
              <a:prstGeom prst="rect">
                <a:avLst/>
              </a:prstGeom>
              <a:solidFill>
                <a:srgbClr val="CCFF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167" name="Text Box 7">
                <a:extLst>
                  <a:ext uri="{FF2B5EF4-FFF2-40B4-BE49-F238E27FC236}">
                    <a16:creationId xmlns:a16="http://schemas.microsoft.com/office/drawing/2014/main" id="{54B24AAA-40AC-4050-84B4-4024B486E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2200"/>
                <a:ext cx="952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学号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(S#)</a:t>
                </a:r>
              </a:p>
            </p:txBody>
          </p:sp>
          <p:sp>
            <p:nvSpPr>
              <p:cNvPr id="476168" name="Text Box 8">
                <a:extLst>
                  <a:ext uri="{FF2B5EF4-FFF2-40B4-BE49-F238E27FC236}">
                    <a16:creationId xmlns:a16="http://schemas.microsoft.com/office/drawing/2014/main" id="{10E02C01-AE90-4B67-9336-F9AFDB89F3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8" y="2200"/>
                <a:ext cx="952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课程号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(C#)</a:t>
                </a:r>
              </a:p>
            </p:txBody>
          </p:sp>
        </p:grpSp>
        <p:grpSp>
          <p:nvGrpSpPr>
            <p:cNvPr id="476169" name="Group 9">
              <a:extLst>
                <a:ext uri="{FF2B5EF4-FFF2-40B4-BE49-F238E27FC236}">
                  <a16:creationId xmlns:a16="http://schemas.microsoft.com/office/drawing/2014/main" id="{0CC3911B-7E9C-41CC-BFC0-042FBCC3ED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2718"/>
              <a:ext cx="1225" cy="655"/>
              <a:chOff x="1383" y="2718"/>
              <a:chExt cx="998" cy="655"/>
            </a:xfrm>
          </p:grpSpPr>
          <p:sp>
            <p:nvSpPr>
              <p:cNvPr id="476170" name="Text Box 10">
                <a:extLst>
                  <a:ext uri="{FF2B5EF4-FFF2-40B4-BE49-F238E27FC236}">
                    <a16:creationId xmlns:a16="http://schemas.microsoft.com/office/drawing/2014/main" id="{EDB26EDC-AAD5-458E-B42E-BA8C1574BA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2967"/>
                <a:ext cx="998" cy="406"/>
              </a:xfrm>
              <a:prstGeom prst="rect">
                <a:avLst/>
              </a:prstGeom>
              <a:solidFill>
                <a:srgbClr val="FF99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成绩</a:t>
                </a:r>
                <a:r>
                  <a:rPr lang="en-US" altLang="zh-CN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(GRADE)</a:t>
                </a:r>
              </a:p>
            </p:txBody>
          </p:sp>
          <p:sp>
            <p:nvSpPr>
              <p:cNvPr id="476171" name="Line 11">
                <a:extLst>
                  <a:ext uri="{FF2B5EF4-FFF2-40B4-BE49-F238E27FC236}">
                    <a16:creationId xmlns:a16="http://schemas.microsoft.com/office/drawing/2014/main" id="{05383F0B-C6EB-41B2-BFD6-4F33E5758C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718"/>
                <a:ext cx="0" cy="24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6172" name="Group 12">
              <a:extLst>
                <a:ext uri="{FF2B5EF4-FFF2-40B4-BE49-F238E27FC236}">
                  <a16:creationId xmlns:a16="http://schemas.microsoft.com/office/drawing/2014/main" id="{C9B5B445-6AE8-48D1-BD7F-19000B5BD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5" y="2606"/>
              <a:ext cx="1429" cy="767"/>
              <a:chOff x="2490" y="2606"/>
              <a:chExt cx="1224" cy="767"/>
            </a:xfrm>
          </p:grpSpPr>
          <p:sp>
            <p:nvSpPr>
              <p:cNvPr id="476173" name="Text Box 13">
                <a:extLst>
                  <a:ext uri="{FF2B5EF4-FFF2-40B4-BE49-F238E27FC236}">
                    <a16:creationId xmlns:a16="http://schemas.microsoft.com/office/drawing/2014/main" id="{11FC6A4E-553E-4749-8F83-A0C858017B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0" y="2968"/>
                <a:ext cx="1224" cy="405"/>
              </a:xfrm>
              <a:prstGeom prst="rect">
                <a:avLst/>
              </a:prstGeom>
              <a:solidFill>
                <a:srgbClr val="FF99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教师名</a:t>
                </a:r>
                <a:r>
                  <a:rPr lang="en-US" altLang="zh-CN" sz="24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(TNAME)</a:t>
                </a:r>
              </a:p>
            </p:txBody>
          </p:sp>
          <p:sp>
            <p:nvSpPr>
              <p:cNvPr id="476174" name="Line 14">
                <a:extLst>
                  <a:ext uri="{FF2B5EF4-FFF2-40B4-BE49-F238E27FC236}">
                    <a16:creationId xmlns:a16="http://schemas.microsoft.com/office/drawing/2014/main" id="{96B6F608-D3C3-4886-8340-CA94DA320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2606"/>
                <a:ext cx="0" cy="36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6175" name="Group 15">
              <a:extLst>
                <a:ext uri="{FF2B5EF4-FFF2-40B4-BE49-F238E27FC236}">
                  <a16:creationId xmlns:a16="http://schemas.microsoft.com/office/drawing/2014/main" id="{FF594512-3B37-4C37-8FE9-BB81ABDA5E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8" y="2876"/>
              <a:ext cx="1475" cy="590"/>
              <a:chOff x="3727" y="2945"/>
              <a:chExt cx="1303" cy="485"/>
            </a:xfrm>
          </p:grpSpPr>
          <p:sp>
            <p:nvSpPr>
              <p:cNvPr id="476176" name="Text Box 16">
                <a:extLst>
                  <a:ext uri="{FF2B5EF4-FFF2-40B4-BE49-F238E27FC236}">
                    <a16:creationId xmlns:a16="http://schemas.microsoft.com/office/drawing/2014/main" id="{FB68B346-3688-43A9-B773-9911503322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8" y="2945"/>
                <a:ext cx="952" cy="485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/>
              <a:lstStyle/>
              <a:p>
                <a:pPr algn="ctr"/>
                <a:r>
                  <a:rPr lang="zh-CN" altLang="en-US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_GB2312" pitchFamily="49" charset="-122"/>
                  </a:rPr>
                  <a:t>教研室</a:t>
                </a:r>
              </a:p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_GB2312" pitchFamily="49" charset="-122"/>
                  </a:rPr>
                  <a:t>(TRS)</a:t>
                </a:r>
              </a:p>
            </p:txBody>
          </p:sp>
          <p:sp>
            <p:nvSpPr>
              <p:cNvPr id="476177" name="Line 17">
                <a:extLst>
                  <a:ext uri="{FF2B5EF4-FFF2-40B4-BE49-F238E27FC236}">
                    <a16:creationId xmlns:a16="http://schemas.microsoft.com/office/drawing/2014/main" id="{CE42E12B-9E87-4061-A9E0-D3F45DF7D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897" y="3024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ffectLst>
                <a:outerShdw dist="3592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76178" name="Freeform 18">
            <a:extLst>
              <a:ext uri="{FF2B5EF4-FFF2-40B4-BE49-F238E27FC236}">
                <a16:creationId xmlns:a16="http://schemas.microsoft.com/office/drawing/2014/main" id="{F427E0F3-629C-44C8-BBF0-ACC9E67F99BB}"/>
              </a:ext>
            </a:extLst>
          </p:cNvPr>
          <p:cNvSpPr>
            <a:spLocks/>
          </p:cNvSpPr>
          <p:nvPr/>
        </p:nvSpPr>
        <p:spPr bwMode="auto">
          <a:xfrm>
            <a:off x="3370263" y="2613025"/>
            <a:ext cx="5665787" cy="3189288"/>
          </a:xfrm>
          <a:custGeom>
            <a:avLst/>
            <a:gdLst>
              <a:gd name="T0" fmla="*/ 272 w 3695"/>
              <a:gd name="T1" fmla="*/ 1773 h 2009"/>
              <a:gd name="T2" fmla="*/ 3356 w 3695"/>
              <a:gd name="T3" fmla="*/ 1784 h 2009"/>
              <a:gd name="T4" fmla="*/ 2310 w 3695"/>
              <a:gd name="T5" fmla="*/ 423 h 2009"/>
              <a:gd name="T6" fmla="*/ 347 w 3695"/>
              <a:gd name="T7" fmla="*/ 106 h 2009"/>
              <a:gd name="T8" fmla="*/ 227 w 3695"/>
              <a:gd name="T9" fmla="*/ 1051 h 2009"/>
              <a:gd name="T10" fmla="*/ 117 w 3695"/>
              <a:gd name="T11" fmla="*/ 1627 h 2009"/>
              <a:gd name="T12" fmla="*/ 272 w 3695"/>
              <a:gd name="T13" fmla="*/ 1773 h 2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95" h="2009">
                <a:moveTo>
                  <a:pt x="272" y="1773"/>
                </a:moveTo>
                <a:cubicBezTo>
                  <a:pt x="786" y="1773"/>
                  <a:pt x="3017" y="2009"/>
                  <a:pt x="3356" y="1784"/>
                </a:cubicBezTo>
                <a:cubicBezTo>
                  <a:pt x="3695" y="1559"/>
                  <a:pt x="2818" y="703"/>
                  <a:pt x="2310" y="423"/>
                </a:cubicBezTo>
                <a:cubicBezTo>
                  <a:pt x="1801" y="143"/>
                  <a:pt x="674" y="0"/>
                  <a:pt x="347" y="106"/>
                </a:cubicBezTo>
                <a:cubicBezTo>
                  <a:pt x="0" y="211"/>
                  <a:pt x="265" y="798"/>
                  <a:pt x="227" y="1051"/>
                </a:cubicBezTo>
                <a:cubicBezTo>
                  <a:pt x="189" y="1304"/>
                  <a:pt x="110" y="1507"/>
                  <a:pt x="117" y="1627"/>
                </a:cubicBezTo>
                <a:cubicBezTo>
                  <a:pt x="124" y="1747"/>
                  <a:pt x="240" y="1743"/>
                  <a:pt x="272" y="1773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80" name="Freeform 20">
            <a:extLst>
              <a:ext uri="{FF2B5EF4-FFF2-40B4-BE49-F238E27FC236}">
                <a16:creationId xmlns:a16="http://schemas.microsoft.com/office/drawing/2014/main" id="{97F1EA3F-1FBD-42A4-95E5-A2E8C77AB0AB}"/>
              </a:ext>
            </a:extLst>
          </p:cNvPr>
          <p:cNvSpPr>
            <a:spLocks/>
          </p:cNvSpPr>
          <p:nvPr/>
        </p:nvSpPr>
        <p:spPr bwMode="auto">
          <a:xfrm>
            <a:off x="768350" y="2576513"/>
            <a:ext cx="5483225" cy="2963862"/>
          </a:xfrm>
          <a:custGeom>
            <a:avLst/>
            <a:gdLst>
              <a:gd name="T0" fmla="*/ 446 w 3454"/>
              <a:gd name="T1" fmla="*/ 219 h 1867"/>
              <a:gd name="T2" fmla="*/ 264 w 3454"/>
              <a:gd name="T3" fmla="*/ 1490 h 1867"/>
              <a:gd name="T4" fmla="*/ 1716 w 3454"/>
              <a:gd name="T5" fmla="*/ 1807 h 1867"/>
              <a:gd name="T6" fmla="*/ 1761 w 3454"/>
              <a:gd name="T7" fmla="*/ 1127 h 1867"/>
              <a:gd name="T8" fmla="*/ 3258 w 3454"/>
              <a:gd name="T9" fmla="*/ 945 h 1867"/>
              <a:gd name="T10" fmla="*/ 2940 w 3454"/>
              <a:gd name="T11" fmla="*/ 174 h 1867"/>
              <a:gd name="T12" fmla="*/ 446 w 3454"/>
              <a:gd name="T13" fmla="*/ 219 h 1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54" h="1867">
                <a:moveTo>
                  <a:pt x="446" y="219"/>
                </a:moveTo>
                <a:cubicBezTo>
                  <a:pt x="0" y="438"/>
                  <a:pt x="52" y="1225"/>
                  <a:pt x="264" y="1490"/>
                </a:cubicBezTo>
                <a:cubicBezTo>
                  <a:pt x="476" y="1755"/>
                  <a:pt x="1466" y="1867"/>
                  <a:pt x="1716" y="1807"/>
                </a:cubicBezTo>
                <a:cubicBezTo>
                  <a:pt x="1966" y="1747"/>
                  <a:pt x="1504" y="1271"/>
                  <a:pt x="1761" y="1127"/>
                </a:cubicBezTo>
                <a:cubicBezTo>
                  <a:pt x="2018" y="983"/>
                  <a:pt x="3062" y="1104"/>
                  <a:pt x="3258" y="945"/>
                </a:cubicBezTo>
                <a:cubicBezTo>
                  <a:pt x="3454" y="786"/>
                  <a:pt x="3409" y="302"/>
                  <a:pt x="2940" y="174"/>
                </a:cubicBezTo>
                <a:cubicBezTo>
                  <a:pt x="2471" y="46"/>
                  <a:pt x="892" y="0"/>
                  <a:pt x="446" y="219"/>
                </a:cubicBez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81" name="AutoShape 21">
            <a:extLst>
              <a:ext uri="{FF2B5EF4-FFF2-40B4-BE49-F238E27FC236}">
                <a16:creationId xmlns:a16="http://schemas.microsoft.com/office/drawing/2014/main" id="{EE2ADA8F-AF95-41C1-B590-D3410D900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734050"/>
            <a:ext cx="1368425" cy="863600"/>
          </a:xfrm>
          <a:prstGeom prst="wedgeRoundRectCallout">
            <a:avLst>
              <a:gd name="adj1" fmla="val 39560"/>
              <a:gd name="adj2" fmla="val -87500"/>
              <a:gd name="adj3" fmla="val 16667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76182" name="AutoShape 22">
            <a:extLst>
              <a:ext uri="{FF2B5EF4-FFF2-40B4-BE49-F238E27FC236}">
                <a16:creationId xmlns:a16="http://schemas.microsoft.com/office/drawing/2014/main" id="{BAB45B84-2DF7-46A9-B366-B66FD764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34050"/>
            <a:ext cx="1368425" cy="863600"/>
          </a:xfrm>
          <a:prstGeom prst="wedgeRoundRectCallout">
            <a:avLst>
              <a:gd name="adj1" fmla="val 42806"/>
              <a:gd name="adj2" fmla="val -69116"/>
              <a:gd name="adj3" fmla="val 16667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476183" name="Rectangle 23">
            <a:extLst>
              <a:ext uri="{FF2B5EF4-FFF2-40B4-BE49-F238E27FC236}">
                <a16:creationId xmlns:a16="http://schemas.microsoft.com/office/drawing/2014/main" id="{80D1E288-02AA-419B-B3C0-5E52BEB53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6184" name="Rectangle 24">
            <a:extLst>
              <a:ext uri="{FF2B5EF4-FFF2-40B4-BE49-F238E27FC236}">
                <a16:creationId xmlns:a16="http://schemas.microsoft.com/office/drawing/2014/main" id="{11EF2AA9-21AD-4B77-A3D2-1EFF383FC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476185" name="AutoShape 25">
            <a:extLst>
              <a:ext uri="{FF2B5EF4-FFF2-40B4-BE49-F238E27FC236}">
                <a16:creationId xmlns:a16="http://schemas.microsoft.com/office/drawing/2014/main" id="{9DD10280-DEB7-4060-B983-48097222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3933825"/>
            <a:ext cx="215900" cy="574675"/>
          </a:xfrm>
          <a:prstGeom prst="downArrow">
            <a:avLst>
              <a:gd name="adj1" fmla="val 50000"/>
              <a:gd name="adj2" fmla="val 6654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6186" name="AutoShape 26">
            <a:extLst>
              <a:ext uri="{FF2B5EF4-FFF2-40B4-BE49-F238E27FC236}">
                <a16:creationId xmlns:a16="http://schemas.microsoft.com/office/drawing/2014/main" id="{ADA5CA27-C75C-4DD4-96D7-9E6428F036A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121401" y="4546600"/>
            <a:ext cx="215900" cy="574675"/>
          </a:xfrm>
          <a:prstGeom prst="downArrow">
            <a:avLst>
              <a:gd name="adj1" fmla="val 50000"/>
              <a:gd name="adj2" fmla="val 6654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16"/>
    </mc:Choice>
    <mc:Fallback xmlns="">
      <p:transition spd="slow" advTm="37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81" grpId="0" animBg="1"/>
      <p:bldP spid="47618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06" name="Rectangle 22">
            <a:extLst>
              <a:ext uri="{FF2B5EF4-FFF2-40B4-BE49-F238E27FC236}">
                <a16:creationId xmlns:a16="http://schemas.microsoft.com/office/drawing/2014/main" id="{02F209A2-081C-41A1-8130-2C72F32D5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R=(S#,C#,GRADE,TNAME,TRS),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pt-BR" altLang="zh-CN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R</a:t>
            </a:r>
            <a:r>
              <a:rPr lang="pt-BR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S#,C#,GRADE</a:t>
            </a:r>
            <a:r>
              <a:rPr lang="zh-CN" altLang="pt-BR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,F</a:t>
            </a:r>
            <a:r>
              <a:rPr lang="pt-BR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={(S#,C#)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GRADE}</a:t>
            </a:r>
          </a:p>
          <a:p>
            <a:pPr algn="just"/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R</a:t>
            </a:r>
            <a:r>
              <a:rPr lang="pt-BR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C#,TNAME,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r>
              <a:rPr lang="zh-CN" altLang="pt-BR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</a:p>
          <a:p>
            <a:pPr algn="just"/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F</a:t>
            </a:r>
            <a:r>
              <a:rPr lang="pt-BR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r>
              <a:rPr lang="pt-BR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7204" name="AutoShape 20">
            <a:extLst>
              <a:ext uri="{FF2B5EF4-FFF2-40B4-BE49-F238E27FC236}">
                <a16:creationId xmlns:a16="http://schemas.microsoft.com/office/drawing/2014/main" id="{17A8B6CF-782B-416A-9E6A-804BEE052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716338"/>
            <a:ext cx="5832475" cy="1511300"/>
          </a:xfrm>
          <a:prstGeom prst="flowChartDocument">
            <a:avLst/>
          </a:prstGeom>
          <a:solidFill>
            <a:srgbClr val="008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结论：R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2NF模式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7205" name="Rectangle 21">
            <a:extLst>
              <a:ext uri="{FF2B5EF4-FFF2-40B4-BE49-F238E27FC236}">
                <a16:creationId xmlns:a16="http://schemas.microsoft.com/office/drawing/2014/main" id="{01D83879-B42D-4FFA-95CB-CEBF0D4AC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173"/>
    </mc:Choice>
    <mc:Fallback xmlns="">
      <p:transition spd="slow" advTm="54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7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77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77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77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7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206" grpId="0" uiExpand="1" build="p"/>
      <p:bldP spid="47720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4801" name="Group 513">
            <a:extLst>
              <a:ext uri="{FF2B5EF4-FFF2-40B4-BE49-F238E27FC236}">
                <a16:creationId xmlns:a16="http://schemas.microsoft.com/office/drawing/2014/main" id="{FE098441-C57D-43BB-8CE4-B929AACCDEA6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3197225"/>
          <a:ext cx="3983038" cy="3368425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901491184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1452292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821926398"/>
                    </a:ext>
                  </a:extLst>
                </a:gridCol>
              </a:tblGrid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492994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122128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400229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197542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218937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630379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290167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33615"/>
                  </a:ext>
                </a:extLst>
              </a:tr>
            </a:tbl>
          </a:graphicData>
        </a:graphic>
      </p:graphicFrame>
      <p:graphicFrame>
        <p:nvGraphicFramePr>
          <p:cNvPr id="524802" name="Group 514">
            <a:extLst>
              <a:ext uri="{FF2B5EF4-FFF2-40B4-BE49-F238E27FC236}">
                <a16:creationId xmlns:a16="http://schemas.microsoft.com/office/drawing/2014/main" id="{054EE05A-7495-4BF3-86B9-82E55437DBE2}"/>
              </a:ext>
            </a:extLst>
          </p:cNvPr>
          <p:cNvGraphicFramePr>
            <a:graphicFrameLocks noGrp="1"/>
          </p:cNvGraphicFramePr>
          <p:nvPr/>
        </p:nvGraphicFramePr>
        <p:xfrm>
          <a:off x="5076825" y="3683000"/>
          <a:ext cx="3527425" cy="2030161"/>
        </p:xfrm>
        <a:graphic>
          <a:graphicData uri="http://schemas.openxmlformats.org/drawingml/2006/table">
            <a:tbl>
              <a:tblPr/>
              <a:tblGrid>
                <a:gridCol w="1223963">
                  <a:extLst>
                    <a:ext uri="{9D8B030D-6E8A-4147-A177-3AD203B41FA5}">
                      <a16:colId xmlns:a16="http://schemas.microsoft.com/office/drawing/2014/main" val="3689726548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366860314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909140579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06818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099904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622864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979412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50807"/>
                  </a:ext>
                </a:extLst>
              </a:tr>
            </a:tbl>
          </a:graphicData>
        </a:graphic>
      </p:graphicFrame>
      <p:grpSp>
        <p:nvGrpSpPr>
          <p:cNvPr id="524788" name="Group 500">
            <a:extLst>
              <a:ext uri="{FF2B5EF4-FFF2-40B4-BE49-F238E27FC236}">
                <a16:creationId xmlns:a16="http://schemas.microsoft.com/office/drawing/2014/main" id="{1B11BD3F-1BBA-4DC8-ADD1-E3581506DE83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4489450"/>
            <a:ext cx="3097213" cy="1252538"/>
            <a:chOff x="1429" y="2759"/>
            <a:chExt cx="1179" cy="789"/>
          </a:xfrm>
        </p:grpSpPr>
        <p:sp>
          <p:nvSpPr>
            <p:cNvPr id="524789" name="Line 501">
              <a:extLst>
                <a:ext uri="{FF2B5EF4-FFF2-40B4-BE49-F238E27FC236}">
                  <a16:creationId xmlns:a16="http://schemas.microsoft.com/office/drawing/2014/main" id="{948E21C9-72FE-4010-A596-66B7A2355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2759"/>
              <a:ext cx="1179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4790" name="Line 502">
              <a:extLst>
                <a:ext uri="{FF2B5EF4-FFF2-40B4-BE49-F238E27FC236}">
                  <a16:creationId xmlns:a16="http://schemas.microsoft.com/office/drawing/2014/main" id="{FF100CE9-9EED-4BC1-B33B-3561E89DA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3548"/>
              <a:ext cx="1179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4792" name="Text Box 504">
            <a:extLst>
              <a:ext uri="{FF2B5EF4-FFF2-40B4-BE49-F238E27FC236}">
                <a16:creationId xmlns:a16="http://schemas.microsoft.com/office/drawing/2014/main" id="{60ADC0B3-98DC-44DA-801F-B19B846EF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288" y="6059488"/>
            <a:ext cx="44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zh-CN" sz="24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pt-BR" altLang="zh-CN" sz="2400" b="1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endParaRPr lang="en-US" altLang="zh-CN" sz="2400" b="1" baseline="-3000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4793" name="Text Box 505">
            <a:extLst>
              <a:ext uri="{FF2B5EF4-FFF2-40B4-BE49-F238E27FC236}">
                <a16:creationId xmlns:a16="http://schemas.microsoft.com/office/drawing/2014/main" id="{A6A6C46E-001F-465A-A74F-CDB60D593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6238" y="5843588"/>
            <a:ext cx="44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zh-CN" sz="24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pt-BR" altLang="zh-CN" sz="2400" b="1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400" b="1" baseline="-3000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24794" name="Group 506">
            <a:extLst>
              <a:ext uri="{FF2B5EF4-FFF2-40B4-BE49-F238E27FC236}">
                <a16:creationId xmlns:a16="http://schemas.microsoft.com/office/drawing/2014/main" id="{2362BFE1-226F-4142-B70E-DC6922B4121E}"/>
              </a:ext>
            </a:extLst>
          </p:cNvPr>
          <p:cNvGrpSpPr>
            <a:grpSpLocks/>
          </p:cNvGrpSpPr>
          <p:nvPr/>
        </p:nvGrpSpPr>
        <p:grpSpPr bwMode="auto">
          <a:xfrm>
            <a:off x="7448550" y="4186238"/>
            <a:ext cx="1227138" cy="1584325"/>
            <a:chOff x="3514" y="2160"/>
            <a:chExt cx="773" cy="998"/>
          </a:xfrm>
        </p:grpSpPr>
        <p:sp>
          <p:nvSpPr>
            <p:cNvPr id="524795" name="Oval 507">
              <a:extLst>
                <a:ext uri="{FF2B5EF4-FFF2-40B4-BE49-F238E27FC236}">
                  <a16:creationId xmlns:a16="http://schemas.microsoft.com/office/drawing/2014/main" id="{7983E1AB-0680-4BBF-8D5E-AF7F67A5D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2160"/>
              <a:ext cx="772" cy="272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4796" name="Oval 508">
              <a:extLst>
                <a:ext uri="{FF2B5EF4-FFF2-40B4-BE49-F238E27FC236}">
                  <a16:creationId xmlns:a16="http://schemas.microsoft.com/office/drawing/2014/main" id="{9778E379-D4B2-4DF5-AC5D-EAF243BF0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886"/>
              <a:ext cx="772" cy="272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4798" name="Rectangle 510">
            <a:extLst>
              <a:ext uri="{FF2B5EF4-FFF2-40B4-BE49-F238E27FC236}">
                <a16:creationId xmlns:a16="http://schemas.microsoft.com/office/drawing/2014/main" id="{1A562CEB-8B7B-4AA8-AA13-AB4642D59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三、第二范式</a:t>
            </a:r>
          </a:p>
        </p:txBody>
      </p:sp>
      <p:sp>
        <p:nvSpPr>
          <p:cNvPr id="524799" name="Rectangle 511">
            <a:extLst>
              <a:ext uri="{FF2B5EF4-FFF2-40B4-BE49-F238E27FC236}">
                <a16:creationId xmlns:a16="http://schemas.microsoft.com/office/drawing/2014/main" id="{F32AE7A3-6DAB-4662-9B4F-7814123EE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i="1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pt-BR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pt-BR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S#,C#,GRADE</a:t>
            </a:r>
            <a:r>
              <a:rPr lang="zh-CN" altLang="pt-BR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,F</a:t>
            </a:r>
            <a:r>
              <a:rPr lang="pt-BR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={(S#,C#)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GRADE}</a:t>
            </a:r>
          </a:p>
          <a:p>
            <a:pPr algn="just"/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R</a:t>
            </a:r>
            <a:r>
              <a:rPr lang="pt-BR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pt-BR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C#,TNAME,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r>
              <a:rPr lang="zh-CN" altLang="pt-BR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</a:p>
          <a:p>
            <a:pPr algn="just"/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F</a:t>
            </a:r>
            <a:r>
              <a:rPr lang="pt-BR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={C#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TNAME,TNAME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r>
              <a:rPr lang="pt-BR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4791" name="AutoShape 503">
            <a:extLst>
              <a:ext uri="{FF2B5EF4-FFF2-40B4-BE49-F238E27FC236}">
                <a16:creationId xmlns:a16="http://schemas.microsoft.com/office/drawing/2014/main" id="{62DB85D7-D6FA-4FE2-AF17-2FA4447F8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25875"/>
            <a:ext cx="5832475" cy="1511300"/>
          </a:xfrm>
          <a:prstGeom prst="flowChartDocument">
            <a:avLst/>
          </a:prstGeom>
          <a:solidFill>
            <a:srgbClr val="008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结论：R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中仍然存在数据冗余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28"/>
    </mc:Choice>
    <mc:Fallback xmlns="">
      <p:transition spd="slow" advTm="419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24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2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52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2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2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524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4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4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2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792" grpId="0"/>
      <p:bldP spid="524793" grpId="0"/>
      <p:bldP spid="5247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84" name="Line 48">
            <a:extLst>
              <a:ext uri="{FF2B5EF4-FFF2-40B4-BE49-F238E27FC236}">
                <a16:creationId xmlns:a16="http://schemas.microsoft.com/office/drawing/2014/main" id="{0065CF2E-D5EC-42E7-8FB6-D030BAB55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0502" name="Rectangle 166">
            <a:extLst>
              <a:ext uri="{FF2B5EF4-FFF2-40B4-BE49-F238E27FC236}">
                <a16:creationId xmlns:a16="http://schemas.microsoft.com/office/drawing/2014/main" id="{CE674B24-A4E2-44AB-8FF0-53F88CE57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10563" name="Group 227">
            <a:extLst>
              <a:ext uri="{FF2B5EF4-FFF2-40B4-BE49-F238E27FC236}">
                <a16:creationId xmlns:a16="http://schemas.microsoft.com/office/drawing/2014/main" id="{D94CE967-A424-4CAA-82FC-BB751A849737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943225"/>
          <a:ext cx="6286500" cy="3375347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421143699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92724564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3021308292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681463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467348084"/>
                    </a:ext>
                  </a:extLst>
                </a:gridCol>
              </a:tblGrid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196957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581246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154356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026646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27707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493967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01574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261987"/>
                  </a:ext>
                </a:extLst>
              </a:tr>
            </a:tbl>
          </a:graphicData>
        </a:graphic>
      </p:graphicFrame>
      <p:grpSp>
        <p:nvGrpSpPr>
          <p:cNvPr id="910378" name="Group 42">
            <a:extLst>
              <a:ext uri="{FF2B5EF4-FFF2-40B4-BE49-F238E27FC236}">
                <a16:creationId xmlns:a16="http://schemas.microsoft.com/office/drawing/2014/main" id="{9BA85143-6776-490E-B457-81F47E23E397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3889375"/>
            <a:ext cx="6119813" cy="1195388"/>
            <a:chOff x="2064" y="2405"/>
            <a:chExt cx="2131" cy="753"/>
          </a:xfrm>
        </p:grpSpPr>
        <p:sp>
          <p:nvSpPr>
            <p:cNvPr id="910379" name="Line 43">
              <a:extLst>
                <a:ext uri="{FF2B5EF4-FFF2-40B4-BE49-F238E27FC236}">
                  <a16:creationId xmlns:a16="http://schemas.microsoft.com/office/drawing/2014/main" id="{56B04ECC-D970-46E8-92F3-56E3828B4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05"/>
              <a:ext cx="2131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0380" name="Line 44">
              <a:extLst>
                <a:ext uri="{FF2B5EF4-FFF2-40B4-BE49-F238E27FC236}">
                  <a16:creationId xmlns:a16="http://schemas.microsoft.com/office/drawing/2014/main" id="{ABE39A5C-5C8E-4C3D-8C8B-006DBA635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58"/>
              <a:ext cx="2131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10381" name="Group 45">
            <a:extLst>
              <a:ext uri="{FF2B5EF4-FFF2-40B4-BE49-F238E27FC236}">
                <a16:creationId xmlns:a16="http://schemas.microsoft.com/office/drawing/2014/main" id="{1089D6A1-864D-4EC1-8B42-18001AB8BC9A}"/>
              </a:ext>
            </a:extLst>
          </p:cNvPr>
          <p:cNvGrpSpPr>
            <a:grpSpLocks/>
          </p:cNvGrpSpPr>
          <p:nvPr/>
        </p:nvGrpSpPr>
        <p:grpSpPr bwMode="auto">
          <a:xfrm>
            <a:off x="6729413" y="3429000"/>
            <a:ext cx="1227137" cy="1584325"/>
            <a:chOff x="3514" y="2160"/>
            <a:chExt cx="773" cy="998"/>
          </a:xfrm>
        </p:grpSpPr>
        <p:sp>
          <p:nvSpPr>
            <p:cNvPr id="910382" name="Oval 46">
              <a:extLst>
                <a:ext uri="{FF2B5EF4-FFF2-40B4-BE49-F238E27FC236}">
                  <a16:creationId xmlns:a16="http://schemas.microsoft.com/office/drawing/2014/main" id="{D96377A0-89FB-4C7B-848F-37800C7E7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2160"/>
              <a:ext cx="772" cy="272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0383" name="Oval 47">
              <a:extLst>
                <a:ext uri="{FF2B5EF4-FFF2-40B4-BE49-F238E27FC236}">
                  <a16:creationId xmlns:a16="http://schemas.microsoft.com/office/drawing/2014/main" id="{CC1E83A2-F489-4CCF-990D-5DB090803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886"/>
              <a:ext cx="772" cy="272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10620" name="AutoShape 284">
            <a:extLst>
              <a:ext uri="{FF2B5EF4-FFF2-40B4-BE49-F238E27FC236}">
                <a16:creationId xmlns:a16="http://schemas.microsoft.com/office/drawing/2014/main" id="{563F9D9A-9204-4B4F-AD73-CA4F38A05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5888"/>
            <a:ext cx="1944688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CCFF"/>
              </a:gs>
              <a:gs pos="50000">
                <a:schemeClr val="bg1"/>
              </a:gs>
              <a:gs pos="100000">
                <a:srgbClr val="CCCCFF"/>
              </a:gs>
            </a:gsLst>
            <a:lin ang="27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问题分析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36"/>
    </mc:Choice>
    <mc:Fallback xmlns="">
      <p:transition spd="slow" advTm="198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1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91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2388" name="Group 4">
            <a:extLst>
              <a:ext uri="{FF2B5EF4-FFF2-40B4-BE49-F238E27FC236}">
                <a16:creationId xmlns:a16="http://schemas.microsoft.com/office/drawing/2014/main" id="{EBC87B15-3A95-4F34-B6B2-4DB49CD01D2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300413"/>
            <a:ext cx="4608512" cy="949325"/>
            <a:chOff x="1438" y="2115"/>
            <a:chExt cx="2222" cy="598"/>
          </a:xfrm>
        </p:grpSpPr>
        <p:sp>
          <p:nvSpPr>
            <p:cNvPr id="912389" name="Rectangle 5">
              <a:extLst>
                <a:ext uri="{FF2B5EF4-FFF2-40B4-BE49-F238E27FC236}">
                  <a16:creationId xmlns:a16="http://schemas.microsoft.com/office/drawing/2014/main" id="{7C78D6C8-E75F-43FA-85A7-89640339D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2115"/>
              <a:ext cx="2222" cy="59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90" name="Text Box 6">
              <a:extLst>
                <a:ext uri="{FF2B5EF4-FFF2-40B4-BE49-F238E27FC236}">
                  <a16:creationId xmlns:a16="http://schemas.microsoft.com/office/drawing/2014/main" id="{5FF6D121-E999-45EF-9974-5E59C301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学号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(S#)</a:t>
              </a:r>
            </a:p>
          </p:txBody>
        </p:sp>
        <p:sp>
          <p:nvSpPr>
            <p:cNvPr id="912391" name="Text Box 7">
              <a:extLst>
                <a:ext uri="{FF2B5EF4-FFF2-40B4-BE49-F238E27FC236}">
                  <a16:creationId xmlns:a16="http://schemas.microsoft.com/office/drawing/2014/main" id="{CD381FF0-5128-4C96-B68A-8ADEF92A4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课程号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(C#)</a:t>
              </a:r>
            </a:p>
          </p:txBody>
        </p:sp>
      </p:grpSp>
      <p:grpSp>
        <p:nvGrpSpPr>
          <p:cNvPr id="912392" name="Group 8">
            <a:extLst>
              <a:ext uri="{FF2B5EF4-FFF2-40B4-BE49-F238E27FC236}">
                <a16:creationId xmlns:a16="http://schemas.microsoft.com/office/drawing/2014/main" id="{CC829F8C-576B-4A1A-8A3A-50C5E3D92DB4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257675"/>
            <a:ext cx="2305050" cy="1039813"/>
            <a:chOff x="1383" y="2718"/>
            <a:chExt cx="998" cy="655"/>
          </a:xfrm>
        </p:grpSpPr>
        <p:sp>
          <p:nvSpPr>
            <p:cNvPr id="912393" name="Text Box 9">
              <a:extLst>
                <a:ext uri="{FF2B5EF4-FFF2-40B4-BE49-F238E27FC236}">
                  <a16:creationId xmlns:a16="http://schemas.microsoft.com/office/drawing/2014/main" id="{5392259B-C872-4951-AFE4-A64D24D59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967"/>
              <a:ext cx="998" cy="406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成绩</a:t>
              </a:r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(GRADE)</a:t>
              </a:r>
            </a:p>
          </p:txBody>
        </p:sp>
        <p:sp>
          <p:nvSpPr>
            <p:cNvPr id="912394" name="Line 10">
              <a:extLst>
                <a:ext uri="{FF2B5EF4-FFF2-40B4-BE49-F238E27FC236}">
                  <a16:creationId xmlns:a16="http://schemas.microsoft.com/office/drawing/2014/main" id="{8F9104AF-6A5C-4436-8F3C-882189D44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18"/>
              <a:ext cx="0" cy="2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2395" name="Group 11">
            <a:extLst>
              <a:ext uri="{FF2B5EF4-FFF2-40B4-BE49-F238E27FC236}">
                <a16:creationId xmlns:a16="http://schemas.microsoft.com/office/drawing/2014/main" id="{059EEDEC-DBD8-4882-BF5A-509AA6B3FE05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4079875"/>
            <a:ext cx="2449513" cy="1217613"/>
            <a:chOff x="2490" y="2606"/>
            <a:chExt cx="1224" cy="767"/>
          </a:xfrm>
        </p:grpSpPr>
        <p:sp>
          <p:nvSpPr>
            <p:cNvPr id="912396" name="Text Box 12">
              <a:extLst>
                <a:ext uri="{FF2B5EF4-FFF2-40B4-BE49-F238E27FC236}">
                  <a16:creationId xmlns:a16="http://schemas.microsoft.com/office/drawing/2014/main" id="{2C793350-6CCC-4A2F-AA36-52D6F1D15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0" y="2968"/>
              <a:ext cx="1224" cy="405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教师名</a:t>
              </a:r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(TNAME)</a:t>
              </a:r>
            </a:p>
          </p:txBody>
        </p:sp>
        <p:sp>
          <p:nvSpPr>
            <p:cNvPr id="912397" name="Line 13">
              <a:extLst>
                <a:ext uri="{FF2B5EF4-FFF2-40B4-BE49-F238E27FC236}">
                  <a16:creationId xmlns:a16="http://schemas.microsoft.com/office/drawing/2014/main" id="{76564FA9-7E38-453D-98EE-9172334B4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606"/>
              <a:ext cx="0" cy="3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2398" name="Group 14">
            <a:extLst>
              <a:ext uri="{FF2B5EF4-FFF2-40B4-BE49-F238E27FC236}">
                <a16:creationId xmlns:a16="http://schemas.microsoft.com/office/drawing/2014/main" id="{0C5B2DCC-9D50-4A6A-B001-C6BA47C0BFA0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508500"/>
            <a:ext cx="2519362" cy="936625"/>
            <a:chOff x="3727" y="2945"/>
            <a:chExt cx="1303" cy="485"/>
          </a:xfrm>
        </p:grpSpPr>
        <p:sp>
          <p:nvSpPr>
            <p:cNvPr id="912399" name="Text Box 15">
              <a:extLst>
                <a:ext uri="{FF2B5EF4-FFF2-40B4-BE49-F238E27FC236}">
                  <a16:creationId xmlns:a16="http://schemas.microsoft.com/office/drawing/2014/main" id="{7643E3BD-E068-4FFF-9727-CFF961648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" y="2945"/>
              <a:ext cx="952" cy="485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教研室</a:t>
              </a:r>
            </a:p>
            <a:p>
              <a:pPr algn="ctr"/>
              <a:r>
                <a:rPr lang="en-US" altLang="zh-CN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(TRS)</a:t>
              </a:r>
            </a:p>
          </p:txBody>
        </p:sp>
        <p:sp>
          <p:nvSpPr>
            <p:cNvPr id="912400" name="Line 16">
              <a:extLst>
                <a:ext uri="{FF2B5EF4-FFF2-40B4-BE49-F238E27FC236}">
                  <a16:creationId xmlns:a16="http://schemas.microsoft.com/office/drawing/2014/main" id="{7C9A93AB-9179-4D1F-AE11-B88ECB1168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897" y="3024"/>
              <a:ext cx="0" cy="3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2402" name="Group 18">
            <a:extLst>
              <a:ext uri="{FF2B5EF4-FFF2-40B4-BE49-F238E27FC236}">
                <a16:creationId xmlns:a16="http://schemas.microsoft.com/office/drawing/2014/main" id="{E3554831-339F-487F-A8E3-6819FF938F48}"/>
              </a:ext>
            </a:extLst>
          </p:cNvPr>
          <p:cNvGrpSpPr>
            <a:grpSpLocks/>
          </p:cNvGrpSpPr>
          <p:nvPr/>
        </p:nvGrpSpPr>
        <p:grpSpPr bwMode="auto">
          <a:xfrm>
            <a:off x="4772025" y="4292600"/>
            <a:ext cx="1943100" cy="806450"/>
            <a:chOff x="3016" y="2704"/>
            <a:chExt cx="1207" cy="508"/>
          </a:xfrm>
        </p:grpSpPr>
        <p:sp>
          <p:nvSpPr>
            <p:cNvPr id="912403" name="AutoShape 19">
              <a:extLst>
                <a:ext uri="{FF2B5EF4-FFF2-40B4-BE49-F238E27FC236}">
                  <a16:creationId xmlns:a16="http://schemas.microsoft.com/office/drawing/2014/main" id="{D795AED5-5F67-4A88-BB40-E8128C7BF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704"/>
              <a:ext cx="136" cy="226"/>
            </a:xfrm>
            <a:prstGeom prst="downArrow">
              <a:avLst>
                <a:gd name="adj1" fmla="val 50000"/>
                <a:gd name="adj2" fmla="val 41544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2404" name="AutoShape 20">
              <a:extLst>
                <a:ext uri="{FF2B5EF4-FFF2-40B4-BE49-F238E27FC236}">
                  <a16:creationId xmlns:a16="http://schemas.microsoft.com/office/drawing/2014/main" id="{03200F67-9CEF-4E38-9B1B-CB8AE80E2F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74" y="2963"/>
              <a:ext cx="136" cy="362"/>
            </a:xfrm>
            <a:prstGeom prst="downArrow">
              <a:avLst>
                <a:gd name="adj1" fmla="val 50000"/>
                <a:gd name="adj2" fmla="val 66544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12406" name="Line 22">
            <a:extLst>
              <a:ext uri="{FF2B5EF4-FFF2-40B4-BE49-F238E27FC236}">
                <a16:creationId xmlns:a16="http://schemas.microsoft.com/office/drawing/2014/main" id="{90A88D92-8073-4555-8350-3FB8EA05A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2409" name="Rectangle 25">
            <a:extLst>
              <a:ext uri="{FF2B5EF4-FFF2-40B4-BE49-F238E27FC236}">
                <a16:creationId xmlns:a16="http://schemas.microsoft.com/office/drawing/2014/main" id="{BC5E161F-5AF4-4C2B-B20E-D9E85F639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2410" name="AutoShape 26">
            <a:extLst>
              <a:ext uri="{FF2B5EF4-FFF2-40B4-BE49-F238E27FC236}">
                <a16:creationId xmlns:a16="http://schemas.microsoft.com/office/drawing/2014/main" id="{EE702110-9FA6-46B7-9BFB-F8D6D0DD9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5888"/>
            <a:ext cx="1944688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CCFF"/>
              </a:gs>
              <a:gs pos="50000">
                <a:schemeClr val="bg1"/>
              </a:gs>
              <a:gs pos="100000">
                <a:srgbClr val="CCCCFF"/>
              </a:gs>
            </a:gsLst>
            <a:lin ang="27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问题分析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81"/>
    </mc:Choice>
    <mc:Fallback xmlns="">
      <p:transition spd="slow" advTm="360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>
            <a:extLst>
              <a:ext uri="{FF2B5EF4-FFF2-40B4-BE49-F238E27FC236}">
                <a16:creationId xmlns:a16="http://schemas.microsoft.com/office/drawing/2014/main" id="{4AC05E58-5014-4ED7-B94F-AC24765F7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传递依赖</a:t>
            </a:r>
          </a:p>
        </p:txBody>
      </p:sp>
      <p:sp>
        <p:nvSpPr>
          <p:cNvPr id="992259" name="Rectangle 3">
            <a:extLst>
              <a:ext uri="{FF2B5EF4-FFF2-40B4-BE49-F238E27FC236}">
                <a16:creationId xmlns:a16="http://schemas.microsoft.com/office/drawing/2014/main" id="{38576FFE-FE9E-40BE-A82C-2FE1E599D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49263" lvl="1" indent="-269875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设有关系模式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R(U,F)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和属性集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U={A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。如果有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Z-Y≠φ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Z-X≠φ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   X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，则称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传递依赖于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，记为</a:t>
            </a:r>
          </a:p>
          <a:p>
            <a:pPr marL="449263" lvl="1" indent="-269875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marL="449263" lvl="1" indent="-269875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X            Z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楷体_GB2312" pitchFamily="49" charset="-122"/>
              </a:rPr>
              <a:t> </a:t>
            </a:r>
          </a:p>
        </p:txBody>
      </p:sp>
      <p:graphicFrame>
        <p:nvGraphicFramePr>
          <p:cNvPr id="992263" name="Object 7">
            <a:extLst>
              <a:ext uri="{FF2B5EF4-FFF2-40B4-BE49-F238E27FC236}">
                <a16:creationId xmlns:a16="http://schemas.microsoft.com/office/drawing/2014/main" id="{2F4E333D-185E-4058-AE10-7B3E7686F5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214688"/>
          <a:ext cx="6953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0440" imgH="279360" progId="Equation.3">
                  <p:embed/>
                </p:oleObj>
              </mc:Choice>
              <mc:Fallback>
                <p:oleObj name="公式" r:id="rId3" imgW="190440" imgH="279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214688"/>
                        <a:ext cx="695325" cy="935037"/>
                      </a:xfrm>
                      <a:prstGeom prst="rect">
                        <a:avLst/>
                      </a:prstGeom>
                      <a:noFill/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6" name="Object 10">
            <a:extLst>
              <a:ext uri="{FF2B5EF4-FFF2-40B4-BE49-F238E27FC236}">
                <a16:creationId xmlns:a16="http://schemas.microsoft.com/office/drawing/2014/main" id="{1FE88432-CE78-4652-A0E1-8C6A68F09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840305"/>
              </p:ext>
            </p:extLst>
          </p:nvPr>
        </p:nvGraphicFramePr>
        <p:xfrm>
          <a:off x="2843808" y="2420888"/>
          <a:ext cx="50323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335" imgH="177646" progId="Equation.DSMT4">
                  <p:embed/>
                </p:oleObj>
              </mc:Choice>
              <mc:Fallback>
                <p:oleObj r:id="rId5" imgW="190335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420888"/>
                        <a:ext cx="503237" cy="360363"/>
                      </a:xfrm>
                      <a:prstGeom prst="rect">
                        <a:avLst/>
                      </a:prstGeom>
                      <a:noFill/>
                      <a:effectLst>
                        <a:outerShdw dist="28398" dir="3806097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40"/>
    </mc:Choice>
    <mc:Fallback xmlns="">
      <p:transition spd="slow" advTm="44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9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9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5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29" name="Rectangle 21">
            <a:extLst>
              <a:ext uri="{FF2B5EF4-FFF2-40B4-BE49-F238E27FC236}">
                <a16:creationId xmlns:a16="http://schemas.microsoft.com/office/drawing/2014/main" id="{4F87BD14-788D-4D05-8CA4-9E6C9CDA2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 , 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   Z-Y=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-</a:t>
            </a:r>
            <a:r>
              <a:rPr lang="en-US" altLang="zh-CN" dirty="0" err="1">
                <a:latin typeface="楷体_GB2312" pitchFamily="49" charset="-122"/>
              </a:rPr>
              <a:t>TNAME</a:t>
            </a:r>
            <a:r>
              <a:rPr lang="en-US" altLang="zh-CN" dirty="0" err="1">
                <a:solidFill>
                  <a:srgbClr val="000000"/>
                </a:solidFill>
                <a:latin typeface="楷体_GB2312" pitchFamily="49" charset="-122"/>
              </a:rPr>
              <a:t>≠φ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</a:rPr>
              <a:t>，</a:t>
            </a:r>
          </a:p>
          <a:p>
            <a:pPr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   Z-X=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-{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S#,C#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}≠φ</a:t>
            </a: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</a:rPr>
              <a:t>   </a:t>
            </a:r>
            <a:r>
              <a:rPr lang="en-US" altLang="zh-CN" dirty="0">
                <a:latin typeface="楷体_GB2312" pitchFamily="49" charset="-122"/>
              </a:rPr>
              <a:t>TNAME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</a:rPr>
              <a:t>    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(S#,C#)</a:t>
            </a:r>
            <a:endParaRPr lang="en-US" altLang="zh-CN" dirty="0">
              <a:latin typeface="楷体_GB2312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dirty="0">
                <a:latin typeface="楷体_GB2312" pitchFamily="49" charset="-122"/>
              </a:rPr>
              <a:t>         </a:t>
            </a:r>
            <a:r>
              <a:rPr lang="zh-CN" altLang="en-US" dirty="0">
                <a:latin typeface="楷体_GB2312" pitchFamily="49" charset="-122"/>
              </a:rPr>
              <a:t>故：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(S#,C#)                 TRS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0230" name="Rectangle 22">
            <a:extLst>
              <a:ext uri="{FF2B5EF4-FFF2-40B4-BE49-F238E27FC236}">
                <a16:creationId xmlns:a16="http://schemas.microsoft.com/office/drawing/2014/main" id="{438A31A8-EBC5-4779-BF69-C9CA677DA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传递依赖</a:t>
            </a:r>
          </a:p>
        </p:txBody>
      </p:sp>
      <p:sp>
        <p:nvSpPr>
          <p:cNvPr id="990231" name="Line 23">
            <a:extLst>
              <a:ext uri="{FF2B5EF4-FFF2-40B4-BE49-F238E27FC236}">
                <a16:creationId xmlns:a16="http://schemas.microsoft.com/office/drawing/2014/main" id="{1D98D1E2-2AEB-4D93-AC2B-34175D089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420888"/>
            <a:ext cx="1655763" cy="0"/>
          </a:xfrm>
          <a:prstGeom prst="line">
            <a:avLst/>
          </a:prstGeom>
          <a:noFill/>
          <a:ln w="28575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0235" name="AutoShape 27">
            <a:extLst>
              <a:ext uri="{FF2B5EF4-FFF2-40B4-BE49-F238E27FC236}">
                <a16:creationId xmlns:a16="http://schemas.microsoft.com/office/drawing/2014/main" id="{50CD05BD-5CD8-4CCF-A0A3-F39DDD041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657" y="2636912"/>
            <a:ext cx="792162" cy="431800"/>
          </a:xfrm>
          <a:prstGeom prst="wedgeRectCallout">
            <a:avLst>
              <a:gd name="adj1" fmla="val -49398"/>
              <a:gd name="adj2" fmla="val -108088"/>
            </a:avLst>
          </a:prstGeom>
          <a:solidFill>
            <a:srgbClr val="333399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4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990236" name="AutoShape 28">
            <a:extLst>
              <a:ext uri="{FF2B5EF4-FFF2-40B4-BE49-F238E27FC236}">
                <a16:creationId xmlns:a16="http://schemas.microsoft.com/office/drawing/2014/main" id="{F313291D-E7F1-40F7-9C67-28D1416BB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60" y="2636912"/>
            <a:ext cx="792162" cy="431800"/>
          </a:xfrm>
          <a:prstGeom prst="wedgeRectCallout">
            <a:avLst>
              <a:gd name="adj1" fmla="val 33834"/>
              <a:gd name="adj2" fmla="val -104744"/>
            </a:avLst>
          </a:prstGeom>
          <a:solidFill>
            <a:srgbClr val="333399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400" b="1" dirty="0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</a:p>
        </p:txBody>
      </p:sp>
      <p:sp>
        <p:nvSpPr>
          <p:cNvPr id="990237" name="AutoShape 29">
            <a:extLst>
              <a:ext uri="{FF2B5EF4-FFF2-40B4-BE49-F238E27FC236}">
                <a16:creationId xmlns:a16="http://schemas.microsoft.com/office/drawing/2014/main" id="{717CD36B-5F16-4F7B-9167-DF7861AE0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3387" y="2677787"/>
            <a:ext cx="792163" cy="431800"/>
          </a:xfrm>
          <a:prstGeom prst="wedgeRectCallout">
            <a:avLst>
              <a:gd name="adj1" fmla="val 35656"/>
              <a:gd name="adj2" fmla="val -96942"/>
            </a:avLst>
          </a:prstGeom>
          <a:solidFill>
            <a:srgbClr val="333399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4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</a:t>
            </a:r>
          </a:p>
        </p:txBody>
      </p:sp>
      <p:graphicFrame>
        <p:nvGraphicFramePr>
          <p:cNvPr id="990238" name="Object 30">
            <a:extLst>
              <a:ext uri="{FF2B5EF4-FFF2-40B4-BE49-F238E27FC236}">
                <a16:creationId xmlns:a16="http://schemas.microsoft.com/office/drawing/2014/main" id="{5B753969-4094-4644-97DB-D7455C3FE0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7038" y="5157788"/>
          <a:ext cx="6953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440" imgH="279360" progId="Equation.3">
                  <p:embed/>
                </p:oleObj>
              </mc:Choice>
              <mc:Fallback>
                <p:oleObj name="公式" r:id="rId4" imgW="190440" imgH="2793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5157788"/>
                        <a:ext cx="695325" cy="935037"/>
                      </a:xfrm>
                      <a:prstGeom prst="rect">
                        <a:avLst/>
                      </a:prstGeom>
                      <a:noFill/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9" name="Object 31">
            <a:extLst>
              <a:ext uri="{FF2B5EF4-FFF2-40B4-BE49-F238E27FC236}">
                <a16:creationId xmlns:a16="http://schemas.microsoft.com/office/drawing/2014/main" id="{41A7AED6-09A4-479A-80D7-BC1644BED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591621"/>
              </p:ext>
            </p:extLst>
          </p:nvPr>
        </p:nvGraphicFramePr>
        <p:xfrm>
          <a:off x="2339752" y="4941168"/>
          <a:ext cx="5032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0335" imgH="177646" progId="Equation.DSMT4">
                  <p:embed/>
                </p:oleObj>
              </mc:Choice>
              <mc:Fallback>
                <p:oleObj r:id="rId6" imgW="190335" imgH="177646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941168"/>
                        <a:ext cx="503238" cy="360362"/>
                      </a:xfrm>
                      <a:prstGeom prst="rect">
                        <a:avLst/>
                      </a:prstGeom>
                      <a:noFill/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43"/>
    </mc:Choice>
    <mc:Fallback xmlns="">
      <p:transition spd="slow" advTm="49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9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90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90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9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90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90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9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90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90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9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990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990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990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1000"/>
                                        <p:tgtEl>
                                          <p:spTgt spid="99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990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1000"/>
                                        <p:tgtEl>
                                          <p:spTgt spid="99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35" grpId="0" animBg="1"/>
      <p:bldP spid="990236" grpId="0" animBg="1"/>
      <p:bldP spid="9902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354" name="Group 2">
            <a:extLst>
              <a:ext uri="{FF2B5EF4-FFF2-40B4-BE49-F238E27FC236}">
                <a16:creationId xmlns:a16="http://schemas.microsoft.com/office/drawing/2014/main" id="{E1FB9F4A-D882-410F-85C5-E541B11652D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300413"/>
            <a:ext cx="4608512" cy="949325"/>
            <a:chOff x="1438" y="2115"/>
            <a:chExt cx="2222" cy="598"/>
          </a:xfrm>
        </p:grpSpPr>
        <p:sp>
          <p:nvSpPr>
            <p:cNvPr id="996355" name="Rectangle 3">
              <a:extLst>
                <a:ext uri="{FF2B5EF4-FFF2-40B4-BE49-F238E27FC236}">
                  <a16:creationId xmlns:a16="http://schemas.microsoft.com/office/drawing/2014/main" id="{3A72DA83-F2B3-48B8-8A72-F940ABC1F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2115"/>
              <a:ext cx="2222" cy="59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6356" name="Text Box 4">
              <a:extLst>
                <a:ext uri="{FF2B5EF4-FFF2-40B4-BE49-F238E27FC236}">
                  <a16:creationId xmlns:a16="http://schemas.microsoft.com/office/drawing/2014/main" id="{F9BF76D3-8D2A-4E81-B8C1-6CAFE65FB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学号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(S#)</a:t>
              </a:r>
            </a:p>
          </p:txBody>
        </p:sp>
        <p:sp>
          <p:nvSpPr>
            <p:cNvPr id="996357" name="Text Box 5">
              <a:extLst>
                <a:ext uri="{FF2B5EF4-FFF2-40B4-BE49-F238E27FC236}">
                  <a16:creationId xmlns:a16="http://schemas.microsoft.com/office/drawing/2014/main" id="{C2A44508-269A-4809-A925-2571FE529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200"/>
              <a:ext cx="952" cy="406"/>
            </a:xfrm>
            <a:prstGeom prst="rect">
              <a:avLst/>
            </a:prstGeom>
            <a:solidFill>
              <a:srgbClr val="0033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课程号</a:t>
              </a:r>
              <a:r>
                <a:rPr lang="en-US" altLang="zh-CN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(C#)</a:t>
              </a:r>
            </a:p>
          </p:txBody>
        </p:sp>
      </p:grpSp>
      <p:grpSp>
        <p:nvGrpSpPr>
          <p:cNvPr id="996358" name="Group 6">
            <a:extLst>
              <a:ext uri="{FF2B5EF4-FFF2-40B4-BE49-F238E27FC236}">
                <a16:creationId xmlns:a16="http://schemas.microsoft.com/office/drawing/2014/main" id="{8CD421AB-38D7-408E-BE93-321CE2E8FF01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257675"/>
            <a:ext cx="2305050" cy="1039813"/>
            <a:chOff x="1383" y="2718"/>
            <a:chExt cx="998" cy="655"/>
          </a:xfrm>
        </p:grpSpPr>
        <p:sp>
          <p:nvSpPr>
            <p:cNvPr id="996359" name="Text Box 7">
              <a:extLst>
                <a:ext uri="{FF2B5EF4-FFF2-40B4-BE49-F238E27FC236}">
                  <a16:creationId xmlns:a16="http://schemas.microsoft.com/office/drawing/2014/main" id="{9A5DCA86-AD98-43E7-97F7-A4EC0FAFE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967"/>
              <a:ext cx="998" cy="406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成绩</a:t>
              </a:r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(GRADE)</a:t>
              </a:r>
            </a:p>
          </p:txBody>
        </p:sp>
        <p:sp>
          <p:nvSpPr>
            <p:cNvPr id="996360" name="Line 8">
              <a:extLst>
                <a:ext uri="{FF2B5EF4-FFF2-40B4-BE49-F238E27FC236}">
                  <a16:creationId xmlns:a16="http://schemas.microsoft.com/office/drawing/2014/main" id="{692564E5-8CDB-42B7-82D4-43EBF3767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18"/>
              <a:ext cx="0" cy="2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96361" name="Group 9">
            <a:extLst>
              <a:ext uri="{FF2B5EF4-FFF2-40B4-BE49-F238E27FC236}">
                <a16:creationId xmlns:a16="http://schemas.microsoft.com/office/drawing/2014/main" id="{DC8CFE82-A738-4C11-B146-25000723741A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4079875"/>
            <a:ext cx="2449513" cy="1217613"/>
            <a:chOff x="2490" y="2606"/>
            <a:chExt cx="1224" cy="767"/>
          </a:xfrm>
        </p:grpSpPr>
        <p:sp>
          <p:nvSpPr>
            <p:cNvPr id="996362" name="Text Box 10">
              <a:extLst>
                <a:ext uri="{FF2B5EF4-FFF2-40B4-BE49-F238E27FC236}">
                  <a16:creationId xmlns:a16="http://schemas.microsoft.com/office/drawing/2014/main" id="{6897DE32-FFBA-47A8-8884-795C6DE35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0" y="2968"/>
              <a:ext cx="1224" cy="405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教师名</a:t>
              </a:r>
              <a:r>
                <a:rPr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(TNAME)</a:t>
              </a:r>
            </a:p>
          </p:txBody>
        </p:sp>
        <p:sp>
          <p:nvSpPr>
            <p:cNvPr id="996363" name="Line 11">
              <a:extLst>
                <a:ext uri="{FF2B5EF4-FFF2-40B4-BE49-F238E27FC236}">
                  <a16:creationId xmlns:a16="http://schemas.microsoft.com/office/drawing/2014/main" id="{A3F5FB78-B21A-4FFC-B3F4-B23C1F1DD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606"/>
              <a:ext cx="0" cy="3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96364" name="Group 12">
            <a:extLst>
              <a:ext uri="{FF2B5EF4-FFF2-40B4-BE49-F238E27FC236}">
                <a16:creationId xmlns:a16="http://schemas.microsoft.com/office/drawing/2014/main" id="{9C2FB705-1D4F-4D33-A67C-B8D2A3A2D1AD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508500"/>
            <a:ext cx="2519362" cy="936625"/>
            <a:chOff x="3727" y="2945"/>
            <a:chExt cx="1303" cy="485"/>
          </a:xfrm>
        </p:grpSpPr>
        <p:sp>
          <p:nvSpPr>
            <p:cNvPr id="996365" name="Text Box 13">
              <a:extLst>
                <a:ext uri="{FF2B5EF4-FFF2-40B4-BE49-F238E27FC236}">
                  <a16:creationId xmlns:a16="http://schemas.microsoft.com/office/drawing/2014/main" id="{3072C043-B8A0-43CD-B193-372E4962B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" y="2945"/>
              <a:ext cx="952" cy="485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/>
            <a:lstStyle/>
            <a:p>
              <a:pPr algn="ctr"/>
              <a:r>
                <a:rPr lang="zh-CN" altLang="en-US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教研室</a:t>
              </a:r>
            </a:p>
            <a:p>
              <a:pPr algn="ctr"/>
              <a:r>
                <a:rPr lang="en-US" altLang="zh-CN" sz="2800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</a:rPr>
                <a:t>(TRS)</a:t>
              </a:r>
            </a:p>
          </p:txBody>
        </p:sp>
        <p:sp>
          <p:nvSpPr>
            <p:cNvPr id="996366" name="Line 14">
              <a:extLst>
                <a:ext uri="{FF2B5EF4-FFF2-40B4-BE49-F238E27FC236}">
                  <a16:creationId xmlns:a16="http://schemas.microsoft.com/office/drawing/2014/main" id="{88F539F0-2EAA-4AD1-9FD9-85272DC1D4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897" y="3024"/>
              <a:ext cx="0" cy="3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6367" name="AutoShape 15">
            <a:extLst>
              <a:ext uri="{FF2B5EF4-FFF2-40B4-BE49-F238E27FC236}">
                <a16:creationId xmlns:a16="http://schemas.microsoft.com/office/drawing/2014/main" id="{9A356003-787E-4535-977C-3057BCE42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22550"/>
            <a:ext cx="2808288" cy="1454150"/>
          </a:xfrm>
          <a:prstGeom prst="wedgeRoundRectCallout">
            <a:avLst>
              <a:gd name="adj1" fmla="val -36940"/>
              <a:gd name="adj2" fmla="val 101745"/>
              <a:gd name="adj3" fmla="val 16667"/>
            </a:avLst>
          </a:prstGeom>
          <a:solidFill>
            <a:srgbClr val="00FFFF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18000" rIns="18000" anchor="ctr"/>
          <a:lstStyle/>
          <a:p>
            <a:pPr algn="ctr"/>
            <a:r>
              <a:rPr lang="zh-CN" altLang="en-US" sz="2800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非主属性对候选键的传递依赖</a:t>
            </a:r>
          </a:p>
        </p:txBody>
      </p:sp>
      <p:grpSp>
        <p:nvGrpSpPr>
          <p:cNvPr id="996368" name="Group 16">
            <a:extLst>
              <a:ext uri="{FF2B5EF4-FFF2-40B4-BE49-F238E27FC236}">
                <a16:creationId xmlns:a16="http://schemas.microsoft.com/office/drawing/2014/main" id="{42ACD614-E85B-4A50-8F71-A1F51E5370E6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292600"/>
            <a:ext cx="1916113" cy="806450"/>
            <a:chOff x="3016" y="2704"/>
            <a:chExt cx="1207" cy="508"/>
          </a:xfrm>
        </p:grpSpPr>
        <p:sp>
          <p:nvSpPr>
            <p:cNvPr id="996369" name="AutoShape 17">
              <a:extLst>
                <a:ext uri="{FF2B5EF4-FFF2-40B4-BE49-F238E27FC236}">
                  <a16:creationId xmlns:a16="http://schemas.microsoft.com/office/drawing/2014/main" id="{10530502-93FD-4DCF-AB05-9499A67E7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704"/>
              <a:ext cx="136" cy="226"/>
            </a:xfrm>
            <a:prstGeom prst="downArrow">
              <a:avLst>
                <a:gd name="adj1" fmla="val 50000"/>
                <a:gd name="adj2" fmla="val 41544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6370" name="AutoShape 18">
              <a:extLst>
                <a:ext uri="{FF2B5EF4-FFF2-40B4-BE49-F238E27FC236}">
                  <a16:creationId xmlns:a16="http://schemas.microsoft.com/office/drawing/2014/main" id="{A27150DC-D793-4232-ABF4-26DCC5FC7B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74" y="2963"/>
              <a:ext cx="136" cy="362"/>
            </a:xfrm>
            <a:prstGeom prst="downArrow">
              <a:avLst>
                <a:gd name="adj1" fmla="val 50000"/>
                <a:gd name="adj2" fmla="val 66544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96371" name="Line 19">
            <a:extLst>
              <a:ext uri="{FF2B5EF4-FFF2-40B4-BE49-F238E27FC236}">
                <a16:creationId xmlns:a16="http://schemas.microsoft.com/office/drawing/2014/main" id="{1C027DB4-0B18-4393-9F64-7C26B951E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6372" name="Rectangle 20">
            <a:extLst>
              <a:ext uri="{FF2B5EF4-FFF2-40B4-BE49-F238E27FC236}">
                <a16:creationId xmlns:a16="http://schemas.microsoft.com/office/drawing/2014/main" id="{EEDF4548-1FB0-42FB-A7CD-A2ABE404A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6373" name="Rectangle 21">
            <a:extLst>
              <a:ext uri="{FF2B5EF4-FFF2-40B4-BE49-F238E27FC236}">
                <a16:creationId xmlns:a16="http://schemas.microsoft.com/office/drawing/2014/main" id="{2A21387B-D9B0-44A7-A353-80C8C6420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传递依赖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61"/>
    </mc:Choice>
    <mc:Fallback xmlns="">
      <p:transition spd="slow" advTm="159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96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96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>
            <a:extLst>
              <a:ext uri="{FF2B5EF4-FFF2-40B4-BE49-F238E27FC236}">
                <a16:creationId xmlns:a16="http://schemas.microsoft.com/office/drawing/2014/main" id="{7DBAA863-9559-489E-9B6F-68C23C2F8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8883" name="Rectangle 3">
            <a:extLst>
              <a:ext uri="{FF2B5EF4-FFF2-40B4-BE49-F238E27FC236}">
                <a16:creationId xmlns:a16="http://schemas.microsoft.com/office/drawing/2014/main" id="{652BA728-C619-48B1-8FB3-A4B9B15F2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8884" name="Rectangle 4">
            <a:extLst>
              <a:ext uri="{FF2B5EF4-FFF2-40B4-BE49-F238E27FC236}">
                <a16:creationId xmlns:a16="http://schemas.microsoft.com/office/drawing/2014/main" id="{F0BE5291-69E1-4F8E-8DC1-B2AFD01F8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590800"/>
            <a:ext cx="6237287" cy="1143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0" lang="zh-CN" altLang="en-US" sz="6000" b="1">
                <a:solidFill>
                  <a:srgbClr val="FF66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谢谢大家！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7"/>
    </mc:Choice>
    <mc:Fallback xmlns="">
      <p:transition spd="slow" advTm="217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4|27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|15.7|27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9|4.4|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9.3|4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7.4|10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13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1.3|1.4|11.8|6.9|1.7|9.5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13377</TotalTime>
  <Words>1740</Words>
  <Application>Microsoft Office PowerPoint</Application>
  <PresentationFormat>全屏显示(4:3)</PresentationFormat>
  <Paragraphs>434</Paragraphs>
  <Slides>24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黑体</vt:lpstr>
      <vt:lpstr>楷体_GB2312</vt:lpstr>
      <vt:lpstr>宋体</vt:lpstr>
      <vt:lpstr>Arial</vt:lpstr>
      <vt:lpstr>Tahoma</vt:lpstr>
      <vt:lpstr>Times New Roman</vt:lpstr>
      <vt:lpstr>Wingdings</vt:lpstr>
      <vt:lpstr>cdb2004165l</vt:lpstr>
      <vt:lpstr>公式</vt:lpstr>
      <vt:lpstr>Equation.DSMT4</vt:lpstr>
      <vt:lpstr>二、第一范式</vt:lpstr>
      <vt:lpstr>二、第一范式</vt:lpstr>
      <vt:lpstr>二、第一范式</vt:lpstr>
      <vt:lpstr>二、第一范式</vt:lpstr>
      <vt:lpstr>PowerPoint 演示文稿</vt:lpstr>
      <vt:lpstr>PowerPoint 演示文稿</vt:lpstr>
      <vt:lpstr>完全依赖和部分依赖</vt:lpstr>
      <vt:lpstr>完全依赖和部分依赖</vt:lpstr>
      <vt:lpstr>完全依赖和部分依赖</vt:lpstr>
      <vt:lpstr>三、第二范式</vt:lpstr>
      <vt:lpstr>三、第二范式</vt:lpstr>
      <vt:lpstr>三、第二范式</vt:lpstr>
      <vt:lpstr>三、第二范式</vt:lpstr>
      <vt:lpstr>三、第二范式</vt:lpstr>
      <vt:lpstr>三、第二范式</vt:lpstr>
      <vt:lpstr>三、第二范式</vt:lpstr>
      <vt:lpstr>三、第二范式</vt:lpstr>
      <vt:lpstr>三、第二范式</vt:lpstr>
      <vt:lpstr>PowerPoint 演示文稿</vt:lpstr>
      <vt:lpstr>PowerPoint 演示文稿</vt:lpstr>
      <vt:lpstr>传递依赖</vt:lpstr>
      <vt:lpstr>传递依赖</vt:lpstr>
      <vt:lpstr>传递依赖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663</cp:revision>
  <cp:lastPrinted>2000-08-23T09:10:16Z</cp:lastPrinted>
  <dcterms:created xsi:type="dcterms:W3CDTF">1601-01-01T00:00:00Z</dcterms:created>
  <dcterms:modified xsi:type="dcterms:W3CDTF">2021-04-20T14:40:49Z</dcterms:modified>
</cp:coreProperties>
</file>