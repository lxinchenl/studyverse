
<file path=[Content_Types].xml><?xml version="1.0" encoding="utf-8"?>
<Types xmlns="http://schemas.openxmlformats.org/package/2006/content-types">
  <Default Extension="bin" ContentType="application/vnd.openxmlformats-officedocument.oleObject"/>
  <Default Extension="emf" ContentType="image/x-emf"/>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4.xml" ContentType="application/vnd.openxmlformats-officedocument.presentationml.tags+xml"/>
  <Override PartName="/ppt/notesSlides/notesSlide16.xml" ContentType="application/vnd.openxmlformats-officedocument.presentationml.notesSlide+xml"/>
  <Override PartName="/ppt/tags/tag15.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6.xml" ContentType="application/vnd.openxmlformats-officedocument.presentationml.tags+xml"/>
  <Override PartName="/ppt/notesSlides/notesSlide21.xml" ContentType="application/vnd.openxmlformats-officedocument.presentationml.notesSlide+xml"/>
  <Override PartName="/ppt/tags/tag17.xml" ContentType="application/vnd.openxmlformats-officedocument.presentationml.tags+xml"/>
  <Override PartName="/ppt/notesSlides/notesSlide22.xml" ContentType="application/vnd.openxmlformats-officedocument.presentationml.notesSlide+xml"/>
  <Override PartName="/ppt/tags/tag18.xml" ContentType="application/vnd.openxmlformats-officedocument.presentationml.tags+xml"/>
  <Override PartName="/ppt/notesSlides/notesSlide23.xml" ContentType="application/vnd.openxmlformats-officedocument.presentationml.notesSlide+xml"/>
  <Override PartName="/ppt/tags/tag19.xml" ContentType="application/vnd.openxmlformats-officedocument.presentationml.tags+xml"/>
  <Override PartName="/ppt/notesSlides/notesSlide24.xml" ContentType="application/vnd.openxmlformats-officedocument.presentationml.notesSlide+xml"/>
  <Override PartName="/ppt/tags/tag20.xml" ContentType="application/vnd.openxmlformats-officedocument.presentationml.tags+xml"/>
  <Override PartName="/ppt/notesSlides/notesSlide25.xml" ContentType="application/vnd.openxmlformats-officedocument.presentationml.notesSlide+xml"/>
  <Override PartName="/ppt/tags/tag21.xml" ContentType="application/vnd.openxmlformats-officedocument.presentationml.tags+xml"/>
  <Override PartName="/ppt/notesSlides/notesSlide26.xml" ContentType="application/vnd.openxmlformats-officedocument.presentationml.notesSlide+xml"/>
  <Override PartName="/ppt/tags/tag22.xml" ContentType="application/vnd.openxmlformats-officedocument.presentationml.tags+xml"/>
  <Override PartName="/ppt/notesSlides/notesSlide27.xml" ContentType="application/vnd.openxmlformats-officedocument.presentationml.notesSlide+xml"/>
  <Override PartName="/ppt/tags/tag23.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32"/>
  </p:notesMasterIdLst>
  <p:handoutMasterIdLst>
    <p:handoutMasterId r:id="rId33"/>
  </p:handoutMasterIdLst>
  <p:sldIdLst>
    <p:sldId id="480" r:id="rId2"/>
    <p:sldId id="690" r:id="rId3"/>
    <p:sldId id="718" r:id="rId4"/>
    <p:sldId id="525" r:id="rId5"/>
    <p:sldId id="617" r:id="rId6"/>
    <p:sldId id="616" r:id="rId7"/>
    <p:sldId id="618" r:id="rId8"/>
    <p:sldId id="619" r:id="rId9"/>
    <p:sldId id="620" r:id="rId10"/>
    <p:sldId id="621" r:id="rId11"/>
    <p:sldId id="622" r:id="rId12"/>
    <p:sldId id="686" r:id="rId13"/>
    <p:sldId id="687" r:id="rId14"/>
    <p:sldId id="536" r:id="rId15"/>
    <p:sldId id="691" r:id="rId16"/>
    <p:sldId id="538" r:id="rId17"/>
    <p:sldId id="568" r:id="rId18"/>
    <p:sldId id="624" r:id="rId19"/>
    <p:sldId id="631" r:id="rId20"/>
    <p:sldId id="708" r:id="rId21"/>
    <p:sldId id="710" r:id="rId22"/>
    <p:sldId id="626" r:id="rId23"/>
    <p:sldId id="739" r:id="rId24"/>
    <p:sldId id="740" r:id="rId25"/>
    <p:sldId id="628" r:id="rId26"/>
    <p:sldId id="738" r:id="rId27"/>
    <p:sldId id="671" r:id="rId28"/>
    <p:sldId id="634" r:id="rId29"/>
    <p:sldId id="635" r:id="rId30"/>
    <p:sldId id="717" r:id="rId31"/>
  </p:sldIdLst>
  <p:sldSz cx="9144000" cy="6858000" type="screen4x3"/>
  <p:notesSz cx="6662738" cy="9832975"/>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ern="1200">
        <a:solidFill>
          <a:schemeClr val="tx1"/>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15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FFFF00"/>
    <a:srgbClr val="336600"/>
    <a:srgbClr val="006600"/>
    <a:srgbClr val="FF99FF"/>
    <a:srgbClr val="CCCCFF"/>
    <a:srgbClr val="FF66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89" autoAdjust="0"/>
    <p:restoredTop sz="86278" autoAdjust="0"/>
  </p:normalViewPr>
  <p:slideViewPr>
    <p:cSldViewPr>
      <p:cViewPr varScale="1">
        <p:scale>
          <a:sx n="110" d="100"/>
          <a:sy n="110" d="100"/>
        </p:scale>
        <p:origin x="837" y="79"/>
      </p:cViewPr>
      <p:guideLst>
        <p:guide orient="horz" pos="1584"/>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82C025CC-6C2D-4663-85F9-9A8C5A18A894}"/>
              </a:ext>
            </a:extLst>
          </p:cNvPr>
          <p:cNvSpPr>
            <a:spLocks noGrp="1" noChangeArrowheads="1"/>
          </p:cNvSpPr>
          <p:nvPr>
            <p:ph type="hdr" sz="quarter"/>
          </p:nvPr>
        </p:nvSpPr>
        <p:spPr bwMode="auto">
          <a:xfrm>
            <a:off x="0" y="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lvl1pPr>
              <a:defRPr kumimoji="1" sz="1200">
                <a:solidFill>
                  <a:schemeClr val="tx2"/>
                </a:solidFill>
                <a:latin typeface="Times New Roman" panose="02020603050405020304" pitchFamily="18" charset="0"/>
                <a:ea typeface="宋体" panose="02010600030101010101" pitchFamily="2" charset="-122"/>
              </a:defRPr>
            </a:lvl1pPr>
          </a:lstStyle>
          <a:p>
            <a:endParaRPr lang="zh-CN" altLang="en-US"/>
          </a:p>
        </p:txBody>
      </p:sp>
      <p:sp>
        <p:nvSpPr>
          <p:cNvPr id="107523" name="Rectangle 3">
            <a:extLst>
              <a:ext uri="{FF2B5EF4-FFF2-40B4-BE49-F238E27FC236}">
                <a16:creationId xmlns:a16="http://schemas.microsoft.com/office/drawing/2014/main" id="{1F17BF2F-E7FA-4FD3-9F9F-103D46751BDF}"/>
              </a:ext>
            </a:extLst>
          </p:cNvPr>
          <p:cNvSpPr>
            <a:spLocks noGrp="1" noChangeArrowheads="1"/>
          </p:cNvSpPr>
          <p:nvPr>
            <p:ph type="dt" sz="quarter" idx="1"/>
          </p:nvPr>
        </p:nvSpPr>
        <p:spPr bwMode="auto">
          <a:xfrm>
            <a:off x="3810000" y="0"/>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lvl1pPr algn="r">
              <a:defRPr kumimoji="1" sz="1200">
                <a:solidFill>
                  <a:schemeClr val="tx2"/>
                </a:solidFill>
                <a:latin typeface="Times New Roman" panose="02020603050405020304" pitchFamily="18" charset="0"/>
                <a:ea typeface="宋体" panose="02010600030101010101" pitchFamily="2" charset="-122"/>
              </a:defRPr>
            </a:lvl1pPr>
          </a:lstStyle>
          <a:p>
            <a:endParaRPr lang="en-US" altLang="zh-CN"/>
          </a:p>
        </p:txBody>
      </p:sp>
      <p:sp>
        <p:nvSpPr>
          <p:cNvPr id="107524" name="Rectangle 4">
            <a:extLst>
              <a:ext uri="{FF2B5EF4-FFF2-40B4-BE49-F238E27FC236}">
                <a16:creationId xmlns:a16="http://schemas.microsoft.com/office/drawing/2014/main" id="{88D6B17F-8756-44B3-B508-0EA0B2D42653}"/>
              </a:ext>
            </a:extLst>
          </p:cNvPr>
          <p:cNvSpPr>
            <a:spLocks noGrp="1" noChangeArrowheads="1"/>
          </p:cNvSpPr>
          <p:nvPr>
            <p:ph type="ftr" sz="quarter" idx="2"/>
          </p:nvPr>
        </p:nvSpPr>
        <p:spPr bwMode="auto">
          <a:xfrm>
            <a:off x="0" y="9372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prstTxWarp prst="textNoShape">
              <a:avLst/>
            </a:prstTxWarp>
          </a:bodyPr>
          <a:lstStyle>
            <a:lvl1pPr>
              <a:defRPr kumimoji="1" sz="1200">
                <a:solidFill>
                  <a:schemeClr val="tx2"/>
                </a:solidFill>
                <a:latin typeface="Times New Roman" panose="02020603050405020304" pitchFamily="18" charset="0"/>
                <a:ea typeface="宋体" panose="02010600030101010101" pitchFamily="2" charset="-122"/>
              </a:defRPr>
            </a:lvl1pPr>
          </a:lstStyle>
          <a:p>
            <a:endParaRPr lang="en-US" altLang="zh-CN"/>
          </a:p>
        </p:txBody>
      </p:sp>
      <p:sp>
        <p:nvSpPr>
          <p:cNvPr id="107525" name="Rectangle 5">
            <a:extLst>
              <a:ext uri="{FF2B5EF4-FFF2-40B4-BE49-F238E27FC236}">
                <a16:creationId xmlns:a16="http://schemas.microsoft.com/office/drawing/2014/main" id="{30E08ED1-58CF-49DF-8F86-39782D6261B0}"/>
              </a:ext>
            </a:extLst>
          </p:cNvPr>
          <p:cNvSpPr>
            <a:spLocks noGrp="1" noChangeArrowheads="1"/>
          </p:cNvSpPr>
          <p:nvPr>
            <p:ph type="sldNum" sz="quarter" idx="3"/>
          </p:nvPr>
        </p:nvSpPr>
        <p:spPr bwMode="auto">
          <a:xfrm>
            <a:off x="3810000" y="9372600"/>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prstTxWarp prst="textNoShape">
              <a:avLst/>
            </a:prstTxWarp>
          </a:bodyPr>
          <a:lstStyle>
            <a:lvl1pPr algn="r">
              <a:defRPr kumimoji="1" sz="1200">
                <a:solidFill>
                  <a:schemeClr val="tx2"/>
                </a:solidFill>
                <a:latin typeface="Times New Roman" panose="02020603050405020304" pitchFamily="18" charset="0"/>
                <a:ea typeface="宋体" panose="02010600030101010101" pitchFamily="2" charset="-122"/>
              </a:defRPr>
            </a:lvl1pPr>
          </a:lstStyle>
          <a:p>
            <a:fld id="{C554C430-A42F-4EEC-B6D4-D9BB3DB712F6}" type="slidenum">
              <a:rPr lang="zh-CN" altLang="en-US"/>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2018" name="Rectangle 2">
            <a:extLst>
              <a:ext uri="{FF2B5EF4-FFF2-40B4-BE49-F238E27FC236}">
                <a16:creationId xmlns:a16="http://schemas.microsoft.com/office/drawing/2014/main" id="{AAB39FC8-4BAA-4DC7-B44E-9F8AD1396DBC}"/>
              </a:ext>
            </a:extLst>
          </p:cNvPr>
          <p:cNvSpPr>
            <a:spLocks noGrp="1" noChangeArrowheads="1"/>
          </p:cNvSpPr>
          <p:nvPr>
            <p:ph type="hdr" sz="quarter"/>
          </p:nvPr>
        </p:nvSpPr>
        <p:spPr bwMode="auto">
          <a:xfrm>
            <a:off x="0" y="0"/>
            <a:ext cx="2887663"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1" sz="1200">
                <a:latin typeface="Times New Roman" panose="02020603050405020304" pitchFamily="18" charset="0"/>
                <a:ea typeface="宋体" panose="02010600030101010101" pitchFamily="2" charset="-122"/>
              </a:defRPr>
            </a:lvl1pPr>
          </a:lstStyle>
          <a:p>
            <a:endParaRPr lang="zh-CN" altLang="en-US"/>
          </a:p>
        </p:txBody>
      </p:sp>
      <p:sp>
        <p:nvSpPr>
          <p:cNvPr id="342019" name="Rectangle 3">
            <a:extLst>
              <a:ext uri="{FF2B5EF4-FFF2-40B4-BE49-F238E27FC236}">
                <a16:creationId xmlns:a16="http://schemas.microsoft.com/office/drawing/2014/main" id="{D763CA7F-0F30-4EDE-BEB0-E4F3B8F2D205}"/>
              </a:ext>
            </a:extLst>
          </p:cNvPr>
          <p:cNvSpPr>
            <a:spLocks noGrp="1" noChangeArrowheads="1"/>
          </p:cNvSpPr>
          <p:nvPr>
            <p:ph type="dt" idx="1"/>
          </p:nvPr>
        </p:nvSpPr>
        <p:spPr bwMode="auto">
          <a:xfrm>
            <a:off x="3773488" y="0"/>
            <a:ext cx="2887662"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1" sz="1200">
                <a:latin typeface="Times New Roman" panose="02020603050405020304" pitchFamily="18" charset="0"/>
                <a:ea typeface="宋体" panose="02010600030101010101" pitchFamily="2" charset="-122"/>
              </a:defRPr>
            </a:lvl1pPr>
          </a:lstStyle>
          <a:p>
            <a:endParaRPr lang="en-US" altLang="zh-CN"/>
          </a:p>
        </p:txBody>
      </p:sp>
      <p:sp>
        <p:nvSpPr>
          <p:cNvPr id="342020" name="Rectangle 4">
            <a:extLst>
              <a:ext uri="{FF2B5EF4-FFF2-40B4-BE49-F238E27FC236}">
                <a16:creationId xmlns:a16="http://schemas.microsoft.com/office/drawing/2014/main" id="{BE37B2CF-FD8A-4C29-A107-2536CEDA9A83}"/>
              </a:ext>
            </a:extLst>
          </p:cNvPr>
          <p:cNvSpPr>
            <a:spLocks noGrp="1" noRot="1" noChangeAspect="1" noChangeArrowheads="1" noTextEdit="1"/>
          </p:cNvSpPr>
          <p:nvPr>
            <p:ph type="sldImg" idx="2"/>
          </p:nvPr>
        </p:nvSpPr>
        <p:spPr bwMode="auto">
          <a:xfrm>
            <a:off x="874713" y="738188"/>
            <a:ext cx="4914900" cy="3686175"/>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42021" name="Rectangle 5">
            <a:extLst>
              <a:ext uri="{FF2B5EF4-FFF2-40B4-BE49-F238E27FC236}">
                <a16:creationId xmlns:a16="http://schemas.microsoft.com/office/drawing/2014/main" id="{E81A2B88-FC89-4B46-9681-3B6C57CF085E}"/>
              </a:ext>
            </a:extLst>
          </p:cNvPr>
          <p:cNvSpPr>
            <a:spLocks noGrp="1" noChangeArrowheads="1"/>
          </p:cNvSpPr>
          <p:nvPr>
            <p:ph type="body" sz="quarter" idx="3"/>
          </p:nvPr>
        </p:nvSpPr>
        <p:spPr bwMode="auto">
          <a:xfrm>
            <a:off x="666750" y="4670425"/>
            <a:ext cx="5329238" cy="442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42022" name="Rectangle 6">
            <a:extLst>
              <a:ext uri="{FF2B5EF4-FFF2-40B4-BE49-F238E27FC236}">
                <a16:creationId xmlns:a16="http://schemas.microsoft.com/office/drawing/2014/main" id="{64D12B86-20B5-48C8-9106-CC039BC30D92}"/>
              </a:ext>
            </a:extLst>
          </p:cNvPr>
          <p:cNvSpPr>
            <a:spLocks noGrp="1" noChangeArrowheads="1"/>
          </p:cNvSpPr>
          <p:nvPr>
            <p:ph type="ftr" sz="quarter" idx="4"/>
          </p:nvPr>
        </p:nvSpPr>
        <p:spPr bwMode="auto">
          <a:xfrm>
            <a:off x="0" y="9339263"/>
            <a:ext cx="2887663"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1" sz="1200">
                <a:latin typeface="Times New Roman" panose="02020603050405020304" pitchFamily="18" charset="0"/>
                <a:ea typeface="宋体" panose="02010600030101010101" pitchFamily="2" charset="-122"/>
              </a:defRPr>
            </a:lvl1pPr>
          </a:lstStyle>
          <a:p>
            <a:endParaRPr lang="en-US" altLang="zh-CN"/>
          </a:p>
        </p:txBody>
      </p:sp>
      <p:sp>
        <p:nvSpPr>
          <p:cNvPr id="342023" name="Rectangle 7">
            <a:extLst>
              <a:ext uri="{FF2B5EF4-FFF2-40B4-BE49-F238E27FC236}">
                <a16:creationId xmlns:a16="http://schemas.microsoft.com/office/drawing/2014/main" id="{09C9FDCB-31BC-4117-90AE-FF33D3E8E47F}"/>
              </a:ext>
            </a:extLst>
          </p:cNvPr>
          <p:cNvSpPr>
            <a:spLocks noGrp="1" noChangeArrowheads="1"/>
          </p:cNvSpPr>
          <p:nvPr>
            <p:ph type="sldNum" sz="quarter" idx="5"/>
          </p:nvPr>
        </p:nvSpPr>
        <p:spPr bwMode="auto">
          <a:xfrm>
            <a:off x="3773488" y="9339263"/>
            <a:ext cx="2887662"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1" sz="1200">
                <a:latin typeface="Times New Roman" panose="02020603050405020304" pitchFamily="18" charset="0"/>
                <a:ea typeface="宋体" panose="02010600030101010101" pitchFamily="2" charset="-122"/>
              </a:defRPr>
            </a:lvl1pPr>
          </a:lstStyle>
          <a:p>
            <a:fld id="{9B0B2777-31DB-4673-9C3C-0D1BAD296E0C}"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EFA3979-3838-47F9-9B2C-9D94A62AF2FC}"/>
              </a:ext>
            </a:extLst>
          </p:cNvPr>
          <p:cNvSpPr>
            <a:spLocks noGrp="1" noChangeArrowheads="1"/>
          </p:cNvSpPr>
          <p:nvPr>
            <p:ph type="sldNum" sz="quarter" idx="5"/>
          </p:nvPr>
        </p:nvSpPr>
        <p:spPr>
          <a:ln/>
        </p:spPr>
        <p:txBody>
          <a:bodyPr/>
          <a:lstStyle/>
          <a:p>
            <a:fld id="{88C5E198-73A2-4DE3-93DC-37E4D8D58F1F}" type="slidenum">
              <a:rPr lang="zh-CN" altLang="en-US"/>
              <a:pPr/>
              <a:t>1</a:t>
            </a:fld>
            <a:endParaRPr lang="en-US" altLang="zh-CN"/>
          </a:p>
        </p:txBody>
      </p:sp>
      <p:sp>
        <p:nvSpPr>
          <p:cNvPr id="837634" name="Rectangle 2">
            <a:extLst>
              <a:ext uri="{FF2B5EF4-FFF2-40B4-BE49-F238E27FC236}">
                <a16:creationId xmlns:a16="http://schemas.microsoft.com/office/drawing/2014/main" id="{4D5A6C35-715B-49D2-98D7-21434413EC3B}"/>
              </a:ext>
            </a:extLst>
          </p:cNvPr>
          <p:cNvSpPr>
            <a:spLocks noGrp="1" noRot="1" noChangeAspect="1" noChangeArrowheads="1" noTextEdit="1"/>
          </p:cNvSpPr>
          <p:nvPr>
            <p:ph type="sldImg"/>
          </p:nvPr>
        </p:nvSpPr>
        <p:spPr>
          <a:ln/>
        </p:spPr>
      </p:sp>
      <p:sp>
        <p:nvSpPr>
          <p:cNvPr id="837635" name="Rectangle 3">
            <a:extLst>
              <a:ext uri="{FF2B5EF4-FFF2-40B4-BE49-F238E27FC236}">
                <a16:creationId xmlns:a16="http://schemas.microsoft.com/office/drawing/2014/main" id="{80E187C3-C2E6-49B3-B5A4-DEE3804EE26F}"/>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2B21ED0-96E1-405D-9572-72C380FBE340}"/>
              </a:ext>
            </a:extLst>
          </p:cNvPr>
          <p:cNvSpPr>
            <a:spLocks noGrp="1" noChangeArrowheads="1"/>
          </p:cNvSpPr>
          <p:nvPr>
            <p:ph type="sldNum" sz="quarter" idx="5"/>
          </p:nvPr>
        </p:nvSpPr>
        <p:spPr>
          <a:ln/>
        </p:spPr>
        <p:txBody>
          <a:bodyPr/>
          <a:lstStyle/>
          <a:p>
            <a:fld id="{0D9886A8-D97F-4961-8E6C-3C082893D6EF}" type="slidenum">
              <a:rPr lang="zh-CN" altLang="en-US"/>
              <a:pPr/>
              <a:t>2</a:t>
            </a:fld>
            <a:endParaRPr lang="en-US" altLang="zh-CN"/>
          </a:p>
        </p:txBody>
      </p:sp>
      <p:sp>
        <p:nvSpPr>
          <p:cNvPr id="945154" name="Rectangle 2">
            <a:extLst>
              <a:ext uri="{FF2B5EF4-FFF2-40B4-BE49-F238E27FC236}">
                <a16:creationId xmlns:a16="http://schemas.microsoft.com/office/drawing/2014/main" id="{FED89AA0-A05B-4642-AA4B-F137E3480FAA}"/>
              </a:ext>
            </a:extLst>
          </p:cNvPr>
          <p:cNvSpPr>
            <a:spLocks noGrp="1" noRot="1" noChangeAspect="1" noChangeArrowheads="1" noTextEdit="1"/>
          </p:cNvSpPr>
          <p:nvPr>
            <p:ph type="sldImg"/>
          </p:nvPr>
        </p:nvSpPr>
        <p:spPr>
          <a:ln/>
        </p:spPr>
      </p:sp>
      <p:sp>
        <p:nvSpPr>
          <p:cNvPr id="945155" name="Rectangle 3">
            <a:extLst>
              <a:ext uri="{FF2B5EF4-FFF2-40B4-BE49-F238E27FC236}">
                <a16:creationId xmlns:a16="http://schemas.microsoft.com/office/drawing/2014/main" id="{058CE16A-011B-41E6-A1D3-08EC841D3525}"/>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F1573C5-287A-4401-B42F-F46F593E17EF}"/>
              </a:ext>
            </a:extLst>
          </p:cNvPr>
          <p:cNvSpPr>
            <a:spLocks noGrp="1" noChangeArrowheads="1"/>
          </p:cNvSpPr>
          <p:nvPr>
            <p:ph type="sldNum" sz="quarter" idx="5"/>
          </p:nvPr>
        </p:nvSpPr>
        <p:spPr>
          <a:ln/>
        </p:spPr>
        <p:txBody>
          <a:bodyPr/>
          <a:lstStyle/>
          <a:p>
            <a:fld id="{14B6B306-DC8D-48D5-B87F-D94D04430E66}" type="slidenum">
              <a:rPr lang="zh-CN" altLang="en-US"/>
              <a:pPr/>
              <a:t>3</a:t>
            </a:fld>
            <a:endParaRPr lang="en-US" altLang="zh-CN"/>
          </a:p>
        </p:txBody>
      </p:sp>
      <p:sp>
        <p:nvSpPr>
          <p:cNvPr id="1024002" name="Rectangle 2">
            <a:extLst>
              <a:ext uri="{FF2B5EF4-FFF2-40B4-BE49-F238E27FC236}">
                <a16:creationId xmlns:a16="http://schemas.microsoft.com/office/drawing/2014/main" id="{E1F21872-8BFD-4BCA-A049-BED6C6661462}"/>
              </a:ext>
            </a:extLst>
          </p:cNvPr>
          <p:cNvSpPr>
            <a:spLocks noGrp="1" noRot="1" noChangeAspect="1" noChangeArrowheads="1" noTextEdit="1"/>
          </p:cNvSpPr>
          <p:nvPr>
            <p:ph type="sldImg"/>
          </p:nvPr>
        </p:nvSpPr>
        <p:spPr>
          <a:ln/>
        </p:spPr>
      </p:sp>
      <p:sp>
        <p:nvSpPr>
          <p:cNvPr id="1024003" name="Rectangle 3">
            <a:extLst>
              <a:ext uri="{FF2B5EF4-FFF2-40B4-BE49-F238E27FC236}">
                <a16:creationId xmlns:a16="http://schemas.microsoft.com/office/drawing/2014/main" id="{3C46677F-D401-4AF0-8856-91D50A145235}"/>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7A24039-B6C4-45E9-8722-088439C522F8}"/>
              </a:ext>
            </a:extLst>
          </p:cNvPr>
          <p:cNvSpPr>
            <a:spLocks noGrp="1" noChangeArrowheads="1"/>
          </p:cNvSpPr>
          <p:nvPr>
            <p:ph type="sldNum" sz="quarter" idx="5"/>
          </p:nvPr>
        </p:nvSpPr>
        <p:spPr>
          <a:ln/>
        </p:spPr>
        <p:txBody>
          <a:bodyPr/>
          <a:lstStyle/>
          <a:p>
            <a:fld id="{6F7B998D-33F0-47A5-8843-64A5401E45C7}" type="slidenum">
              <a:rPr lang="zh-CN" altLang="en-US"/>
              <a:pPr/>
              <a:t>4</a:t>
            </a:fld>
            <a:endParaRPr lang="en-US" altLang="zh-CN"/>
          </a:p>
        </p:txBody>
      </p:sp>
      <p:sp>
        <p:nvSpPr>
          <p:cNvPr id="838658" name="Rectangle 2">
            <a:extLst>
              <a:ext uri="{FF2B5EF4-FFF2-40B4-BE49-F238E27FC236}">
                <a16:creationId xmlns:a16="http://schemas.microsoft.com/office/drawing/2014/main" id="{B5E9248F-48AE-48A9-8036-087BE75120A1}"/>
              </a:ext>
            </a:extLst>
          </p:cNvPr>
          <p:cNvSpPr>
            <a:spLocks noGrp="1" noRot="1" noChangeAspect="1" noChangeArrowheads="1" noTextEdit="1"/>
          </p:cNvSpPr>
          <p:nvPr>
            <p:ph type="sldImg"/>
          </p:nvPr>
        </p:nvSpPr>
        <p:spPr>
          <a:ln/>
        </p:spPr>
      </p:sp>
      <p:sp>
        <p:nvSpPr>
          <p:cNvPr id="838659" name="Rectangle 3">
            <a:extLst>
              <a:ext uri="{FF2B5EF4-FFF2-40B4-BE49-F238E27FC236}">
                <a16:creationId xmlns:a16="http://schemas.microsoft.com/office/drawing/2014/main" id="{B67A9FA5-65C1-4AAA-B876-042EA1BD5C86}"/>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DABE369-FEA4-48E7-A0F5-DA33550B4DDB}"/>
              </a:ext>
            </a:extLst>
          </p:cNvPr>
          <p:cNvSpPr>
            <a:spLocks noGrp="1" noChangeArrowheads="1"/>
          </p:cNvSpPr>
          <p:nvPr>
            <p:ph type="sldNum" sz="quarter" idx="5"/>
          </p:nvPr>
        </p:nvSpPr>
        <p:spPr>
          <a:ln/>
        </p:spPr>
        <p:txBody>
          <a:bodyPr/>
          <a:lstStyle/>
          <a:p>
            <a:fld id="{1A1A71EA-5E44-4DFA-839B-F242E765B014}" type="slidenum">
              <a:rPr lang="zh-CN" altLang="en-US"/>
              <a:pPr/>
              <a:t>5</a:t>
            </a:fld>
            <a:endParaRPr lang="en-US" altLang="zh-CN"/>
          </a:p>
        </p:txBody>
      </p:sp>
      <p:sp>
        <p:nvSpPr>
          <p:cNvPr id="839682" name="Rectangle 2">
            <a:extLst>
              <a:ext uri="{FF2B5EF4-FFF2-40B4-BE49-F238E27FC236}">
                <a16:creationId xmlns:a16="http://schemas.microsoft.com/office/drawing/2014/main" id="{0033CF68-60FF-4204-8AE9-892C179B862E}"/>
              </a:ext>
            </a:extLst>
          </p:cNvPr>
          <p:cNvSpPr>
            <a:spLocks noGrp="1" noRot="1" noChangeAspect="1" noChangeArrowheads="1" noTextEdit="1"/>
          </p:cNvSpPr>
          <p:nvPr>
            <p:ph type="sldImg"/>
          </p:nvPr>
        </p:nvSpPr>
        <p:spPr>
          <a:ln/>
        </p:spPr>
      </p:sp>
      <p:sp>
        <p:nvSpPr>
          <p:cNvPr id="839683" name="Rectangle 3">
            <a:extLst>
              <a:ext uri="{FF2B5EF4-FFF2-40B4-BE49-F238E27FC236}">
                <a16:creationId xmlns:a16="http://schemas.microsoft.com/office/drawing/2014/main" id="{BE2D591A-C526-4C18-A683-78B83C1FC9FB}"/>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A21F093-C295-481A-AA1C-C46B499545AD}"/>
              </a:ext>
            </a:extLst>
          </p:cNvPr>
          <p:cNvSpPr>
            <a:spLocks noGrp="1" noChangeArrowheads="1"/>
          </p:cNvSpPr>
          <p:nvPr>
            <p:ph type="sldNum" sz="quarter" idx="5"/>
          </p:nvPr>
        </p:nvSpPr>
        <p:spPr>
          <a:ln/>
        </p:spPr>
        <p:txBody>
          <a:bodyPr/>
          <a:lstStyle/>
          <a:p>
            <a:fld id="{4501F662-DB0C-4DAA-B8C3-B9F3A5CA6F14}" type="slidenum">
              <a:rPr lang="zh-CN" altLang="en-US"/>
              <a:pPr/>
              <a:t>6</a:t>
            </a:fld>
            <a:endParaRPr lang="en-US" altLang="zh-CN"/>
          </a:p>
        </p:txBody>
      </p:sp>
      <p:sp>
        <p:nvSpPr>
          <p:cNvPr id="840706" name="Rectangle 2">
            <a:extLst>
              <a:ext uri="{FF2B5EF4-FFF2-40B4-BE49-F238E27FC236}">
                <a16:creationId xmlns:a16="http://schemas.microsoft.com/office/drawing/2014/main" id="{C90FBE68-B9C7-4BB5-BE9A-E37E873676C5}"/>
              </a:ext>
            </a:extLst>
          </p:cNvPr>
          <p:cNvSpPr>
            <a:spLocks noGrp="1" noRot="1" noChangeAspect="1" noChangeArrowheads="1" noTextEdit="1"/>
          </p:cNvSpPr>
          <p:nvPr>
            <p:ph type="sldImg"/>
          </p:nvPr>
        </p:nvSpPr>
        <p:spPr>
          <a:ln/>
        </p:spPr>
      </p:sp>
      <p:sp>
        <p:nvSpPr>
          <p:cNvPr id="840707" name="Rectangle 3">
            <a:extLst>
              <a:ext uri="{FF2B5EF4-FFF2-40B4-BE49-F238E27FC236}">
                <a16:creationId xmlns:a16="http://schemas.microsoft.com/office/drawing/2014/main" id="{1D794B4F-CE75-4411-BBA3-78383D98C86E}"/>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002F347-A330-423D-B460-88175355DF1C}"/>
              </a:ext>
            </a:extLst>
          </p:cNvPr>
          <p:cNvSpPr>
            <a:spLocks noGrp="1" noChangeArrowheads="1"/>
          </p:cNvSpPr>
          <p:nvPr>
            <p:ph type="sldNum" sz="quarter" idx="5"/>
          </p:nvPr>
        </p:nvSpPr>
        <p:spPr>
          <a:ln/>
        </p:spPr>
        <p:txBody>
          <a:bodyPr/>
          <a:lstStyle/>
          <a:p>
            <a:fld id="{851CCFCA-E6BD-4274-8DF0-37300C1CE702}" type="slidenum">
              <a:rPr lang="zh-CN" altLang="en-US"/>
              <a:pPr/>
              <a:t>7</a:t>
            </a:fld>
            <a:endParaRPr lang="en-US" altLang="zh-CN"/>
          </a:p>
        </p:txBody>
      </p:sp>
      <p:sp>
        <p:nvSpPr>
          <p:cNvPr id="841730" name="Rectangle 2">
            <a:extLst>
              <a:ext uri="{FF2B5EF4-FFF2-40B4-BE49-F238E27FC236}">
                <a16:creationId xmlns:a16="http://schemas.microsoft.com/office/drawing/2014/main" id="{9620B642-5CD8-48E7-BAC1-2487322A3352}"/>
              </a:ext>
            </a:extLst>
          </p:cNvPr>
          <p:cNvSpPr>
            <a:spLocks noGrp="1" noRot="1" noChangeAspect="1" noChangeArrowheads="1" noTextEdit="1"/>
          </p:cNvSpPr>
          <p:nvPr>
            <p:ph type="sldImg"/>
          </p:nvPr>
        </p:nvSpPr>
        <p:spPr>
          <a:ln/>
        </p:spPr>
      </p:sp>
      <p:sp>
        <p:nvSpPr>
          <p:cNvPr id="841731" name="Rectangle 3">
            <a:extLst>
              <a:ext uri="{FF2B5EF4-FFF2-40B4-BE49-F238E27FC236}">
                <a16:creationId xmlns:a16="http://schemas.microsoft.com/office/drawing/2014/main" id="{3599FE08-A75E-4A23-AE6B-E6C6D0B57B0A}"/>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4BE5103-3722-40FC-9C33-08BB31A47FC6}"/>
              </a:ext>
            </a:extLst>
          </p:cNvPr>
          <p:cNvSpPr>
            <a:spLocks noGrp="1" noChangeArrowheads="1"/>
          </p:cNvSpPr>
          <p:nvPr>
            <p:ph type="sldNum" sz="quarter" idx="5"/>
          </p:nvPr>
        </p:nvSpPr>
        <p:spPr>
          <a:ln/>
        </p:spPr>
        <p:txBody>
          <a:bodyPr/>
          <a:lstStyle/>
          <a:p>
            <a:fld id="{2F8E73C6-1AF5-4F41-AEF4-F6749F915CC3}" type="slidenum">
              <a:rPr lang="zh-CN" altLang="en-US"/>
              <a:pPr/>
              <a:t>8</a:t>
            </a:fld>
            <a:endParaRPr lang="en-US" altLang="zh-CN"/>
          </a:p>
        </p:txBody>
      </p:sp>
      <p:sp>
        <p:nvSpPr>
          <p:cNvPr id="842754" name="Rectangle 2">
            <a:extLst>
              <a:ext uri="{FF2B5EF4-FFF2-40B4-BE49-F238E27FC236}">
                <a16:creationId xmlns:a16="http://schemas.microsoft.com/office/drawing/2014/main" id="{10DC64B3-7577-47CA-B3F7-B1A184707793}"/>
              </a:ext>
            </a:extLst>
          </p:cNvPr>
          <p:cNvSpPr>
            <a:spLocks noGrp="1" noRot="1" noChangeAspect="1" noChangeArrowheads="1" noTextEdit="1"/>
          </p:cNvSpPr>
          <p:nvPr>
            <p:ph type="sldImg"/>
          </p:nvPr>
        </p:nvSpPr>
        <p:spPr>
          <a:ln/>
        </p:spPr>
      </p:sp>
      <p:sp>
        <p:nvSpPr>
          <p:cNvPr id="842755" name="Rectangle 3">
            <a:extLst>
              <a:ext uri="{FF2B5EF4-FFF2-40B4-BE49-F238E27FC236}">
                <a16:creationId xmlns:a16="http://schemas.microsoft.com/office/drawing/2014/main" id="{05A7B562-15B1-43BB-8A84-7CD49078F177}"/>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577C668-4732-45F7-A9DE-F6D0C789DB62}"/>
              </a:ext>
            </a:extLst>
          </p:cNvPr>
          <p:cNvSpPr>
            <a:spLocks noGrp="1" noChangeArrowheads="1"/>
          </p:cNvSpPr>
          <p:nvPr>
            <p:ph type="sldNum" sz="quarter" idx="5"/>
          </p:nvPr>
        </p:nvSpPr>
        <p:spPr>
          <a:ln/>
        </p:spPr>
        <p:txBody>
          <a:bodyPr/>
          <a:lstStyle/>
          <a:p>
            <a:fld id="{9309467E-CCC3-412F-BCD3-EF4F4945D895}" type="slidenum">
              <a:rPr lang="zh-CN" altLang="en-US"/>
              <a:pPr/>
              <a:t>9</a:t>
            </a:fld>
            <a:endParaRPr lang="en-US" altLang="zh-CN"/>
          </a:p>
        </p:txBody>
      </p:sp>
      <p:sp>
        <p:nvSpPr>
          <p:cNvPr id="843778" name="Rectangle 2">
            <a:extLst>
              <a:ext uri="{FF2B5EF4-FFF2-40B4-BE49-F238E27FC236}">
                <a16:creationId xmlns:a16="http://schemas.microsoft.com/office/drawing/2014/main" id="{B847C09D-DD5C-4231-B503-72075A8554C2}"/>
              </a:ext>
            </a:extLst>
          </p:cNvPr>
          <p:cNvSpPr>
            <a:spLocks noGrp="1" noRot="1" noChangeAspect="1" noChangeArrowheads="1" noTextEdit="1"/>
          </p:cNvSpPr>
          <p:nvPr>
            <p:ph type="sldImg"/>
          </p:nvPr>
        </p:nvSpPr>
        <p:spPr>
          <a:ln/>
        </p:spPr>
      </p:sp>
      <p:sp>
        <p:nvSpPr>
          <p:cNvPr id="843779" name="Rectangle 3">
            <a:extLst>
              <a:ext uri="{FF2B5EF4-FFF2-40B4-BE49-F238E27FC236}">
                <a16:creationId xmlns:a16="http://schemas.microsoft.com/office/drawing/2014/main" id="{05A6BCDF-9C85-44D9-AFFB-B8BB6EAF3AC5}"/>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11D21FF-EDBD-43C4-908E-9657579A37F5}"/>
              </a:ext>
            </a:extLst>
          </p:cNvPr>
          <p:cNvSpPr>
            <a:spLocks noGrp="1" noChangeArrowheads="1"/>
          </p:cNvSpPr>
          <p:nvPr>
            <p:ph type="sldNum" sz="quarter" idx="5"/>
          </p:nvPr>
        </p:nvSpPr>
        <p:spPr>
          <a:ln/>
        </p:spPr>
        <p:txBody>
          <a:bodyPr/>
          <a:lstStyle/>
          <a:p>
            <a:fld id="{A7A0A8E4-1080-4A66-B60C-5F792861EFFC}" type="slidenum">
              <a:rPr lang="zh-CN" altLang="en-US"/>
              <a:pPr/>
              <a:t>10</a:t>
            </a:fld>
            <a:endParaRPr lang="en-US" altLang="zh-CN"/>
          </a:p>
        </p:txBody>
      </p:sp>
      <p:sp>
        <p:nvSpPr>
          <p:cNvPr id="844802" name="Rectangle 2">
            <a:extLst>
              <a:ext uri="{FF2B5EF4-FFF2-40B4-BE49-F238E27FC236}">
                <a16:creationId xmlns:a16="http://schemas.microsoft.com/office/drawing/2014/main" id="{BE376504-D61E-42CB-BC7F-368A97D7D459}"/>
              </a:ext>
            </a:extLst>
          </p:cNvPr>
          <p:cNvSpPr>
            <a:spLocks noGrp="1" noRot="1" noChangeAspect="1" noChangeArrowheads="1" noTextEdit="1"/>
          </p:cNvSpPr>
          <p:nvPr>
            <p:ph type="sldImg"/>
          </p:nvPr>
        </p:nvSpPr>
        <p:spPr>
          <a:ln/>
        </p:spPr>
      </p:sp>
      <p:sp>
        <p:nvSpPr>
          <p:cNvPr id="844803" name="Rectangle 3">
            <a:extLst>
              <a:ext uri="{FF2B5EF4-FFF2-40B4-BE49-F238E27FC236}">
                <a16:creationId xmlns:a16="http://schemas.microsoft.com/office/drawing/2014/main" id="{7B2568A2-8D0B-4A95-97C2-B63157C446AA}"/>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2061522-F90B-4047-8278-547BE8124727}"/>
              </a:ext>
            </a:extLst>
          </p:cNvPr>
          <p:cNvSpPr>
            <a:spLocks noGrp="1" noChangeArrowheads="1"/>
          </p:cNvSpPr>
          <p:nvPr>
            <p:ph type="sldNum" sz="quarter" idx="5"/>
          </p:nvPr>
        </p:nvSpPr>
        <p:spPr>
          <a:ln/>
        </p:spPr>
        <p:txBody>
          <a:bodyPr/>
          <a:lstStyle/>
          <a:p>
            <a:fld id="{D12818DA-EB30-4B23-B05C-975ABD65B406}" type="slidenum">
              <a:rPr lang="zh-CN" altLang="en-US"/>
              <a:pPr/>
              <a:t>11</a:t>
            </a:fld>
            <a:endParaRPr lang="en-US" altLang="zh-CN"/>
          </a:p>
        </p:txBody>
      </p:sp>
      <p:sp>
        <p:nvSpPr>
          <p:cNvPr id="644098" name="Rectangle 2">
            <a:extLst>
              <a:ext uri="{FF2B5EF4-FFF2-40B4-BE49-F238E27FC236}">
                <a16:creationId xmlns:a16="http://schemas.microsoft.com/office/drawing/2014/main" id="{E2F6345D-5C7A-4FE9-8A5C-50FC97739808}"/>
              </a:ext>
            </a:extLst>
          </p:cNvPr>
          <p:cNvSpPr>
            <a:spLocks noGrp="1" noRot="1" noChangeAspect="1" noChangeArrowheads="1" noTextEdit="1"/>
          </p:cNvSpPr>
          <p:nvPr>
            <p:ph type="sldImg"/>
          </p:nvPr>
        </p:nvSpPr>
        <p:spPr>
          <a:ln/>
        </p:spPr>
      </p:sp>
      <p:sp>
        <p:nvSpPr>
          <p:cNvPr id="644099" name="Rectangle 3">
            <a:extLst>
              <a:ext uri="{FF2B5EF4-FFF2-40B4-BE49-F238E27FC236}">
                <a16:creationId xmlns:a16="http://schemas.microsoft.com/office/drawing/2014/main" id="{B4983169-6711-462C-A4C9-B3C1E0821A9E}"/>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A71E0B8-35C5-4C00-BCCD-76122D719866}"/>
              </a:ext>
            </a:extLst>
          </p:cNvPr>
          <p:cNvSpPr>
            <a:spLocks noGrp="1" noChangeArrowheads="1"/>
          </p:cNvSpPr>
          <p:nvPr>
            <p:ph type="sldNum" sz="quarter" idx="5"/>
          </p:nvPr>
        </p:nvSpPr>
        <p:spPr>
          <a:ln/>
        </p:spPr>
        <p:txBody>
          <a:bodyPr/>
          <a:lstStyle/>
          <a:p>
            <a:fld id="{22BB226B-C785-47A9-83D2-4D8C7280BAD2}" type="slidenum">
              <a:rPr lang="zh-CN" altLang="en-US"/>
              <a:pPr/>
              <a:t>12</a:t>
            </a:fld>
            <a:endParaRPr lang="en-US" altLang="zh-CN"/>
          </a:p>
        </p:txBody>
      </p:sp>
      <p:sp>
        <p:nvSpPr>
          <p:cNvPr id="930818" name="Rectangle 2">
            <a:extLst>
              <a:ext uri="{FF2B5EF4-FFF2-40B4-BE49-F238E27FC236}">
                <a16:creationId xmlns:a16="http://schemas.microsoft.com/office/drawing/2014/main" id="{43CD28A2-F436-4B17-9BC0-4E3A9541FE33}"/>
              </a:ext>
            </a:extLst>
          </p:cNvPr>
          <p:cNvSpPr>
            <a:spLocks noGrp="1" noRot="1" noChangeAspect="1" noChangeArrowheads="1" noTextEdit="1"/>
          </p:cNvSpPr>
          <p:nvPr>
            <p:ph type="sldImg"/>
          </p:nvPr>
        </p:nvSpPr>
        <p:spPr>
          <a:ln/>
        </p:spPr>
      </p:sp>
      <p:sp>
        <p:nvSpPr>
          <p:cNvPr id="930819" name="Rectangle 3">
            <a:extLst>
              <a:ext uri="{FF2B5EF4-FFF2-40B4-BE49-F238E27FC236}">
                <a16:creationId xmlns:a16="http://schemas.microsoft.com/office/drawing/2014/main" id="{AD02398C-C083-4F19-B23D-C5E36F13CE9B}"/>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AC699B-763A-4537-9EB6-7C4D17EB1E0B}"/>
              </a:ext>
            </a:extLst>
          </p:cNvPr>
          <p:cNvSpPr>
            <a:spLocks noGrp="1" noChangeArrowheads="1"/>
          </p:cNvSpPr>
          <p:nvPr>
            <p:ph type="sldNum" sz="quarter" idx="5"/>
          </p:nvPr>
        </p:nvSpPr>
        <p:spPr>
          <a:ln/>
        </p:spPr>
        <p:txBody>
          <a:bodyPr/>
          <a:lstStyle/>
          <a:p>
            <a:fld id="{8A1B87B4-DEA4-4C6B-A227-4CC16C2E2660}" type="slidenum">
              <a:rPr lang="zh-CN" altLang="en-US"/>
              <a:pPr/>
              <a:t>13</a:t>
            </a:fld>
            <a:endParaRPr lang="en-US" altLang="zh-CN"/>
          </a:p>
        </p:txBody>
      </p:sp>
      <p:sp>
        <p:nvSpPr>
          <p:cNvPr id="934914" name="Rectangle 2">
            <a:extLst>
              <a:ext uri="{FF2B5EF4-FFF2-40B4-BE49-F238E27FC236}">
                <a16:creationId xmlns:a16="http://schemas.microsoft.com/office/drawing/2014/main" id="{999FB727-99A7-4D7F-A8EF-9CC488A817EB}"/>
              </a:ext>
            </a:extLst>
          </p:cNvPr>
          <p:cNvSpPr>
            <a:spLocks noGrp="1" noRot="1" noChangeAspect="1" noChangeArrowheads="1" noTextEdit="1"/>
          </p:cNvSpPr>
          <p:nvPr>
            <p:ph type="sldImg"/>
          </p:nvPr>
        </p:nvSpPr>
        <p:spPr>
          <a:ln/>
        </p:spPr>
      </p:sp>
      <p:sp>
        <p:nvSpPr>
          <p:cNvPr id="934915" name="Rectangle 3">
            <a:extLst>
              <a:ext uri="{FF2B5EF4-FFF2-40B4-BE49-F238E27FC236}">
                <a16:creationId xmlns:a16="http://schemas.microsoft.com/office/drawing/2014/main" id="{58583968-7C32-46B1-BBA0-DAD2F225BF21}"/>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08A0C22-3597-4AAB-AD2F-52E63E5BAA6B}"/>
              </a:ext>
            </a:extLst>
          </p:cNvPr>
          <p:cNvSpPr>
            <a:spLocks noGrp="1" noChangeArrowheads="1"/>
          </p:cNvSpPr>
          <p:nvPr>
            <p:ph type="sldNum" sz="quarter" idx="5"/>
          </p:nvPr>
        </p:nvSpPr>
        <p:spPr>
          <a:ln/>
        </p:spPr>
        <p:txBody>
          <a:bodyPr/>
          <a:lstStyle/>
          <a:p>
            <a:fld id="{E44A842A-B45D-4744-88D9-E360ED90962A}" type="slidenum">
              <a:rPr lang="zh-CN" altLang="en-US"/>
              <a:pPr/>
              <a:t>14</a:t>
            </a:fld>
            <a:endParaRPr lang="en-US" altLang="zh-CN"/>
          </a:p>
        </p:txBody>
      </p:sp>
      <p:sp>
        <p:nvSpPr>
          <p:cNvPr id="850946" name="Rectangle 2">
            <a:extLst>
              <a:ext uri="{FF2B5EF4-FFF2-40B4-BE49-F238E27FC236}">
                <a16:creationId xmlns:a16="http://schemas.microsoft.com/office/drawing/2014/main" id="{6B33B1DE-F97F-4CB2-88E2-C02BFC3EC334}"/>
              </a:ext>
            </a:extLst>
          </p:cNvPr>
          <p:cNvSpPr>
            <a:spLocks noGrp="1" noRot="1" noChangeAspect="1" noChangeArrowheads="1" noTextEdit="1"/>
          </p:cNvSpPr>
          <p:nvPr>
            <p:ph type="sldImg"/>
          </p:nvPr>
        </p:nvSpPr>
        <p:spPr>
          <a:ln/>
        </p:spPr>
      </p:sp>
      <p:sp>
        <p:nvSpPr>
          <p:cNvPr id="850947" name="Rectangle 3">
            <a:extLst>
              <a:ext uri="{FF2B5EF4-FFF2-40B4-BE49-F238E27FC236}">
                <a16:creationId xmlns:a16="http://schemas.microsoft.com/office/drawing/2014/main" id="{10C4ADF7-B252-4E09-A2D7-BB560C1CD659}"/>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3FB2F3C-AF3D-4C25-9483-5033D5C1C668}"/>
              </a:ext>
            </a:extLst>
          </p:cNvPr>
          <p:cNvSpPr>
            <a:spLocks noGrp="1" noChangeArrowheads="1"/>
          </p:cNvSpPr>
          <p:nvPr>
            <p:ph type="sldNum" sz="quarter" idx="5"/>
          </p:nvPr>
        </p:nvSpPr>
        <p:spPr>
          <a:ln/>
        </p:spPr>
        <p:txBody>
          <a:bodyPr/>
          <a:lstStyle/>
          <a:p>
            <a:fld id="{86F87498-F01D-42C7-8609-045F9D8A1981}" type="slidenum">
              <a:rPr lang="zh-CN" altLang="en-US"/>
              <a:pPr/>
              <a:t>15</a:t>
            </a:fld>
            <a:endParaRPr lang="en-US" altLang="zh-CN"/>
          </a:p>
        </p:txBody>
      </p:sp>
      <p:sp>
        <p:nvSpPr>
          <p:cNvPr id="947202" name="Rectangle 2">
            <a:extLst>
              <a:ext uri="{FF2B5EF4-FFF2-40B4-BE49-F238E27FC236}">
                <a16:creationId xmlns:a16="http://schemas.microsoft.com/office/drawing/2014/main" id="{36F71CAB-77F5-4EB1-897F-1B2FAE00B8C3}"/>
              </a:ext>
            </a:extLst>
          </p:cNvPr>
          <p:cNvSpPr>
            <a:spLocks noGrp="1" noRot="1" noChangeAspect="1" noChangeArrowheads="1" noTextEdit="1"/>
          </p:cNvSpPr>
          <p:nvPr>
            <p:ph type="sldImg"/>
          </p:nvPr>
        </p:nvSpPr>
        <p:spPr>
          <a:ln/>
        </p:spPr>
      </p:sp>
      <p:sp>
        <p:nvSpPr>
          <p:cNvPr id="947203" name="Rectangle 3">
            <a:extLst>
              <a:ext uri="{FF2B5EF4-FFF2-40B4-BE49-F238E27FC236}">
                <a16:creationId xmlns:a16="http://schemas.microsoft.com/office/drawing/2014/main" id="{44AACE59-A7BC-49B0-8280-D18E266CF13D}"/>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6F9D7FA-2A57-4514-9B7F-0FB79AF0E815}"/>
              </a:ext>
            </a:extLst>
          </p:cNvPr>
          <p:cNvSpPr>
            <a:spLocks noGrp="1" noChangeArrowheads="1"/>
          </p:cNvSpPr>
          <p:nvPr>
            <p:ph type="sldNum" sz="quarter" idx="5"/>
          </p:nvPr>
        </p:nvSpPr>
        <p:spPr>
          <a:ln/>
        </p:spPr>
        <p:txBody>
          <a:bodyPr/>
          <a:lstStyle/>
          <a:p>
            <a:fld id="{18DB6239-20EB-46FD-9983-0942C9EB8437}" type="slidenum">
              <a:rPr lang="zh-CN" altLang="en-US"/>
              <a:pPr/>
              <a:t>16</a:t>
            </a:fld>
            <a:endParaRPr lang="en-US" altLang="zh-CN"/>
          </a:p>
        </p:txBody>
      </p:sp>
      <p:sp>
        <p:nvSpPr>
          <p:cNvPr id="851970" name="Rectangle 2">
            <a:extLst>
              <a:ext uri="{FF2B5EF4-FFF2-40B4-BE49-F238E27FC236}">
                <a16:creationId xmlns:a16="http://schemas.microsoft.com/office/drawing/2014/main" id="{82043675-7AA2-4174-82E8-42DAB0EFE277}"/>
              </a:ext>
            </a:extLst>
          </p:cNvPr>
          <p:cNvSpPr>
            <a:spLocks noGrp="1" noRot="1" noChangeAspect="1" noChangeArrowheads="1" noTextEdit="1"/>
          </p:cNvSpPr>
          <p:nvPr>
            <p:ph type="sldImg"/>
          </p:nvPr>
        </p:nvSpPr>
        <p:spPr>
          <a:ln/>
        </p:spPr>
      </p:sp>
      <p:sp>
        <p:nvSpPr>
          <p:cNvPr id="851971" name="Rectangle 3">
            <a:extLst>
              <a:ext uri="{FF2B5EF4-FFF2-40B4-BE49-F238E27FC236}">
                <a16:creationId xmlns:a16="http://schemas.microsoft.com/office/drawing/2014/main" id="{FF7570C8-163E-4745-A52B-D1F436B44EED}"/>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7DBD162-E92E-40F3-9B4E-2573B73ECAC2}"/>
              </a:ext>
            </a:extLst>
          </p:cNvPr>
          <p:cNvSpPr>
            <a:spLocks noGrp="1" noChangeArrowheads="1"/>
          </p:cNvSpPr>
          <p:nvPr>
            <p:ph type="sldNum" sz="quarter" idx="5"/>
          </p:nvPr>
        </p:nvSpPr>
        <p:spPr>
          <a:ln/>
        </p:spPr>
        <p:txBody>
          <a:bodyPr/>
          <a:lstStyle/>
          <a:p>
            <a:fld id="{DF1387A0-7E01-4C0E-AFAC-863ADD9DE457}" type="slidenum">
              <a:rPr lang="zh-CN" altLang="en-US"/>
              <a:pPr/>
              <a:t>17</a:t>
            </a:fld>
            <a:endParaRPr lang="en-US" altLang="zh-CN"/>
          </a:p>
        </p:txBody>
      </p:sp>
      <p:sp>
        <p:nvSpPr>
          <p:cNvPr id="855042" name="Rectangle 2">
            <a:extLst>
              <a:ext uri="{FF2B5EF4-FFF2-40B4-BE49-F238E27FC236}">
                <a16:creationId xmlns:a16="http://schemas.microsoft.com/office/drawing/2014/main" id="{C9017CCF-3F0F-4F04-82D5-5EBEE951DD9F}"/>
              </a:ext>
            </a:extLst>
          </p:cNvPr>
          <p:cNvSpPr>
            <a:spLocks noGrp="1" noRot="1" noChangeAspect="1" noChangeArrowheads="1" noTextEdit="1"/>
          </p:cNvSpPr>
          <p:nvPr>
            <p:ph type="sldImg"/>
          </p:nvPr>
        </p:nvSpPr>
        <p:spPr>
          <a:ln/>
        </p:spPr>
      </p:sp>
      <p:sp>
        <p:nvSpPr>
          <p:cNvPr id="855043" name="Rectangle 3">
            <a:extLst>
              <a:ext uri="{FF2B5EF4-FFF2-40B4-BE49-F238E27FC236}">
                <a16:creationId xmlns:a16="http://schemas.microsoft.com/office/drawing/2014/main" id="{E2F6C134-57C7-433B-B0ED-7B0B9CABE83E}"/>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30CA327-BD4C-4DEF-8C16-1DEBC32FF404}"/>
              </a:ext>
            </a:extLst>
          </p:cNvPr>
          <p:cNvSpPr>
            <a:spLocks noGrp="1" noChangeArrowheads="1"/>
          </p:cNvSpPr>
          <p:nvPr>
            <p:ph type="sldNum" sz="quarter" idx="5"/>
          </p:nvPr>
        </p:nvSpPr>
        <p:spPr>
          <a:ln/>
        </p:spPr>
        <p:txBody>
          <a:bodyPr/>
          <a:lstStyle/>
          <a:p>
            <a:fld id="{AA20E6F8-AF87-49CB-8D6E-A05D9CE4FC4C}" type="slidenum">
              <a:rPr lang="zh-CN" altLang="en-US"/>
              <a:pPr/>
              <a:t>18</a:t>
            </a:fld>
            <a:endParaRPr lang="en-US" altLang="zh-CN"/>
          </a:p>
        </p:txBody>
      </p:sp>
      <p:sp>
        <p:nvSpPr>
          <p:cNvPr id="852994" name="Rectangle 2">
            <a:extLst>
              <a:ext uri="{FF2B5EF4-FFF2-40B4-BE49-F238E27FC236}">
                <a16:creationId xmlns:a16="http://schemas.microsoft.com/office/drawing/2014/main" id="{ED7364E7-93EC-4019-900E-E8BD4DD70A48}"/>
              </a:ext>
            </a:extLst>
          </p:cNvPr>
          <p:cNvSpPr>
            <a:spLocks noGrp="1" noRot="1" noChangeAspect="1" noChangeArrowheads="1" noTextEdit="1"/>
          </p:cNvSpPr>
          <p:nvPr>
            <p:ph type="sldImg"/>
          </p:nvPr>
        </p:nvSpPr>
        <p:spPr>
          <a:ln/>
        </p:spPr>
      </p:sp>
      <p:sp>
        <p:nvSpPr>
          <p:cNvPr id="852995" name="Rectangle 3">
            <a:extLst>
              <a:ext uri="{FF2B5EF4-FFF2-40B4-BE49-F238E27FC236}">
                <a16:creationId xmlns:a16="http://schemas.microsoft.com/office/drawing/2014/main" id="{EFFCED17-300B-4295-A0AF-916C2F54A072}"/>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19771B8-0C85-4BC3-9141-71FADC5BEB4E}"/>
              </a:ext>
            </a:extLst>
          </p:cNvPr>
          <p:cNvSpPr>
            <a:spLocks noGrp="1" noChangeArrowheads="1"/>
          </p:cNvSpPr>
          <p:nvPr>
            <p:ph type="sldNum" sz="quarter" idx="5"/>
          </p:nvPr>
        </p:nvSpPr>
        <p:spPr>
          <a:ln/>
        </p:spPr>
        <p:txBody>
          <a:bodyPr/>
          <a:lstStyle/>
          <a:p>
            <a:fld id="{751FE454-C36A-4506-95AA-CF57DF068175}" type="slidenum">
              <a:rPr lang="zh-CN" altLang="en-US"/>
              <a:pPr/>
              <a:t>19</a:t>
            </a:fld>
            <a:endParaRPr lang="en-US" altLang="zh-CN"/>
          </a:p>
        </p:txBody>
      </p:sp>
      <p:sp>
        <p:nvSpPr>
          <p:cNvPr id="857090" name="Rectangle 2">
            <a:extLst>
              <a:ext uri="{FF2B5EF4-FFF2-40B4-BE49-F238E27FC236}">
                <a16:creationId xmlns:a16="http://schemas.microsoft.com/office/drawing/2014/main" id="{C9558630-F965-4ADE-9C4B-D3EE7618336E}"/>
              </a:ext>
            </a:extLst>
          </p:cNvPr>
          <p:cNvSpPr>
            <a:spLocks noGrp="1" noRot="1" noChangeAspect="1" noChangeArrowheads="1" noTextEdit="1"/>
          </p:cNvSpPr>
          <p:nvPr>
            <p:ph type="sldImg"/>
          </p:nvPr>
        </p:nvSpPr>
        <p:spPr>
          <a:ln/>
        </p:spPr>
      </p:sp>
      <p:sp>
        <p:nvSpPr>
          <p:cNvPr id="857091" name="Rectangle 3">
            <a:extLst>
              <a:ext uri="{FF2B5EF4-FFF2-40B4-BE49-F238E27FC236}">
                <a16:creationId xmlns:a16="http://schemas.microsoft.com/office/drawing/2014/main" id="{279EB35E-5393-4527-8AD8-209580CAC6D9}"/>
              </a:ext>
            </a:extLst>
          </p:cNvPr>
          <p:cNvSpPr>
            <a:spLocks noGrp="1" noChangeArrowheads="1"/>
          </p:cNvSpPr>
          <p:nvPr>
            <p:ph type="body" idx="1"/>
          </p:nvPr>
        </p:nvSpPr>
        <p:spPr/>
        <p:txBody>
          <a:bodyPr/>
          <a:lstStyle/>
          <a:p>
            <a:r>
              <a:rPr lang="zh-CN" altLang="en-US"/>
              <a:t>对于前面介绍的四种范式，就范式的规范化程度来说：因为</a:t>
            </a:r>
            <a:r>
              <a:rPr lang="en-US" altLang="zh-CN"/>
              <a:t>BCNF</a:t>
            </a:r>
            <a:r>
              <a:rPr lang="zh-CN" altLang="en-US"/>
              <a:t>一定是</a:t>
            </a:r>
            <a:r>
              <a:rPr lang="en-US" altLang="zh-CN"/>
              <a:t>3NF</a:t>
            </a:r>
            <a:r>
              <a:rPr lang="zh-CN" altLang="en-US"/>
              <a:t>，</a:t>
            </a:r>
            <a:r>
              <a:rPr lang="en-US" altLang="zh-CN"/>
              <a:t>3NF</a:t>
            </a:r>
            <a:r>
              <a:rPr lang="zh-CN" altLang="en-US"/>
              <a:t>一定是</a:t>
            </a:r>
            <a:r>
              <a:rPr lang="en-US" altLang="zh-CN"/>
              <a:t>2NF</a:t>
            </a:r>
            <a:r>
              <a:rPr lang="zh-CN" altLang="en-US"/>
              <a:t>，</a:t>
            </a:r>
            <a:r>
              <a:rPr lang="en-US" altLang="zh-CN"/>
              <a:t>2NF</a:t>
            </a:r>
            <a:r>
              <a:rPr lang="zh-CN" altLang="en-US"/>
              <a:t>一定是</a:t>
            </a:r>
            <a:r>
              <a:rPr lang="en-US" altLang="zh-CN"/>
              <a:t>1NF.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4812A65-B768-46BD-8C8F-4853A1D39821}"/>
              </a:ext>
            </a:extLst>
          </p:cNvPr>
          <p:cNvSpPr>
            <a:spLocks noGrp="1" noChangeArrowheads="1"/>
          </p:cNvSpPr>
          <p:nvPr>
            <p:ph type="sldNum" sz="quarter" idx="5"/>
          </p:nvPr>
        </p:nvSpPr>
        <p:spPr>
          <a:ln/>
        </p:spPr>
        <p:txBody>
          <a:bodyPr/>
          <a:lstStyle/>
          <a:p>
            <a:fld id="{D9FAA981-BB0C-4808-9767-FF3AC0422EC1}" type="slidenum">
              <a:rPr lang="zh-CN" altLang="en-US"/>
              <a:pPr/>
              <a:t>20</a:t>
            </a:fld>
            <a:endParaRPr lang="en-US" altLang="zh-CN"/>
          </a:p>
        </p:txBody>
      </p:sp>
      <p:sp>
        <p:nvSpPr>
          <p:cNvPr id="1001474" name="Rectangle 2">
            <a:extLst>
              <a:ext uri="{FF2B5EF4-FFF2-40B4-BE49-F238E27FC236}">
                <a16:creationId xmlns:a16="http://schemas.microsoft.com/office/drawing/2014/main" id="{2390AA98-DD03-4CCC-BDC5-480FE3B519D6}"/>
              </a:ext>
            </a:extLst>
          </p:cNvPr>
          <p:cNvSpPr>
            <a:spLocks noGrp="1" noRot="1" noChangeAspect="1" noChangeArrowheads="1" noTextEdit="1"/>
          </p:cNvSpPr>
          <p:nvPr>
            <p:ph type="sldImg"/>
          </p:nvPr>
        </p:nvSpPr>
        <p:spPr>
          <a:ln/>
        </p:spPr>
      </p:sp>
      <p:sp>
        <p:nvSpPr>
          <p:cNvPr id="1001475" name="Rectangle 3">
            <a:extLst>
              <a:ext uri="{FF2B5EF4-FFF2-40B4-BE49-F238E27FC236}">
                <a16:creationId xmlns:a16="http://schemas.microsoft.com/office/drawing/2014/main" id="{03236F88-08F0-4266-8BBE-98CD0370BFD1}"/>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8C0897B-4752-4E57-82BF-DFFBEF588B9F}"/>
              </a:ext>
            </a:extLst>
          </p:cNvPr>
          <p:cNvSpPr>
            <a:spLocks noGrp="1" noChangeArrowheads="1"/>
          </p:cNvSpPr>
          <p:nvPr>
            <p:ph type="sldNum" sz="quarter" idx="5"/>
          </p:nvPr>
        </p:nvSpPr>
        <p:spPr>
          <a:ln/>
        </p:spPr>
        <p:txBody>
          <a:bodyPr/>
          <a:lstStyle/>
          <a:p>
            <a:fld id="{C28DAB10-E062-4496-97A8-D9B38438BE32}" type="slidenum">
              <a:rPr lang="zh-CN" altLang="en-US"/>
              <a:pPr/>
              <a:t>21</a:t>
            </a:fld>
            <a:endParaRPr lang="en-US" altLang="zh-CN"/>
          </a:p>
        </p:txBody>
      </p:sp>
      <p:sp>
        <p:nvSpPr>
          <p:cNvPr id="1005570" name="Rectangle 2">
            <a:extLst>
              <a:ext uri="{FF2B5EF4-FFF2-40B4-BE49-F238E27FC236}">
                <a16:creationId xmlns:a16="http://schemas.microsoft.com/office/drawing/2014/main" id="{E1B29BF8-E6CA-4989-BA06-D7BA182CC84A}"/>
              </a:ext>
            </a:extLst>
          </p:cNvPr>
          <p:cNvSpPr>
            <a:spLocks noGrp="1" noRot="1" noChangeAspect="1" noChangeArrowheads="1" noTextEdit="1"/>
          </p:cNvSpPr>
          <p:nvPr>
            <p:ph type="sldImg"/>
          </p:nvPr>
        </p:nvSpPr>
        <p:spPr>
          <a:ln/>
        </p:spPr>
      </p:sp>
      <p:sp>
        <p:nvSpPr>
          <p:cNvPr id="1005571" name="Rectangle 3">
            <a:extLst>
              <a:ext uri="{FF2B5EF4-FFF2-40B4-BE49-F238E27FC236}">
                <a16:creationId xmlns:a16="http://schemas.microsoft.com/office/drawing/2014/main" id="{718FB6BB-717D-4286-881A-3902E6362F8B}"/>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F39B14D-AB02-4F0A-B181-837904725E73}"/>
              </a:ext>
            </a:extLst>
          </p:cNvPr>
          <p:cNvSpPr>
            <a:spLocks noGrp="1" noChangeArrowheads="1"/>
          </p:cNvSpPr>
          <p:nvPr>
            <p:ph type="sldNum" sz="quarter" idx="5"/>
          </p:nvPr>
        </p:nvSpPr>
        <p:spPr>
          <a:ln/>
        </p:spPr>
        <p:txBody>
          <a:bodyPr/>
          <a:lstStyle/>
          <a:p>
            <a:fld id="{E6FE411F-61F5-420F-9FBE-AF1A3B264254}" type="slidenum">
              <a:rPr lang="zh-CN" altLang="en-US"/>
              <a:pPr/>
              <a:t>22</a:t>
            </a:fld>
            <a:endParaRPr lang="en-US" altLang="zh-CN"/>
          </a:p>
        </p:txBody>
      </p:sp>
      <p:sp>
        <p:nvSpPr>
          <p:cNvPr id="859138" name="Rectangle 2">
            <a:extLst>
              <a:ext uri="{FF2B5EF4-FFF2-40B4-BE49-F238E27FC236}">
                <a16:creationId xmlns:a16="http://schemas.microsoft.com/office/drawing/2014/main" id="{0C8D87B4-2D71-4371-9D07-C0FD6154BB75}"/>
              </a:ext>
            </a:extLst>
          </p:cNvPr>
          <p:cNvSpPr>
            <a:spLocks noGrp="1" noRot="1" noChangeAspect="1" noChangeArrowheads="1" noTextEdit="1"/>
          </p:cNvSpPr>
          <p:nvPr>
            <p:ph type="sldImg"/>
          </p:nvPr>
        </p:nvSpPr>
        <p:spPr>
          <a:ln/>
        </p:spPr>
      </p:sp>
      <p:sp>
        <p:nvSpPr>
          <p:cNvPr id="859139" name="Rectangle 3">
            <a:extLst>
              <a:ext uri="{FF2B5EF4-FFF2-40B4-BE49-F238E27FC236}">
                <a16:creationId xmlns:a16="http://schemas.microsoft.com/office/drawing/2014/main" id="{D3EB25AA-F939-46C6-94B1-7EB8FE3DFE25}"/>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6E25104-39A9-4F59-AE0C-A58D8BDB1BD1}"/>
              </a:ext>
            </a:extLst>
          </p:cNvPr>
          <p:cNvSpPr>
            <a:spLocks noGrp="1" noChangeArrowheads="1"/>
          </p:cNvSpPr>
          <p:nvPr>
            <p:ph type="sldNum" sz="quarter" idx="5"/>
          </p:nvPr>
        </p:nvSpPr>
        <p:spPr>
          <a:ln/>
        </p:spPr>
        <p:txBody>
          <a:bodyPr/>
          <a:lstStyle/>
          <a:p>
            <a:fld id="{236EBD2B-FB48-4B36-B8E7-01D18AE9B028}" type="slidenum">
              <a:rPr lang="zh-CN" altLang="en-US"/>
              <a:pPr/>
              <a:t>23</a:t>
            </a:fld>
            <a:endParaRPr lang="en-US" altLang="zh-CN"/>
          </a:p>
        </p:txBody>
      </p:sp>
      <p:sp>
        <p:nvSpPr>
          <p:cNvPr id="1068034" name="Rectangle 2">
            <a:extLst>
              <a:ext uri="{FF2B5EF4-FFF2-40B4-BE49-F238E27FC236}">
                <a16:creationId xmlns:a16="http://schemas.microsoft.com/office/drawing/2014/main" id="{CC4B3060-1735-46B5-AACB-B72BA868404D}"/>
              </a:ext>
            </a:extLst>
          </p:cNvPr>
          <p:cNvSpPr>
            <a:spLocks noGrp="1" noRot="1" noChangeAspect="1" noChangeArrowheads="1" noTextEdit="1"/>
          </p:cNvSpPr>
          <p:nvPr>
            <p:ph type="sldImg"/>
          </p:nvPr>
        </p:nvSpPr>
        <p:spPr>
          <a:ln/>
        </p:spPr>
      </p:sp>
      <p:sp>
        <p:nvSpPr>
          <p:cNvPr id="1068035" name="Rectangle 3">
            <a:extLst>
              <a:ext uri="{FF2B5EF4-FFF2-40B4-BE49-F238E27FC236}">
                <a16:creationId xmlns:a16="http://schemas.microsoft.com/office/drawing/2014/main" id="{373F0F03-F78A-4896-8964-CA8E401B7EEB}"/>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1E6DE8B-1C98-4FE0-99CD-6787994C8EE7}"/>
              </a:ext>
            </a:extLst>
          </p:cNvPr>
          <p:cNvSpPr>
            <a:spLocks noGrp="1" noChangeArrowheads="1"/>
          </p:cNvSpPr>
          <p:nvPr>
            <p:ph type="sldNum" sz="quarter" idx="5"/>
          </p:nvPr>
        </p:nvSpPr>
        <p:spPr>
          <a:ln/>
        </p:spPr>
        <p:txBody>
          <a:bodyPr/>
          <a:lstStyle/>
          <a:p>
            <a:fld id="{8D885300-0B21-4044-AC83-0E7F152D710E}" type="slidenum">
              <a:rPr lang="zh-CN" altLang="en-US"/>
              <a:pPr/>
              <a:t>24</a:t>
            </a:fld>
            <a:endParaRPr lang="en-US" altLang="zh-CN"/>
          </a:p>
        </p:txBody>
      </p:sp>
      <p:sp>
        <p:nvSpPr>
          <p:cNvPr id="1070082" name="Rectangle 2">
            <a:extLst>
              <a:ext uri="{FF2B5EF4-FFF2-40B4-BE49-F238E27FC236}">
                <a16:creationId xmlns:a16="http://schemas.microsoft.com/office/drawing/2014/main" id="{9980BAC4-8B7C-4736-98F6-CC1F68A6F936}"/>
              </a:ext>
            </a:extLst>
          </p:cNvPr>
          <p:cNvSpPr>
            <a:spLocks noGrp="1" noRot="1" noChangeAspect="1" noChangeArrowheads="1" noTextEdit="1"/>
          </p:cNvSpPr>
          <p:nvPr>
            <p:ph type="sldImg"/>
          </p:nvPr>
        </p:nvSpPr>
        <p:spPr>
          <a:ln/>
        </p:spPr>
      </p:sp>
      <p:sp>
        <p:nvSpPr>
          <p:cNvPr id="1070083" name="Rectangle 3">
            <a:extLst>
              <a:ext uri="{FF2B5EF4-FFF2-40B4-BE49-F238E27FC236}">
                <a16:creationId xmlns:a16="http://schemas.microsoft.com/office/drawing/2014/main" id="{6C67B1A0-CD30-4521-A01B-B559CFBC9777}"/>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ABEE16D-845C-40A8-A58B-29B953855E0D}"/>
              </a:ext>
            </a:extLst>
          </p:cNvPr>
          <p:cNvSpPr>
            <a:spLocks noGrp="1" noChangeArrowheads="1"/>
          </p:cNvSpPr>
          <p:nvPr>
            <p:ph type="sldNum" sz="quarter" idx="5"/>
          </p:nvPr>
        </p:nvSpPr>
        <p:spPr>
          <a:ln/>
        </p:spPr>
        <p:txBody>
          <a:bodyPr/>
          <a:lstStyle/>
          <a:p>
            <a:fld id="{0A094741-4840-4F98-BE06-E7645FBF339F}" type="slidenum">
              <a:rPr lang="zh-CN" altLang="en-US"/>
              <a:pPr/>
              <a:t>25</a:t>
            </a:fld>
            <a:endParaRPr lang="en-US" altLang="zh-CN"/>
          </a:p>
        </p:txBody>
      </p:sp>
      <p:sp>
        <p:nvSpPr>
          <p:cNvPr id="860162" name="Rectangle 2">
            <a:extLst>
              <a:ext uri="{FF2B5EF4-FFF2-40B4-BE49-F238E27FC236}">
                <a16:creationId xmlns:a16="http://schemas.microsoft.com/office/drawing/2014/main" id="{EEAE9C1F-462D-45DB-855F-4A27B70097F9}"/>
              </a:ext>
            </a:extLst>
          </p:cNvPr>
          <p:cNvSpPr>
            <a:spLocks noGrp="1" noRot="1" noChangeAspect="1" noChangeArrowheads="1" noTextEdit="1"/>
          </p:cNvSpPr>
          <p:nvPr>
            <p:ph type="sldImg"/>
          </p:nvPr>
        </p:nvSpPr>
        <p:spPr>
          <a:ln/>
        </p:spPr>
      </p:sp>
      <p:sp>
        <p:nvSpPr>
          <p:cNvPr id="860163" name="Rectangle 3">
            <a:extLst>
              <a:ext uri="{FF2B5EF4-FFF2-40B4-BE49-F238E27FC236}">
                <a16:creationId xmlns:a16="http://schemas.microsoft.com/office/drawing/2014/main" id="{4A750933-A397-4A31-8335-964A925475A6}"/>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3E78B03-D689-42FD-97E9-51B46F43275E}"/>
              </a:ext>
            </a:extLst>
          </p:cNvPr>
          <p:cNvSpPr>
            <a:spLocks noGrp="1" noChangeArrowheads="1"/>
          </p:cNvSpPr>
          <p:nvPr>
            <p:ph type="sldNum" sz="quarter" idx="5"/>
          </p:nvPr>
        </p:nvSpPr>
        <p:spPr>
          <a:ln/>
        </p:spPr>
        <p:txBody>
          <a:bodyPr/>
          <a:lstStyle/>
          <a:p>
            <a:fld id="{1D4DFFD5-BABA-4327-B429-BC5AEE4C70A2}" type="slidenum">
              <a:rPr lang="zh-CN" altLang="en-US"/>
              <a:pPr/>
              <a:t>26</a:t>
            </a:fld>
            <a:endParaRPr lang="en-US" altLang="zh-CN"/>
          </a:p>
        </p:txBody>
      </p:sp>
      <p:sp>
        <p:nvSpPr>
          <p:cNvPr id="1065986" name="Rectangle 2">
            <a:extLst>
              <a:ext uri="{FF2B5EF4-FFF2-40B4-BE49-F238E27FC236}">
                <a16:creationId xmlns:a16="http://schemas.microsoft.com/office/drawing/2014/main" id="{9FE53A08-AF97-407B-987F-DAD6DBB64621}"/>
              </a:ext>
            </a:extLst>
          </p:cNvPr>
          <p:cNvSpPr>
            <a:spLocks noGrp="1" noRot="1" noChangeAspect="1" noChangeArrowheads="1" noTextEdit="1"/>
          </p:cNvSpPr>
          <p:nvPr>
            <p:ph type="sldImg"/>
          </p:nvPr>
        </p:nvSpPr>
        <p:spPr>
          <a:ln/>
        </p:spPr>
      </p:sp>
      <p:sp>
        <p:nvSpPr>
          <p:cNvPr id="1065987" name="Rectangle 3">
            <a:extLst>
              <a:ext uri="{FF2B5EF4-FFF2-40B4-BE49-F238E27FC236}">
                <a16:creationId xmlns:a16="http://schemas.microsoft.com/office/drawing/2014/main" id="{B82C6C22-5EEB-4AEF-93AF-17A02C8BF951}"/>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1FA0E4C-13CD-414A-9735-B2C4B2CA2979}"/>
              </a:ext>
            </a:extLst>
          </p:cNvPr>
          <p:cNvSpPr>
            <a:spLocks noGrp="1" noChangeArrowheads="1"/>
          </p:cNvSpPr>
          <p:nvPr>
            <p:ph type="sldNum" sz="quarter" idx="5"/>
          </p:nvPr>
        </p:nvSpPr>
        <p:spPr>
          <a:ln/>
        </p:spPr>
        <p:txBody>
          <a:bodyPr/>
          <a:lstStyle/>
          <a:p>
            <a:fld id="{9D10AEB3-F1EC-45D7-A793-09ADCFAF2E7A}" type="slidenum">
              <a:rPr lang="zh-CN" altLang="en-US"/>
              <a:pPr/>
              <a:t>27</a:t>
            </a:fld>
            <a:endParaRPr lang="en-US" altLang="zh-CN"/>
          </a:p>
        </p:txBody>
      </p:sp>
      <p:sp>
        <p:nvSpPr>
          <p:cNvPr id="875522" name="Rectangle 2">
            <a:extLst>
              <a:ext uri="{FF2B5EF4-FFF2-40B4-BE49-F238E27FC236}">
                <a16:creationId xmlns:a16="http://schemas.microsoft.com/office/drawing/2014/main" id="{C8C98E77-4D9D-4B2C-93B5-7E40DA38A969}"/>
              </a:ext>
            </a:extLst>
          </p:cNvPr>
          <p:cNvSpPr>
            <a:spLocks noGrp="1" noRot="1" noChangeAspect="1" noChangeArrowheads="1" noTextEdit="1"/>
          </p:cNvSpPr>
          <p:nvPr>
            <p:ph type="sldImg"/>
          </p:nvPr>
        </p:nvSpPr>
        <p:spPr>
          <a:ln/>
        </p:spPr>
      </p:sp>
      <p:sp>
        <p:nvSpPr>
          <p:cNvPr id="875523" name="Rectangle 3">
            <a:extLst>
              <a:ext uri="{FF2B5EF4-FFF2-40B4-BE49-F238E27FC236}">
                <a16:creationId xmlns:a16="http://schemas.microsoft.com/office/drawing/2014/main" id="{0F2D9286-7696-4DF6-B93D-ABE67FCFFD90}"/>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06EFCA0-5D88-4246-9AF7-C2775D3BE3A4}"/>
              </a:ext>
            </a:extLst>
          </p:cNvPr>
          <p:cNvSpPr>
            <a:spLocks noGrp="1" noChangeArrowheads="1"/>
          </p:cNvSpPr>
          <p:nvPr>
            <p:ph type="sldNum" sz="quarter" idx="5"/>
          </p:nvPr>
        </p:nvSpPr>
        <p:spPr>
          <a:ln/>
        </p:spPr>
        <p:txBody>
          <a:bodyPr/>
          <a:lstStyle/>
          <a:p>
            <a:fld id="{7BE104ED-6A8C-4539-95D0-26F1CF342C1F}" type="slidenum">
              <a:rPr lang="zh-CN" altLang="en-US"/>
              <a:pPr/>
              <a:t>28</a:t>
            </a:fld>
            <a:endParaRPr lang="en-US" altLang="zh-CN"/>
          </a:p>
        </p:txBody>
      </p:sp>
      <p:sp>
        <p:nvSpPr>
          <p:cNvPr id="671746" name="Rectangle 2">
            <a:extLst>
              <a:ext uri="{FF2B5EF4-FFF2-40B4-BE49-F238E27FC236}">
                <a16:creationId xmlns:a16="http://schemas.microsoft.com/office/drawing/2014/main" id="{E65E1D9E-6C39-4728-9999-EE7EFF7BEA74}"/>
              </a:ext>
            </a:extLst>
          </p:cNvPr>
          <p:cNvSpPr>
            <a:spLocks noGrp="1" noRot="1" noChangeAspect="1" noChangeArrowheads="1" noTextEdit="1"/>
          </p:cNvSpPr>
          <p:nvPr>
            <p:ph type="sldImg"/>
          </p:nvPr>
        </p:nvSpPr>
        <p:spPr>
          <a:ln/>
        </p:spPr>
      </p:sp>
      <p:sp>
        <p:nvSpPr>
          <p:cNvPr id="671747" name="Rectangle 3">
            <a:extLst>
              <a:ext uri="{FF2B5EF4-FFF2-40B4-BE49-F238E27FC236}">
                <a16:creationId xmlns:a16="http://schemas.microsoft.com/office/drawing/2014/main" id="{70473F0C-1E4A-4179-842C-C201943603E1}"/>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F37DC37-D504-4592-9EE2-5A90776D13F9}"/>
              </a:ext>
            </a:extLst>
          </p:cNvPr>
          <p:cNvSpPr>
            <a:spLocks noGrp="1" noChangeArrowheads="1"/>
          </p:cNvSpPr>
          <p:nvPr>
            <p:ph type="sldNum" sz="quarter" idx="5"/>
          </p:nvPr>
        </p:nvSpPr>
        <p:spPr>
          <a:ln/>
        </p:spPr>
        <p:txBody>
          <a:bodyPr/>
          <a:lstStyle/>
          <a:p>
            <a:fld id="{3E721382-B10B-4515-8374-DC62026DBC75}" type="slidenum">
              <a:rPr lang="zh-CN" altLang="en-US"/>
              <a:pPr/>
              <a:t>29</a:t>
            </a:fld>
            <a:endParaRPr lang="en-US" altLang="zh-CN"/>
          </a:p>
        </p:txBody>
      </p:sp>
      <p:sp>
        <p:nvSpPr>
          <p:cNvPr id="673794" name="Rectangle 2">
            <a:extLst>
              <a:ext uri="{FF2B5EF4-FFF2-40B4-BE49-F238E27FC236}">
                <a16:creationId xmlns:a16="http://schemas.microsoft.com/office/drawing/2014/main" id="{80679833-461E-45E0-AC94-E9E91241DF2C}"/>
              </a:ext>
            </a:extLst>
          </p:cNvPr>
          <p:cNvSpPr>
            <a:spLocks noGrp="1" noRot="1" noChangeAspect="1" noChangeArrowheads="1" noTextEdit="1"/>
          </p:cNvSpPr>
          <p:nvPr>
            <p:ph type="sldImg"/>
          </p:nvPr>
        </p:nvSpPr>
        <p:spPr>
          <a:ln/>
        </p:spPr>
      </p:sp>
      <p:sp>
        <p:nvSpPr>
          <p:cNvPr id="673795" name="Rectangle 3">
            <a:extLst>
              <a:ext uri="{FF2B5EF4-FFF2-40B4-BE49-F238E27FC236}">
                <a16:creationId xmlns:a16="http://schemas.microsoft.com/office/drawing/2014/main" id="{85272933-377F-4E3E-BCDD-1ACB0D96CE7B}"/>
              </a:ext>
            </a:extLst>
          </p:cNvPr>
          <p:cNvSpPr>
            <a:spLocks noGrp="1" noChangeArrowheads="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sp>
        <p:nvSpPr>
          <p:cNvPr id="963591" name="Rectangle 7">
            <a:extLst>
              <a:ext uri="{FF2B5EF4-FFF2-40B4-BE49-F238E27FC236}">
                <a16:creationId xmlns:a16="http://schemas.microsoft.com/office/drawing/2014/main" id="{84A21AC4-F404-4DD4-81C9-460F2AFEA9F5}"/>
              </a:ext>
            </a:extLst>
          </p:cNvPr>
          <p:cNvSpPr>
            <a:spLocks noGrp="1" noChangeArrowheads="1"/>
          </p:cNvSpPr>
          <p:nvPr>
            <p:ph type="dt" sz="half" idx="2"/>
          </p:nvPr>
        </p:nvSpPr>
        <p:spPr bwMode="white">
          <a:xfrm>
            <a:off x="61913" y="6453188"/>
            <a:ext cx="2133600" cy="288925"/>
          </a:xfrm>
        </p:spPr>
        <p:txBody>
          <a:bodyPr/>
          <a:lstStyle>
            <a:lvl1pPr>
              <a:defRPr sz="1200"/>
            </a:lvl1pPr>
          </a:lstStyle>
          <a:p>
            <a:endParaRPr lang="en-US" altLang="zh-CN"/>
          </a:p>
        </p:txBody>
      </p:sp>
      <p:sp>
        <p:nvSpPr>
          <p:cNvPr id="963592" name="Rectangle 8">
            <a:extLst>
              <a:ext uri="{FF2B5EF4-FFF2-40B4-BE49-F238E27FC236}">
                <a16:creationId xmlns:a16="http://schemas.microsoft.com/office/drawing/2014/main" id="{45836433-0209-4218-876E-9A2CD20C5616}"/>
              </a:ext>
            </a:extLst>
          </p:cNvPr>
          <p:cNvSpPr>
            <a:spLocks noGrp="1" noChangeArrowheads="1"/>
          </p:cNvSpPr>
          <p:nvPr>
            <p:ph type="ftr" sz="quarter" idx="3"/>
          </p:nvPr>
        </p:nvSpPr>
        <p:spPr bwMode="white">
          <a:xfrm>
            <a:off x="3124200" y="6477000"/>
            <a:ext cx="2895600" cy="244475"/>
          </a:xfrm>
        </p:spPr>
        <p:txBody>
          <a:bodyPr/>
          <a:lstStyle>
            <a:lvl1pPr>
              <a:defRPr sz="1200"/>
            </a:lvl1pPr>
          </a:lstStyle>
          <a:p>
            <a:endParaRPr lang="en-US" altLang="zh-CN"/>
          </a:p>
        </p:txBody>
      </p:sp>
      <p:sp>
        <p:nvSpPr>
          <p:cNvPr id="963593" name="Rectangle 9">
            <a:extLst>
              <a:ext uri="{FF2B5EF4-FFF2-40B4-BE49-F238E27FC236}">
                <a16:creationId xmlns:a16="http://schemas.microsoft.com/office/drawing/2014/main" id="{207766E4-6410-43FA-B9FE-C0D3145F91BA}"/>
              </a:ext>
            </a:extLst>
          </p:cNvPr>
          <p:cNvSpPr>
            <a:spLocks noGrp="1" noChangeArrowheads="1"/>
          </p:cNvSpPr>
          <p:nvPr>
            <p:ph type="sldNum" sz="quarter" idx="4"/>
          </p:nvPr>
        </p:nvSpPr>
        <p:spPr bwMode="white">
          <a:xfrm>
            <a:off x="6553200" y="6477000"/>
            <a:ext cx="2133600" cy="244475"/>
          </a:xfrm>
        </p:spPr>
        <p:txBody>
          <a:bodyPr/>
          <a:lstStyle>
            <a:lvl1pPr>
              <a:defRPr sz="1200"/>
            </a:lvl1pPr>
          </a:lstStyle>
          <a:p>
            <a:fld id="{91D19774-D6B8-47DA-AC5D-8A78C4B6ACE8}" type="slidenum">
              <a:rPr lang="zh-CN" altLang="en-US"/>
              <a:pPr/>
              <a:t>‹#›</a:t>
            </a:fld>
            <a:endParaRPr lang="en-US" altLang="zh-CN"/>
          </a:p>
        </p:txBody>
      </p:sp>
      <p:sp>
        <p:nvSpPr>
          <p:cNvPr id="963608" name="Rectangle 24">
            <a:extLst>
              <a:ext uri="{FF2B5EF4-FFF2-40B4-BE49-F238E27FC236}">
                <a16:creationId xmlns:a16="http://schemas.microsoft.com/office/drawing/2014/main" id="{A84947EA-2858-4422-8B6A-C7ED18F30370}"/>
              </a:ext>
            </a:extLst>
          </p:cNvPr>
          <p:cNvSpPr>
            <a:spLocks noGrp="1" noChangeArrowheads="1"/>
          </p:cNvSpPr>
          <p:nvPr>
            <p:ph type="ctrTitle"/>
          </p:nvPr>
        </p:nvSpPr>
        <p:spPr>
          <a:xfrm>
            <a:off x="395288" y="1557338"/>
            <a:ext cx="8569325" cy="1041400"/>
          </a:xfrm>
          <a:effectLst>
            <a:outerShdw dist="35921" dir="2700000" algn="ctr" rotWithShape="0">
              <a:schemeClr val="tx1"/>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algn="ctr">
              <a:defRPr sz="4800">
                <a:solidFill>
                  <a:schemeClr val="tx2"/>
                </a:solidFill>
                <a:ea typeface="隶书" panose="02010509060101010101" pitchFamily="49" charset="-122"/>
              </a:defRPr>
            </a:lvl1pPr>
          </a:lstStyle>
          <a:p>
            <a:pPr lvl="0"/>
            <a:r>
              <a:rPr lang="zh-CN" altLang="en-US" noProof="0"/>
              <a:t>单击此处编辑母版标题样式</a:t>
            </a:r>
          </a:p>
        </p:txBody>
      </p:sp>
      <p:grpSp>
        <p:nvGrpSpPr>
          <p:cNvPr id="963609" name="Group 25">
            <a:extLst>
              <a:ext uri="{FF2B5EF4-FFF2-40B4-BE49-F238E27FC236}">
                <a16:creationId xmlns:a16="http://schemas.microsoft.com/office/drawing/2014/main" id="{A9B47DF1-A815-443C-9C6B-F5ABF0ED5A9D}"/>
              </a:ext>
            </a:extLst>
          </p:cNvPr>
          <p:cNvGrpSpPr>
            <a:grpSpLocks/>
          </p:cNvGrpSpPr>
          <p:nvPr userDrawn="1"/>
        </p:nvGrpSpPr>
        <p:grpSpPr bwMode="auto">
          <a:xfrm>
            <a:off x="7938" y="1773238"/>
            <a:ext cx="9009062" cy="1052512"/>
            <a:chOff x="0" y="1536"/>
            <a:chExt cx="5675" cy="663"/>
          </a:xfrm>
        </p:grpSpPr>
        <p:grpSp>
          <p:nvGrpSpPr>
            <p:cNvPr id="963610" name="Group 26">
              <a:extLst>
                <a:ext uri="{FF2B5EF4-FFF2-40B4-BE49-F238E27FC236}">
                  <a16:creationId xmlns:a16="http://schemas.microsoft.com/office/drawing/2014/main" id="{1B9D7289-8B23-48DB-BF8D-76CD48119F71}"/>
                </a:ext>
              </a:extLst>
            </p:cNvPr>
            <p:cNvGrpSpPr>
              <a:grpSpLocks/>
            </p:cNvGrpSpPr>
            <p:nvPr/>
          </p:nvGrpSpPr>
          <p:grpSpPr bwMode="auto">
            <a:xfrm>
              <a:off x="183" y="1604"/>
              <a:ext cx="448" cy="299"/>
              <a:chOff x="720" y="336"/>
              <a:chExt cx="624" cy="432"/>
            </a:xfrm>
          </p:grpSpPr>
          <p:sp>
            <p:nvSpPr>
              <p:cNvPr id="963611" name="Rectangle 27">
                <a:extLst>
                  <a:ext uri="{FF2B5EF4-FFF2-40B4-BE49-F238E27FC236}">
                    <a16:creationId xmlns:a16="http://schemas.microsoft.com/office/drawing/2014/main" id="{A860CD07-5630-4AAD-9DAC-6142F1B88B03}"/>
                  </a:ext>
                </a:extLst>
              </p:cNvPr>
              <p:cNvSpPr>
                <a:spLocks noChangeArrowheads="1"/>
              </p:cNvSpPr>
              <p:nvPr/>
            </p:nvSpPr>
            <p:spPr bwMode="auto">
              <a:xfrm>
                <a:off x="720" y="336"/>
                <a:ext cx="384" cy="432"/>
              </a:xfrm>
              <a:prstGeom prst="rect">
                <a:avLst/>
              </a:prstGeom>
              <a:solidFill>
                <a:srgbClr val="3333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3612" name="Rectangle 28">
                <a:extLst>
                  <a:ext uri="{FF2B5EF4-FFF2-40B4-BE49-F238E27FC236}">
                    <a16:creationId xmlns:a16="http://schemas.microsoft.com/office/drawing/2014/main" id="{20A03C15-65F3-4C31-BC6A-219DB8336E51}"/>
                  </a:ext>
                </a:extLst>
              </p:cNvPr>
              <p:cNvSpPr>
                <a:spLocks noChangeArrowheads="1"/>
              </p:cNvSpPr>
              <p:nvPr/>
            </p:nvSpPr>
            <p:spPr bwMode="auto">
              <a:xfrm>
                <a:off x="1056" y="336"/>
                <a:ext cx="288" cy="432"/>
              </a:xfrm>
              <a:prstGeom prst="rect">
                <a:avLst/>
              </a:prstGeom>
              <a:gradFill rotWithShape="0">
                <a:gsLst>
                  <a:gs pos="0">
                    <a:srgbClr val="3333CC"/>
                  </a:gs>
                  <a:gs pos="100000">
                    <a:srgbClr val="FFFFFF"/>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63613" name="Group 29">
              <a:extLst>
                <a:ext uri="{FF2B5EF4-FFF2-40B4-BE49-F238E27FC236}">
                  <a16:creationId xmlns:a16="http://schemas.microsoft.com/office/drawing/2014/main" id="{16B3C36D-F5A7-4050-8C76-0F95A04D7300}"/>
                </a:ext>
              </a:extLst>
            </p:cNvPr>
            <p:cNvGrpSpPr>
              <a:grpSpLocks/>
            </p:cNvGrpSpPr>
            <p:nvPr/>
          </p:nvGrpSpPr>
          <p:grpSpPr bwMode="auto">
            <a:xfrm>
              <a:off x="261" y="1870"/>
              <a:ext cx="465" cy="299"/>
              <a:chOff x="912" y="2640"/>
              <a:chExt cx="672" cy="432"/>
            </a:xfrm>
          </p:grpSpPr>
          <p:sp>
            <p:nvSpPr>
              <p:cNvPr id="963614" name="Rectangle 30">
                <a:extLst>
                  <a:ext uri="{FF2B5EF4-FFF2-40B4-BE49-F238E27FC236}">
                    <a16:creationId xmlns:a16="http://schemas.microsoft.com/office/drawing/2014/main" id="{3E575E0A-F9F6-4572-9137-FE7F93D7D0CE}"/>
                  </a:ext>
                </a:extLst>
              </p:cNvPr>
              <p:cNvSpPr>
                <a:spLocks noChangeArrowheads="1"/>
              </p:cNvSpPr>
              <p:nvPr/>
            </p:nvSpPr>
            <p:spPr bwMode="auto">
              <a:xfrm>
                <a:off x="912" y="2640"/>
                <a:ext cx="384" cy="432"/>
              </a:xfrm>
              <a:prstGeom prst="rect">
                <a:avLst/>
              </a:prstGeom>
              <a:solidFill>
                <a:srgbClr val="FFCF0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3615" name="Rectangle 31">
                <a:extLst>
                  <a:ext uri="{FF2B5EF4-FFF2-40B4-BE49-F238E27FC236}">
                    <a16:creationId xmlns:a16="http://schemas.microsoft.com/office/drawing/2014/main" id="{BBB0E59F-09AD-4039-9D6D-94A00AF8D3A8}"/>
                  </a:ext>
                </a:extLst>
              </p:cNvPr>
              <p:cNvSpPr>
                <a:spLocks noChangeArrowheads="1"/>
              </p:cNvSpPr>
              <p:nvPr/>
            </p:nvSpPr>
            <p:spPr bwMode="auto">
              <a:xfrm>
                <a:off x="1248" y="2640"/>
                <a:ext cx="336" cy="432"/>
              </a:xfrm>
              <a:prstGeom prst="rect">
                <a:avLst/>
              </a:prstGeom>
              <a:gradFill rotWithShape="0">
                <a:gsLst>
                  <a:gs pos="0">
                    <a:srgbClr val="FFCF01"/>
                  </a:gs>
                  <a:gs pos="100000">
                    <a:srgbClr val="FFFFFF"/>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63616" name="Rectangle 32">
              <a:extLst>
                <a:ext uri="{FF2B5EF4-FFF2-40B4-BE49-F238E27FC236}">
                  <a16:creationId xmlns:a16="http://schemas.microsoft.com/office/drawing/2014/main" id="{A311B985-B7E7-4A6A-BDCB-64A05E7AD322}"/>
                </a:ext>
              </a:extLst>
            </p:cNvPr>
            <p:cNvSpPr>
              <a:spLocks noChangeArrowheads="1"/>
            </p:cNvSpPr>
            <p:nvPr/>
          </p:nvSpPr>
          <p:spPr bwMode="auto">
            <a:xfrm>
              <a:off x="0" y="1824"/>
              <a:ext cx="353" cy="266"/>
            </a:xfrm>
            <a:prstGeom prst="rect">
              <a:avLst/>
            </a:prstGeom>
            <a:gradFill rotWithShape="0">
              <a:gsLst>
                <a:gs pos="0">
                  <a:srgbClr val="FFFFFF"/>
                </a:gs>
                <a:gs pos="100000">
                  <a:srgbClr val="FF0000"/>
                </a:gs>
              </a:gsLst>
              <a:lin ang="189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3617" name="Rectangle 33">
              <a:extLst>
                <a:ext uri="{FF2B5EF4-FFF2-40B4-BE49-F238E27FC236}">
                  <a16:creationId xmlns:a16="http://schemas.microsoft.com/office/drawing/2014/main" id="{183B086D-563B-4B25-9600-FCBC6C5B6117}"/>
                </a:ext>
              </a:extLst>
            </p:cNvPr>
            <p:cNvSpPr>
              <a:spLocks noChangeArrowheads="1"/>
            </p:cNvSpPr>
            <p:nvPr/>
          </p:nvSpPr>
          <p:spPr bwMode="auto">
            <a:xfrm>
              <a:off x="400" y="1536"/>
              <a:ext cx="20" cy="663"/>
            </a:xfrm>
            <a:prstGeom prst="rect">
              <a:avLst/>
            </a:prstGeom>
            <a:solidFill>
              <a:srgbClr val="1C1C1C"/>
            </a:solidFill>
            <a:ln>
              <a:noFill/>
            </a:ln>
            <a:effectLst/>
            <a:extLst>
              <a:ext uri="{91240B29-F687-4F45-9708-019B960494DF}">
                <a14:hiddenLine xmlns:a14="http://schemas.microsoft.com/office/drawing/2010/main" w="9525">
                  <a:solidFill>
                    <a:srgbClr val="1C1C1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3618" name="Rectangle 34">
              <a:extLst>
                <a:ext uri="{FF2B5EF4-FFF2-40B4-BE49-F238E27FC236}">
                  <a16:creationId xmlns:a16="http://schemas.microsoft.com/office/drawing/2014/main" id="{6E07354A-308F-49ED-8BBC-4FDB1CADC3AF}"/>
                </a:ext>
              </a:extLst>
            </p:cNvPr>
            <p:cNvSpPr>
              <a:spLocks noChangeArrowheads="1"/>
            </p:cNvSpPr>
            <p:nvPr/>
          </p:nvSpPr>
          <p:spPr bwMode="auto">
            <a:xfrm flipV="1">
              <a:off x="199" y="2054"/>
              <a:ext cx="5476" cy="35"/>
            </a:xfrm>
            <a:prstGeom prst="rect">
              <a:avLst/>
            </a:prstGeom>
            <a:gradFill rotWithShape="0">
              <a:gsLst>
                <a:gs pos="0">
                  <a:srgbClr val="1C1C1C"/>
                </a:gs>
                <a:gs pos="100000">
                  <a:srgbClr val="FFFFFF"/>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3" presetClass="entr" presetSubtype="16" fill="hold" grpId="0" nodeType="afterEffect">
                                  <p:stCondLst>
                                    <p:cond delay="0"/>
                                  </p:stCondLst>
                                  <p:childTnLst>
                                    <p:set>
                                      <p:cBhvr>
                                        <p:cTn id="6" dur="1" fill="hold">
                                          <p:stCondLst>
                                            <p:cond delay="0"/>
                                          </p:stCondLst>
                                        </p:cTn>
                                        <p:tgtEl>
                                          <p:spTgt spid="963608"/>
                                        </p:tgtEl>
                                        <p:attrNameLst>
                                          <p:attrName>style.visibility</p:attrName>
                                        </p:attrNameLst>
                                      </p:cBhvr>
                                      <p:to>
                                        <p:strVal val="visible"/>
                                      </p:to>
                                    </p:set>
                                    <p:animEffect transition="in" filter="plus(in)">
                                      <p:cBhvr>
                                        <p:cTn id="7" dur="1000"/>
                                        <p:tgtEl>
                                          <p:spTgt spid="9636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3608"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4B8EEA-9CCF-4185-816E-43B2BC5BD0E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91FF07A-4AA8-48D1-8BBB-E61EA35223A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B21264F-977C-4E23-BF7B-A939D8A47E73}"/>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E2F8B330-CCE5-47EF-AB7B-F3F73663429A}"/>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8CB1D3BC-AB75-4971-AD26-14690883D880}"/>
              </a:ext>
            </a:extLst>
          </p:cNvPr>
          <p:cNvSpPr>
            <a:spLocks noGrp="1"/>
          </p:cNvSpPr>
          <p:nvPr>
            <p:ph type="sldNum" sz="quarter" idx="12"/>
          </p:nvPr>
        </p:nvSpPr>
        <p:spPr/>
        <p:txBody>
          <a:bodyPr/>
          <a:lstStyle>
            <a:lvl1pPr>
              <a:defRPr/>
            </a:lvl1pPr>
          </a:lstStyle>
          <a:p>
            <a:fld id="{B06D2A65-0391-4169-8A6C-EC01B58F64FA}" type="slidenum">
              <a:rPr lang="zh-CN" altLang="en-US"/>
              <a:pPr/>
              <a:t>‹#›</a:t>
            </a:fld>
            <a:endParaRPr lang="en-US" altLang="zh-CN"/>
          </a:p>
        </p:txBody>
      </p:sp>
    </p:spTree>
    <p:extLst>
      <p:ext uri="{BB962C8B-B14F-4D97-AF65-F5344CB8AC3E}">
        <p14:creationId xmlns:p14="http://schemas.microsoft.com/office/powerpoint/2010/main" val="2757627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5724EB-4CB5-413F-9CB7-903541C08BF8}"/>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9CAF2C0-5B30-4EB7-B567-F64808AE87D1}"/>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A8E18B7-020C-4265-8A69-9DE353262743}"/>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03F081F4-4B88-43E9-94C3-E4F15135D325}"/>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3731F8BB-C338-42C2-9348-0C8A1B9BD4DB}"/>
              </a:ext>
            </a:extLst>
          </p:cNvPr>
          <p:cNvSpPr>
            <a:spLocks noGrp="1"/>
          </p:cNvSpPr>
          <p:nvPr>
            <p:ph type="sldNum" sz="quarter" idx="12"/>
          </p:nvPr>
        </p:nvSpPr>
        <p:spPr/>
        <p:txBody>
          <a:bodyPr/>
          <a:lstStyle>
            <a:lvl1pPr>
              <a:defRPr/>
            </a:lvl1pPr>
          </a:lstStyle>
          <a:p>
            <a:fld id="{D997D42A-F6F9-4950-A172-0AD96D971270}" type="slidenum">
              <a:rPr lang="zh-CN" altLang="en-US"/>
              <a:pPr/>
              <a:t>‹#›</a:t>
            </a:fld>
            <a:endParaRPr lang="en-US" altLang="zh-CN"/>
          </a:p>
        </p:txBody>
      </p:sp>
    </p:spTree>
    <p:extLst>
      <p:ext uri="{BB962C8B-B14F-4D97-AF65-F5344CB8AC3E}">
        <p14:creationId xmlns:p14="http://schemas.microsoft.com/office/powerpoint/2010/main" val="3624074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250049-42B1-4B22-A19A-CA31FA46B1D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A8716A7-FAC4-49A8-8668-5858A0D16690}"/>
              </a:ext>
            </a:extLst>
          </p:cNvPr>
          <p:cNvSpPr>
            <a:spLocks noGrp="1"/>
          </p:cNvSpPr>
          <p:nvPr>
            <p:ph sz="half" idx="1"/>
          </p:nvPr>
        </p:nvSpPr>
        <p:spPr>
          <a:xfrm>
            <a:off x="514350" y="1295400"/>
            <a:ext cx="4040188" cy="49530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33AA596-46BB-4E35-920C-7D6693333FDE}"/>
              </a:ext>
            </a:extLst>
          </p:cNvPr>
          <p:cNvSpPr>
            <a:spLocks noGrp="1"/>
          </p:cNvSpPr>
          <p:nvPr>
            <p:ph sz="half" idx="2"/>
          </p:nvPr>
        </p:nvSpPr>
        <p:spPr>
          <a:xfrm>
            <a:off x="4706938" y="1295400"/>
            <a:ext cx="4041775" cy="49530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024022B-B8E7-42D6-8FB6-A5CF20ED73A4}"/>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6264A55C-DCE2-453B-BE9A-26580AAC780C}"/>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A6FDE26F-DF94-4C43-9B2D-BAE7BF84BBEA}"/>
              </a:ext>
            </a:extLst>
          </p:cNvPr>
          <p:cNvSpPr>
            <a:spLocks noGrp="1"/>
          </p:cNvSpPr>
          <p:nvPr>
            <p:ph type="sldNum" sz="quarter" idx="12"/>
          </p:nvPr>
        </p:nvSpPr>
        <p:spPr/>
        <p:txBody>
          <a:bodyPr/>
          <a:lstStyle>
            <a:lvl1pPr>
              <a:defRPr/>
            </a:lvl1pPr>
          </a:lstStyle>
          <a:p>
            <a:fld id="{C44FCD5B-BCF3-4080-8E5D-EB5CAEC80806}" type="slidenum">
              <a:rPr lang="zh-CN" altLang="en-US"/>
              <a:pPr/>
              <a:t>‹#›</a:t>
            </a:fld>
            <a:endParaRPr lang="en-US" altLang="zh-CN"/>
          </a:p>
        </p:txBody>
      </p:sp>
    </p:spTree>
    <p:extLst>
      <p:ext uri="{BB962C8B-B14F-4D97-AF65-F5344CB8AC3E}">
        <p14:creationId xmlns:p14="http://schemas.microsoft.com/office/powerpoint/2010/main" val="2851949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16AA5D-D9CE-443A-9ABB-8A53DC174926}"/>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28F758B-C22D-49E0-BCB4-2AC744C13CBC}"/>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21D9BEB-A17E-469C-819F-5469C839C85C}"/>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B8D7BC0-AE18-4568-AF7C-85273547590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6A6DE62-B3FA-40D7-8C6A-7FEC121D4AFB}"/>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9F0D5C1-B6DB-4770-873F-F9F844D70A49}"/>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829A8940-EF34-49A7-930D-2287DC025FCB}"/>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6993C004-0A74-451F-833E-5521D1609275}"/>
              </a:ext>
            </a:extLst>
          </p:cNvPr>
          <p:cNvSpPr>
            <a:spLocks noGrp="1"/>
          </p:cNvSpPr>
          <p:nvPr>
            <p:ph type="sldNum" sz="quarter" idx="12"/>
          </p:nvPr>
        </p:nvSpPr>
        <p:spPr/>
        <p:txBody>
          <a:bodyPr/>
          <a:lstStyle>
            <a:lvl1pPr>
              <a:defRPr/>
            </a:lvl1pPr>
          </a:lstStyle>
          <a:p>
            <a:fld id="{E643529B-5E78-469E-93CB-5B2C788B0F0F}" type="slidenum">
              <a:rPr lang="zh-CN" altLang="en-US"/>
              <a:pPr/>
              <a:t>‹#›</a:t>
            </a:fld>
            <a:endParaRPr lang="en-US" altLang="zh-CN"/>
          </a:p>
        </p:txBody>
      </p:sp>
    </p:spTree>
    <p:extLst>
      <p:ext uri="{BB962C8B-B14F-4D97-AF65-F5344CB8AC3E}">
        <p14:creationId xmlns:p14="http://schemas.microsoft.com/office/powerpoint/2010/main" val="559770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9DC1D7-7CE7-4383-A1E0-BE184E1558B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2B3E8D1-D6EE-4FA5-8E6C-9B7E98436413}"/>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43323704-6D76-4630-B311-442BCB5FF238}"/>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CF972E01-B824-459D-8BB6-A7900F498FB2}"/>
              </a:ext>
            </a:extLst>
          </p:cNvPr>
          <p:cNvSpPr>
            <a:spLocks noGrp="1"/>
          </p:cNvSpPr>
          <p:nvPr>
            <p:ph type="sldNum" sz="quarter" idx="12"/>
          </p:nvPr>
        </p:nvSpPr>
        <p:spPr/>
        <p:txBody>
          <a:bodyPr/>
          <a:lstStyle>
            <a:lvl1pPr>
              <a:defRPr/>
            </a:lvl1pPr>
          </a:lstStyle>
          <a:p>
            <a:fld id="{0DBDEA7C-A291-4B30-9464-7DE8CE8726EC}" type="slidenum">
              <a:rPr lang="zh-CN" altLang="en-US"/>
              <a:pPr/>
              <a:t>‹#›</a:t>
            </a:fld>
            <a:endParaRPr lang="en-US" altLang="zh-CN"/>
          </a:p>
        </p:txBody>
      </p:sp>
    </p:spTree>
    <p:extLst>
      <p:ext uri="{BB962C8B-B14F-4D97-AF65-F5344CB8AC3E}">
        <p14:creationId xmlns:p14="http://schemas.microsoft.com/office/powerpoint/2010/main" val="1191561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1F06362-8BB3-4C59-8C19-54A34A4917BF}"/>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2048EAAC-67DF-4F4E-B17F-058CC315A222}"/>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D10441C4-FC3C-4D2E-985B-B3EB2ADD8E95}"/>
              </a:ext>
            </a:extLst>
          </p:cNvPr>
          <p:cNvSpPr>
            <a:spLocks noGrp="1"/>
          </p:cNvSpPr>
          <p:nvPr>
            <p:ph type="sldNum" sz="quarter" idx="12"/>
          </p:nvPr>
        </p:nvSpPr>
        <p:spPr/>
        <p:txBody>
          <a:bodyPr/>
          <a:lstStyle>
            <a:lvl1pPr>
              <a:defRPr/>
            </a:lvl1pPr>
          </a:lstStyle>
          <a:p>
            <a:fld id="{91D9177C-85CB-427D-8379-F454D36D0A3B}" type="slidenum">
              <a:rPr lang="zh-CN" altLang="en-US"/>
              <a:pPr/>
              <a:t>‹#›</a:t>
            </a:fld>
            <a:endParaRPr lang="en-US" altLang="zh-CN"/>
          </a:p>
        </p:txBody>
      </p:sp>
    </p:spTree>
    <p:extLst>
      <p:ext uri="{BB962C8B-B14F-4D97-AF65-F5344CB8AC3E}">
        <p14:creationId xmlns:p14="http://schemas.microsoft.com/office/powerpoint/2010/main" val="1221620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4B00CE-841C-4D8B-A7C1-A367DE0617E0}"/>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2F93B21-359C-42AE-B10F-317CF4D2BAD2}"/>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A8E1ACA-DF7C-4DA1-81CF-295E020468F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15BAB0C-16D4-4C20-8D36-12C019AE929F}"/>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51A09BDF-3995-498E-A6CB-1018CEF3BF7F}"/>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FF196753-FF7B-4C04-A29E-824CEE2864CB}"/>
              </a:ext>
            </a:extLst>
          </p:cNvPr>
          <p:cNvSpPr>
            <a:spLocks noGrp="1"/>
          </p:cNvSpPr>
          <p:nvPr>
            <p:ph type="sldNum" sz="quarter" idx="12"/>
          </p:nvPr>
        </p:nvSpPr>
        <p:spPr/>
        <p:txBody>
          <a:bodyPr/>
          <a:lstStyle>
            <a:lvl1pPr>
              <a:defRPr/>
            </a:lvl1pPr>
          </a:lstStyle>
          <a:p>
            <a:fld id="{5760B396-B437-4FEE-874A-29C9074A00F5}" type="slidenum">
              <a:rPr lang="zh-CN" altLang="en-US"/>
              <a:pPr/>
              <a:t>‹#›</a:t>
            </a:fld>
            <a:endParaRPr lang="en-US" altLang="zh-CN"/>
          </a:p>
        </p:txBody>
      </p:sp>
    </p:spTree>
    <p:extLst>
      <p:ext uri="{BB962C8B-B14F-4D97-AF65-F5344CB8AC3E}">
        <p14:creationId xmlns:p14="http://schemas.microsoft.com/office/powerpoint/2010/main" val="3453975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BDAD01-92DF-415A-90B4-B9856B2877CF}"/>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A3BC64B-AB58-4E52-B21A-BD76C8AB46EB}"/>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983AC1C-7EE9-4D81-A963-0311C929FBF3}"/>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4D96331-F0B9-4FC6-ADAF-D85C91B447C8}"/>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976A8C06-F658-4713-B265-684465CB2344}"/>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B74FFA09-400D-488E-AB25-4E1AACF3FCB5}"/>
              </a:ext>
            </a:extLst>
          </p:cNvPr>
          <p:cNvSpPr>
            <a:spLocks noGrp="1"/>
          </p:cNvSpPr>
          <p:nvPr>
            <p:ph type="sldNum" sz="quarter" idx="12"/>
          </p:nvPr>
        </p:nvSpPr>
        <p:spPr/>
        <p:txBody>
          <a:bodyPr/>
          <a:lstStyle>
            <a:lvl1pPr>
              <a:defRPr/>
            </a:lvl1pPr>
          </a:lstStyle>
          <a:p>
            <a:fld id="{A71265D7-4FBB-4D54-80C8-186FCAF7209A}" type="slidenum">
              <a:rPr lang="zh-CN" altLang="en-US"/>
              <a:pPr/>
              <a:t>‹#›</a:t>
            </a:fld>
            <a:endParaRPr lang="en-US" altLang="zh-CN"/>
          </a:p>
        </p:txBody>
      </p:sp>
    </p:spTree>
    <p:extLst>
      <p:ext uri="{BB962C8B-B14F-4D97-AF65-F5344CB8AC3E}">
        <p14:creationId xmlns:p14="http://schemas.microsoft.com/office/powerpoint/2010/main" val="580608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F5725E-E227-4E7C-94F0-73EBA97374F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FB3A78E-CA03-430B-A051-5642C6FA52E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E19FFE4-37C4-47E5-9365-A551789A4A4E}"/>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EC7B0DFC-5F7F-4D21-9FA6-0EDE6FEC8666}"/>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5C379EDE-C1CD-48EA-9119-93CE9EFEE2C3}"/>
              </a:ext>
            </a:extLst>
          </p:cNvPr>
          <p:cNvSpPr>
            <a:spLocks noGrp="1"/>
          </p:cNvSpPr>
          <p:nvPr>
            <p:ph type="sldNum" sz="quarter" idx="12"/>
          </p:nvPr>
        </p:nvSpPr>
        <p:spPr/>
        <p:txBody>
          <a:bodyPr/>
          <a:lstStyle>
            <a:lvl1pPr>
              <a:defRPr/>
            </a:lvl1pPr>
          </a:lstStyle>
          <a:p>
            <a:fld id="{DDE8AFF9-95D4-4DD8-B25D-4D6A5EB26820}" type="slidenum">
              <a:rPr lang="zh-CN" altLang="en-US"/>
              <a:pPr/>
              <a:t>‹#›</a:t>
            </a:fld>
            <a:endParaRPr lang="en-US" altLang="zh-CN"/>
          </a:p>
        </p:txBody>
      </p:sp>
    </p:spTree>
    <p:extLst>
      <p:ext uri="{BB962C8B-B14F-4D97-AF65-F5344CB8AC3E}">
        <p14:creationId xmlns:p14="http://schemas.microsoft.com/office/powerpoint/2010/main" val="596662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C0ECF59-4A40-4FA9-AFBA-4F27F533D258}"/>
              </a:ext>
            </a:extLst>
          </p:cNvPr>
          <p:cNvSpPr>
            <a:spLocks noGrp="1"/>
          </p:cNvSpPr>
          <p:nvPr>
            <p:ph type="title" orient="vert"/>
          </p:nvPr>
        </p:nvSpPr>
        <p:spPr>
          <a:xfrm>
            <a:off x="6699250" y="71438"/>
            <a:ext cx="2060575" cy="6176962"/>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5BA9FED-7CDA-4316-9E32-3D0C1DC9266B}"/>
              </a:ext>
            </a:extLst>
          </p:cNvPr>
          <p:cNvSpPr>
            <a:spLocks noGrp="1"/>
          </p:cNvSpPr>
          <p:nvPr>
            <p:ph type="body" orient="vert" idx="1"/>
          </p:nvPr>
        </p:nvSpPr>
        <p:spPr>
          <a:xfrm>
            <a:off x="514350" y="71438"/>
            <a:ext cx="6032500" cy="6176962"/>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C67EE61-B872-4323-8D06-E2CFF72FE0A5}"/>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5A4F6ABD-2607-477E-A42A-5E453D5142CD}"/>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F95A6D39-1FFE-45ED-A87A-AC4F146B4F97}"/>
              </a:ext>
            </a:extLst>
          </p:cNvPr>
          <p:cNvSpPr>
            <a:spLocks noGrp="1"/>
          </p:cNvSpPr>
          <p:nvPr>
            <p:ph type="sldNum" sz="quarter" idx="12"/>
          </p:nvPr>
        </p:nvSpPr>
        <p:spPr/>
        <p:txBody>
          <a:bodyPr/>
          <a:lstStyle>
            <a:lvl1pPr>
              <a:defRPr/>
            </a:lvl1pPr>
          </a:lstStyle>
          <a:p>
            <a:fld id="{0DD320FC-ED11-48D9-B464-39C33C594CB5}" type="slidenum">
              <a:rPr lang="zh-CN" altLang="en-US"/>
              <a:pPr/>
              <a:t>‹#›</a:t>
            </a:fld>
            <a:endParaRPr lang="en-US" altLang="zh-CN"/>
          </a:p>
        </p:txBody>
      </p:sp>
    </p:spTree>
    <p:extLst>
      <p:ext uri="{BB962C8B-B14F-4D97-AF65-F5344CB8AC3E}">
        <p14:creationId xmlns:p14="http://schemas.microsoft.com/office/powerpoint/2010/main" val="2924259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62564" name="Rectangle 4">
            <a:extLst>
              <a:ext uri="{FF2B5EF4-FFF2-40B4-BE49-F238E27FC236}">
                <a16:creationId xmlns:a16="http://schemas.microsoft.com/office/drawing/2014/main" id="{289EE23C-E8E9-44FA-8D4E-D81742D0690D}"/>
              </a:ext>
            </a:extLst>
          </p:cNvPr>
          <p:cNvSpPr>
            <a:spLocks noGrp="1" noChangeArrowheads="1"/>
          </p:cNvSpPr>
          <p:nvPr>
            <p:ph type="body" idx="1"/>
          </p:nvPr>
        </p:nvSpPr>
        <p:spPr bwMode="auto">
          <a:xfrm>
            <a:off x="514350" y="1295400"/>
            <a:ext cx="8234363" cy="49530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62570" name="Rectangle 10">
            <a:extLst>
              <a:ext uri="{FF2B5EF4-FFF2-40B4-BE49-F238E27FC236}">
                <a16:creationId xmlns:a16="http://schemas.microsoft.com/office/drawing/2014/main" id="{64F7C070-DF6E-4A12-B85F-3E8F3D2E2C03}"/>
              </a:ext>
            </a:extLst>
          </p:cNvPr>
          <p:cNvSpPr>
            <a:spLocks noGrp="1" noChangeArrowheads="1"/>
          </p:cNvSpPr>
          <p:nvPr>
            <p:ph type="dt" sz="half" idx="2"/>
          </p:nvPr>
        </p:nvSpPr>
        <p:spPr bwMode="auto">
          <a:xfrm>
            <a:off x="381000" y="6400800"/>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ea typeface="宋体" panose="02010600030101010101" pitchFamily="2" charset="-122"/>
              </a:defRPr>
            </a:lvl1pPr>
          </a:lstStyle>
          <a:p>
            <a:endParaRPr lang="en-US" altLang="zh-CN"/>
          </a:p>
        </p:txBody>
      </p:sp>
      <p:sp>
        <p:nvSpPr>
          <p:cNvPr id="962571" name="Rectangle 11">
            <a:extLst>
              <a:ext uri="{FF2B5EF4-FFF2-40B4-BE49-F238E27FC236}">
                <a16:creationId xmlns:a16="http://schemas.microsoft.com/office/drawing/2014/main" id="{43BFE943-5427-48DC-8E65-CE2E00FD6FD6}"/>
              </a:ext>
            </a:extLst>
          </p:cNvPr>
          <p:cNvSpPr>
            <a:spLocks noGrp="1" noChangeArrowheads="1"/>
          </p:cNvSpPr>
          <p:nvPr>
            <p:ph type="ftr" sz="quarter" idx="3"/>
          </p:nvPr>
        </p:nvSpPr>
        <p:spPr bwMode="auto">
          <a:xfrm>
            <a:off x="3124200" y="6400800"/>
            <a:ext cx="2895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ea typeface="宋体" panose="02010600030101010101" pitchFamily="2" charset="-122"/>
              </a:defRPr>
            </a:lvl1pPr>
          </a:lstStyle>
          <a:p>
            <a:endParaRPr lang="en-US" altLang="zh-CN"/>
          </a:p>
        </p:txBody>
      </p:sp>
      <p:sp>
        <p:nvSpPr>
          <p:cNvPr id="962572" name="Rectangle 12">
            <a:extLst>
              <a:ext uri="{FF2B5EF4-FFF2-40B4-BE49-F238E27FC236}">
                <a16:creationId xmlns:a16="http://schemas.microsoft.com/office/drawing/2014/main" id="{B1E4447D-3D56-423C-A082-B6AECEFE2E3C}"/>
              </a:ext>
            </a:extLst>
          </p:cNvPr>
          <p:cNvSpPr>
            <a:spLocks noGrp="1" noChangeArrowheads="1"/>
          </p:cNvSpPr>
          <p:nvPr>
            <p:ph type="sldNum" sz="quarter" idx="4"/>
          </p:nvPr>
        </p:nvSpPr>
        <p:spPr bwMode="auto">
          <a:xfrm>
            <a:off x="6902450" y="6421438"/>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ea typeface="宋体" panose="02010600030101010101" pitchFamily="2" charset="-122"/>
              </a:defRPr>
            </a:lvl1pPr>
          </a:lstStyle>
          <a:p>
            <a:fld id="{53A52254-94D2-4B41-B109-F12D7D1B7E11}" type="slidenum">
              <a:rPr lang="zh-CN" altLang="en-US"/>
              <a:pPr/>
              <a:t>‹#›</a:t>
            </a:fld>
            <a:endParaRPr lang="en-US" altLang="zh-CN"/>
          </a:p>
        </p:txBody>
      </p:sp>
      <p:sp>
        <p:nvSpPr>
          <p:cNvPr id="962573" name="Rectangle 13">
            <a:extLst>
              <a:ext uri="{FF2B5EF4-FFF2-40B4-BE49-F238E27FC236}">
                <a16:creationId xmlns:a16="http://schemas.microsoft.com/office/drawing/2014/main" id="{CC85E08F-F7C1-462F-BCA1-CE5BA0920F5B}"/>
              </a:ext>
            </a:extLst>
          </p:cNvPr>
          <p:cNvSpPr>
            <a:spLocks noGrp="1" noChangeArrowheads="1"/>
          </p:cNvSpPr>
          <p:nvPr>
            <p:ph type="title"/>
          </p:nvPr>
        </p:nvSpPr>
        <p:spPr bwMode="gray">
          <a:xfrm>
            <a:off x="1547813" y="71438"/>
            <a:ext cx="7212012" cy="836612"/>
          </a:xfrm>
          <a:prstGeom prst="rect">
            <a:avLst/>
          </a:prstGeom>
          <a:noFill/>
          <a:ln>
            <a:noFill/>
          </a:ln>
          <a:effectLst>
            <a:outerShdw dist="17961" dir="2700000" algn="ctr" rotWithShape="0">
              <a:schemeClr val="tx1">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962575" name="Rectangle 15">
            <a:extLst>
              <a:ext uri="{FF2B5EF4-FFF2-40B4-BE49-F238E27FC236}">
                <a16:creationId xmlns:a16="http://schemas.microsoft.com/office/drawing/2014/main" id="{BAAE93B6-5394-4A59-BFFE-63A5D12B49D4}"/>
              </a:ext>
            </a:extLst>
          </p:cNvPr>
          <p:cNvSpPr>
            <a:spLocks noChangeArrowheads="1"/>
          </p:cNvSpPr>
          <p:nvPr userDrawn="1"/>
        </p:nvSpPr>
        <p:spPr bwMode="ltGray">
          <a:xfrm>
            <a:off x="417513" y="252413"/>
            <a:ext cx="438150" cy="474662"/>
          </a:xfrm>
          <a:prstGeom prst="rect">
            <a:avLst/>
          </a:prstGeom>
          <a:solidFill>
            <a:srgbClr val="FFCF0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962576" name="Rectangle 16">
            <a:extLst>
              <a:ext uri="{FF2B5EF4-FFF2-40B4-BE49-F238E27FC236}">
                <a16:creationId xmlns:a16="http://schemas.microsoft.com/office/drawing/2014/main" id="{96BF1D28-9148-4CEE-84F6-3D186330E654}"/>
              </a:ext>
            </a:extLst>
          </p:cNvPr>
          <p:cNvSpPr>
            <a:spLocks noChangeArrowheads="1"/>
          </p:cNvSpPr>
          <p:nvPr userDrawn="1"/>
        </p:nvSpPr>
        <p:spPr bwMode="ltGray">
          <a:xfrm>
            <a:off x="800100" y="252413"/>
            <a:ext cx="328613" cy="474662"/>
          </a:xfrm>
          <a:prstGeom prst="rect">
            <a:avLst/>
          </a:prstGeom>
          <a:gradFill rotWithShape="0">
            <a:gsLst>
              <a:gs pos="0">
                <a:srgbClr val="FFCF01"/>
              </a:gs>
              <a:gs pos="100000">
                <a:srgbClr val="FFFFFF"/>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962577" name="Rectangle 17">
            <a:extLst>
              <a:ext uri="{FF2B5EF4-FFF2-40B4-BE49-F238E27FC236}">
                <a16:creationId xmlns:a16="http://schemas.microsoft.com/office/drawing/2014/main" id="{A850A7D4-697C-49FC-9974-CF9CA16D4491}"/>
              </a:ext>
            </a:extLst>
          </p:cNvPr>
          <p:cNvSpPr>
            <a:spLocks noChangeArrowheads="1"/>
          </p:cNvSpPr>
          <p:nvPr userDrawn="1"/>
        </p:nvSpPr>
        <p:spPr bwMode="ltGray">
          <a:xfrm>
            <a:off x="541338" y="674688"/>
            <a:ext cx="422275" cy="474662"/>
          </a:xfrm>
          <a:prstGeom prst="rect">
            <a:avLst/>
          </a:prstGeom>
          <a:solidFill>
            <a:srgbClr val="3333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962578" name="Rectangle 18">
            <a:extLst>
              <a:ext uri="{FF2B5EF4-FFF2-40B4-BE49-F238E27FC236}">
                <a16:creationId xmlns:a16="http://schemas.microsoft.com/office/drawing/2014/main" id="{FBED296F-0A9E-4DA3-ABB6-17D8BFFCF768}"/>
              </a:ext>
            </a:extLst>
          </p:cNvPr>
          <p:cNvSpPr>
            <a:spLocks noChangeArrowheads="1"/>
          </p:cNvSpPr>
          <p:nvPr userDrawn="1"/>
        </p:nvSpPr>
        <p:spPr bwMode="ltGray">
          <a:xfrm>
            <a:off x="911225" y="674688"/>
            <a:ext cx="368300" cy="474662"/>
          </a:xfrm>
          <a:prstGeom prst="rect">
            <a:avLst/>
          </a:prstGeom>
          <a:gradFill rotWithShape="0">
            <a:gsLst>
              <a:gs pos="0">
                <a:srgbClr val="3333CC"/>
              </a:gs>
              <a:gs pos="100000">
                <a:srgbClr val="FFFFFF"/>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962579" name="Rectangle 19">
            <a:extLst>
              <a:ext uri="{FF2B5EF4-FFF2-40B4-BE49-F238E27FC236}">
                <a16:creationId xmlns:a16="http://schemas.microsoft.com/office/drawing/2014/main" id="{AAB26C13-FE09-4333-A48B-F3929E285D9E}"/>
              </a:ext>
            </a:extLst>
          </p:cNvPr>
          <p:cNvSpPr>
            <a:spLocks noChangeArrowheads="1"/>
          </p:cNvSpPr>
          <p:nvPr userDrawn="1"/>
        </p:nvSpPr>
        <p:spPr bwMode="ltGray">
          <a:xfrm>
            <a:off x="127000" y="601663"/>
            <a:ext cx="560388" cy="422275"/>
          </a:xfrm>
          <a:prstGeom prst="rect">
            <a:avLst/>
          </a:prstGeom>
          <a:gradFill rotWithShape="0">
            <a:gsLst>
              <a:gs pos="0">
                <a:srgbClr val="FFFFFF"/>
              </a:gs>
              <a:gs pos="100000">
                <a:srgbClr val="FF0000"/>
              </a:gs>
            </a:gsLst>
            <a:lin ang="189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962581" name="Rectangle 21">
            <a:extLst>
              <a:ext uri="{FF2B5EF4-FFF2-40B4-BE49-F238E27FC236}">
                <a16:creationId xmlns:a16="http://schemas.microsoft.com/office/drawing/2014/main" id="{5E74FCCF-74AE-4F07-A27C-94AAAA0C2D34}"/>
              </a:ext>
            </a:extLst>
          </p:cNvPr>
          <p:cNvSpPr>
            <a:spLocks noChangeArrowheads="1"/>
          </p:cNvSpPr>
          <p:nvPr userDrawn="1"/>
        </p:nvSpPr>
        <p:spPr bwMode="gray">
          <a:xfrm>
            <a:off x="442913" y="908050"/>
            <a:ext cx="8226425" cy="31750"/>
          </a:xfrm>
          <a:prstGeom prst="rect">
            <a:avLst/>
          </a:prstGeom>
          <a:gradFill rotWithShape="0">
            <a:gsLst>
              <a:gs pos="0">
                <a:srgbClr val="1C1C1C"/>
              </a:gs>
              <a:gs pos="100000">
                <a:srgbClr val="FFFFFF"/>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62564">
                                            <p:txEl>
                                              <p:pRg st="0" end="0"/>
                                            </p:txEl>
                                          </p:spTgt>
                                        </p:tgtEl>
                                        <p:attrNameLst>
                                          <p:attrName>style.visibility</p:attrName>
                                        </p:attrNameLst>
                                      </p:cBhvr>
                                      <p:to>
                                        <p:strVal val="visible"/>
                                      </p:to>
                                    </p:set>
                                    <p:animEffect transition="in" filter="wipe(left)">
                                      <p:cBhvr>
                                        <p:cTn id="7" dur="1000"/>
                                        <p:tgtEl>
                                          <p:spTgt spid="96256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62564">
                                            <p:txEl>
                                              <p:pRg st="1" end="1"/>
                                            </p:txEl>
                                          </p:spTgt>
                                        </p:tgtEl>
                                        <p:attrNameLst>
                                          <p:attrName>style.visibility</p:attrName>
                                        </p:attrNameLst>
                                      </p:cBhvr>
                                      <p:to>
                                        <p:strVal val="visible"/>
                                      </p:to>
                                    </p:set>
                                    <p:animEffect transition="in" filter="wipe(left)">
                                      <p:cBhvr>
                                        <p:cTn id="12" dur="1000"/>
                                        <p:tgtEl>
                                          <p:spTgt spid="96256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62564">
                                            <p:txEl>
                                              <p:pRg st="2" end="2"/>
                                            </p:txEl>
                                          </p:spTgt>
                                        </p:tgtEl>
                                        <p:attrNameLst>
                                          <p:attrName>style.visibility</p:attrName>
                                        </p:attrNameLst>
                                      </p:cBhvr>
                                      <p:to>
                                        <p:strVal val="visible"/>
                                      </p:to>
                                    </p:set>
                                    <p:animEffect transition="in" filter="wipe(left)">
                                      <p:cBhvr>
                                        <p:cTn id="17" dur="1000"/>
                                        <p:tgtEl>
                                          <p:spTgt spid="96256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62564">
                                            <p:txEl>
                                              <p:pRg st="3" end="3"/>
                                            </p:txEl>
                                          </p:spTgt>
                                        </p:tgtEl>
                                        <p:attrNameLst>
                                          <p:attrName>style.visibility</p:attrName>
                                        </p:attrNameLst>
                                      </p:cBhvr>
                                      <p:to>
                                        <p:strVal val="visible"/>
                                      </p:to>
                                    </p:set>
                                    <p:animEffect transition="in" filter="wipe(left)">
                                      <p:cBhvr>
                                        <p:cTn id="22" dur="1000"/>
                                        <p:tgtEl>
                                          <p:spTgt spid="96256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62564">
                                            <p:txEl>
                                              <p:pRg st="4" end="4"/>
                                            </p:txEl>
                                          </p:spTgt>
                                        </p:tgtEl>
                                        <p:attrNameLst>
                                          <p:attrName>style.visibility</p:attrName>
                                        </p:attrNameLst>
                                      </p:cBhvr>
                                      <p:to>
                                        <p:strVal val="visible"/>
                                      </p:to>
                                    </p:set>
                                    <p:animEffect transition="in" filter="wipe(left)">
                                      <p:cBhvr>
                                        <p:cTn id="27" dur="1000"/>
                                        <p:tgtEl>
                                          <p:spTgt spid="96256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64" grpId="0" build="p">
        <p:tmplLst>
          <p:tmpl lvl="1">
            <p:tnLst>
              <p:par>
                <p:cTn presetID="22" presetClass="entr" presetSubtype="8" fill="hold" nodeType="clickEffect">
                  <p:stCondLst>
                    <p:cond delay="0"/>
                  </p:stCondLst>
                  <p:childTnLst>
                    <p:set>
                      <p:cBhvr>
                        <p:cTn dur="1" fill="hold">
                          <p:stCondLst>
                            <p:cond delay="0"/>
                          </p:stCondLst>
                        </p:cTn>
                        <p:tgtEl>
                          <p:spTgt spid="962564"/>
                        </p:tgtEl>
                        <p:attrNameLst>
                          <p:attrName>style.visibility</p:attrName>
                        </p:attrNameLst>
                      </p:cBhvr>
                      <p:to>
                        <p:strVal val="visible"/>
                      </p:to>
                    </p:set>
                    <p:animEffect transition="in" filter="wipe(left)">
                      <p:cBhvr>
                        <p:cTn dur="1000"/>
                        <p:tgtEl>
                          <p:spTgt spid="962564"/>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962564"/>
                        </p:tgtEl>
                        <p:attrNameLst>
                          <p:attrName>style.visibility</p:attrName>
                        </p:attrNameLst>
                      </p:cBhvr>
                      <p:to>
                        <p:strVal val="visible"/>
                      </p:to>
                    </p:set>
                    <p:animEffect transition="in" filter="wipe(left)">
                      <p:cBhvr>
                        <p:cTn dur="1000"/>
                        <p:tgtEl>
                          <p:spTgt spid="962564"/>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962564"/>
                        </p:tgtEl>
                        <p:attrNameLst>
                          <p:attrName>style.visibility</p:attrName>
                        </p:attrNameLst>
                      </p:cBhvr>
                      <p:to>
                        <p:strVal val="visible"/>
                      </p:to>
                    </p:set>
                    <p:animEffect transition="in" filter="wipe(left)">
                      <p:cBhvr>
                        <p:cTn dur="1000"/>
                        <p:tgtEl>
                          <p:spTgt spid="962564"/>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962564"/>
                        </p:tgtEl>
                        <p:attrNameLst>
                          <p:attrName>style.visibility</p:attrName>
                        </p:attrNameLst>
                      </p:cBhvr>
                      <p:to>
                        <p:strVal val="visible"/>
                      </p:to>
                    </p:set>
                    <p:animEffect transition="in" filter="wipe(left)">
                      <p:cBhvr>
                        <p:cTn dur="1000"/>
                        <p:tgtEl>
                          <p:spTgt spid="962564"/>
                        </p:tgtEl>
                      </p:cBhvr>
                    </p:animEffect>
                  </p:childTnLst>
                </p:cTn>
              </p:par>
            </p:tnLst>
          </p:tmpl>
          <p:tmpl lvl="5">
            <p:tnLst>
              <p:par>
                <p:cTn presetID="22" presetClass="entr" presetSubtype="8" fill="hold" nodeType="clickEffect">
                  <p:stCondLst>
                    <p:cond delay="0"/>
                  </p:stCondLst>
                  <p:childTnLst>
                    <p:set>
                      <p:cBhvr>
                        <p:cTn dur="1" fill="hold">
                          <p:stCondLst>
                            <p:cond delay="0"/>
                          </p:stCondLst>
                        </p:cTn>
                        <p:tgtEl>
                          <p:spTgt spid="962564"/>
                        </p:tgtEl>
                        <p:attrNameLst>
                          <p:attrName>style.visibility</p:attrName>
                        </p:attrNameLst>
                      </p:cBhvr>
                      <p:to>
                        <p:strVal val="visible"/>
                      </p:to>
                    </p:set>
                    <p:animEffect transition="in" filter="wipe(left)">
                      <p:cBhvr>
                        <p:cTn dur="1000"/>
                        <p:tgtEl>
                          <p:spTgt spid="962564"/>
                        </p:tgtEl>
                      </p:cBhvr>
                    </p:animEffect>
                  </p:childTnLst>
                </p:cTn>
              </p:par>
            </p:tnLst>
          </p:tmpl>
        </p:tmplLst>
      </p:bldP>
    </p:bldLst>
  </p:timing>
  <p:txStyles>
    <p:titleStyle>
      <a:lvl1pPr algn="l" rtl="0" fontAlgn="base">
        <a:spcBef>
          <a:spcPct val="0"/>
        </a:spcBef>
        <a:spcAft>
          <a:spcPct val="0"/>
        </a:spcAft>
        <a:defRPr sz="3600" b="1" kern="1200">
          <a:solidFill>
            <a:srgbClr val="333399"/>
          </a:solidFill>
          <a:latin typeface="+mj-lt"/>
          <a:ea typeface="+mj-ea"/>
          <a:cs typeface="+mj-cs"/>
        </a:defRPr>
      </a:lvl1pPr>
      <a:lvl2pPr algn="l" rtl="0" fontAlgn="base">
        <a:spcBef>
          <a:spcPct val="0"/>
        </a:spcBef>
        <a:spcAft>
          <a:spcPct val="0"/>
        </a:spcAft>
        <a:defRPr sz="3600" b="1">
          <a:solidFill>
            <a:srgbClr val="333399"/>
          </a:solidFill>
          <a:latin typeface="Arial" panose="020B0604020202020204" pitchFamily="34" charset="0"/>
          <a:ea typeface="幼圆" panose="02010509060101010101" pitchFamily="49" charset="-122"/>
        </a:defRPr>
      </a:lvl2pPr>
      <a:lvl3pPr algn="l" rtl="0" fontAlgn="base">
        <a:spcBef>
          <a:spcPct val="0"/>
        </a:spcBef>
        <a:spcAft>
          <a:spcPct val="0"/>
        </a:spcAft>
        <a:defRPr sz="3600" b="1">
          <a:solidFill>
            <a:srgbClr val="333399"/>
          </a:solidFill>
          <a:latin typeface="Arial" panose="020B0604020202020204" pitchFamily="34" charset="0"/>
          <a:ea typeface="幼圆" panose="02010509060101010101" pitchFamily="49" charset="-122"/>
        </a:defRPr>
      </a:lvl3pPr>
      <a:lvl4pPr algn="l" rtl="0" fontAlgn="base">
        <a:spcBef>
          <a:spcPct val="0"/>
        </a:spcBef>
        <a:spcAft>
          <a:spcPct val="0"/>
        </a:spcAft>
        <a:defRPr sz="3600" b="1">
          <a:solidFill>
            <a:srgbClr val="333399"/>
          </a:solidFill>
          <a:latin typeface="Arial" panose="020B0604020202020204" pitchFamily="34" charset="0"/>
          <a:ea typeface="幼圆" panose="02010509060101010101" pitchFamily="49" charset="-122"/>
        </a:defRPr>
      </a:lvl4pPr>
      <a:lvl5pPr algn="l" rtl="0" fontAlgn="base">
        <a:spcBef>
          <a:spcPct val="0"/>
        </a:spcBef>
        <a:spcAft>
          <a:spcPct val="0"/>
        </a:spcAft>
        <a:defRPr sz="3600" b="1">
          <a:solidFill>
            <a:srgbClr val="333399"/>
          </a:solidFill>
          <a:latin typeface="Arial" panose="020B0604020202020204" pitchFamily="34" charset="0"/>
          <a:ea typeface="幼圆" panose="02010509060101010101" pitchFamily="49" charset="-122"/>
        </a:defRPr>
      </a:lvl5pPr>
      <a:lvl6pPr marL="457200" algn="l" rtl="0" fontAlgn="base">
        <a:spcBef>
          <a:spcPct val="0"/>
        </a:spcBef>
        <a:spcAft>
          <a:spcPct val="0"/>
        </a:spcAft>
        <a:defRPr sz="3600" b="1">
          <a:solidFill>
            <a:srgbClr val="333399"/>
          </a:solidFill>
          <a:latin typeface="Arial" panose="020B0604020202020204" pitchFamily="34" charset="0"/>
          <a:ea typeface="幼圆" panose="02010509060101010101" pitchFamily="49" charset="-122"/>
        </a:defRPr>
      </a:lvl6pPr>
      <a:lvl7pPr marL="914400" algn="l" rtl="0" fontAlgn="base">
        <a:spcBef>
          <a:spcPct val="0"/>
        </a:spcBef>
        <a:spcAft>
          <a:spcPct val="0"/>
        </a:spcAft>
        <a:defRPr sz="3600" b="1">
          <a:solidFill>
            <a:srgbClr val="333399"/>
          </a:solidFill>
          <a:latin typeface="Arial" panose="020B0604020202020204" pitchFamily="34" charset="0"/>
          <a:ea typeface="幼圆" panose="02010509060101010101" pitchFamily="49" charset="-122"/>
        </a:defRPr>
      </a:lvl7pPr>
      <a:lvl8pPr marL="1371600" algn="l" rtl="0" fontAlgn="base">
        <a:spcBef>
          <a:spcPct val="0"/>
        </a:spcBef>
        <a:spcAft>
          <a:spcPct val="0"/>
        </a:spcAft>
        <a:defRPr sz="3600" b="1">
          <a:solidFill>
            <a:srgbClr val="333399"/>
          </a:solidFill>
          <a:latin typeface="Arial" panose="020B0604020202020204" pitchFamily="34" charset="0"/>
          <a:ea typeface="幼圆" panose="02010509060101010101" pitchFamily="49" charset="-122"/>
        </a:defRPr>
      </a:lvl8pPr>
      <a:lvl9pPr marL="1828800" algn="l" rtl="0" fontAlgn="base">
        <a:spcBef>
          <a:spcPct val="0"/>
        </a:spcBef>
        <a:spcAft>
          <a:spcPct val="0"/>
        </a:spcAft>
        <a:defRPr sz="3600" b="1">
          <a:solidFill>
            <a:srgbClr val="333399"/>
          </a:solidFill>
          <a:latin typeface="Arial" panose="020B0604020202020204" pitchFamily="34" charset="0"/>
          <a:ea typeface="幼圆" panose="02010509060101010101" pitchFamily="49" charset="-122"/>
        </a:defRPr>
      </a:lvl9pPr>
    </p:titleStyle>
    <p:bodyStyle>
      <a:lvl1pPr marL="342900" indent="-342900" algn="l" rtl="0" fontAlgn="base">
        <a:lnSpc>
          <a:spcPct val="120000"/>
        </a:lnSpc>
        <a:spcBef>
          <a:spcPct val="20000"/>
        </a:spcBef>
        <a:spcAft>
          <a:spcPct val="0"/>
        </a:spcAft>
        <a:buClr>
          <a:srgbClr val="009900"/>
        </a:buClr>
        <a:buSzPct val="70000"/>
        <a:buFont typeface="Wingdings" panose="05000000000000000000" pitchFamily="2" charset="2"/>
        <a:defRPr sz="2800" b="1" kern="1200">
          <a:solidFill>
            <a:schemeClr val="tx1"/>
          </a:solidFill>
          <a:latin typeface="+mn-lt"/>
          <a:ea typeface="+mn-ea"/>
          <a:cs typeface="+mn-cs"/>
        </a:defRPr>
      </a:lvl1pPr>
      <a:lvl2pPr marL="742950" indent="-285750" algn="l" rtl="0" fontAlgn="base">
        <a:lnSpc>
          <a:spcPct val="120000"/>
        </a:lnSpc>
        <a:spcBef>
          <a:spcPct val="20000"/>
        </a:spcBef>
        <a:spcAft>
          <a:spcPct val="0"/>
        </a:spcAft>
        <a:buClr>
          <a:srgbClr val="009900"/>
        </a:buClr>
        <a:buSzPct val="70000"/>
        <a:buFont typeface="Wingdings" panose="05000000000000000000" pitchFamily="2" charset="2"/>
        <a:buChar char="u"/>
        <a:defRPr sz="2800" b="1" kern="1200">
          <a:solidFill>
            <a:schemeClr val="tx1"/>
          </a:solidFill>
          <a:latin typeface="+mn-lt"/>
          <a:ea typeface="+mn-ea"/>
          <a:cs typeface="+mn-cs"/>
        </a:defRPr>
      </a:lvl2pPr>
      <a:lvl3pPr marL="1143000" indent="-228600" algn="l" rtl="0" fontAlgn="base">
        <a:lnSpc>
          <a:spcPct val="120000"/>
        </a:lnSpc>
        <a:spcBef>
          <a:spcPct val="20000"/>
        </a:spcBef>
        <a:spcAft>
          <a:spcPct val="0"/>
        </a:spcAft>
        <a:buClr>
          <a:schemeClr val="tx2"/>
        </a:buClr>
        <a:buSzPct val="70000"/>
        <a:buFont typeface="Wingdings" panose="05000000000000000000" pitchFamily="2" charset="2"/>
        <a:buChar char="n"/>
        <a:defRPr sz="2400" b="1" kern="1200">
          <a:solidFill>
            <a:schemeClr val="tx1"/>
          </a:solidFill>
          <a:latin typeface="+mn-lt"/>
          <a:ea typeface="+mn-ea"/>
          <a:cs typeface="+mn-cs"/>
        </a:defRPr>
      </a:lvl3pPr>
      <a:lvl4pPr marL="1600200" indent="-228600" algn="l" rtl="0" fontAlgn="base">
        <a:lnSpc>
          <a:spcPct val="120000"/>
        </a:lnSpc>
        <a:spcBef>
          <a:spcPct val="20000"/>
        </a:spcBef>
        <a:spcAft>
          <a:spcPct val="0"/>
        </a:spcAft>
        <a:buChar char="–"/>
        <a:defRPr sz="2000" b="1" kern="1200">
          <a:solidFill>
            <a:schemeClr val="tx1"/>
          </a:solidFill>
          <a:latin typeface="+mn-lt"/>
          <a:ea typeface="+mn-ea"/>
          <a:cs typeface="+mn-cs"/>
        </a:defRPr>
      </a:lvl4pPr>
      <a:lvl5pPr marL="2057400" indent="-228600" algn="l" rtl="0" fontAlgn="base">
        <a:lnSpc>
          <a:spcPct val="120000"/>
        </a:lnSpc>
        <a:spcBef>
          <a:spcPct val="20000"/>
        </a:spcBef>
        <a:spcAft>
          <a:spcPct val="0"/>
        </a:spcAft>
        <a:buChar char="»"/>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wmf"/><Relationship Id="rId3" Type="http://schemas.openxmlformats.org/officeDocument/2006/relationships/slideLayout" Target="../slideLayouts/slideLayout2.xml"/><Relationship Id="rId7" Type="http://schemas.openxmlformats.org/officeDocument/2006/relationships/oleObject" Target="../embeddings/oleObject1.bin"/><Relationship Id="rId2" Type="http://schemas.openxmlformats.org/officeDocument/2006/relationships/tags" Target="../tags/tag2.xml"/><Relationship Id="rId1" Type="http://schemas.openxmlformats.org/officeDocument/2006/relationships/vmlDrawing" Target="../drawings/vmlDrawing1.vml"/><Relationship Id="rId6" Type="http://schemas.openxmlformats.org/officeDocument/2006/relationships/image" Target="../media/image3.emf"/><Relationship Id="rId5" Type="http://schemas.openxmlformats.org/officeDocument/2006/relationships/image" Target="../media/image2.emf"/><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92884" name="Group 20">
            <a:extLst>
              <a:ext uri="{FF2B5EF4-FFF2-40B4-BE49-F238E27FC236}">
                <a16:creationId xmlns:a16="http://schemas.microsoft.com/office/drawing/2014/main" id="{9D031D12-FD3E-4C9E-986A-77492F235C68}"/>
              </a:ext>
            </a:extLst>
          </p:cNvPr>
          <p:cNvGrpSpPr>
            <a:grpSpLocks/>
          </p:cNvGrpSpPr>
          <p:nvPr/>
        </p:nvGrpSpPr>
        <p:grpSpPr bwMode="auto">
          <a:xfrm>
            <a:off x="2151063" y="4297363"/>
            <a:ext cx="4437062" cy="644525"/>
            <a:chOff x="1355" y="2707"/>
            <a:chExt cx="2795" cy="406"/>
          </a:xfrm>
        </p:grpSpPr>
        <p:sp>
          <p:nvSpPr>
            <p:cNvPr id="292876" name="Rectangle 12">
              <a:extLst>
                <a:ext uri="{FF2B5EF4-FFF2-40B4-BE49-F238E27FC236}">
                  <a16:creationId xmlns:a16="http://schemas.microsoft.com/office/drawing/2014/main" id="{2D59EAC3-46A3-445E-B949-383FC5633F4D}"/>
                </a:ext>
              </a:extLst>
            </p:cNvPr>
            <p:cNvSpPr>
              <a:spLocks noChangeArrowheads="1"/>
            </p:cNvSpPr>
            <p:nvPr/>
          </p:nvSpPr>
          <p:spPr bwMode="auto">
            <a:xfrm>
              <a:off x="1355" y="2707"/>
              <a:ext cx="862" cy="406"/>
            </a:xfrm>
            <a:prstGeom prst="rect">
              <a:avLst/>
            </a:prstGeom>
            <a:solidFill>
              <a:srgbClr val="CCFFCC"/>
            </a:solidFill>
            <a:ln w="28575">
              <a:solidFill>
                <a:srgbClr val="000000"/>
              </a:solidFill>
              <a:miter lim="800000"/>
              <a:headEnd/>
              <a:tailEnd/>
            </a:ln>
            <a:effectLst>
              <a:outerShdw dist="35921" dir="2700000" algn="ctr" rotWithShape="0">
                <a:schemeClr val="tx1"/>
              </a:outerShdw>
            </a:effectLst>
          </p:spPr>
          <p:txBody>
            <a:bodyPr/>
            <a:lstStyle/>
            <a:p>
              <a:r>
                <a:rPr lang="zh-CN" altLang="en-US" sz="2800" b="1">
                  <a:effectLst>
                    <a:outerShdw blurRad="38100" dist="38100" dir="2700000" algn="tl">
                      <a:srgbClr val="FFFFFF"/>
                    </a:outerShdw>
                  </a:effectLst>
                </a:rPr>
                <a:t>候选键</a:t>
              </a:r>
            </a:p>
          </p:txBody>
        </p:sp>
        <p:sp>
          <p:nvSpPr>
            <p:cNvPr id="292878" name="Text Box 14">
              <a:extLst>
                <a:ext uri="{FF2B5EF4-FFF2-40B4-BE49-F238E27FC236}">
                  <a16:creationId xmlns:a16="http://schemas.microsoft.com/office/drawing/2014/main" id="{F1CDB8A8-2B4E-402F-83C2-A542EEE065CA}"/>
                </a:ext>
              </a:extLst>
            </p:cNvPr>
            <p:cNvSpPr txBox="1">
              <a:spLocks noChangeArrowheads="1"/>
            </p:cNvSpPr>
            <p:nvPr/>
          </p:nvSpPr>
          <p:spPr bwMode="auto">
            <a:xfrm>
              <a:off x="3561" y="2707"/>
              <a:ext cx="589" cy="405"/>
            </a:xfrm>
            <a:prstGeom prst="rect">
              <a:avLst/>
            </a:prstGeom>
            <a:solidFill>
              <a:srgbClr val="FF99CC"/>
            </a:solidFill>
            <a:ln w="28575">
              <a:solidFill>
                <a:srgbClr val="000000"/>
              </a:solidFill>
              <a:miter lim="800000"/>
              <a:headEnd/>
              <a:tailEnd/>
            </a:ln>
            <a:effectLst>
              <a:outerShdw dist="35921" dir="2700000" algn="ctr" rotWithShape="0">
                <a:schemeClr val="tx1"/>
              </a:outerShdw>
            </a:effectLst>
          </p:spPr>
          <p:txBody>
            <a:bodyPr lIns="0" rIns="0" bIns="10800" anchor="ctr" anchorCtr="1"/>
            <a:lstStyle/>
            <a:p>
              <a:pPr algn="ctr"/>
              <a:r>
                <a:rPr lang="en-US" altLang="zh-CN" sz="2800" b="1">
                  <a:solidFill>
                    <a:srgbClr val="000099"/>
                  </a:solidFill>
                  <a:effectLst>
                    <a:outerShdw blurRad="38100" dist="38100" dir="2700000" algn="tl">
                      <a:srgbClr val="000000"/>
                    </a:outerShdw>
                  </a:effectLst>
                </a:rPr>
                <a:t>Y</a:t>
              </a:r>
            </a:p>
          </p:txBody>
        </p:sp>
      </p:grpSp>
      <p:grpSp>
        <p:nvGrpSpPr>
          <p:cNvPr id="292882" name="Group 18">
            <a:extLst>
              <a:ext uri="{FF2B5EF4-FFF2-40B4-BE49-F238E27FC236}">
                <a16:creationId xmlns:a16="http://schemas.microsoft.com/office/drawing/2014/main" id="{B6156F6A-5260-4828-A88E-55D3D812E34D}"/>
              </a:ext>
            </a:extLst>
          </p:cNvPr>
          <p:cNvGrpSpPr>
            <a:grpSpLocks/>
          </p:cNvGrpSpPr>
          <p:nvPr/>
        </p:nvGrpSpPr>
        <p:grpSpPr bwMode="auto">
          <a:xfrm>
            <a:off x="3519488" y="4297363"/>
            <a:ext cx="2089150" cy="644525"/>
            <a:chOff x="2217" y="2707"/>
            <a:chExt cx="1316" cy="406"/>
          </a:xfrm>
        </p:grpSpPr>
        <p:sp>
          <p:nvSpPr>
            <p:cNvPr id="292877" name="Text Box 13">
              <a:extLst>
                <a:ext uri="{FF2B5EF4-FFF2-40B4-BE49-F238E27FC236}">
                  <a16:creationId xmlns:a16="http://schemas.microsoft.com/office/drawing/2014/main" id="{C19CF070-0017-4B39-A963-96FD327CF6D7}"/>
                </a:ext>
              </a:extLst>
            </p:cNvPr>
            <p:cNvSpPr txBox="1">
              <a:spLocks noChangeArrowheads="1"/>
            </p:cNvSpPr>
            <p:nvPr/>
          </p:nvSpPr>
          <p:spPr bwMode="auto">
            <a:xfrm>
              <a:off x="2581" y="2707"/>
              <a:ext cx="589" cy="406"/>
            </a:xfrm>
            <a:prstGeom prst="rect">
              <a:avLst/>
            </a:prstGeom>
            <a:solidFill>
              <a:srgbClr val="003366"/>
            </a:solidFill>
            <a:ln w="28575">
              <a:solidFill>
                <a:srgbClr val="000000"/>
              </a:solidFill>
              <a:miter lim="800000"/>
              <a:headEnd/>
              <a:tailEnd/>
            </a:ln>
            <a:effectLst>
              <a:outerShdw dist="35921" dir="2700000" algn="ctr" rotWithShape="0">
                <a:schemeClr val="tx1"/>
              </a:outerShdw>
            </a:effectLst>
          </p:spPr>
          <p:txBody>
            <a:bodyPr lIns="0" rIns="0" bIns="10800" anchor="ctr" anchorCtr="1"/>
            <a:lstStyle/>
            <a:p>
              <a:pPr algn="ctr"/>
              <a:r>
                <a:rPr lang="en-US" altLang="zh-CN" sz="2800" b="1">
                  <a:solidFill>
                    <a:srgbClr val="FFFF66"/>
                  </a:solidFill>
                  <a:effectLst>
                    <a:outerShdw blurRad="38100" dist="38100" dir="2700000" algn="tl">
                      <a:srgbClr val="000000"/>
                    </a:outerShdw>
                  </a:effectLst>
                </a:rPr>
                <a:t>X</a:t>
              </a:r>
            </a:p>
          </p:txBody>
        </p:sp>
        <p:sp>
          <p:nvSpPr>
            <p:cNvPr id="292880" name="Line 16">
              <a:extLst>
                <a:ext uri="{FF2B5EF4-FFF2-40B4-BE49-F238E27FC236}">
                  <a16:creationId xmlns:a16="http://schemas.microsoft.com/office/drawing/2014/main" id="{84899FB0-B8B7-451F-818B-90A6C7AEE951}"/>
                </a:ext>
              </a:extLst>
            </p:cNvPr>
            <p:cNvSpPr>
              <a:spLocks noChangeShapeType="1"/>
            </p:cNvSpPr>
            <p:nvPr/>
          </p:nvSpPr>
          <p:spPr bwMode="auto">
            <a:xfrm>
              <a:off x="2217" y="2895"/>
              <a:ext cx="363" cy="0"/>
            </a:xfrm>
            <a:prstGeom prst="line">
              <a:avLst/>
            </a:prstGeom>
            <a:noFill/>
            <a:ln w="38100" cap="sq">
              <a:solidFill>
                <a:schemeClr val="tx1"/>
              </a:solidFill>
              <a:round/>
              <a:headEnd type="none" w="sm" len="sm"/>
              <a:tailEnd type="triangle" w="lg" len="lg"/>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292881" name="Line 17">
              <a:extLst>
                <a:ext uri="{FF2B5EF4-FFF2-40B4-BE49-F238E27FC236}">
                  <a16:creationId xmlns:a16="http://schemas.microsoft.com/office/drawing/2014/main" id="{A0C8AF61-4CA0-4123-8704-24971B1B0CFB}"/>
                </a:ext>
              </a:extLst>
            </p:cNvPr>
            <p:cNvSpPr>
              <a:spLocks noChangeShapeType="1"/>
            </p:cNvSpPr>
            <p:nvPr/>
          </p:nvSpPr>
          <p:spPr bwMode="auto">
            <a:xfrm>
              <a:off x="3170" y="2895"/>
              <a:ext cx="363" cy="0"/>
            </a:xfrm>
            <a:prstGeom prst="line">
              <a:avLst/>
            </a:prstGeom>
            <a:noFill/>
            <a:ln w="38100" cap="sq">
              <a:solidFill>
                <a:schemeClr val="tx1"/>
              </a:solidFill>
              <a:round/>
              <a:headEnd type="none" w="sm" len="sm"/>
              <a:tailEnd type="triangle" w="lg" len="lg"/>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92883" name="Line 19">
            <a:extLst>
              <a:ext uri="{FF2B5EF4-FFF2-40B4-BE49-F238E27FC236}">
                <a16:creationId xmlns:a16="http://schemas.microsoft.com/office/drawing/2014/main" id="{7C1F93EC-6173-4A03-8AD5-9BD641B98515}"/>
              </a:ext>
            </a:extLst>
          </p:cNvPr>
          <p:cNvSpPr>
            <a:spLocks noChangeShapeType="1"/>
          </p:cNvSpPr>
          <p:nvPr/>
        </p:nvSpPr>
        <p:spPr bwMode="auto">
          <a:xfrm flipV="1">
            <a:off x="3563938" y="4581525"/>
            <a:ext cx="2016125" cy="14288"/>
          </a:xfrm>
          <a:prstGeom prst="line">
            <a:avLst/>
          </a:prstGeom>
          <a:noFill/>
          <a:ln w="38100" cap="sq">
            <a:solidFill>
              <a:srgbClr val="FF0000"/>
            </a:solidFill>
            <a:round/>
            <a:headEnd type="none" w="sm" len="sm"/>
            <a:tailEnd type="triangle" w="lg" len="lg"/>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292885" name="Rectangle 21">
            <a:extLst>
              <a:ext uri="{FF2B5EF4-FFF2-40B4-BE49-F238E27FC236}">
                <a16:creationId xmlns:a16="http://schemas.microsoft.com/office/drawing/2014/main" id="{E968003D-7BFF-4CE9-954C-EF000AB84134}"/>
              </a:ext>
            </a:extLst>
          </p:cNvPr>
          <p:cNvSpPr>
            <a:spLocks noGrp="1" noChangeArrowheads="1"/>
          </p:cNvSpPr>
          <p:nvPr>
            <p:ph type="title"/>
          </p:nvPr>
        </p:nvSpPr>
        <p:spPr/>
        <p:txBody>
          <a:bodyPr/>
          <a:lstStyle/>
          <a:p>
            <a:r>
              <a:rPr lang="zh-CN" altLang="en-US"/>
              <a:t>四、第三范式</a:t>
            </a:r>
          </a:p>
        </p:txBody>
      </p:sp>
      <p:sp>
        <p:nvSpPr>
          <p:cNvPr id="292886" name="Rectangle 22">
            <a:extLst>
              <a:ext uri="{FF2B5EF4-FFF2-40B4-BE49-F238E27FC236}">
                <a16:creationId xmlns:a16="http://schemas.microsoft.com/office/drawing/2014/main" id="{251D7420-4E6A-4477-BCB9-1A905ED3ADFC}"/>
              </a:ext>
            </a:extLst>
          </p:cNvPr>
          <p:cNvSpPr>
            <a:spLocks noGrp="1" noChangeArrowheads="1"/>
          </p:cNvSpPr>
          <p:nvPr>
            <p:ph type="body" idx="1"/>
          </p:nvPr>
        </p:nvSpPr>
        <p:spPr/>
        <p:txBody>
          <a:bodyPr/>
          <a:lstStyle/>
          <a:p>
            <a:pPr algn="just"/>
            <a:r>
              <a:rPr lang="en-US" altLang="zh-CN">
                <a:solidFill>
                  <a:srgbClr val="000000"/>
                </a:solidFill>
                <a:latin typeface="楷体_GB2312" pitchFamily="49" charset="-122"/>
                <a:cs typeface="Times New Roman" panose="02020603050405020304" pitchFamily="18" charset="0"/>
              </a:rPr>
              <a:t>1</a:t>
            </a:r>
            <a:r>
              <a:rPr lang="zh-CN" altLang="en-US">
                <a:solidFill>
                  <a:srgbClr val="000000"/>
                </a:solidFill>
                <a:latin typeface="楷体_GB2312" pitchFamily="49" charset="-122"/>
                <a:cs typeface="Times New Roman" panose="02020603050405020304" pitchFamily="18" charset="0"/>
              </a:rPr>
              <a:t>、定义</a:t>
            </a:r>
          </a:p>
          <a:p>
            <a:pPr algn="just"/>
            <a:r>
              <a:rPr lang="zh-CN" altLang="en-US">
                <a:solidFill>
                  <a:srgbClr val="000000"/>
                </a:solidFill>
                <a:latin typeface="楷体_GB2312" pitchFamily="49" charset="-122"/>
                <a:cs typeface="Times New Roman" panose="02020603050405020304" pitchFamily="18" charset="0"/>
              </a:rPr>
              <a:t>     如果一个关系模式</a:t>
            </a:r>
            <a:r>
              <a:rPr lang="en-US" altLang="zh-CN">
                <a:solidFill>
                  <a:srgbClr val="000000"/>
                </a:solidFill>
                <a:latin typeface="楷体_GB2312" pitchFamily="49" charset="-122"/>
                <a:cs typeface="Times New Roman" panose="02020603050405020304" pitchFamily="18" charset="0"/>
              </a:rPr>
              <a:t>R</a:t>
            </a:r>
            <a:r>
              <a:rPr lang="zh-CN" altLang="en-US">
                <a:solidFill>
                  <a:srgbClr val="000000"/>
                </a:solidFill>
                <a:latin typeface="楷体_GB2312" pitchFamily="49" charset="-122"/>
                <a:cs typeface="Times New Roman" panose="02020603050405020304" pitchFamily="18" charset="0"/>
              </a:rPr>
              <a:t>属于</a:t>
            </a:r>
            <a:r>
              <a:rPr lang="en-US" altLang="zh-CN">
                <a:solidFill>
                  <a:srgbClr val="000000"/>
                </a:solidFill>
                <a:latin typeface="楷体_GB2312" pitchFamily="49" charset="-122"/>
                <a:cs typeface="Times New Roman" panose="02020603050405020304" pitchFamily="18" charset="0"/>
              </a:rPr>
              <a:t>1NF</a:t>
            </a:r>
            <a:r>
              <a:rPr lang="zh-CN" altLang="en-US">
                <a:solidFill>
                  <a:srgbClr val="000000"/>
                </a:solidFill>
                <a:latin typeface="楷体_GB2312" pitchFamily="49" charset="-122"/>
                <a:cs typeface="Times New Roman" panose="02020603050405020304" pitchFamily="18" charset="0"/>
              </a:rPr>
              <a:t>，且</a:t>
            </a:r>
            <a:r>
              <a:rPr lang="en-US" altLang="zh-CN">
                <a:solidFill>
                  <a:srgbClr val="000000"/>
                </a:solidFill>
                <a:latin typeface="楷体_GB2312" pitchFamily="49" charset="-122"/>
                <a:cs typeface="Times New Roman" panose="02020603050405020304" pitchFamily="18" charset="0"/>
              </a:rPr>
              <a:t>R</a:t>
            </a:r>
            <a:r>
              <a:rPr lang="zh-CN" altLang="en-US">
                <a:solidFill>
                  <a:srgbClr val="000000"/>
                </a:solidFill>
                <a:latin typeface="楷体_GB2312" pitchFamily="49" charset="-122"/>
                <a:cs typeface="Times New Roman" panose="02020603050405020304" pitchFamily="18" charset="0"/>
              </a:rPr>
              <a:t>的</a:t>
            </a:r>
            <a:r>
              <a:rPr lang="zh-CN" altLang="en-US">
                <a:solidFill>
                  <a:schemeClr val="tx2"/>
                </a:solidFill>
                <a:latin typeface="楷体_GB2312" pitchFamily="49" charset="-122"/>
                <a:cs typeface="Times New Roman" panose="02020603050405020304" pitchFamily="18" charset="0"/>
              </a:rPr>
              <a:t>任何一个非主属性</a:t>
            </a:r>
            <a:r>
              <a:rPr lang="zh-CN" altLang="en-US">
                <a:solidFill>
                  <a:srgbClr val="CC3300"/>
                </a:solidFill>
                <a:latin typeface="楷体_GB2312" pitchFamily="49" charset="-122"/>
                <a:cs typeface="Times New Roman" panose="02020603050405020304" pitchFamily="18" charset="0"/>
              </a:rPr>
              <a:t>都不传递依赖于</a:t>
            </a:r>
            <a:r>
              <a:rPr lang="en-US" altLang="zh-CN">
                <a:solidFill>
                  <a:schemeClr val="tx2"/>
                </a:solidFill>
                <a:latin typeface="楷体_GB2312" pitchFamily="49" charset="-122"/>
                <a:cs typeface="Times New Roman" panose="02020603050405020304" pitchFamily="18" charset="0"/>
              </a:rPr>
              <a:t>R</a:t>
            </a:r>
            <a:r>
              <a:rPr lang="zh-CN" altLang="en-US">
                <a:solidFill>
                  <a:schemeClr val="tx2"/>
                </a:solidFill>
                <a:latin typeface="楷体_GB2312" pitchFamily="49" charset="-122"/>
                <a:cs typeface="Times New Roman" panose="02020603050405020304" pitchFamily="18" charset="0"/>
              </a:rPr>
              <a:t>的候选键</a:t>
            </a:r>
            <a:r>
              <a:rPr lang="zh-CN" altLang="en-US">
                <a:solidFill>
                  <a:srgbClr val="000000"/>
                </a:solidFill>
                <a:latin typeface="楷体_GB2312" pitchFamily="49" charset="-122"/>
                <a:cs typeface="Times New Roman" panose="02020603050405020304" pitchFamily="18" charset="0"/>
              </a:rPr>
              <a:t>，那么称</a:t>
            </a:r>
            <a:r>
              <a:rPr lang="en-US" altLang="zh-CN">
                <a:solidFill>
                  <a:srgbClr val="000000"/>
                </a:solidFill>
                <a:latin typeface="楷体_GB2312" pitchFamily="49" charset="-122"/>
                <a:cs typeface="Times New Roman" panose="02020603050405020304" pitchFamily="18" charset="0"/>
              </a:rPr>
              <a:t>R</a:t>
            </a:r>
            <a:r>
              <a:rPr lang="zh-CN" altLang="en-US">
                <a:solidFill>
                  <a:srgbClr val="000000"/>
                </a:solidFill>
                <a:latin typeface="楷体_GB2312" pitchFamily="49" charset="-122"/>
                <a:cs typeface="Times New Roman" panose="02020603050405020304" pitchFamily="18" charset="0"/>
              </a:rPr>
              <a:t>为满足第三范式（</a:t>
            </a:r>
            <a:r>
              <a:rPr lang="en-US" altLang="zh-CN">
                <a:solidFill>
                  <a:srgbClr val="000000"/>
                </a:solidFill>
                <a:latin typeface="楷体_GB2312" pitchFamily="49" charset="-122"/>
                <a:cs typeface="Times New Roman" panose="02020603050405020304" pitchFamily="18" charset="0"/>
              </a:rPr>
              <a:t>3NF</a:t>
            </a:r>
            <a:r>
              <a:rPr lang="zh-CN" altLang="en-US">
                <a:solidFill>
                  <a:srgbClr val="000000"/>
                </a:solidFill>
                <a:latin typeface="楷体_GB2312" pitchFamily="49" charset="-122"/>
                <a:cs typeface="Times New Roman" panose="02020603050405020304" pitchFamily="18" charset="0"/>
              </a:rPr>
              <a:t>）的关系模式。</a:t>
            </a: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1458"/>
    </mc:Choice>
    <mc:Fallback xmlns="">
      <p:transition spd="slow" advTm="31458"/>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92886">
                                            <p:txEl>
                                              <p:pRg st="0" end="0"/>
                                            </p:txEl>
                                          </p:spTgt>
                                        </p:tgtEl>
                                        <p:attrNameLst>
                                          <p:attrName>style.visibility</p:attrName>
                                        </p:attrNameLst>
                                      </p:cBhvr>
                                      <p:to>
                                        <p:strVal val="visible"/>
                                      </p:to>
                                    </p:set>
                                    <p:animEffect transition="in" filter="wipe(left)">
                                      <p:cBhvr>
                                        <p:cTn id="7" dur="1000"/>
                                        <p:tgtEl>
                                          <p:spTgt spid="292886">
                                            <p:txEl>
                                              <p:pRg st="0" end="0"/>
                                            </p:txEl>
                                          </p:spTgt>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292886">
                                            <p:txEl>
                                              <p:pRg st="1" end="1"/>
                                            </p:txEl>
                                          </p:spTgt>
                                        </p:tgtEl>
                                        <p:attrNameLst>
                                          <p:attrName>style.visibility</p:attrName>
                                        </p:attrNameLst>
                                      </p:cBhvr>
                                      <p:to>
                                        <p:strVal val="visible"/>
                                      </p:to>
                                    </p:set>
                                    <p:animEffect transition="in" filter="wipe(left)">
                                      <p:cBhvr>
                                        <p:cTn id="11" dur="1000"/>
                                        <p:tgtEl>
                                          <p:spTgt spid="292886">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92884"/>
                                        </p:tgtEl>
                                        <p:attrNameLst>
                                          <p:attrName>style.visibility</p:attrName>
                                        </p:attrNameLst>
                                      </p:cBhvr>
                                      <p:to>
                                        <p:strVal val="visible"/>
                                      </p:to>
                                    </p:set>
                                    <p:animEffect transition="in" filter="wipe(left)">
                                      <p:cBhvr>
                                        <p:cTn id="16" dur="1000"/>
                                        <p:tgtEl>
                                          <p:spTgt spid="29288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292882"/>
                                        </p:tgtEl>
                                        <p:attrNameLst>
                                          <p:attrName>style.visibility</p:attrName>
                                        </p:attrNameLst>
                                      </p:cBhvr>
                                      <p:to>
                                        <p:strVal val="visible"/>
                                      </p:to>
                                    </p:set>
                                    <p:anim calcmode="lin" valueType="num">
                                      <p:cBhvr>
                                        <p:cTn id="21" dur="1000" fill="hold"/>
                                        <p:tgtEl>
                                          <p:spTgt spid="292882"/>
                                        </p:tgtEl>
                                        <p:attrNameLst>
                                          <p:attrName>ppt_w</p:attrName>
                                        </p:attrNameLst>
                                      </p:cBhvr>
                                      <p:tavLst>
                                        <p:tav tm="0">
                                          <p:val>
                                            <p:fltVal val="0"/>
                                          </p:val>
                                        </p:tav>
                                        <p:tav tm="100000">
                                          <p:val>
                                            <p:strVal val="#ppt_w"/>
                                          </p:val>
                                        </p:tav>
                                      </p:tavLst>
                                    </p:anim>
                                    <p:anim calcmode="lin" valueType="num">
                                      <p:cBhvr>
                                        <p:cTn id="22" dur="1000" fill="hold"/>
                                        <p:tgtEl>
                                          <p:spTgt spid="292882"/>
                                        </p:tgtEl>
                                        <p:attrNameLst>
                                          <p:attrName>ppt_h</p:attrName>
                                        </p:attrNameLst>
                                      </p:cBhvr>
                                      <p:tavLst>
                                        <p:tav tm="0">
                                          <p:val>
                                            <p:fltVal val="0"/>
                                          </p:val>
                                        </p:tav>
                                        <p:tav tm="100000">
                                          <p:val>
                                            <p:strVal val="#ppt_h"/>
                                          </p:val>
                                        </p:tav>
                                      </p:tavLst>
                                    </p:anim>
                                    <p:animEffect transition="in" filter="fade">
                                      <p:cBhvr>
                                        <p:cTn id="23" dur="1000"/>
                                        <p:tgtEl>
                                          <p:spTgt spid="292882"/>
                                        </p:tgtEl>
                                      </p:cBhvr>
                                    </p:animEffect>
                                  </p:childTnLst>
                                  <p:subTnLst>
                                    <p:set>
                                      <p:cBhvr override="childStyle">
                                        <p:cTn dur="1" fill="hold" display="0" masterRel="nextClick" afterEffect="1"/>
                                        <p:tgtEl>
                                          <p:spTgt spid="292882"/>
                                        </p:tgtEl>
                                        <p:attrNameLst>
                                          <p:attrName>style.visibility</p:attrName>
                                        </p:attrNameLst>
                                      </p:cBhvr>
                                      <p:to>
                                        <p:strVal val="hidden"/>
                                      </p:to>
                                    </p:set>
                                  </p:sub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92883"/>
                                        </p:tgtEl>
                                        <p:attrNameLst>
                                          <p:attrName>style.visibility</p:attrName>
                                        </p:attrNameLst>
                                      </p:cBhvr>
                                      <p:to>
                                        <p:strVal val="visible"/>
                                      </p:to>
                                    </p:set>
                                    <p:animEffect transition="in" filter="wipe(left)">
                                      <p:cBhvr>
                                        <p:cTn id="28" dur="1000"/>
                                        <p:tgtEl>
                                          <p:spTgt spid="2928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86"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4131" name="WordArt 3">
            <a:extLst>
              <a:ext uri="{FF2B5EF4-FFF2-40B4-BE49-F238E27FC236}">
                <a16:creationId xmlns:a16="http://schemas.microsoft.com/office/drawing/2014/main" id="{8A935D16-0AAA-44F5-8A50-CFFAC1AD5088}"/>
              </a:ext>
            </a:extLst>
          </p:cNvPr>
          <p:cNvSpPr>
            <a:spLocks noChangeArrowheads="1" noChangeShapeType="1" noTextEdit="1"/>
          </p:cNvSpPr>
          <p:nvPr/>
        </p:nvSpPr>
        <p:spPr bwMode="auto">
          <a:xfrm>
            <a:off x="1331913" y="2854325"/>
            <a:ext cx="431800" cy="647700"/>
          </a:xfrm>
          <a:prstGeom prst="rect">
            <a:avLst/>
          </a:prstGeom>
        </p:spPr>
        <p:txBody>
          <a:bodyPr wrap="none" fromWordArt="1">
            <a:prstTxWarp prst="textInflate">
              <a:avLst>
                <a:gd name="adj" fmla="val 13634"/>
              </a:avLst>
            </a:prstTxWarp>
          </a:bodyPr>
          <a:lstStyle/>
          <a:p>
            <a:pPr algn="ctr"/>
            <a:r>
              <a:rPr lang="zh-CN" altLang="en-US" sz="4800" b="1" i="1" kern="10">
                <a:ln w="9525" cap="sq">
                  <a:solidFill>
                    <a:srgbClr val="000000"/>
                  </a:solidFill>
                  <a:round/>
                  <a:headEnd type="none" w="sm" len="sm"/>
                  <a:tailEnd type="none" w="sm" len="sm"/>
                </a:ln>
                <a:solidFill>
                  <a:srgbClr val="993300"/>
                </a:solidFill>
                <a:effectLst>
                  <a:outerShdw dist="35921" dir="2700000" algn="ctr" rotWithShape="0">
                    <a:schemeClr val="tx1"/>
                  </a:outerShdw>
                </a:effectLst>
                <a:latin typeface="隶书" panose="02010509060101010101" pitchFamily="49" charset="-122"/>
                <a:ea typeface="隶书" panose="02010509060101010101" pitchFamily="49" charset="-122"/>
              </a:rPr>
              <a:t>？</a:t>
            </a:r>
          </a:p>
        </p:txBody>
      </p:sp>
      <p:sp>
        <p:nvSpPr>
          <p:cNvPr id="944132" name="AutoShape 4">
            <a:extLst>
              <a:ext uri="{FF2B5EF4-FFF2-40B4-BE49-F238E27FC236}">
                <a16:creationId xmlns:a16="http://schemas.microsoft.com/office/drawing/2014/main" id="{28F2DC3C-591D-4A1E-8712-DA31105E0C24}"/>
              </a:ext>
            </a:extLst>
          </p:cNvPr>
          <p:cNvSpPr>
            <a:spLocks noChangeArrowheads="1"/>
          </p:cNvSpPr>
          <p:nvPr/>
        </p:nvSpPr>
        <p:spPr bwMode="auto">
          <a:xfrm>
            <a:off x="2124075" y="2781300"/>
            <a:ext cx="5400675" cy="1368425"/>
          </a:xfrm>
          <a:prstGeom prst="flowChartOffpageConnector">
            <a:avLst/>
          </a:prstGeom>
          <a:solidFill>
            <a:srgbClr val="CCFFFF"/>
          </a:solidFill>
          <a:ln w="12700" cap="sq">
            <a:solidFill>
              <a:schemeClr val="tx1"/>
            </a:solidFill>
            <a:miter lim="800000"/>
            <a:headEnd type="none" w="sm" len="sm"/>
            <a:tailEnd type="none" w="sm" len="sm"/>
          </a:ln>
          <a:effectLst>
            <a:outerShdw dist="71842" dir="2700000" algn="ctr" rotWithShape="0">
              <a:schemeClr val="tx1"/>
            </a:outerShdw>
          </a:effectLst>
        </p:spPr>
        <p:txBody>
          <a:bodyPr wrap="none" anchor="ctr"/>
          <a:lstStyle/>
          <a:p>
            <a:pPr algn="ctr">
              <a:lnSpc>
                <a:spcPct val="120000"/>
              </a:lnSpc>
            </a:pPr>
            <a:r>
              <a:rPr lang="zh-CN" altLang="en-US" sz="2800" b="1">
                <a:solidFill>
                  <a:srgbClr val="660066"/>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是</a:t>
            </a:r>
            <a:r>
              <a:rPr lang="en-US" altLang="zh-CN" sz="2800" b="1">
                <a:solidFill>
                  <a:srgbClr val="660066"/>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3NF</a:t>
            </a:r>
            <a:r>
              <a:rPr lang="zh-CN" altLang="en-US" sz="2800" b="1">
                <a:solidFill>
                  <a:srgbClr val="660066"/>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的关系模式，</a:t>
            </a:r>
          </a:p>
          <a:p>
            <a:pPr algn="ctr">
              <a:lnSpc>
                <a:spcPct val="120000"/>
              </a:lnSpc>
            </a:pPr>
            <a:r>
              <a:rPr lang="zh-CN" altLang="en-US" sz="2800" b="1">
                <a:solidFill>
                  <a:srgbClr val="660066"/>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是否一定就是</a:t>
            </a:r>
            <a:r>
              <a:rPr lang="en-US" altLang="zh-CN" sz="2800" b="1">
                <a:solidFill>
                  <a:srgbClr val="660066"/>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2NF</a:t>
            </a:r>
            <a:r>
              <a:rPr lang="zh-CN" altLang="en-US" sz="2800" b="1">
                <a:solidFill>
                  <a:srgbClr val="660066"/>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模式</a:t>
            </a:r>
          </a:p>
        </p:txBody>
      </p:sp>
      <p:sp>
        <p:nvSpPr>
          <p:cNvPr id="944133" name="AutoShape 5">
            <a:extLst>
              <a:ext uri="{FF2B5EF4-FFF2-40B4-BE49-F238E27FC236}">
                <a16:creationId xmlns:a16="http://schemas.microsoft.com/office/drawing/2014/main" id="{E008CBE6-0C18-463E-BCFC-19BE4B8D1362}"/>
              </a:ext>
            </a:extLst>
          </p:cNvPr>
          <p:cNvSpPr>
            <a:spLocks noChangeArrowheads="1"/>
          </p:cNvSpPr>
          <p:nvPr/>
        </p:nvSpPr>
        <p:spPr bwMode="auto">
          <a:xfrm>
            <a:off x="971550" y="1484313"/>
            <a:ext cx="1584325" cy="649287"/>
          </a:xfrm>
          <a:prstGeom prst="flowChartOffpageConnector">
            <a:avLst/>
          </a:prstGeom>
          <a:solidFill>
            <a:srgbClr val="CCFF33"/>
          </a:solidFill>
          <a:ln w="19050" algn="ctr">
            <a:solidFill>
              <a:schemeClr val="tx1"/>
            </a:solidFill>
            <a:miter lim="800000"/>
            <a:headEnd/>
            <a:tailEnd/>
          </a:ln>
          <a:effectLst>
            <a:outerShdw dist="71842" dir="2700000" algn="ctr" rotWithShape="0">
              <a:schemeClr val="tx1"/>
            </a:outerShdw>
          </a:effectLst>
        </p:spPr>
        <p:txBody>
          <a:bodyPr wrap="none" anchor="ctr"/>
          <a:lstStyle/>
          <a:p>
            <a:pPr algn="ctr"/>
            <a:r>
              <a:rPr lang="zh-CN" altLang="en-US" sz="3200" b="1">
                <a:solidFill>
                  <a:srgbClr val="000099"/>
                </a:solidFill>
                <a:effectLst>
                  <a:outerShdw blurRad="38100" dist="38100" dir="2700000" algn="tl">
                    <a:srgbClr val="000000"/>
                  </a:outerShdw>
                </a:effectLst>
                <a:ea typeface="隶书" panose="02010509060101010101" pitchFamily="49" charset="-122"/>
              </a:rPr>
              <a:t>思考</a:t>
            </a:r>
          </a:p>
        </p:txBody>
      </p:sp>
      <p:sp>
        <p:nvSpPr>
          <p:cNvPr id="944134" name="Rectangle 6">
            <a:extLst>
              <a:ext uri="{FF2B5EF4-FFF2-40B4-BE49-F238E27FC236}">
                <a16:creationId xmlns:a16="http://schemas.microsoft.com/office/drawing/2014/main" id="{287494B7-CC68-403E-84E6-D49D2967BC59}"/>
              </a:ext>
            </a:extLst>
          </p:cNvPr>
          <p:cNvSpPr>
            <a:spLocks noGrp="1" noChangeArrowheads="1"/>
          </p:cNvSpPr>
          <p:nvPr>
            <p:ph type="title"/>
          </p:nvPr>
        </p:nvSpPr>
        <p:spPr/>
        <p:txBody>
          <a:bodyPr/>
          <a:lstStyle/>
          <a:p>
            <a:r>
              <a:rPr lang="zh-CN" altLang="en-US"/>
              <a:t>四、第三范式</a:t>
            </a:r>
          </a:p>
        </p:txBody>
      </p:sp>
    </p:spTree>
  </p:cSld>
  <p:clrMapOvr>
    <a:masterClrMapping/>
  </p:clrMapOvr>
  <mc:AlternateContent xmlns:mc="http://schemas.openxmlformats.org/markup-compatibility/2006" xmlns:p14="http://schemas.microsoft.com/office/powerpoint/2010/main">
    <mc:Choice Requires="p14">
      <p:transition spd="slow" p14:dur="2000" advTm="8365"/>
    </mc:Choice>
    <mc:Fallback xmlns="">
      <p:transition spd="slow" advTm="8365"/>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44133"/>
                                        </p:tgtEl>
                                        <p:attrNameLst>
                                          <p:attrName>style.visibility</p:attrName>
                                        </p:attrNameLst>
                                      </p:cBhvr>
                                      <p:to>
                                        <p:strVal val="visible"/>
                                      </p:to>
                                    </p:set>
                                    <p:animEffect transition="in" filter="wipe(left)">
                                      <p:cBhvr>
                                        <p:cTn id="7" dur="1000"/>
                                        <p:tgtEl>
                                          <p:spTgt spid="944133"/>
                                        </p:tgtEl>
                                      </p:cBhvr>
                                    </p:animEffect>
                                  </p:childTnLst>
                                </p:cTn>
                              </p:par>
                            </p:childTnLst>
                          </p:cTn>
                        </p:par>
                        <p:par>
                          <p:cTn id="8" fill="hold" nodeType="afterGroup">
                            <p:stCondLst>
                              <p:cond delay="1000"/>
                            </p:stCondLst>
                            <p:childTnLst>
                              <p:par>
                                <p:cTn id="9" presetID="2" presetClass="entr" presetSubtype="8" fill="hold" nodeType="afterEffect">
                                  <p:stCondLst>
                                    <p:cond delay="0"/>
                                  </p:stCondLst>
                                  <p:childTnLst>
                                    <p:set>
                                      <p:cBhvr>
                                        <p:cTn id="10" dur="1" fill="hold">
                                          <p:stCondLst>
                                            <p:cond delay="0"/>
                                          </p:stCondLst>
                                        </p:cTn>
                                        <p:tgtEl>
                                          <p:spTgt spid="944131"/>
                                        </p:tgtEl>
                                        <p:attrNameLst>
                                          <p:attrName>style.visibility</p:attrName>
                                        </p:attrNameLst>
                                      </p:cBhvr>
                                      <p:to>
                                        <p:strVal val="visible"/>
                                      </p:to>
                                    </p:set>
                                    <p:anim calcmode="lin" valueType="num">
                                      <p:cBhvr additive="base">
                                        <p:cTn id="11" dur="1000" fill="hold"/>
                                        <p:tgtEl>
                                          <p:spTgt spid="944131"/>
                                        </p:tgtEl>
                                        <p:attrNameLst>
                                          <p:attrName>ppt_x</p:attrName>
                                        </p:attrNameLst>
                                      </p:cBhvr>
                                      <p:tavLst>
                                        <p:tav tm="0">
                                          <p:val>
                                            <p:strVal val="0-#ppt_w/2"/>
                                          </p:val>
                                        </p:tav>
                                        <p:tav tm="100000">
                                          <p:val>
                                            <p:strVal val="#ppt_x"/>
                                          </p:val>
                                        </p:tav>
                                      </p:tavLst>
                                    </p:anim>
                                    <p:anim calcmode="lin" valueType="num">
                                      <p:cBhvr additive="base">
                                        <p:cTn id="12" dur="1000" fill="hold"/>
                                        <p:tgtEl>
                                          <p:spTgt spid="944131"/>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2000"/>
                            </p:stCondLst>
                            <p:childTnLst>
                              <p:par>
                                <p:cTn id="14" presetID="53" presetClass="entr" presetSubtype="0" fill="hold" grpId="0" nodeType="afterEffect">
                                  <p:stCondLst>
                                    <p:cond delay="0"/>
                                  </p:stCondLst>
                                  <p:childTnLst>
                                    <p:set>
                                      <p:cBhvr>
                                        <p:cTn id="15" dur="1" fill="hold">
                                          <p:stCondLst>
                                            <p:cond delay="0"/>
                                          </p:stCondLst>
                                        </p:cTn>
                                        <p:tgtEl>
                                          <p:spTgt spid="944132"/>
                                        </p:tgtEl>
                                        <p:attrNameLst>
                                          <p:attrName>style.visibility</p:attrName>
                                        </p:attrNameLst>
                                      </p:cBhvr>
                                      <p:to>
                                        <p:strVal val="visible"/>
                                      </p:to>
                                    </p:set>
                                    <p:anim calcmode="lin" valueType="num">
                                      <p:cBhvr>
                                        <p:cTn id="16" dur="1000" fill="hold"/>
                                        <p:tgtEl>
                                          <p:spTgt spid="944132"/>
                                        </p:tgtEl>
                                        <p:attrNameLst>
                                          <p:attrName>ppt_w</p:attrName>
                                        </p:attrNameLst>
                                      </p:cBhvr>
                                      <p:tavLst>
                                        <p:tav tm="0">
                                          <p:val>
                                            <p:fltVal val="0"/>
                                          </p:val>
                                        </p:tav>
                                        <p:tav tm="100000">
                                          <p:val>
                                            <p:strVal val="#ppt_w"/>
                                          </p:val>
                                        </p:tav>
                                      </p:tavLst>
                                    </p:anim>
                                    <p:anim calcmode="lin" valueType="num">
                                      <p:cBhvr>
                                        <p:cTn id="17" dur="1000" fill="hold"/>
                                        <p:tgtEl>
                                          <p:spTgt spid="944132"/>
                                        </p:tgtEl>
                                        <p:attrNameLst>
                                          <p:attrName>ppt_h</p:attrName>
                                        </p:attrNameLst>
                                      </p:cBhvr>
                                      <p:tavLst>
                                        <p:tav tm="0">
                                          <p:val>
                                            <p:fltVal val="0"/>
                                          </p:val>
                                        </p:tav>
                                        <p:tav tm="100000">
                                          <p:val>
                                            <p:strVal val="#ppt_h"/>
                                          </p:val>
                                        </p:tav>
                                      </p:tavLst>
                                    </p:anim>
                                    <p:animEffect transition="in" filter="fade">
                                      <p:cBhvr>
                                        <p:cTn id="18" dur="1000"/>
                                        <p:tgtEl>
                                          <p:spTgt spid="944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4132" grpId="0" animBg="1"/>
      <p:bldP spid="94413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2981" name="Rectangle 5">
            <a:extLst>
              <a:ext uri="{FF2B5EF4-FFF2-40B4-BE49-F238E27FC236}">
                <a16:creationId xmlns:a16="http://schemas.microsoft.com/office/drawing/2014/main" id="{375D6544-D922-4F5E-89D6-DF906344711C}"/>
              </a:ext>
            </a:extLst>
          </p:cNvPr>
          <p:cNvSpPr>
            <a:spLocks noGrp="1" noChangeArrowheads="1"/>
          </p:cNvSpPr>
          <p:nvPr>
            <p:ph type="title"/>
          </p:nvPr>
        </p:nvSpPr>
        <p:spPr/>
        <p:txBody>
          <a:bodyPr/>
          <a:lstStyle/>
          <a:p>
            <a:r>
              <a:rPr lang="zh-CN" altLang="en-US"/>
              <a:t>四、第三范式</a:t>
            </a:r>
          </a:p>
        </p:txBody>
      </p:sp>
      <p:pic>
        <p:nvPicPr>
          <p:cNvPr id="1022982" name="Picture 6">
            <a:extLst>
              <a:ext uri="{FF2B5EF4-FFF2-40B4-BE49-F238E27FC236}">
                <a16:creationId xmlns:a16="http://schemas.microsoft.com/office/drawing/2014/main" id="{B1663625-7243-4058-841C-BC98E955F9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113" y="4729163"/>
            <a:ext cx="7558087" cy="2012950"/>
          </a:xfrm>
          <a:prstGeom prst="rect">
            <a:avLst/>
          </a:prstGeom>
          <a:noFill/>
          <a:extLst>
            <a:ext uri="{909E8E84-426E-40DD-AFC4-6F175D3DCCD1}">
              <a14:hiddenFill xmlns:a14="http://schemas.microsoft.com/office/drawing/2010/main">
                <a:solidFill>
                  <a:srgbClr val="FFFFFF"/>
                </a:solidFill>
              </a14:hiddenFill>
            </a:ext>
          </a:extLst>
        </p:spPr>
      </p:pic>
      <p:pic>
        <p:nvPicPr>
          <p:cNvPr id="1022983" name="Picture 7">
            <a:extLst>
              <a:ext uri="{FF2B5EF4-FFF2-40B4-BE49-F238E27FC236}">
                <a16:creationId xmlns:a16="http://schemas.microsoft.com/office/drawing/2014/main" id="{65FBF476-2472-451F-8726-2BC5EBB1E6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4729163"/>
            <a:ext cx="7558087" cy="2012950"/>
          </a:xfrm>
          <a:prstGeom prst="rect">
            <a:avLst/>
          </a:prstGeom>
          <a:noFill/>
          <a:extLst>
            <a:ext uri="{909E8E84-426E-40DD-AFC4-6F175D3DCCD1}">
              <a14:hiddenFill xmlns:a14="http://schemas.microsoft.com/office/drawing/2010/main">
                <a:solidFill>
                  <a:srgbClr val="FFFFFF"/>
                </a:solidFill>
              </a14:hiddenFill>
            </a:ext>
          </a:extLst>
        </p:spPr>
      </p:pic>
      <p:sp>
        <p:nvSpPr>
          <p:cNvPr id="1022984" name="Rectangle 8">
            <a:extLst>
              <a:ext uri="{FF2B5EF4-FFF2-40B4-BE49-F238E27FC236}">
                <a16:creationId xmlns:a16="http://schemas.microsoft.com/office/drawing/2014/main" id="{78DD604A-6508-43BE-BB8B-97240D8FA60B}"/>
              </a:ext>
            </a:extLst>
          </p:cNvPr>
          <p:cNvSpPr>
            <a:spLocks noChangeArrowheads="1"/>
          </p:cNvSpPr>
          <p:nvPr/>
        </p:nvSpPr>
        <p:spPr bwMode="auto">
          <a:xfrm>
            <a:off x="539750" y="1196975"/>
            <a:ext cx="8064500" cy="3455988"/>
          </a:xfrm>
          <a:prstGeom prst="rect">
            <a:avLst/>
          </a:prstGeom>
          <a:gradFill rotWithShape="1">
            <a:gsLst>
              <a:gs pos="0">
                <a:srgbClr val="FFCC99"/>
              </a:gs>
              <a:gs pos="50000">
                <a:schemeClr val="bg1"/>
              </a:gs>
              <a:gs pos="100000">
                <a:srgbClr val="FFCC99"/>
              </a:gs>
            </a:gsLst>
            <a:lin ang="27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a:lstStyle/>
          <a:p>
            <a:pPr>
              <a:lnSpc>
                <a:spcPct val="120000"/>
              </a:lnSpc>
              <a:spcBef>
                <a:spcPct val="20000"/>
              </a:spcBef>
            </a:pP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证明：用反证法。假设</a:t>
            </a:r>
            <a:r>
              <a:rPr lang="en-US" altLang="zh-CN"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R</a:t>
            </a: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是</a:t>
            </a:r>
            <a:r>
              <a:rPr lang="en-US" altLang="zh-CN"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3NF</a:t>
            </a: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，但不是</a:t>
            </a:r>
            <a:r>
              <a:rPr lang="en-US" altLang="zh-CN"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2NF</a:t>
            </a: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a:t>
            </a:r>
          </a:p>
          <a:p>
            <a:pPr>
              <a:lnSpc>
                <a:spcPct val="120000"/>
              </a:lnSpc>
              <a:spcBef>
                <a:spcPct val="20000"/>
              </a:spcBef>
            </a:pP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  一定存在非主属性部分依赖于候选键，即存在非主属性</a:t>
            </a:r>
            <a:r>
              <a:rPr lang="en-US" altLang="zh-CN"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A</a:t>
            </a: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、候选键</a:t>
            </a:r>
            <a:r>
              <a:rPr lang="en-US" altLang="zh-CN"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X</a:t>
            </a: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和</a:t>
            </a:r>
            <a:r>
              <a:rPr lang="en-US" altLang="zh-CN"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X</a:t>
            </a: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的真子集</a:t>
            </a:r>
            <a:r>
              <a:rPr lang="en-US" altLang="zh-CN"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Y</a:t>
            </a: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，使得</a:t>
            </a:r>
            <a:r>
              <a:rPr lang="en-US" altLang="zh-CN"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Y→A</a:t>
            </a: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a:t>
            </a:r>
          </a:p>
          <a:p>
            <a:pPr>
              <a:lnSpc>
                <a:spcPct val="120000"/>
              </a:lnSpc>
              <a:spcBef>
                <a:spcPct val="20000"/>
              </a:spcBef>
            </a:pP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 由于</a:t>
            </a:r>
            <a:r>
              <a:rPr lang="en-US" altLang="zh-CN"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A</a:t>
            </a: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是非主属性，所以，</a:t>
            </a:r>
            <a:r>
              <a:rPr lang="en-US" altLang="zh-CN" sz="2400" b="1" dirty="0" err="1">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A―X≠ф</a:t>
            </a: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a:t>
            </a:r>
            <a:r>
              <a:rPr lang="en-US" altLang="zh-CN" sz="2400" b="1" dirty="0" err="1">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A―Y≠ф</a:t>
            </a: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a:t>
            </a:r>
            <a:r>
              <a:rPr lang="en-US" altLang="zh-CN"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Y</a:t>
            </a: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是候选键</a:t>
            </a:r>
            <a:r>
              <a:rPr lang="en-US" altLang="zh-CN"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X</a:t>
            </a: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的真子集，所以</a:t>
            </a:r>
            <a:r>
              <a:rPr lang="en-US" altLang="zh-CN"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X→Y</a:t>
            </a: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，但              。</a:t>
            </a:r>
          </a:p>
          <a:p>
            <a:pPr>
              <a:lnSpc>
                <a:spcPct val="120000"/>
              </a:lnSpc>
              <a:spcBef>
                <a:spcPct val="20000"/>
              </a:spcBef>
            </a:pP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 这样在</a:t>
            </a:r>
            <a:r>
              <a:rPr lang="en-US" altLang="zh-CN"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R</a:t>
            </a: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上存在着非主属性</a:t>
            </a:r>
            <a:r>
              <a:rPr lang="en-US" altLang="zh-CN"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A</a:t>
            </a: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传递依赖于候选键</a:t>
            </a:r>
            <a:r>
              <a:rPr lang="en-US" altLang="zh-CN"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X</a:t>
            </a: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，所以</a:t>
            </a:r>
            <a:r>
              <a:rPr lang="en-US" altLang="zh-CN"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R</a:t>
            </a: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不是</a:t>
            </a:r>
            <a:r>
              <a:rPr lang="en-US" altLang="zh-CN"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3NF</a:t>
            </a: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的，这与前提矛盾，故</a:t>
            </a:r>
            <a:r>
              <a:rPr lang="en-US" altLang="zh-CN"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R</a:t>
            </a: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是</a:t>
            </a:r>
            <a:r>
              <a:rPr lang="en-US" altLang="zh-CN"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2NF</a:t>
            </a:r>
            <a:r>
              <a:rPr lang="zh-CN" altLang="en-US" sz="2400" b="1" dirty="0">
                <a:solidFill>
                  <a:srgbClr val="000000"/>
                </a:solidFill>
                <a:effectLst>
                  <a:outerShdw blurRad="38100" dist="38100" dir="2700000" algn="tl">
                    <a:srgbClr val="FFFFFF"/>
                  </a:outerShdw>
                </a:effectLst>
                <a:latin typeface="楷体_GB2312" pitchFamily="49" charset="-122"/>
                <a:cs typeface="Times New Roman" panose="02020603050405020304" pitchFamily="18" charset="0"/>
              </a:rPr>
              <a:t>。</a:t>
            </a:r>
          </a:p>
        </p:txBody>
      </p:sp>
      <p:graphicFrame>
        <p:nvGraphicFramePr>
          <p:cNvPr id="1022985" name="Object 9">
            <a:extLst>
              <a:ext uri="{FF2B5EF4-FFF2-40B4-BE49-F238E27FC236}">
                <a16:creationId xmlns:a16="http://schemas.microsoft.com/office/drawing/2014/main" id="{8B840B9F-E930-4366-8E53-A423924AF021}"/>
              </a:ext>
            </a:extLst>
          </p:cNvPr>
          <p:cNvGraphicFramePr>
            <a:graphicFrameLocks noChangeAspect="1"/>
          </p:cNvGraphicFramePr>
          <p:nvPr/>
        </p:nvGraphicFramePr>
        <p:xfrm>
          <a:off x="4572000" y="3213100"/>
          <a:ext cx="936625" cy="369888"/>
        </p:xfrm>
        <a:graphic>
          <a:graphicData uri="http://schemas.openxmlformats.org/presentationml/2006/ole">
            <mc:AlternateContent xmlns:mc="http://schemas.openxmlformats.org/markup-compatibility/2006">
              <mc:Choice xmlns:v="urn:schemas-microsoft-com:vml" Requires="v">
                <p:oleObj spid="_x0000_s1026" name="公式" r:id="rId7" imgW="482400" imgH="190440" progId="Equation.3">
                  <p:embed/>
                </p:oleObj>
              </mc:Choice>
              <mc:Fallback>
                <p:oleObj name="公式" r:id="rId7" imgW="482400" imgH="19044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0" y="3213100"/>
                        <a:ext cx="936625"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advTm="67943"/>
    </mc:Choice>
    <mc:Fallback xmlns="">
      <p:transition spd="slow" advTm="67943"/>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22984">
                                            <p:txEl>
                                              <p:pRg st="0" end="0"/>
                                            </p:txEl>
                                          </p:spTgt>
                                        </p:tgtEl>
                                        <p:attrNameLst>
                                          <p:attrName>style.visibility</p:attrName>
                                        </p:attrNameLst>
                                      </p:cBhvr>
                                      <p:to>
                                        <p:strVal val="visible"/>
                                      </p:to>
                                    </p:set>
                                    <p:animEffect transition="in" filter="wipe(left)">
                                      <p:cBhvr>
                                        <p:cTn id="7" dur="500"/>
                                        <p:tgtEl>
                                          <p:spTgt spid="102298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1022982"/>
                                        </p:tgtEl>
                                        <p:attrNameLst>
                                          <p:attrName>style.visibility</p:attrName>
                                        </p:attrNameLst>
                                      </p:cBhvr>
                                      <p:to>
                                        <p:strVal val="visible"/>
                                      </p:to>
                                    </p:set>
                                    <p:anim calcmode="lin" valueType="num">
                                      <p:cBhvr additive="base">
                                        <p:cTn id="12" dur="1000" fill="hold"/>
                                        <p:tgtEl>
                                          <p:spTgt spid="1022982"/>
                                        </p:tgtEl>
                                        <p:attrNameLst>
                                          <p:attrName>ppt_x</p:attrName>
                                        </p:attrNameLst>
                                      </p:cBhvr>
                                      <p:tavLst>
                                        <p:tav tm="0">
                                          <p:val>
                                            <p:strVal val="#ppt_x"/>
                                          </p:val>
                                        </p:tav>
                                        <p:tav tm="100000">
                                          <p:val>
                                            <p:strVal val="#ppt_x"/>
                                          </p:val>
                                        </p:tav>
                                      </p:tavLst>
                                    </p:anim>
                                    <p:anim calcmode="lin" valueType="num">
                                      <p:cBhvr additive="base">
                                        <p:cTn id="13" dur="1000" fill="hold"/>
                                        <p:tgtEl>
                                          <p:spTgt spid="1022982"/>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1022984">
                                            <p:txEl>
                                              <p:pRg st="1" end="1"/>
                                            </p:txEl>
                                          </p:spTgt>
                                        </p:tgtEl>
                                        <p:attrNameLst>
                                          <p:attrName>style.visibility</p:attrName>
                                        </p:attrNameLst>
                                      </p:cBhvr>
                                      <p:to>
                                        <p:strVal val="visible"/>
                                      </p:to>
                                    </p:set>
                                    <p:animEffect transition="in" filter="wipe(left)">
                                      <p:cBhvr>
                                        <p:cTn id="18" dur="500"/>
                                        <p:tgtEl>
                                          <p:spTgt spid="1022984">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1022983"/>
                                        </p:tgtEl>
                                        <p:attrNameLst>
                                          <p:attrName>style.visibility</p:attrName>
                                        </p:attrNameLst>
                                      </p:cBhvr>
                                      <p:to>
                                        <p:strVal val="visible"/>
                                      </p:to>
                                    </p:set>
                                    <p:anim calcmode="lin" valueType="num">
                                      <p:cBhvr additive="base">
                                        <p:cTn id="23" dur="1000" fill="hold"/>
                                        <p:tgtEl>
                                          <p:spTgt spid="1022983"/>
                                        </p:tgtEl>
                                        <p:attrNameLst>
                                          <p:attrName>ppt_x</p:attrName>
                                        </p:attrNameLst>
                                      </p:cBhvr>
                                      <p:tavLst>
                                        <p:tav tm="0">
                                          <p:val>
                                            <p:strVal val="#ppt_x"/>
                                          </p:val>
                                        </p:tav>
                                        <p:tav tm="100000">
                                          <p:val>
                                            <p:strVal val="#ppt_x"/>
                                          </p:val>
                                        </p:tav>
                                      </p:tavLst>
                                    </p:anim>
                                    <p:anim calcmode="lin" valueType="num">
                                      <p:cBhvr additive="base">
                                        <p:cTn id="24" dur="1000" fill="hold"/>
                                        <p:tgtEl>
                                          <p:spTgt spid="1022983"/>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1022984">
                                            <p:txEl>
                                              <p:pRg st="2" end="2"/>
                                            </p:txEl>
                                          </p:spTgt>
                                        </p:tgtEl>
                                        <p:attrNameLst>
                                          <p:attrName>style.visibility</p:attrName>
                                        </p:attrNameLst>
                                      </p:cBhvr>
                                      <p:to>
                                        <p:strVal val="visible"/>
                                      </p:to>
                                    </p:set>
                                    <p:animEffect transition="in" filter="wipe(left)">
                                      <p:cBhvr>
                                        <p:cTn id="29" dur="500"/>
                                        <p:tgtEl>
                                          <p:spTgt spid="1022984">
                                            <p:txEl>
                                              <p:pRg st="2" end="2"/>
                                            </p:txEl>
                                          </p:spTgt>
                                        </p:tgtEl>
                                      </p:cBhvr>
                                    </p:animEffect>
                                  </p:childTnLst>
                                </p:cTn>
                              </p:par>
                              <p:par>
                                <p:cTn id="30" presetID="22" presetClass="entr" presetSubtype="8" fill="hold" nodeType="withEffect">
                                  <p:stCondLst>
                                    <p:cond delay="0"/>
                                  </p:stCondLst>
                                  <p:childTnLst>
                                    <p:set>
                                      <p:cBhvr>
                                        <p:cTn id="31" dur="1" fill="hold">
                                          <p:stCondLst>
                                            <p:cond delay="0"/>
                                          </p:stCondLst>
                                        </p:cTn>
                                        <p:tgtEl>
                                          <p:spTgt spid="1022985"/>
                                        </p:tgtEl>
                                        <p:attrNameLst>
                                          <p:attrName>style.visibility</p:attrName>
                                        </p:attrNameLst>
                                      </p:cBhvr>
                                      <p:to>
                                        <p:strVal val="visible"/>
                                      </p:to>
                                    </p:set>
                                    <p:animEffect transition="in" filter="wipe(left)">
                                      <p:cBhvr>
                                        <p:cTn id="32" dur="500"/>
                                        <p:tgtEl>
                                          <p:spTgt spid="102298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022984">
                                            <p:txEl>
                                              <p:pRg st="3" end="3"/>
                                            </p:txEl>
                                          </p:spTgt>
                                        </p:tgtEl>
                                        <p:attrNameLst>
                                          <p:attrName>style.visibility</p:attrName>
                                        </p:attrNameLst>
                                      </p:cBhvr>
                                      <p:to>
                                        <p:strVal val="visible"/>
                                      </p:to>
                                    </p:set>
                                    <p:animEffect transition="in" filter="wipe(left)">
                                      <p:cBhvr>
                                        <p:cTn id="37" dur="500"/>
                                        <p:tgtEl>
                                          <p:spTgt spid="102298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431135" name="Group 31">
            <a:extLst>
              <a:ext uri="{FF2B5EF4-FFF2-40B4-BE49-F238E27FC236}">
                <a16:creationId xmlns:a16="http://schemas.microsoft.com/office/drawing/2014/main" id="{B1547E09-21CF-402B-A687-0B589B40E22F}"/>
              </a:ext>
            </a:extLst>
          </p:cNvPr>
          <p:cNvGrpSpPr>
            <a:grpSpLocks/>
          </p:cNvGrpSpPr>
          <p:nvPr/>
        </p:nvGrpSpPr>
        <p:grpSpPr bwMode="auto">
          <a:xfrm>
            <a:off x="1331913" y="3300413"/>
            <a:ext cx="4608512" cy="949325"/>
            <a:chOff x="1438" y="2115"/>
            <a:chExt cx="2222" cy="598"/>
          </a:xfrm>
        </p:grpSpPr>
        <p:sp>
          <p:nvSpPr>
            <p:cNvPr id="431136" name="Rectangle 32">
              <a:extLst>
                <a:ext uri="{FF2B5EF4-FFF2-40B4-BE49-F238E27FC236}">
                  <a16:creationId xmlns:a16="http://schemas.microsoft.com/office/drawing/2014/main" id="{5EE9188F-8400-4CA7-AA85-9675A00F072E}"/>
                </a:ext>
              </a:extLst>
            </p:cNvPr>
            <p:cNvSpPr>
              <a:spLocks noChangeArrowheads="1"/>
            </p:cNvSpPr>
            <p:nvPr/>
          </p:nvSpPr>
          <p:spPr bwMode="auto">
            <a:xfrm>
              <a:off x="1438" y="2115"/>
              <a:ext cx="2222" cy="598"/>
            </a:xfrm>
            <a:prstGeom prst="rect">
              <a:avLst/>
            </a:prstGeom>
            <a:solidFill>
              <a:srgbClr val="CCFFCC"/>
            </a:solidFill>
            <a:ln w="28575">
              <a:solidFill>
                <a:srgbClr val="000000"/>
              </a:solidFill>
              <a:miter lim="800000"/>
              <a:headEnd/>
              <a:tailEnd/>
            </a:ln>
            <a:effectLst>
              <a:outerShdw dist="35921" dir="2700000" algn="ctr" rotWithShape="0">
                <a:schemeClr val="tx1"/>
              </a:outerShdw>
            </a:effectLst>
          </p:spPr>
          <p:txBody>
            <a:bodyPr/>
            <a:lstStyle/>
            <a:p>
              <a:endParaRPr lang="zh-CN" altLang="en-US"/>
            </a:p>
          </p:txBody>
        </p:sp>
        <p:sp>
          <p:nvSpPr>
            <p:cNvPr id="431137" name="Text Box 33">
              <a:extLst>
                <a:ext uri="{FF2B5EF4-FFF2-40B4-BE49-F238E27FC236}">
                  <a16:creationId xmlns:a16="http://schemas.microsoft.com/office/drawing/2014/main" id="{6C22A7D2-2CFB-4A1F-8E1D-46C36CF94E5F}"/>
                </a:ext>
              </a:extLst>
            </p:cNvPr>
            <p:cNvSpPr txBox="1">
              <a:spLocks noChangeArrowheads="1"/>
            </p:cNvSpPr>
            <p:nvPr/>
          </p:nvSpPr>
          <p:spPr bwMode="auto">
            <a:xfrm>
              <a:off x="1519" y="2200"/>
              <a:ext cx="952" cy="406"/>
            </a:xfrm>
            <a:prstGeom prst="rect">
              <a:avLst/>
            </a:prstGeom>
            <a:solidFill>
              <a:srgbClr val="003366"/>
            </a:solidFill>
            <a:ln w="28575">
              <a:solidFill>
                <a:srgbClr val="000000"/>
              </a:solidFill>
              <a:miter lim="800000"/>
              <a:headEnd/>
              <a:tailEnd/>
            </a:ln>
            <a:effectLst>
              <a:outerShdw dist="35921" dir="2700000" algn="ctr" rotWithShape="0">
                <a:schemeClr val="tx1"/>
              </a:outerShdw>
            </a:effectLst>
          </p:spPr>
          <p:txBody>
            <a:bodyPr lIns="0" rIns="0" bIns="10800" anchor="ctr" anchorCtr="1"/>
            <a:lstStyle/>
            <a:p>
              <a:pPr algn="ctr"/>
              <a:r>
                <a:rPr lang="zh-CN" altLang="en-US" sz="2800" b="1">
                  <a:solidFill>
                    <a:srgbClr val="FFFF66"/>
                  </a:solidFill>
                  <a:effectLst>
                    <a:outerShdw blurRad="38100" dist="38100" dir="2700000" algn="tl">
                      <a:srgbClr val="000000"/>
                    </a:outerShdw>
                  </a:effectLst>
                  <a:latin typeface="楷体_GB2312" pitchFamily="49" charset="-122"/>
                </a:rPr>
                <a:t>学号</a:t>
              </a:r>
              <a:r>
                <a:rPr lang="en-US" altLang="zh-CN" sz="2800" b="1">
                  <a:solidFill>
                    <a:srgbClr val="FFFF66"/>
                  </a:solidFill>
                  <a:effectLst>
                    <a:outerShdw blurRad="38100" dist="38100" dir="2700000" algn="tl">
                      <a:srgbClr val="000000"/>
                    </a:outerShdw>
                  </a:effectLst>
                  <a:latin typeface="楷体_GB2312" pitchFamily="49" charset="-122"/>
                </a:rPr>
                <a:t>(S#)</a:t>
              </a:r>
            </a:p>
          </p:txBody>
        </p:sp>
        <p:sp>
          <p:nvSpPr>
            <p:cNvPr id="431138" name="Text Box 34">
              <a:extLst>
                <a:ext uri="{FF2B5EF4-FFF2-40B4-BE49-F238E27FC236}">
                  <a16:creationId xmlns:a16="http://schemas.microsoft.com/office/drawing/2014/main" id="{E373807A-C568-4DA6-8EB5-48B4E977A54B}"/>
                </a:ext>
              </a:extLst>
            </p:cNvPr>
            <p:cNvSpPr txBox="1">
              <a:spLocks noChangeArrowheads="1"/>
            </p:cNvSpPr>
            <p:nvPr/>
          </p:nvSpPr>
          <p:spPr bwMode="auto">
            <a:xfrm>
              <a:off x="2608" y="2200"/>
              <a:ext cx="952" cy="406"/>
            </a:xfrm>
            <a:prstGeom prst="rect">
              <a:avLst/>
            </a:prstGeom>
            <a:solidFill>
              <a:srgbClr val="003366"/>
            </a:solidFill>
            <a:ln w="28575">
              <a:solidFill>
                <a:srgbClr val="000000"/>
              </a:solidFill>
              <a:miter lim="800000"/>
              <a:headEnd/>
              <a:tailEnd/>
            </a:ln>
            <a:effectLst>
              <a:outerShdw dist="35921" dir="2700000" algn="ctr" rotWithShape="0">
                <a:schemeClr val="tx1"/>
              </a:outerShdw>
            </a:effectLst>
          </p:spPr>
          <p:txBody>
            <a:bodyPr lIns="0" rIns="0" bIns="10800" anchor="ctr" anchorCtr="1"/>
            <a:lstStyle/>
            <a:p>
              <a:pPr algn="ctr"/>
              <a:r>
                <a:rPr lang="zh-CN" altLang="en-US" sz="2800" b="1">
                  <a:solidFill>
                    <a:srgbClr val="FFFF66"/>
                  </a:solidFill>
                  <a:effectLst>
                    <a:outerShdw blurRad="38100" dist="38100" dir="2700000" algn="tl">
                      <a:srgbClr val="000000"/>
                    </a:outerShdw>
                  </a:effectLst>
                  <a:latin typeface="楷体_GB2312" pitchFamily="49" charset="-122"/>
                </a:rPr>
                <a:t>课程号</a:t>
              </a:r>
              <a:r>
                <a:rPr lang="en-US" altLang="zh-CN" sz="2800" b="1">
                  <a:solidFill>
                    <a:srgbClr val="FFFF66"/>
                  </a:solidFill>
                  <a:effectLst>
                    <a:outerShdw blurRad="38100" dist="38100" dir="2700000" algn="tl">
                      <a:srgbClr val="000000"/>
                    </a:outerShdw>
                  </a:effectLst>
                  <a:latin typeface="楷体_GB2312" pitchFamily="49" charset="-122"/>
                </a:rPr>
                <a:t>(C#)</a:t>
              </a:r>
            </a:p>
          </p:txBody>
        </p:sp>
      </p:grpSp>
      <p:grpSp>
        <p:nvGrpSpPr>
          <p:cNvPr id="431139" name="Group 35">
            <a:extLst>
              <a:ext uri="{FF2B5EF4-FFF2-40B4-BE49-F238E27FC236}">
                <a16:creationId xmlns:a16="http://schemas.microsoft.com/office/drawing/2014/main" id="{C80FDB4D-96A0-4FD2-92F5-1F1654F9A22D}"/>
              </a:ext>
            </a:extLst>
          </p:cNvPr>
          <p:cNvGrpSpPr>
            <a:grpSpLocks/>
          </p:cNvGrpSpPr>
          <p:nvPr/>
        </p:nvGrpSpPr>
        <p:grpSpPr bwMode="auto">
          <a:xfrm>
            <a:off x="1187450" y="4257675"/>
            <a:ext cx="2305050" cy="1039813"/>
            <a:chOff x="1383" y="2718"/>
            <a:chExt cx="998" cy="655"/>
          </a:xfrm>
        </p:grpSpPr>
        <p:sp>
          <p:nvSpPr>
            <p:cNvPr id="431140" name="Text Box 36">
              <a:extLst>
                <a:ext uri="{FF2B5EF4-FFF2-40B4-BE49-F238E27FC236}">
                  <a16:creationId xmlns:a16="http://schemas.microsoft.com/office/drawing/2014/main" id="{5C501DC6-4031-4BC5-9F6C-C2407FD82C74}"/>
                </a:ext>
              </a:extLst>
            </p:cNvPr>
            <p:cNvSpPr txBox="1">
              <a:spLocks noChangeArrowheads="1"/>
            </p:cNvSpPr>
            <p:nvPr/>
          </p:nvSpPr>
          <p:spPr bwMode="auto">
            <a:xfrm>
              <a:off x="1383" y="2967"/>
              <a:ext cx="998" cy="406"/>
            </a:xfrm>
            <a:prstGeom prst="rect">
              <a:avLst/>
            </a:prstGeom>
            <a:solidFill>
              <a:srgbClr val="FF99CC"/>
            </a:solidFill>
            <a:ln w="28575">
              <a:solidFill>
                <a:srgbClr val="000000"/>
              </a:solidFill>
              <a:miter lim="800000"/>
              <a:headEnd/>
              <a:tailEnd/>
            </a:ln>
            <a:effectLst>
              <a:outerShdw dist="35921" dir="2700000" algn="ctr" rotWithShape="0">
                <a:schemeClr val="tx1"/>
              </a:outerShdw>
            </a:effectLst>
          </p:spPr>
          <p:txBody>
            <a:bodyPr lIns="0" rIns="0" bIns="10800" anchor="ctr" anchorCtr="1"/>
            <a:lstStyle/>
            <a:p>
              <a:pPr algn="ctr"/>
              <a:r>
                <a:rPr lang="zh-CN" altLang="en-US" sz="2800" b="1">
                  <a:solidFill>
                    <a:srgbClr val="000099"/>
                  </a:solidFill>
                  <a:effectLst>
                    <a:outerShdw blurRad="38100" dist="38100" dir="2700000" algn="tl">
                      <a:srgbClr val="000000"/>
                    </a:outerShdw>
                  </a:effectLst>
                  <a:latin typeface="楷体_GB2312" pitchFamily="49" charset="-122"/>
                </a:rPr>
                <a:t>成绩</a:t>
              </a:r>
              <a:r>
                <a:rPr lang="en-US" altLang="zh-CN" sz="2800" b="1">
                  <a:solidFill>
                    <a:srgbClr val="000099"/>
                  </a:solidFill>
                  <a:effectLst>
                    <a:outerShdw blurRad="38100" dist="38100" dir="2700000" algn="tl">
                      <a:srgbClr val="000000"/>
                    </a:outerShdw>
                  </a:effectLst>
                  <a:latin typeface="楷体_GB2312" pitchFamily="49" charset="-122"/>
                </a:rPr>
                <a:t>(GRADE)</a:t>
              </a:r>
            </a:p>
          </p:txBody>
        </p:sp>
        <p:sp>
          <p:nvSpPr>
            <p:cNvPr id="431141" name="Line 37">
              <a:extLst>
                <a:ext uri="{FF2B5EF4-FFF2-40B4-BE49-F238E27FC236}">
                  <a16:creationId xmlns:a16="http://schemas.microsoft.com/office/drawing/2014/main" id="{7D841F09-611D-4302-B959-229BA23BA088}"/>
                </a:ext>
              </a:extLst>
            </p:cNvPr>
            <p:cNvSpPr>
              <a:spLocks noChangeShapeType="1"/>
            </p:cNvSpPr>
            <p:nvPr/>
          </p:nvSpPr>
          <p:spPr bwMode="auto">
            <a:xfrm>
              <a:off x="1909" y="2718"/>
              <a:ext cx="0" cy="249"/>
            </a:xfrm>
            <a:prstGeom prst="line">
              <a:avLst/>
            </a:prstGeom>
            <a:noFill/>
            <a:ln w="28575">
              <a:solidFill>
                <a:srgbClr val="000000"/>
              </a:solidFill>
              <a:round/>
              <a:headEnd/>
              <a:tailEnd type="triangle" w="lg" len="lg"/>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grpSp>
      <p:grpSp>
        <p:nvGrpSpPr>
          <p:cNvPr id="431142" name="Group 38">
            <a:extLst>
              <a:ext uri="{FF2B5EF4-FFF2-40B4-BE49-F238E27FC236}">
                <a16:creationId xmlns:a16="http://schemas.microsoft.com/office/drawing/2014/main" id="{2450DB57-5524-4544-8F57-4B1CEFBCB41F}"/>
              </a:ext>
            </a:extLst>
          </p:cNvPr>
          <p:cNvGrpSpPr>
            <a:grpSpLocks/>
          </p:cNvGrpSpPr>
          <p:nvPr/>
        </p:nvGrpSpPr>
        <p:grpSpPr bwMode="auto">
          <a:xfrm>
            <a:off x="3635375" y="4079875"/>
            <a:ext cx="2449513" cy="1217613"/>
            <a:chOff x="2490" y="2606"/>
            <a:chExt cx="1224" cy="767"/>
          </a:xfrm>
        </p:grpSpPr>
        <p:sp>
          <p:nvSpPr>
            <p:cNvPr id="431143" name="Text Box 39">
              <a:extLst>
                <a:ext uri="{FF2B5EF4-FFF2-40B4-BE49-F238E27FC236}">
                  <a16:creationId xmlns:a16="http://schemas.microsoft.com/office/drawing/2014/main" id="{BB03113D-9467-42D2-8D1D-D95F4122C018}"/>
                </a:ext>
              </a:extLst>
            </p:cNvPr>
            <p:cNvSpPr txBox="1">
              <a:spLocks noChangeArrowheads="1"/>
            </p:cNvSpPr>
            <p:nvPr/>
          </p:nvSpPr>
          <p:spPr bwMode="auto">
            <a:xfrm>
              <a:off x="2490" y="2968"/>
              <a:ext cx="1224" cy="405"/>
            </a:xfrm>
            <a:prstGeom prst="rect">
              <a:avLst/>
            </a:prstGeom>
            <a:solidFill>
              <a:srgbClr val="FF99CC"/>
            </a:solidFill>
            <a:ln w="28575">
              <a:solidFill>
                <a:srgbClr val="000000"/>
              </a:solidFill>
              <a:miter lim="800000"/>
              <a:headEnd/>
              <a:tailEnd/>
            </a:ln>
            <a:effectLst>
              <a:outerShdw dist="35921" dir="2700000" algn="ctr" rotWithShape="0">
                <a:schemeClr val="tx1"/>
              </a:outerShdw>
            </a:effectLst>
          </p:spPr>
          <p:txBody>
            <a:bodyPr lIns="0" rIns="0" bIns="10800" anchor="ctr" anchorCtr="1"/>
            <a:lstStyle/>
            <a:p>
              <a:pPr algn="ctr"/>
              <a:r>
                <a:rPr lang="zh-CN" altLang="en-US" sz="2800" b="1">
                  <a:solidFill>
                    <a:srgbClr val="000099"/>
                  </a:solidFill>
                  <a:effectLst>
                    <a:outerShdw blurRad="38100" dist="38100" dir="2700000" algn="tl">
                      <a:srgbClr val="000000"/>
                    </a:outerShdw>
                  </a:effectLst>
                  <a:latin typeface="楷体_GB2312" pitchFamily="49" charset="-122"/>
                </a:rPr>
                <a:t>教师名</a:t>
              </a:r>
              <a:r>
                <a:rPr lang="en-US" altLang="zh-CN" sz="2800" b="1">
                  <a:solidFill>
                    <a:srgbClr val="000099"/>
                  </a:solidFill>
                  <a:effectLst>
                    <a:outerShdw blurRad="38100" dist="38100" dir="2700000" algn="tl">
                      <a:srgbClr val="000000"/>
                    </a:outerShdw>
                  </a:effectLst>
                  <a:latin typeface="楷体_GB2312" pitchFamily="49" charset="-122"/>
                </a:rPr>
                <a:t>(TNAME)</a:t>
              </a:r>
            </a:p>
          </p:txBody>
        </p:sp>
        <p:sp>
          <p:nvSpPr>
            <p:cNvPr id="431144" name="Line 40">
              <a:extLst>
                <a:ext uri="{FF2B5EF4-FFF2-40B4-BE49-F238E27FC236}">
                  <a16:creationId xmlns:a16="http://schemas.microsoft.com/office/drawing/2014/main" id="{47B2B7AC-7E1F-479F-B015-82F2A2BEE96A}"/>
                </a:ext>
              </a:extLst>
            </p:cNvPr>
            <p:cNvSpPr>
              <a:spLocks noChangeShapeType="1"/>
            </p:cNvSpPr>
            <p:nvPr/>
          </p:nvSpPr>
          <p:spPr bwMode="auto">
            <a:xfrm>
              <a:off x="3107" y="2606"/>
              <a:ext cx="0" cy="361"/>
            </a:xfrm>
            <a:prstGeom prst="line">
              <a:avLst/>
            </a:prstGeom>
            <a:noFill/>
            <a:ln w="28575">
              <a:solidFill>
                <a:srgbClr val="000000"/>
              </a:solidFill>
              <a:round/>
              <a:headEnd/>
              <a:tailEnd type="triangle" w="lg" len="lg"/>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grpSp>
      <p:grpSp>
        <p:nvGrpSpPr>
          <p:cNvPr id="431145" name="Group 41">
            <a:extLst>
              <a:ext uri="{FF2B5EF4-FFF2-40B4-BE49-F238E27FC236}">
                <a16:creationId xmlns:a16="http://schemas.microsoft.com/office/drawing/2014/main" id="{07095CAD-999B-41DA-94EB-1C6E0F4C98BD}"/>
              </a:ext>
            </a:extLst>
          </p:cNvPr>
          <p:cNvGrpSpPr>
            <a:grpSpLocks/>
          </p:cNvGrpSpPr>
          <p:nvPr/>
        </p:nvGrpSpPr>
        <p:grpSpPr bwMode="auto">
          <a:xfrm>
            <a:off x="6084888" y="4508500"/>
            <a:ext cx="2519362" cy="936625"/>
            <a:chOff x="3727" y="2945"/>
            <a:chExt cx="1303" cy="485"/>
          </a:xfrm>
        </p:grpSpPr>
        <p:sp>
          <p:nvSpPr>
            <p:cNvPr id="431146" name="Text Box 42">
              <a:extLst>
                <a:ext uri="{FF2B5EF4-FFF2-40B4-BE49-F238E27FC236}">
                  <a16:creationId xmlns:a16="http://schemas.microsoft.com/office/drawing/2014/main" id="{1B3FC2BC-14AE-406C-84D3-F18A7D6A712D}"/>
                </a:ext>
              </a:extLst>
            </p:cNvPr>
            <p:cNvSpPr txBox="1">
              <a:spLocks noChangeArrowheads="1"/>
            </p:cNvSpPr>
            <p:nvPr/>
          </p:nvSpPr>
          <p:spPr bwMode="auto">
            <a:xfrm>
              <a:off x="4078" y="2945"/>
              <a:ext cx="952" cy="485"/>
            </a:xfrm>
            <a:prstGeom prst="rect">
              <a:avLst/>
            </a:prstGeom>
            <a:solidFill>
              <a:srgbClr val="FFCC99"/>
            </a:solidFill>
            <a:ln w="28575">
              <a:solidFill>
                <a:srgbClr val="000000"/>
              </a:solidFill>
              <a:miter lim="800000"/>
              <a:headEnd/>
              <a:tailEnd/>
            </a:ln>
            <a:effectLst>
              <a:outerShdw dist="35921" dir="2700000" algn="ctr" rotWithShape="0">
                <a:schemeClr val="tx1"/>
              </a:outerShdw>
            </a:effectLst>
          </p:spPr>
          <p:txBody>
            <a:bodyPr lIns="0" rIns="0" bIns="10800"/>
            <a:lstStyle/>
            <a:p>
              <a:pPr algn="ctr"/>
              <a:r>
                <a:rPr lang="zh-CN" altLang="en-US" sz="2800" b="1">
                  <a:solidFill>
                    <a:srgbClr val="080808"/>
                  </a:solidFill>
                  <a:effectLst>
                    <a:outerShdw blurRad="38100" dist="38100" dir="2700000" algn="tl">
                      <a:srgbClr val="FFFFFF"/>
                    </a:outerShdw>
                  </a:effectLst>
                  <a:latin typeface="楷体_GB2312" pitchFamily="49" charset="-122"/>
                </a:rPr>
                <a:t>教研室</a:t>
              </a:r>
            </a:p>
            <a:p>
              <a:pPr algn="ctr"/>
              <a:r>
                <a:rPr lang="en-US" altLang="zh-CN" sz="2800" b="1">
                  <a:solidFill>
                    <a:srgbClr val="080808"/>
                  </a:solidFill>
                  <a:effectLst>
                    <a:outerShdw blurRad="38100" dist="38100" dir="2700000" algn="tl">
                      <a:srgbClr val="FFFFFF"/>
                    </a:outerShdw>
                  </a:effectLst>
                  <a:latin typeface="楷体_GB2312" pitchFamily="49" charset="-122"/>
                </a:rPr>
                <a:t>(TRS)</a:t>
              </a:r>
            </a:p>
          </p:txBody>
        </p:sp>
        <p:sp>
          <p:nvSpPr>
            <p:cNvPr id="431147" name="Line 43">
              <a:extLst>
                <a:ext uri="{FF2B5EF4-FFF2-40B4-BE49-F238E27FC236}">
                  <a16:creationId xmlns:a16="http://schemas.microsoft.com/office/drawing/2014/main" id="{AD034150-3E7A-49D7-8013-A5FEA69DFD4C}"/>
                </a:ext>
              </a:extLst>
            </p:cNvPr>
            <p:cNvSpPr>
              <a:spLocks noChangeShapeType="1"/>
            </p:cNvSpPr>
            <p:nvPr/>
          </p:nvSpPr>
          <p:spPr bwMode="auto">
            <a:xfrm rot="16200000">
              <a:off x="3897" y="3024"/>
              <a:ext cx="0" cy="340"/>
            </a:xfrm>
            <a:prstGeom prst="line">
              <a:avLst/>
            </a:prstGeom>
            <a:noFill/>
            <a:ln w="28575">
              <a:solidFill>
                <a:srgbClr val="000000"/>
              </a:solidFill>
              <a:round/>
              <a:headEnd/>
              <a:tailEnd type="triangle" w="lg" len="lg"/>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431148" name="AutoShape 44">
            <a:extLst>
              <a:ext uri="{FF2B5EF4-FFF2-40B4-BE49-F238E27FC236}">
                <a16:creationId xmlns:a16="http://schemas.microsoft.com/office/drawing/2014/main" id="{2F21A762-69BE-4377-A9CF-775121795523}"/>
              </a:ext>
            </a:extLst>
          </p:cNvPr>
          <p:cNvSpPr>
            <a:spLocks noChangeArrowheads="1"/>
          </p:cNvSpPr>
          <p:nvPr/>
        </p:nvSpPr>
        <p:spPr bwMode="auto">
          <a:xfrm>
            <a:off x="6227763" y="3155950"/>
            <a:ext cx="1943100" cy="863600"/>
          </a:xfrm>
          <a:prstGeom prst="wedgeRoundRectCallout">
            <a:avLst>
              <a:gd name="adj1" fmla="val -113153"/>
              <a:gd name="adj2" fmla="val 98528"/>
              <a:gd name="adj3" fmla="val 16667"/>
            </a:avLst>
          </a:prstGeom>
          <a:solidFill>
            <a:srgbClr val="00FFFF"/>
          </a:solidFill>
          <a:ln w="12700" cap="sq">
            <a:solidFill>
              <a:srgbClr val="080808"/>
            </a:solidFill>
            <a:miter lim="800000"/>
            <a:headEnd type="none" w="sm" len="sm"/>
            <a:tailEnd type="none" w="sm" len="sm"/>
          </a:ln>
          <a:effectLst>
            <a:outerShdw dist="71842" dir="2700000" algn="ctr" rotWithShape="0">
              <a:schemeClr val="tx1"/>
            </a:outerShdw>
          </a:effectLst>
        </p:spPr>
        <p:txBody>
          <a:bodyPr anchor="ctr"/>
          <a:lstStyle/>
          <a:p>
            <a:pPr algn="ctr"/>
            <a:r>
              <a:rPr lang="zh-CN" altLang="en-US" sz="2800" b="1">
                <a:solidFill>
                  <a:srgbClr val="080808"/>
                </a:solidFill>
                <a:effectLst>
                  <a:outerShdw blurRad="38100" dist="38100" dir="2700000" algn="tl">
                    <a:srgbClr val="FFFFFF"/>
                  </a:outerShdw>
                </a:effectLst>
                <a:ea typeface="黑体" panose="02010609060101010101" pitchFamily="49" charset="-122"/>
              </a:rPr>
              <a:t>传递依赖</a:t>
            </a:r>
          </a:p>
        </p:txBody>
      </p:sp>
      <p:grpSp>
        <p:nvGrpSpPr>
          <p:cNvPr id="431149" name="Group 45">
            <a:extLst>
              <a:ext uri="{FF2B5EF4-FFF2-40B4-BE49-F238E27FC236}">
                <a16:creationId xmlns:a16="http://schemas.microsoft.com/office/drawing/2014/main" id="{E9D47C77-3996-4445-B300-7D6F44D903C9}"/>
              </a:ext>
            </a:extLst>
          </p:cNvPr>
          <p:cNvGrpSpPr>
            <a:grpSpLocks/>
          </p:cNvGrpSpPr>
          <p:nvPr/>
        </p:nvGrpSpPr>
        <p:grpSpPr bwMode="auto">
          <a:xfrm>
            <a:off x="4787900" y="4076700"/>
            <a:ext cx="1916113" cy="1022350"/>
            <a:chOff x="3016" y="2568"/>
            <a:chExt cx="1207" cy="644"/>
          </a:xfrm>
        </p:grpSpPr>
        <p:sp>
          <p:nvSpPr>
            <p:cNvPr id="431150" name="AutoShape 46">
              <a:extLst>
                <a:ext uri="{FF2B5EF4-FFF2-40B4-BE49-F238E27FC236}">
                  <a16:creationId xmlns:a16="http://schemas.microsoft.com/office/drawing/2014/main" id="{D12AFB4D-63C5-4347-8165-0D8E7E04DCE0}"/>
                </a:ext>
              </a:extLst>
            </p:cNvPr>
            <p:cNvSpPr>
              <a:spLocks noChangeArrowheads="1"/>
            </p:cNvSpPr>
            <p:nvPr/>
          </p:nvSpPr>
          <p:spPr bwMode="auto">
            <a:xfrm>
              <a:off x="3016" y="2568"/>
              <a:ext cx="136" cy="362"/>
            </a:xfrm>
            <a:prstGeom prst="downArrow">
              <a:avLst>
                <a:gd name="adj1" fmla="val 50000"/>
                <a:gd name="adj2" fmla="val 66544"/>
              </a:avLst>
            </a:prstGeom>
            <a:solidFill>
              <a:srgbClr val="00FF00"/>
            </a:solidFill>
            <a:ln w="12700" cap="sq">
              <a:solidFill>
                <a:srgbClr val="000000"/>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431151" name="AutoShape 47">
              <a:extLst>
                <a:ext uri="{FF2B5EF4-FFF2-40B4-BE49-F238E27FC236}">
                  <a16:creationId xmlns:a16="http://schemas.microsoft.com/office/drawing/2014/main" id="{54108B96-04E9-421D-B657-5CF850A08CAA}"/>
                </a:ext>
              </a:extLst>
            </p:cNvPr>
            <p:cNvSpPr>
              <a:spLocks noChangeArrowheads="1"/>
            </p:cNvSpPr>
            <p:nvPr/>
          </p:nvSpPr>
          <p:spPr bwMode="auto">
            <a:xfrm rot="16200000">
              <a:off x="3974" y="2963"/>
              <a:ext cx="136" cy="362"/>
            </a:xfrm>
            <a:prstGeom prst="downArrow">
              <a:avLst>
                <a:gd name="adj1" fmla="val 50000"/>
                <a:gd name="adj2" fmla="val 66544"/>
              </a:avLst>
            </a:prstGeom>
            <a:solidFill>
              <a:srgbClr val="00FF00"/>
            </a:solidFill>
            <a:ln w="12700" cap="sq">
              <a:solidFill>
                <a:srgbClr val="000000"/>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grpSp>
      <p:sp>
        <p:nvSpPr>
          <p:cNvPr id="431155" name="AutoShape 51">
            <a:extLst>
              <a:ext uri="{FF2B5EF4-FFF2-40B4-BE49-F238E27FC236}">
                <a16:creationId xmlns:a16="http://schemas.microsoft.com/office/drawing/2014/main" id="{294DA47C-3AA2-45DE-A6E1-1A4A957B2A4F}"/>
              </a:ext>
            </a:extLst>
          </p:cNvPr>
          <p:cNvSpPr>
            <a:spLocks noChangeArrowheads="1"/>
          </p:cNvSpPr>
          <p:nvPr/>
        </p:nvSpPr>
        <p:spPr bwMode="auto">
          <a:xfrm>
            <a:off x="1763713" y="3644900"/>
            <a:ext cx="5832475" cy="1511300"/>
          </a:xfrm>
          <a:prstGeom prst="flowChartDocument">
            <a:avLst/>
          </a:prstGeom>
          <a:solidFill>
            <a:srgbClr val="008080"/>
          </a:solidFill>
          <a:ln w="12700" cap="sq">
            <a:solidFill>
              <a:schemeClr val="tx1"/>
            </a:solidFill>
            <a:miter lim="800000"/>
            <a:headEnd type="none" w="sm" len="sm"/>
            <a:tailEnd type="none" w="sm" len="sm"/>
          </a:ln>
          <a:effectLst>
            <a:outerShdw dist="71842" dir="2700000" algn="ctr" rotWithShape="0">
              <a:schemeClr val="tx1"/>
            </a:outerShdw>
          </a:effectLst>
        </p:spPr>
        <p:txBody>
          <a:bodyPr wrap="none" anchor="ctr"/>
          <a:lstStyle/>
          <a:p>
            <a:pPr algn="ctr"/>
            <a:r>
              <a:rPr lang="en-US" altLang="zh-CN" sz="2800" b="1">
                <a:solidFill>
                  <a:schemeClr val="bg1"/>
                </a:solidFill>
                <a:effectLst>
                  <a:outerShdw blurRad="38100" dist="38100" dir="2700000" algn="tl">
                    <a:srgbClr val="000000"/>
                  </a:outerShdw>
                </a:effectLst>
                <a:latin typeface="黑体" panose="02010609060101010101" pitchFamily="49" charset="-122"/>
                <a:ea typeface="黑体" panose="02010609060101010101" pitchFamily="49" charset="-122"/>
              </a:rPr>
              <a:t>结论：R不是3NF模式</a:t>
            </a:r>
            <a:endParaRPr lang="zh-CN" altLang="en-US" sz="2800" b="1">
              <a:solidFill>
                <a:schemeClr val="bg1"/>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431157" name="Rectangle 53">
            <a:extLst>
              <a:ext uri="{FF2B5EF4-FFF2-40B4-BE49-F238E27FC236}">
                <a16:creationId xmlns:a16="http://schemas.microsoft.com/office/drawing/2014/main" id="{B4B5E981-EE64-42AF-9BD1-7BE1BAE9F0FF}"/>
              </a:ext>
            </a:extLst>
          </p:cNvPr>
          <p:cNvSpPr>
            <a:spLocks noGrp="1" noChangeArrowheads="1"/>
          </p:cNvSpPr>
          <p:nvPr>
            <p:ph type="body" idx="1"/>
          </p:nvPr>
        </p:nvSpPr>
        <p:spPr>
          <a:noFill/>
          <a:ln/>
        </p:spPr>
        <p:txBody>
          <a:bodyPr/>
          <a:lstStyle/>
          <a:p>
            <a:pPr algn="just"/>
            <a:r>
              <a:rPr lang="zh-CN" altLang="en-US" i="1" dirty="0">
                <a:solidFill>
                  <a:srgbClr val="009900"/>
                </a:solidFill>
                <a:latin typeface="楷体_GB2312" pitchFamily="49" charset="-122"/>
                <a:cs typeface="Times New Roman" panose="02020603050405020304" pitchFamily="18" charset="0"/>
              </a:rPr>
              <a:t>例</a:t>
            </a:r>
            <a:r>
              <a:rPr lang="zh-CN" altLang="en-US" dirty="0">
                <a:solidFill>
                  <a:srgbClr val="000000"/>
                </a:solidFill>
                <a:latin typeface="楷体_GB2312" pitchFamily="49" charset="-122"/>
                <a:cs typeface="Times New Roman" panose="02020603050405020304" pitchFamily="18" charset="0"/>
              </a:rPr>
              <a:t>：</a:t>
            </a:r>
            <a:r>
              <a:rPr lang="en-US" altLang="zh-CN" dirty="0">
                <a:solidFill>
                  <a:srgbClr val="000000"/>
                </a:solidFill>
                <a:latin typeface="楷体_GB2312" pitchFamily="49" charset="-122"/>
                <a:cs typeface="Times New Roman" panose="02020603050405020304" pitchFamily="18" charset="0"/>
              </a:rPr>
              <a:t>R=(S#,C#,GRADE,TNAME,TRS)</a:t>
            </a:r>
            <a:r>
              <a:rPr lang="zh-CN" altLang="en-US" dirty="0">
                <a:solidFill>
                  <a:srgbClr val="000000"/>
                </a:solidFill>
                <a:latin typeface="楷体_GB2312" pitchFamily="49" charset="-122"/>
                <a:cs typeface="Times New Roman" panose="02020603050405020304" pitchFamily="18" charset="0"/>
              </a:rPr>
              <a:t>，</a:t>
            </a:r>
          </a:p>
          <a:p>
            <a:pPr algn="just"/>
            <a:r>
              <a:rPr lang="en-US" altLang="zh-CN" dirty="0">
                <a:solidFill>
                  <a:srgbClr val="000000"/>
                </a:solidFill>
                <a:latin typeface="楷体_GB2312" pitchFamily="49" charset="-122"/>
                <a:cs typeface="Times New Roman" panose="02020603050405020304" pitchFamily="18" charset="0"/>
              </a:rPr>
              <a:t>F={C#</a:t>
            </a:r>
            <a:r>
              <a:rPr lang="en-US" altLang="zh-CN" dirty="0">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dirty="0">
                <a:solidFill>
                  <a:srgbClr val="000000"/>
                </a:solidFill>
                <a:latin typeface="楷体_GB2312" pitchFamily="49" charset="-122"/>
                <a:cs typeface="Times New Roman" panose="02020603050405020304" pitchFamily="18" charset="0"/>
              </a:rPr>
              <a:t>TNAME,(S#,C#)</a:t>
            </a:r>
            <a:r>
              <a:rPr lang="en-US" altLang="zh-CN" dirty="0">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dirty="0">
                <a:solidFill>
                  <a:srgbClr val="000000"/>
                </a:solidFill>
                <a:latin typeface="楷体_GB2312" pitchFamily="49" charset="-122"/>
                <a:cs typeface="Times New Roman" panose="02020603050405020304" pitchFamily="18" charset="0"/>
              </a:rPr>
              <a:t>GRADE,TNAME</a:t>
            </a:r>
            <a:r>
              <a:rPr lang="en-US" altLang="zh-CN" dirty="0">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dirty="0">
                <a:solidFill>
                  <a:srgbClr val="000000"/>
                </a:solidFill>
                <a:latin typeface="楷体_GB2312" pitchFamily="49" charset="-122"/>
                <a:cs typeface="Times New Roman" panose="02020603050405020304" pitchFamily="18" charset="0"/>
              </a:rPr>
              <a:t>TRS}</a:t>
            </a:r>
            <a:endParaRPr lang="zh-CN" altLang="en-US" dirty="0">
              <a:solidFill>
                <a:srgbClr val="000000"/>
              </a:solidFill>
              <a:latin typeface="楷体_GB2312" pitchFamily="49" charset="-122"/>
              <a:cs typeface="Times New Roman" panose="02020603050405020304" pitchFamily="18" charset="0"/>
            </a:endParaRPr>
          </a:p>
        </p:txBody>
      </p:sp>
      <p:sp>
        <p:nvSpPr>
          <p:cNvPr id="431158" name="Rectangle 54">
            <a:extLst>
              <a:ext uri="{FF2B5EF4-FFF2-40B4-BE49-F238E27FC236}">
                <a16:creationId xmlns:a16="http://schemas.microsoft.com/office/drawing/2014/main" id="{26492AB4-B382-4FCC-B269-A8FC3BD67BCE}"/>
              </a:ext>
            </a:extLst>
          </p:cNvPr>
          <p:cNvSpPr>
            <a:spLocks noGrp="1" noChangeArrowheads="1"/>
          </p:cNvSpPr>
          <p:nvPr>
            <p:ph type="title"/>
          </p:nvPr>
        </p:nvSpPr>
        <p:spPr/>
        <p:txBody>
          <a:bodyPr/>
          <a:lstStyle/>
          <a:p>
            <a:r>
              <a:rPr lang="zh-CN" altLang="en-US"/>
              <a:t>四、第三范式</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3907"/>
    </mc:Choice>
    <mc:Fallback xmlns="">
      <p:transition spd="slow" advTm="13907"/>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431155"/>
                                        </p:tgtEl>
                                        <p:attrNameLst>
                                          <p:attrName>style.visibility</p:attrName>
                                        </p:attrNameLst>
                                      </p:cBhvr>
                                      <p:to>
                                        <p:strVal val="visible"/>
                                      </p:to>
                                    </p:set>
                                    <p:anim calcmode="lin" valueType="num">
                                      <p:cBhvr>
                                        <p:cTn id="7" dur="1000" fill="hold"/>
                                        <p:tgtEl>
                                          <p:spTgt spid="431155"/>
                                        </p:tgtEl>
                                        <p:attrNameLst>
                                          <p:attrName>ppt_w</p:attrName>
                                        </p:attrNameLst>
                                      </p:cBhvr>
                                      <p:tavLst>
                                        <p:tav tm="0">
                                          <p:val>
                                            <p:fltVal val="0"/>
                                          </p:val>
                                        </p:tav>
                                        <p:tav tm="100000">
                                          <p:val>
                                            <p:strVal val="#ppt_w"/>
                                          </p:val>
                                        </p:tav>
                                      </p:tavLst>
                                    </p:anim>
                                    <p:anim calcmode="lin" valueType="num">
                                      <p:cBhvr>
                                        <p:cTn id="8" dur="1000" fill="hold"/>
                                        <p:tgtEl>
                                          <p:spTgt spid="431155"/>
                                        </p:tgtEl>
                                        <p:attrNameLst>
                                          <p:attrName>ppt_h</p:attrName>
                                        </p:attrNameLst>
                                      </p:cBhvr>
                                      <p:tavLst>
                                        <p:tav tm="0">
                                          <p:val>
                                            <p:fltVal val="0"/>
                                          </p:val>
                                        </p:tav>
                                        <p:tav tm="100000">
                                          <p:val>
                                            <p:strVal val="#ppt_h"/>
                                          </p:val>
                                        </p:tav>
                                      </p:tavLst>
                                    </p:anim>
                                    <p:animEffect transition="in" filter="fade">
                                      <p:cBhvr>
                                        <p:cTn id="9" dur="1000"/>
                                        <p:tgtEl>
                                          <p:spTgt spid="431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55"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9765" name="AutoShape 5">
            <a:extLst>
              <a:ext uri="{FF2B5EF4-FFF2-40B4-BE49-F238E27FC236}">
                <a16:creationId xmlns:a16="http://schemas.microsoft.com/office/drawing/2014/main" id="{6BD91AB5-5D0E-4F6C-BDC7-3B65F716DAC4}"/>
              </a:ext>
            </a:extLst>
          </p:cNvPr>
          <p:cNvSpPr>
            <a:spLocks noChangeArrowheads="1"/>
          </p:cNvSpPr>
          <p:nvPr/>
        </p:nvSpPr>
        <p:spPr bwMode="auto">
          <a:xfrm>
            <a:off x="250825" y="1484313"/>
            <a:ext cx="252413" cy="252412"/>
          </a:xfrm>
          <a:prstGeom prst="triangle">
            <a:avLst>
              <a:gd name="adj" fmla="val 50000"/>
            </a:avLst>
          </a:prstGeom>
          <a:solidFill>
            <a:srgbClr val="FF0000"/>
          </a:solidFill>
          <a:ln w="12700" cap="sq">
            <a:solidFill>
              <a:srgbClr val="FF9900"/>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629766" name="Rectangle 6">
            <a:extLst>
              <a:ext uri="{FF2B5EF4-FFF2-40B4-BE49-F238E27FC236}">
                <a16:creationId xmlns:a16="http://schemas.microsoft.com/office/drawing/2014/main" id="{62C97DFE-0669-4092-8A55-03DB0397C892}"/>
              </a:ext>
            </a:extLst>
          </p:cNvPr>
          <p:cNvSpPr>
            <a:spLocks noGrp="1" noChangeArrowheads="1"/>
          </p:cNvSpPr>
          <p:nvPr>
            <p:ph type="title"/>
          </p:nvPr>
        </p:nvSpPr>
        <p:spPr/>
        <p:txBody>
          <a:bodyPr/>
          <a:lstStyle/>
          <a:p>
            <a:r>
              <a:rPr lang="zh-CN" altLang="en-US"/>
              <a:t>四、第三范式</a:t>
            </a:r>
          </a:p>
        </p:txBody>
      </p:sp>
      <p:sp>
        <p:nvSpPr>
          <p:cNvPr id="629767" name="Rectangle 7">
            <a:extLst>
              <a:ext uri="{FF2B5EF4-FFF2-40B4-BE49-F238E27FC236}">
                <a16:creationId xmlns:a16="http://schemas.microsoft.com/office/drawing/2014/main" id="{9EC606F9-A1A2-4286-A712-B443363391C9}"/>
              </a:ext>
            </a:extLst>
          </p:cNvPr>
          <p:cNvSpPr>
            <a:spLocks noGrp="1" noChangeArrowheads="1"/>
          </p:cNvSpPr>
          <p:nvPr>
            <p:ph type="body" idx="1"/>
          </p:nvPr>
        </p:nvSpPr>
        <p:spPr/>
        <p:txBody>
          <a:bodyPr/>
          <a:lstStyle/>
          <a:p>
            <a:pPr algn="just"/>
            <a:r>
              <a:rPr lang="en-US" altLang="zh-CN">
                <a:solidFill>
                  <a:srgbClr val="000000"/>
                </a:solidFill>
                <a:latin typeface="楷体_GB2312" pitchFamily="49" charset="-122"/>
                <a:cs typeface="Times New Roman" panose="02020603050405020304" pitchFamily="18" charset="0"/>
              </a:rPr>
              <a:t>2</a:t>
            </a:r>
            <a:r>
              <a:rPr lang="zh-CN" altLang="en-US">
                <a:solidFill>
                  <a:srgbClr val="000000"/>
                </a:solidFill>
                <a:latin typeface="楷体_GB2312" pitchFamily="49" charset="-122"/>
                <a:cs typeface="Times New Roman" panose="02020603050405020304" pitchFamily="18" charset="0"/>
              </a:rPr>
              <a:t>、分解成</a:t>
            </a:r>
            <a:r>
              <a:rPr lang="en-US" altLang="zh-CN">
                <a:solidFill>
                  <a:srgbClr val="000000"/>
                </a:solidFill>
                <a:latin typeface="楷体_GB2312" pitchFamily="49" charset="-122"/>
                <a:cs typeface="Times New Roman" panose="02020603050405020304" pitchFamily="18" charset="0"/>
              </a:rPr>
              <a:t>3NF</a:t>
            </a:r>
            <a:r>
              <a:rPr lang="zh-CN" altLang="en-US">
                <a:solidFill>
                  <a:srgbClr val="000000"/>
                </a:solidFill>
                <a:latin typeface="楷体_GB2312" pitchFamily="49" charset="-122"/>
                <a:cs typeface="Times New Roman" panose="02020603050405020304" pitchFamily="18" charset="0"/>
              </a:rPr>
              <a:t>模式集的算法</a:t>
            </a:r>
          </a:p>
          <a:p>
            <a:pPr algn="just"/>
            <a:r>
              <a:rPr lang="zh-CN" altLang="en-US">
                <a:solidFill>
                  <a:srgbClr val="000000"/>
                </a:solidFill>
                <a:latin typeface="楷体_GB2312" pitchFamily="49" charset="-122"/>
                <a:cs typeface="Times New Roman" panose="02020603050405020304" pitchFamily="18" charset="0"/>
              </a:rPr>
              <a:t>算法</a:t>
            </a:r>
            <a:r>
              <a:rPr lang="en-US" altLang="zh-CN">
                <a:solidFill>
                  <a:srgbClr val="000000"/>
                </a:solidFill>
                <a:latin typeface="楷体_GB2312" pitchFamily="49" charset="-122"/>
                <a:cs typeface="Times New Roman" panose="02020603050405020304" pitchFamily="18" charset="0"/>
              </a:rPr>
              <a:t>6.5 </a:t>
            </a:r>
            <a:r>
              <a:rPr lang="zh-CN" altLang="en-US">
                <a:solidFill>
                  <a:srgbClr val="000000"/>
                </a:solidFill>
                <a:latin typeface="楷体_GB2312" pitchFamily="49" charset="-122"/>
                <a:cs typeface="Times New Roman" panose="02020603050405020304" pitchFamily="18" charset="0"/>
              </a:rPr>
              <a:t>一个关系模式向</a:t>
            </a:r>
            <a:r>
              <a:rPr lang="en-US" altLang="zh-CN">
                <a:solidFill>
                  <a:srgbClr val="000000"/>
                </a:solidFill>
                <a:latin typeface="楷体_GB2312" pitchFamily="49" charset="-122"/>
                <a:cs typeface="Times New Roman" panose="02020603050405020304" pitchFamily="18" charset="0"/>
              </a:rPr>
              <a:t>3NF</a:t>
            </a:r>
            <a:r>
              <a:rPr lang="zh-CN" altLang="en-US">
                <a:solidFill>
                  <a:srgbClr val="000000"/>
                </a:solidFill>
                <a:latin typeface="楷体_GB2312" pitchFamily="49" charset="-122"/>
                <a:cs typeface="Times New Roman" panose="02020603050405020304" pitchFamily="18" charset="0"/>
              </a:rPr>
              <a:t>的</a:t>
            </a:r>
            <a:r>
              <a:rPr lang="zh-CN" altLang="en-US">
                <a:solidFill>
                  <a:srgbClr val="008000"/>
                </a:solidFill>
                <a:latin typeface="楷体_GB2312" pitchFamily="49" charset="-122"/>
                <a:cs typeface="Times New Roman" panose="02020603050405020304" pitchFamily="18" charset="0"/>
              </a:rPr>
              <a:t>保持依赖性</a:t>
            </a:r>
            <a:r>
              <a:rPr lang="zh-CN" altLang="en-US">
                <a:solidFill>
                  <a:srgbClr val="000000"/>
                </a:solidFill>
                <a:latin typeface="楷体_GB2312" pitchFamily="49" charset="-122"/>
                <a:cs typeface="Times New Roman" panose="02020603050405020304" pitchFamily="18" charset="0"/>
              </a:rPr>
              <a:t>的分解</a:t>
            </a:r>
          </a:p>
          <a:p>
            <a:pPr algn="just"/>
            <a:r>
              <a:rPr lang="zh-CN" altLang="en-US">
                <a:solidFill>
                  <a:srgbClr val="000000"/>
                </a:solidFill>
                <a:latin typeface="楷体_GB2312" pitchFamily="49" charset="-122"/>
                <a:cs typeface="Times New Roman" panose="02020603050405020304" pitchFamily="18" charset="0"/>
              </a:rPr>
              <a:t>输入：关系模式</a:t>
            </a:r>
            <a:r>
              <a:rPr lang="en-US" altLang="zh-CN">
                <a:solidFill>
                  <a:srgbClr val="000000"/>
                </a:solidFill>
                <a:latin typeface="楷体_GB2312" pitchFamily="49" charset="-122"/>
                <a:cs typeface="Times New Roman" panose="02020603050405020304" pitchFamily="18" charset="0"/>
              </a:rPr>
              <a:t>R(U,F)</a:t>
            </a:r>
            <a:r>
              <a:rPr lang="zh-CN" altLang="en-US">
                <a:solidFill>
                  <a:srgbClr val="000000"/>
                </a:solidFill>
                <a:latin typeface="楷体_GB2312" pitchFamily="49" charset="-122"/>
                <a:cs typeface="Times New Roman" panose="02020603050405020304" pitchFamily="18" charset="0"/>
              </a:rPr>
              <a:t>，</a:t>
            </a:r>
          </a:p>
          <a:p>
            <a:pPr algn="just"/>
            <a:r>
              <a:rPr lang="en-US" altLang="zh-CN">
                <a:solidFill>
                  <a:srgbClr val="000000"/>
                </a:solidFill>
                <a:latin typeface="楷体_GB2312" pitchFamily="49" charset="-122"/>
                <a:cs typeface="Times New Roman" panose="02020603050405020304" pitchFamily="18" charset="0"/>
              </a:rPr>
              <a:t>      R</a:t>
            </a:r>
            <a:r>
              <a:rPr lang="zh-CN" altLang="en-US">
                <a:solidFill>
                  <a:srgbClr val="000000"/>
                </a:solidFill>
                <a:latin typeface="楷体_GB2312" pitchFamily="49" charset="-122"/>
                <a:cs typeface="Times New Roman" panose="02020603050405020304" pitchFamily="18" charset="0"/>
              </a:rPr>
              <a:t>上的函数依赖集</a:t>
            </a:r>
            <a:r>
              <a:rPr lang="en-US" altLang="zh-CN">
                <a:solidFill>
                  <a:srgbClr val="000000"/>
                </a:solidFill>
                <a:latin typeface="楷体_GB2312" pitchFamily="49" charset="-122"/>
                <a:cs typeface="Times New Roman" panose="02020603050405020304" pitchFamily="18" charset="0"/>
              </a:rPr>
              <a:t>F</a:t>
            </a:r>
            <a:r>
              <a:rPr lang="zh-CN" altLang="en-US">
                <a:solidFill>
                  <a:srgbClr val="000000"/>
                </a:solidFill>
                <a:latin typeface="楷体_GB2312" pitchFamily="49" charset="-122"/>
                <a:cs typeface="Times New Roman" panose="02020603050405020304" pitchFamily="18" charset="0"/>
              </a:rPr>
              <a:t>（</a:t>
            </a:r>
            <a:r>
              <a:rPr lang="zh-CN" altLang="en-US">
                <a:solidFill>
                  <a:srgbClr val="993366"/>
                </a:solidFill>
                <a:latin typeface="楷体_GB2312" pitchFamily="49" charset="-122"/>
                <a:cs typeface="Times New Roman" panose="02020603050405020304" pitchFamily="18" charset="0"/>
              </a:rPr>
              <a:t>最小依赖集</a:t>
            </a:r>
            <a:r>
              <a:rPr lang="zh-CN" altLang="en-US">
                <a:solidFill>
                  <a:srgbClr val="000000"/>
                </a:solidFill>
                <a:latin typeface="楷体_GB2312" pitchFamily="49" charset="-122"/>
                <a:cs typeface="Times New Roman" panose="02020603050405020304" pitchFamily="18" charset="0"/>
              </a:rPr>
              <a:t>）</a:t>
            </a:r>
          </a:p>
          <a:p>
            <a:pPr algn="just"/>
            <a:r>
              <a:rPr lang="zh-CN" altLang="en-US">
                <a:solidFill>
                  <a:srgbClr val="000000"/>
                </a:solidFill>
                <a:latin typeface="楷体_GB2312" pitchFamily="49" charset="-122"/>
                <a:cs typeface="Times New Roman" panose="02020603050405020304" pitchFamily="18" charset="0"/>
              </a:rPr>
              <a:t>输出：</a:t>
            </a:r>
            <a:r>
              <a:rPr lang="en-US" altLang="zh-CN">
                <a:solidFill>
                  <a:srgbClr val="000000"/>
                </a:solidFill>
                <a:latin typeface="楷体_GB2312" pitchFamily="49" charset="-122"/>
                <a:cs typeface="Times New Roman" panose="02020603050405020304" pitchFamily="18" charset="0"/>
              </a:rPr>
              <a:t>R</a:t>
            </a:r>
            <a:r>
              <a:rPr lang="zh-CN" altLang="en-US">
                <a:solidFill>
                  <a:srgbClr val="000000"/>
                </a:solidFill>
                <a:latin typeface="楷体_GB2312" pitchFamily="49" charset="-122"/>
                <a:cs typeface="Times New Roman" panose="02020603050405020304" pitchFamily="18" charset="0"/>
              </a:rPr>
              <a:t>的一个保持依赖的分解</a:t>
            </a:r>
            <a:r>
              <a:rPr lang="en-US" altLang="zh-CN">
                <a:solidFill>
                  <a:srgbClr val="000000"/>
                </a:solidFill>
                <a:latin typeface="楷体_GB2312" pitchFamily="49" charset="-122"/>
                <a:cs typeface="Times New Roman" panose="02020603050405020304" pitchFamily="18" charset="0"/>
              </a:rPr>
              <a:t>ρ={R</a:t>
            </a:r>
            <a:r>
              <a:rPr lang="en-US" altLang="zh-CN" baseline="-30000">
                <a:solidFill>
                  <a:srgbClr val="000000"/>
                </a:solidFill>
                <a:latin typeface="楷体_GB2312" pitchFamily="49" charset="-122"/>
                <a:cs typeface="Times New Roman" panose="02020603050405020304" pitchFamily="18" charset="0"/>
              </a:rPr>
              <a:t>1</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R</a:t>
            </a:r>
            <a:r>
              <a:rPr lang="en-US" altLang="zh-CN" baseline="-30000">
                <a:solidFill>
                  <a:srgbClr val="000000"/>
                </a:solidFill>
                <a:latin typeface="楷体_GB2312" pitchFamily="49" charset="-122"/>
                <a:cs typeface="Times New Roman" panose="02020603050405020304" pitchFamily="18" charset="0"/>
              </a:rPr>
              <a:t>2</a:t>
            </a:r>
            <a:r>
              <a:rPr lang="en-US" altLang="zh-CN">
                <a:solidFill>
                  <a:srgbClr val="000000"/>
                </a:solidFill>
                <a:cs typeface="Times New Roman" panose="02020603050405020304" pitchFamily="18" charset="0"/>
              </a:rPr>
              <a:t>…</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R</a:t>
            </a:r>
            <a:r>
              <a:rPr lang="en-US" altLang="zh-CN" baseline="-30000">
                <a:solidFill>
                  <a:srgbClr val="000000"/>
                </a:solidFill>
                <a:latin typeface="楷体_GB2312" pitchFamily="49" charset="-122"/>
                <a:cs typeface="Times New Roman" panose="02020603050405020304" pitchFamily="18" charset="0"/>
              </a:rPr>
              <a:t>k</a:t>
            </a:r>
            <a:r>
              <a:rPr lang="en-US" altLang="zh-CN">
                <a:solidFill>
                  <a:srgbClr val="000000"/>
                </a:solidFill>
                <a:latin typeface="楷体_GB2312" pitchFamily="49" charset="-122"/>
                <a:cs typeface="Times New Roman" panose="02020603050405020304" pitchFamily="18" charset="0"/>
              </a:rPr>
              <a:t>}</a:t>
            </a:r>
            <a:r>
              <a:rPr lang="zh-CN" altLang="en-US">
                <a:solidFill>
                  <a:srgbClr val="000000"/>
                </a:solidFill>
                <a:latin typeface="楷体_GB2312" pitchFamily="49" charset="-122"/>
                <a:cs typeface="Times New Roman" panose="02020603050405020304" pitchFamily="18" charset="0"/>
              </a:rPr>
              <a:t>，每个</a:t>
            </a:r>
            <a:r>
              <a:rPr lang="en-US" altLang="zh-CN">
                <a:solidFill>
                  <a:srgbClr val="000000"/>
                </a:solidFill>
                <a:latin typeface="楷体_GB2312" pitchFamily="49" charset="-122"/>
                <a:cs typeface="Times New Roman" panose="02020603050405020304" pitchFamily="18" charset="0"/>
              </a:rPr>
              <a:t>R</a:t>
            </a:r>
            <a:r>
              <a:rPr lang="en-US" altLang="zh-CN" baseline="-30000">
                <a:solidFill>
                  <a:srgbClr val="000000"/>
                </a:solidFill>
                <a:latin typeface="楷体_GB2312" pitchFamily="49" charset="-122"/>
                <a:cs typeface="Times New Roman" panose="02020603050405020304" pitchFamily="18" charset="0"/>
              </a:rPr>
              <a:t>i</a:t>
            </a:r>
            <a:r>
              <a:rPr lang="zh-CN" altLang="en-US">
                <a:solidFill>
                  <a:srgbClr val="000000"/>
                </a:solidFill>
                <a:latin typeface="楷体_GB2312" pitchFamily="49" charset="-122"/>
                <a:cs typeface="Times New Roman" panose="02020603050405020304" pitchFamily="18" charset="0"/>
              </a:rPr>
              <a:t>为</a:t>
            </a:r>
            <a:r>
              <a:rPr lang="en-US" altLang="zh-CN">
                <a:solidFill>
                  <a:srgbClr val="000000"/>
                </a:solidFill>
                <a:latin typeface="楷体_GB2312" pitchFamily="49" charset="-122"/>
                <a:cs typeface="Times New Roman" panose="02020603050405020304" pitchFamily="18" charset="0"/>
              </a:rPr>
              <a:t>3NF(i=1,2,</a:t>
            </a:r>
            <a:r>
              <a:rPr lang="en-US" altLang="zh-CN">
                <a:solidFill>
                  <a:srgbClr val="000000"/>
                </a:solidFill>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,k)</a:t>
            </a:r>
            <a:r>
              <a:rPr lang="zh-CN" altLang="en-US">
                <a:solidFill>
                  <a:srgbClr val="000000"/>
                </a:solidFill>
                <a:latin typeface="楷体_GB2312" pitchFamily="49" charset="-122"/>
                <a:cs typeface="Times New Roman" panose="02020603050405020304" pitchFamily="18" charset="0"/>
              </a:rPr>
              <a:t>。</a:t>
            </a:r>
          </a:p>
          <a:p>
            <a:pPr algn="just"/>
            <a:r>
              <a:rPr lang="zh-CN" altLang="en-US">
                <a:solidFill>
                  <a:srgbClr val="000000"/>
                </a:solidFill>
                <a:latin typeface="楷体_GB2312" pitchFamily="49" charset="-122"/>
                <a:cs typeface="Times New Roman" panose="02020603050405020304" pitchFamily="18" charset="0"/>
              </a:rPr>
              <a:t>方法：</a:t>
            </a: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0964"/>
    </mc:Choice>
    <mc:Fallback xmlns="">
      <p:transition spd="slow" advTm="40964"/>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29767">
                                            <p:txEl>
                                              <p:pRg st="0" end="0"/>
                                            </p:txEl>
                                          </p:spTgt>
                                        </p:tgtEl>
                                        <p:attrNameLst>
                                          <p:attrName>style.visibility</p:attrName>
                                        </p:attrNameLst>
                                      </p:cBhvr>
                                      <p:to>
                                        <p:strVal val="visible"/>
                                      </p:to>
                                    </p:set>
                                    <p:animEffect transition="in" filter="wipe(left)">
                                      <p:cBhvr>
                                        <p:cTn id="7" dur="1000"/>
                                        <p:tgtEl>
                                          <p:spTgt spid="629767">
                                            <p:txEl>
                                              <p:pRg st="0" end="0"/>
                                            </p:txEl>
                                          </p:spTgt>
                                        </p:tgtEl>
                                      </p:cBhvr>
                                    </p:animEffect>
                                  </p:childTnLst>
                                </p:cTn>
                              </p:par>
                            </p:childTnLst>
                          </p:cTn>
                        </p:par>
                        <p:par>
                          <p:cTn id="8" fill="hold" nodeType="afterGroup">
                            <p:stCondLst>
                              <p:cond delay="1000"/>
                            </p:stCondLst>
                            <p:childTnLst>
                              <p:par>
                                <p:cTn id="9" presetID="2" presetClass="entr" presetSubtype="8" fill="hold" nodeType="afterEffect">
                                  <p:stCondLst>
                                    <p:cond delay="0"/>
                                  </p:stCondLst>
                                  <p:childTnLst>
                                    <p:set>
                                      <p:cBhvr>
                                        <p:cTn id="10" dur="1" fill="hold">
                                          <p:stCondLst>
                                            <p:cond delay="0"/>
                                          </p:stCondLst>
                                        </p:cTn>
                                        <p:tgtEl>
                                          <p:spTgt spid="629765"/>
                                        </p:tgtEl>
                                        <p:attrNameLst>
                                          <p:attrName>style.visibility</p:attrName>
                                        </p:attrNameLst>
                                      </p:cBhvr>
                                      <p:to>
                                        <p:strVal val="visible"/>
                                      </p:to>
                                    </p:set>
                                    <p:anim calcmode="lin" valueType="num">
                                      <p:cBhvr additive="base">
                                        <p:cTn id="11" dur="1000" fill="hold"/>
                                        <p:tgtEl>
                                          <p:spTgt spid="629765"/>
                                        </p:tgtEl>
                                        <p:attrNameLst>
                                          <p:attrName>ppt_x</p:attrName>
                                        </p:attrNameLst>
                                      </p:cBhvr>
                                      <p:tavLst>
                                        <p:tav tm="0">
                                          <p:val>
                                            <p:strVal val="0-#ppt_w/2"/>
                                          </p:val>
                                        </p:tav>
                                        <p:tav tm="100000">
                                          <p:val>
                                            <p:strVal val="#ppt_x"/>
                                          </p:val>
                                        </p:tav>
                                      </p:tavLst>
                                    </p:anim>
                                    <p:anim calcmode="lin" valueType="num">
                                      <p:cBhvr additive="base">
                                        <p:cTn id="12" dur="1000" fill="hold"/>
                                        <p:tgtEl>
                                          <p:spTgt spid="629765"/>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29767">
                                            <p:txEl>
                                              <p:pRg st="1" end="1"/>
                                            </p:txEl>
                                          </p:spTgt>
                                        </p:tgtEl>
                                        <p:attrNameLst>
                                          <p:attrName>style.visibility</p:attrName>
                                        </p:attrNameLst>
                                      </p:cBhvr>
                                      <p:to>
                                        <p:strVal val="visible"/>
                                      </p:to>
                                    </p:set>
                                    <p:animEffect transition="in" filter="wipe(left)">
                                      <p:cBhvr>
                                        <p:cTn id="17" dur="1000"/>
                                        <p:tgtEl>
                                          <p:spTgt spid="62976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29767">
                                            <p:txEl>
                                              <p:pRg st="2" end="2"/>
                                            </p:txEl>
                                          </p:spTgt>
                                        </p:tgtEl>
                                        <p:attrNameLst>
                                          <p:attrName>style.visibility</p:attrName>
                                        </p:attrNameLst>
                                      </p:cBhvr>
                                      <p:to>
                                        <p:strVal val="visible"/>
                                      </p:to>
                                    </p:set>
                                    <p:animEffect transition="in" filter="wipe(left)">
                                      <p:cBhvr>
                                        <p:cTn id="22" dur="1000"/>
                                        <p:tgtEl>
                                          <p:spTgt spid="629767">
                                            <p:txEl>
                                              <p:pRg st="2" end="2"/>
                                            </p:txEl>
                                          </p:spTgt>
                                        </p:tgtEl>
                                      </p:cBhvr>
                                    </p:animEffect>
                                  </p:childTnLst>
                                </p:cTn>
                              </p:par>
                            </p:childTnLst>
                          </p:cTn>
                        </p:par>
                        <p:par>
                          <p:cTn id="23" fill="hold" nodeType="afterGroup">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629767">
                                            <p:txEl>
                                              <p:pRg st="3" end="3"/>
                                            </p:txEl>
                                          </p:spTgt>
                                        </p:tgtEl>
                                        <p:attrNameLst>
                                          <p:attrName>style.visibility</p:attrName>
                                        </p:attrNameLst>
                                      </p:cBhvr>
                                      <p:to>
                                        <p:strVal val="visible"/>
                                      </p:to>
                                    </p:set>
                                    <p:animEffect transition="in" filter="wipe(left)">
                                      <p:cBhvr>
                                        <p:cTn id="26" dur="1000"/>
                                        <p:tgtEl>
                                          <p:spTgt spid="629767">
                                            <p:txEl>
                                              <p:pRg st="3" end="3"/>
                                            </p:txEl>
                                          </p:spTgt>
                                        </p:tgtEl>
                                      </p:cBhvr>
                                    </p:animEffect>
                                  </p:childTnLst>
                                </p:cTn>
                              </p:par>
                            </p:childTnLst>
                          </p:cTn>
                        </p:par>
                        <p:par>
                          <p:cTn id="27" fill="hold" nodeType="afterGroup">
                            <p:stCondLst>
                              <p:cond delay="2000"/>
                            </p:stCondLst>
                            <p:childTnLst>
                              <p:par>
                                <p:cTn id="28" presetID="22" presetClass="entr" presetSubtype="8" fill="hold" grpId="0" nodeType="afterEffect">
                                  <p:stCondLst>
                                    <p:cond delay="0"/>
                                  </p:stCondLst>
                                  <p:childTnLst>
                                    <p:set>
                                      <p:cBhvr>
                                        <p:cTn id="29" dur="1" fill="hold">
                                          <p:stCondLst>
                                            <p:cond delay="0"/>
                                          </p:stCondLst>
                                        </p:cTn>
                                        <p:tgtEl>
                                          <p:spTgt spid="629767">
                                            <p:txEl>
                                              <p:pRg st="4" end="4"/>
                                            </p:txEl>
                                          </p:spTgt>
                                        </p:tgtEl>
                                        <p:attrNameLst>
                                          <p:attrName>style.visibility</p:attrName>
                                        </p:attrNameLst>
                                      </p:cBhvr>
                                      <p:to>
                                        <p:strVal val="visible"/>
                                      </p:to>
                                    </p:set>
                                    <p:animEffect transition="in" filter="wipe(left)">
                                      <p:cBhvr>
                                        <p:cTn id="30" dur="1000"/>
                                        <p:tgtEl>
                                          <p:spTgt spid="629767">
                                            <p:txEl>
                                              <p:pRg st="4" end="4"/>
                                            </p:txEl>
                                          </p:spTgt>
                                        </p:tgtEl>
                                      </p:cBhvr>
                                    </p:animEffect>
                                  </p:childTnLst>
                                </p:cTn>
                              </p:par>
                            </p:childTnLst>
                          </p:cTn>
                        </p:par>
                        <p:par>
                          <p:cTn id="31" fill="hold" nodeType="afterGroup">
                            <p:stCondLst>
                              <p:cond delay="3000"/>
                            </p:stCondLst>
                            <p:childTnLst>
                              <p:par>
                                <p:cTn id="32" presetID="22" presetClass="entr" presetSubtype="8" fill="hold" grpId="0" nodeType="afterEffect">
                                  <p:stCondLst>
                                    <p:cond delay="0"/>
                                  </p:stCondLst>
                                  <p:childTnLst>
                                    <p:set>
                                      <p:cBhvr>
                                        <p:cTn id="33" dur="1" fill="hold">
                                          <p:stCondLst>
                                            <p:cond delay="0"/>
                                          </p:stCondLst>
                                        </p:cTn>
                                        <p:tgtEl>
                                          <p:spTgt spid="629767">
                                            <p:txEl>
                                              <p:pRg st="5" end="5"/>
                                            </p:txEl>
                                          </p:spTgt>
                                        </p:tgtEl>
                                        <p:attrNameLst>
                                          <p:attrName>style.visibility</p:attrName>
                                        </p:attrNameLst>
                                      </p:cBhvr>
                                      <p:to>
                                        <p:strVal val="visible"/>
                                      </p:to>
                                    </p:set>
                                    <p:animEffect transition="in" filter="wipe(left)">
                                      <p:cBhvr>
                                        <p:cTn id="34" dur="1000"/>
                                        <p:tgtEl>
                                          <p:spTgt spid="6297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9767"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628741" name="Group 5">
            <a:extLst>
              <a:ext uri="{FF2B5EF4-FFF2-40B4-BE49-F238E27FC236}">
                <a16:creationId xmlns:a16="http://schemas.microsoft.com/office/drawing/2014/main" id="{DCB2F764-32C6-4EC6-91ED-15C34E075DDC}"/>
              </a:ext>
            </a:extLst>
          </p:cNvPr>
          <p:cNvGrpSpPr>
            <a:grpSpLocks/>
          </p:cNvGrpSpPr>
          <p:nvPr/>
        </p:nvGrpSpPr>
        <p:grpSpPr bwMode="auto">
          <a:xfrm>
            <a:off x="4522788" y="2422525"/>
            <a:ext cx="2065337" cy="863600"/>
            <a:chOff x="2849" y="1752"/>
            <a:chExt cx="1301" cy="544"/>
          </a:xfrm>
        </p:grpSpPr>
        <p:sp>
          <p:nvSpPr>
            <p:cNvPr id="628742" name="Rectangle 6">
              <a:extLst>
                <a:ext uri="{FF2B5EF4-FFF2-40B4-BE49-F238E27FC236}">
                  <a16:creationId xmlns:a16="http://schemas.microsoft.com/office/drawing/2014/main" id="{07E48EAD-0CD8-4CFA-AD58-71BBAC7E9845}"/>
                </a:ext>
              </a:extLst>
            </p:cNvPr>
            <p:cNvSpPr>
              <a:spLocks noChangeArrowheads="1"/>
            </p:cNvSpPr>
            <p:nvPr/>
          </p:nvSpPr>
          <p:spPr bwMode="auto">
            <a:xfrm>
              <a:off x="3179" y="1888"/>
              <a:ext cx="971" cy="408"/>
            </a:xfrm>
            <a:prstGeom prst="rect">
              <a:avLst/>
            </a:prstGeom>
            <a:solidFill>
              <a:srgbClr val="000080"/>
            </a:solidFill>
            <a:ln w="25400" cap="sq">
              <a:solidFill>
                <a:schemeClr val="tx1"/>
              </a:solidFill>
              <a:miter lim="800000"/>
              <a:headEnd type="none" w="sm" len="sm"/>
              <a:tailEnd type="none" w="sm" len="sm"/>
            </a:ln>
            <a:effectLst>
              <a:outerShdw dist="71842" dir="2700000" algn="ctr" rotWithShape="0">
                <a:schemeClr val="tx1"/>
              </a:outerShdw>
            </a:effectLst>
          </p:spPr>
          <p:txBody>
            <a:bodyPr wrap="none" lIns="0" rIns="0" anchor="ctr" anchorCtr="1"/>
            <a:lstStyle/>
            <a:p>
              <a:pPr algn="ctr"/>
              <a:r>
                <a:rPr lang="en-US" altLang="zh-CN" sz="2800" b="1">
                  <a:solidFill>
                    <a:srgbClr val="FFFF00"/>
                  </a:solidFill>
                  <a:cs typeface="Times New Roman" panose="02020603050405020304" pitchFamily="18" charset="0"/>
                </a:rPr>
                <a:t>ρ={R}</a:t>
              </a:r>
              <a:endParaRPr lang="zh-CN" altLang="en-US" sz="2800" b="1">
                <a:solidFill>
                  <a:srgbClr val="FFFF00"/>
                </a:solidFill>
                <a:cs typeface="Times New Roman" panose="02020603050405020304" pitchFamily="18" charset="0"/>
              </a:endParaRPr>
            </a:p>
          </p:txBody>
        </p:sp>
        <p:sp>
          <p:nvSpPr>
            <p:cNvPr id="628743" name="AutoShape 7">
              <a:extLst>
                <a:ext uri="{FF2B5EF4-FFF2-40B4-BE49-F238E27FC236}">
                  <a16:creationId xmlns:a16="http://schemas.microsoft.com/office/drawing/2014/main" id="{10CA7D70-33DD-45B6-81E1-C0CB6D446AA7}"/>
                </a:ext>
              </a:extLst>
            </p:cNvPr>
            <p:cNvSpPr>
              <a:spLocks noChangeArrowheads="1"/>
            </p:cNvSpPr>
            <p:nvPr/>
          </p:nvSpPr>
          <p:spPr bwMode="auto">
            <a:xfrm rot="16200000">
              <a:off x="2966" y="1965"/>
              <a:ext cx="136" cy="272"/>
            </a:xfrm>
            <a:prstGeom prst="downArrow">
              <a:avLst>
                <a:gd name="adj1" fmla="val 50000"/>
                <a:gd name="adj2" fmla="val 50000"/>
              </a:avLst>
            </a:prstGeom>
            <a:solidFill>
              <a:srgbClr val="00FF00"/>
            </a:soli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628744" name="Text Box 8">
              <a:extLst>
                <a:ext uri="{FF2B5EF4-FFF2-40B4-BE49-F238E27FC236}">
                  <a16:creationId xmlns:a16="http://schemas.microsoft.com/office/drawing/2014/main" id="{66CE15AC-06EC-425A-BE07-A4931EAED03F}"/>
                </a:ext>
              </a:extLst>
            </p:cNvPr>
            <p:cNvSpPr txBox="1">
              <a:spLocks noChangeArrowheads="1"/>
            </p:cNvSpPr>
            <p:nvPr/>
          </p:nvSpPr>
          <p:spPr bwMode="auto">
            <a:xfrm>
              <a:off x="2849" y="1752"/>
              <a:ext cx="240" cy="32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Lst>
          </p:spPr>
          <p:txBody>
            <a:bodyPr wrap="none" lIns="0" rIns="0" anchor="ctr" anchorCtr="1"/>
            <a:lstStyle/>
            <a:p>
              <a:r>
                <a:rPr lang="en-US" altLang="zh-CN" sz="2800" b="1"/>
                <a:t>Y</a:t>
              </a:r>
            </a:p>
          </p:txBody>
        </p:sp>
      </p:grpSp>
      <p:grpSp>
        <p:nvGrpSpPr>
          <p:cNvPr id="628745" name="Group 9">
            <a:extLst>
              <a:ext uri="{FF2B5EF4-FFF2-40B4-BE49-F238E27FC236}">
                <a16:creationId xmlns:a16="http://schemas.microsoft.com/office/drawing/2014/main" id="{F1AB4D6F-9DB5-4BFB-8E55-A47FA359B40C}"/>
              </a:ext>
            </a:extLst>
          </p:cNvPr>
          <p:cNvGrpSpPr>
            <a:grpSpLocks/>
          </p:cNvGrpSpPr>
          <p:nvPr/>
        </p:nvGrpSpPr>
        <p:grpSpPr bwMode="auto">
          <a:xfrm>
            <a:off x="4629150" y="3603625"/>
            <a:ext cx="1987550" cy="647700"/>
            <a:chOff x="2916" y="2496"/>
            <a:chExt cx="1252" cy="408"/>
          </a:xfrm>
        </p:grpSpPr>
        <p:sp>
          <p:nvSpPr>
            <p:cNvPr id="628746" name="Rectangle 10">
              <a:extLst>
                <a:ext uri="{FF2B5EF4-FFF2-40B4-BE49-F238E27FC236}">
                  <a16:creationId xmlns:a16="http://schemas.microsoft.com/office/drawing/2014/main" id="{B589B2FF-0B78-4DB3-9F20-A86D1E7A4A84}"/>
                </a:ext>
              </a:extLst>
            </p:cNvPr>
            <p:cNvSpPr>
              <a:spLocks noChangeArrowheads="1"/>
            </p:cNvSpPr>
            <p:nvPr/>
          </p:nvSpPr>
          <p:spPr bwMode="auto">
            <a:xfrm>
              <a:off x="3197" y="2496"/>
              <a:ext cx="971" cy="408"/>
            </a:xfrm>
            <a:prstGeom prst="rect">
              <a:avLst/>
            </a:prstGeom>
            <a:solidFill>
              <a:srgbClr val="000080"/>
            </a:solidFill>
            <a:ln w="25400" cap="sq">
              <a:solidFill>
                <a:schemeClr val="tx1"/>
              </a:solidFill>
              <a:miter lim="800000"/>
              <a:headEnd type="none" w="sm" len="sm"/>
              <a:tailEnd type="none" w="sm" len="sm"/>
            </a:ln>
            <a:effectLst>
              <a:outerShdw dist="71842" dir="2700000" algn="ctr" rotWithShape="0">
                <a:schemeClr val="tx1"/>
              </a:outerShdw>
            </a:effectLst>
          </p:spPr>
          <p:txBody>
            <a:bodyPr wrap="none" lIns="0" rIns="0" anchor="ctr" anchorCtr="1"/>
            <a:lstStyle/>
            <a:p>
              <a:pPr algn="ctr"/>
              <a:r>
                <a:rPr lang="en-US" altLang="zh-CN" sz="2800" b="1">
                  <a:solidFill>
                    <a:srgbClr val="FFFF00"/>
                  </a:solidFill>
                  <a:cs typeface="Times New Roman" panose="02020603050405020304" pitchFamily="18" charset="0"/>
                </a:rPr>
                <a:t>R</a:t>
              </a:r>
              <a:r>
                <a:rPr lang="en-US" altLang="zh-CN" sz="2800" b="1" baseline="-25000">
                  <a:solidFill>
                    <a:srgbClr val="FFFF00"/>
                  </a:solidFill>
                  <a:cs typeface="Times New Roman" panose="02020603050405020304" pitchFamily="18" charset="0"/>
                </a:rPr>
                <a:t>1</a:t>
              </a:r>
              <a:r>
                <a:rPr lang="en-US" altLang="zh-CN" sz="2800" b="1">
                  <a:solidFill>
                    <a:srgbClr val="FFFF00"/>
                  </a:solidFill>
                  <a:cs typeface="Times New Roman" panose="02020603050405020304" pitchFamily="18" charset="0"/>
                </a:rPr>
                <a:t>(U</a:t>
              </a:r>
              <a:r>
                <a:rPr lang="en-US" altLang="zh-CN" sz="2800" b="1" baseline="-25000">
                  <a:solidFill>
                    <a:srgbClr val="FFFF00"/>
                  </a:solidFill>
                  <a:cs typeface="Times New Roman" panose="02020603050405020304" pitchFamily="18" charset="0"/>
                </a:rPr>
                <a:t>1</a:t>
              </a:r>
              <a:r>
                <a:rPr lang="en-US" altLang="zh-CN" sz="2800" b="1">
                  <a:solidFill>
                    <a:srgbClr val="FFFF00"/>
                  </a:solidFill>
                  <a:cs typeface="Times New Roman" panose="02020603050405020304" pitchFamily="18" charset="0"/>
                </a:rPr>
                <a:t>)</a:t>
              </a:r>
              <a:endParaRPr lang="zh-CN" altLang="en-US" sz="2800" b="1">
                <a:solidFill>
                  <a:srgbClr val="FFFF00"/>
                </a:solidFill>
                <a:cs typeface="Times New Roman" panose="02020603050405020304" pitchFamily="18" charset="0"/>
              </a:endParaRPr>
            </a:p>
          </p:txBody>
        </p:sp>
        <p:sp>
          <p:nvSpPr>
            <p:cNvPr id="628747" name="AutoShape 11">
              <a:extLst>
                <a:ext uri="{FF2B5EF4-FFF2-40B4-BE49-F238E27FC236}">
                  <a16:creationId xmlns:a16="http://schemas.microsoft.com/office/drawing/2014/main" id="{7C98CE96-FBA8-4674-989E-E33D10FB99D3}"/>
                </a:ext>
              </a:extLst>
            </p:cNvPr>
            <p:cNvSpPr>
              <a:spLocks noChangeArrowheads="1"/>
            </p:cNvSpPr>
            <p:nvPr/>
          </p:nvSpPr>
          <p:spPr bwMode="auto">
            <a:xfrm rot="16200000">
              <a:off x="2984" y="2573"/>
              <a:ext cx="136" cy="272"/>
            </a:xfrm>
            <a:prstGeom prst="downArrow">
              <a:avLst>
                <a:gd name="adj1" fmla="val 50000"/>
                <a:gd name="adj2" fmla="val 50000"/>
              </a:avLst>
            </a:prstGeom>
            <a:solidFill>
              <a:srgbClr val="00FF00"/>
            </a:soli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grpSp>
      <p:grpSp>
        <p:nvGrpSpPr>
          <p:cNvPr id="628748" name="Group 12">
            <a:extLst>
              <a:ext uri="{FF2B5EF4-FFF2-40B4-BE49-F238E27FC236}">
                <a16:creationId xmlns:a16="http://schemas.microsoft.com/office/drawing/2014/main" id="{C97D36AD-2D4E-4CCC-B3EB-FD95F73FF188}"/>
              </a:ext>
            </a:extLst>
          </p:cNvPr>
          <p:cNvGrpSpPr>
            <a:grpSpLocks/>
          </p:cNvGrpSpPr>
          <p:nvPr/>
        </p:nvGrpSpPr>
        <p:grpSpPr bwMode="auto">
          <a:xfrm>
            <a:off x="971550" y="4281488"/>
            <a:ext cx="3598863" cy="776287"/>
            <a:chOff x="612" y="2923"/>
            <a:chExt cx="2267" cy="489"/>
          </a:xfrm>
        </p:grpSpPr>
        <p:sp>
          <p:nvSpPr>
            <p:cNvPr id="628749" name="AutoShape 13">
              <a:extLst>
                <a:ext uri="{FF2B5EF4-FFF2-40B4-BE49-F238E27FC236}">
                  <a16:creationId xmlns:a16="http://schemas.microsoft.com/office/drawing/2014/main" id="{1B7241BF-FB30-41BC-A3BD-4A82D65EB919}"/>
                </a:ext>
              </a:extLst>
            </p:cNvPr>
            <p:cNvSpPr>
              <a:spLocks noChangeArrowheads="1"/>
            </p:cNvSpPr>
            <p:nvPr/>
          </p:nvSpPr>
          <p:spPr bwMode="auto">
            <a:xfrm>
              <a:off x="1646" y="2923"/>
              <a:ext cx="136" cy="135"/>
            </a:xfrm>
            <a:prstGeom prst="downArrow">
              <a:avLst>
                <a:gd name="adj1" fmla="val 50000"/>
                <a:gd name="adj2" fmla="val 25000"/>
              </a:avLst>
            </a:prstGeom>
            <a:solidFill>
              <a:srgbClr val="00FF00"/>
            </a:soli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628750" name="Rectangle 14">
              <a:extLst>
                <a:ext uri="{FF2B5EF4-FFF2-40B4-BE49-F238E27FC236}">
                  <a16:creationId xmlns:a16="http://schemas.microsoft.com/office/drawing/2014/main" id="{6104FC9D-053E-4D41-A1C2-E72FAA269C56}"/>
                </a:ext>
              </a:extLst>
            </p:cNvPr>
            <p:cNvSpPr>
              <a:spLocks noChangeArrowheads="1"/>
            </p:cNvSpPr>
            <p:nvPr/>
          </p:nvSpPr>
          <p:spPr bwMode="auto">
            <a:xfrm>
              <a:off x="612" y="3072"/>
              <a:ext cx="2267" cy="340"/>
            </a:xfrm>
            <a:prstGeom prst="rect">
              <a:avLst/>
            </a:prstGeom>
            <a:solidFill>
              <a:srgbClr val="CCFFFF"/>
            </a:solidFill>
            <a:ln w="25400" cap="sq">
              <a:solidFill>
                <a:schemeClr val="tx1"/>
              </a:solidFill>
              <a:miter lim="800000"/>
              <a:headEnd type="none" w="sm" len="sm"/>
              <a:tailEnd type="none" w="sm" len="sm"/>
            </a:ln>
            <a:effectLst>
              <a:outerShdw dist="71842" dir="2700000" algn="ctr" rotWithShape="0">
                <a:schemeClr val="tx1"/>
              </a:outerShdw>
            </a:effectLst>
          </p:spPr>
          <p:txBody>
            <a:bodyPr wrap="none" lIns="0" rIns="0" anchor="ctr" anchorCtr="1"/>
            <a:lstStyle/>
            <a:p>
              <a:pPr algn="ctr"/>
              <a:r>
                <a:rPr lang="en-US" altLang="zh-CN" sz="2400" b="1">
                  <a:effectLst>
                    <a:outerShdw blurRad="38100" dist="38100" dir="2700000" algn="tl">
                      <a:srgbClr val="FFFFFF"/>
                    </a:outerShdw>
                  </a:effectLst>
                  <a:cs typeface="Times New Roman" panose="02020603050405020304" pitchFamily="18" charset="0"/>
                </a:rPr>
                <a:t>U= U-U</a:t>
              </a:r>
              <a:r>
                <a:rPr lang="en-US" altLang="zh-CN" sz="2400" b="1" baseline="-25000">
                  <a:effectLst>
                    <a:outerShdw blurRad="38100" dist="38100" dir="2700000" algn="tl">
                      <a:srgbClr val="FFFFFF"/>
                    </a:outerShdw>
                  </a:effectLst>
                  <a:cs typeface="Times New Roman" panose="02020603050405020304" pitchFamily="18" charset="0"/>
                </a:rPr>
                <a:t>1</a:t>
              </a:r>
            </a:p>
          </p:txBody>
        </p:sp>
      </p:grpSp>
      <p:grpSp>
        <p:nvGrpSpPr>
          <p:cNvPr id="628751" name="Group 15">
            <a:extLst>
              <a:ext uri="{FF2B5EF4-FFF2-40B4-BE49-F238E27FC236}">
                <a16:creationId xmlns:a16="http://schemas.microsoft.com/office/drawing/2014/main" id="{A18C71F7-3173-45E5-9E3E-78400E1402BA}"/>
              </a:ext>
            </a:extLst>
          </p:cNvPr>
          <p:cNvGrpSpPr>
            <a:grpSpLocks/>
          </p:cNvGrpSpPr>
          <p:nvPr/>
        </p:nvGrpSpPr>
        <p:grpSpPr bwMode="auto">
          <a:xfrm>
            <a:off x="900113" y="2465388"/>
            <a:ext cx="3671887" cy="769937"/>
            <a:chOff x="567" y="1779"/>
            <a:chExt cx="2313" cy="485"/>
          </a:xfrm>
        </p:grpSpPr>
        <p:sp>
          <p:nvSpPr>
            <p:cNvPr id="628752" name="AutoShape 16">
              <a:extLst>
                <a:ext uri="{FF2B5EF4-FFF2-40B4-BE49-F238E27FC236}">
                  <a16:creationId xmlns:a16="http://schemas.microsoft.com/office/drawing/2014/main" id="{C806DF92-2B8C-4901-8924-352E5D54EDB0}"/>
                </a:ext>
              </a:extLst>
            </p:cNvPr>
            <p:cNvSpPr>
              <a:spLocks noChangeArrowheads="1"/>
            </p:cNvSpPr>
            <p:nvPr/>
          </p:nvSpPr>
          <p:spPr bwMode="auto">
            <a:xfrm>
              <a:off x="1642" y="1779"/>
              <a:ext cx="136" cy="135"/>
            </a:xfrm>
            <a:prstGeom prst="downArrow">
              <a:avLst>
                <a:gd name="adj1" fmla="val 50000"/>
                <a:gd name="adj2" fmla="val 25000"/>
              </a:avLst>
            </a:prstGeom>
            <a:solidFill>
              <a:srgbClr val="00FF00"/>
            </a:soli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628753" name="AutoShape 17">
              <a:extLst>
                <a:ext uri="{FF2B5EF4-FFF2-40B4-BE49-F238E27FC236}">
                  <a16:creationId xmlns:a16="http://schemas.microsoft.com/office/drawing/2014/main" id="{9C185E37-4659-47AD-92EC-F3EDECF75259}"/>
                </a:ext>
              </a:extLst>
            </p:cNvPr>
            <p:cNvSpPr>
              <a:spLocks noChangeArrowheads="1"/>
            </p:cNvSpPr>
            <p:nvPr/>
          </p:nvSpPr>
          <p:spPr bwMode="auto">
            <a:xfrm>
              <a:off x="567" y="1924"/>
              <a:ext cx="2313" cy="340"/>
            </a:xfrm>
            <a:prstGeom prst="flowChartPreparation">
              <a:avLst/>
            </a:prstGeom>
            <a:solidFill>
              <a:srgbClr val="800080"/>
            </a:solidFill>
            <a:ln w="12700" cap="sq">
              <a:solidFill>
                <a:schemeClr val="tx1"/>
              </a:solidFill>
              <a:miter lim="800000"/>
              <a:headEnd type="none" w="sm" len="sm"/>
              <a:tailEnd type="none" w="sm" len="sm"/>
            </a:ln>
            <a:effectLst>
              <a:outerShdw dist="71842" dir="2700000" algn="ctr" rotWithShape="0">
                <a:schemeClr val="tx1"/>
              </a:outerShdw>
            </a:effectLst>
          </p:spPr>
          <p:txBody>
            <a:bodyPr wrap="none" anchor="ctr"/>
            <a:lstStyle/>
            <a:p>
              <a:pPr algn="ctr"/>
              <a:r>
                <a:rPr lang="en-US" altLang="zh-CN" sz="2400" b="1">
                  <a:solidFill>
                    <a:srgbClr val="00FFFF"/>
                  </a:solidFill>
                  <a:effectLst>
                    <a:outerShdw blurRad="38100" dist="38100" dir="2700000" algn="tl">
                      <a:srgbClr val="000000"/>
                    </a:outerShdw>
                  </a:effectLst>
                </a:rPr>
                <a:t>X→A</a:t>
              </a:r>
              <a:r>
                <a:rPr lang="en-US" altLang="zh-CN" sz="2400" b="1">
                  <a:solidFill>
                    <a:srgbClr val="00FFFF"/>
                  </a:solidFill>
                  <a:effectLst>
                    <a:outerShdw blurRad="38100" dist="38100" dir="2700000" algn="tl">
                      <a:srgbClr val="000000"/>
                    </a:outerShdw>
                  </a:effectLst>
                  <a:sym typeface="Symbol" panose="05050102010706020507" pitchFamily="18" charset="2"/>
                </a:rPr>
                <a:t></a:t>
              </a:r>
              <a:r>
                <a:rPr lang="en-US" altLang="zh-CN" sz="2400" b="1">
                  <a:solidFill>
                    <a:srgbClr val="00FFFF"/>
                  </a:solidFill>
                  <a:effectLst>
                    <a:outerShdw blurRad="38100" dist="38100" dir="2700000" algn="tl">
                      <a:srgbClr val="000000"/>
                    </a:outerShdw>
                  </a:effectLst>
                </a:rPr>
                <a:t>F,XA=R?</a:t>
              </a:r>
              <a:endParaRPr lang="zh-CN" altLang="en-US" b="1">
                <a:effectLst>
                  <a:outerShdw blurRad="38100" dist="38100" dir="2700000" algn="tl">
                    <a:srgbClr val="FFFFFF"/>
                  </a:outerShdw>
                </a:effectLst>
              </a:endParaRPr>
            </a:p>
          </p:txBody>
        </p:sp>
      </p:grpSp>
      <p:grpSp>
        <p:nvGrpSpPr>
          <p:cNvPr id="628754" name="Group 18">
            <a:extLst>
              <a:ext uri="{FF2B5EF4-FFF2-40B4-BE49-F238E27FC236}">
                <a16:creationId xmlns:a16="http://schemas.microsoft.com/office/drawing/2014/main" id="{FC7037F1-4CD1-4EEA-8CA7-44CE3AEA0FF2}"/>
              </a:ext>
            </a:extLst>
          </p:cNvPr>
          <p:cNvGrpSpPr>
            <a:grpSpLocks/>
          </p:cNvGrpSpPr>
          <p:nvPr/>
        </p:nvGrpSpPr>
        <p:grpSpPr bwMode="auto">
          <a:xfrm>
            <a:off x="973138" y="3186113"/>
            <a:ext cx="3598862" cy="1022350"/>
            <a:chOff x="613" y="2233"/>
            <a:chExt cx="2267" cy="644"/>
          </a:xfrm>
        </p:grpSpPr>
        <p:sp>
          <p:nvSpPr>
            <p:cNvPr id="628755" name="AutoShape 19">
              <a:extLst>
                <a:ext uri="{FF2B5EF4-FFF2-40B4-BE49-F238E27FC236}">
                  <a16:creationId xmlns:a16="http://schemas.microsoft.com/office/drawing/2014/main" id="{3CD1B688-DD2E-4F29-BBBE-B473DF537C43}"/>
                </a:ext>
              </a:extLst>
            </p:cNvPr>
            <p:cNvSpPr>
              <a:spLocks noChangeArrowheads="1"/>
            </p:cNvSpPr>
            <p:nvPr/>
          </p:nvSpPr>
          <p:spPr bwMode="auto">
            <a:xfrm>
              <a:off x="1638" y="2297"/>
              <a:ext cx="145" cy="217"/>
            </a:xfrm>
            <a:prstGeom prst="downArrow">
              <a:avLst>
                <a:gd name="adj1" fmla="val 50000"/>
                <a:gd name="adj2" fmla="val 37414"/>
              </a:avLst>
            </a:prstGeom>
            <a:solidFill>
              <a:srgbClr val="00FF00"/>
            </a:soli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628756" name="Rectangle 20">
              <a:extLst>
                <a:ext uri="{FF2B5EF4-FFF2-40B4-BE49-F238E27FC236}">
                  <a16:creationId xmlns:a16="http://schemas.microsoft.com/office/drawing/2014/main" id="{61DE15F9-3C01-4D59-B48C-255626A67E47}"/>
                </a:ext>
              </a:extLst>
            </p:cNvPr>
            <p:cNvSpPr>
              <a:spLocks noChangeArrowheads="1"/>
            </p:cNvSpPr>
            <p:nvPr/>
          </p:nvSpPr>
          <p:spPr bwMode="auto">
            <a:xfrm>
              <a:off x="613" y="2537"/>
              <a:ext cx="2267" cy="340"/>
            </a:xfrm>
            <a:prstGeom prst="rect">
              <a:avLst/>
            </a:prstGeom>
            <a:solidFill>
              <a:srgbClr val="CCFFFF"/>
            </a:solidFill>
            <a:ln w="25400" cap="sq">
              <a:solidFill>
                <a:schemeClr val="tx1"/>
              </a:solidFill>
              <a:miter lim="800000"/>
              <a:headEnd type="none" w="sm" len="sm"/>
              <a:tailEnd type="none" w="sm" len="sm"/>
            </a:ln>
            <a:effectLst>
              <a:outerShdw dist="71842" dir="2700000" algn="ctr" rotWithShape="0">
                <a:schemeClr val="tx1"/>
              </a:outerShdw>
            </a:effectLst>
          </p:spPr>
          <p:txBody>
            <a:bodyPr wrap="none" lIns="0" rIns="0" anchor="ctr" anchorCtr="1"/>
            <a:lstStyle/>
            <a:p>
              <a:pPr algn="ctr"/>
              <a:r>
                <a:rPr lang="en-US" altLang="en-US" sz="2400" b="1">
                  <a:effectLst>
                    <a:outerShdw blurRad="38100" dist="38100" dir="2700000" algn="tl">
                      <a:srgbClr val="FFFFFF"/>
                    </a:outerShdw>
                  </a:effectLst>
                  <a:cs typeface="Times New Roman" panose="02020603050405020304" pitchFamily="18" charset="0"/>
                </a:rPr>
                <a:t>R</a:t>
              </a:r>
              <a:r>
                <a:rPr lang="zh-CN" altLang="en-US" sz="2400" b="1">
                  <a:effectLst>
                    <a:outerShdw blurRad="38100" dist="38100" dir="2700000" algn="tl">
                      <a:srgbClr val="FFFFFF"/>
                    </a:outerShdw>
                  </a:effectLst>
                  <a:cs typeface="Times New Roman" panose="02020603050405020304" pitchFamily="18" charset="0"/>
                </a:rPr>
                <a:t>中</a:t>
              </a:r>
              <a:r>
                <a:rPr lang="en-US" altLang="en-US" sz="2400" b="1">
                  <a:effectLst>
                    <a:outerShdw blurRad="38100" dist="38100" dir="2700000" algn="tl">
                      <a:srgbClr val="FFFFFF"/>
                    </a:outerShdw>
                  </a:effectLst>
                  <a:cs typeface="Times New Roman" panose="02020603050405020304" pitchFamily="18" charset="0"/>
                </a:rPr>
                <a:t>不出现在F中的属性</a:t>
              </a:r>
              <a:endParaRPr lang="zh-CN" altLang="en-US" sz="2400" b="1">
                <a:effectLst>
                  <a:outerShdw blurRad="38100" dist="38100" dir="2700000" algn="tl">
                    <a:srgbClr val="FFFFFF"/>
                  </a:outerShdw>
                </a:effectLst>
                <a:cs typeface="Times New Roman" panose="02020603050405020304" pitchFamily="18" charset="0"/>
              </a:endParaRPr>
            </a:p>
          </p:txBody>
        </p:sp>
        <p:sp>
          <p:nvSpPr>
            <p:cNvPr id="628757" name="Text Box 21">
              <a:extLst>
                <a:ext uri="{FF2B5EF4-FFF2-40B4-BE49-F238E27FC236}">
                  <a16:creationId xmlns:a16="http://schemas.microsoft.com/office/drawing/2014/main" id="{0D4339B3-D85F-45B2-943C-395CA66CC0B8}"/>
                </a:ext>
              </a:extLst>
            </p:cNvPr>
            <p:cNvSpPr txBox="1">
              <a:spLocks noChangeArrowheads="1"/>
            </p:cNvSpPr>
            <p:nvPr/>
          </p:nvSpPr>
          <p:spPr bwMode="auto">
            <a:xfrm>
              <a:off x="1792" y="2233"/>
              <a:ext cx="240" cy="32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Lst>
          </p:spPr>
          <p:txBody>
            <a:bodyPr wrap="none" lIns="0" rIns="0" anchor="ctr" anchorCtr="1"/>
            <a:lstStyle/>
            <a:p>
              <a:r>
                <a:rPr lang="en-US" altLang="zh-CN" sz="2800" b="1"/>
                <a:t>N</a:t>
              </a:r>
            </a:p>
          </p:txBody>
        </p:sp>
      </p:grpSp>
      <p:grpSp>
        <p:nvGrpSpPr>
          <p:cNvPr id="628758" name="Group 22">
            <a:extLst>
              <a:ext uri="{FF2B5EF4-FFF2-40B4-BE49-F238E27FC236}">
                <a16:creationId xmlns:a16="http://schemas.microsoft.com/office/drawing/2014/main" id="{6CFBF04E-5933-4058-BED8-501E71ECA096}"/>
              </a:ext>
            </a:extLst>
          </p:cNvPr>
          <p:cNvGrpSpPr>
            <a:grpSpLocks/>
          </p:cNvGrpSpPr>
          <p:nvPr/>
        </p:nvGrpSpPr>
        <p:grpSpPr bwMode="auto">
          <a:xfrm>
            <a:off x="973138" y="5102225"/>
            <a:ext cx="3598862" cy="1136650"/>
            <a:chOff x="613" y="3440"/>
            <a:chExt cx="2267" cy="716"/>
          </a:xfrm>
        </p:grpSpPr>
        <p:sp>
          <p:nvSpPr>
            <p:cNvPr id="628759" name="AutoShape 23">
              <a:extLst>
                <a:ext uri="{FF2B5EF4-FFF2-40B4-BE49-F238E27FC236}">
                  <a16:creationId xmlns:a16="http://schemas.microsoft.com/office/drawing/2014/main" id="{62518B33-FF88-4CD9-85DA-9EE47E214F51}"/>
                </a:ext>
              </a:extLst>
            </p:cNvPr>
            <p:cNvSpPr>
              <a:spLocks noChangeArrowheads="1"/>
            </p:cNvSpPr>
            <p:nvPr/>
          </p:nvSpPr>
          <p:spPr bwMode="auto">
            <a:xfrm>
              <a:off x="1647" y="3440"/>
              <a:ext cx="136" cy="135"/>
            </a:xfrm>
            <a:prstGeom prst="downArrow">
              <a:avLst>
                <a:gd name="adj1" fmla="val 50000"/>
                <a:gd name="adj2" fmla="val 25000"/>
              </a:avLst>
            </a:prstGeom>
            <a:solidFill>
              <a:srgbClr val="00FF00"/>
            </a:soli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628760" name="Rectangle 24">
              <a:extLst>
                <a:ext uri="{FF2B5EF4-FFF2-40B4-BE49-F238E27FC236}">
                  <a16:creationId xmlns:a16="http://schemas.microsoft.com/office/drawing/2014/main" id="{2070E4DC-8C5C-4A32-AB66-19B0D7E17C0C}"/>
                </a:ext>
              </a:extLst>
            </p:cNvPr>
            <p:cNvSpPr>
              <a:spLocks noChangeArrowheads="1"/>
            </p:cNvSpPr>
            <p:nvPr/>
          </p:nvSpPr>
          <p:spPr bwMode="auto">
            <a:xfrm>
              <a:off x="613" y="3589"/>
              <a:ext cx="2267" cy="567"/>
            </a:xfrm>
            <a:prstGeom prst="rect">
              <a:avLst/>
            </a:prstGeom>
            <a:solidFill>
              <a:srgbClr val="CCFFFF"/>
            </a:solidFill>
            <a:ln w="25400" cap="sq">
              <a:solidFill>
                <a:schemeClr val="tx1"/>
              </a:solidFill>
              <a:miter lim="800000"/>
              <a:headEnd type="none" w="sm" len="sm"/>
              <a:tailEnd type="none" w="sm" len="sm"/>
            </a:ln>
            <a:effectLst>
              <a:outerShdw dist="71842" dir="2700000" algn="ctr" rotWithShape="0">
                <a:schemeClr val="tx1"/>
              </a:outerShdw>
            </a:effectLst>
          </p:spPr>
          <p:txBody>
            <a:bodyPr lIns="0" rIns="0" anchor="ctr" anchorCtr="1"/>
            <a:lstStyle/>
            <a:p>
              <a:pPr algn="ctr"/>
              <a:r>
                <a:rPr lang="zh-CN" altLang="en-US" sz="2400" b="1">
                  <a:effectLst>
                    <a:outerShdw blurRad="38100" dist="38100" dir="2700000" algn="tl">
                      <a:srgbClr val="FFFFFF"/>
                    </a:outerShdw>
                  </a:effectLst>
                  <a:cs typeface="Times New Roman" panose="02020603050405020304" pitchFamily="18" charset="0"/>
                </a:rPr>
                <a:t>将</a:t>
              </a:r>
              <a:r>
                <a:rPr lang="en-US" altLang="zh-CN" sz="2400" b="1">
                  <a:effectLst>
                    <a:outerShdw blurRad="38100" dist="38100" dir="2700000" algn="tl">
                      <a:srgbClr val="FFFFFF"/>
                    </a:outerShdw>
                  </a:effectLst>
                  <a:cs typeface="Times New Roman" panose="02020603050405020304" pitchFamily="18" charset="0"/>
                </a:rPr>
                <a:t>F</a:t>
              </a:r>
              <a:r>
                <a:rPr lang="zh-CN" altLang="en-US" sz="2400" b="1">
                  <a:effectLst>
                    <a:outerShdw blurRad="38100" dist="38100" dir="2700000" algn="tl">
                      <a:srgbClr val="FFFFFF"/>
                    </a:outerShdw>
                  </a:effectLst>
                  <a:cs typeface="Times New Roman" panose="02020603050405020304" pitchFamily="18" charset="0"/>
                </a:rPr>
                <a:t>中具有相同左部的</a:t>
              </a:r>
              <a:r>
                <a:rPr lang="en-US" altLang="zh-CN" sz="2400" b="1">
                  <a:effectLst>
                    <a:outerShdw blurRad="38100" dist="38100" dir="2700000" algn="tl">
                      <a:srgbClr val="FFFFFF"/>
                    </a:outerShdw>
                  </a:effectLst>
                  <a:cs typeface="Times New Roman" panose="02020603050405020304" pitchFamily="18" charset="0"/>
                </a:rPr>
                <a:t>FD</a:t>
              </a:r>
              <a:r>
                <a:rPr lang="zh-CN" altLang="zh-CN" sz="2400" b="1">
                  <a:effectLst>
                    <a:outerShdw blurRad="38100" dist="38100" dir="2700000" algn="tl">
                      <a:srgbClr val="FFFFFF"/>
                    </a:outerShdw>
                  </a:effectLst>
                  <a:cs typeface="Times New Roman" panose="02020603050405020304" pitchFamily="18" charset="0"/>
                </a:rPr>
                <a:t>合并成一个FD</a:t>
              </a:r>
              <a:endParaRPr lang="en-US" altLang="zh-CN" sz="2400" b="1">
                <a:effectLst>
                  <a:outerShdw blurRad="38100" dist="38100" dir="2700000" algn="tl">
                    <a:srgbClr val="FFFFFF"/>
                  </a:outerShdw>
                </a:effectLst>
                <a:cs typeface="Times New Roman" panose="02020603050405020304" pitchFamily="18" charset="0"/>
              </a:endParaRPr>
            </a:p>
          </p:txBody>
        </p:sp>
      </p:grpSp>
      <p:grpSp>
        <p:nvGrpSpPr>
          <p:cNvPr id="628761" name="Group 25">
            <a:extLst>
              <a:ext uri="{FF2B5EF4-FFF2-40B4-BE49-F238E27FC236}">
                <a16:creationId xmlns:a16="http://schemas.microsoft.com/office/drawing/2014/main" id="{93FBCF3A-D021-4B80-87BC-FD2B86FAFA5A}"/>
              </a:ext>
            </a:extLst>
          </p:cNvPr>
          <p:cNvGrpSpPr>
            <a:grpSpLocks/>
          </p:cNvGrpSpPr>
          <p:nvPr/>
        </p:nvGrpSpPr>
        <p:grpSpPr bwMode="auto">
          <a:xfrm>
            <a:off x="4643438" y="5511800"/>
            <a:ext cx="2016125" cy="539750"/>
            <a:chOff x="2925" y="3698"/>
            <a:chExt cx="1270" cy="340"/>
          </a:xfrm>
        </p:grpSpPr>
        <p:sp>
          <p:nvSpPr>
            <p:cNvPr id="628762" name="AutoShape 26">
              <a:extLst>
                <a:ext uri="{FF2B5EF4-FFF2-40B4-BE49-F238E27FC236}">
                  <a16:creationId xmlns:a16="http://schemas.microsoft.com/office/drawing/2014/main" id="{A904E0EC-D330-4F3A-8532-90649EB21EB8}"/>
                </a:ext>
              </a:extLst>
            </p:cNvPr>
            <p:cNvSpPr>
              <a:spLocks noChangeArrowheads="1"/>
            </p:cNvSpPr>
            <p:nvPr/>
          </p:nvSpPr>
          <p:spPr bwMode="auto">
            <a:xfrm>
              <a:off x="3197" y="3698"/>
              <a:ext cx="998" cy="340"/>
            </a:xfrm>
            <a:prstGeom prst="flowChartPreparation">
              <a:avLst/>
            </a:prstGeom>
            <a:solidFill>
              <a:srgbClr val="800080"/>
            </a:solidFill>
            <a:ln w="12700" cap="sq">
              <a:solidFill>
                <a:schemeClr val="tx1"/>
              </a:solidFill>
              <a:miter lim="800000"/>
              <a:headEnd type="none" w="sm" len="sm"/>
              <a:tailEnd type="none" w="sm" len="sm"/>
            </a:ln>
            <a:effectLst>
              <a:outerShdw dist="71842" dir="2700000" algn="ctr" rotWithShape="0">
                <a:schemeClr val="tx1"/>
              </a:outerShdw>
            </a:effectLst>
          </p:spPr>
          <p:txBody>
            <a:bodyPr wrap="none" anchor="ctr"/>
            <a:lstStyle/>
            <a:p>
              <a:pPr algn="ctr"/>
              <a:r>
                <a:rPr lang="zh-CN" altLang="en-US" sz="2400" b="1">
                  <a:solidFill>
                    <a:srgbClr val="00FFFF"/>
                  </a:solidFill>
                  <a:effectLst>
                    <a:outerShdw blurRad="38100" dist="38100" dir="2700000" algn="tl">
                      <a:srgbClr val="000000"/>
                    </a:outerShdw>
                  </a:effectLst>
                </a:rPr>
                <a:t>分解</a:t>
              </a:r>
            </a:p>
          </p:txBody>
        </p:sp>
        <p:sp>
          <p:nvSpPr>
            <p:cNvPr id="628763" name="AutoShape 27">
              <a:extLst>
                <a:ext uri="{FF2B5EF4-FFF2-40B4-BE49-F238E27FC236}">
                  <a16:creationId xmlns:a16="http://schemas.microsoft.com/office/drawing/2014/main" id="{E16F2E26-065D-46DF-A53A-9EFBA8C28FC9}"/>
                </a:ext>
              </a:extLst>
            </p:cNvPr>
            <p:cNvSpPr>
              <a:spLocks noChangeArrowheads="1"/>
            </p:cNvSpPr>
            <p:nvPr/>
          </p:nvSpPr>
          <p:spPr bwMode="auto">
            <a:xfrm rot="16200000">
              <a:off x="2993" y="3725"/>
              <a:ext cx="136" cy="272"/>
            </a:xfrm>
            <a:prstGeom prst="downArrow">
              <a:avLst>
                <a:gd name="adj1" fmla="val 50000"/>
                <a:gd name="adj2" fmla="val 50000"/>
              </a:avLst>
            </a:prstGeom>
            <a:solidFill>
              <a:srgbClr val="00FF00"/>
            </a:soli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grpSp>
      <p:grpSp>
        <p:nvGrpSpPr>
          <p:cNvPr id="628764" name="Group 28">
            <a:extLst>
              <a:ext uri="{FF2B5EF4-FFF2-40B4-BE49-F238E27FC236}">
                <a16:creationId xmlns:a16="http://schemas.microsoft.com/office/drawing/2014/main" id="{EE4E4784-5152-44B5-B435-1201A69EF981}"/>
              </a:ext>
            </a:extLst>
          </p:cNvPr>
          <p:cNvGrpSpPr>
            <a:grpSpLocks/>
          </p:cNvGrpSpPr>
          <p:nvPr/>
        </p:nvGrpSpPr>
        <p:grpSpPr bwMode="auto">
          <a:xfrm>
            <a:off x="6659563" y="5511800"/>
            <a:ext cx="1671637" cy="539750"/>
            <a:chOff x="4195" y="3698"/>
            <a:chExt cx="1053" cy="340"/>
          </a:xfrm>
        </p:grpSpPr>
        <p:sp>
          <p:nvSpPr>
            <p:cNvPr id="628765" name="Rectangle 29">
              <a:extLst>
                <a:ext uri="{FF2B5EF4-FFF2-40B4-BE49-F238E27FC236}">
                  <a16:creationId xmlns:a16="http://schemas.microsoft.com/office/drawing/2014/main" id="{B604A199-B063-4721-9E25-AF746C672C6F}"/>
                </a:ext>
              </a:extLst>
            </p:cNvPr>
            <p:cNvSpPr>
              <a:spLocks noChangeArrowheads="1"/>
            </p:cNvSpPr>
            <p:nvPr/>
          </p:nvSpPr>
          <p:spPr bwMode="auto">
            <a:xfrm>
              <a:off x="4477" y="3698"/>
              <a:ext cx="771" cy="340"/>
            </a:xfrm>
            <a:prstGeom prst="rect">
              <a:avLst/>
            </a:prstGeom>
            <a:solidFill>
              <a:srgbClr val="CCFFFF"/>
            </a:solidFill>
            <a:ln w="25400" cap="sq">
              <a:solidFill>
                <a:schemeClr val="tx1"/>
              </a:solidFill>
              <a:miter lim="800000"/>
              <a:headEnd type="none" w="sm" len="sm"/>
              <a:tailEnd type="none" w="sm" len="sm"/>
            </a:ln>
            <a:effectLst>
              <a:outerShdw dist="71842" dir="2700000" algn="ctr" rotWithShape="0">
                <a:schemeClr val="tx1"/>
              </a:outerShdw>
            </a:effectLst>
          </p:spPr>
          <p:txBody>
            <a:bodyPr wrap="none" lIns="0" rIns="0" anchor="ctr" anchorCtr="1"/>
            <a:lstStyle/>
            <a:p>
              <a:pPr algn="ctr"/>
              <a:r>
                <a:rPr lang="en-US" altLang="zh-CN" sz="2400" b="1">
                  <a:solidFill>
                    <a:srgbClr val="000000"/>
                  </a:solidFill>
                  <a:effectLst>
                    <a:outerShdw blurRad="38100" dist="38100" dir="2700000" algn="tl">
                      <a:srgbClr val="FFFFFF"/>
                    </a:outerShdw>
                  </a:effectLst>
                </a:rPr>
                <a:t>X→Y</a:t>
              </a:r>
              <a:endParaRPr lang="zh-CN" altLang="en-US" sz="2400" b="1">
                <a:solidFill>
                  <a:srgbClr val="000000"/>
                </a:solidFill>
                <a:effectLst>
                  <a:outerShdw blurRad="38100" dist="38100" dir="2700000" algn="tl">
                    <a:srgbClr val="FFFFFF"/>
                  </a:outerShdw>
                </a:effectLst>
              </a:endParaRPr>
            </a:p>
          </p:txBody>
        </p:sp>
        <p:sp>
          <p:nvSpPr>
            <p:cNvPr id="628766" name="AutoShape 30">
              <a:extLst>
                <a:ext uri="{FF2B5EF4-FFF2-40B4-BE49-F238E27FC236}">
                  <a16:creationId xmlns:a16="http://schemas.microsoft.com/office/drawing/2014/main" id="{55F965F2-4DCB-4AA5-BE48-E9D0D528CE0D}"/>
                </a:ext>
              </a:extLst>
            </p:cNvPr>
            <p:cNvSpPr>
              <a:spLocks noChangeArrowheads="1"/>
            </p:cNvSpPr>
            <p:nvPr/>
          </p:nvSpPr>
          <p:spPr bwMode="auto">
            <a:xfrm rot="16200000">
              <a:off x="4263" y="3725"/>
              <a:ext cx="136" cy="272"/>
            </a:xfrm>
            <a:prstGeom prst="downArrow">
              <a:avLst>
                <a:gd name="adj1" fmla="val 50000"/>
                <a:gd name="adj2" fmla="val 50000"/>
              </a:avLst>
            </a:prstGeom>
            <a:solidFill>
              <a:srgbClr val="00FF00"/>
            </a:soli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grpSp>
      <p:grpSp>
        <p:nvGrpSpPr>
          <p:cNvPr id="628767" name="Group 31">
            <a:extLst>
              <a:ext uri="{FF2B5EF4-FFF2-40B4-BE49-F238E27FC236}">
                <a16:creationId xmlns:a16="http://schemas.microsoft.com/office/drawing/2014/main" id="{1238C4B6-9834-4D78-A5E4-AF7A3C7D633B}"/>
              </a:ext>
            </a:extLst>
          </p:cNvPr>
          <p:cNvGrpSpPr>
            <a:grpSpLocks/>
          </p:cNvGrpSpPr>
          <p:nvPr/>
        </p:nvGrpSpPr>
        <p:grpSpPr bwMode="auto">
          <a:xfrm>
            <a:off x="6948488" y="4294188"/>
            <a:ext cx="1512887" cy="1195387"/>
            <a:chOff x="4377" y="2931"/>
            <a:chExt cx="953" cy="753"/>
          </a:xfrm>
        </p:grpSpPr>
        <p:sp>
          <p:nvSpPr>
            <p:cNvPr id="628768" name="Rectangle 32">
              <a:extLst>
                <a:ext uri="{FF2B5EF4-FFF2-40B4-BE49-F238E27FC236}">
                  <a16:creationId xmlns:a16="http://schemas.microsoft.com/office/drawing/2014/main" id="{2CFA3A57-6A25-4C49-B790-EFF4289D2504}"/>
                </a:ext>
              </a:extLst>
            </p:cNvPr>
            <p:cNvSpPr>
              <a:spLocks noChangeArrowheads="1"/>
            </p:cNvSpPr>
            <p:nvPr/>
          </p:nvSpPr>
          <p:spPr bwMode="auto">
            <a:xfrm>
              <a:off x="4377" y="2931"/>
              <a:ext cx="953" cy="408"/>
            </a:xfrm>
            <a:prstGeom prst="rect">
              <a:avLst/>
            </a:prstGeom>
            <a:solidFill>
              <a:srgbClr val="000080"/>
            </a:solidFill>
            <a:ln w="25400" cap="sq">
              <a:solidFill>
                <a:schemeClr val="tx1"/>
              </a:solidFill>
              <a:miter lim="800000"/>
              <a:headEnd type="none" w="sm" len="sm"/>
              <a:tailEnd type="none" w="sm" len="sm"/>
            </a:ln>
            <a:effectLst>
              <a:outerShdw dist="71842" dir="2700000" algn="ctr" rotWithShape="0">
                <a:schemeClr val="tx1"/>
              </a:outerShdw>
            </a:effectLst>
          </p:spPr>
          <p:txBody>
            <a:bodyPr wrap="none" lIns="0" rIns="0" anchor="ctr" anchorCtr="1"/>
            <a:lstStyle/>
            <a:p>
              <a:pPr algn="ctr"/>
              <a:r>
                <a:rPr lang="en-US" altLang="zh-CN" sz="2800" b="1">
                  <a:solidFill>
                    <a:srgbClr val="FFFF00"/>
                  </a:solidFill>
                  <a:cs typeface="Times New Roman" panose="02020603050405020304" pitchFamily="18" charset="0"/>
                </a:rPr>
                <a:t>R</a:t>
              </a:r>
              <a:r>
                <a:rPr lang="en-US" altLang="zh-CN" sz="2800" b="1" baseline="-25000">
                  <a:solidFill>
                    <a:srgbClr val="FFFF00"/>
                  </a:solidFill>
                  <a:cs typeface="Times New Roman" panose="02020603050405020304" pitchFamily="18" charset="0"/>
                </a:rPr>
                <a:t>i</a:t>
              </a:r>
              <a:r>
                <a:rPr lang="en-US" altLang="zh-CN" sz="2800" b="1">
                  <a:solidFill>
                    <a:srgbClr val="FFFF00"/>
                  </a:solidFill>
                  <a:cs typeface="Times New Roman" panose="02020603050405020304" pitchFamily="18" charset="0"/>
                </a:rPr>
                <a:t>(XY)</a:t>
              </a:r>
              <a:endParaRPr lang="zh-CN" altLang="en-US" sz="2800" b="1">
                <a:solidFill>
                  <a:srgbClr val="FFFF00"/>
                </a:solidFill>
                <a:cs typeface="Times New Roman" panose="02020603050405020304" pitchFamily="18" charset="0"/>
              </a:endParaRPr>
            </a:p>
          </p:txBody>
        </p:sp>
        <p:sp>
          <p:nvSpPr>
            <p:cNvPr id="628769" name="AutoShape 33">
              <a:extLst>
                <a:ext uri="{FF2B5EF4-FFF2-40B4-BE49-F238E27FC236}">
                  <a16:creationId xmlns:a16="http://schemas.microsoft.com/office/drawing/2014/main" id="{E09300A1-0318-41CD-A305-43532E5076DD}"/>
                </a:ext>
              </a:extLst>
            </p:cNvPr>
            <p:cNvSpPr>
              <a:spLocks noChangeArrowheads="1"/>
            </p:cNvSpPr>
            <p:nvPr/>
          </p:nvSpPr>
          <p:spPr bwMode="auto">
            <a:xfrm rot="10800000">
              <a:off x="4740" y="3385"/>
              <a:ext cx="145" cy="299"/>
            </a:xfrm>
            <a:prstGeom prst="downArrow">
              <a:avLst>
                <a:gd name="adj1" fmla="val 50000"/>
                <a:gd name="adj2" fmla="val 51552"/>
              </a:avLst>
            </a:prstGeom>
            <a:solidFill>
              <a:srgbClr val="00FF00"/>
            </a:soli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grpSp>
      <p:sp>
        <p:nvSpPr>
          <p:cNvPr id="628770" name="Oval 34">
            <a:extLst>
              <a:ext uri="{FF2B5EF4-FFF2-40B4-BE49-F238E27FC236}">
                <a16:creationId xmlns:a16="http://schemas.microsoft.com/office/drawing/2014/main" id="{3D3F3C6D-F80C-4003-A81D-7389EAAC8CAC}"/>
              </a:ext>
            </a:extLst>
          </p:cNvPr>
          <p:cNvSpPr>
            <a:spLocks noChangeArrowheads="1"/>
          </p:cNvSpPr>
          <p:nvPr/>
        </p:nvSpPr>
        <p:spPr bwMode="auto">
          <a:xfrm rot="600000">
            <a:off x="4714875" y="3357563"/>
            <a:ext cx="4032250" cy="1800225"/>
          </a:xfrm>
          <a:prstGeom prst="ellipse">
            <a:avLst/>
          </a:prstGeom>
          <a:noFill/>
          <a:ln w="38100" cap="sq">
            <a:solidFill>
              <a:srgbClr val="FF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628771" name="AutoShape 35">
            <a:extLst>
              <a:ext uri="{FF2B5EF4-FFF2-40B4-BE49-F238E27FC236}">
                <a16:creationId xmlns:a16="http://schemas.microsoft.com/office/drawing/2014/main" id="{0E1AABAE-B385-4ADA-A32B-A43B1BB61DF5}"/>
              </a:ext>
            </a:extLst>
          </p:cNvPr>
          <p:cNvSpPr>
            <a:spLocks noChangeArrowheads="1"/>
          </p:cNvSpPr>
          <p:nvPr/>
        </p:nvSpPr>
        <p:spPr bwMode="auto">
          <a:xfrm>
            <a:off x="7380288" y="2349500"/>
            <a:ext cx="1368425" cy="720725"/>
          </a:xfrm>
          <a:prstGeom prst="wedgeRoundRectCallout">
            <a:avLst>
              <a:gd name="adj1" fmla="val -34106"/>
              <a:gd name="adj2" fmla="val 117181"/>
              <a:gd name="adj3" fmla="val 16667"/>
            </a:avLst>
          </a:prstGeom>
          <a:solidFill>
            <a:srgbClr val="00FFFF"/>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nchorCtr="1"/>
          <a:lstStyle/>
          <a:p>
            <a:pPr algn="ctr"/>
            <a:r>
              <a:rPr lang="en-US" altLang="zh-CN" sz="3200" b="1">
                <a:solidFill>
                  <a:srgbClr val="993366"/>
                </a:solidFill>
                <a:effectLst>
                  <a:outerShdw blurRad="38100" dist="38100" dir="2700000" algn="tl">
                    <a:srgbClr val="000000"/>
                  </a:outerShdw>
                </a:effectLst>
                <a:cs typeface="Times New Roman" panose="02020603050405020304" pitchFamily="18" charset="0"/>
              </a:rPr>
              <a:t>ρ</a:t>
            </a:r>
          </a:p>
        </p:txBody>
      </p:sp>
      <p:sp>
        <p:nvSpPr>
          <p:cNvPr id="628772" name="Rectangle 36">
            <a:extLst>
              <a:ext uri="{FF2B5EF4-FFF2-40B4-BE49-F238E27FC236}">
                <a16:creationId xmlns:a16="http://schemas.microsoft.com/office/drawing/2014/main" id="{A27B1420-831D-4AF0-A29A-1C05219BDF65}"/>
              </a:ext>
            </a:extLst>
          </p:cNvPr>
          <p:cNvSpPr>
            <a:spLocks noGrp="1" noChangeArrowheads="1"/>
          </p:cNvSpPr>
          <p:nvPr>
            <p:ph type="title"/>
          </p:nvPr>
        </p:nvSpPr>
        <p:spPr/>
        <p:txBody>
          <a:bodyPr/>
          <a:lstStyle/>
          <a:p>
            <a:r>
              <a:rPr lang="zh-CN" altLang="en-US"/>
              <a:t>四、第三范式</a:t>
            </a:r>
          </a:p>
        </p:txBody>
      </p:sp>
      <p:sp>
        <p:nvSpPr>
          <p:cNvPr id="628773" name="Rectangle 37">
            <a:extLst>
              <a:ext uri="{FF2B5EF4-FFF2-40B4-BE49-F238E27FC236}">
                <a16:creationId xmlns:a16="http://schemas.microsoft.com/office/drawing/2014/main" id="{814372F4-3975-4F9C-BC09-8468D23EE75B}"/>
              </a:ext>
            </a:extLst>
          </p:cNvPr>
          <p:cNvSpPr>
            <a:spLocks noGrp="1" noChangeArrowheads="1"/>
          </p:cNvSpPr>
          <p:nvPr>
            <p:ph type="body" idx="1"/>
          </p:nvPr>
        </p:nvSpPr>
        <p:spPr/>
        <p:txBody>
          <a:bodyPr/>
          <a:lstStyle/>
          <a:p>
            <a:r>
              <a:rPr lang="zh-CN" altLang="en-US">
                <a:solidFill>
                  <a:srgbClr val="000000"/>
                </a:solidFill>
                <a:latin typeface="楷体_GB2312" pitchFamily="49" charset="-122"/>
                <a:cs typeface="Times New Roman" panose="02020603050405020304" pitchFamily="18" charset="0"/>
              </a:rPr>
              <a:t>算法</a:t>
            </a:r>
            <a:r>
              <a:rPr lang="en-US" altLang="zh-CN">
                <a:solidFill>
                  <a:srgbClr val="000000"/>
                </a:solidFill>
                <a:latin typeface="楷体_GB2312" pitchFamily="49" charset="-122"/>
                <a:cs typeface="Times New Roman" panose="02020603050405020304" pitchFamily="18" charset="0"/>
              </a:rPr>
              <a:t>6.5 </a:t>
            </a:r>
            <a:r>
              <a:rPr lang="zh-CN" altLang="en-US">
                <a:solidFill>
                  <a:srgbClr val="000000"/>
                </a:solidFill>
                <a:latin typeface="楷体_GB2312" pitchFamily="49" charset="-122"/>
                <a:cs typeface="Times New Roman" panose="02020603050405020304" pitchFamily="18" charset="0"/>
              </a:rPr>
              <a:t>一个关系模式向</a:t>
            </a:r>
            <a:r>
              <a:rPr lang="en-US" altLang="zh-CN">
                <a:solidFill>
                  <a:srgbClr val="000000"/>
                </a:solidFill>
                <a:latin typeface="楷体_GB2312" pitchFamily="49" charset="-122"/>
                <a:cs typeface="Times New Roman" panose="02020603050405020304" pitchFamily="18" charset="0"/>
              </a:rPr>
              <a:t>3NF</a:t>
            </a:r>
            <a:r>
              <a:rPr lang="zh-CN" altLang="en-US">
                <a:solidFill>
                  <a:srgbClr val="000000"/>
                </a:solidFill>
                <a:latin typeface="楷体_GB2312" pitchFamily="49" charset="-122"/>
                <a:cs typeface="Times New Roman" panose="02020603050405020304" pitchFamily="18" charset="0"/>
              </a:rPr>
              <a:t>的</a:t>
            </a:r>
            <a:r>
              <a:rPr lang="zh-CN" altLang="en-US">
                <a:solidFill>
                  <a:srgbClr val="008000"/>
                </a:solidFill>
                <a:latin typeface="楷体_GB2312" pitchFamily="49" charset="-122"/>
                <a:cs typeface="Times New Roman" panose="02020603050405020304" pitchFamily="18" charset="0"/>
              </a:rPr>
              <a:t>保持依赖性</a:t>
            </a:r>
            <a:r>
              <a:rPr lang="zh-CN" altLang="en-US">
                <a:solidFill>
                  <a:srgbClr val="000000"/>
                </a:solidFill>
                <a:latin typeface="楷体_GB2312" pitchFamily="49" charset="-122"/>
                <a:cs typeface="Times New Roman" panose="02020603050405020304" pitchFamily="18" charset="0"/>
              </a:rPr>
              <a:t>的分解</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4182"/>
    </mc:Choice>
    <mc:Fallback xmlns="">
      <p:transition spd="slow" advTm="64182"/>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28751"/>
                                        </p:tgtEl>
                                        <p:attrNameLst>
                                          <p:attrName>style.visibility</p:attrName>
                                        </p:attrNameLst>
                                      </p:cBhvr>
                                      <p:to>
                                        <p:strVal val="visible"/>
                                      </p:to>
                                    </p:set>
                                    <p:animEffect transition="in" filter="wipe(up)">
                                      <p:cBhvr>
                                        <p:cTn id="7" dur="1000"/>
                                        <p:tgtEl>
                                          <p:spTgt spid="6287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28741"/>
                                        </p:tgtEl>
                                        <p:attrNameLst>
                                          <p:attrName>style.visibility</p:attrName>
                                        </p:attrNameLst>
                                      </p:cBhvr>
                                      <p:to>
                                        <p:strVal val="visible"/>
                                      </p:to>
                                    </p:set>
                                    <p:animEffect transition="in" filter="wipe(left)">
                                      <p:cBhvr>
                                        <p:cTn id="12" dur="1000"/>
                                        <p:tgtEl>
                                          <p:spTgt spid="6287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628754"/>
                                        </p:tgtEl>
                                        <p:attrNameLst>
                                          <p:attrName>style.visibility</p:attrName>
                                        </p:attrNameLst>
                                      </p:cBhvr>
                                      <p:to>
                                        <p:strVal val="visible"/>
                                      </p:to>
                                    </p:set>
                                    <p:animEffect transition="in" filter="wipe(up)">
                                      <p:cBhvr>
                                        <p:cTn id="17" dur="1000"/>
                                        <p:tgtEl>
                                          <p:spTgt spid="6287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28745"/>
                                        </p:tgtEl>
                                        <p:attrNameLst>
                                          <p:attrName>style.visibility</p:attrName>
                                        </p:attrNameLst>
                                      </p:cBhvr>
                                      <p:to>
                                        <p:strVal val="visible"/>
                                      </p:to>
                                    </p:set>
                                    <p:animEffect transition="in" filter="wipe(left)">
                                      <p:cBhvr>
                                        <p:cTn id="22" dur="1000"/>
                                        <p:tgtEl>
                                          <p:spTgt spid="62874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628748"/>
                                        </p:tgtEl>
                                        <p:attrNameLst>
                                          <p:attrName>style.visibility</p:attrName>
                                        </p:attrNameLst>
                                      </p:cBhvr>
                                      <p:to>
                                        <p:strVal val="visible"/>
                                      </p:to>
                                    </p:set>
                                    <p:animEffect transition="in" filter="wipe(up)">
                                      <p:cBhvr>
                                        <p:cTn id="27" dur="1000"/>
                                        <p:tgtEl>
                                          <p:spTgt spid="62874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628758"/>
                                        </p:tgtEl>
                                        <p:attrNameLst>
                                          <p:attrName>style.visibility</p:attrName>
                                        </p:attrNameLst>
                                      </p:cBhvr>
                                      <p:to>
                                        <p:strVal val="visible"/>
                                      </p:to>
                                    </p:set>
                                    <p:animEffect transition="in" filter="wipe(up)">
                                      <p:cBhvr>
                                        <p:cTn id="32" dur="1000"/>
                                        <p:tgtEl>
                                          <p:spTgt spid="62875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28761"/>
                                        </p:tgtEl>
                                        <p:attrNameLst>
                                          <p:attrName>style.visibility</p:attrName>
                                        </p:attrNameLst>
                                      </p:cBhvr>
                                      <p:to>
                                        <p:strVal val="visible"/>
                                      </p:to>
                                    </p:set>
                                    <p:animEffect transition="in" filter="wipe(left)">
                                      <p:cBhvr>
                                        <p:cTn id="37" dur="1000"/>
                                        <p:tgtEl>
                                          <p:spTgt spid="62876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28764"/>
                                        </p:tgtEl>
                                        <p:attrNameLst>
                                          <p:attrName>style.visibility</p:attrName>
                                        </p:attrNameLst>
                                      </p:cBhvr>
                                      <p:to>
                                        <p:strVal val="visible"/>
                                      </p:to>
                                    </p:set>
                                    <p:animEffect transition="in" filter="wipe(left)">
                                      <p:cBhvr>
                                        <p:cTn id="42" dur="1000"/>
                                        <p:tgtEl>
                                          <p:spTgt spid="62876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628767"/>
                                        </p:tgtEl>
                                        <p:attrNameLst>
                                          <p:attrName>style.visibility</p:attrName>
                                        </p:attrNameLst>
                                      </p:cBhvr>
                                      <p:to>
                                        <p:strVal val="visible"/>
                                      </p:to>
                                    </p:set>
                                    <p:animEffect transition="in" filter="wipe(down)">
                                      <p:cBhvr>
                                        <p:cTn id="47" dur="1000"/>
                                        <p:tgtEl>
                                          <p:spTgt spid="62876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3" presetClass="entr" presetSubtype="0" fill="hold" nodeType="clickEffect">
                                  <p:stCondLst>
                                    <p:cond delay="0"/>
                                  </p:stCondLst>
                                  <p:childTnLst>
                                    <p:set>
                                      <p:cBhvr>
                                        <p:cTn id="51" dur="1" fill="hold">
                                          <p:stCondLst>
                                            <p:cond delay="0"/>
                                          </p:stCondLst>
                                        </p:cTn>
                                        <p:tgtEl>
                                          <p:spTgt spid="628770"/>
                                        </p:tgtEl>
                                        <p:attrNameLst>
                                          <p:attrName>style.visibility</p:attrName>
                                        </p:attrNameLst>
                                      </p:cBhvr>
                                      <p:to>
                                        <p:strVal val="visible"/>
                                      </p:to>
                                    </p:set>
                                    <p:anim calcmode="lin" valueType="num">
                                      <p:cBhvr>
                                        <p:cTn id="52" dur="500" fill="hold"/>
                                        <p:tgtEl>
                                          <p:spTgt spid="628770"/>
                                        </p:tgtEl>
                                        <p:attrNameLst>
                                          <p:attrName>ppt_w</p:attrName>
                                        </p:attrNameLst>
                                      </p:cBhvr>
                                      <p:tavLst>
                                        <p:tav tm="0">
                                          <p:val>
                                            <p:fltVal val="0"/>
                                          </p:val>
                                        </p:tav>
                                        <p:tav tm="100000">
                                          <p:val>
                                            <p:strVal val="#ppt_w"/>
                                          </p:val>
                                        </p:tav>
                                      </p:tavLst>
                                    </p:anim>
                                    <p:anim calcmode="lin" valueType="num">
                                      <p:cBhvr>
                                        <p:cTn id="53" dur="500" fill="hold"/>
                                        <p:tgtEl>
                                          <p:spTgt spid="628770"/>
                                        </p:tgtEl>
                                        <p:attrNameLst>
                                          <p:attrName>ppt_h</p:attrName>
                                        </p:attrNameLst>
                                      </p:cBhvr>
                                      <p:tavLst>
                                        <p:tav tm="0">
                                          <p:val>
                                            <p:fltVal val="0"/>
                                          </p:val>
                                        </p:tav>
                                        <p:tav tm="100000">
                                          <p:val>
                                            <p:strVal val="#ppt_h"/>
                                          </p:val>
                                        </p:tav>
                                      </p:tavLst>
                                    </p:anim>
                                    <p:animEffect transition="in" filter="fade">
                                      <p:cBhvr>
                                        <p:cTn id="54" dur="500"/>
                                        <p:tgtEl>
                                          <p:spTgt spid="628770"/>
                                        </p:tgtEl>
                                      </p:cBhvr>
                                    </p:animEffect>
                                  </p:childTnLst>
                                </p:cTn>
                              </p:par>
                            </p:childTnLst>
                          </p:cTn>
                        </p:par>
                        <p:par>
                          <p:cTn id="55" fill="hold" nodeType="afterGroup">
                            <p:stCondLst>
                              <p:cond delay="500"/>
                            </p:stCondLst>
                            <p:childTnLst>
                              <p:par>
                                <p:cTn id="56" presetID="2" presetClass="entr" presetSubtype="2" fill="hold" grpId="0" nodeType="afterEffect">
                                  <p:stCondLst>
                                    <p:cond delay="0"/>
                                  </p:stCondLst>
                                  <p:childTnLst>
                                    <p:set>
                                      <p:cBhvr>
                                        <p:cTn id="57" dur="1" fill="hold">
                                          <p:stCondLst>
                                            <p:cond delay="0"/>
                                          </p:stCondLst>
                                        </p:cTn>
                                        <p:tgtEl>
                                          <p:spTgt spid="628771"/>
                                        </p:tgtEl>
                                        <p:attrNameLst>
                                          <p:attrName>style.visibility</p:attrName>
                                        </p:attrNameLst>
                                      </p:cBhvr>
                                      <p:to>
                                        <p:strVal val="visible"/>
                                      </p:to>
                                    </p:set>
                                    <p:anim calcmode="lin" valueType="num">
                                      <p:cBhvr additive="base">
                                        <p:cTn id="58" dur="1000" fill="hold"/>
                                        <p:tgtEl>
                                          <p:spTgt spid="628771"/>
                                        </p:tgtEl>
                                        <p:attrNameLst>
                                          <p:attrName>ppt_x</p:attrName>
                                        </p:attrNameLst>
                                      </p:cBhvr>
                                      <p:tavLst>
                                        <p:tav tm="0">
                                          <p:val>
                                            <p:strVal val="1+#ppt_w/2"/>
                                          </p:val>
                                        </p:tav>
                                        <p:tav tm="100000">
                                          <p:val>
                                            <p:strVal val="#ppt_x"/>
                                          </p:val>
                                        </p:tav>
                                      </p:tavLst>
                                    </p:anim>
                                    <p:anim calcmode="lin" valueType="num">
                                      <p:cBhvr additive="base">
                                        <p:cTn id="59" dur="1000" fill="hold"/>
                                        <p:tgtEl>
                                          <p:spTgt spid="6287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8771"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3881" name="AutoShape 25">
            <a:extLst>
              <a:ext uri="{FF2B5EF4-FFF2-40B4-BE49-F238E27FC236}">
                <a16:creationId xmlns:a16="http://schemas.microsoft.com/office/drawing/2014/main" id="{44721E9E-01EF-4A38-9463-1BE2381F1729}"/>
              </a:ext>
            </a:extLst>
          </p:cNvPr>
          <p:cNvSpPr>
            <a:spLocks noChangeArrowheads="1"/>
          </p:cNvSpPr>
          <p:nvPr/>
        </p:nvSpPr>
        <p:spPr bwMode="auto">
          <a:xfrm>
            <a:off x="3347864" y="2564904"/>
            <a:ext cx="3959225" cy="792163"/>
          </a:xfrm>
          <a:prstGeom prst="wedgeRectCallout">
            <a:avLst>
              <a:gd name="adj1" fmla="val -113514"/>
              <a:gd name="adj2" fmla="val -76454"/>
            </a:avLst>
          </a:prstGeom>
          <a:solidFill>
            <a:srgbClr val="000080"/>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lstStyle/>
          <a:p>
            <a:pPr algn="ctr"/>
            <a:r>
              <a:rPr lang="zh-CN" altLang="zh-CN" sz="2400" b="1">
                <a:solidFill>
                  <a:schemeClr val="bg1"/>
                </a:solidFill>
                <a:effectLst>
                  <a:outerShdw blurRad="38100" dist="38100" dir="2700000" algn="tl">
                    <a:srgbClr val="000000"/>
                  </a:outerShdw>
                </a:effectLst>
                <a:ea typeface="黑体" panose="02010609060101010101" pitchFamily="49" charset="-122"/>
              </a:rPr>
              <a:t>F是最小函数依赖集</a:t>
            </a:r>
            <a:endParaRPr lang="en-US" altLang="zh-CN" sz="2400" b="1">
              <a:solidFill>
                <a:schemeClr val="bg1"/>
              </a:solidFill>
              <a:effectLst>
                <a:outerShdw blurRad="38100" dist="38100" dir="2700000" algn="tl">
                  <a:srgbClr val="000000"/>
                </a:outerShdw>
              </a:effectLst>
              <a:ea typeface="黑体" panose="02010609060101010101" pitchFamily="49" charset="-122"/>
            </a:endParaRPr>
          </a:p>
        </p:txBody>
      </p:sp>
      <p:sp>
        <p:nvSpPr>
          <p:cNvPr id="633882" name="AutoShape 26">
            <a:extLst>
              <a:ext uri="{FF2B5EF4-FFF2-40B4-BE49-F238E27FC236}">
                <a16:creationId xmlns:a16="http://schemas.microsoft.com/office/drawing/2014/main" id="{4BF8F47C-29FA-4A81-837D-97D27B26A2E4}"/>
              </a:ext>
            </a:extLst>
          </p:cNvPr>
          <p:cNvSpPr>
            <a:spLocks noChangeArrowheads="1"/>
          </p:cNvSpPr>
          <p:nvPr/>
        </p:nvSpPr>
        <p:spPr bwMode="auto">
          <a:xfrm>
            <a:off x="1763713" y="3068638"/>
            <a:ext cx="1800225" cy="647700"/>
          </a:xfrm>
          <a:prstGeom prst="wedgeRectCallout">
            <a:avLst>
              <a:gd name="adj1" fmla="val -40829"/>
              <a:gd name="adj2" fmla="val -98282"/>
            </a:avLst>
          </a:prstGeom>
          <a:solidFill>
            <a:srgbClr val="CCFFFF"/>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lstStyle/>
          <a:p>
            <a:pPr algn="ctr"/>
            <a:r>
              <a:rPr lang="zh-CN" altLang="zh-CN" sz="2400" b="1">
                <a:solidFill>
                  <a:schemeClr val="tx2"/>
                </a:solidFill>
                <a:effectLst>
                  <a:outerShdw blurRad="38100" dist="38100" dir="2700000" algn="tl">
                    <a:srgbClr val="000000"/>
                  </a:outerShdw>
                </a:effectLst>
                <a:ea typeface="黑体" panose="02010609060101010101" pitchFamily="49" charset="-122"/>
              </a:rPr>
              <a:t>C#</a:t>
            </a:r>
            <a:r>
              <a:rPr lang="zh-CN" altLang="en-US" sz="2400" b="1">
                <a:solidFill>
                  <a:schemeClr val="tx2"/>
                </a:solidFill>
                <a:effectLst>
                  <a:outerShdw blurRad="38100" dist="38100" dir="2700000" algn="tl">
                    <a:srgbClr val="000000"/>
                  </a:outerShdw>
                </a:effectLst>
                <a:ea typeface="黑体" panose="02010609060101010101" pitchFamily="49" charset="-122"/>
              </a:rPr>
              <a:t>,</a:t>
            </a:r>
            <a:r>
              <a:rPr lang="zh-CN" altLang="zh-CN" sz="2400" b="1">
                <a:solidFill>
                  <a:schemeClr val="tx2"/>
                </a:solidFill>
                <a:effectLst>
                  <a:outerShdw blurRad="38100" dist="38100" dir="2700000" algn="tl">
                    <a:srgbClr val="000000"/>
                  </a:outerShdw>
                </a:effectLst>
                <a:ea typeface="黑体" panose="02010609060101010101" pitchFamily="49" charset="-122"/>
              </a:rPr>
              <a:t>TNAME</a:t>
            </a:r>
            <a:endParaRPr lang="en-US" altLang="zh-CN" sz="2400" b="1">
              <a:solidFill>
                <a:schemeClr val="tx2"/>
              </a:solidFill>
              <a:effectLst>
                <a:outerShdw blurRad="38100" dist="38100" dir="2700000" algn="tl">
                  <a:srgbClr val="000000"/>
                </a:outerShdw>
              </a:effectLst>
              <a:ea typeface="黑体" panose="02010609060101010101" pitchFamily="49" charset="-122"/>
            </a:endParaRPr>
          </a:p>
        </p:txBody>
      </p:sp>
      <p:sp>
        <p:nvSpPr>
          <p:cNvPr id="633883" name="AutoShape 27">
            <a:extLst>
              <a:ext uri="{FF2B5EF4-FFF2-40B4-BE49-F238E27FC236}">
                <a16:creationId xmlns:a16="http://schemas.microsoft.com/office/drawing/2014/main" id="{0457F091-EFDF-45FE-B82F-4CB7B4295A89}"/>
              </a:ext>
            </a:extLst>
          </p:cNvPr>
          <p:cNvSpPr>
            <a:spLocks noChangeArrowheads="1"/>
          </p:cNvSpPr>
          <p:nvPr/>
        </p:nvSpPr>
        <p:spPr bwMode="auto">
          <a:xfrm>
            <a:off x="3851275" y="3068638"/>
            <a:ext cx="2232025" cy="647700"/>
          </a:xfrm>
          <a:prstGeom prst="wedgeRectCallout">
            <a:avLst>
              <a:gd name="adj1" fmla="val -42602"/>
              <a:gd name="adj2" fmla="val -98282"/>
            </a:avLst>
          </a:prstGeom>
          <a:solidFill>
            <a:srgbClr val="CCFFFF"/>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lstStyle/>
          <a:p>
            <a:pPr algn="ctr"/>
            <a:r>
              <a:rPr lang="zh-CN" altLang="zh-CN" sz="2400" b="1">
                <a:solidFill>
                  <a:schemeClr val="tx2"/>
                </a:solidFill>
                <a:effectLst>
                  <a:outerShdw blurRad="38100" dist="38100" dir="2700000" algn="tl">
                    <a:srgbClr val="000000"/>
                  </a:outerShdw>
                </a:effectLst>
                <a:ea typeface="黑体" panose="02010609060101010101" pitchFamily="49" charset="-122"/>
              </a:rPr>
              <a:t>S#,C#</a:t>
            </a:r>
            <a:r>
              <a:rPr lang="zh-CN" altLang="en-US" sz="2400" b="1">
                <a:solidFill>
                  <a:schemeClr val="tx2"/>
                </a:solidFill>
                <a:effectLst>
                  <a:outerShdw blurRad="38100" dist="38100" dir="2700000" algn="tl">
                    <a:srgbClr val="000000"/>
                  </a:outerShdw>
                </a:effectLst>
                <a:ea typeface="黑体" panose="02010609060101010101" pitchFamily="49" charset="-122"/>
              </a:rPr>
              <a:t>,</a:t>
            </a:r>
            <a:r>
              <a:rPr lang="zh-CN" altLang="zh-CN" sz="2400" b="1">
                <a:solidFill>
                  <a:schemeClr val="tx2"/>
                </a:solidFill>
                <a:effectLst>
                  <a:outerShdw blurRad="38100" dist="38100" dir="2700000" algn="tl">
                    <a:srgbClr val="000000"/>
                  </a:outerShdw>
                </a:effectLst>
                <a:ea typeface="黑体" panose="02010609060101010101" pitchFamily="49" charset="-122"/>
              </a:rPr>
              <a:t>GRADE</a:t>
            </a:r>
            <a:endParaRPr lang="en-US" altLang="zh-CN" sz="2400" b="1">
              <a:solidFill>
                <a:schemeClr val="tx2"/>
              </a:solidFill>
              <a:effectLst>
                <a:outerShdw blurRad="38100" dist="38100" dir="2700000" algn="tl">
                  <a:srgbClr val="000000"/>
                </a:outerShdw>
              </a:effectLst>
              <a:ea typeface="黑体" panose="02010609060101010101" pitchFamily="49" charset="-122"/>
            </a:endParaRPr>
          </a:p>
        </p:txBody>
      </p:sp>
      <p:sp>
        <p:nvSpPr>
          <p:cNvPr id="633884" name="AutoShape 28">
            <a:extLst>
              <a:ext uri="{FF2B5EF4-FFF2-40B4-BE49-F238E27FC236}">
                <a16:creationId xmlns:a16="http://schemas.microsoft.com/office/drawing/2014/main" id="{8D3EE5FC-6486-4BE3-8763-B64892A1E9BC}"/>
              </a:ext>
            </a:extLst>
          </p:cNvPr>
          <p:cNvSpPr>
            <a:spLocks noChangeArrowheads="1"/>
          </p:cNvSpPr>
          <p:nvPr/>
        </p:nvSpPr>
        <p:spPr bwMode="auto">
          <a:xfrm>
            <a:off x="6300788" y="3068638"/>
            <a:ext cx="2519362" cy="647700"/>
          </a:xfrm>
          <a:prstGeom prst="wedgeRectCallout">
            <a:avLst>
              <a:gd name="adj1" fmla="val -34875"/>
              <a:gd name="adj2" fmla="val -98282"/>
            </a:avLst>
          </a:prstGeom>
          <a:solidFill>
            <a:srgbClr val="CCFFFF"/>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lstStyle/>
          <a:p>
            <a:pPr algn="ctr"/>
            <a:r>
              <a:rPr lang="zh-CN" altLang="zh-CN" sz="2400" b="1">
                <a:solidFill>
                  <a:schemeClr val="tx2"/>
                </a:solidFill>
                <a:effectLst>
                  <a:outerShdw blurRad="38100" dist="38100" dir="2700000" algn="tl">
                    <a:srgbClr val="000000"/>
                  </a:outerShdw>
                </a:effectLst>
                <a:ea typeface="黑体" panose="02010609060101010101" pitchFamily="49" charset="-122"/>
              </a:rPr>
              <a:t>TNAME</a:t>
            </a:r>
            <a:r>
              <a:rPr lang="zh-CN" altLang="en-US" sz="2400" b="1">
                <a:solidFill>
                  <a:schemeClr val="tx2"/>
                </a:solidFill>
                <a:effectLst>
                  <a:outerShdw blurRad="38100" dist="38100" dir="2700000" algn="tl">
                    <a:srgbClr val="000000"/>
                  </a:outerShdw>
                </a:effectLst>
                <a:ea typeface="黑体" panose="02010609060101010101" pitchFamily="49" charset="-122"/>
              </a:rPr>
              <a:t>, </a:t>
            </a:r>
            <a:r>
              <a:rPr lang="zh-CN" altLang="zh-CN" sz="2400" b="1">
                <a:solidFill>
                  <a:schemeClr val="tx2"/>
                </a:solidFill>
                <a:effectLst>
                  <a:outerShdw blurRad="38100" dist="38100" dir="2700000" algn="tl">
                    <a:srgbClr val="000000"/>
                  </a:outerShdw>
                </a:effectLst>
                <a:ea typeface="黑体" panose="02010609060101010101" pitchFamily="49" charset="-122"/>
              </a:rPr>
              <a:t>TRS</a:t>
            </a:r>
            <a:endParaRPr lang="en-US" altLang="zh-CN" sz="2400" b="1">
              <a:solidFill>
                <a:schemeClr val="tx2"/>
              </a:solidFill>
              <a:effectLst>
                <a:outerShdw blurRad="38100" dist="38100" dir="2700000" algn="tl">
                  <a:srgbClr val="000000"/>
                </a:outerShdw>
              </a:effectLst>
              <a:ea typeface="黑体" panose="02010609060101010101" pitchFamily="49" charset="-122"/>
            </a:endParaRPr>
          </a:p>
        </p:txBody>
      </p:sp>
      <p:sp>
        <p:nvSpPr>
          <p:cNvPr id="633887" name="AutoShape 31">
            <a:extLst>
              <a:ext uri="{FF2B5EF4-FFF2-40B4-BE49-F238E27FC236}">
                <a16:creationId xmlns:a16="http://schemas.microsoft.com/office/drawing/2014/main" id="{8545A3D8-68DE-4AF2-A4CE-B8983FAAE9DB}"/>
              </a:ext>
            </a:extLst>
          </p:cNvPr>
          <p:cNvSpPr>
            <a:spLocks noChangeArrowheads="1"/>
          </p:cNvSpPr>
          <p:nvPr/>
        </p:nvSpPr>
        <p:spPr bwMode="auto">
          <a:xfrm>
            <a:off x="1258888" y="4076700"/>
            <a:ext cx="7345362" cy="1944688"/>
          </a:xfrm>
          <a:prstGeom prst="flowChartDocument">
            <a:avLst/>
          </a:prstGeom>
          <a:solidFill>
            <a:srgbClr val="008080"/>
          </a:solidFill>
          <a:ln w="12700" cap="sq">
            <a:solidFill>
              <a:schemeClr val="tx1"/>
            </a:solidFill>
            <a:miter lim="800000"/>
            <a:headEnd type="none" w="sm" len="sm"/>
            <a:tailEnd type="none" w="sm" len="sm"/>
          </a:ln>
          <a:effectLst>
            <a:outerShdw dist="71842" dir="2700000" algn="ctr" rotWithShape="0">
              <a:schemeClr val="tx1"/>
            </a:outerShdw>
          </a:effectLst>
        </p:spPr>
        <p:txBody>
          <a:bodyPr wrap="none" lIns="18000" tIns="0" anchor="ctr" anchorCtr="1"/>
          <a:lstStyle/>
          <a:p>
            <a:pPr algn="ctr">
              <a:lnSpc>
                <a:spcPct val="120000"/>
              </a:lnSpc>
              <a:spcBef>
                <a:spcPct val="20000"/>
              </a:spcBef>
            </a:pPr>
            <a:r>
              <a:rPr lang="en-US" altLang="zh-CN" sz="2800" b="1">
                <a:solidFill>
                  <a:schemeClr val="bg1"/>
                </a:solidFill>
                <a:effectLst>
                  <a:outerShdw blurRad="38100" dist="38100" dir="2700000" algn="tl">
                    <a:srgbClr val="000000"/>
                  </a:outerShdw>
                </a:effectLst>
                <a:cs typeface="Times New Roman" panose="02020603050405020304" pitchFamily="18" charset="0"/>
              </a:rPr>
              <a:t>ρ</a:t>
            </a:r>
            <a:r>
              <a:rPr lang="zh-CN" altLang="en-US" sz="2800" b="1">
                <a:solidFill>
                  <a:schemeClr val="bg1"/>
                </a:solidFill>
                <a:effectLst>
                  <a:outerShdw blurRad="38100" dist="38100" dir="2700000" algn="tl">
                    <a:srgbClr val="000000"/>
                  </a:outerShdw>
                </a:effectLst>
                <a:cs typeface="Times New Roman" panose="02020603050405020304" pitchFamily="18" charset="0"/>
              </a:rPr>
              <a:t>＝</a:t>
            </a:r>
            <a:r>
              <a:rPr lang="en-US" altLang="zh-CN" sz="2800" b="1">
                <a:solidFill>
                  <a:schemeClr val="bg1"/>
                </a:solidFill>
                <a:effectLst>
                  <a:outerShdw blurRad="38100" dist="38100" dir="2700000" algn="tl">
                    <a:srgbClr val="000000"/>
                  </a:outerShdw>
                </a:effectLst>
                <a:cs typeface="Times New Roman" panose="02020603050405020304" pitchFamily="18" charset="0"/>
              </a:rPr>
              <a:t>{</a:t>
            </a:r>
            <a:r>
              <a:rPr lang="en-US" altLang="en-US" sz="2800" b="1">
                <a:solidFill>
                  <a:schemeClr val="bg1"/>
                </a:solidFill>
                <a:effectLst>
                  <a:outerShdw blurRad="38100" dist="38100" dir="2700000" algn="tl">
                    <a:srgbClr val="000000"/>
                  </a:outerShdw>
                </a:effectLst>
                <a:cs typeface="Times New Roman" panose="02020603050405020304" pitchFamily="18" charset="0"/>
              </a:rPr>
              <a:t>R</a:t>
            </a:r>
            <a:r>
              <a:rPr lang="en-US" altLang="zh-CN" sz="2800" b="1" baseline="-25000">
                <a:solidFill>
                  <a:schemeClr val="bg1"/>
                </a:solidFill>
                <a:effectLst>
                  <a:outerShdw blurRad="38100" dist="38100" dir="2700000" algn="tl">
                    <a:srgbClr val="000000"/>
                  </a:outerShdw>
                </a:effectLst>
                <a:cs typeface="Times New Roman" panose="02020603050405020304" pitchFamily="18" charset="0"/>
              </a:rPr>
              <a:t>1</a:t>
            </a:r>
            <a:r>
              <a:rPr lang="en-US" altLang="zh-CN" sz="2800" b="1">
                <a:solidFill>
                  <a:schemeClr val="bg1"/>
                </a:solidFill>
                <a:effectLst>
                  <a:outerShdw blurRad="38100" dist="38100" dir="2700000" algn="tl">
                    <a:srgbClr val="000000"/>
                  </a:outerShdw>
                </a:effectLst>
                <a:cs typeface="Times New Roman" panose="02020603050405020304" pitchFamily="18" charset="0"/>
              </a:rPr>
              <a:t>(</a:t>
            </a:r>
            <a:r>
              <a:rPr lang="en-US" altLang="en-US" sz="2800" b="1">
                <a:solidFill>
                  <a:schemeClr val="bg1"/>
                </a:solidFill>
                <a:effectLst>
                  <a:outerShdw blurRad="38100" dist="38100" dir="2700000" algn="tl">
                    <a:srgbClr val="000000"/>
                  </a:outerShdw>
                </a:effectLst>
                <a:cs typeface="Times New Roman" panose="02020603050405020304" pitchFamily="18" charset="0"/>
              </a:rPr>
              <a:t>C#, </a:t>
            </a:r>
            <a:r>
              <a:rPr lang="en-US" altLang="zh-CN" sz="2800" b="1">
                <a:solidFill>
                  <a:schemeClr val="bg1"/>
                </a:solidFill>
                <a:effectLst>
                  <a:outerShdw blurRad="38100" dist="38100" dir="2700000" algn="tl">
                    <a:srgbClr val="000000"/>
                  </a:outerShdw>
                </a:effectLst>
                <a:cs typeface="Times New Roman" panose="02020603050405020304" pitchFamily="18" charset="0"/>
              </a:rPr>
              <a:t>TNAME),</a:t>
            </a:r>
            <a:r>
              <a:rPr lang="en-US" altLang="en-US" sz="2800" b="1">
                <a:solidFill>
                  <a:schemeClr val="bg1"/>
                </a:solidFill>
                <a:effectLst>
                  <a:outerShdw blurRad="38100" dist="38100" dir="2700000" algn="tl">
                    <a:srgbClr val="000000"/>
                  </a:outerShdw>
                </a:effectLst>
                <a:cs typeface="Times New Roman" panose="02020603050405020304" pitchFamily="18" charset="0"/>
              </a:rPr>
              <a:t>R</a:t>
            </a:r>
            <a:r>
              <a:rPr lang="en-US" altLang="zh-CN" sz="2800" b="1" baseline="-25000">
                <a:solidFill>
                  <a:schemeClr val="bg1"/>
                </a:solidFill>
                <a:effectLst>
                  <a:outerShdw blurRad="38100" dist="38100" dir="2700000" algn="tl">
                    <a:srgbClr val="000000"/>
                  </a:outerShdw>
                </a:effectLst>
                <a:cs typeface="Times New Roman" panose="02020603050405020304" pitchFamily="18" charset="0"/>
              </a:rPr>
              <a:t>2</a:t>
            </a:r>
            <a:r>
              <a:rPr lang="en-US" altLang="zh-CN" sz="2800" b="1">
                <a:solidFill>
                  <a:schemeClr val="bg1"/>
                </a:solidFill>
                <a:effectLst>
                  <a:outerShdw blurRad="38100" dist="38100" dir="2700000" algn="tl">
                    <a:srgbClr val="000000"/>
                  </a:outerShdw>
                </a:effectLst>
                <a:cs typeface="Times New Roman" panose="02020603050405020304" pitchFamily="18" charset="0"/>
              </a:rPr>
              <a:t>(</a:t>
            </a:r>
            <a:r>
              <a:rPr lang="en-US" altLang="en-US" sz="2800" b="1">
                <a:solidFill>
                  <a:schemeClr val="bg1"/>
                </a:solidFill>
                <a:effectLst>
                  <a:outerShdw blurRad="38100" dist="38100" dir="2700000" algn="tl">
                    <a:srgbClr val="000000"/>
                  </a:outerShdw>
                </a:effectLst>
                <a:cs typeface="Times New Roman" panose="02020603050405020304" pitchFamily="18" charset="0"/>
              </a:rPr>
              <a:t>S#,C#,GRADE</a:t>
            </a:r>
            <a:r>
              <a:rPr lang="en-US" altLang="zh-CN" sz="2800" b="1">
                <a:solidFill>
                  <a:schemeClr val="bg1"/>
                </a:solidFill>
                <a:effectLst>
                  <a:outerShdw blurRad="38100" dist="38100" dir="2700000" algn="tl">
                    <a:srgbClr val="000000"/>
                  </a:outerShdw>
                </a:effectLst>
                <a:cs typeface="Times New Roman" panose="02020603050405020304" pitchFamily="18" charset="0"/>
              </a:rPr>
              <a:t>),</a:t>
            </a:r>
          </a:p>
          <a:p>
            <a:pPr algn="ctr">
              <a:lnSpc>
                <a:spcPct val="120000"/>
              </a:lnSpc>
              <a:spcBef>
                <a:spcPct val="20000"/>
              </a:spcBef>
            </a:pPr>
            <a:r>
              <a:rPr lang="en-US" altLang="en-US" sz="2800" b="1">
                <a:solidFill>
                  <a:schemeClr val="bg1"/>
                </a:solidFill>
                <a:effectLst>
                  <a:outerShdw blurRad="38100" dist="38100" dir="2700000" algn="tl">
                    <a:srgbClr val="000000"/>
                  </a:outerShdw>
                </a:effectLst>
                <a:cs typeface="Times New Roman" panose="02020603050405020304" pitchFamily="18" charset="0"/>
              </a:rPr>
              <a:t>R</a:t>
            </a:r>
            <a:r>
              <a:rPr lang="en-US" altLang="zh-CN" sz="2800" b="1" baseline="-25000">
                <a:solidFill>
                  <a:schemeClr val="bg1"/>
                </a:solidFill>
                <a:effectLst>
                  <a:outerShdw blurRad="38100" dist="38100" dir="2700000" algn="tl">
                    <a:srgbClr val="000000"/>
                  </a:outerShdw>
                </a:effectLst>
                <a:cs typeface="Times New Roman" panose="02020603050405020304" pitchFamily="18" charset="0"/>
              </a:rPr>
              <a:t>3</a:t>
            </a:r>
            <a:r>
              <a:rPr lang="en-US" altLang="zh-CN" sz="2800" b="1">
                <a:solidFill>
                  <a:schemeClr val="bg1"/>
                </a:solidFill>
                <a:effectLst>
                  <a:outerShdw blurRad="38100" dist="38100" dir="2700000" algn="tl">
                    <a:srgbClr val="000000"/>
                  </a:outerShdw>
                </a:effectLst>
                <a:cs typeface="Times New Roman" panose="02020603050405020304" pitchFamily="18" charset="0"/>
              </a:rPr>
              <a:t>(TNAME, </a:t>
            </a:r>
            <a:r>
              <a:rPr lang="en-US" altLang="en-US" sz="2800" b="1">
                <a:solidFill>
                  <a:schemeClr val="bg1"/>
                </a:solidFill>
                <a:effectLst>
                  <a:outerShdw blurRad="38100" dist="38100" dir="2700000" algn="tl">
                    <a:srgbClr val="000000"/>
                  </a:outerShdw>
                </a:effectLst>
                <a:cs typeface="Times New Roman" panose="02020603050405020304" pitchFamily="18" charset="0"/>
              </a:rPr>
              <a:t>TRS</a:t>
            </a:r>
            <a:r>
              <a:rPr lang="en-US" altLang="zh-CN" sz="2800" b="1">
                <a:solidFill>
                  <a:schemeClr val="bg1"/>
                </a:solidFill>
                <a:effectLst>
                  <a:outerShdw blurRad="38100" dist="38100" dir="2700000" algn="tl">
                    <a:srgbClr val="000000"/>
                  </a:outerShdw>
                </a:effectLst>
                <a:cs typeface="Times New Roman" panose="02020603050405020304" pitchFamily="18" charset="0"/>
              </a:rPr>
              <a:t>),}</a:t>
            </a:r>
            <a:r>
              <a:rPr lang="zh-CN" altLang="en-US" sz="2800" b="1">
                <a:solidFill>
                  <a:schemeClr val="bg1"/>
                </a:solidFill>
                <a:effectLst>
                  <a:outerShdw blurRad="38100" dist="38100" dir="2700000" algn="tl">
                    <a:srgbClr val="000000"/>
                  </a:outerShdw>
                </a:effectLst>
                <a:cs typeface="Times New Roman" panose="02020603050405020304" pitchFamily="18" charset="0"/>
              </a:rPr>
              <a:t>，</a:t>
            </a:r>
            <a:r>
              <a:rPr lang="zh-CN" altLang="en-US" sz="2800" b="1">
                <a:solidFill>
                  <a:srgbClr val="FFFF00"/>
                </a:solidFill>
                <a:effectLst>
                  <a:outerShdw blurRad="38100" dist="38100" dir="2700000" algn="tl">
                    <a:srgbClr val="000000"/>
                  </a:outerShdw>
                </a:effectLst>
                <a:cs typeface="Times New Roman" panose="02020603050405020304" pitchFamily="18" charset="0"/>
              </a:rPr>
              <a:t>保持依赖性</a:t>
            </a:r>
          </a:p>
        </p:txBody>
      </p:sp>
      <p:sp>
        <p:nvSpPr>
          <p:cNvPr id="633889" name="Rectangle 33">
            <a:extLst>
              <a:ext uri="{FF2B5EF4-FFF2-40B4-BE49-F238E27FC236}">
                <a16:creationId xmlns:a16="http://schemas.microsoft.com/office/drawing/2014/main" id="{005A82A3-3FC9-4F32-8F87-2FEAFDD69E8C}"/>
              </a:ext>
            </a:extLst>
          </p:cNvPr>
          <p:cNvSpPr>
            <a:spLocks noGrp="1" noChangeArrowheads="1"/>
          </p:cNvSpPr>
          <p:nvPr>
            <p:ph type="body" idx="1"/>
          </p:nvPr>
        </p:nvSpPr>
        <p:spPr>
          <a:noFill/>
          <a:ln/>
        </p:spPr>
        <p:txBody>
          <a:bodyPr/>
          <a:lstStyle/>
          <a:p>
            <a:pPr algn="just"/>
            <a:r>
              <a:rPr lang="zh-CN" altLang="en-US" i="1" dirty="0">
                <a:solidFill>
                  <a:srgbClr val="009900"/>
                </a:solidFill>
                <a:latin typeface="楷体_GB2312" pitchFamily="49" charset="-122"/>
                <a:cs typeface="Times New Roman" panose="02020603050405020304" pitchFamily="18" charset="0"/>
              </a:rPr>
              <a:t>例</a:t>
            </a:r>
            <a:r>
              <a:rPr lang="zh-CN" altLang="en-US" dirty="0">
                <a:solidFill>
                  <a:srgbClr val="000000"/>
                </a:solidFill>
                <a:latin typeface="楷体_GB2312" pitchFamily="49" charset="-122"/>
                <a:cs typeface="Times New Roman" panose="02020603050405020304" pitchFamily="18" charset="0"/>
              </a:rPr>
              <a:t>：</a:t>
            </a:r>
            <a:r>
              <a:rPr lang="en-US" altLang="zh-CN" dirty="0">
                <a:solidFill>
                  <a:srgbClr val="000000"/>
                </a:solidFill>
                <a:latin typeface="楷体_GB2312" pitchFamily="49" charset="-122"/>
                <a:cs typeface="Times New Roman" panose="02020603050405020304" pitchFamily="18" charset="0"/>
              </a:rPr>
              <a:t>R=(S#,C#,GRADE,TNAME,TRS)</a:t>
            </a:r>
            <a:r>
              <a:rPr lang="zh-CN" altLang="en-US" dirty="0">
                <a:solidFill>
                  <a:srgbClr val="000000"/>
                </a:solidFill>
                <a:latin typeface="楷体_GB2312" pitchFamily="49" charset="-122"/>
                <a:cs typeface="Times New Roman" panose="02020603050405020304" pitchFamily="18" charset="0"/>
              </a:rPr>
              <a:t>，</a:t>
            </a:r>
          </a:p>
          <a:p>
            <a:pPr algn="just"/>
            <a:r>
              <a:rPr lang="en-US" altLang="zh-CN" dirty="0">
                <a:solidFill>
                  <a:srgbClr val="000000"/>
                </a:solidFill>
                <a:latin typeface="楷体_GB2312" pitchFamily="49" charset="-122"/>
                <a:cs typeface="Times New Roman" panose="02020603050405020304" pitchFamily="18" charset="0"/>
              </a:rPr>
              <a:t>F={C#</a:t>
            </a:r>
            <a:r>
              <a:rPr lang="en-US" altLang="zh-CN" dirty="0">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dirty="0">
                <a:solidFill>
                  <a:srgbClr val="000000"/>
                </a:solidFill>
                <a:latin typeface="楷体_GB2312" pitchFamily="49" charset="-122"/>
                <a:cs typeface="Times New Roman" panose="02020603050405020304" pitchFamily="18" charset="0"/>
              </a:rPr>
              <a:t>TNAME,(S#,C#)</a:t>
            </a:r>
            <a:r>
              <a:rPr lang="en-US" altLang="zh-CN" dirty="0">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dirty="0">
                <a:solidFill>
                  <a:srgbClr val="000000"/>
                </a:solidFill>
                <a:latin typeface="楷体_GB2312" pitchFamily="49" charset="-122"/>
                <a:cs typeface="Times New Roman" panose="02020603050405020304" pitchFamily="18" charset="0"/>
              </a:rPr>
              <a:t>GRADE,TNAME</a:t>
            </a:r>
            <a:r>
              <a:rPr lang="en-US" altLang="zh-CN" dirty="0">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dirty="0">
                <a:solidFill>
                  <a:srgbClr val="000000"/>
                </a:solidFill>
                <a:latin typeface="楷体_GB2312" pitchFamily="49" charset="-122"/>
                <a:cs typeface="Times New Roman" panose="02020603050405020304" pitchFamily="18" charset="0"/>
              </a:rPr>
              <a:t>TRS}</a:t>
            </a:r>
            <a:endParaRPr lang="zh-CN" altLang="en-US" dirty="0">
              <a:solidFill>
                <a:srgbClr val="000000"/>
              </a:solidFill>
              <a:latin typeface="楷体_GB2312" pitchFamily="49" charset="-122"/>
              <a:cs typeface="Times New Roman" panose="02020603050405020304" pitchFamily="18" charset="0"/>
            </a:endParaRPr>
          </a:p>
        </p:txBody>
      </p:sp>
      <p:sp>
        <p:nvSpPr>
          <p:cNvPr id="633890" name="Rectangle 34">
            <a:extLst>
              <a:ext uri="{FF2B5EF4-FFF2-40B4-BE49-F238E27FC236}">
                <a16:creationId xmlns:a16="http://schemas.microsoft.com/office/drawing/2014/main" id="{A9B4A529-BFFF-4A04-A382-C69CE52A82B3}"/>
              </a:ext>
            </a:extLst>
          </p:cNvPr>
          <p:cNvSpPr>
            <a:spLocks noGrp="1" noChangeArrowheads="1"/>
          </p:cNvSpPr>
          <p:nvPr>
            <p:ph type="title"/>
          </p:nvPr>
        </p:nvSpPr>
        <p:spPr/>
        <p:txBody>
          <a:bodyPr/>
          <a:lstStyle/>
          <a:p>
            <a:r>
              <a:rPr lang="zh-CN" altLang="en-US"/>
              <a:t>四、第三范式</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8748"/>
    </mc:Choice>
    <mc:Fallback xmlns="">
      <p:transition spd="slow" advTm="28748"/>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9" presetClass="entr" presetSubtype="0" accel="100000" fill="hold" grpId="0" nodeType="clickEffect">
                                  <p:stCondLst>
                                    <p:cond delay="0"/>
                                  </p:stCondLst>
                                  <p:childTnLst>
                                    <p:set>
                                      <p:cBhvr>
                                        <p:cTn id="6" dur="1" fill="hold">
                                          <p:stCondLst>
                                            <p:cond delay="0"/>
                                          </p:stCondLst>
                                        </p:cTn>
                                        <p:tgtEl>
                                          <p:spTgt spid="633881"/>
                                        </p:tgtEl>
                                        <p:attrNameLst>
                                          <p:attrName>style.visibility</p:attrName>
                                        </p:attrNameLst>
                                      </p:cBhvr>
                                      <p:to>
                                        <p:strVal val="visible"/>
                                      </p:to>
                                    </p:set>
                                    <p:anim calcmode="lin" valueType="num">
                                      <p:cBhvr>
                                        <p:cTn id="7" dur="500" fill="hold"/>
                                        <p:tgtEl>
                                          <p:spTgt spid="633881"/>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633881"/>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633881"/>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633881"/>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633881"/>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53" presetClass="entr" presetSubtype="0" fill="hold" grpId="0" nodeType="clickEffect">
                                  <p:stCondLst>
                                    <p:cond delay="0"/>
                                  </p:stCondLst>
                                  <p:childTnLst>
                                    <p:set>
                                      <p:cBhvr>
                                        <p:cTn id="14" dur="1" fill="hold">
                                          <p:stCondLst>
                                            <p:cond delay="0"/>
                                          </p:stCondLst>
                                        </p:cTn>
                                        <p:tgtEl>
                                          <p:spTgt spid="633882"/>
                                        </p:tgtEl>
                                        <p:attrNameLst>
                                          <p:attrName>style.visibility</p:attrName>
                                        </p:attrNameLst>
                                      </p:cBhvr>
                                      <p:to>
                                        <p:strVal val="visible"/>
                                      </p:to>
                                    </p:set>
                                    <p:anim calcmode="lin" valueType="num">
                                      <p:cBhvr>
                                        <p:cTn id="15" dur="1000" fill="hold"/>
                                        <p:tgtEl>
                                          <p:spTgt spid="633882"/>
                                        </p:tgtEl>
                                        <p:attrNameLst>
                                          <p:attrName>ppt_w</p:attrName>
                                        </p:attrNameLst>
                                      </p:cBhvr>
                                      <p:tavLst>
                                        <p:tav tm="0">
                                          <p:val>
                                            <p:fltVal val="0"/>
                                          </p:val>
                                        </p:tav>
                                        <p:tav tm="100000">
                                          <p:val>
                                            <p:strVal val="#ppt_w"/>
                                          </p:val>
                                        </p:tav>
                                      </p:tavLst>
                                    </p:anim>
                                    <p:anim calcmode="lin" valueType="num">
                                      <p:cBhvr>
                                        <p:cTn id="16" dur="1000" fill="hold"/>
                                        <p:tgtEl>
                                          <p:spTgt spid="633882"/>
                                        </p:tgtEl>
                                        <p:attrNameLst>
                                          <p:attrName>ppt_h</p:attrName>
                                        </p:attrNameLst>
                                      </p:cBhvr>
                                      <p:tavLst>
                                        <p:tav tm="0">
                                          <p:val>
                                            <p:fltVal val="0"/>
                                          </p:val>
                                        </p:tav>
                                        <p:tav tm="100000">
                                          <p:val>
                                            <p:strVal val="#ppt_h"/>
                                          </p:val>
                                        </p:tav>
                                      </p:tavLst>
                                    </p:anim>
                                    <p:animEffect transition="in" filter="fade">
                                      <p:cBhvr>
                                        <p:cTn id="17" dur="1000"/>
                                        <p:tgtEl>
                                          <p:spTgt spid="63388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3" presetClass="entr" presetSubtype="0" fill="hold" grpId="0" nodeType="clickEffect">
                                  <p:stCondLst>
                                    <p:cond delay="0"/>
                                  </p:stCondLst>
                                  <p:childTnLst>
                                    <p:set>
                                      <p:cBhvr>
                                        <p:cTn id="21" dur="1" fill="hold">
                                          <p:stCondLst>
                                            <p:cond delay="0"/>
                                          </p:stCondLst>
                                        </p:cTn>
                                        <p:tgtEl>
                                          <p:spTgt spid="633883"/>
                                        </p:tgtEl>
                                        <p:attrNameLst>
                                          <p:attrName>style.visibility</p:attrName>
                                        </p:attrNameLst>
                                      </p:cBhvr>
                                      <p:to>
                                        <p:strVal val="visible"/>
                                      </p:to>
                                    </p:set>
                                    <p:anim calcmode="lin" valueType="num">
                                      <p:cBhvr>
                                        <p:cTn id="22" dur="1000" fill="hold"/>
                                        <p:tgtEl>
                                          <p:spTgt spid="633883"/>
                                        </p:tgtEl>
                                        <p:attrNameLst>
                                          <p:attrName>ppt_w</p:attrName>
                                        </p:attrNameLst>
                                      </p:cBhvr>
                                      <p:tavLst>
                                        <p:tav tm="0">
                                          <p:val>
                                            <p:fltVal val="0"/>
                                          </p:val>
                                        </p:tav>
                                        <p:tav tm="100000">
                                          <p:val>
                                            <p:strVal val="#ppt_w"/>
                                          </p:val>
                                        </p:tav>
                                      </p:tavLst>
                                    </p:anim>
                                    <p:anim calcmode="lin" valueType="num">
                                      <p:cBhvr>
                                        <p:cTn id="23" dur="1000" fill="hold"/>
                                        <p:tgtEl>
                                          <p:spTgt spid="633883"/>
                                        </p:tgtEl>
                                        <p:attrNameLst>
                                          <p:attrName>ppt_h</p:attrName>
                                        </p:attrNameLst>
                                      </p:cBhvr>
                                      <p:tavLst>
                                        <p:tav tm="0">
                                          <p:val>
                                            <p:fltVal val="0"/>
                                          </p:val>
                                        </p:tav>
                                        <p:tav tm="100000">
                                          <p:val>
                                            <p:strVal val="#ppt_h"/>
                                          </p:val>
                                        </p:tav>
                                      </p:tavLst>
                                    </p:anim>
                                    <p:animEffect transition="in" filter="fade">
                                      <p:cBhvr>
                                        <p:cTn id="24" dur="1000"/>
                                        <p:tgtEl>
                                          <p:spTgt spid="63388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3" presetClass="entr" presetSubtype="0" fill="hold" grpId="0" nodeType="clickEffect">
                                  <p:stCondLst>
                                    <p:cond delay="0"/>
                                  </p:stCondLst>
                                  <p:childTnLst>
                                    <p:set>
                                      <p:cBhvr>
                                        <p:cTn id="28" dur="1" fill="hold">
                                          <p:stCondLst>
                                            <p:cond delay="0"/>
                                          </p:stCondLst>
                                        </p:cTn>
                                        <p:tgtEl>
                                          <p:spTgt spid="633884"/>
                                        </p:tgtEl>
                                        <p:attrNameLst>
                                          <p:attrName>style.visibility</p:attrName>
                                        </p:attrNameLst>
                                      </p:cBhvr>
                                      <p:to>
                                        <p:strVal val="visible"/>
                                      </p:to>
                                    </p:set>
                                    <p:anim calcmode="lin" valueType="num">
                                      <p:cBhvr>
                                        <p:cTn id="29" dur="1000" fill="hold"/>
                                        <p:tgtEl>
                                          <p:spTgt spid="633884"/>
                                        </p:tgtEl>
                                        <p:attrNameLst>
                                          <p:attrName>ppt_w</p:attrName>
                                        </p:attrNameLst>
                                      </p:cBhvr>
                                      <p:tavLst>
                                        <p:tav tm="0">
                                          <p:val>
                                            <p:fltVal val="0"/>
                                          </p:val>
                                        </p:tav>
                                        <p:tav tm="100000">
                                          <p:val>
                                            <p:strVal val="#ppt_w"/>
                                          </p:val>
                                        </p:tav>
                                      </p:tavLst>
                                    </p:anim>
                                    <p:anim calcmode="lin" valueType="num">
                                      <p:cBhvr>
                                        <p:cTn id="30" dur="1000" fill="hold"/>
                                        <p:tgtEl>
                                          <p:spTgt spid="633884"/>
                                        </p:tgtEl>
                                        <p:attrNameLst>
                                          <p:attrName>ppt_h</p:attrName>
                                        </p:attrNameLst>
                                      </p:cBhvr>
                                      <p:tavLst>
                                        <p:tav tm="0">
                                          <p:val>
                                            <p:fltVal val="0"/>
                                          </p:val>
                                        </p:tav>
                                        <p:tav tm="100000">
                                          <p:val>
                                            <p:strVal val="#ppt_h"/>
                                          </p:val>
                                        </p:tav>
                                      </p:tavLst>
                                    </p:anim>
                                    <p:animEffect transition="in" filter="fade">
                                      <p:cBhvr>
                                        <p:cTn id="31" dur="1000"/>
                                        <p:tgtEl>
                                          <p:spTgt spid="63388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53" presetClass="entr" presetSubtype="0" fill="hold" grpId="0" nodeType="clickEffect">
                                  <p:stCondLst>
                                    <p:cond delay="0"/>
                                  </p:stCondLst>
                                  <p:childTnLst>
                                    <p:set>
                                      <p:cBhvr>
                                        <p:cTn id="35" dur="1" fill="hold">
                                          <p:stCondLst>
                                            <p:cond delay="0"/>
                                          </p:stCondLst>
                                        </p:cTn>
                                        <p:tgtEl>
                                          <p:spTgt spid="633887"/>
                                        </p:tgtEl>
                                        <p:attrNameLst>
                                          <p:attrName>style.visibility</p:attrName>
                                        </p:attrNameLst>
                                      </p:cBhvr>
                                      <p:to>
                                        <p:strVal val="visible"/>
                                      </p:to>
                                    </p:set>
                                    <p:anim calcmode="lin" valueType="num">
                                      <p:cBhvr>
                                        <p:cTn id="36" dur="1000" fill="hold"/>
                                        <p:tgtEl>
                                          <p:spTgt spid="633887"/>
                                        </p:tgtEl>
                                        <p:attrNameLst>
                                          <p:attrName>ppt_w</p:attrName>
                                        </p:attrNameLst>
                                      </p:cBhvr>
                                      <p:tavLst>
                                        <p:tav tm="0">
                                          <p:val>
                                            <p:fltVal val="0"/>
                                          </p:val>
                                        </p:tav>
                                        <p:tav tm="100000">
                                          <p:val>
                                            <p:strVal val="#ppt_w"/>
                                          </p:val>
                                        </p:tav>
                                      </p:tavLst>
                                    </p:anim>
                                    <p:anim calcmode="lin" valueType="num">
                                      <p:cBhvr>
                                        <p:cTn id="37" dur="1000" fill="hold"/>
                                        <p:tgtEl>
                                          <p:spTgt spid="633887"/>
                                        </p:tgtEl>
                                        <p:attrNameLst>
                                          <p:attrName>ppt_h</p:attrName>
                                        </p:attrNameLst>
                                      </p:cBhvr>
                                      <p:tavLst>
                                        <p:tav tm="0">
                                          <p:val>
                                            <p:fltVal val="0"/>
                                          </p:val>
                                        </p:tav>
                                        <p:tav tm="100000">
                                          <p:val>
                                            <p:strVal val="#ppt_h"/>
                                          </p:val>
                                        </p:tav>
                                      </p:tavLst>
                                    </p:anim>
                                    <p:animEffect transition="in" filter="fade">
                                      <p:cBhvr>
                                        <p:cTn id="38" dur="1000"/>
                                        <p:tgtEl>
                                          <p:spTgt spid="6338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3881" grpId="0" animBg="1"/>
      <p:bldP spid="633882" grpId="0" animBg="1"/>
      <p:bldP spid="633883" grpId="0" animBg="1"/>
      <p:bldP spid="633884" grpId="0" animBg="1"/>
      <p:bldP spid="633887"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886" name="AutoShape 6">
            <a:extLst>
              <a:ext uri="{FF2B5EF4-FFF2-40B4-BE49-F238E27FC236}">
                <a16:creationId xmlns:a16="http://schemas.microsoft.com/office/drawing/2014/main" id="{D3D2DB14-E497-4990-9269-C886B7675239}"/>
              </a:ext>
            </a:extLst>
          </p:cNvPr>
          <p:cNvSpPr>
            <a:spLocks noChangeArrowheads="1"/>
          </p:cNvSpPr>
          <p:nvPr/>
        </p:nvSpPr>
        <p:spPr bwMode="auto">
          <a:xfrm>
            <a:off x="250825" y="1484313"/>
            <a:ext cx="252413" cy="252412"/>
          </a:xfrm>
          <a:prstGeom prst="triangle">
            <a:avLst>
              <a:gd name="adj" fmla="val 50000"/>
            </a:avLst>
          </a:prstGeom>
          <a:solidFill>
            <a:srgbClr val="FF0000"/>
          </a:solidFill>
          <a:ln w="12700" cap="sq">
            <a:solidFill>
              <a:srgbClr val="FF9900"/>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634887" name="Rectangle 7">
            <a:extLst>
              <a:ext uri="{FF2B5EF4-FFF2-40B4-BE49-F238E27FC236}">
                <a16:creationId xmlns:a16="http://schemas.microsoft.com/office/drawing/2014/main" id="{1096D1FE-02A4-4B1B-803E-C96AE4A14E20}"/>
              </a:ext>
            </a:extLst>
          </p:cNvPr>
          <p:cNvSpPr>
            <a:spLocks noGrp="1" noChangeArrowheads="1"/>
          </p:cNvSpPr>
          <p:nvPr>
            <p:ph type="title"/>
          </p:nvPr>
        </p:nvSpPr>
        <p:spPr/>
        <p:txBody>
          <a:bodyPr/>
          <a:lstStyle/>
          <a:p>
            <a:r>
              <a:rPr lang="zh-CN" altLang="en-US"/>
              <a:t>四、第三范式</a:t>
            </a:r>
          </a:p>
        </p:txBody>
      </p:sp>
      <p:sp>
        <p:nvSpPr>
          <p:cNvPr id="634888" name="Rectangle 8">
            <a:extLst>
              <a:ext uri="{FF2B5EF4-FFF2-40B4-BE49-F238E27FC236}">
                <a16:creationId xmlns:a16="http://schemas.microsoft.com/office/drawing/2014/main" id="{A106FCE7-6CB9-4C84-B1F4-DFE7DFED3662}"/>
              </a:ext>
            </a:extLst>
          </p:cNvPr>
          <p:cNvSpPr>
            <a:spLocks noGrp="1" noChangeArrowheads="1"/>
          </p:cNvSpPr>
          <p:nvPr>
            <p:ph type="body" idx="1"/>
          </p:nvPr>
        </p:nvSpPr>
        <p:spPr/>
        <p:txBody>
          <a:bodyPr/>
          <a:lstStyle/>
          <a:p>
            <a:pPr algn="just"/>
            <a:r>
              <a:rPr lang="en-US" altLang="zh-CN">
                <a:latin typeface="楷体_GB2312" pitchFamily="49" charset="-122"/>
                <a:cs typeface="Times New Roman" panose="02020603050405020304" pitchFamily="18" charset="0"/>
              </a:rPr>
              <a:t>2</a:t>
            </a:r>
            <a:r>
              <a:rPr lang="zh-CN" altLang="en-US">
                <a:latin typeface="楷体_GB2312" pitchFamily="49" charset="-122"/>
                <a:cs typeface="Times New Roman" panose="02020603050405020304" pitchFamily="18" charset="0"/>
              </a:rPr>
              <a:t>、分解成</a:t>
            </a:r>
            <a:r>
              <a:rPr lang="en-US" altLang="zh-CN">
                <a:latin typeface="楷体_GB2312" pitchFamily="49" charset="-122"/>
                <a:cs typeface="Times New Roman" panose="02020603050405020304" pitchFamily="18" charset="0"/>
              </a:rPr>
              <a:t>3NF</a:t>
            </a:r>
            <a:r>
              <a:rPr lang="zh-CN" altLang="en-US">
                <a:latin typeface="楷体_GB2312" pitchFamily="49" charset="-122"/>
                <a:cs typeface="Times New Roman" panose="02020603050405020304" pitchFamily="18" charset="0"/>
              </a:rPr>
              <a:t>模式集的算法</a:t>
            </a:r>
          </a:p>
          <a:p>
            <a:pPr algn="just"/>
            <a:r>
              <a:rPr lang="zh-CN" altLang="en-US">
                <a:solidFill>
                  <a:schemeClr val="tx2"/>
                </a:solidFill>
                <a:latin typeface="楷体_GB2312" pitchFamily="49" charset="-122"/>
                <a:cs typeface="Times New Roman" panose="02020603050405020304" pitchFamily="18" charset="0"/>
              </a:rPr>
              <a:t>定理</a:t>
            </a:r>
            <a:r>
              <a:rPr lang="en-US" altLang="zh-CN">
                <a:solidFill>
                  <a:srgbClr val="000000"/>
                </a:solidFill>
                <a:latin typeface="楷体_GB2312" pitchFamily="49" charset="-122"/>
                <a:cs typeface="Times New Roman" panose="02020603050405020304" pitchFamily="18" charset="0"/>
              </a:rPr>
              <a:t>6.9 </a:t>
            </a:r>
            <a:r>
              <a:rPr lang="zh-CN" altLang="en-US">
                <a:solidFill>
                  <a:srgbClr val="000000"/>
                </a:solidFill>
                <a:latin typeface="楷体_GB2312" pitchFamily="49" charset="-122"/>
                <a:cs typeface="Times New Roman" panose="02020603050405020304" pitchFamily="18" charset="0"/>
              </a:rPr>
              <a:t>向</a:t>
            </a:r>
            <a:r>
              <a:rPr lang="en-US" altLang="zh-CN">
                <a:solidFill>
                  <a:srgbClr val="000000"/>
                </a:solidFill>
                <a:latin typeface="楷体_GB2312" pitchFamily="49" charset="-122"/>
                <a:cs typeface="Times New Roman" panose="02020603050405020304" pitchFamily="18" charset="0"/>
              </a:rPr>
              <a:t>3NF</a:t>
            </a:r>
            <a:r>
              <a:rPr lang="zh-CN" altLang="en-US">
                <a:solidFill>
                  <a:srgbClr val="000000"/>
                </a:solidFill>
                <a:latin typeface="楷体_GB2312" pitchFamily="49" charset="-122"/>
                <a:cs typeface="Times New Roman" panose="02020603050405020304" pitchFamily="18" charset="0"/>
              </a:rPr>
              <a:t>的</a:t>
            </a:r>
            <a:r>
              <a:rPr lang="zh-CN" altLang="en-US">
                <a:solidFill>
                  <a:srgbClr val="008000"/>
                </a:solidFill>
                <a:latin typeface="楷体_GB2312" pitchFamily="49" charset="-122"/>
                <a:cs typeface="Times New Roman" panose="02020603050405020304" pitchFamily="18" charset="0"/>
              </a:rPr>
              <a:t>无损联接并保持依赖</a:t>
            </a:r>
            <a:r>
              <a:rPr lang="zh-CN" altLang="en-US">
                <a:solidFill>
                  <a:srgbClr val="000000"/>
                </a:solidFill>
                <a:latin typeface="楷体_GB2312" pitchFamily="49" charset="-122"/>
                <a:cs typeface="Times New Roman" panose="02020603050405020304" pitchFamily="18" charset="0"/>
              </a:rPr>
              <a:t>的分解</a:t>
            </a:r>
          </a:p>
          <a:p>
            <a:pPr algn="just"/>
            <a:r>
              <a:rPr lang="zh-CN" altLang="en-US">
                <a:solidFill>
                  <a:srgbClr val="000000"/>
                </a:solidFill>
                <a:latin typeface="楷体_GB2312" pitchFamily="49" charset="-122"/>
                <a:cs typeface="Times New Roman" panose="02020603050405020304" pitchFamily="18" charset="0"/>
              </a:rPr>
              <a:t>     设</a:t>
            </a:r>
            <a:r>
              <a:rPr lang="zh-CN" altLang="en-US">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a:solidFill>
                  <a:srgbClr val="000000"/>
                </a:solidFill>
                <a:latin typeface="楷体_GB2312" pitchFamily="49" charset="-122"/>
                <a:cs typeface="Times New Roman" panose="02020603050405020304" pitchFamily="18" charset="0"/>
              </a:rPr>
              <a:t>={R</a:t>
            </a:r>
            <a:r>
              <a:rPr lang="en-US" altLang="zh-CN" baseline="-30000">
                <a:solidFill>
                  <a:srgbClr val="000000"/>
                </a:solidFill>
                <a:latin typeface="楷体_GB2312" pitchFamily="49" charset="-122"/>
                <a:cs typeface="Times New Roman" panose="02020603050405020304" pitchFamily="18" charset="0"/>
              </a:rPr>
              <a:t>1</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R</a:t>
            </a:r>
            <a:r>
              <a:rPr lang="en-US" altLang="zh-CN" baseline="-30000">
                <a:solidFill>
                  <a:srgbClr val="000000"/>
                </a:solidFill>
                <a:latin typeface="楷体_GB2312" pitchFamily="49" charset="-122"/>
                <a:cs typeface="Times New Roman" panose="02020603050405020304" pitchFamily="18" charset="0"/>
              </a:rPr>
              <a:t>2</a:t>
            </a:r>
            <a:r>
              <a:rPr lang="en-US" altLang="zh-CN">
                <a:solidFill>
                  <a:srgbClr val="000000"/>
                </a:solidFill>
                <a:cs typeface="Times New Roman" panose="02020603050405020304" pitchFamily="18" charset="0"/>
              </a:rPr>
              <a:t>…</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R</a:t>
            </a:r>
            <a:r>
              <a:rPr lang="en-US" altLang="zh-CN" baseline="-30000">
                <a:solidFill>
                  <a:srgbClr val="000000"/>
                </a:solidFill>
                <a:latin typeface="楷体_GB2312" pitchFamily="49" charset="-122"/>
                <a:cs typeface="Times New Roman" panose="02020603050405020304" pitchFamily="18" charset="0"/>
              </a:rPr>
              <a:t>k</a:t>
            </a:r>
            <a:r>
              <a:rPr lang="en-US" altLang="zh-CN">
                <a:solidFill>
                  <a:srgbClr val="000000"/>
                </a:solidFill>
                <a:latin typeface="楷体_GB2312" pitchFamily="49" charset="-122"/>
                <a:cs typeface="Times New Roman" panose="02020603050405020304" pitchFamily="18" charset="0"/>
              </a:rPr>
              <a:t>}</a:t>
            </a:r>
            <a:r>
              <a:rPr lang="zh-CN" altLang="en-US">
                <a:solidFill>
                  <a:srgbClr val="000000"/>
                </a:solidFill>
                <a:latin typeface="楷体_GB2312" pitchFamily="49" charset="-122"/>
                <a:cs typeface="Times New Roman" panose="02020603050405020304" pitchFamily="18" charset="0"/>
              </a:rPr>
              <a:t>是由算法</a:t>
            </a:r>
            <a:r>
              <a:rPr lang="en-US" altLang="zh-CN">
                <a:solidFill>
                  <a:srgbClr val="000000"/>
                </a:solidFill>
                <a:latin typeface="楷体_GB2312" pitchFamily="49" charset="-122"/>
                <a:cs typeface="Times New Roman" panose="02020603050405020304" pitchFamily="18" charset="0"/>
              </a:rPr>
              <a:t>6.5</a:t>
            </a:r>
            <a:r>
              <a:rPr lang="zh-CN" altLang="en-US">
                <a:solidFill>
                  <a:srgbClr val="000000"/>
                </a:solidFill>
                <a:latin typeface="楷体_GB2312" pitchFamily="49" charset="-122"/>
                <a:cs typeface="Times New Roman" panose="02020603050405020304" pitchFamily="18" charset="0"/>
              </a:rPr>
              <a:t>得到的</a:t>
            </a:r>
            <a:r>
              <a:rPr lang="en-US" altLang="zh-CN">
                <a:solidFill>
                  <a:srgbClr val="000000"/>
                </a:solidFill>
                <a:latin typeface="楷体_GB2312" pitchFamily="49" charset="-122"/>
                <a:cs typeface="Times New Roman" panose="02020603050405020304" pitchFamily="18" charset="0"/>
              </a:rPr>
              <a:t>R</a:t>
            </a:r>
            <a:r>
              <a:rPr lang="zh-CN" altLang="en-US">
                <a:solidFill>
                  <a:srgbClr val="000000"/>
                </a:solidFill>
                <a:latin typeface="楷体_GB2312" pitchFamily="49" charset="-122"/>
                <a:cs typeface="Times New Roman" panose="02020603050405020304" pitchFamily="18" charset="0"/>
              </a:rPr>
              <a:t>的</a:t>
            </a:r>
            <a:r>
              <a:rPr lang="en-US" altLang="zh-CN">
                <a:solidFill>
                  <a:srgbClr val="000000"/>
                </a:solidFill>
                <a:latin typeface="楷体_GB2312" pitchFamily="49" charset="-122"/>
                <a:cs typeface="Times New Roman" panose="02020603050405020304" pitchFamily="18" charset="0"/>
              </a:rPr>
              <a:t>3NF</a:t>
            </a:r>
            <a:r>
              <a:rPr lang="zh-CN" altLang="en-US">
                <a:solidFill>
                  <a:srgbClr val="000000"/>
                </a:solidFill>
                <a:latin typeface="楷体_GB2312" pitchFamily="49" charset="-122"/>
                <a:cs typeface="Times New Roman" panose="02020603050405020304" pitchFamily="18" charset="0"/>
              </a:rPr>
              <a:t>分解，</a:t>
            </a:r>
            <a:r>
              <a:rPr lang="en-US" altLang="zh-CN">
                <a:solidFill>
                  <a:srgbClr val="000000"/>
                </a:solidFill>
                <a:latin typeface="楷体_GB2312" pitchFamily="49" charset="-122"/>
                <a:cs typeface="Times New Roman" panose="02020603050405020304" pitchFamily="18" charset="0"/>
              </a:rPr>
              <a:t>X</a:t>
            </a:r>
            <a:r>
              <a:rPr lang="zh-CN" altLang="en-US">
                <a:solidFill>
                  <a:srgbClr val="000000"/>
                </a:solidFill>
                <a:latin typeface="楷体_GB2312" pitchFamily="49" charset="-122"/>
                <a:cs typeface="Times New Roman" panose="02020603050405020304" pitchFamily="18" charset="0"/>
              </a:rPr>
              <a:t>是</a:t>
            </a:r>
            <a:r>
              <a:rPr lang="en-US" altLang="zh-CN">
                <a:solidFill>
                  <a:srgbClr val="000000"/>
                </a:solidFill>
                <a:latin typeface="楷体_GB2312" pitchFamily="49" charset="-122"/>
                <a:cs typeface="Times New Roman" panose="02020603050405020304" pitchFamily="18" charset="0"/>
              </a:rPr>
              <a:t>R</a:t>
            </a:r>
            <a:r>
              <a:rPr lang="zh-CN" altLang="en-US">
                <a:solidFill>
                  <a:srgbClr val="000000"/>
                </a:solidFill>
                <a:latin typeface="楷体_GB2312" pitchFamily="49" charset="-122"/>
                <a:cs typeface="Times New Roman" panose="02020603050405020304" pitchFamily="18" charset="0"/>
              </a:rPr>
              <a:t>的一个候选键，则</a:t>
            </a:r>
          </a:p>
          <a:p>
            <a:pPr algn="just"/>
            <a:r>
              <a:rPr lang="zh-CN" altLang="en-US">
                <a:solidFill>
                  <a:srgbClr val="000000"/>
                </a:solidFill>
                <a:latin typeface="楷体_GB2312" pitchFamily="49" charset="-122"/>
                <a:cs typeface="Times New Roman" panose="02020603050405020304" pitchFamily="18" charset="0"/>
                <a:sym typeface="Symbol" panose="05050102010706020507" pitchFamily="18" charset="2"/>
              </a:rPr>
              <a:t>      </a:t>
            </a:r>
            <a:r>
              <a:rPr lang="en-US" altLang="zh-CN">
                <a:solidFill>
                  <a:srgbClr val="000000"/>
                </a:solidFill>
                <a:latin typeface="楷体_GB2312" pitchFamily="49" charset="-122"/>
                <a:cs typeface="Times New Roman" panose="02020603050405020304" pitchFamily="18" charset="0"/>
              </a:rPr>
              <a:t>={ R</a:t>
            </a:r>
            <a:r>
              <a:rPr lang="en-US" altLang="zh-CN" baseline="-30000">
                <a:solidFill>
                  <a:srgbClr val="000000"/>
                </a:solidFill>
                <a:latin typeface="楷体_GB2312" pitchFamily="49" charset="-122"/>
                <a:cs typeface="Times New Roman" panose="02020603050405020304" pitchFamily="18" charset="0"/>
              </a:rPr>
              <a:t>1</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R</a:t>
            </a:r>
            <a:r>
              <a:rPr lang="en-US" altLang="zh-CN" baseline="-30000">
                <a:solidFill>
                  <a:srgbClr val="000000"/>
                </a:solidFill>
                <a:latin typeface="楷体_GB2312" pitchFamily="49" charset="-122"/>
                <a:cs typeface="Times New Roman" panose="02020603050405020304" pitchFamily="18" charset="0"/>
              </a:rPr>
              <a:t>2</a:t>
            </a:r>
            <a:r>
              <a:rPr lang="en-US" altLang="zh-CN">
                <a:solidFill>
                  <a:srgbClr val="000000"/>
                </a:solidFill>
                <a:cs typeface="Times New Roman" panose="02020603050405020304" pitchFamily="18" charset="0"/>
              </a:rPr>
              <a:t>…</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R</a:t>
            </a:r>
            <a:r>
              <a:rPr lang="en-US" altLang="zh-CN" baseline="-30000">
                <a:solidFill>
                  <a:srgbClr val="000000"/>
                </a:solidFill>
                <a:latin typeface="楷体_GB2312" pitchFamily="49" charset="-122"/>
                <a:cs typeface="Times New Roman" panose="02020603050405020304" pitchFamily="18" charset="0"/>
              </a:rPr>
              <a:t>k</a:t>
            </a:r>
            <a:r>
              <a:rPr lang="en-US" altLang="zh-CN">
                <a:solidFill>
                  <a:srgbClr val="000000"/>
                </a:solidFill>
                <a:latin typeface="楷体_GB2312" pitchFamily="49" charset="-122"/>
                <a:cs typeface="Times New Roman" panose="02020603050405020304" pitchFamily="18" charset="0"/>
              </a:rPr>
              <a:t>,</a:t>
            </a:r>
            <a:r>
              <a:rPr lang="en-US" altLang="zh-CN">
                <a:solidFill>
                  <a:srgbClr val="0033CC"/>
                </a:solidFill>
                <a:latin typeface="楷体_GB2312" pitchFamily="49" charset="-122"/>
                <a:cs typeface="Times New Roman" panose="02020603050405020304" pitchFamily="18" charset="0"/>
              </a:rPr>
              <a:t>X</a:t>
            </a:r>
            <a:r>
              <a:rPr lang="en-US" altLang="zh-CN">
                <a:solidFill>
                  <a:schemeClr val="folHlink"/>
                </a:solidFill>
                <a:latin typeface="楷体_GB2312" pitchFamily="49" charset="-122"/>
                <a:cs typeface="Times New Roman" panose="02020603050405020304" pitchFamily="18" charset="0"/>
              </a:rPr>
              <a:t> </a:t>
            </a:r>
            <a:r>
              <a:rPr lang="en-US" altLang="zh-CN">
                <a:solidFill>
                  <a:srgbClr val="000000"/>
                </a:solidFill>
                <a:latin typeface="楷体_GB2312" pitchFamily="49" charset="-122"/>
                <a:cs typeface="Times New Roman" panose="02020603050405020304" pitchFamily="18" charset="0"/>
              </a:rPr>
              <a:t>}</a:t>
            </a:r>
            <a:r>
              <a:rPr lang="zh-CN" altLang="en-US">
                <a:solidFill>
                  <a:srgbClr val="000000"/>
                </a:solidFill>
                <a:latin typeface="楷体_GB2312" pitchFamily="49" charset="-122"/>
                <a:cs typeface="Times New Roman" panose="02020603050405020304" pitchFamily="18" charset="0"/>
              </a:rPr>
              <a:t>也是</a:t>
            </a:r>
            <a:r>
              <a:rPr lang="en-US" altLang="zh-CN">
                <a:solidFill>
                  <a:srgbClr val="000000"/>
                </a:solidFill>
                <a:latin typeface="楷体_GB2312" pitchFamily="49" charset="-122"/>
                <a:cs typeface="Times New Roman" panose="02020603050405020304" pitchFamily="18" charset="0"/>
              </a:rPr>
              <a:t>R</a:t>
            </a:r>
            <a:r>
              <a:rPr lang="zh-CN" altLang="en-US">
                <a:solidFill>
                  <a:srgbClr val="000000"/>
                </a:solidFill>
                <a:latin typeface="楷体_GB2312" pitchFamily="49" charset="-122"/>
                <a:cs typeface="Times New Roman" panose="02020603050405020304" pitchFamily="18" charset="0"/>
              </a:rPr>
              <a:t>的一个分解。</a:t>
            </a:r>
          </a:p>
          <a:p>
            <a:pPr algn="just"/>
            <a:r>
              <a:rPr lang="zh-CN" altLang="en-US">
                <a:solidFill>
                  <a:srgbClr val="000000"/>
                </a:solidFill>
                <a:latin typeface="楷体_GB2312" pitchFamily="49" charset="-122"/>
                <a:cs typeface="Times New Roman" panose="02020603050405020304" pitchFamily="18" charset="0"/>
              </a:rPr>
              <a:t>   分解</a:t>
            </a:r>
            <a:r>
              <a:rPr lang="zh-CN" altLang="en-US">
                <a:solidFill>
                  <a:srgbClr val="000000"/>
                </a:solidFill>
                <a:latin typeface="楷体_GB2312" pitchFamily="49" charset="-122"/>
                <a:cs typeface="Times New Roman" panose="02020603050405020304" pitchFamily="18" charset="0"/>
                <a:sym typeface="Symbol" panose="05050102010706020507" pitchFamily="18" charset="2"/>
              </a:rPr>
              <a:t></a:t>
            </a:r>
            <a:r>
              <a:rPr lang="zh-CN" altLang="en-US">
                <a:solidFill>
                  <a:srgbClr val="000000"/>
                </a:solidFill>
                <a:latin typeface="楷体_GB2312" pitchFamily="49" charset="-122"/>
                <a:cs typeface="Times New Roman" panose="02020603050405020304" pitchFamily="18" charset="0"/>
              </a:rPr>
              <a:t>中的所有关系模式是</a:t>
            </a:r>
            <a:r>
              <a:rPr lang="en-US" altLang="zh-CN">
                <a:solidFill>
                  <a:srgbClr val="000000"/>
                </a:solidFill>
                <a:latin typeface="楷体_GB2312" pitchFamily="49" charset="-122"/>
                <a:cs typeface="Times New Roman" panose="02020603050405020304" pitchFamily="18" charset="0"/>
              </a:rPr>
              <a:t>3NF</a:t>
            </a:r>
            <a:r>
              <a:rPr lang="zh-CN" altLang="en-US">
                <a:solidFill>
                  <a:srgbClr val="000000"/>
                </a:solidFill>
                <a:latin typeface="楷体_GB2312" pitchFamily="49" charset="-122"/>
                <a:cs typeface="Times New Roman" panose="02020603050405020304" pitchFamily="18" charset="0"/>
              </a:rPr>
              <a:t>的，且分解</a:t>
            </a:r>
            <a:r>
              <a:rPr lang="zh-CN" altLang="en-US">
                <a:solidFill>
                  <a:srgbClr val="000000"/>
                </a:solidFill>
                <a:latin typeface="楷体_GB2312" pitchFamily="49" charset="-122"/>
                <a:cs typeface="Times New Roman" panose="02020603050405020304" pitchFamily="18" charset="0"/>
                <a:sym typeface="Symbol" panose="05050102010706020507" pitchFamily="18" charset="2"/>
              </a:rPr>
              <a:t></a:t>
            </a:r>
            <a:r>
              <a:rPr lang="zh-CN" altLang="en-US">
                <a:solidFill>
                  <a:srgbClr val="000000"/>
                </a:solidFill>
                <a:latin typeface="楷体_GB2312" pitchFamily="49" charset="-122"/>
                <a:cs typeface="Times New Roman" panose="02020603050405020304" pitchFamily="18" charset="0"/>
              </a:rPr>
              <a:t>保持依赖和具有无损联接性。 </a:t>
            </a:r>
            <a:endParaRPr lang="zh-CN" altLang="en-US"/>
          </a:p>
        </p:txBody>
      </p:sp>
      <p:sp>
        <p:nvSpPr>
          <p:cNvPr id="634884" name="AutoShape 4">
            <a:extLst>
              <a:ext uri="{FF2B5EF4-FFF2-40B4-BE49-F238E27FC236}">
                <a16:creationId xmlns:a16="http://schemas.microsoft.com/office/drawing/2014/main" id="{A8F72A7E-0DF8-48C0-A331-5403F1FC946C}"/>
              </a:ext>
            </a:extLst>
          </p:cNvPr>
          <p:cNvSpPr>
            <a:spLocks noChangeArrowheads="1"/>
          </p:cNvSpPr>
          <p:nvPr/>
        </p:nvSpPr>
        <p:spPr bwMode="auto">
          <a:xfrm>
            <a:off x="4500563" y="5013325"/>
            <a:ext cx="4030662" cy="1152525"/>
          </a:xfrm>
          <a:prstGeom prst="wedgeRectCallout">
            <a:avLst>
              <a:gd name="adj1" fmla="val -105769"/>
              <a:gd name="adj2" fmla="val -217907"/>
            </a:avLst>
          </a:prstGeom>
          <a:solidFill>
            <a:srgbClr val="000080"/>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lstStyle/>
          <a:p>
            <a:pPr algn="ctr"/>
            <a:r>
              <a:rPr lang="zh-CN" altLang="en-US" sz="2400" b="1">
                <a:solidFill>
                  <a:srgbClr val="00FFFF"/>
                </a:solidFill>
                <a:effectLst>
                  <a:outerShdw blurRad="38100" dist="38100" dir="2700000" algn="tl">
                    <a:srgbClr val="000000"/>
                  </a:outerShdw>
                </a:effectLst>
                <a:ea typeface="黑体" panose="02010609060101010101" pitchFamily="49" charset="-122"/>
              </a:rPr>
              <a:t>若某个</a:t>
            </a:r>
            <a:r>
              <a:rPr lang="en-US" altLang="zh-CN" sz="2400" b="1">
                <a:solidFill>
                  <a:srgbClr val="00FFFF"/>
                </a:solidFill>
                <a:effectLst>
                  <a:outerShdw blurRad="38100" dist="38100" dir="2700000" algn="tl">
                    <a:srgbClr val="000000"/>
                  </a:outerShdw>
                </a:effectLst>
                <a:ea typeface="黑体" panose="02010609060101010101" pitchFamily="49" charset="-122"/>
              </a:rPr>
              <a:t>R</a:t>
            </a:r>
            <a:r>
              <a:rPr lang="en-US" altLang="zh-CN" sz="2400" b="1" baseline="-25000">
                <a:solidFill>
                  <a:srgbClr val="00FFFF"/>
                </a:solidFill>
                <a:effectLst>
                  <a:outerShdw blurRad="38100" dist="38100" dir="2700000" algn="tl">
                    <a:srgbClr val="000000"/>
                  </a:outerShdw>
                </a:effectLst>
                <a:ea typeface="黑体" panose="02010609060101010101" pitchFamily="49" charset="-122"/>
              </a:rPr>
              <a:t>i</a:t>
            </a:r>
            <a:r>
              <a:rPr lang="zh-CN" altLang="en-US" sz="2400" b="1">
                <a:solidFill>
                  <a:srgbClr val="00FFFF"/>
                </a:solidFill>
                <a:effectLst>
                  <a:outerShdw blurRad="38100" dist="38100" dir="2700000" algn="tl">
                    <a:srgbClr val="000000"/>
                  </a:outerShdw>
                </a:effectLst>
                <a:ea typeface="黑体" panose="02010609060101010101" pitchFamily="49" charset="-122"/>
              </a:rPr>
              <a:t>中包含了候选键</a:t>
            </a:r>
            <a:r>
              <a:rPr lang="en-US" altLang="zh-CN" sz="2400" b="1">
                <a:solidFill>
                  <a:srgbClr val="00FFFF"/>
                </a:solidFill>
                <a:effectLst>
                  <a:outerShdw blurRad="38100" dist="38100" dir="2700000" algn="tl">
                    <a:srgbClr val="000000"/>
                  </a:outerShdw>
                </a:effectLst>
                <a:ea typeface="黑体" panose="02010609060101010101" pitchFamily="49" charset="-122"/>
              </a:rPr>
              <a:t>X</a:t>
            </a:r>
            <a:r>
              <a:rPr lang="zh-CN" altLang="en-US" sz="2400" b="1">
                <a:solidFill>
                  <a:srgbClr val="00FFFF"/>
                </a:solidFill>
                <a:effectLst>
                  <a:outerShdw blurRad="38100" dist="38100" dir="2700000" algn="tl">
                    <a:srgbClr val="000000"/>
                  </a:outerShdw>
                </a:effectLst>
                <a:ea typeface="黑体" panose="02010609060101010101" pitchFamily="49" charset="-122"/>
              </a:rPr>
              <a:t>，则不需要添加模式</a:t>
            </a:r>
            <a:r>
              <a:rPr lang="en-US" altLang="zh-CN" sz="2400" b="1">
                <a:solidFill>
                  <a:srgbClr val="00FFFF"/>
                </a:solidFill>
                <a:effectLst>
                  <a:outerShdw blurRad="38100" dist="38100" dir="2700000" algn="tl">
                    <a:srgbClr val="000000"/>
                  </a:outerShdw>
                </a:effectLst>
                <a:ea typeface="黑体" panose="02010609060101010101" pitchFamily="49" charset="-122"/>
              </a:rPr>
              <a:t>X</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6369"/>
    </mc:Choice>
    <mc:Fallback xmlns="">
      <p:transition spd="slow" advTm="56369"/>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34888">
                                            <p:txEl>
                                              <p:pRg st="1" end="1"/>
                                            </p:txEl>
                                          </p:spTgt>
                                        </p:tgtEl>
                                        <p:attrNameLst>
                                          <p:attrName>style.visibility</p:attrName>
                                        </p:attrNameLst>
                                      </p:cBhvr>
                                      <p:to>
                                        <p:strVal val="visible"/>
                                      </p:to>
                                    </p:set>
                                    <p:animEffect transition="in" filter="wipe(left)">
                                      <p:cBhvr>
                                        <p:cTn id="7" dur="1000"/>
                                        <p:tgtEl>
                                          <p:spTgt spid="634888">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4888">
                                            <p:txEl>
                                              <p:pRg st="2" end="2"/>
                                            </p:txEl>
                                          </p:spTgt>
                                        </p:tgtEl>
                                        <p:attrNameLst>
                                          <p:attrName>style.visibility</p:attrName>
                                        </p:attrNameLst>
                                      </p:cBhvr>
                                      <p:to>
                                        <p:strVal val="visible"/>
                                      </p:to>
                                    </p:set>
                                    <p:animEffect transition="in" filter="wipe(left)">
                                      <p:cBhvr>
                                        <p:cTn id="12" dur="1000"/>
                                        <p:tgtEl>
                                          <p:spTgt spid="634888">
                                            <p:txEl>
                                              <p:pRg st="2" end="2"/>
                                            </p:txEl>
                                          </p:spTgt>
                                        </p:tgtEl>
                                      </p:cBhvr>
                                    </p:animEffect>
                                  </p:childTnLst>
                                </p:cTn>
                              </p:par>
                            </p:childTnLst>
                          </p:cTn>
                        </p:par>
                        <p:par>
                          <p:cTn id="13" fill="hold" nodeType="afterGroup">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634888">
                                            <p:txEl>
                                              <p:pRg st="3" end="3"/>
                                            </p:txEl>
                                          </p:spTgt>
                                        </p:tgtEl>
                                        <p:attrNameLst>
                                          <p:attrName>style.visibility</p:attrName>
                                        </p:attrNameLst>
                                      </p:cBhvr>
                                      <p:to>
                                        <p:strVal val="visible"/>
                                      </p:to>
                                    </p:set>
                                    <p:animEffect transition="in" filter="wipe(left)">
                                      <p:cBhvr>
                                        <p:cTn id="16" dur="1000"/>
                                        <p:tgtEl>
                                          <p:spTgt spid="634888">
                                            <p:txEl>
                                              <p:pRg st="3" end="3"/>
                                            </p:txEl>
                                          </p:spTgt>
                                        </p:tgtEl>
                                      </p:cBhvr>
                                    </p:animEffect>
                                  </p:childTnLst>
                                </p:cTn>
                              </p:par>
                            </p:childTnLst>
                          </p:cTn>
                        </p:par>
                        <p:par>
                          <p:cTn id="17" fill="hold" nodeType="afterGroup">
                            <p:stCondLst>
                              <p:cond delay="2000"/>
                            </p:stCondLst>
                            <p:childTnLst>
                              <p:par>
                                <p:cTn id="18" presetID="22" presetClass="entr" presetSubtype="8" fill="hold" grpId="0" nodeType="afterEffect">
                                  <p:stCondLst>
                                    <p:cond delay="0"/>
                                  </p:stCondLst>
                                  <p:childTnLst>
                                    <p:set>
                                      <p:cBhvr>
                                        <p:cTn id="19" dur="1" fill="hold">
                                          <p:stCondLst>
                                            <p:cond delay="0"/>
                                          </p:stCondLst>
                                        </p:cTn>
                                        <p:tgtEl>
                                          <p:spTgt spid="634888">
                                            <p:txEl>
                                              <p:pRg st="4" end="4"/>
                                            </p:txEl>
                                          </p:spTgt>
                                        </p:tgtEl>
                                        <p:attrNameLst>
                                          <p:attrName>style.visibility</p:attrName>
                                        </p:attrNameLst>
                                      </p:cBhvr>
                                      <p:to>
                                        <p:strVal val="visible"/>
                                      </p:to>
                                    </p:set>
                                    <p:animEffect transition="in" filter="wipe(left)">
                                      <p:cBhvr>
                                        <p:cTn id="20" dur="1000"/>
                                        <p:tgtEl>
                                          <p:spTgt spid="634888">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6" fill="hold" grpId="0" nodeType="clickEffect">
                                  <p:stCondLst>
                                    <p:cond delay="0"/>
                                  </p:stCondLst>
                                  <p:childTnLst>
                                    <p:set>
                                      <p:cBhvr>
                                        <p:cTn id="24" dur="1" fill="hold">
                                          <p:stCondLst>
                                            <p:cond delay="0"/>
                                          </p:stCondLst>
                                        </p:cTn>
                                        <p:tgtEl>
                                          <p:spTgt spid="634884"/>
                                        </p:tgtEl>
                                        <p:attrNameLst>
                                          <p:attrName>style.visibility</p:attrName>
                                        </p:attrNameLst>
                                      </p:cBhvr>
                                      <p:to>
                                        <p:strVal val="visible"/>
                                      </p:to>
                                    </p:set>
                                    <p:anim calcmode="lin" valueType="num">
                                      <p:cBhvr additive="base">
                                        <p:cTn id="25" dur="1000" fill="hold"/>
                                        <p:tgtEl>
                                          <p:spTgt spid="634884"/>
                                        </p:tgtEl>
                                        <p:attrNameLst>
                                          <p:attrName>ppt_x</p:attrName>
                                        </p:attrNameLst>
                                      </p:cBhvr>
                                      <p:tavLst>
                                        <p:tav tm="0">
                                          <p:val>
                                            <p:strVal val="1+#ppt_w/2"/>
                                          </p:val>
                                        </p:tav>
                                        <p:tav tm="100000">
                                          <p:val>
                                            <p:strVal val="#ppt_x"/>
                                          </p:val>
                                        </p:tav>
                                      </p:tavLst>
                                    </p:anim>
                                    <p:anim calcmode="lin" valueType="num">
                                      <p:cBhvr additive="base">
                                        <p:cTn id="26" dur="1000" fill="hold"/>
                                        <p:tgtEl>
                                          <p:spTgt spid="6348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888" grpId="0" uiExpand="1" build="p"/>
      <p:bldP spid="634884"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5912" name="AutoShape 8">
            <a:extLst>
              <a:ext uri="{FF2B5EF4-FFF2-40B4-BE49-F238E27FC236}">
                <a16:creationId xmlns:a16="http://schemas.microsoft.com/office/drawing/2014/main" id="{9B7391B9-836C-41FE-BA4A-95788BEE4D32}"/>
              </a:ext>
            </a:extLst>
          </p:cNvPr>
          <p:cNvSpPr>
            <a:spLocks noChangeArrowheads="1"/>
          </p:cNvSpPr>
          <p:nvPr/>
        </p:nvSpPr>
        <p:spPr bwMode="auto">
          <a:xfrm>
            <a:off x="1114425" y="2924175"/>
            <a:ext cx="7345363" cy="1944688"/>
          </a:xfrm>
          <a:prstGeom prst="flowChartDocument">
            <a:avLst/>
          </a:prstGeom>
          <a:solidFill>
            <a:srgbClr val="008080"/>
          </a:solidFill>
          <a:ln w="12700" cap="sq">
            <a:solidFill>
              <a:schemeClr val="tx1"/>
            </a:solidFill>
            <a:miter lim="800000"/>
            <a:headEnd type="none" w="sm" len="sm"/>
            <a:tailEnd type="none" w="sm" len="sm"/>
          </a:ln>
          <a:effectLst>
            <a:outerShdw dist="71842" dir="2700000" algn="ctr" rotWithShape="0">
              <a:schemeClr val="tx1"/>
            </a:outerShdw>
          </a:effectLst>
        </p:spPr>
        <p:txBody>
          <a:bodyPr wrap="none" lIns="18000" tIns="0" anchor="ctr" anchorCtr="1"/>
          <a:lstStyle/>
          <a:p>
            <a:pPr algn="ctr">
              <a:lnSpc>
                <a:spcPct val="120000"/>
              </a:lnSpc>
              <a:spcBef>
                <a:spcPct val="20000"/>
              </a:spcBef>
            </a:pPr>
            <a:r>
              <a:rPr lang="en-US" altLang="zh-CN" sz="2800" b="1">
                <a:solidFill>
                  <a:schemeClr val="bg1"/>
                </a:solidFill>
                <a:effectLst>
                  <a:outerShdw blurRad="38100" dist="38100" dir="2700000" algn="tl">
                    <a:srgbClr val="000000"/>
                  </a:outerShdw>
                </a:effectLst>
                <a:cs typeface="Times New Roman" panose="02020603050405020304" pitchFamily="18" charset="0"/>
              </a:rPr>
              <a:t>ρ</a:t>
            </a:r>
            <a:r>
              <a:rPr lang="zh-CN" altLang="en-US" sz="2800" b="1">
                <a:solidFill>
                  <a:schemeClr val="bg1"/>
                </a:solidFill>
                <a:effectLst>
                  <a:outerShdw blurRad="38100" dist="38100" dir="2700000" algn="tl">
                    <a:srgbClr val="000000"/>
                  </a:outerShdw>
                </a:effectLst>
                <a:cs typeface="Times New Roman" panose="02020603050405020304" pitchFamily="18" charset="0"/>
              </a:rPr>
              <a:t>＝</a:t>
            </a:r>
            <a:r>
              <a:rPr lang="en-US" altLang="zh-CN" sz="2800" b="1">
                <a:solidFill>
                  <a:schemeClr val="bg1"/>
                </a:solidFill>
                <a:effectLst>
                  <a:outerShdw blurRad="38100" dist="38100" dir="2700000" algn="tl">
                    <a:srgbClr val="000000"/>
                  </a:outerShdw>
                </a:effectLst>
                <a:cs typeface="Times New Roman" panose="02020603050405020304" pitchFamily="18" charset="0"/>
              </a:rPr>
              <a:t>{</a:t>
            </a:r>
            <a:r>
              <a:rPr lang="en-US" altLang="en-US" sz="2800" b="1">
                <a:solidFill>
                  <a:schemeClr val="bg1"/>
                </a:solidFill>
                <a:effectLst>
                  <a:outerShdw blurRad="38100" dist="38100" dir="2700000" algn="tl">
                    <a:srgbClr val="000000"/>
                  </a:outerShdw>
                </a:effectLst>
                <a:cs typeface="Times New Roman" panose="02020603050405020304" pitchFamily="18" charset="0"/>
              </a:rPr>
              <a:t>R</a:t>
            </a:r>
            <a:r>
              <a:rPr lang="en-US" altLang="zh-CN" sz="2800" b="1" baseline="-25000">
                <a:solidFill>
                  <a:schemeClr val="bg1"/>
                </a:solidFill>
                <a:effectLst>
                  <a:outerShdw blurRad="38100" dist="38100" dir="2700000" algn="tl">
                    <a:srgbClr val="000000"/>
                  </a:outerShdw>
                </a:effectLst>
                <a:cs typeface="Times New Roman" panose="02020603050405020304" pitchFamily="18" charset="0"/>
              </a:rPr>
              <a:t>1</a:t>
            </a:r>
            <a:r>
              <a:rPr lang="en-US" altLang="zh-CN" sz="2800" b="1">
                <a:solidFill>
                  <a:schemeClr val="bg1"/>
                </a:solidFill>
                <a:effectLst>
                  <a:outerShdw blurRad="38100" dist="38100" dir="2700000" algn="tl">
                    <a:srgbClr val="000000"/>
                  </a:outerShdw>
                </a:effectLst>
                <a:cs typeface="Times New Roman" panose="02020603050405020304" pitchFamily="18" charset="0"/>
              </a:rPr>
              <a:t>(</a:t>
            </a:r>
            <a:r>
              <a:rPr lang="en-US" altLang="en-US" sz="2800" b="1">
                <a:solidFill>
                  <a:schemeClr val="bg1"/>
                </a:solidFill>
                <a:effectLst>
                  <a:outerShdw blurRad="38100" dist="38100" dir="2700000" algn="tl">
                    <a:srgbClr val="000000"/>
                  </a:outerShdw>
                </a:effectLst>
                <a:cs typeface="Times New Roman" panose="02020603050405020304" pitchFamily="18" charset="0"/>
              </a:rPr>
              <a:t>C#, </a:t>
            </a:r>
            <a:r>
              <a:rPr lang="en-US" altLang="zh-CN" sz="2800" b="1">
                <a:solidFill>
                  <a:schemeClr val="bg1"/>
                </a:solidFill>
                <a:effectLst>
                  <a:outerShdw blurRad="38100" dist="38100" dir="2700000" algn="tl">
                    <a:srgbClr val="000000"/>
                  </a:outerShdw>
                </a:effectLst>
                <a:cs typeface="Times New Roman" panose="02020603050405020304" pitchFamily="18" charset="0"/>
              </a:rPr>
              <a:t>TNAME),</a:t>
            </a:r>
            <a:r>
              <a:rPr lang="en-US" altLang="en-US" sz="2800" b="1">
                <a:solidFill>
                  <a:schemeClr val="bg1"/>
                </a:solidFill>
                <a:effectLst>
                  <a:outerShdw blurRad="38100" dist="38100" dir="2700000" algn="tl">
                    <a:srgbClr val="000000"/>
                  </a:outerShdw>
                </a:effectLst>
                <a:cs typeface="Times New Roman" panose="02020603050405020304" pitchFamily="18" charset="0"/>
              </a:rPr>
              <a:t>R</a:t>
            </a:r>
            <a:r>
              <a:rPr lang="en-US" altLang="zh-CN" sz="2800" b="1" baseline="-25000">
                <a:solidFill>
                  <a:schemeClr val="bg1"/>
                </a:solidFill>
                <a:effectLst>
                  <a:outerShdw blurRad="38100" dist="38100" dir="2700000" algn="tl">
                    <a:srgbClr val="000000"/>
                  </a:outerShdw>
                </a:effectLst>
                <a:cs typeface="Times New Roman" panose="02020603050405020304" pitchFamily="18" charset="0"/>
              </a:rPr>
              <a:t>2</a:t>
            </a:r>
            <a:r>
              <a:rPr lang="en-US" altLang="zh-CN" sz="2800" b="1">
                <a:solidFill>
                  <a:schemeClr val="bg1"/>
                </a:solidFill>
                <a:effectLst>
                  <a:outerShdw blurRad="38100" dist="38100" dir="2700000" algn="tl">
                    <a:srgbClr val="000000"/>
                  </a:outerShdw>
                </a:effectLst>
                <a:cs typeface="Times New Roman" panose="02020603050405020304" pitchFamily="18" charset="0"/>
              </a:rPr>
              <a:t>(</a:t>
            </a:r>
            <a:r>
              <a:rPr lang="en-US" altLang="en-US" sz="2800" b="1">
                <a:solidFill>
                  <a:schemeClr val="bg1"/>
                </a:solidFill>
                <a:effectLst>
                  <a:outerShdw blurRad="38100" dist="38100" dir="2700000" algn="tl">
                    <a:srgbClr val="000000"/>
                  </a:outerShdw>
                </a:effectLst>
                <a:cs typeface="Times New Roman" panose="02020603050405020304" pitchFamily="18" charset="0"/>
              </a:rPr>
              <a:t>S#,C#,GRADE</a:t>
            </a:r>
            <a:r>
              <a:rPr lang="en-US" altLang="zh-CN" sz="2800" b="1">
                <a:solidFill>
                  <a:schemeClr val="bg1"/>
                </a:solidFill>
                <a:effectLst>
                  <a:outerShdw blurRad="38100" dist="38100" dir="2700000" algn="tl">
                    <a:srgbClr val="000000"/>
                  </a:outerShdw>
                </a:effectLst>
                <a:cs typeface="Times New Roman" panose="02020603050405020304" pitchFamily="18" charset="0"/>
              </a:rPr>
              <a:t>),</a:t>
            </a:r>
          </a:p>
          <a:p>
            <a:pPr algn="ctr">
              <a:lnSpc>
                <a:spcPct val="120000"/>
              </a:lnSpc>
              <a:spcBef>
                <a:spcPct val="20000"/>
              </a:spcBef>
            </a:pPr>
            <a:r>
              <a:rPr lang="en-US" altLang="en-US" sz="2800" b="1">
                <a:solidFill>
                  <a:schemeClr val="bg1"/>
                </a:solidFill>
                <a:effectLst>
                  <a:outerShdw blurRad="38100" dist="38100" dir="2700000" algn="tl">
                    <a:srgbClr val="000000"/>
                  </a:outerShdw>
                </a:effectLst>
                <a:cs typeface="Times New Roman" panose="02020603050405020304" pitchFamily="18" charset="0"/>
              </a:rPr>
              <a:t>R</a:t>
            </a:r>
            <a:r>
              <a:rPr lang="en-US" altLang="zh-CN" sz="2800" b="1" baseline="-25000">
                <a:solidFill>
                  <a:schemeClr val="bg1"/>
                </a:solidFill>
                <a:effectLst>
                  <a:outerShdw blurRad="38100" dist="38100" dir="2700000" algn="tl">
                    <a:srgbClr val="000000"/>
                  </a:outerShdw>
                </a:effectLst>
                <a:cs typeface="Times New Roman" panose="02020603050405020304" pitchFamily="18" charset="0"/>
              </a:rPr>
              <a:t>3</a:t>
            </a:r>
            <a:r>
              <a:rPr lang="en-US" altLang="zh-CN" sz="2800" b="1">
                <a:solidFill>
                  <a:schemeClr val="bg1"/>
                </a:solidFill>
                <a:effectLst>
                  <a:outerShdw blurRad="38100" dist="38100" dir="2700000" algn="tl">
                    <a:srgbClr val="000000"/>
                  </a:outerShdw>
                </a:effectLst>
                <a:cs typeface="Times New Roman" panose="02020603050405020304" pitchFamily="18" charset="0"/>
              </a:rPr>
              <a:t>(TNAME, </a:t>
            </a:r>
            <a:r>
              <a:rPr lang="en-US" altLang="en-US" sz="2800" b="1">
                <a:solidFill>
                  <a:schemeClr val="bg1"/>
                </a:solidFill>
                <a:effectLst>
                  <a:outerShdw blurRad="38100" dist="38100" dir="2700000" algn="tl">
                    <a:srgbClr val="000000"/>
                  </a:outerShdw>
                </a:effectLst>
                <a:cs typeface="Times New Roman" panose="02020603050405020304" pitchFamily="18" charset="0"/>
              </a:rPr>
              <a:t>TRS</a:t>
            </a:r>
            <a:r>
              <a:rPr lang="en-US" altLang="zh-CN" sz="2800" b="1">
                <a:solidFill>
                  <a:schemeClr val="bg1"/>
                </a:solidFill>
                <a:effectLst>
                  <a:outerShdw blurRad="38100" dist="38100" dir="2700000" algn="tl">
                    <a:srgbClr val="000000"/>
                  </a:outerShdw>
                </a:effectLst>
                <a:cs typeface="Times New Roman" panose="02020603050405020304" pitchFamily="18" charset="0"/>
              </a:rPr>
              <a:t>),}</a:t>
            </a:r>
            <a:r>
              <a:rPr lang="zh-CN" altLang="en-US" sz="2800" b="1">
                <a:solidFill>
                  <a:schemeClr val="bg1"/>
                </a:solidFill>
                <a:effectLst>
                  <a:outerShdw blurRad="38100" dist="38100" dir="2700000" algn="tl">
                    <a:srgbClr val="000000"/>
                  </a:outerShdw>
                </a:effectLst>
                <a:cs typeface="Times New Roman" panose="02020603050405020304" pitchFamily="18" charset="0"/>
              </a:rPr>
              <a:t>，</a:t>
            </a:r>
            <a:r>
              <a:rPr lang="zh-CN" altLang="en-US" sz="2800" b="1">
                <a:solidFill>
                  <a:srgbClr val="FFFF00"/>
                </a:solidFill>
                <a:effectLst>
                  <a:outerShdw blurRad="38100" dist="38100" dir="2700000" algn="tl">
                    <a:srgbClr val="000000"/>
                  </a:outerShdw>
                </a:effectLst>
                <a:cs typeface="Times New Roman" panose="02020603050405020304" pitchFamily="18" charset="0"/>
              </a:rPr>
              <a:t>保持依赖性</a:t>
            </a:r>
          </a:p>
        </p:txBody>
      </p:sp>
      <p:sp>
        <p:nvSpPr>
          <p:cNvPr id="635913" name="Line 9">
            <a:extLst>
              <a:ext uri="{FF2B5EF4-FFF2-40B4-BE49-F238E27FC236}">
                <a16:creationId xmlns:a16="http://schemas.microsoft.com/office/drawing/2014/main" id="{226D9D27-99DE-4FA5-BE3C-B13D913A124D}"/>
              </a:ext>
            </a:extLst>
          </p:cNvPr>
          <p:cNvSpPr>
            <a:spLocks noChangeShapeType="1"/>
          </p:cNvSpPr>
          <p:nvPr/>
        </p:nvSpPr>
        <p:spPr bwMode="auto">
          <a:xfrm>
            <a:off x="5507038" y="3644900"/>
            <a:ext cx="1008062" cy="0"/>
          </a:xfrm>
          <a:prstGeom prst="line">
            <a:avLst/>
          </a:prstGeom>
          <a:noFill/>
          <a:ln w="38100" cap="sq">
            <a:solidFill>
              <a:srgbClr val="FF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635914" name="AutoShape 10">
            <a:extLst>
              <a:ext uri="{FF2B5EF4-FFF2-40B4-BE49-F238E27FC236}">
                <a16:creationId xmlns:a16="http://schemas.microsoft.com/office/drawing/2014/main" id="{5A49F0C1-0BB3-46DD-8845-0C2B1099729D}"/>
              </a:ext>
            </a:extLst>
          </p:cNvPr>
          <p:cNvSpPr>
            <a:spLocks noChangeArrowheads="1"/>
          </p:cNvSpPr>
          <p:nvPr/>
        </p:nvSpPr>
        <p:spPr bwMode="auto">
          <a:xfrm>
            <a:off x="1114425" y="5086350"/>
            <a:ext cx="7345363" cy="1150938"/>
          </a:xfrm>
          <a:prstGeom prst="flowChartDocument">
            <a:avLst/>
          </a:prstGeom>
          <a:solidFill>
            <a:srgbClr val="000080"/>
          </a:solidFill>
          <a:ln w="12700" cap="sq">
            <a:solidFill>
              <a:schemeClr val="tx1"/>
            </a:solidFill>
            <a:miter lim="800000"/>
            <a:headEnd type="none" w="sm" len="sm"/>
            <a:tailEnd type="none" w="sm" len="sm"/>
          </a:ln>
          <a:effectLst>
            <a:outerShdw dist="71842" dir="2700000" algn="ctr" rotWithShape="0">
              <a:schemeClr val="tx1"/>
            </a:outerShdw>
          </a:effectLst>
        </p:spPr>
        <p:txBody>
          <a:bodyPr wrap="none" lIns="18000" tIns="0" anchor="ctr" anchorCtr="1"/>
          <a:lstStyle/>
          <a:p>
            <a:pPr algn="ctr">
              <a:lnSpc>
                <a:spcPct val="120000"/>
              </a:lnSpc>
            </a:pPr>
            <a:r>
              <a:rPr lang="en-US" altLang="zh-CN"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结论：</a:t>
            </a:r>
            <a:r>
              <a:rPr lang="zh-CN" altLang="en-US"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该</a:t>
            </a:r>
            <a:r>
              <a:rPr lang="zh-CN" altLang="pt-BR"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分解保持依赖和具有无损联接性</a:t>
            </a:r>
            <a:endParaRPr lang="zh-CN" altLang="en-US"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635916" name="Rectangle 12">
            <a:extLst>
              <a:ext uri="{FF2B5EF4-FFF2-40B4-BE49-F238E27FC236}">
                <a16:creationId xmlns:a16="http://schemas.microsoft.com/office/drawing/2014/main" id="{FD0C030E-8D3F-4579-BC18-495BC259B934}"/>
              </a:ext>
            </a:extLst>
          </p:cNvPr>
          <p:cNvSpPr>
            <a:spLocks noGrp="1" noChangeArrowheads="1"/>
          </p:cNvSpPr>
          <p:nvPr>
            <p:ph type="body" idx="1"/>
          </p:nvPr>
        </p:nvSpPr>
        <p:spPr>
          <a:noFill/>
          <a:ln/>
        </p:spPr>
        <p:txBody>
          <a:bodyPr/>
          <a:lstStyle/>
          <a:p>
            <a:pPr algn="just"/>
            <a:r>
              <a:rPr lang="zh-CN" altLang="en-US" i="1" dirty="0">
                <a:solidFill>
                  <a:srgbClr val="009900"/>
                </a:solidFill>
                <a:latin typeface="楷体_GB2312" pitchFamily="49" charset="-122"/>
                <a:cs typeface="Times New Roman" panose="02020603050405020304" pitchFamily="18" charset="0"/>
              </a:rPr>
              <a:t>例</a:t>
            </a:r>
            <a:r>
              <a:rPr lang="zh-CN" altLang="en-US" dirty="0">
                <a:solidFill>
                  <a:srgbClr val="000000"/>
                </a:solidFill>
                <a:latin typeface="楷体_GB2312" pitchFamily="49" charset="-122"/>
                <a:cs typeface="Times New Roman" panose="02020603050405020304" pitchFamily="18" charset="0"/>
              </a:rPr>
              <a:t>：</a:t>
            </a:r>
            <a:r>
              <a:rPr lang="en-US" altLang="zh-CN" dirty="0">
                <a:solidFill>
                  <a:srgbClr val="000000"/>
                </a:solidFill>
                <a:latin typeface="楷体_GB2312" pitchFamily="49" charset="-122"/>
                <a:cs typeface="Times New Roman" panose="02020603050405020304" pitchFamily="18" charset="0"/>
              </a:rPr>
              <a:t>R=(S#,C#,GRADE,TNAME,TRS)</a:t>
            </a:r>
            <a:r>
              <a:rPr lang="zh-CN" altLang="en-US" dirty="0">
                <a:solidFill>
                  <a:srgbClr val="000000"/>
                </a:solidFill>
                <a:latin typeface="楷体_GB2312" pitchFamily="49" charset="-122"/>
                <a:cs typeface="Times New Roman" panose="02020603050405020304" pitchFamily="18" charset="0"/>
              </a:rPr>
              <a:t>，</a:t>
            </a:r>
          </a:p>
          <a:p>
            <a:pPr algn="just"/>
            <a:r>
              <a:rPr lang="en-US" altLang="zh-CN" dirty="0">
                <a:solidFill>
                  <a:srgbClr val="000000"/>
                </a:solidFill>
                <a:latin typeface="楷体_GB2312" pitchFamily="49" charset="-122"/>
                <a:cs typeface="Times New Roman" panose="02020603050405020304" pitchFamily="18" charset="0"/>
              </a:rPr>
              <a:t>F={C#</a:t>
            </a:r>
            <a:r>
              <a:rPr lang="en-US" altLang="zh-CN" dirty="0">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dirty="0">
                <a:solidFill>
                  <a:srgbClr val="000000"/>
                </a:solidFill>
                <a:latin typeface="楷体_GB2312" pitchFamily="49" charset="-122"/>
                <a:cs typeface="Times New Roman" panose="02020603050405020304" pitchFamily="18" charset="0"/>
              </a:rPr>
              <a:t>TNAME,(S#,C#)</a:t>
            </a:r>
            <a:r>
              <a:rPr lang="en-US" altLang="zh-CN" dirty="0">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dirty="0">
                <a:solidFill>
                  <a:srgbClr val="000000"/>
                </a:solidFill>
                <a:latin typeface="楷体_GB2312" pitchFamily="49" charset="-122"/>
                <a:cs typeface="Times New Roman" panose="02020603050405020304" pitchFamily="18" charset="0"/>
              </a:rPr>
              <a:t>GRADE,TNAME</a:t>
            </a:r>
            <a:r>
              <a:rPr lang="en-US" altLang="zh-CN" dirty="0">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dirty="0">
                <a:solidFill>
                  <a:srgbClr val="000000"/>
                </a:solidFill>
                <a:latin typeface="楷体_GB2312" pitchFamily="49" charset="-122"/>
                <a:cs typeface="Times New Roman" panose="02020603050405020304" pitchFamily="18" charset="0"/>
              </a:rPr>
              <a:t>TRS}</a:t>
            </a:r>
            <a:endParaRPr lang="zh-CN" altLang="en-US" dirty="0">
              <a:solidFill>
                <a:srgbClr val="000000"/>
              </a:solidFill>
              <a:latin typeface="楷体_GB2312" pitchFamily="49" charset="-122"/>
              <a:cs typeface="Times New Roman" panose="02020603050405020304" pitchFamily="18" charset="0"/>
            </a:endParaRPr>
          </a:p>
        </p:txBody>
      </p:sp>
      <p:sp>
        <p:nvSpPr>
          <p:cNvPr id="635917" name="Rectangle 13">
            <a:extLst>
              <a:ext uri="{FF2B5EF4-FFF2-40B4-BE49-F238E27FC236}">
                <a16:creationId xmlns:a16="http://schemas.microsoft.com/office/drawing/2014/main" id="{57384EAD-2623-48B9-B95A-5040F2E1AD02}"/>
              </a:ext>
            </a:extLst>
          </p:cNvPr>
          <p:cNvSpPr>
            <a:spLocks noGrp="1" noChangeArrowheads="1"/>
          </p:cNvSpPr>
          <p:nvPr>
            <p:ph type="title"/>
          </p:nvPr>
        </p:nvSpPr>
        <p:spPr/>
        <p:txBody>
          <a:bodyPr/>
          <a:lstStyle/>
          <a:p>
            <a:r>
              <a:rPr lang="zh-CN" altLang="en-US"/>
              <a:t>四、第三范式</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1243"/>
    </mc:Choice>
    <mc:Fallback xmlns="">
      <p:transition spd="slow" advTm="21243"/>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35913"/>
                                        </p:tgtEl>
                                        <p:attrNameLst>
                                          <p:attrName>style.visibility</p:attrName>
                                        </p:attrNameLst>
                                      </p:cBhvr>
                                      <p:to>
                                        <p:strVal val="visible"/>
                                      </p:to>
                                    </p:set>
                                    <p:animEffect transition="in" filter="wipe(left)">
                                      <p:cBhvr>
                                        <p:cTn id="7" dur="1000"/>
                                        <p:tgtEl>
                                          <p:spTgt spid="6359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0" fill="hold" grpId="0" nodeType="clickEffect">
                                  <p:stCondLst>
                                    <p:cond delay="0"/>
                                  </p:stCondLst>
                                  <p:childTnLst>
                                    <p:set>
                                      <p:cBhvr>
                                        <p:cTn id="11" dur="1" fill="hold">
                                          <p:stCondLst>
                                            <p:cond delay="0"/>
                                          </p:stCondLst>
                                        </p:cTn>
                                        <p:tgtEl>
                                          <p:spTgt spid="635914"/>
                                        </p:tgtEl>
                                        <p:attrNameLst>
                                          <p:attrName>style.visibility</p:attrName>
                                        </p:attrNameLst>
                                      </p:cBhvr>
                                      <p:to>
                                        <p:strVal val="visible"/>
                                      </p:to>
                                    </p:set>
                                    <p:anim calcmode="lin" valueType="num">
                                      <p:cBhvr>
                                        <p:cTn id="12" dur="1000" fill="hold"/>
                                        <p:tgtEl>
                                          <p:spTgt spid="635914"/>
                                        </p:tgtEl>
                                        <p:attrNameLst>
                                          <p:attrName>ppt_w</p:attrName>
                                        </p:attrNameLst>
                                      </p:cBhvr>
                                      <p:tavLst>
                                        <p:tav tm="0">
                                          <p:val>
                                            <p:fltVal val="0"/>
                                          </p:val>
                                        </p:tav>
                                        <p:tav tm="100000">
                                          <p:val>
                                            <p:strVal val="#ppt_w"/>
                                          </p:val>
                                        </p:tav>
                                      </p:tavLst>
                                    </p:anim>
                                    <p:anim calcmode="lin" valueType="num">
                                      <p:cBhvr>
                                        <p:cTn id="13" dur="1000" fill="hold"/>
                                        <p:tgtEl>
                                          <p:spTgt spid="635914"/>
                                        </p:tgtEl>
                                        <p:attrNameLst>
                                          <p:attrName>ppt_h</p:attrName>
                                        </p:attrNameLst>
                                      </p:cBhvr>
                                      <p:tavLst>
                                        <p:tav tm="0">
                                          <p:val>
                                            <p:fltVal val="0"/>
                                          </p:val>
                                        </p:tav>
                                        <p:tav tm="100000">
                                          <p:val>
                                            <p:strVal val="#ppt_h"/>
                                          </p:val>
                                        </p:tav>
                                      </p:tavLst>
                                    </p:anim>
                                    <p:animEffect transition="in" filter="fade">
                                      <p:cBhvr>
                                        <p:cTn id="14" dur="1000"/>
                                        <p:tgtEl>
                                          <p:spTgt spid="6359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914"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7080" name="Rectangle 152">
            <a:extLst>
              <a:ext uri="{FF2B5EF4-FFF2-40B4-BE49-F238E27FC236}">
                <a16:creationId xmlns:a16="http://schemas.microsoft.com/office/drawing/2014/main" id="{5CFEC422-4148-407A-8A26-F90782BD4B43}"/>
              </a:ext>
            </a:extLst>
          </p:cNvPr>
          <p:cNvSpPr>
            <a:spLocks noGrp="1" noChangeArrowheads="1"/>
          </p:cNvSpPr>
          <p:nvPr>
            <p:ph type="body" idx="1"/>
          </p:nvPr>
        </p:nvSpPr>
        <p:spPr>
          <a:noFill/>
          <a:ln/>
        </p:spPr>
        <p:txBody>
          <a:bodyPr/>
          <a:lstStyle/>
          <a:p>
            <a:pPr algn="just"/>
            <a:r>
              <a:rPr lang="zh-CN" altLang="pt-BR" i="1">
                <a:solidFill>
                  <a:srgbClr val="008000"/>
                </a:solidFill>
                <a:latin typeface="楷体_GB2312" pitchFamily="49" charset="-122"/>
                <a:cs typeface="Times New Roman" panose="02020603050405020304" pitchFamily="18" charset="0"/>
              </a:rPr>
              <a:t>例</a:t>
            </a:r>
            <a:r>
              <a:rPr lang="zh-CN" altLang="pt-BR">
                <a:solidFill>
                  <a:srgbClr val="000000"/>
                </a:solidFill>
                <a:latin typeface="楷体_GB2312" pitchFamily="49" charset="-122"/>
                <a:cs typeface="Times New Roman" panose="02020603050405020304" pitchFamily="18" charset="0"/>
              </a:rPr>
              <a:t>：</a:t>
            </a:r>
            <a:r>
              <a:rPr lang="pt-BR" altLang="zh-CN">
                <a:solidFill>
                  <a:srgbClr val="000000"/>
                </a:solidFill>
                <a:latin typeface="楷体_GB2312" pitchFamily="49" charset="-122"/>
                <a:cs typeface="Times New Roman" panose="02020603050405020304" pitchFamily="18" charset="0"/>
              </a:rPr>
              <a:t>ρ</a:t>
            </a:r>
            <a:r>
              <a:rPr lang="zh-CN" altLang="pt-BR">
                <a:solidFill>
                  <a:srgbClr val="000000"/>
                </a:solidFill>
                <a:latin typeface="楷体_GB2312" pitchFamily="49" charset="-122"/>
                <a:cs typeface="Times New Roman" panose="02020603050405020304" pitchFamily="18" charset="0"/>
              </a:rPr>
              <a:t>＝</a:t>
            </a:r>
            <a:r>
              <a:rPr lang="pt-BR" altLang="zh-CN">
                <a:solidFill>
                  <a:srgbClr val="000000"/>
                </a:solidFill>
                <a:latin typeface="楷体_GB2312" pitchFamily="49" charset="-122"/>
                <a:cs typeface="Times New Roman" panose="02020603050405020304" pitchFamily="18" charset="0"/>
              </a:rPr>
              <a:t>{R1(C#, TNAME),R2(S#,C#,GRADE),</a:t>
            </a:r>
          </a:p>
          <a:p>
            <a:pPr algn="just"/>
            <a:r>
              <a:rPr lang="pt-BR" altLang="zh-CN">
                <a:solidFill>
                  <a:srgbClr val="000000"/>
                </a:solidFill>
                <a:latin typeface="楷体_GB2312" pitchFamily="49" charset="-122"/>
                <a:cs typeface="Times New Roman" panose="02020603050405020304" pitchFamily="18" charset="0"/>
              </a:rPr>
              <a:t>R3(TNAME,</a:t>
            </a:r>
            <a:r>
              <a:rPr lang="en-US" altLang="zh-CN">
                <a:solidFill>
                  <a:srgbClr val="000000"/>
                </a:solidFill>
                <a:latin typeface="楷体_GB2312" pitchFamily="49" charset="-122"/>
                <a:cs typeface="Times New Roman" panose="02020603050405020304" pitchFamily="18" charset="0"/>
              </a:rPr>
              <a:t>TRS</a:t>
            </a:r>
            <a:r>
              <a:rPr lang="pt-BR" altLang="zh-CN">
                <a:solidFill>
                  <a:srgbClr val="000000"/>
                </a:solidFill>
                <a:latin typeface="楷体_GB2312" pitchFamily="49" charset="-122"/>
                <a:cs typeface="Times New Roman" panose="02020603050405020304" pitchFamily="18" charset="0"/>
              </a:rPr>
              <a:t>),}</a:t>
            </a:r>
          </a:p>
        </p:txBody>
      </p:sp>
      <p:graphicFrame>
        <p:nvGraphicFramePr>
          <p:cNvPr id="637073" name="Group 145">
            <a:extLst>
              <a:ext uri="{FF2B5EF4-FFF2-40B4-BE49-F238E27FC236}">
                <a16:creationId xmlns:a16="http://schemas.microsoft.com/office/drawing/2014/main" id="{9C7B7062-0FDD-4A10-83E7-00C7240ED9ED}"/>
              </a:ext>
            </a:extLst>
          </p:cNvPr>
          <p:cNvGraphicFramePr>
            <a:graphicFrameLocks noGrp="1"/>
          </p:cNvGraphicFramePr>
          <p:nvPr/>
        </p:nvGraphicFramePr>
        <p:xfrm>
          <a:off x="395288" y="2924175"/>
          <a:ext cx="3744912" cy="3365504"/>
        </p:xfrm>
        <a:graphic>
          <a:graphicData uri="http://schemas.openxmlformats.org/drawingml/2006/table">
            <a:tbl>
              <a:tblPr/>
              <a:tblGrid>
                <a:gridCol w="1439862">
                  <a:extLst>
                    <a:ext uri="{9D8B030D-6E8A-4147-A177-3AD203B41FA5}">
                      <a16:colId xmlns:a16="http://schemas.microsoft.com/office/drawing/2014/main" val="542229712"/>
                    </a:ext>
                  </a:extLst>
                </a:gridCol>
                <a:gridCol w="1223963">
                  <a:extLst>
                    <a:ext uri="{9D8B030D-6E8A-4147-A177-3AD203B41FA5}">
                      <a16:colId xmlns:a16="http://schemas.microsoft.com/office/drawing/2014/main" val="3570033222"/>
                    </a:ext>
                  </a:extLst>
                </a:gridCol>
                <a:gridCol w="1081087">
                  <a:extLst>
                    <a:ext uri="{9D8B030D-6E8A-4147-A177-3AD203B41FA5}">
                      <a16:colId xmlns:a16="http://schemas.microsoft.com/office/drawing/2014/main" val="2968181566"/>
                    </a:ext>
                  </a:extLst>
                </a:gridCol>
              </a:tblGrid>
              <a:tr h="420688">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S#</a:t>
                      </a:r>
                    </a:p>
                  </a:txBody>
                  <a:tcPr horzOverflow="overflow">
                    <a:lnL w="28575"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CCFF"/>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C#</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CCFF"/>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GRADE</a:t>
                      </a:r>
                    </a:p>
                  </a:txBody>
                  <a:tcPr horzOverflow="overflow">
                    <a:lnL w="12700" cap="flat" cmpd="sng" algn="ctr">
                      <a:solidFill>
                        <a:srgbClr val="000000"/>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CCFF"/>
                    </a:solidFill>
                  </a:tcPr>
                </a:tc>
                <a:extLst>
                  <a:ext uri="{0D108BD9-81ED-4DB2-BD59-A6C34878D82A}">
                    <a16:rowId xmlns:a16="http://schemas.microsoft.com/office/drawing/2014/main" val="3328960684"/>
                  </a:ext>
                </a:extLst>
              </a:tr>
              <a:tr h="420688">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200401001</a:t>
                      </a:r>
                    </a:p>
                  </a:txBody>
                  <a:tcPr horzOverflow="overflow">
                    <a:lnL w="28575"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FFCC"/>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C401001</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FFCC"/>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90</a:t>
                      </a:r>
                    </a:p>
                  </a:txBody>
                  <a:tcPr horzOverflow="overflow">
                    <a:lnL w="12700" cap="flat" cmpd="sng" algn="ctr">
                      <a:solidFill>
                        <a:srgbClr val="000000"/>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FFCC"/>
                    </a:solidFill>
                  </a:tcPr>
                </a:tc>
                <a:extLst>
                  <a:ext uri="{0D108BD9-81ED-4DB2-BD59-A6C34878D82A}">
                    <a16:rowId xmlns:a16="http://schemas.microsoft.com/office/drawing/2014/main" val="2788896684"/>
                  </a:ext>
                </a:extLst>
              </a:tr>
              <a:tr h="420688">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200401001</a:t>
                      </a:r>
                    </a:p>
                  </a:txBody>
                  <a:tcPr horzOverflow="overflow">
                    <a:lnL w="28575"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FFCC"/>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C402002</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FFCC"/>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90</a:t>
                      </a:r>
                    </a:p>
                  </a:txBody>
                  <a:tcPr horzOverflow="overflow">
                    <a:lnL w="12700" cap="flat" cmpd="sng" algn="ctr">
                      <a:solidFill>
                        <a:srgbClr val="000000"/>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FFCC"/>
                    </a:solidFill>
                  </a:tcPr>
                </a:tc>
                <a:extLst>
                  <a:ext uri="{0D108BD9-81ED-4DB2-BD59-A6C34878D82A}">
                    <a16:rowId xmlns:a16="http://schemas.microsoft.com/office/drawing/2014/main" val="3155161770"/>
                  </a:ext>
                </a:extLst>
              </a:tr>
              <a:tr h="420688">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200401001</a:t>
                      </a:r>
                    </a:p>
                  </a:txBody>
                  <a:tcPr horzOverflow="overflow">
                    <a:lnL w="28575"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FFCC"/>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C403001</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FFCC"/>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85</a:t>
                      </a:r>
                    </a:p>
                  </a:txBody>
                  <a:tcPr horzOverflow="overflow">
                    <a:lnL w="12700" cap="flat" cmpd="sng" algn="ctr">
                      <a:solidFill>
                        <a:srgbClr val="000000"/>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FFCC"/>
                    </a:solidFill>
                  </a:tcPr>
                </a:tc>
                <a:extLst>
                  <a:ext uri="{0D108BD9-81ED-4DB2-BD59-A6C34878D82A}">
                    <a16:rowId xmlns:a16="http://schemas.microsoft.com/office/drawing/2014/main" val="4254377746"/>
                  </a:ext>
                </a:extLst>
              </a:tr>
              <a:tr h="420688">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200401002</a:t>
                      </a:r>
                    </a:p>
                  </a:txBody>
                  <a:tcPr horzOverflow="overflow">
                    <a:lnL w="28575"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FFCC"/>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C401001</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FFCC"/>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75</a:t>
                      </a:r>
                    </a:p>
                  </a:txBody>
                  <a:tcPr horzOverflow="overflow">
                    <a:lnL w="12700" cap="flat" cmpd="sng" algn="ctr">
                      <a:solidFill>
                        <a:srgbClr val="000000"/>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FFCC"/>
                    </a:solidFill>
                  </a:tcPr>
                </a:tc>
                <a:extLst>
                  <a:ext uri="{0D108BD9-81ED-4DB2-BD59-A6C34878D82A}">
                    <a16:rowId xmlns:a16="http://schemas.microsoft.com/office/drawing/2014/main" val="3234194567"/>
                  </a:ext>
                </a:extLst>
              </a:tr>
              <a:tr h="420688">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200401002</a:t>
                      </a:r>
                    </a:p>
                  </a:txBody>
                  <a:tcPr horzOverflow="overflow">
                    <a:lnL w="28575"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FFCC"/>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C402002</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FFCC"/>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88</a:t>
                      </a:r>
                    </a:p>
                  </a:txBody>
                  <a:tcPr horzOverflow="overflow">
                    <a:lnL w="12700" cap="flat" cmpd="sng" algn="ctr">
                      <a:solidFill>
                        <a:srgbClr val="000000"/>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FFCC"/>
                    </a:solidFill>
                  </a:tcPr>
                </a:tc>
                <a:extLst>
                  <a:ext uri="{0D108BD9-81ED-4DB2-BD59-A6C34878D82A}">
                    <a16:rowId xmlns:a16="http://schemas.microsoft.com/office/drawing/2014/main" val="592617550"/>
                  </a:ext>
                </a:extLst>
              </a:tr>
              <a:tr h="420688">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200401003</a:t>
                      </a:r>
                    </a:p>
                  </a:txBody>
                  <a:tcPr horzOverflow="overflow">
                    <a:lnL w="28575"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FFCC"/>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C402002</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FFCC"/>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69</a:t>
                      </a:r>
                    </a:p>
                  </a:txBody>
                  <a:tcPr horzOverflow="overflow">
                    <a:lnL w="12700" cap="flat" cmpd="sng" algn="ctr">
                      <a:solidFill>
                        <a:srgbClr val="000000"/>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FFCC"/>
                    </a:solidFill>
                  </a:tcPr>
                </a:tc>
                <a:extLst>
                  <a:ext uri="{0D108BD9-81ED-4DB2-BD59-A6C34878D82A}">
                    <a16:rowId xmlns:a16="http://schemas.microsoft.com/office/drawing/2014/main" val="2422091041"/>
                  </a:ext>
                </a:extLst>
              </a:tr>
              <a:tr h="420688">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200402001</a:t>
                      </a:r>
                    </a:p>
                  </a:txBody>
                  <a:tcPr horzOverflow="overflow">
                    <a:lnL w="28575"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rgbClr val="000000"/>
                      </a:solidFill>
                      <a:prstDash val="solid"/>
                      <a:round/>
                      <a:headEnd type="none" w="sm" len="sm"/>
                      <a:tailEnd type="none" w="sm" len="sm"/>
                    </a:lnB>
                    <a:lnTlToBr>
                      <a:noFill/>
                    </a:lnTlToBr>
                    <a:lnBlToTr>
                      <a:noFill/>
                    </a:lnBlToTr>
                    <a:solidFill>
                      <a:srgbClr val="CCFFCC"/>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C401004</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rgbClr val="000000"/>
                      </a:solidFill>
                      <a:prstDash val="solid"/>
                      <a:round/>
                      <a:headEnd type="none" w="sm" len="sm"/>
                      <a:tailEnd type="none" w="sm" len="sm"/>
                    </a:lnB>
                    <a:lnTlToBr>
                      <a:noFill/>
                    </a:lnTlToBr>
                    <a:lnBlToTr>
                      <a:noFill/>
                    </a:lnBlToTr>
                    <a:solidFill>
                      <a:srgbClr val="CCFFCC"/>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87</a:t>
                      </a:r>
                    </a:p>
                  </a:txBody>
                  <a:tcPr horzOverflow="overflow">
                    <a:lnL w="12700" cap="flat" cmpd="sng" algn="ctr">
                      <a:solidFill>
                        <a:srgbClr val="000000"/>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rgbClr val="000000"/>
                      </a:solidFill>
                      <a:prstDash val="solid"/>
                      <a:round/>
                      <a:headEnd type="none" w="sm" len="sm"/>
                      <a:tailEnd type="none" w="sm" len="sm"/>
                    </a:lnT>
                    <a:lnB w="28575" cap="flat" cmpd="sng" algn="ctr">
                      <a:solidFill>
                        <a:srgbClr val="000000"/>
                      </a:solidFill>
                      <a:prstDash val="solid"/>
                      <a:round/>
                      <a:headEnd type="none" w="sm" len="sm"/>
                      <a:tailEnd type="none" w="sm" len="sm"/>
                    </a:lnB>
                    <a:lnTlToBr>
                      <a:noFill/>
                    </a:lnTlToBr>
                    <a:lnBlToTr>
                      <a:noFill/>
                    </a:lnBlToTr>
                    <a:solidFill>
                      <a:srgbClr val="CCFFCC"/>
                    </a:solidFill>
                  </a:tcPr>
                </a:tc>
                <a:extLst>
                  <a:ext uri="{0D108BD9-81ED-4DB2-BD59-A6C34878D82A}">
                    <a16:rowId xmlns:a16="http://schemas.microsoft.com/office/drawing/2014/main" val="3846124755"/>
                  </a:ext>
                </a:extLst>
              </a:tr>
            </a:tbl>
          </a:graphicData>
        </a:graphic>
      </p:graphicFrame>
      <p:graphicFrame>
        <p:nvGraphicFramePr>
          <p:cNvPr id="637081" name="Group 153">
            <a:extLst>
              <a:ext uri="{FF2B5EF4-FFF2-40B4-BE49-F238E27FC236}">
                <a16:creationId xmlns:a16="http://schemas.microsoft.com/office/drawing/2014/main" id="{CEA627E2-7A24-438B-8121-13F63A8E091F}"/>
              </a:ext>
            </a:extLst>
          </p:cNvPr>
          <p:cNvGraphicFramePr>
            <a:graphicFrameLocks noGrp="1"/>
          </p:cNvGraphicFramePr>
          <p:nvPr/>
        </p:nvGraphicFramePr>
        <p:xfrm>
          <a:off x="4284663" y="3573463"/>
          <a:ext cx="2305050" cy="2025652"/>
        </p:xfrm>
        <a:graphic>
          <a:graphicData uri="http://schemas.openxmlformats.org/drawingml/2006/table">
            <a:tbl>
              <a:tblPr/>
              <a:tblGrid>
                <a:gridCol w="1152525">
                  <a:extLst>
                    <a:ext uri="{9D8B030D-6E8A-4147-A177-3AD203B41FA5}">
                      <a16:colId xmlns:a16="http://schemas.microsoft.com/office/drawing/2014/main" val="2070933725"/>
                    </a:ext>
                  </a:extLst>
                </a:gridCol>
                <a:gridCol w="1152525">
                  <a:extLst>
                    <a:ext uri="{9D8B030D-6E8A-4147-A177-3AD203B41FA5}">
                      <a16:colId xmlns:a16="http://schemas.microsoft.com/office/drawing/2014/main" val="3562812013"/>
                    </a:ext>
                  </a:extLst>
                </a:gridCol>
              </a:tblGrid>
              <a:tr h="419100">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C#</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sm" len="sm"/>
                      <a:tailEnd type="none" w="sm" len="sm"/>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FF"/>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TNAME</a:t>
                      </a:r>
                    </a:p>
                  </a:txBody>
                  <a:tcPr horzOverflow="overflow">
                    <a:lnL w="12700" cap="flat" cmpd="sng" algn="ctr">
                      <a:solidFill>
                        <a:srgbClr val="000000"/>
                      </a:solidFill>
                      <a:prstDash val="solid"/>
                      <a:round/>
                      <a:headEnd type="none" w="sm" len="sm"/>
                      <a:tailEnd type="none" w="sm" len="sm"/>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2925712476"/>
                  </a:ext>
                </a:extLst>
              </a:tr>
              <a:tr h="401638">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C401001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CC"/>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zh-CN" altLang="en-US"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徐    浩</a:t>
                      </a:r>
                    </a:p>
                  </a:txBody>
                  <a:tcPr horzOverflow="overflow">
                    <a:lnL w="12700" cap="flat" cmpd="sng" algn="ctr">
                      <a:solidFill>
                        <a:srgbClr val="000000"/>
                      </a:solidFill>
                      <a:prstDash val="solid"/>
                      <a:round/>
                      <a:headEnd type="none" w="sm" len="sm"/>
                      <a:tailEnd type="none" w="sm" len="sm"/>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4186549549"/>
                  </a:ext>
                </a:extLst>
              </a:tr>
              <a:tr h="401638">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C402002</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CC"/>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zh-CN" altLang="en-US"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李阳洋</a:t>
                      </a:r>
                    </a:p>
                  </a:txBody>
                  <a:tcPr horzOverflow="overflow">
                    <a:lnL w="12700" cap="flat" cmpd="sng" algn="ctr">
                      <a:solidFill>
                        <a:srgbClr val="000000"/>
                      </a:solidFill>
                      <a:prstDash val="solid"/>
                      <a:round/>
                      <a:headEnd type="none" w="sm" len="sm"/>
                      <a:tailEnd type="none" w="sm" len="sm"/>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2371683250"/>
                  </a:ext>
                </a:extLst>
              </a:tr>
              <a:tr h="401638">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C403001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solidFill>
                      <a:srgbClr val="CCFFCC"/>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zh-CN" altLang="en-US"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宋    歌</a:t>
                      </a:r>
                    </a:p>
                  </a:txBody>
                  <a:tcPr horzOverflow="overflow">
                    <a:lnL w="12700" cap="flat" cmpd="sng" algn="ctr">
                      <a:solidFill>
                        <a:srgbClr val="000000"/>
                      </a:solidFill>
                      <a:prstDash val="solid"/>
                      <a:round/>
                      <a:headEnd type="none" w="sm" len="sm"/>
                      <a:tailEnd type="none" w="sm" len="sm"/>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solidFill>
                      <a:srgbClr val="CCFFCC"/>
                    </a:solidFill>
                  </a:tcPr>
                </a:tc>
                <a:extLst>
                  <a:ext uri="{0D108BD9-81ED-4DB2-BD59-A6C34878D82A}">
                    <a16:rowId xmlns:a16="http://schemas.microsoft.com/office/drawing/2014/main" val="4282804211"/>
                  </a:ext>
                </a:extLst>
              </a:tr>
              <a:tr h="401638">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C401004</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rgbClr val="000000"/>
                      </a:solidFill>
                      <a:prstDash val="solid"/>
                      <a:round/>
                      <a:headEnd type="none" w="med" len="med"/>
                      <a:tailEnd type="none" w="med" len="med"/>
                    </a:lnB>
                    <a:lnTlToBr>
                      <a:noFill/>
                    </a:lnTlToBr>
                    <a:lnBlToTr>
                      <a:noFill/>
                    </a:lnBlToTr>
                    <a:solidFill>
                      <a:srgbClr val="CCFFCC"/>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zh-CN" altLang="en-US"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徐    浩</a:t>
                      </a:r>
                    </a:p>
                  </a:txBody>
                  <a:tcPr horzOverflow="overflow">
                    <a:lnL w="12700" cap="flat" cmpd="sng" algn="ctr">
                      <a:solidFill>
                        <a:srgbClr val="000000"/>
                      </a:solidFill>
                      <a:prstDash val="solid"/>
                      <a:round/>
                      <a:headEnd type="none" w="sm" len="sm"/>
                      <a:tailEnd type="none" w="sm" len="sm"/>
                    </a:lnL>
                    <a:lnR w="28575" cap="flat" cmpd="sng" algn="ctr">
                      <a:solidFill>
                        <a:srgbClr val="000000"/>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rgbClr val="000000"/>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2514101885"/>
                  </a:ext>
                </a:extLst>
              </a:tr>
            </a:tbl>
          </a:graphicData>
        </a:graphic>
      </p:graphicFrame>
      <p:graphicFrame>
        <p:nvGraphicFramePr>
          <p:cNvPr id="637085" name="Group 157">
            <a:extLst>
              <a:ext uri="{FF2B5EF4-FFF2-40B4-BE49-F238E27FC236}">
                <a16:creationId xmlns:a16="http://schemas.microsoft.com/office/drawing/2014/main" id="{8964EFDF-DE4E-4F6D-BB7B-2D7BF99EB500}"/>
              </a:ext>
            </a:extLst>
          </p:cNvPr>
          <p:cNvGraphicFramePr>
            <a:graphicFrameLocks noGrp="1"/>
          </p:cNvGraphicFramePr>
          <p:nvPr/>
        </p:nvGraphicFramePr>
        <p:xfrm>
          <a:off x="6732588" y="3573463"/>
          <a:ext cx="2087562" cy="1624014"/>
        </p:xfrm>
        <a:graphic>
          <a:graphicData uri="http://schemas.openxmlformats.org/drawingml/2006/table">
            <a:tbl>
              <a:tblPr/>
              <a:tblGrid>
                <a:gridCol w="1079500">
                  <a:extLst>
                    <a:ext uri="{9D8B030D-6E8A-4147-A177-3AD203B41FA5}">
                      <a16:colId xmlns:a16="http://schemas.microsoft.com/office/drawing/2014/main" val="3587962967"/>
                    </a:ext>
                  </a:extLst>
                </a:gridCol>
                <a:gridCol w="1008062">
                  <a:extLst>
                    <a:ext uri="{9D8B030D-6E8A-4147-A177-3AD203B41FA5}">
                      <a16:colId xmlns:a16="http://schemas.microsoft.com/office/drawing/2014/main" val="2800802099"/>
                    </a:ext>
                  </a:extLst>
                </a:gridCol>
              </a:tblGrid>
              <a:tr h="419100">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TNAME</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FF"/>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TRS</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54560721"/>
                  </a:ext>
                </a:extLst>
              </a:tr>
              <a:tr h="401638">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zh-CN" altLang="en-US"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徐    浩</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CC"/>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a1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2107467414"/>
                  </a:ext>
                </a:extLst>
              </a:tr>
              <a:tr h="401638">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zh-CN" altLang="en-US"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李阳洋</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CC"/>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b1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3212727912"/>
                  </a:ext>
                </a:extLst>
              </a:tr>
              <a:tr h="401638">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zh-CN" altLang="en-US"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宋    歌</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CCFFCC"/>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00000"/>
                          </a:solidFill>
                          <a:effectLst>
                            <a:outerShdw blurRad="38100" dist="38100" dir="2700000" algn="tl">
                              <a:srgbClr val="FFFFFF"/>
                            </a:outerShdw>
                          </a:effectLst>
                          <a:latin typeface="Arial" panose="020B0604020202020204" pitchFamily="34" charset="0"/>
                          <a:ea typeface="楷体_GB2312" pitchFamily="49" charset="-122"/>
                        </a:rPr>
                        <a:t>c1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27087990"/>
                  </a:ext>
                </a:extLst>
              </a:tr>
            </a:tbl>
          </a:graphicData>
        </a:graphic>
      </p:graphicFrame>
      <p:sp>
        <p:nvSpPr>
          <p:cNvPr id="637075" name="AutoShape 147">
            <a:extLst>
              <a:ext uri="{FF2B5EF4-FFF2-40B4-BE49-F238E27FC236}">
                <a16:creationId xmlns:a16="http://schemas.microsoft.com/office/drawing/2014/main" id="{96B7C48C-AE86-4909-844A-D3E80F353B3E}"/>
              </a:ext>
            </a:extLst>
          </p:cNvPr>
          <p:cNvSpPr>
            <a:spLocks noChangeArrowheads="1"/>
          </p:cNvSpPr>
          <p:nvPr/>
        </p:nvSpPr>
        <p:spPr bwMode="auto">
          <a:xfrm>
            <a:off x="1619250" y="3716338"/>
            <a:ext cx="6337300" cy="1511300"/>
          </a:xfrm>
          <a:prstGeom prst="flowChartDocument">
            <a:avLst/>
          </a:prstGeom>
          <a:solidFill>
            <a:srgbClr val="008080"/>
          </a:solidFill>
          <a:ln w="12700" cap="sq">
            <a:solidFill>
              <a:schemeClr val="tx1"/>
            </a:solidFill>
            <a:miter lim="800000"/>
            <a:headEnd type="none" w="sm" len="sm"/>
            <a:tailEnd type="none" w="sm" len="sm"/>
          </a:ln>
          <a:effectLst>
            <a:outerShdw dist="71842" dir="2700000" algn="ctr" rotWithShape="0">
              <a:schemeClr val="tx1"/>
            </a:outerShdw>
          </a:effectLst>
        </p:spPr>
        <p:txBody>
          <a:bodyPr wrap="none" lIns="18000" tIns="0" anchor="ctr" anchorCtr="1"/>
          <a:lstStyle/>
          <a:p>
            <a:pPr algn="ctr">
              <a:lnSpc>
                <a:spcPct val="120000"/>
              </a:lnSpc>
            </a:pPr>
            <a:r>
              <a:rPr lang="en-US" altLang="zh-CN"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结论：</a:t>
            </a:r>
            <a:r>
              <a:rPr lang="pt-BR" altLang="en-US"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ρ</a:t>
            </a:r>
            <a:r>
              <a:rPr lang="en-US" altLang="pt-BR"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是</a:t>
            </a:r>
            <a:r>
              <a:rPr lang="zh-CN" altLang="pt-BR"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一个合理的关系</a:t>
            </a:r>
            <a:r>
              <a:rPr lang="en-US" altLang="pt-BR"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模式</a:t>
            </a:r>
            <a:r>
              <a:rPr lang="zh-CN" altLang="en-US"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集</a:t>
            </a:r>
          </a:p>
        </p:txBody>
      </p:sp>
      <p:sp>
        <p:nvSpPr>
          <p:cNvPr id="637078" name="Rectangle 150">
            <a:extLst>
              <a:ext uri="{FF2B5EF4-FFF2-40B4-BE49-F238E27FC236}">
                <a16:creationId xmlns:a16="http://schemas.microsoft.com/office/drawing/2014/main" id="{560F7872-C503-4FEB-8EA1-5C5971C42519}"/>
              </a:ext>
            </a:extLst>
          </p:cNvPr>
          <p:cNvSpPr>
            <a:spLocks noGrp="1" noChangeArrowheads="1"/>
          </p:cNvSpPr>
          <p:nvPr>
            <p:ph type="title"/>
          </p:nvPr>
        </p:nvSpPr>
        <p:spPr/>
        <p:txBody>
          <a:bodyPr/>
          <a:lstStyle/>
          <a:p>
            <a:r>
              <a:rPr lang="zh-CN" altLang="en-US"/>
              <a:t>四、第三范式</a:t>
            </a:r>
          </a:p>
        </p:txBody>
      </p:sp>
      <p:sp>
        <p:nvSpPr>
          <p:cNvPr id="637082" name="AutoShape 154">
            <a:extLst>
              <a:ext uri="{FF2B5EF4-FFF2-40B4-BE49-F238E27FC236}">
                <a16:creationId xmlns:a16="http://schemas.microsoft.com/office/drawing/2014/main" id="{ED4C6C0A-2632-4926-BA0F-50B8B265D983}"/>
              </a:ext>
            </a:extLst>
          </p:cNvPr>
          <p:cNvSpPr>
            <a:spLocks noChangeArrowheads="1"/>
          </p:cNvSpPr>
          <p:nvPr/>
        </p:nvSpPr>
        <p:spPr bwMode="auto">
          <a:xfrm>
            <a:off x="4427538" y="2133600"/>
            <a:ext cx="1873250" cy="863600"/>
          </a:xfrm>
          <a:prstGeom prst="wedgeRoundRectCallout">
            <a:avLst>
              <a:gd name="adj1" fmla="val -2032"/>
              <a:gd name="adj2" fmla="val 114338"/>
              <a:gd name="adj3" fmla="val 16667"/>
            </a:avLst>
          </a:prstGeom>
          <a:solidFill>
            <a:srgbClr val="00FFFF"/>
          </a:solidFill>
          <a:ln w="12700" cap="sq">
            <a:solidFill>
              <a:schemeClr val="tx1"/>
            </a:solidFill>
            <a:miter lim="800000"/>
            <a:headEnd type="none" w="sm" len="sm"/>
            <a:tailEnd type="none" w="sm" len="sm"/>
          </a:ln>
          <a:effectLst>
            <a:outerShdw dist="71842" dir="2700000" algn="ctr" rotWithShape="0">
              <a:schemeClr val="tx1"/>
            </a:outerShdw>
          </a:effectLst>
        </p:spPr>
        <p:txBody>
          <a:bodyPr lIns="54000" rIns="54000" anchor="ctr"/>
          <a:lstStyle/>
          <a:p>
            <a:pPr algn="ctr"/>
            <a:r>
              <a:rPr lang="zh-CN" altLang="en-US" sz="2400" b="1">
                <a:effectLst>
                  <a:outerShdw blurRad="38100" dist="38100" dir="2700000" algn="tl">
                    <a:srgbClr val="FFFFFF"/>
                  </a:outerShdw>
                </a:effectLst>
              </a:rPr>
              <a:t>教员授</a:t>
            </a:r>
          </a:p>
          <a:p>
            <a:pPr algn="ctr"/>
            <a:r>
              <a:rPr lang="zh-CN" altLang="en-US" sz="2400" b="1">
                <a:effectLst>
                  <a:outerShdw blurRad="38100" dist="38100" dir="2700000" algn="tl">
                    <a:srgbClr val="FFFFFF"/>
                  </a:outerShdw>
                </a:effectLst>
              </a:rPr>
              <a:t>课信息</a:t>
            </a:r>
            <a:endParaRPr lang="zh-CN" altLang="en-US" sz="2400" b="1" baseline="-25000">
              <a:effectLst>
                <a:outerShdw blurRad="38100" dist="38100" dir="2700000" algn="tl">
                  <a:srgbClr val="FFFFFF"/>
                </a:outerShdw>
              </a:effectLst>
            </a:endParaRPr>
          </a:p>
        </p:txBody>
      </p:sp>
      <p:sp>
        <p:nvSpPr>
          <p:cNvPr id="637083" name="AutoShape 155">
            <a:extLst>
              <a:ext uri="{FF2B5EF4-FFF2-40B4-BE49-F238E27FC236}">
                <a16:creationId xmlns:a16="http://schemas.microsoft.com/office/drawing/2014/main" id="{1D824DB4-457D-467E-AD20-68F37B6824F6}"/>
              </a:ext>
            </a:extLst>
          </p:cNvPr>
          <p:cNvSpPr>
            <a:spLocks noChangeArrowheads="1"/>
          </p:cNvSpPr>
          <p:nvPr/>
        </p:nvSpPr>
        <p:spPr bwMode="auto">
          <a:xfrm>
            <a:off x="7164388" y="2062163"/>
            <a:ext cx="1511300" cy="863600"/>
          </a:xfrm>
          <a:prstGeom prst="wedgeRoundRectCallout">
            <a:avLst>
              <a:gd name="adj1" fmla="val -33403"/>
              <a:gd name="adj2" fmla="val 110477"/>
              <a:gd name="adj3" fmla="val 16667"/>
            </a:avLst>
          </a:prstGeom>
          <a:solidFill>
            <a:srgbClr val="00FFFF"/>
          </a:solidFill>
          <a:ln w="12700" cap="sq">
            <a:solidFill>
              <a:schemeClr val="tx1"/>
            </a:solidFill>
            <a:miter lim="800000"/>
            <a:headEnd type="none" w="sm" len="sm"/>
            <a:tailEnd type="none" w="sm" len="sm"/>
          </a:ln>
          <a:effectLst>
            <a:outerShdw dist="71842" dir="2700000" algn="ctr" rotWithShape="0">
              <a:schemeClr val="tx1"/>
            </a:outerShdw>
          </a:effectLst>
        </p:spPr>
        <p:txBody>
          <a:bodyPr lIns="54000" rIns="54000" anchor="ctr"/>
          <a:lstStyle/>
          <a:p>
            <a:pPr algn="ctr"/>
            <a:r>
              <a:rPr lang="zh-CN" altLang="en-US" sz="2400" b="1">
                <a:effectLst>
                  <a:outerShdw blurRad="38100" dist="38100" dir="2700000" algn="tl">
                    <a:srgbClr val="FFFFFF"/>
                  </a:outerShdw>
                </a:effectLst>
              </a:rPr>
              <a:t>教员信息</a:t>
            </a:r>
            <a:endParaRPr lang="zh-CN" altLang="en-US" sz="2400" b="1" baseline="-25000">
              <a:effectLst>
                <a:outerShdw blurRad="38100" dist="38100" dir="2700000" algn="tl">
                  <a:srgbClr val="FFFFFF"/>
                </a:outerShdw>
              </a:effectLst>
            </a:endParaRPr>
          </a:p>
        </p:txBody>
      </p:sp>
      <p:sp>
        <p:nvSpPr>
          <p:cNvPr id="637084" name="AutoShape 156">
            <a:extLst>
              <a:ext uri="{FF2B5EF4-FFF2-40B4-BE49-F238E27FC236}">
                <a16:creationId xmlns:a16="http://schemas.microsoft.com/office/drawing/2014/main" id="{16E73770-4978-49FB-B3D4-8257D45BB86C}"/>
              </a:ext>
            </a:extLst>
          </p:cNvPr>
          <p:cNvSpPr>
            <a:spLocks noChangeArrowheads="1"/>
          </p:cNvSpPr>
          <p:nvPr/>
        </p:nvSpPr>
        <p:spPr bwMode="auto">
          <a:xfrm>
            <a:off x="1692275" y="1701800"/>
            <a:ext cx="1655763" cy="863600"/>
          </a:xfrm>
          <a:prstGeom prst="wedgeRoundRectCallout">
            <a:avLst>
              <a:gd name="adj1" fmla="val -95731"/>
              <a:gd name="adj2" fmla="val 93935"/>
              <a:gd name="adj3" fmla="val 16667"/>
            </a:avLst>
          </a:prstGeom>
          <a:solidFill>
            <a:srgbClr val="00FFFF"/>
          </a:solidFill>
          <a:ln w="12700" cap="sq">
            <a:solidFill>
              <a:schemeClr val="tx1"/>
            </a:solidFill>
            <a:miter lim="800000"/>
            <a:headEnd type="none" w="sm" len="sm"/>
            <a:tailEnd type="none" w="sm" len="sm"/>
          </a:ln>
          <a:effectLst>
            <a:outerShdw dist="71842" dir="2700000" algn="ctr" rotWithShape="0">
              <a:schemeClr val="tx1"/>
            </a:outerShdw>
          </a:effectLst>
        </p:spPr>
        <p:txBody>
          <a:bodyPr lIns="54000" rIns="54000" anchor="ctr"/>
          <a:lstStyle/>
          <a:p>
            <a:pPr algn="ctr"/>
            <a:r>
              <a:rPr lang="zh-CN" altLang="en-US" sz="2400" b="1">
                <a:effectLst>
                  <a:outerShdw blurRad="38100" dist="38100" dir="2700000" algn="tl">
                    <a:srgbClr val="FFFFFF"/>
                  </a:outerShdw>
                </a:effectLst>
              </a:rPr>
              <a:t>学生选</a:t>
            </a:r>
          </a:p>
          <a:p>
            <a:pPr algn="ctr"/>
            <a:r>
              <a:rPr lang="zh-CN" altLang="en-US" sz="2400" b="1">
                <a:effectLst>
                  <a:outerShdw blurRad="38100" dist="38100" dir="2700000" algn="tl">
                    <a:srgbClr val="FFFFFF"/>
                  </a:outerShdw>
                </a:effectLst>
              </a:rPr>
              <a:t>课信息</a:t>
            </a:r>
            <a:endParaRPr lang="zh-CN" altLang="en-US" sz="2400" b="1" baseline="-25000">
              <a:effectLst>
                <a:outerShdw blurRad="38100" dist="38100" dir="2700000" algn="tl">
                  <a:srgbClr val="FFFFFF"/>
                </a:outerShdw>
              </a:effectLst>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3187"/>
    </mc:Choice>
    <mc:Fallback xmlns="">
      <p:transition spd="slow" advTm="33187"/>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637073"/>
                                        </p:tgtEl>
                                        <p:attrNameLst>
                                          <p:attrName>style.visibility</p:attrName>
                                        </p:attrNameLst>
                                      </p:cBhvr>
                                      <p:to>
                                        <p:strVal val="visible"/>
                                      </p:to>
                                    </p:set>
                                    <p:animEffect transition="in" filter="diamond(in)">
                                      <p:cBhvr>
                                        <p:cTn id="7" dur="1000"/>
                                        <p:tgtEl>
                                          <p:spTgt spid="637073"/>
                                        </p:tgtEl>
                                      </p:cBhvr>
                                    </p:animEffect>
                                  </p:childTnLst>
                                </p:cTn>
                              </p:par>
                            </p:childTnLst>
                          </p:cTn>
                        </p:par>
                        <p:par>
                          <p:cTn id="8" fill="hold" nodeType="afterGroup">
                            <p:stCondLst>
                              <p:cond delay="1000"/>
                            </p:stCondLst>
                            <p:childTnLst>
                              <p:par>
                                <p:cTn id="9" presetID="8" presetClass="entr" presetSubtype="16" fill="hold" nodeType="afterEffect">
                                  <p:stCondLst>
                                    <p:cond delay="0"/>
                                  </p:stCondLst>
                                  <p:childTnLst>
                                    <p:set>
                                      <p:cBhvr>
                                        <p:cTn id="10" dur="1" fill="hold">
                                          <p:stCondLst>
                                            <p:cond delay="0"/>
                                          </p:stCondLst>
                                        </p:cTn>
                                        <p:tgtEl>
                                          <p:spTgt spid="637081"/>
                                        </p:tgtEl>
                                        <p:attrNameLst>
                                          <p:attrName>style.visibility</p:attrName>
                                        </p:attrNameLst>
                                      </p:cBhvr>
                                      <p:to>
                                        <p:strVal val="visible"/>
                                      </p:to>
                                    </p:set>
                                    <p:animEffect transition="in" filter="diamond(in)">
                                      <p:cBhvr>
                                        <p:cTn id="11" dur="1000"/>
                                        <p:tgtEl>
                                          <p:spTgt spid="637081"/>
                                        </p:tgtEl>
                                      </p:cBhvr>
                                    </p:animEffect>
                                  </p:childTnLst>
                                </p:cTn>
                              </p:par>
                            </p:childTnLst>
                          </p:cTn>
                        </p:par>
                        <p:par>
                          <p:cTn id="12" fill="hold" nodeType="afterGroup">
                            <p:stCondLst>
                              <p:cond delay="2000"/>
                            </p:stCondLst>
                            <p:childTnLst>
                              <p:par>
                                <p:cTn id="13" presetID="8" presetClass="entr" presetSubtype="16" fill="hold" nodeType="afterEffect">
                                  <p:stCondLst>
                                    <p:cond delay="0"/>
                                  </p:stCondLst>
                                  <p:childTnLst>
                                    <p:set>
                                      <p:cBhvr>
                                        <p:cTn id="14" dur="1" fill="hold">
                                          <p:stCondLst>
                                            <p:cond delay="0"/>
                                          </p:stCondLst>
                                        </p:cTn>
                                        <p:tgtEl>
                                          <p:spTgt spid="637085"/>
                                        </p:tgtEl>
                                        <p:attrNameLst>
                                          <p:attrName>style.visibility</p:attrName>
                                        </p:attrNameLst>
                                      </p:cBhvr>
                                      <p:to>
                                        <p:strVal val="visible"/>
                                      </p:to>
                                    </p:set>
                                    <p:animEffect transition="in" filter="diamond(in)">
                                      <p:cBhvr>
                                        <p:cTn id="15" dur="1000"/>
                                        <p:tgtEl>
                                          <p:spTgt spid="63708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1" fill="hold" grpId="0" nodeType="clickEffect">
                                  <p:stCondLst>
                                    <p:cond delay="0"/>
                                  </p:stCondLst>
                                  <p:childTnLst>
                                    <p:set>
                                      <p:cBhvr>
                                        <p:cTn id="19" dur="1" fill="hold">
                                          <p:stCondLst>
                                            <p:cond delay="0"/>
                                          </p:stCondLst>
                                        </p:cTn>
                                        <p:tgtEl>
                                          <p:spTgt spid="637084"/>
                                        </p:tgtEl>
                                        <p:attrNameLst>
                                          <p:attrName>style.visibility</p:attrName>
                                        </p:attrNameLst>
                                      </p:cBhvr>
                                      <p:to>
                                        <p:strVal val="visible"/>
                                      </p:to>
                                    </p:set>
                                    <p:anim calcmode="lin" valueType="num">
                                      <p:cBhvr additive="base">
                                        <p:cTn id="20" dur="1000" fill="hold"/>
                                        <p:tgtEl>
                                          <p:spTgt spid="637084"/>
                                        </p:tgtEl>
                                        <p:attrNameLst>
                                          <p:attrName>ppt_x</p:attrName>
                                        </p:attrNameLst>
                                      </p:cBhvr>
                                      <p:tavLst>
                                        <p:tav tm="0">
                                          <p:val>
                                            <p:strVal val="#ppt_x"/>
                                          </p:val>
                                        </p:tav>
                                        <p:tav tm="100000">
                                          <p:val>
                                            <p:strVal val="#ppt_x"/>
                                          </p:val>
                                        </p:tav>
                                      </p:tavLst>
                                    </p:anim>
                                    <p:anim calcmode="lin" valueType="num">
                                      <p:cBhvr additive="base">
                                        <p:cTn id="21" dur="1000" fill="hold"/>
                                        <p:tgtEl>
                                          <p:spTgt spid="637084"/>
                                        </p:tgtEl>
                                        <p:attrNameLst>
                                          <p:attrName>ppt_y</p:attrName>
                                        </p:attrNameLst>
                                      </p:cBhvr>
                                      <p:tavLst>
                                        <p:tav tm="0">
                                          <p:val>
                                            <p:strVal val="0-#ppt_h/2"/>
                                          </p:val>
                                        </p:tav>
                                        <p:tav tm="100000">
                                          <p:val>
                                            <p:strVal val="#ppt_y"/>
                                          </p:val>
                                        </p:tav>
                                      </p:tavLst>
                                    </p:anim>
                                  </p:childTnLst>
                                </p:cTn>
                              </p:par>
                            </p:childTnLst>
                          </p:cTn>
                        </p:par>
                        <p:par>
                          <p:cTn id="22" fill="hold" nodeType="afterGroup">
                            <p:stCondLst>
                              <p:cond delay="1000"/>
                            </p:stCondLst>
                            <p:childTnLst>
                              <p:par>
                                <p:cTn id="23" presetID="2" presetClass="entr" presetSubtype="1" fill="hold" grpId="0" nodeType="afterEffect">
                                  <p:stCondLst>
                                    <p:cond delay="0"/>
                                  </p:stCondLst>
                                  <p:childTnLst>
                                    <p:set>
                                      <p:cBhvr>
                                        <p:cTn id="24" dur="1" fill="hold">
                                          <p:stCondLst>
                                            <p:cond delay="0"/>
                                          </p:stCondLst>
                                        </p:cTn>
                                        <p:tgtEl>
                                          <p:spTgt spid="637082"/>
                                        </p:tgtEl>
                                        <p:attrNameLst>
                                          <p:attrName>style.visibility</p:attrName>
                                        </p:attrNameLst>
                                      </p:cBhvr>
                                      <p:to>
                                        <p:strVal val="visible"/>
                                      </p:to>
                                    </p:set>
                                    <p:anim calcmode="lin" valueType="num">
                                      <p:cBhvr additive="base">
                                        <p:cTn id="25" dur="1000" fill="hold"/>
                                        <p:tgtEl>
                                          <p:spTgt spid="637082"/>
                                        </p:tgtEl>
                                        <p:attrNameLst>
                                          <p:attrName>ppt_x</p:attrName>
                                        </p:attrNameLst>
                                      </p:cBhvr>
                                      <p:tavLst>
                                        <p:tav tm="0">
                                          <p:val>
                                            <p:strVal val="#ppt_x"/>
                                          </p:val>
                                        </p:tav>
                                        <p:tav tm="100000">
                                          <p:val>
                                            <p:strVal val="#ppt_x"/>
                                          </p:val>
                                        </p:tav>
                                      </p:tavLst>
                                    </p:anim>
                                    <p:anim calcmode="lin" valueType="num">
                                      <p:cBhvr additive="base">
                                        <p:cTn id="26" dur="1000" fill="hold"/>
                                        <p:tgtEl>
                                          <p:spTgt spid="637082"/>
                                        </p:tgtEl>
                                        <p:attrNameLst>
                                          <p:attrName>ppt_y</p:attrName>
                                        </p:attrNameLst>
                                      </p:cBhvr>
                                      <p:tavLst>
                                        <p:tav tm="0">
                                          <p:val>
                                            <p:strVal val="0-#ppt_h/2"/>
                                          </p:val>
                                        </p:tav>
                                        <p:tav tm="100000">
                                          <p:val>
                                            <p:strVal val="#ppt_y"/>
                                          </p:val>
                                        </p:tav>
                                      </p:tavLst>
                                    </p:anim>
                                  </p:childTnLst>
                                </p:cTn>
                              </p:par>
                            </p:childTnLst>
                          </p:cTn>
                        </p:par>
                        <p:par>
                          <p:cTn id="27" fill="hold" nodeType="afterGroup">
                            <p:stCondLst>
                              <p:cond delay="2000"/>
                            </p:stCondLst>
                            <p:childTnLst>
                              <p:par>
                                <p:cTn id="28" presetID="2" presetClass="entr" presetSubtype="1" fill="hold" grpId="0" nodeType="afterEffect">
                                  <p:stCondLst>
                                    <p:cond delay="0"/>
                                  </p:stCondLst>
                                  <p:childTnLst>
                                    <p:set>
                                      <p:cBhvr>
                                        <p:cTn id="29" dur="1" fill="hold">
                                          <p:stCondLst>
                                            <p:cond delay="0"/>
                                          </p:stCondLst>
                                        </p:cTn>
                                        <p:tgtEl>
                                          <p:spTgt spid="637083"/>
                                        </p:tgtEl>
                                        <p:attrNameLst>
                                          <p:attrName>style.visibility</p:attrName>
                                        </p:attrNameLst>
                                      </p:cBhvr>
                                      <p:to>
                                        <p:strVal val="visible"/>
                                      </p:to>
                                    </p:set>
                                    <p:anim calcmode="lin" valueType="num">
                                      <p:cBhvr additive="base">
                                        <p:cTn id="30" dur="1000" fill="hold"/>
                                        <p:tgtEl>
                                          <p:spTgt spid="637083"/>
                                        </p:tgtEl>
                                        <p:attrNameLst>
                                          <p:attrName>ppt_x</p:attrName>
                                        </p:attrNameLst>
                                      </p:cBhvr>
                                      <p:tavLst>
                                        <p:tav tm="0">
                                          <p:val>
                                            <p:strVal val="#ppt_x"/>
                                          </p:val>
                                        </p:tav>
                                        <p:tav tm="100000">
                                          <p:val>
                                            <p:strVal val="#ppt_x"/>
                                          </p:val>
                                        </p:tav>
                                      </p:tavLst>
                                    </p:anim>
                                    <p:anim calcmode="lin" valueType="num">
                                      <p:cBhvr additive="base">
                                        <p:cTn id="31" dur="1000" fill="hold"/>
                                        <p:tgtEl>
                                          <p:spTgt spid="637083"/>
                                        </p:tgtEl>
                                        <p:attrNameLst>
                                          <p:attrName>ppt_y</p:attrName>
                                        </p:attrNameLst>
                                      </p:cBhvr>
                                      <p:tavLst>
                                        <p:tav tm="0">
                                          <p:val>
                                            <p:strVal val="0-#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53" presetClass="entr" presetSubtype="0" fill="hold" grpId="0" nodeType="clickEffect">
                                  <p:stCondLst>
                                    <p:cond delay="0"/>
                                  </p:stCondLst>
                                  <p:childTnLst>
                                    <p:set>
                                      <p:cBhvr>
                                        <p:cTn id="35" dur="1" fill="hold">
                                          <p:stCondLst>
                                            <p:cond delay="0"/>
                                          </p:stCondLst>
                                        </p:cTn>
                                        <p:tgtEl>
                                          <p:spTgt spid="637075"/>
                                        </p:tgtEl>
                                        <p:attrNameLst>
                                          <p:attrName>style.visibility</p:attrName>
                                        </p:attrNameLst>
                                      </p:cBhvr>
                                      <p:to>
                                        <p:strVal val="visible"/>
                                      </p:to>
                                    </p:set>
                                    <p:anim calcmode="lin" valueType="num">
                                      <p:cBhvr>
                                        <p:cTn id="36" dur="1000" fill="hold"/>
                                        <p:tgtEl>
                                          <p:spTgt spid="637075"/>
                                        </p:tgtEl>
                                        <p:attrNameLst>
                                          <p:attrName>ppt_w</p:attrName>
                                        </p:attrNameLst>
                                      </p:cBhvr>
                                      <p:tavLst>
                                        <p:tav tm="0">
                                          <p:val>
                                            <p:fltVal val="0"/>
                                          </p:val>
                                        </p:tav>
                                        <p:tav tm="100000">
                                          <p:val>
                                            <p:strVal val="#ppt_w"/>
                                          </p:val>
                                        </p:tav>
                                      </p:tavLst>
                                    </p:anim>
                                    <p:anim calcmode="lin" valueType="num">
                                      <p:cBhvr>
                                        <p:cTn id="37" dur="1000" fill="hold"/>
                                        <p:tgtEl>
                                          <p:spTgt spid="637075"/>
                                        </p:tgtEl>
                                        <p:attrNameLst>
                                          <p:attrName>ppt_h</p:attrName>
                                        </p:attrNameLst>
                                      </p:cBhvr>
                                      <p:tavLst>
                                        <p:tav tm="0">
                                          <p:val>
                                            <p:fltVal val="0"/>
                                          </p:val>
                                        </p:tav>
                                        <p:tav tm="100000">
                                          <p:val>
                                            <p:strVal val="#ppt_h"/>
                                          </p:val>
                                        </p:tav>
                                      </p:tavLst>
                                    </p:anim>
                                    <p:animEffect transition="in" filter="fade">
                                      <p:cBhvr>
                                        <p:cTn id="38" dur="1000"/>
                                        <p:tgtEl>
                                          <p:spTgt spid="637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7075" grpId="0" animBg="1"/>
      <p:bldP spid="637082" grpId="0" animBg="1"/>
      <p:bldP spid="637083" grpId="0" animBg="1"/>
      <p:bldP spid="63708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3121" name="Group 49">
            <a:extLst>
              <a:ext uri="{FF2B5EF4-FFF2-40B4-BE49-F238E27FC236}">
                <a16:creationId xmlns:a16="http://schemas.microsoft.com/office/drawing/2014/main" id="{0A62A04C-72A7-4976-8DEE-A4AC7C02242C}"/>
              </a:ext>
            </a:extLst>
          </p:cNvPr>
          <p:cNvGraphicFramePr>
            <a:graphicFrameLocks noGrp="1"/>
          </p:cNvGraphicFramePr>
          <p:nvPr/>
        </p:nvGraphicFramePr>
        <p:xfrm>
          <a:off x="1187450" y="2187575"/>
          <a:ext cx="7127875" cy="2320926"/>
        </p:xfrm>
        <a:graphic>
          <a:graphicData uri="http://schemas.openxmlformats.org/drawingml/2006/table">
            <a:tbl>
              <a:tblPr/>
              <a:tblGrid>
                <a:gridCol w="1584325">
                  <a:extLst>
                    <a:ext uri="{9D8B030D-6E8A-4147-A177-3AD203B41FA5}">
                      <a16:colId xmlns:a16="http://schemas.microsoft.com/office/drawing/2014/main" val="210625413"/>
                    </a:ext>
                  </a:extLst>
                </a:gridCol>
                <a:gridCol w="5543550">
                  <a:extLst>
                    <a:ext uri="{9D8B030D-6E8A-4147-A177-3AD203B41FA5}">
                      <a16:colId xmlns:a16="http://schemas.microsoft.com/office/drawing/2014/main" val="4035105050"/>
                    </a:ext>
                  </a:extLst>
                </a:gridCol>
              </a:tblGrid>
              <a:tr h="773113">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endParaRPr kumimoji="0" lang="zh-CN" altLang="en-US" sz="28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楷体_GB2312" pitchFamily="49" charset="-122"/>
                      </a:endParaRPr>
                    </a:p>
                  </a:txBody>
                  <a:tcPr marL="90000" marR="90000" marT="46800" marB="46800" anchor="ctr" anchorCtr="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EDEDE"/>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zh-CN" altLang="en-US" sz="2800" b="1" i="0" u="none" strike="noStrike" cap="none" normalizeH="0" baseline="0">
                          <a:ln>
                            <a:noFill/>
                          </a:ln>
                          <a:solidFill>
                            <a:srgbClr val="006600"/>
                          </a:solidFill>
                          <a:effectLst>
                            <a:outerShdw blurRad="38100" dist="38100" dir="2700000" algn="tl">
                              <a:srgbClr val="000000"/>
                            </a:outerShdw>
                          </a:effectLst>
                          <a:latin typeface="楷体_GB2312" pitchFamily="49" charset="-122"/>
                          <a:ea typeface="黑体" panose="02010609060101010101" pitchFamily="49" charset="-122"/>
                        </a:rPr>
                        <a:t>解决问题</a:t>
                      </a:r>
                    </a:p>
                  </a:txBody>
                  <a:tcPr marL="90000" marR="90000" marT="46800" marB="46800" anchor="ctr" anchorCtr="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EDEDE"/>
                    </a:solidFill>
                  </a:tcPr>
                </a:tc>
                <a:extLst>
                  <a:ext uri="{0D108BD9-81ED-4DB2-BD59-A6C34878D82A}">
                    <a16:rowId xmlns:a16="http://schemas.microsoft.com/office/drawing/2014/main" val="2980447004"/>
                  </a:ext>
                </a:extLst>
              </a:tr>
              <a:tr h="774700">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2800" b="1" i="0" u="none" strike="noStrike" cap="none" normalizeH="0" baseline="0">
                          <a:ln>
                            <a:noFill/>
                          </a:ln>
                          <a:solidFill>
                            <a:srgbClr val="000099"/>
                          </a:solidFill>
                          <a:effectLst>
                            <a:outerShdw blurRad="38100" dist="38100" dir="2700000" algn="tl">
                              <a:srgbClr val="000000"/>
                            </a:outerShdw>
                          </a:effectLst>
                          <a:latin typeface="黑体" panose="02010609060101010101" pitchFamily="49" charset="-122"/>
                          <a:ea typeface="黑体" panose="02010609060101010101" pitchFamily="49" charset="-122"/>
                        </a:rPr>
                        <a:t>2NF</a:t>
                      </a:r>
                    </a:p>
                  </a:txBody>
                  <a:tcPr marL="90000" marR="90000" marT="46800" marB="46800" anchor="ctr" anchorCtr="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EDEDE"/>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zh-CN" altLang="en-US" sz="2800" b="1" i="0" u="none" strike="noStrike" cap="none" normalizeH="0" baseline="0">
                          <a:ln>
                            <a:noFill/>
                          </a:ln>
                          <a:solidFill>
                            <a:srgbClr val="990033"/>
                          </a:solidFill>
                          <a:effectLst>
                            <a:outerShdw blurRad="38100" dist="38100" dir="2700000" algn="tl">
                              <a:srgbClr val="C0C0C0"/>
                            </a:outerShdw>
                          </a:effectLst>
                          <a:latin typeface="Arial" panose="020B0604020202020204" pitchFamily="34" charset="0"/>
                          <a:ea typeface="黑体" panose="02010609060101010101" pitchFamily="49" charset="-122"/>
                          <a:cs typeface="Arial" panose="020B0604020202020204" pitchFamily="34" charset="0"/>
                        </a:rPr>
                        <a:t>非主属性</a:t>
                      </a:r>
                      <a:r>
                        <a:rPr kumimoji="0" lang="zh-CN" altLang="en-US"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cs typeface="Arial" panose="020B0604020202020204" pitchFamily="34" charset="0"/>
                        </a:rPr>
                        <a:t>对候选键的部分依赖</a:t>
                      </a:r>
                    </a:p>
                  </a:txBody>
                  <a:tcPr marL="90000" marR="90000" marT="46800" marB="46800" anchor="ctr" anchorCtr="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212699527"/>
                  </a:ext>
                </a:extLst>
              </a:tr>
              <a:tr h="773113">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2800" b="1" i="0" u="none" strike="noStrike" cap="none" normalizeH="0" baseline="0">
                          <a:ln>
                            <a:noFill/>
                          </a:ln>
                          <a:solidFill>
                            <a:srgbClr val="000099"/>
                          </a:solidFill>
                          <a:effectLst>
                            <a:outerShdw blurRad="38100" dist="38100" dir="2700000" algn="tl">
                              <a:srgbClr val="000000"/>
                            </a:outerShdw>
                          </a:effectLst>
                          <a:latin typeface="黑体" panose="02010609060101010101" pitchFamily="49" charset="-122"/>
                          <a:ea typeface="黑体" panose="02010609060101010101" pitchFamily="49" charset="-122"/>
                        </a:rPr>
                        <a:t>3NF</a:t>
                      </a:r>
                      <a:endParaRPr kumimoji="0" lang="zh-CN" altLang="en-US" sz="2800" b="1" i="0" u="none" strike="noStrike" cap="none" normalizeH="0" baseline="0">
                        <a:ln>
                          <a:noFill/>
                        </a:ln>
                        <a:solidFill>
                          <a:srgbClr val="000099"/>
                        </a:solidFill>
                        <a:effectLst>
                          <a:outerShdw blurRad="38100" dist="38100" dir="2700000" algn="tl">
                            <a:srgbClr val="000000"/>
                          </a:outerShdw>
                        </a:effectLst>
                        <a:latin typeface="黑体" panose="02010609060101010101" pitchFamily="49" charset="-122"/>
                        <a:ea typeface="黑体" panose="02010609060101010101" pitchFamily="49" charset="-122"/>
                      </a:endParaRPr>
                    </a:p>
                  </a:txBody>
                  <a:tcPr marL="90000" marR="90000" marT="46800" marB="46800" anchor="ctr" anchorCtr="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DEDEDE"/>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zh-CN" altLang="en-US" sz="2800" b="1" i="0" u="none" strike="noStrike" cap="none" normalizeH="0" baseline="0">
                          <a:ln>
                            <a:noFill/>
                          </a:ln>
                          <a:solidFill>
                            <a:srgbClr val="990033"/>
                          </a:solidFill>
                          <a:effectLst>
                            <a:outerShdw blurRad="38100" dist="38100" dir="2700000" algn="tl">
                              <a:srgbClr val="C0C0C0"/>
                            </a:outerShdw>
                          </a:effectLst>
                          <a:latin typeface="Arial" panose="020B0604020202020204" pitchFamily="34" charset="0"/>
                          <a:ea typeface="黑体" panose="02010609060101010101" pitchFamily="49" charset="-122"/>
                          <a:cs typeface="Arial" panose="020B0604020202020204" pitchFamily="34" charset="0"/>
                        </a:rPr>
                        <a:t>非主属性</a:t>
                      </a:r>
                      <a:r>
                        <a:rPr kumimoji="0" lang="zh-CN" altLang="en-US"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cs typeface="Arial" panose="020B0604020202020204" pitchFamily="34" charset="0"/>
                        </a:rPr>
                        <a:t>对候选键的传递依赖</a:t>
                      </a:r>
                    </a:p>
                  </a:txBody>
                  <a:tcPr marL="90000" marR="90000" marT="46800" marB="46800" anchor="ctr" anchorCtr="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20761235"/>
                  </a:ext>
                </a:extLst>
              </a:tr>
            </a:tbl>
          </a:graphicData>
        </a:graphic>
      </p:graphicFrame>
      <p:sp>
        <p:nvSpPr>
          <p:cNvPr id="643096" name="AutoShape 24">
            <a:extLst>
              <a:ext uri="{FF2B5EF4-FFF2-40B4-BE49-F238E27FC236}">
                <a16:creationId xmlns:a16="http://schemas.microsoft.com/office/drawing/2014/main" id="{2A371DB6-1CCB-46A6-A99D-3687103BF27F}"/>
              </a:ext>
            </a:extLst>
          </p:cNvPr>
          <p:cNvSpPr>
            <a:spLocks noChangeArrowheads="1"/>
          </p:cNvSpPr>
          <p:nvPr/>
        </p:nvSpPr>
        <p:spPr bwMode="auto">
          <a:xfrm>
            <a:off x="2195513" y="188913"/>
            <a:ext cx="1368425" cy="647700"/>
          </a:xfrm>
          <a:prstGeom prst="horizontalScroll">
            <a:avLst>
              <a:gd name="adj" fmla="val 12500"/>
            </a:avLst>
          </a:prstGeom>
          <a:gradFill rotWithShape="1">
            <a:gsLst>
              <a:gs pos="0">
                <a:srgbClr val="CCFFFF"/>
              </a:gs>
              <a:gs pos="50000">
                <a:srgbClr val="FFFFFF"/>
              </a:gs>
              <a:gs pos="100000">
                <a:srgbClr val="CCFFFF"/>
              </a:gs>
            </a:gsLst>
            <a:lin ang="5400000" scaled="1"/>
          </a:gradFill>
          <a:ln>
            <a:noFill/>
          </a:ln>
          <a:effectLst>
            <a:outerShdw dist="71842"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a:r>
              <a:rPr lang="zh-CN" altLang="en-US" sz="3200" b="1">
                <a:solidFill>
                  <a:srgbClr val="660033"/>
                </a:solidFill>
                <a:effectLst>
                  <a:outerShdw blurRad="38100" dist="38100" dir="2700000" algn="tl">
                    <a:srgbClr val="000000"/>
                  </a:outerShdw>
                </a:effectLst>
                <a:ea typeface="隶书" panose="02010509060101010101" pitchFamily="49" charset="-122"/>
              </a:rPr>
              <a:t>对比</a:t>
            </a:r>
          </a:p>
        </p:txBody>
      </p:sp>
      <p:sp>
        <p:nvSpPr>
          <p:cNvPr id="643114" name="WordArt 42">
            <a:extLst>
              <a:ext uri="{FF2B5EF4-FFF2-40B4-BE49-F238E27FC236}">
                <a16:creationId xmlns:a16="http://schemas.microsoft.com/office/drawing/2014/main" id="{4284CBD0-2769-45BD-BC6D-F45FCE2182BF}"/>
              </a:ext>
            </a:extLst>
          </p:cNvPr>
          <p:cNvSpPr>
            <a:spLocks noChangeArrowheads="1" noChangeShapeType="1" noTextEdit="1"/>
          </p:cNvSpPr>
          <p:nvPr/>
        </p:nvSpPr>
        <p:spPr bwMode="auto">
          <a:xfrm>
            <a:off x="3132138" y="4868863"/>
            <a:ext cx="1944687" cy="936625"/>
          </a:xfrm>
          <a:prstGeom prst="rect">
            <a:avLst/>
          </a:prstGeom>
        </p:spPr>
        <p:txBody>
          <a:bodyPr wrap="none" fromWordArt="1">
            <a:prstTxWarp prst="textSlantUp">
              <a:avLst>
                <a:gd name="adj" fmla="val 16949"/>
              </a:avLst>
            </a:prstTxWarp>
          </a:bodyPr>
          <a:lstStyle/>
          <a:p>
            <a:pPr algn="dist"/>
            <a:r>
              <a:rPr lang="zh-CN" altLang="en-US" sz="4400" b="1" kern="10" spc="880" normalizeH="1">
                <a:ln w="9525" cap="sq">
                  <a:solidFill>
                    <a:schemeClr val="bg2"/>
                  </a:solidFill>
                  <a:round/>
                  <a:headEnd type="none" w="sm" len="sm"/>
                  <a:tailEnd type="none" w="sm" len="sm"/>
                </a:ln>
                <a:gradFill rotWithShape="0">
                  <a:gsLst>
                    <a:gs pos="0">
                      <a:srgbClr val="6600CC"/>
                    </a:gs>
                    <a:gs pos="100000">
                      <a:srgbClr val="CC00CC"/>
                    </a:gs>
                  </a:gsLst>
                  <a:lin ang="5400000" scaled="1"/>
                </a:gradFill>
                <a:effectLst>
                  <a:outerShdw dist="53882" dir="2700000" algn="ctr" rotWithShape="0">
                    <a:schemeClr val="tx1">
                      <a:alpha val="80000"/>
                    </a:schemeClr>
                  </a:outerShdw>
                </a:effectLst>
                <a:latin typeface="隶书" panose="02010509060101010101" pitchFamily="49" charset="-122"/>
                <a:ea typeface="隶书" panose="02010509060101010101" pitchFamily="49" charset="-122"/>
              </a:rPr>
              <a:t>主属性</a:t>
            </a:r>
          </a:p>
        </p:txBody>
      </p:sp>
      <p:sp>
        <p:nvSpPr>
          <p:cNvPr id="643115" name="WordArt 43">
            <a:extLst>
              <a:ext uri="{FF2B5EF4-FFF2-40B4-BE49-F238E27FC236}">
                <a16:creationId xmlns:a16="http://schemas.microsoft.com/office/drawing/2014/main" id="{B5520E3B-8D24-4AB3-8B84-B8721332DC0F}"/>
              </a:ext>
            </a:extLst>
          </p:cNvPr>
          <p:cNvSpPr>
            <a:spLocks noChangeArrowheads="1" noChangeShapeType="1" noTextEdit="1"/>
          </p:cNvSpPr>
          <p:nvPr/>
        </p:nvSpPr>
        <p:spPr bwMode="auto">
          <a:xfrm>
            <a:off x="5292725" y="5013325"/>
            <a:ext cx="431800" cy="647700"/>
          </a:xfrm>
          <a:prstGeom prst="rect">
            <a:avLst/>
          </a:prstGeom>
        </p:spPr>
        <p:txBody>
          <a:bodyPr wrap="none" fromWordArt="1">
            <a:prstTxWarp prst="textInflate">
              <a:avLst>
                <a:gd name="adj" fmla="val 13634"/>
              </a:avLst>
            </a:prstTxWarp>
          </a:bodyPr>
          <a:lstStyle/>
          <a:p>
            <a:pPr algn="ctr"/>
            <a:r>
              <a:rPr lang="zh-CN" altLang="en-US" sz="4800" b="1" i="1" kern="10">
                <a:ln w="9525" cap="sq">
                  <a:solidFill>
                    <a:srgbClr val="000000"/>
                  </a:solidFill>
                  <a:round/>
                  <a:headEnd type="none" w="sm" len="sm"/>
                  <a:tailEnd type="none" w="sm" len="sm"/>
                </a:ln>
                <a:solidFill>
                  <a:srgbClr val="800080"/>
                </a:solidFill>
                <a:effectLst>
                  <a:outerShdw dist="35921" dir="2700000" algn="ctr" rotWithShape="0">
                    <a:schemeClr val="tx1"/>
                  </a:outerShdw>
                </a:effectLst>
                <a:latin typeface="隶书" panose="02010509060101010101" pitchFamily="49" charset="-122"/>
                <a:ea typeface="隶书" panose="02010509060101010101" pitchFamily="49" charset="-122"/>
              </a:rPr>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6453"/>
    </mc:Choice>
    <mc:Fallback xmlns="">
      <p:transition spd="slow" advTm="56453"/>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643121"/>
                                        </p:tgtEl>
                                        <p:attrNameLst>
                                          <p:attrName>style.visibility</p:attrName>
                                        </p:attrNameLst>
                                      </p:cBhvr>
                                      <p:to>
                                        <p:strVal val="visible"/>
                                      </p:to>
                                    </p:set>
                                    <p:animEffect transition="in" filter="diamond(in)">
                                      <p:cBhvr>
                                        <p:cTn id="7" dur="1000"/>
                                        <p:tgtEl>
                                          <p:spTgt spid="6431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0" presetClass="entr" presetSubtype="0" decel="100000" fill="hold" nodeType="clickEffect">
                                  <p:stCondLst>
                                    <p:cond delay="0"/>
                                  </p:stCondLst>
                                  <p:childTnLst>
                                    <p:set>
                                      <p:cBhvr>
                                        <p:cTn id="11" dur="1" fill="hold">
                                          <p:stCondLst>
                                            <p:cond delay="0"/>
                                          </p:stCondLst>
                                        </p:cTn>
                                        <p:tgtEl>
                                          <p:spTgt spid="643114"/>
                                        </p:tgtEl>
                                        <p:attrNameLst>
                                          <p:attrName>style.visibility</p:attrName>
                                        </p:attrNameLst>
                                      </p:cBhvr>
                                      <p:to>
                                        <p:strVal val="visible"/>
                                      </p:to>
                                    </p:set>
                                    <p:anim calcmode="lin" valueType="num">
                                      <p:cBhvr>
                                        <p:cTn id="12" dur="1000" fill="hold"/>
                                        <p:tgtEl>
                                          <p:spTgt spid="643114"/>
                                        </p:tgtEl>
                                        <p:attrNameLst>
                                          <p:attrName>ppt_w</p:attrName>
                                        </p:attrNameLst>
                                      </p:cBhvr>
                                      <p:tavLst>
                                        <p:tav tm="0">
                                          <p:val>
                                            <p:strVal val="#ppt_w+.3"/>
                                          </p:val>
                                        </p:tav>
                                        <p:tav tm="100000">
                                          <p:val>
                                            <p:strVal val="#ppt_w"/>
                                          </p:val>
                                        </p:tav>
                                      </p:tavLst>
                                    </p:anim>
                                    <p:anim calcmode="lin" valueType="num">
                                      <p:cBhvr>
                                        <p:cTn id="13" dur="1000" fill="hold"/>
                                        <p:tgtEl>
                                          <p:spTgt spid="643114"/>
                                        </p:tgtEl>
                                        <p:attrNameLst>
                                          <p:attrName>ppt_h</p:attrName>
                                        </p:attrNameLst>
                                      </p:cBhvr>
                                      <p:tavLst>
                                        <p:tav tm="0">
                                          <p:val>
                                            <p:strVal val="#ppt_h"/>
                                          </p:val>
                                        </p:tav>
                                        <p:tav tm="100000">
                                          <p:val>
                                            <p:strVal val="#ppt_h"/>
                                          </p:val>
                                        </p:tav>
                                      </p:tavLst>
                                    </p:anim>
                                    <p:animEffect transition="in" filter="fade">
                                      <p:cBhvr>
                                        <p:cTn id="14" dur="1000"/>
                                        <p:tgtEl>
                                          <p:spTgt spid="643114"/>
                                        </p:tgtEl>
                                      </p:cBhvr>
                                    </p:animEffect>
                                  </p:childTnLst>
                                </p:cTn>
                              </p:par>
                            </p:childTnLst>
                          </p:cTn>
                        </p:par>
                        <p:par>
                          <p:cTn id="15" fill="hold" nodeType="afterGroup">
                            <p:stCondLst>
                              <p:cond delay="1000"/>
                            </p:stCondLst>
                            <p:childTnLst>
                              <p:par>
                                <p:cTn id="16" presetID="31" presetClass="entr" presetSubtype="0" fill="hold" nodeType="afterEffect">
                                  <p:stCondLst>
                                    <p:cond delay="0"/>
                                  </p:stCondLst>
                                  <p:iterate type="lt">
                                    <p:tmPct val="5000"/>
                                  </p:iterate>
                                  <p:childTnLst>
                                    <p:set>
                                      <p:cBhvr>
                                        <p:cTn id="17" dur="1" fill="hold">
                                          <p:stCondLst>
                                            <p:cond delay="0"/>
                                          </p:stCondLst>
                                        </p:cTn>
                                        <p:tgtEl>
                                          <p:spTgt spid="643115"/>
                                        </p:tgtEl>
                                        <p:attrNameLst>
                                          <p:attrName>style.visibility</p:attrName>
                                        </p:attrNameLst>
                                      </p:cBhvr>
                                      <p:to>
                                        <p:strVal val="visible"/>
                                      </p:to>
                                    </p:set>
                                    <p:anim calcmode="lin" valueType="num">
                                      <p:cBhvr>
                                        <p:cTn id="18" dur="1000" fill="hold"/>
                                        <p:tgtEl>
                                          <p:spTgt spid="643115"/>
                                        </p:tgtEl>
                                        <p:attrNameLst>
                                          <p:attrName>ppt_w</p:attrName>
                                        </p:attrNameLst>
                                      </p:cBhvr>
                                      <p:tavLst>
                                        <p:tav tm="0">
                                          <p:val>
                                            <p:fltVal val="0"/>
                                          </p:val>
                                        </p:tav>
                                        <p:tav tm="100000">
                                          <p:val>
                                            <p:strVal val="#ppt_w"/>
                                          </p:val>
                                        </p:tav>
                                      </p:tavLst>
                                    </p:anim>
                                    <p:anim calcmode="lin" valueType="num">
                                      <p:cBhvr>
                                        <p:cTn id="19" dur="1000" fill="hold"/>
                                        <p:tgtEl>
                                          <p:spTgt spid="643115"/>
                                        </p:tgtEl>
                                        <p:attrNameLst>
                                          <p:attrName>ppt_h</p:attrName>
                                        </p:attrNameLst>
                                      </p:cBhvr>
                                      <p:tavLst>
                                        <p:tav tm="0">
                                          <p:val>
                                            <p:fltVal val="0"/>
                                          </p:val>
                                        </p:tav>
                                        <p:tav tm="100000">
                                          <p:val>
                                            <p:strVal val="#ppt_h"/>
                                          </p:val>
                                        </p:tav>
                                      </p:tavLst>
                                    </p:anim>
                                    <p:anim calcmode="lin" valueType="num">
                                      <p:cBhvr>
                                        <p:cTn id="20" dur="1000" fill="hold"/>
                                        <p:tgtEl>
                                          <p:spTgt spid="643115"/>
                                        </p:tgtEl>
                                        <p:attrNameLst>
                                          <p:attrName>style.rotation</p:attrName>
                                        </p:attrNameLst>
                                      </p:cBhvr>
                                      <p:tavLst>
                                        <p:tav tm="0">
                                          <p:val>
                                            <p:fltVal val="90"/>
                                          </p:val>
                                        </p:tav>
                                        <p:tav tm="100000">
                                          <p:val>
                                            <p:fltVal val="0"/>
                                          </p:val>
                                        </p:tav>
                                      </p:tavLst>
                                    </p:anim>
                                    <p:animEffect transition="in" filter="fade">
                                      <p:cBhvr>
                                        <p:cTn id="21" dur="1000"/>
                                        <p:tgtEl>
                                          <p:spTgt spid="643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929877" name="Group 85">
            <a:extLst>
              <a:ext uri="{FF2B5EF4-FFF2-40B4-BE49-F238E27FC236}">
                <a16:creationId xmlns:a16="http://schemas.microsoft.com/office/drawing/2014/main" id="{E057B945-3B2D-413F-BF9C-91CBEA7E97EA}"/>
              </a:ext>
            </a:extLst>
          </p:cNvPr>
          <p:cNvGraphicFramePr>
            <a:graphicFrameLocks noGrp="1"/>
          </p:cNvGraphicFramePr>
          <p:nvPr/>
        </p:nvGraphicFramePr>
        <p:xfrm>
          <a:off x="1644650" y="3328988"/>
          <a:ext cx="6096000" cy="2941640"/>
        </p:xfrm>
        <a:graphic>
          <a:graphicData uri="http://schemas.openxmlformats.org/drawingml/2006/table">
            <a:tbl>
              <a:tblPr/>
              <a:tblGrid>
                <a:gridCol w="2032000">
                  <a:extLst>
                    <a:ext uri="{9D8B030D-6E8A-4147-A177-3AD203B41FA5}">
                      <a16:colId xmlns:a16="http://schemas.microsoft.com/office/drawing/2014/main" val="657854750"/>
                    </a:ext>
                  </a:extLst>
                </a:gridCol>
                <a:gridCol w="2032000">
                  <a:extLst>
                    <a:ext uri="{9D8B030D-6E8A-4147-A177-3AD203B41FA5}">
                      <a16:colId xmlns:a16="http://schemas.microsoft.com/office/drawing/2014/main" val="3863203399"/>
                    </a:ext>
                  </a:extLst>
                </a:gridCol>
                <a:gridCol w="2032000">
                  <a:extLst>
                    <a:ext uri="{9D8B030D-6E8A-4147-A177-3AD203B41FA5}">
                      <a16:colId xmlns:a16="http://schemas.microsoft.com/office/drawing/2014/main" val="51541627"/>
                    </a:ext>
                  </a:extLst>
                </a:gridCol>
              </a:tblGrid>
              <a:tr h="490538">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2000" b="1" i="0" u="none" strike="noStrike" cap="none" normalizeH="0" baseline="0">
                          <a:ln>
                            <a:noFill/>
                          </a:ln>
                          <a:solidFill>
                            <a:srgbClr val="080808"/>
                          </a:solidFill>
                          <a:effectLst/>
                          <a:latin typeface="Arial" panose="020B0604020202020204" pitchFamily="34" charset="0"/>
                          <a:ea typeface="黑体" panose="02010609060101010101" pitchFamily="49" charset="-122"/>
                        </a:rPr>
                        <a:t>CITY</a:t>
                      </a:r>
                      <a:endParaRPr kumimoji="0" lang="zh-CN" altLang="en-US" sz="2000" b="1" i="0" u="none" strike="noStrike" cap="none" normalizeH="0" baseline="0">
                        <a:ln>
                          <a:noFill/>
                        </a:ln>
                        <a:solidFill>
                          <a:srgbClr val="080808"/>
                        </a:solidFill>
                        <a:effectLst/>
                        <a:latin typeface="Arial" panose="020B0604020202020204" pitchFamily="34" charset="0"/>
                        <a:ea typeface="黑体" panose="02010609060101010101" pitchFamily="49" charset="-122"/>
                      </a:endParaRPr>
                    </a:p>
                  </a:txBody>
                  <a:tcPr horzOverflow="overflow">
                    <a:lnL w="28575" cap="flat" cmpd="sng" algn="ctr">
                      <a:solidFill>
                        <a:srgbClr val="080808"/>
                      </a:solidFill>
                      <a:prstDash val="solid"/>
                      <a:round/>
                      <a:headEnd type="none" w="sm" len="sm"/>
                      <a:tailEnd type="none" w="sm" len="sm"/>
                    </a:lnL>
                    <a:lnR w="12700" cap="flat" cmpd="sng" algn="ctr">
                      <a:solidFill>
                        <a:srgbClr val="080808"/>
                      </a:solidFill>
                      <a:prstDash val="solid"/>
                      <a:round/>
                      <a:headEnd type="none" w="sm" len="sm"/>
                      <a:tailEnd type="none" w="sm" len="sm"/>
                    </a:lnR>
                    <a:lnT w="28575" cap="flat" cmpd="sng" algn="ctr">
                      <a:solidFill>
                        <a:srgbClr val="080808"/>
                      </a:solidFill>
                      <a:prstDash val="solid"/>
                      <a:round/>
                      <a:headEnd type="none" w="sm" len="sm"/>
                      <a:tailEnd type="none" w="sm" len="sm"/>
                    </a:lnT>
                    <a:lnB w="12700" cap="flat" cmpd="sng" algn="ctr">
                      <a:solidFill>
                        <a:srgbClr val="080808"/>
                      </a:solidFill>
                      <a:prstDash val="solid"/>
                      <a:round/>
                      <a:headEnd type="none" w="sm" len="sm"/>
                      <a:tailEnd type="none" w="sm" len="sm"/>
                    </a:lnB>
                    <a:lnTlToBr>
                      <a:noFill/>
                    </a:lnTlToBr>
                    <a:lnBlToTr>
                      <a:noFill/>
                    </a:lnBlToTr>
                    <a:solidFill>
                      <a:srgbClr val="CCCCFF"/>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2000" b="1" i="0" u="none" strike="noStrike" cap="none" normalizeH="0" baseline="0">
                          <a:ln>
                            <a:noFill/>
                          </a:ln>
                          <a:solidFill>
                            <a:srgbClr val="080808"/>
                          </a:solidFill>
                          <a:effectLst/>
                          <a:latin typeface="Arial" panose="020B0604020202020204" pitchFamily="34" charset="0"/>
                          <a:ea typeface="黑体" panose="02010609060101010101" pitchFamily="49" charset="-122"/>
                        </a:rPr>
                        <a:t>STREET</a:t>
                      </a:r>
                      <a:endParaRPr kumimoji="0" lang="zh-CN" altLang="en-US" sz="2000" b="1" i="0" u="none" strike="noStrike" cap="none" normalizeH="0" baseline="0">
                        <a:ln>
                          <a:noFill/>
                        </a:ln>
                        <a:solidFill>
                          <a:srgbClr val="080808"/>
                        </a:solidFill>
                        <a:effectLst/>
                        <a:latin typeface="Arial" panose="020B0604020202020204" pitchFamily="34" charset="0"/>
                        <a:ea typeface="黑体" panose="02010609060101010101" pitchFamily="49" charset="-122"/>
                      </a:endParaRPr>
                    </a:p>
                  </a:txBody>
                  <a:tcPr horzOverflow="overflow">
                    <a:lnL w="12700" cap="flat" cmpd="sng" algn="ctr">
                      <a:solidFill>
                        <a:srgbClr val="080808"/>
                      </a:solidFill>
                      <a:prstDash val="solid"/>
                      <a:round/>
                      <a:headEnd type="none" w="sm" len="sm"/>
                      <a:tailEnd type="none" w="sm" len="sm"/>
                    </a:lnL>
                    <a:lnR w="12700" cap="flat" cmpd="sng" algn="ctr">
                      <a:solidFill>
                        <a:srgbClr val="080808"/>
                      </a:solidFill>
                      <a:prstDash val="solid"/>
                      <a:round/>
                      <a:headEnd type="none" w="sm" len="sm"/>
                      <a:tailEnd type="none" w="sm" len="sm"/>
                    </a:lnR>
                    <a:lnT w="28575" cap="flat" cmpd="sng" algn="ctr">
                      <a:solidFill>
                        <a:srgbClr val="080808"/>
                      </a:solidFill>
                      <a:prstDash val="solid"/>
                      <a:round/>
                      <a:headEnd type="none" w="sm" len="sm"/>
                      <a:tailEnd type="none" w="sm" len="sm"/>
                    </a:lnT>
                    <a:lnB w="12700" cap="flat" cmpd="sng" algn="ctr">
                      <a:solidFill>
                        <a:srgbClr val="080808"/>
                      </a:solidFill>
                      <a:prstDash val="solid"/>
                      <a:round/>
                      <a:headEnd type="none" w="sm" len="sm"/>
                      <a:tailEnd type="none" w="sm" len="sm"/>
                    </a:lnB>
                    <a:lnTlToBr>
                      <a:noFill/>
                    </a:lnTlToBr>
                    <a:lnBlToTr>
                      <a:noFill/>
                    </a:lnBlToTr>
                    <a:solidFill>
                      <a:srgbClr val="CCCCFF"/>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2000" b="1" i="0" u="none" strike="noStrike" cap="none" normalizeH="0" baseline="0">
                          <a:ln>
                            <a:noFill/>
                          </a:ln>
                          <a:solidFill>
                            <a:srgbClr val="080808"/>
                          </a:solidFill>
                          <a:effectLst/>
                          <a:latin typeface="Arial" panose="020B0604020202020204" pitchFamily="34" charset="0"/>
                          <a:ea typeface="黑体" panose="02010609060101010101" pitchFamily="49" charset="-122"/>
                        </a:rPr>
                        <a:t>ZIP</a:t>
                      </a:r>
                      <a:endParaRPr kumimoji="0" lang="zh-CN" altLang="en-US" sz="2000" b="1" i="0" u="none" strike="noStrike" cap="none" normalizeH="0" baseline="0">
                        <a:ln>
                          <a:noFill/>
                        </a:ln>
                        <a:solidFill>
                          <a:srgbClr val="080808"/>
                        </a:solidFill>
                        <a:effectLst/>
                        <a:latin typeface="Arial" panose="020B0604020202020204" pitchFamily="34" charset="0"/>
                        <a:ea typeface="黑体" panose="02010609060101010101" pitchFamily="49" charset="-122"/>
                      </a:endParaRPr>
                    </a:p>
                  </a:txBody>
                  <a:tcPr horzOverflow="overflow">
                    <a:lnL w="12700" cap="flat" cmpd="sng" algn="ctr">
                      <a:solidFill>
                        <a:srgbClr val="080808"/>
                      </a:solidFill>
                      <a:prstDash val="solid"/>
                      <a:round/>
                      <a:headEnd type="none" w="sm" len="sm"/>
                      <a:tailEnd type="none" w="sm" len="sm"/>
                    </a:lnL>
                    <a:lnR w="28575" cap="flat" cmpd="sng" algn="ctr">
                      <a:solidFill>
                        <a:srgbClr val="080808"/>
                      </a:solidFill>
                      <a:prstDash val="solid"/>
                      <a:round/>
                      <a:headEnd type="none" w="sm" len="sm"/>
                      <a:tailEnd type="none" w="sm" len="sm"/>
                    </a:lnR>
                    <a:lnT w="28575" cap="flat" cmpd="sng" algn="ctr">
                      <a:solidFill>
                        <a:srgbClr val="080808"/>
                      </a:solidFill>
                      <a:prstDash val="solid"/>
                      <a:round/>
                      <a:headEnd type="none" w="sm" len="sm"/>
                      <a:tailEnd type="none" w="sm" len="sm"/>
                    </a:lnT>
                    <a:lnB w="12700" cap="flat" cmpd="sng" algn="ctr">
                      <a:solidFill>
                        <a:srgbClr val="080808"/>
                      </a:solidFill>
                      <a:prstDash val="solid"/>
                      <a:round/>
                      <a:headEnd type="none" w="sm" len="sm"/>
                      <a:tailEnd type="none" w="sm" len="sm"/>
                    </a:lnB>
                    <a:lnTlToBr>
                      <a:noFill/>
                    </a:lnTlToBr>
                    <a:lnBlToTr>
                      <a:noFill/>
                    </a:lnBlToTr>
                    <a:solidFill>
                      <a:srgbClr val="CCCCFF"/>
                    </a:solidFill>
                  </a:tcPr>
                </a:tc>
                <a:extLst>
                  <a:ext uri="{0D108BD9-81ED-4DB2-BD59-A6C34878D82A}">
                    <a16:rowId xmlns:a16="http://schemas.microsoft.com/office/drawing/2014/main" val="12340162"/>
                  </a:ext>
                </a:extLst>
              </a:tr>
              <a:tr h="490538">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zh-CN" altLang="en-US" sz="1800" b="1" i="0" u="none" strike="noStrike" cap="none" normalizeH="0" baseline="0">
                          <a:ln>
                            <a:noFill/>
                          </a:ln>
                          <a:solidFill>
                            <a:srgbClr val="080808"/>
                          </a:solidFill>
                          <a:effectLst/>
                          <a:latin typeface="Arial" panose="020B0604020202020204" pitchFamily="34" charset="0"/>
                          <a:ea typeface="黑体" panose="02010609060101010101" pitchFamily="49" charset="-122"/>
                        </a:rPr>
                        <a:t>西安</a:t>
                      </a:r>
                    </a:p>
                  </a:txBody>
                  <a:tcPr horzOverflow="overflow">
                    <a:lnL w="28575" cap="flat" cmpd="sng" algn="ctr">
                      <a:solidFill>
                        <a:srgbClr val="080808"/>
                      </a:solidFill>
                      <a:prstDash val="solid"/>
                      <a:round/>
                      <a:headEnd type="none" w="sm" len="sm"/>
                      <a:tailEnd type="none" w="sm" len="sm"/>
                    </a:lnL>
                    <a:lnR w="12700" cap="flat" cmpd="sng" algn="ctr">
                      <a:solidFill>
                        <a:srgbClr val="080808"/>
                      </a:solidFill>
                      <a:prstDash val="solid"/>
                      <a:round/>
                      <a:headEnd type="none" w="sm" len="sm"/>
                      <a:tailEnd type="none" w="sm" len="sm"/>
                    </a:lnR>
                    <a:lnT w="12700" cap="flat" cmpd="sng" algn="ctr">
                      <a:solidFill>
                        <a:srgbClr val="080808"/>
                      </a:solidFill>
                      <a:prstDash val="solid"/>
                      <a:round/>
                      <a:headEnd type="none" w="sm" len="sm"/>
                      <a:tailEnd type="none" w="sm" len="sm"/>
                    </a:lnT>
                    <a:lnB w="12700" cap="flat" cmpd="sng" algn="ctr">
                      <a:solidFill>
                        <a:srgbClr val="080808"/>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80808"/>
                          </a:solidFill>
                          <a:effectLst/>
                          <a:latin typeface="Arial" panose="020B0604020202020204" pitchFamily="34" charset="0"/>
                          <a:ea typeface="黑体" panose="02010609060101010101" pitchFamily="49" charset="-122"/>
                        </a:rPr>
                        <a:t>A</a:t>
                      </a:r>
                    </a:p>
                  </a:txBody>
                  <a:tcPr horzOverflow="overflow">
                    <a:lnL w="12700" cap="flat" cmpd="sng" algn="ctr">
                      <a:solidFill>
                        <a:srgbClr val="080808"/>
                      </a:solidFill>
                      <a:prstDash val="solid"/>
                      <a:round/>
                      <a:headEnd type="none" w="sm" len="sm"/>
                      <a:tailEnd type="none" w="sm" len="sm"/>
                    </a:lnL>
                    <a:lnR w="12700" cap="flat" cmpd="sng" algn="ctr">
                      <a:solidFill>
                        <a:srgbClr val="080808"/>
                      </a:solidFill>
                      <a:prstDash val="solid"/>
                      <a:round/>
                      <a:headEnd type="none" w="sm" len="sm"/>
                      <a:tailEnd type="none" w="sm" len="sm"/>
                    </a:lnR>
                    <a:lnT w="12700" cap="flat" cmpd="sng" algn="ctr">
                      <a:solidFill>
                        <a:srgbClr val="080808"/>
                      </a:solidFill>
                      <a:prstDash val="solid"/>
                      <a:round/>
                      <a:headEnd type="none" w="sm" len="sm"/>
                      <a:tailEnd type="none" w="sm" len="sm"/>
                    </a:lnT>
                    <a:lnB w="12700" cap="flat" cmpd="sng" algn="ctr">
                      <a:solidFill>
                        <a:srgbClr val="080808"/>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80808"/>
                          </a:solidFill>
                          <a:effectLst/>
                          <a:latin typeface="Arial" panose="020B0604020202020204" pitchFamily="34" charset="0"/>
                          <a:ea typeface="黑体" panose="02010609060101010101" pitchFamily="49" charset="-122"/>
                        </a:rPr>
                        <a:t>710022</a:t>
                      </a:r>
                    </a:p>
                  </a:txBody>
                  <a:tcPr horzOverflow="overflow">
                    <a:lnL w="12700" cap="flat" cmpd="sng" algn="ctr">
                      <a:solidFill>
                        <a:srgbClr val="080808"/>
                      </a:solidFill>
                      <a:prstDash val="solid"/>
                      <a:round/>
                      <a:headEnd type="none" w="sm" len="sm"/>
                      <a:tailEnd type="none" w="sm" len="sm"/>
                    </a:lnL>
                    <a:lnR w="28575" cap="flat" cmpd="sng" algn="ctr">
                      <a:solidFill>
                        <a:srgbClr val="080808"/>
                      </a:solidFill>
                      <a:prstDash val="solid"/>
                      <a:round/>
                      <a:headEnd type="none" w="sm" len="sm"/>
                      <a:tailEnd type="none" w="sm" len="sm"/>
                    </a:lnR>
                    <a:lnT w="12700" cap="flat" cmpd="sng" algn="ctr">
                      <a:solidFill>
                        <a:srgbClr val="080808"/>
                      </a:solidFill>
                      <a:prstDash val="solid"/>
                      <a:round/>
                      <a:headEnd type="none" w="sm" len="sm"/>
                      <a:tailEnd type="none" w="sm" len="sm"/>
                    </a:lnT>
                    <a:lnB w="12700" cap="flat" cmpd="sng" algn="ctr">
                      <a:solidFill>
                        <a:srgbClr val="080808"/>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739874855"/>
                  </a:ext>
                </a:extLst>
              </a:tr>
              <a:tr h="488950">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zh-CN" altLang="en-US" sz="1800" b="1" i="0" u="none" strike="noStrike" cap="none" normalizeH="0" baseline="0">
                          <a:ln>
                            <a:noFill/>
                          </a:ln>
                          <a:solidFill>
                            <a:srgbClr val="080808"/>
                          </a:solidFill>
                          <a:effectLst/>
                          <a:latin typeface="Arial" panose="020B0604020202020204" pitchFamily="34" charset="0"/>
                          <a:ea typeface="黑体" panose="02010609060101010101" pitchFamily="49" charset="-122"/>
                        </a:rPr>
                        <a:t>西安</a:t>
                      </a:r>
                    </a:p>
                  </a:txBody>
                  <a:tcPr horzOverflow="overflow">
                    <a:lnL w="28575" cap="flat" cmpd="sng" algn="ctr">
                      <a:solidFill>
                        <a:srgbClr val="080808"/>
                      </a:solidFill>
                      <a:prstDash val="solid"/>
                      <a:round/>
                      <a:headEnd type="none" w="sm" len="sm"/>
                      <a:tailEnd type="none" w="sm" len="sm"/>
                    </a:lnL>
                    <a:lnR w="12700" cap="flat" cmpd="sng" algn="ctr">
                      <a:solidFill>
                        <a:srgbClr val="080808"/>
                      </a:solidFill>
                      <a:prstDash val="solid"/>
                      <a:round/>
                      <a:headEnd type="none" w="sm" len="sm"/>
                      <a:tailEnd type="none" w="sm" len="sm"/>
                    </a:lnR>
                    <a:lnT w="12700" cap="flat" cmpd="sng" algn="ctr">
                      <a:solidFill>
                        <a:srgbClr val="080808"/>
                      </a:solidFill>
                      <a:prstDash val="solid"/>
                      <a:round/>
                      <a:headEnd type="none" w="sm" len="sm"/>
                      <a:tailEnd type="none" w="sm" len="sm"/>
                    </a:lnT>
                    <a:lnB w="12700" cap="flat" cmpd="sng" algn="ctr">
                      <a:solidFill>
                        <a:srgbClr val="080808"/>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80808"/>
                          </a:solidFill>
                          <a:effectLst/>
                          <a:latin typeface="Arial" panose="020B0604020202020204" pitchFamily="34" charset="0"/>
                          <a:ea typeface="黑体" panose="02010609060101010101" pitchFamily="49" charset="-122"/>
                        </a:rPr>
                        <a:t>B</a:t>
                      </a:r>
                    </a:p>
                  </a:txBody>
                  <a:tcPr horzOverflow="overflow">
                    <a:lnL w="12700" cap="flat" cmpd="sng" algn="ctr">
                      <a:solidFill>
                        <a:srgbClr val="080808"/>
                      </a:solidFill>
                      <a:prstDash val="solid"/>
                      <a:round/>
                      <a:headEnd type="none" w="sm" len="sm"/>
                      <a:tailEnd type="none" w="sm" len="sm"/>
                    </a:lnL>
                    <a:lnR w="12700" cap="flat" cmpd="sng" algn="ctr">
                      <a:solidFill>
                        <a:srgbClr val="080808"/>
                      </a:solidFill>
                      <a:prstDash val="solid"/>
                      <a:round/>
                      <a:headEnd type="none" w="sm" len="sm"/>
                      <a:tailEnd type="none" w="sm" len="sm"/>
                    </a:lnR>
                    <a:lnT w="12700" cap="flat" cmpd="sng" algn="ctr">
                      <a:solidFill>
                        <a:srgbClr val="080808"/>
                      </a:solidFill>
                      <a:prstDash val="solid"/>
                      <a:round/>
                      <a:headEnd type="none" w="sm" len="sm"/>
                      <a:tailEnd type="none" w="sm" len="sm"/>
                    </a:lnT>
                    <a:lnB w="12700" cap="flat" cmpd="sng" algn="ctr">
                      <a:solidFill>
                        <a:srgbClr val="080808"/>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80808"/>
                          </a:solidFill>
                          <a:effectLst/>
                          <a:latin typeface="Arial" panose="020B0604020202020204" pitchFamily="34" charset="0"/>
                          <a:ea typeface="黑体" panose="02010609060101010101" pitchFamily="49" charset="-122"/>
                        </a:rPr>
                        <a:t>710022</a:t>
                      </a:r>
                      <a:endParaRPr kumimoji="0" lang="zh-CN" altLang="en-US" sz="1800" b="1" i="0" u="none" strike="noStrike" cap="none" normalizeH="0" baseline="0">
                        <a:ln>
                          <a:noFill/>
                        </a:ln>
                        <a:solidFill>
                          <a:srgbClr val="080808"/>
                        </a:solidFill>
                        <a:effectLst/>
                        <a:latin typeface="Arial" panose="020B0604020202020204" pitchFamily="34" charset="0"/>
                        <a:ea typeface="黑体" panose="02010609060101010101" pitchFamily="49" charset="-122"/>
                      </a:endParaRPr>
                    </a:p>
                  </a:txBody>
                  <a:tcPr horzOverflow="overflow">
                    <a:lnL w="12700" cap="flat" cmpd="sng" algn="ctr">
                      <a:solidFill>
                        <a:srgbClr val="080808"/>
                      </a:solidFill>
                      <a:prstDash val="solid"/>
                      <a:round/>
                      <a:headEnd type="none" w="sm" len="sm"/>
                      <a:tailEnd type="none" w="sm" len="sm"/>
                    </a:lnL>
                    <a:lnR w="28575" cap="flat" cmpd="sng" algn="ctr">
                      <a:solidFill>
                        <a:srgbClr val="080808"/>
                      </a:solidFill>
                      <a:prstDash val="solid"/>
                      <a:round/>
                      <a:headEnd type="none" w="sm" len="sm"/>
                      <a:tailEnd type="none" w="sm" len="sm"/>
                    </a:lnR>
                    <a:lnT w="12700" cap="flat" cmpd="sng" algn="ctr">
                      <a:solidFill>
                        <a:srgbClr val="080808"/>
                      </a:solidFill>
                      <a:prstDash val="solid"/>
                      <a:round/>
                      <a:headEnd type="none" w="sm" len="sm"/>
                      <a:tailEnd type="none" w="sm" len="sm"/>
                    </a:lnT>
                    <a:lnB w="12700" cap="flat" cmpd="sng" algn="ctr">
                      <a:solidFill>
                        <a:srgbClr val="080808"/>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63816702"/>
                  </a:ext>
                </a:extLst>
              </a:tr>
              <a:tr h="490538">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zh-CN" altLang="en-US" sz="1800" b="1" i="0" u="none" strike="noStrike" cap="none" normalizeH="0" baseline="0">
                          <a:ln>
                            <a:noFill/>
                          </a:ln>
                          <a:solidFill>
                            <a:srgbClr val="080808"/>
                          </a:solidFill>
                          <a:effectLst/>
                          <a:latin typeface="Arial" panose="020B0604020202020204" pitchFamily="34" charset="0"/>
                          <a:ea typeface="黑体" panose="02010609060101010101" pitchFamily="49" charset="-122"/>
                        </a:rPr>
                        <a:t>西安</a:t>
                      </a:r>
                    </a:p>
                  </a:txBody>
                  <a:tcPr horzOverflow="overflow">
                    <a:lnL w="28575" cap="flat" cmpd="sng" algn="ctr">
                      <a:solidFill>
                        <a:srgbClr val="080808"/>
                      </a:solidFill>
                      <a:prstDash val="solid"/>
                      <a:round/>
                      <a:headEnd type="none" w="sm" len="sm"/>
                      <a:tailEnd type="none" w="sm" len="sm"/>
                    </a:lnL>
                    <a:lnR w="12700" cap="flat" cmpd="sng" algn="ctr">
                      <a:solidFill>
                        <a:srgbClr val="080808"/>
                      </a:solidFill>
                      <a:prstDash val="solid"/>
                      <a:round/>
                      <a:headEnd type="none" w="sm" len="sm"/>
                      <a:tailEnd type="none" w="sm" len="sm"/>
                    </a:lnR>
                    <a:lnT w="12700" cap="flat" cmpd="sng" algn="ctr">
                      <a:solidFill>
                        <a:srgbClr val="080808"/>
                      </a:solidFill>
                      <a:prstDash val="solid"/>
                      <a:round/>
                      <a:headEnd type="none" w="sm" len="sm"/>
                      <a:tailEnd type="none" w="sm" len="sm"/>
                    </a:lnT>
                    <a:lnB w="12700" cap="flat" cmpd="sng" algn="ctr">
                      <a:solidFill>
                        <a:srgbClr val="080808"/>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80808"/>
                          </a:solidFill>
                          <a:effectLst/>
                          <a:latin typeface="Arial" panose="020B0604020202020204" pitchFamily="34" charset="0"/>
                          <a:ea typeface="黑体" panose="02010609060101010101" pitchFamily="49" charset="-122"/>
                        </a:rPr>
                        <a:t>C</a:t>
                      </a:r>
                    </a:p>
                  </a:txBody>
                  <a:tcPr horzOverflow="overflow">
                    <a:lnL w="12700" cap="flat" cmpd="sng" algn="ctr">
                      <a:solidFill>
                        <a:srgbClr val="080808"/>
                      </a:solidFill>
                      <a:prstDash val="solid"/>
                      <a:round/>
                      <a:headEnd type="none" w="sm" len="sm"/>
                      <a:tailEnd type="none" w="sm" len="sm"/>
                    </a:lnL>
                    <a:lnR w="12700" cap="flat" cmpd="sng" algn="ctr">
                      <a:solidFill>
                        <a:srgbClr val="080808"/>
                      </a:solidFill>
                      <a:prstDash val="solid"/>
                      <a:round/>
                      <a:headEnd type="none" w="sm" len="sm"/>
                      <a:tailEnd type="none" w="sm" len="sm"/>
                    </a:lnR>
                    <a:lnT w="12700" cap="flat" cmpd="sng" algn="ctr">
                      <a:solidFill>
                        <a:srgbClr val="080808"/>
                      </a:solidFill>
                      <a:prstDash val="solid"/>
                      <a:round/>
                      <a:headEnd type="none" w="sm" len="sm"/>
                      <a:tailEnd type="none" w="sm" len="sm"/>
                    </a:lnT>
                    <a:lnB w="12700" cap="flat" cmpd="sng" algn="ctr">
                      <a:solidFill>
                        <a:srgbClr val="080808"/>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80808"/>
                          </a:solidFill>
                          <a:effectLst/>
                          <a:latin typeface="Arial" panose="020B0604020202020204" pitchFamily="34" charset="0"/>
                          <a:ea typeface="黑体" panose="02010609060101010101" pitchFamily="49" charset="-122"/>
                        </a:rPr>
                        <a:t>710022</a:t>
                      </a:r>
                      <a:endParaRPr kumimoji="0" lang="zh-CN" altLang="en-US" sz="1800" b="1" i="0" u="none" strike="noStrike" cap="none" normalizeH="0" baseline="0">
                        <a:ln>
                          <a:noFill/>
                        </a:ln>
                        <a:solidFill>
                          <a:srgbClr val="080808"/>
                        </a:solidFill>
                        <a:effectLst/>
                        <a:latin typeface="Arial" panose="020B0604020202020204" pitchFamily="34" charset="0"/>
                        <a:ea typeface="黑体" panose="02010609060101010101" pitchFamily="49" charset="-122"/>
                      </a:endParaRPr>
                    </a:p>
                  </a:txBody>
                  <a:tcPr horzOverflow="overflow">
                    <a:lnL w="12700" cap="flat" cmpd="sng" algn="ctr">
                      <a:solidFill>
                        <a:srgbClr val="080808"/>
                      </a:solidFill>
                      <a:prstDash val="solid"/>
                      <a:round/>
                      <a:headEnd type="none" w="sm" len="sm"/>
                      <a:tailEnd type="none" w="sm" len="sm"/>
                    </a:lnL>
                    <a:lnR w="28575" cap="flat" cmpd="sng" algn="ctr">
                      <a:solidFill>
                        <a:srgbClr val="080808"/>
                      </a:solidFill>
                      <a:prstDash val="solid"/>
                      <a:round/>
                      <a:headEnd type="none" w="sm" len="sm"/>
                      <a:tailEnd type="none" w="sm" len="sm"/>
                    </a:lnR>
                    <a:lnT w="12700" cap="flat" cmpd="sng" algn="ctr">
                      <a:solidFill>
                        <a:srgbClr val="080808"/>
                      </a:solidFill>
                      <a:prstDash val="solid"/>
                      <a:round/>
                      <a:headEnd type="none" w="sm" len="sm"/>
                      <a:tailEnd type="none" w="sm" len="sm"/>
                    </a:lnT>
                    <a:lnB w="12700" cap="flat" cmpd="sng" algn="ctr">
                      <a:solidFill>
                        <a:srgbClr val="080808"/>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26734319"/>
                  </a:ext>
                </a:extLst>
              </a:tr>
              <a:tr h="490538">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zh-CN" altLang="en-US" sz="1800" b="1" i="0" u="none" strike="noStrike" cap="none" normalizeH="0" baseline="0">
                          <a:ln>
                            <a:noFill/>
                          </a:ln>
                          <a:solidFill>
                            <a:srgbClr val="080808"/>
                          </a:solidFill>
                          <a:effectLst/>
                          <a:latin typeface="Arial" panose="020B0604020202020204" pitchFamily="34" charset="0"/>
                          <a:ea typeface="黑体" panose="02010609060101010101" pitchFamily="49" charset="-122"/>
                        </a:rPr>
                        <a:t>西安</a:t>
                      </a:r>
                    </a:p>
                  </a:txBody>
                  <a:tcPr horzOverflow="overflow">
                    <a:lnL w="28575" cap="flat" cmpd="sng" algn="ctr">
                      <a:solidFill>
                        <a:srgbClr val="080808"/>
                      </a:solidFill>
                      <a:prstDash val="solid"/>
                      <a:round/>
                      <a:headEnd type="none" w="sm" len="sm"/>
                      <a:tailEnd type="none" w="sm" len="sm"/>
                    </a:lnL>
                    <a:lnR w="12700" cap="flat" cmpd="sng" algn="ctr">
                      <a:solidFill>
                        <a:srgbClr val="080808"/>
                      </a:solidFill>
                      <a:prstDash val="solid"/>
                      <a:round/>
                      <a:headEnd type="none" w="sm" len="sm"/>
                      <a:tailEnd type="none" w="sm" len="sm"/>
                    </a:lnR>
                    <a:lnT w="12700" cap="flat" cmpd="sng" algn="ctr">
                      <a:solidFill>
                        <a:srgbClr val="080808"/>
                      </a:solidFill>
                      <a:prstDash val="solid"/>
                      <a:round/>
                      <a:headEnd type="none" w="sm" len="sm"/>
                      <a:tailEnd type="none" w="sm" len="sm"/>
                    </a:lnT>
                    <a:lnB w="12700" cap="flat" cmpd="sng" algn="ctr">
                      <a:solidFill>
                        <a:srgbClr val="080808"/>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80808"/>
                          </a:solidFill>
                          <a:effectLst/>
                          <a:latin typeface="Arial" panose="020B0604020202020204" pitchFamily="34" charset="0"/>
                          <a:ea typeface="黑体" panose="02010609060101010101" pitchFamily="49" charset="-122"/>
                        </a:rPr>
                        <a:t>D</a:t>
                      </a:r>
                    </a:p>
                  </a:txBody>
                  <a:tcPr horzOverflow="overflow">
                    <a:lnL w="12700" cap="flat" cmpd="sng" algn="ctr">
                      <a:solidFill>
                        <a:srgbClr val="080808"/>
                      </a:solidFill>
                      <a:prstDash val="solid"/>
                      <a:round/>
                      <a:headEnd type="none" w="sm" len="sm"/>
                      <a:tailEnd type="none" w="sm" len="sm"/>
                    </a:lnL>
                    <a:lnR w="12700" cap="flat" cmpd="sng" algn="ctr">
                      <a:solidFill>
                        <a:srgbClr val="080808"/>
                      </a:solidFill>
                      <a:prstDash val="solid"/>
                      <a:round/>
                      <a:headEnd type="none" w="sm" len="sm"/>
                      <a:tailEnd type="none" w="sm" len="sm"/>
                    </a:lnR>
                    <a:lnT w="12700" cap="flat" cmpd="sng" algn="ctr">
                      <a:solidFill>
                        <a:srgbClr val="080808"/>
                      </a:solidFill>
                      <a:prstDash val="solid"/>
                      <a:round/>
                      <a:headEnd type="none" w="sm" len="sm"/>
                      <a:tailEnd type="none" w="sm" len="sm"/>
                    </a:lnT>
                    <a:lnB w="12700" cap="flat" cmpd="sng" algn="ctr">
                      <a:solidFill>
                        <a:srgbClr val="080808"/>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80808"/>
                          </a:solidFill>
                          <a:effectLst/>
                          <a:latin typeface="Arial" panose="020B0604020202020204" pitchFamily="34" charset="0"/>
                          <a:ea typeface="黑体" panose="02010609060101010101" pitchFamily="49" charset="-122"/>
                        </a:rPr>
                        <a:t>710025</a:t>
                      </a:r>
                      <a:endParaRPr kumimoji="0" lang="zh-CN" altLang="en-US" sz="1800" b="1" i="0" u="none" strike="noStrike" cap="none" normalizeH="0" baseline="0">
                        <a:ln>
                          <a:noFill/>
                        </a:ln>
                        <a:solidFill>
                          <a:srgbClr val="080808"/>
                        </a:solidFill>
                        <a:effectLst/>
                        <a:latin typeface="Arial" panose="020B0604020202020204" pitchFamily="34" charset="0"/>
                        <a:ea typeface="黑体" panose="02010609060101010101" pitchFamily="49" charset="-122"/>
                      </a:endParaRPr>
                    </a:p>
                  </a:txBody>
                  <a:tcPr horzOverflow="overflow">
                    <a:lnL w="12700" cap="flat" cmpd="sng" algn="ctr">
                      <a:solidFill>
                        <a:srgbClr val="080808"/>
                      </a:solidFill>
                      <a:prstDash val="solid"/>
                      <a:round/>
                      <a:headEnd type="none" w="sm" len="sm"/>
                      <a:tailEnd type="none" w="sm" len="sm"/>
                    </a:lnL>
                    <a:lnR w="28575" cap="flat" cmpd="sng" algn="ctr">
                      <a:solidFill>
                        <a:srgbClr val="080808"/>
                      </a:solidFill>
                      <a:prstDash val="solid"/>
                      <a:round/>
                      <a:headEnd type="none" w="sm" len="sm"/>
                      <a:tailEnd type="none" w="sm" len="sm"/>
                    </a:lnR>
                    <a:lnT w="12700" cap="flat" cmpd="sng" algn="ctr">
                      <a:solidFill>
                        <a:srgbClr val="080808"/>
                      </a:solidFill>
                      <a:prstDash val="solid"/>
                      <a:round/>
                      <a:headEnd type="none" w="sm" len="sm"/>
                      <a:tailEnd type="none" w="sm" len="sm"/>
                    </a:lnT>
                    <a:lnB w="12700" cap="flat" cmpd="sng" algn="ctr">
                      <a:solidFill>
                        <a:srgbClr val="080808"/>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72062801"/>
                  </a:ext>
                </a:extLst>
              </a:tr>
              <a:tr h="490538">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zh-CN" altLang="en-US" sz="1800" b="1" i="0" u="none" strike="noStrike" cap="none" normalizeH="0" baseline="0">
                          <a:ln>
                            <a:noFill/>
                          </a:ln>
                          <a:solidFill>
                            <a:srgbClr val="080808"/>
                          </a:solidFill>
                          <a:effectLst/>
                          <a:latin typeface="Arial" panose="020B0604020202020204" pitchFamily="34" charset="0"/>
                          <a:ea typeface="黑体" panose="02010609060101010101" pitchFamily="49" charset="-122"/>
                        </a:rPr>
                        <a:t>上海</a:t>
                      </a:r>
                    </a:p>
                  </a:txBody>
                  <a:tcPr horzOverflow="overflow">
                    <a:lnL w="28575" cap="flat" cmpd="sng" algn="ctr">
                      <a:solidFill>
                        <a:srgbClr val="080808"/>
                      </a:solidFill>
                      <a:prstDash val="solid"/>
                      <a:round/>
                      <a:headEnd type="none" w="sm" len="sm"/>
                      <a:tailEnd type="none" w="sm" len="sm"/>
                    </a:lnL>
                    <a:lnR w="12700" cap="flat" cmpd="sng" algn="ctr">
                      <a:solidFill>
                        <a:srgbClr val="080808"/>
                      </a:solidFill>
                      <a:prstDash val="solid"/>
                      <a:round/>
                      <a:headEnd type="none" w="sm" len="sm"/>
                      <a:tailEnd type="none" w="sm" len="sm"/>
                    </a:lnR>
                    <a:lnT w="12700" cap="flat" cmpd="sng" algn="ctr">
                      <a:solidFill>
                        <a:srgbClr val="080808"/>
                      </a:solidFill>
                      <a:prstDash val="solid"/>
                      <a:round/>
                      <a:headEnd type="none" w="sm" len="sm"/>
                      <a:tailEnd type="none" w="sm" len="sm"/>
                    </a:lnT>
                    <a:lnB w="28575" cap="flat" cmpd="sng" algn="ctr">
                      <a:solidFill>
                        <a:srgbClr val="080808"/>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80808"/>
                          </a:solidFill>
                          <a:effectLst/>
                          <a:latin typeface="Arial" panose="020B0604020202020204" pitchFamily="34" charset="0"/>
                          <a:ea typeface="黑体" panose="02010609060101010101" pitchFamily="49" charset="-122"/>
                        </a:rPr>
                        <a:t>A</a:t>
                      </a:r>
                    </a:p>
                  </a:txBody>
                  <a:tcPr horzOverflow="overflow">
                    <a:lnL w="12700" cap="flat" cmpd="sng" algn="ctr">
                      <a:solidFill>
                        <a:srgbClr val="080808"/>
                      </a:solidFill>
                      <a:prstDash val="solid"/>
                      <a:round/>
                      <a:headEnd type="none" w="sm" len="sm"/>
                      <a:tailEnd type="none" w="sm" len="sm"/>
                    </a:lnL>
                    <a:lnR w="12700" cap="flat" cmpd="sng" algn="ctr">
                      <a:solidFill>
                        <a:srgbClr val="080808"/>
                      </a:solidFill>
                      <a:prstDash val="solid"/>
                      <a:round/>
                      <a:headEnd type="none" w="sm" len="sm"/>
                      <a:tailEnd type="none" w="sm" len="sm"/>
                    </a:lnR>
                    <a:lnT w="12700" cap="flat" cmpd="sng" algn="ctr">
                      <a:solidFill>
                        <a:srgbClr val="080808"/>
                      </a:solidFill>
                      <a:prstDash val="solid"/>
                      <a:round/>
                      <a:headEnd type="none" w="sm" len="sm"/>
                      <a:tailEnd type="none" w="sm" len="sm"/>
                    </a:lnT>
                    <a:lnB w="28575" cap="flat" cmpd="sng" algn="ctr">
                      <a:solidFill>
                        <a:srgbClr val="080808"/>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20000"/>
                        </a:lnSpc>
                        <a:spcBef>
                          <a:spcPct val="20000"/>
                        </a:spcBef>
                        <a:spcAft>
                          <a:spcPct val="0"/>
                        </a:spcAft>
                        <a:buClr>
                          <a:srgbClr val="009900"/>
                        </a:buClr>
                        <a:buSzPct val="70000"/>
                        <a:buFont typeface="Wingdings" panose="05000000000000000000" pitchFamily="2" charset="2"/>
                        <a:buNone/>
                        <a:tabLst/>
                      </a:pPr>
                      <a:r>
                        <a:rPr kumimoji="0" lang="en-US" altLang="zh-CN" sz="1800" b="1" i="0" u="none" strike="noStrike" cap="none" normalizeH="0" baseline="0">
                          <a:ln>
                            <a:noFill/>
                          </a:ln>
                          <a:solidFill>
                            <a:srgbClr val="080808"/>
                          </a:solidFill>
                          <a:effectLst/>
                          <a:latin typeface="Arial" panose="020B0604020202020204" pitchFamily="34" charset="0"/>
                          <a:ea typeface="黑体" panose="02010609060101010101" pitchFamily="49" charset="-122"/>
                        </a:rPr>
                        <a:t>200233</a:t>
                      </a:r>
                    </a:p>
                  </a:txBody>
                  <a:tcPr horzOverflow="overflow">
                    <a:lnL w="12700" cap="flat" cmpd="sng" algn="ctr">
                      <a:solidFill>
                        <a:srgbClr val="080808"/>
                      </a:solidFill>
                      <a:prstDash val="solid"/>
                      <a:round/>
                      <a:headEnd type="none" w="sm" len="sm"/>
                      <a:tailEnd type="none" w="sm" len="sm"/>
                    </a:lnL>
                    <a:lnR w="28575" cap="flat" cmpd="sng" algn="ctr">
                      <a:solidFill>
                        <a:srgbClr val="080808"/>
                      </a:solidFill>
                      <a:prstDash val="solid"/>
                      <a:round/>
                      <a:headEnd type="none" w="sm" len="sm"/>
                      <a:tailEnd type="none" w="sm" len="sm"/>
                    </a:lnR>
                    <a:lnT w="12700" cap="flat" cmpd="sng" algn="ctr">
                      <a:solidFill>
                        <a:srgbClr val="080808"/>
                      </a:solidFill>
                      <a:prstDash val="solid"/>
                      <a:round/>
                      <a:headEnd type="none" w="sm" len="sm"/>
                      <a:tailEnd type="none" w="sm" len="sm"/>
                    </a:lnT>
                    <a:lnB w="28575" cap="flat" cmpd="sng" algn="ctr">
                      <a:solidFill>
                        <a:srgbClr val="080808"/>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767183473"/>
                  </a:ext>
                </a:extLst>
              </a:tr>
            </a:tbl>
          </a:graphicData>
        </a:graphic>
      </p:graphicFrame>
      <p:grpSp>
        <p:nvGrpSpPr>
          <p:cNvPr id="929868" name="Group 76">
            <a:extLst>
              <a:ext uri="{FF2B5EF4-FFF2-40B4-BE49-F238E27FC236}">
                <a16:creationId xmlns:a16="http://schemas.microsoft.com/office/drawing/2014/main" id="{169AB3C6-1C66-4874-AC56-930D30905BB4}"/>
              </a:ext>
            </a:extLst>
          </p:cNvPr>
          <p:cNvGrpSpPr>
            <a:grpSpLocks/>
          </p:cNvGrpSpPr>
          <p:nvPr/>
        </p:nvGrpSpPr>
        <p:grpSpPr bwMode="auto">
          <a:xfrm>
            <a:off x="2124075" y="4276725"/>
            <a:ext cx="5111750" cy="981075"/>
            <a:chOff x="1338" y="2604"/>
            <a:chExt cx="3220" cy="618"/>
          </a:xfrm>
        </p:grpSpPr>
        <p:sp>
          <p:nvSpPr>
            <p:cNvPr id="929869" name="Line 77">
              <a:extLst>
                <a:ext uri="{FF2B5EF4-FFF2-40B4-BE49-F238E27FC236}">
                  <a16:creationId xmlns:a16="http://schemas.microsoft.com/office/drawing/2014/main" id="{194EA58E-4D97-440A-AD09-F87E38CDD8E5}"/>
                </a:ext>
              </a:extLst>
            </p:cNvPr>
            <p:cNvSpPr>
              <a:spLocks noChangeShapeType="1"/>
            </p:cNvSpPr>
            <p:nvPr/>
          </p:nvSpPr>
          <p:spPr bwMode="auto">
            <a:xfrm>
              <a:off x="1338" y="2604"/>
              <a:ext cx="680" cy="0"/>
            </a:xfrm>
            <a:prstGeom prst="line">
              <a:avLst/>
            </a:prstGeom>
            <a:noFill/>
            <a:ln w="38100" cap="sq">
              <a:solidFill>
                <a:srgbClr val="FF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929870" name="Line 78">
              <a:extLst>
                <a:ext uri="{FF2B5EF4-FFF2-40B4-BE49-F238E27FC236}">
                  <a16:creationId xmlns:a16="http://schemas.microsoft.com/office/drawing/2014/main" id="{BFB66898-5EE6-4C24-BF5C-CCE8BCE2DA96}"/>
                </a:ext>
              </a:extLst>
            </p:cNvPr>
            <p:cNvSpPr>
              <a:spLocks noChangeShapeType="1"/>
            </p:cNvSpPr>
            <p:nvPr/>
          </p:nvSpPr>
          <p:spPr bwMode="auto">
            <a:xfrm>
              <a:off x="1338" y="2913"/>
              <a:ext cx="680" cy="0"/>
            </a:xfrm>
            <a:prstGeom prst="line">
              <a:avLst/>
            </a:prstGeom>
            <a:noFill/>
            <a:ln w="38100" cap="sq">
              <a:solidFill>
                <a:srgbClr val="FF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929871" name="Line 79">
              <a:extLst>
                <a:ext uri="{FF2B5EF4-FFF2-40B4-BE49-F238E27FC236}">
                  <a16:creationId xmlns:a16="http://schemas.microsoft.com/office/drawing/2014/main" id="{AAC84B07-3A63-4A64-AB75-7540F27DD697}"/>
                </a:ext>
              </a:extLst>
            </p:cNvPr>
            <p:cNvSpPr>
              <a:spLocks noChangeShapeType="1"/>
            </p:cNvSpPr>
            <p:nvPr/>
          </p:nvSpPr>
          <p:spPr bwMode="auto">
            <a:xfrm>
              <a:off x="1338" y="3221"/>
              <a:ext cx="680" cy="0"/>
            </a:xfrm>
            <a:prstGeom prst="line">
              <a:avLst/>
            </a:prstGeom>
            <a:noFill/>
            <a:ln w="38100" cap="sq">
              <a:solidFill>
                <a:srgbClr val="FF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929872" name="Line 80">
              <a:extLst>
                <a:ext uri="{FF2B5EF4-FFF2-40B4-BE49-F238E27FC236}">
                  <a16:creationId xmlns:a16="http://schemas.microsoft.com/office/drawing/2014/main" id="{4923D061-D816-4622-A4D8-544912E50FDE}"/>
                </a:ext>
              </a:extLst>
            </p:cNvPr>
            <p:cNvSpPr>
              <a:spLocks noChangeShapeType="1"/>
            </p:cNvSpPr>
            <p:nvPr/>
          </p:nvSpPr>
          <p:spPr bwMode="auto">
            <a:xfrm>
              <a:off x="3878" y="2605"/>
              <a:ext cx="680" cy="0"/>
            </a:xfrm>
            <a:prstGeom prst="line">
              <a:avLst/>
            </a:prstGeom>
            <a:noFill/>
            <a:ln w="38100" cap="sq">
              <a:solidFill>
                <a:srgbClr val="FF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929873" name="Line 81">
              <a:extLst>
                <a:ext uri="{FF2B5EF4-FFF2-40B4-BE49-F238E27FC236}">
                  <a16:creationId xmlns:a16="http://schemas.microsoft.com/office/drawing/2014/main" id="{4741F4B0-8364-49D9-B9CF-1E0519558C06}"/>
                </a:ext>
              </a:extLst>
            </p:cNvPr>
            <p:cNvSpPr>
              <a:spLocks noChangeShapeType="1"/>
            </p:cNvSpPr>
            <p:nvPr/>
          </p:nvSpPr>
          <p:spPr bwMode="auto">
            <a:xfrm>
              <a:off x="3878" y="2913"/>
              <a:ext cx="680" cy="0"/>
            </a:xfrm>
            <a:prstGeom prst="line">
              <a:avLst/>
            </a:prstGeom>
            <a:noFill/>
            <a:ln w="38100" cap="sq">
              <a:solidFill>
                <a:srgbClr val="FF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929874" name="Line 82">
              <a:extLst>
                <a:ext uri="{FF2B5EF4-FFF2-40B4-BE49-F238E27FC236}">
                  <a16:creationId xmlns:a16="http://schemas.microsoft.com/office/drawing/2014/main" id="{0F9236DF-DD0A-4B77-BD6F-A906CAF165D9}"/>
                </a:ext>
              </a:extLst>
            </p:cNvPr>
            <p:cNvSpPr>
              <a:spLocks noChangeShapeType="1"/>
            </p:cNvSpPr>
            <p:nvPr/>
          </p:nvSpPr>
          <p:spPr bwMode="auto">
            <a:xfrm>
              <a:off x="3878" y="3222"/>
              <a:ext cx="680" cy="0"/>
            </a:xfrm>
            <a:prstGeom prst="line">
              <a:avLst/>
            </a:prstGeom>
            <a:noFill/>
            <a:ln w="38100" cap="sq">
              <a:solidFill>
                <a:srgbClr val="FF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29875" name="Line 83">
            <a:extLst>
              <a:ext uri="{FF2B5EF4-FFF2-40B4-BE49-F238E27FC236}">
                <a16:creationId xmlns:a16="http://schemas.microsoft.com/office/drawing/2014/main" id="{4024AADA-41BC-4DA5-9E4C-C079EF2B8F4D}"/>
              </a:ext>
            </a:extLst>
          </p:cNvPr>
          <p:cNvSpPr>
            <a:spLocks noChangeShapeType="1"/>
          </p:cNvSpPr>
          <p:nvPr/>
        </p:nvSpPr>
        <p:spPr bwMode="auto">
          <a:xfrm>
            <a:off x="5292725" y="2997200"/>
            <a:ext cx="1728788" cy="0"/>
          </a:xfrm>
          <a:prstGeom prst="line">
            <a:avLst/>
          </a:prstGeom>
          <a:noFill/>
          <a:ln w="38100" cap="sq">
            <a:solidFill>
              <a:srgbClr val="FF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929876" name="AutoShape 84">
            <a:extLst>
              <a:ext uri="{FF2B5EF4-FFF2-40B4-BE49-F238E27FC236}">
                <a16:creationId xmlns:a16="http://schemas.microsoft.com/office/drawing/2014/main" id="{F9E527F6-980A-4100-8642-221D89D2AEEB}"/>
              </a:ext>
            </a:extLst>
          </p:cNvPr>
          <p:cNvSpPr>
            <a:spLocks noChangeArrowheads="1"/>
          </p:cNvSpPr>
          <p:nvPr/>
        </p:nvSpPr>
        <p:spPr bwMode="auto">
          <a:xfrm>
            <a:off x="1763713" y="4003675"/>
            <a:ext cx="5832475" cy="1511300"/>
          </a:xfrm>
          <a:prstGeom prst="flowChartDocument">
            <a:avLst/>
          </a:prstGeom>
          <a:solidFill>
            <a:srgbClr val="008080"/>
          </a:solidFill>
          <a:ln w="12700" cap="sq">
            <a:solidFill>
              <a:srgbClr val="080808"/>
            </a:solidFill>
            <a:miter lim="800000"/>
            <a:headEnd type="none" w="sm" len="sm"/>
            <a:tailEnd type="none" w="sm" len="sm"/>
          </a:ln>
          <a:effectLst>
            <a:outerShdw dist="71842" dir="2700000" algn="ctr" rotWithShape="0">
              <a:schemeClr val="tx1"/>
            </a:outerShdw>
          </a:effectLst>
        </p:spPr>
        <p:txBody>
          <a:bodyPr wrap="none" anchor="ctr"/>
          <a:lstStyle/>
          <a:p>
            <a:pPr algn="ctr"/>
            <a:r>
              <a:rPr lang="en-US" altLang="zh-CN"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结论：R</a:t>
            </a:r>
            <a:r>
              <a:rPr lang="zh-CN" altLang="en-US"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是</a:t>
            </a:r>
            <a:r>
              <a:rPr lang="en-US" altLang="zh-CN"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3NF模式</a:t>
            </a:r>
            <a:endParaRPr lang="zh-CN" altLang="en-US"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929879" name="Rectangle 87">
            <a:extLst>
              <a:ext uri="{FF2B5EF4-FFF2-40B4-BE49-F238E27FC236}">
                <a16:creationId xmlns:a16="http://schemas.microsoft.com/office/drawing/2014/main" id="{BA8C539B-FFB0-422C-9D12-0C189726D5B1}"/>
              </a:ext>
            </a:extLst>
          </p:cNvPr>
          <p:cNvSpPr>
            <a:spLocks noGrp="1" noChangeArrowheads="1"/>
          </p:cNvSpPr>
          <p:nvPr>
            <p:ph type="body" idx="1"/>
          </p:nvPr>
        </p:nvSpPr>
        <p:spPr/>
        <p:txBody>
          <a:bodyPr/>
          <a:lstStyle/>
          <a:p>
            <a:pPr algn="just"/>
            <a:r>
              <a:rPr lang="zh-CN" altLang="en-US" i="1">
                <a:solidFill>
                  <a:srgbClr val="008000"/>
                </a:solidFill>
                <a:latin typeface="楷体_GB2312" pitchFamily="49" charset="-122"/>
                <a:cs typeface="Times New Roman" panose="02020603050405020304" pitchFamily="18" charset="0"/>
              </a:rPr>
              <a:t>例</a:t>
            </a:r>
            <a:r>
              <a:rPr lang="zh-CN" altLang="en-US">
                <a:solidFill>
                  <a:srgbClr val="000000"/>
                </a:solidFill>
                <a:latin typeface="楷体_GB2312" pitchFamily="49" charset="-122"/>
                <a:cs typeface="Times New Roman" panose="02020603050405020304" pitchFamily="18" charset="0"/>
              </a:rPr>
              <a:t>：在关系模式</a:t>
            </a:r>
            <a:r>
              <a:rPr lang="en-US" altLang="zh-CN">
                <a:solidFill>
                  <a:srgbClr val="000000"/>
                </a:solidFill>
                <a:latin typeface="楷体_GB2312" pitchFamily="49" charset="-122"/>
                <a:cs typeface="Times New Roman" panose="02020603050405020304" pitchFamily="18" charset="0"/>
              </a:rPr>
              <a:t>R(CITY</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STREET</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ZIP)</a:t>
            </a:r>
            <a:r>
              <a:rPr lang="zh-CN" altLang="en-US">
                <a:solidFill>
                  <a:srgbClr val="000000"/>
                </a:solidFill>
                <a:latin typeface="楷体_GB2312" pitchFamily="49" charset="-122"/>
                <a:cs typeface="Times New Roman" panose="02020603050405020304" pitchFamily="18" charset="0"/>
              </a:rPr>
              <a:t>中，候选键为</a:t>
            </a:r>
            <a:r>
              <a:rPr lang="en-US" altLang="zh-CN">
                <a:solidFill>
                  <a:srgbClr val="000000"/>
                </a:solidFill>
                <a:latin typeface="楷体_GB2312" pitchFamily="49" charset="-122"/>
                <a:cs typeface="Times New Roman" panose="02020603050405020304" pitchFamily="18" charset="0"/>
              </a:rPr>
              <a:t>{CITY,STREET}</a:t>
            </a:r>
            <a:r>
              <a:rPr lang="zh-CN" altLang="en-US">
                <a:solidFill>
                  <a:srgbClr val="000000"/>
                </a:solidFill>
                <a:latin typeface="楷体_GB2312" pitchFamily="49" charset="-122"/>
                <a:cs typeface="Times New Roman" panose="02020603050405020304" pitchFamily="18" charset="0"/>
              </a:rPr>
              <a:t>和</a:t>
            </a:r>
            <a:r>
              <a:rPr lang="en-US" altLang="zh-CN">
                <a:solidFill>
                  <a:srgbClr val="000000"/>
                </a:solidFill>
                <a:latin typeface="楷体_GB2312" pitchFamily="49" charset="-122"/>
                <a:cs typeface="Times New Roman" panose="02020603050405020304" pitchFamily="18" charset="0"/>
              </a:rPr>
              <a:t>{ZIP</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STREET}</a:t>
            </a:r>
            <a:r>
              <a:rPr lang="zh-CN" altLang="en-US">
                <a:solidFill>
                  <a:srgbClr val="000000"/>
                </a:solidFill>
                <a:latin typeface="楷体_GB2312" pitchFamily="49" charset="-122"/>
                <a:cs typeface="Times New Roman" panose="02020603050405020304" pitchFamily="18" charset="0"/>
              </a:rPr>
              <a:t>，</a:t>
            </a:r>
          </a:p>
          <a:p>
            <a:pPr algn="just"/>
            <a:r>
              <a:rPr lang="en-US" altLang="zh-CN">
                <a:solidFill>
                  <a:srgbClr val="000000"/>
                </a:solidFill>
                <a:latin typeface="楷体_GB2312" pitchFamily="49" charset="-122"/>
                <a:cs typeface="Times New Roman" panose="02020603050405020304" pitchFamily="18" charset="0"/>
              </a:rPr>
              <a:t>   F={{CITY,STREET}→ZIP</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ZIP→CITY}</a:t>
            </a:r>
            <a:r>
              <a:rPr lang="zh-CN" altLang="en-US">
                <a:solidFill>
                  <a:srgbClr val="000000"/>
                </a:solidFill>
                <a:latin typeface="楷体_GB2312" pitchFamily="49" charset="-122"/>
                <a:cs typeface="Times New Roman" panose="02020603050405020304" pitchFamily="18" charset="0"/>
              </a:rPr>
              <a:t>。</a:t>
            </a:r>
          </a:p>
        </p:txBody>
      </p:sp>
      <p:sp>
        <p:nvSpPr>
          <p:cNvPr id="929880" name="AutoShape 88">
            <a:extLst>
              <a:ext uri="{FF2B5EF4-FFF2-40B4-BE49-F238E27FC236}">
                <a16:creationId xmlns:a16="http://schemas.microsoft.com/office/drawing/2014/main" id="{1F8D1DC9-6E81-48AB-BC8F-1881F959185E}"/>
              </a:ext>
            </a:extLst>
          </p:cNvPr>
          <p:cNvSpPr>
            <a:spLocks noChangeArrowheads="1"/>
          </p:cNvSpPr>
          <p:nvPr/>
        </p:nvSpPr>
        <p:spPr bwMode="auto">
          <a:xfrm>
            <a:off x="1619250" y="115888"/>
            <a:ext cx="1944688" cy="647700"/>
          </a:xfrm>
          <a:prstGeom prst="horizontalScroll">
            <a:avLst>
              <a:gd name="adj" fmla="val 12500"/>
            </a:avLst>
          </a:prstGeom>
          <a:gradFill rotWithShape="1">
            <a:gsLst>
              <a:gs pos="0">
                <a:srgbClr val="CCCCFF"/>
              </a:gs>
              <a:gs pos="50000">
                <a:schemeClr val="bg1"/>
              </a:gs>
              <a:gs pos="100000">
                <a:srgbClr val="CCCCFF"/>
              </a:gs>
            </a:gsLst>
            <a:lin ang="2700000" scaled="1"/>
          </a:gradFill>
          <a:ln>
            <a:noFill/>
          </a:ln>
          <a:effectLst>
            <a:outerShdw dist="71842" dir="2700000" algn="ctr" rotWithShape="0">
              <a:schemeClr val="tx1"/>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pPr algn="ctr"/>
            <a:r>
              <a:rPr lang="zh-CN" altLang="en-US" sz="3200" b="1">
                <a:solidFill>
                  <a:srgbClr val="660033"/>
                </a:solidFill>
                <a:effectLst>
                  <a:outerShdw blurRad="38100" dist="38100" dir="2700000" algn="tl">
                    <a:srgbClr val="000000"/>
                  </a:outerShdw>
                </a:effectLst>
                <a:ea typeface="隶书" panose="02010509060101010101" pitchFamily="49" charset="-122"/>
              </a:rPr>
              <a:t>问题分析</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8950"/>
    </mc:Choice>
    <mc:Fallback xmlns="">
      <p:transition spd="slow" advTm="6895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929876"/>
                                        </p:tgtEl>
                                        <p:attrNameLst>
                                          <p:attrName>style.visibility</p:attrName>
                                        </p:attrNameLst>
                                      </p:cBhvr>
                                      <p:to>
                                        <p:strVal val="visible"/>
                                      </p:to>
                                    </p:set>
                                    <p:anim calcmode="lin" valueType="num">
                                      <p:cBhvr>
                                        <p:cTn id="7" dur="1000" fill="hold"/>
                                        <p:tgtEl>
                                          <p:spTgt spid="929876"/>
                                        </p:tgtEl>
                                        <p:attrNameLst>
                                          <p:attrName>ppt_w</p:attrName>
                                        </p:attrNameLst>
                                      </p:cBhvr>
                                      <p:tavLst>
                                        <p:tav tm="0">
                                          <p:val>
                                            <p:fltVal val="0"/>
                                          </p:val>
                                        </p:tav>
                                        <p:tav tm="100000">
                                          <p:val>
                                            <p:strVal val="#ppt_w"/>
                                          </p:val>
                                        </p:tav>
                                      </p:tavLst>
                                    </p:anim>
                                    <p:anim calcmode="lin" valueType="num">
                                      <p:cBhvr>
                                        <p:cTn id="8" dur="1000" fill="hold"/>
                                        <p:tgtEl>
                                          <p:spTgt spid="929876"/>
                                        </p:tgtEl>
                                        <p:attrNameLst>
                                          <p:attrName>ppt_h</p:attrName>
                                        </p:attrNameLst>
                                      </p:cBhvr>
                                      <p:tavLst>
                                        <p:tav tm="0">
                                          <p:val>
                                            <p:fltVal val="0"/>
                                          </p:val>
                                        </p:tav>
                                        <p:tav tm="100000">
                                          <p:val>
                                            <p:strVal val="#ppt_h"/>
                                          </p:val>
                                        </p:tav>
                                      </p:tavLst>
                                    </p:anim>
                                    <p:animEffect transition="in" filter="fade">
                                      <p:cBhvr>
                                        <p:cTn id="9" dur="1000"/>
                                        <p:tgtEl>
                                          <p:spTgt spid="929876"/>
                                        </p:tgtEl>
                                      </p:cBhvr>
                                    </p:animEffect>
                                  </p:childTnLst>
                                  <p:subTnLst>
                                    <p:set>
                                      <p:cBhvr override="childStyle">
                                        <p:cTn dur="1" fill="hold" display="0" masterRel="nextClick" afterEffect="1"/>
                                        <p:tgtEl>
                                          <p:spTgt spid="929876"/>
                                        </p:tgtEl>
                                        <p:attrNameLst>
                                          <p:attrName>style.visibility</p:attrName>
                                        </p:attrNameLst>
                                      </p:cBhvr>
                                      <p:to>
                                        <p:strVal val="hidden"/>
                                      </p:to>
                                    </p:set>
                                  </p:subTnLst>
                                </p:cTn>
                              </p:par>
                            </p:childTnLst>
                          </p:cTn>
                        </p:par>
                      </p:childTnLst>
                    </p:cTn>
                  </p:par>
                  <p:par>
                    <p:cTn id="10" fill="hold" nodeType="clickPar">
                      <p:stCondLst>
                        <p:cond delay="indefinite"/>
                      </p:stCondLst>
                      <p:childTnLst>
                        <p:par>
                          <p:cTn id="11" fill="hold" nodeType="withGroup">
                            <p:stCondLst>
                              <p:cond delay="0"/>
                            </p:stCondLst>
                            <p:childTnLst>
                              <p:par>
                                <p:cTn id="12" presetID="8" presetClass="entr" presetSubtype="16" fill="hold" nodeType="clickEffect">
                                  <p:stCondLst>
                                    <p:cond delay="0"/>
                                  </p:stCondLst>
                                  <p:childTnLst>
                                    <p:set>
                                      <p:cBhvr>
                                        <p:cTn id="13" dur="1" fill="hold">
                                          <p:stCondLst>
                                            <p:cond delay="0"/>
                                          </p:stCondLst>
                                        </p:cTn>
                                        <p:tgtEl>
                                          <p:spTgt spid="929877"/>
                                        </p:tgtEl>
                                        <p:attrNameLst>
                                          <p:attrName>style.visibility</p:attrName>
                                        </p:attrNameLst>
                                      </p:cBhvr>
                                      <p:to>
                                        <p:strVal val="visible"/>
                                      </p:to>
                                    </p:set>
                                    <p:animEffect transition="in" filter="diamond(in)">
                                      <p:cBhvr>
                                        <p:cTn id="14" dur="1000"/>
                                        <p:tgtEl>
                                          <p:spTgt spid="929877"/>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929875"/>
                                        </p:tgtEl>
                                        <p:attrNameLst>
                                          <p:attrName>style.visibility</p:attrName>
                                        </p:attrNameLst>
                                      </p:cBhvr>
                                      <p:to>
                                        <p:strVal val="visible"/>
                                      </p:to>
                                    </p:set>
                                    <p:animEffect transition="in" filter="wipe(left)">
                                      <p:cBhvr>
                                        <p:cTn id="19" dur="1000"/>
                                        <p:tgtEl>
                                          <p:spTgt spid="92987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929868"/>
                                        </p:tgtEl>
                                        <p:attrNameLst>
                                          <p:attrName>style.visibility</p:attrName>
                                        </p:attrNameLst>
                                      </p:cBhvr>
                                      <p:to>
                                        <p:strVal val="visible"/>
                                      </p:to>
                                    </p:set>
                                    <p:animEffect transition="in" filter="wipe(left)">
                                      <p:cBhvr>
                                        <p:cTn id="24" dur="1000"/>
                                        <p:tgtEl>
                                          <p:spTgt spid="929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9876"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933931" name="Group 43">
            <a:extLst>
              <a:ext uri="{FF2B5EF4-FFF2-40B4-BE49-F238E27FC236}">
                <a16:creationId xmlns:a16="http://schemas.microsoft.com/office/drawing/2014/main" id="{DEE5A9BD-BD0C-4188-9C73-CD1FE3B67B57}"/>
              </a:ext>
            </a:extLst>
          </p:cNvPr>
          <p:cNvGrpSpPr>
            <a:grpSpLocks/>
          </p:cNvGrpSpPr>
          <p:nvPr/>
        </p:nvGrpSpPr>
        <p:grpSpPr bwMode="auto">
          <a:xfrm>
            <a:off x="1042988" y="3703638"/>
            <a:ext cx="4464050" cy="949325"/>
            <a:chOff x="585" y="2696"/>
            <a:chExt cx="2812" cy="598"/>
          </a:xfrm>
        </p:grpSpPr>
        <p:sp>
          <p:nvSpPr>
            <p:cNvPr id="933932" name="Rectangle 44">
              <a:extLst>
                <a:ext uri="{FF2B5EF4-FFF2-40B4-BE49-F238E27FC236}">
                  <a16:creationId xmlns:a16="http://schemas.microsoft.com/office/drawing/2014/main" id="{6C5A9905-6897-47E0-9532-990EBC5E5217}"/>
                </a:ext>
              </a:extLst>
            </p:cNvPr>
            <p:cNvSpPr>
              <a:spLocks noChangeArrowheads="1"/>
            </p:cNvSpPr>
            <p:nvPr/>
          </p:nvSpPr>
          <p:spPr bwMode="auto">
            <a:xfrm>
              <a:off x="585" y="2696"/>
              <a:ext cx="2812" cy="598"/>
            </a:xfrm>
            <a:prstGeom prst="rect">
              <a:avLst/>
            </a:prstGeom>
            <a:noFill/>
            <a:ln w="28575">
              <a:solidFill>
                <a:srgbClr val="00FF00"/>
              </a:solidFill>
              <a:miter lim="800000"/>
              <a:headEnd/>
              <a:tailEnd/>
            </a:ln>
            <a:effectLst>
              <a:outerShdw dist="35921" dir="2700000" algn="ctr" rotWithShape="0">
                <a:schemeClr val="tx1"/>
              </a:outerShdw>
            </a:effectLst>
            <a:extLst>
              <a:ext uri="{909E8E84-426E-40DD-AFC4-6F175D3DCCD1}">
                <a14:hiddenFill xmlns:a14="http://schemas.microsoft.com/office/drawing/2010/main">
                  <a:solidFill>
                    <a:srgbClr val="CCFFCC"/>
                  </a:solidFill>
                </a14:hiddenFill>
              </a:ext>
            </a:extLst>
          </p:spPr>
          <p:txBody>
            <a:bodyPr/>
            <a:lstStyle/>
            <a:p>
              <a:endParaRPr lang="zh-CN" altLang="en-US"/>
            </a:p>
          </p:txBody>
        </p:sp>
        <p:sp>
          <p:nvSpPr>
            <p:cNvPr id="933933" name="Text Box 45">
              <a:extLst>
                <a:ext uri="{FF2B5EF4-FFF2-40B4-BE49-F238E27FC236}">
                  <a16:creationId xmlns:a16="http://schemas.microsoft.com/office/drawing/2014/main" id="{5F34AF32-35A5-4A0B-A6B4-2FC6551AEFE1}"/>
                </a:ext>
              </a:extLst>
            </p:cNvPr>
            <p:cNvSpPr txBox="1">
              <a:spLocks noChangeArrowheads="1"/>
            </p:cNvSpPr>
            <p:nvPr/>
          </p:nvSpPr>
          <p:spPr bwMode="auto">
            <a:xfrm>
              <a:off x="707" y="2781"/>
              <a:ext cx="1111" cy="406"/>
            </a:xfrm>
            <a:prstGeom prst="rect">
              <a:avLst/>
            </a:prstGeom>
            <a:solidFill>
              <a:srgbClr val="003366"/>
            </a:solidFill>
            <a:ln w="28575">
              <a:solidFill>
                <a:srgbClr val="000000"/>
              </a:solidFill>
              <a:miter lim="800000"/>
              <a:headEnd/>
              <a:tailEnd/>
            </a:ln>
            <a:effectLst>
              <a:outerShdw dist="35921" dir="2700000" algn="ctr" rotWithShape="0">
                <a:schemeClr val="tx1"/>
              </a:outerShdw>
            </a:effectLst>
          </p:spPr>
          <p:txBody>
            <a:bodyPr lIns="0" rIns="0" bIns="10800" anchor="ctr" anchorCtr="1"/>
            <a:lstStyle/>
            <a:p>
              <a:pPr algn="ctr"/>
              <a:r>
                <a:rPr lang="zh-CN" altLang="zh-CN" sz="2400" b="1">
                  <a:solidFill>
                    <a:srgbClr val="FFFF66"/>
                  </a:solidFill>
                  <a:effectLst>
                    <a:outerShdw blurRad="38100" dist="38100" dir="2700000" algn="tl">
                      <a:srgbClr val="000000"/>
                    </a:outerShdw>
                  </a:effectLst>
                  <a:latin typeface="楷体_GB2312" pitchFamily="49" charset="-122"/>
                </a:rPr>
                <a:t>CITY</a:t>
              </a:r>
              <a:endParaRPr lang="en-US" altLang="zh-CN" sz="2400" b="1">
                <a:solidFill>
                  <a:srgbClr val="FFFF66"/>
                </a:solidFill>
                <a:effectLst>
                  <a:outerShdw blurRad="38100" dist="38100" dir="2700000" algn="tl">
                    <a:srgbClr val="000000"/>
                  </a:outerShdw>
                </a:effectLst>
                <a:latin typeface="楷体_GB2312" pitchFamily="49" charset="-122"/>
              </a:endParaRPr>
            </a:p>
          </p:txBody>
        </p:sp>
        <p:sp>
          <p:nvSpPr>
            <p:cNvPr id="933934" name="Text Box 46">
              <a:extLst>
                <a:ext uri="{FF2B5EF4-FFF2-40B4-BE49-F238E27FC236}">
                  <a16:creationId xmlns:a16="http://schemas.microsoft.com/office/drawing/2014/main" id="{D5C1FABA-C495-4AF5-91C5-D08272FC2067}"/>
                </a:ext>
              </a:extLst>
            </p:cNvPr>
            <p:cNvSpPr txBox="1">
              <a:spLocks noChangeArrowheads="1"/>
            </p:cNvSpPr>
            <p:nvPr/>
          </p:nvSpPr>
          <p:spPr bwMode="auto">
            <a:xfrm>
              <a:off x="2168" y="2781"/>
              <a:ext cx="1111" cy="406"/>
            </a:xfrm>
            <a:prstGeom prst="rect">
              <a:avLst/>
            </a:prstGeom>
            <a:solidFill>
              <a:srgbClr val="003366"/>
            </a:solidFill>
            <a:ln w="28575">
              <a:solidFill>
                <a:srgbClr val="000000"/>
              </a:solidFill>
              <a:miter lim="800000"/>
              <a:headEnd/>
              <a:tailEnd/>
            </a:ln>
            <a:effectLst>
              <a:outerShdw dist="35921" dir="2700000" algn="ctr" rotWithShape="0">
                <a:schemeClr val="tx1"/>
              </a:outerShdw>
            </a:effectLst>
          </p:spPr>
          <p:txBody>
            <a:bodyPr lIns="0" rIns="0" bIns="10800" anchor="ctr" anchorCtr="1"/>
            <a:lstStyle/>
            <a:p>
              <a:pPr algn="ctr"/>
              <a:r>
                <a:rPr lang="zh-CN" altLang="zh-CN" sz="2400" b="1">
                  <a:solidFill>
                    <a:srgbClr val="FFFF66"/>
                  </a:solidFill>
                  <a:effectLst>
                    <a:outerShdw blurRad="38100" dist="38100" dir="2700000" algn="tl">
                      <a:srgbClr val="000000"/>
                    </a:outerShdw>
                  </a:effectLst>
                  <a:latin typeface="楷体_GB2312" pitchFamily="49" charset="-122"/>
                </a:rPr>
                <a:t>STREET</a:t>
              </a:r>
              <a:endParaRPr lang="en-US" altLang="zh-CN" sz="2400" b="1">
                <a:solidFill>
                  <a:srgbClr val="FFFF66"/>
                </a:solidFill>
                <a:effectLst>
                  <a:outerShdw blurRad="38100" dist="38100" dir="2700000" algn="tl">
                    <a:srgbClr val="000000"/>
                  </a:outerShdw>
                </a:effectLst>
                <a:latin typeface="楷体_GB2312" pitchFamily="49" charset="-122"/>
              </a:endParaRPr>
            </a:p>
          </p:txBody>
        </p:sp>
      </p:grpSp>
      <p:sp>
        <p:nvSpPr>
          <p:cNvPr id="933935" name="Line 47">
            <a:extLst>
              <a:ext uri="{FF2B5EF4-FFF2-40B4-BE49-F238E27FC236}">
                <a16:creationId xmlns:a16="http://schemas.microsoft.com/office/drawing/2014/main" id="{765B0A09-D7AA-456C-9FEE-147582D14B02}"/>
              </a:ext>
            </a:extLst>
          </p:cNvPr>
          <p:cNvSpPr>
            <a:spLocks noChangeShapeType="1"/>
          </p:cNvSpPr>
          <p:nvPr/>
        </p:nvSpPr>
        <p:spPr bwMode="auto">
          <a:xfrm rot="16200000">
            <a:off x="5701507" y="3967956"/>
            <a:ext cx="0" cy="360363"/>
          </a:xfrm>
          <a:prstGeom prst="line">
            <a:avLst/>
          </a:prstGeom>
          <a:noFill/>
          <a:ln w="28575">
            <a:solidFill>
              <a:srgbClr val="000000"/>
            </a:solidFill>
            <a:round/>
            <a:headEnd/>
            <a:tailEnd type="triangle" w="lg" len="lg"/>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grpSp>
        <p:nvGrpSpPr>
          <p:cNvPr id="933936" name="Group 48">
            <a:extLst>
              <a:ext uri="{FF2B5EF4-FFF2-40B4-BE49-F238E27FC236}">
                <a16:creationId xmlns:a16="http://schemas.microsoft.com/office/drawing/2014/main" id="{00FECA58-8FCD-40A5-8E31-6193A9AAB59A}"/>
              </a:ext>
            </a:extLst>
          </p:cNvPr>
          <p:cNvGrpSpPr>
            <a:grpSpLocks/>
          </p:cNvGrpSpPr>
          <p:nvPr/>
        </p:nvGrpSpPr>
        <p:grpSpPr bwMode="auto">
          <a:xfrm>
            <a:off x="3390900" y="3500438"/>
            <a:ext cx="4464050" cy="1296987"/>
            <a:chOff x="2064" y="2568"/>
            <a:chExt cx="2812" cy="817"/>
          </a:xfrm>
        </p:grpSpPr>
        <p:sp>
          <p:nvSpPr>
            <p:cNvPr id="933937" name="Rectangle 49">
              <a:extLst>
                <a:ext uri="{FF2B5EF4-FFF2-40B4-BE49-F238E27FC236}">
                  <a16:creationId xmlns:a16="http://schemas.microsoft.com/office/drawing/2014/main" id="{C2511D4B-E4F8-471C-AA2A-5B2AC838574F}"/>
                </a:ext>
              </a:extLst>
            </p:cNvPr>
            <p:cNvSpPr>
              <a:spLocks noChangeArrowheads="1"/>
            </p:cNvSpPr>
            <p:nvPr/>
          </p:nvSpPr>
          <p:spPr bwMode="auto">
            <a:xfrm>
              <a:off x="2064" y="2568"/>
              <a:ext cx="2812" cy="817"/>
            </a:xfrm>
            <a:prstGeom prst="rect">
              <a:avLst/>
            </a:prstGeom>
            <a:noFill/>
            <a:ln w="28575">
              <a:solidFill>
                <a:srgbClr val="800080"/>
              </a:solidFill>
              <a:miter lim="800000"/>
              <a:headEnd/>
              <a:tailEnd/>
            </a:ln>
            <a:effectLst>
              <a:outerShdw dist="35921" dir="2700000" algn="ctr" rotWithShape="0">
                <a:schemeClr val="tx1"/>
              </a:outerShdw>
            </a:effectLst>
            <a:extLst>
              <a:ext uri="{909E8E84-426E-40DD-AFC4-6F175D3DCCD1}">
                <a14:hiddenFill xmlns:a14="http://schemas.microsoft.com/office/drawing/2010/main">
                  <a:solidFill>
                    <a:srgbClr val="FF99CC"/>
                  </a:solidFill>
                </a14:hiddenFill>
              </a:ext>
            </a:extLst>
          </p:spPr>
          <p:txBody>
            <a:bodyPr/>
            <a:lstStyle/>
            <a:p>
              <a:endParaRPr lang="zh-CN" altLang="en-US"/>
            </a:p>
          </p:txBody>
        </p:sp>
        <p:sp>
          <p:nvSpPr>
            <p:cNvPr id="933938" name="Text Box 50">
              <a:extLst>
                <a:ext uri="{FF2B5EF4-FFF2-40B4-BE49-F238E27FC236}">
                  <a16:creationId xmlns:a16="http://schemas.microsoft.com/office/drawing/2014/main" id="{A44C531C-2307-4108-AAC4-93E259F2AB31}"/>
                </a:ext>
              </a:extLst>
            </p:cNvPr>
            <p:cNvSpPr txBox="1">
              <a:spLocks noChangeArrowheads="1"/>
            </p:cNvSpPr>
            <p:nvPr/>
          </p:nvSpPr>
          <p:spPr bwMode="auto">
            <a:xfrm>
              <a:off x="3629" y="2781"/>
              <a:ext cx="1111" cy="406"/>
            </a:xfrm>
            <a:prstGeom prst="rect">
              <a:avLst/>
            </a:prstGeom>
            <a:solidFill>
              <a:srgbClr val="003366"/>
            </a:solidFill>
            <a:ln w="28575">
              <a:solidFill>
                <a:srgbClr val="000000"/>
              </a:solidFill>
              <a:miter lim="800000"/>
              <a:headEnd/>
              <a:tailEnd/>
            </a:ln>
            <a:effectLst>
              <a:outerShdw dist="35921" dir="2700000" algn="ctr" rotWithShape="0">
                <a:schemeClr val="tx1"/>
              </a:outerShdw>
            </a:effectLst>
          </p:spPr>
          <p:txBody>
            <a:bodyPr lIns="0" rIns="0" bIns="10800" anchor="ctr" anchorCtr="1"/>
            <a:lstStyle/>
            <a:p>
              <a:pPr algn="ctr"/>
              <a:r>
                <a:rPr lang="zh-CN" altLang="zh-CN" sz="2400" b="1">
                  <a:solidFill>
                    <a:srgbClr val="FFFF66"/>
                  </a:solidFill>
                  <a:effectLst>
                    <a:outerShdw blurRad="38100" dist="38100" dir="2700000" algn="tl">
                      <a:srgbClr val="000000"/>
                    </a:outerShdw>
                  </a:effectLst>
                  <a:latin typeface="楷体_GB2312" pitchFamily="49" charset="-122"/>
                </a:rPr>
                <a:t>ZIP</a:t>
              </a:r>
              <a:endParaRPr lang="en-US" altLang="zh-CN" sz="2400" b="1">
                <a:solidFill>
                  <a:srgbClr val="FFFF66"/>
                </a:solidFill>
                <a:effectLst>
                  <a:outerShdw blurRad="38100" dist="38100" dir="2700000" algn="tl">
                    <a:srgbClr val="000000"/>
                  </a:outerShdw>
                </a:effectLst>
                <a:latin typeface="楷体_GB2312" pitchFamily="49" charset="-122"/>
              </a:endParaRPr>
            </a:p>
          </p:txBody>
        </p:sp>
      </p:grpSp>
      <p:grpSp>
        <p:nvGrpSpPr>
          <p:cNvPr id="933939" name="Group 51">
            <a:extLst>
              <a:ext uri="{FF2B5EF4-FFF2-40B4-BE49-F238E27FC236}">
                <a16:creationId xmlns:a16="http://schemas.microsoft.com/office/drawing/2014/main" id="{D21A9746-B25B-4657-940D-6EFFE467F714}"/>
              </a:ext>
            </a:extLst>
          </p:cNvPr>
          <p:cNvGrpSpPr>
            <a:grpSpLocks/>
          </p:cNvGrpSpPr>
          <p:nvPr/>
        </p:nvGrpSpPr>
        <p:grpSpPr bwMode="auto">
          <a:xfrm>
            <a:off x="2093913" y="4508500"/>
            <a:ext cx="4679950" cy="590550"/>
            <a:chOff x="1247" y="3203"/>
            <a:chExt cx="2948" cy="372"/>
          </a:xfrm>
        </p:grpSpPr>
        <p:sp>
          <p:nvSpPr>
            <p:cNvPr id="933940" name="Line 52">
              <a:extLst>
                <a:ext uri="{FF2B5EF4-FFF2-40B4-BE49-F238E27FC236}">
                  <a16:creationId xmlns:a16="http://schemas.microsoft.com/office/drawing/2014/main" id="{65A6EB83-B3FF-4DAF-B7AE-337B299733A6}"/>
                </a:ext>
              </a:extLst>
            </p:cNvPr>
            <p:cNvSpPr>
              <a:spLocks noChangeShapeType="1"/>
            </p:cNvSpPr>
            <p:nvPr/>
          </p:nvSpPr>
          <p:spPr bwMode="auto">
            <a:xfrm>
              <a:off x="4195" y="3203"/>
              <a:ext cx="0" cy="363"/>
            </a:xfrm>
            <a:prstGeom prst="line">
              <a:avLst/>
            </a:prstGeom>
            <a:noFill/>
            <a:ln w="28575" cap="sq">
              <a:solidFill>
                <a:schemeClr val="tx1"/>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933941" name="Line 53">
              <a:extLst>
                <a:ext uri="{FF2B5EF4-FFF2-40B4-BE49-F238E27FC236}">
                  <a16:creationId xmlns:a16="http://schemas.microsoft.com/office/drawing/2014/main" id="{A82228F4-A452-4643-B149-82C598934850}"/>
                </a:ext>
              </a:extLst>
            </p:cNvPr>
            <p:cNvSpPr>
              <a:spLocks noChangeShapeType="1"/>
            </p:cNvSpPr>
            <p:nvPr/>
          </p:nvSpPr>
          <p:spPr bwMode="auto">
            <a:xfrm>
              <a:off x="1247" y="3566"/>
              <a:ext cx="2948" cy="0"/>
            </a:xfrm>
            <a:prstGeom prst="line">
              <a:avLst/>
            </a:prstGeom>
            <a:noFill/>
            <a:ln w="28575" cap="sq">
              <a:solidFill>
                <a:schemeClr val="tx1"/>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933942" name="Line 54">
              <a:extLst>
                <a:ext uri="{FF2B5EF4-FFF2-40B4-BE49-F238E27FC236}">
                  <a16:creationId xmlns:a16="http://schemas.microsoft.com/office/drawing/2014/main" id="{280680B6-4115-4278-8DF4-8BD7AABA0F53}"/>
                </a:ext>
              </a:extLst>
            </p:cNvPr>
            <p:cNvSpPr>
              <a:spLocks noChangeShapeType="1"/>
            </p:cNvSpPr>
            <p:nvPr/>
          </p:nvSpPr>
          <p:spPr bwMode="auto">
            <a:xfrm>
              <a:off x="1247" y="3212"/>
              <a:ext cx="0" cy="363"/>
            </a:xfrm>
            <a:prstGeom prst="line">
              <a:avLst/>
            </a:prstGeom>
            <a:noFill/>
            <a:ln w="28575" cap="sq">
              <a:solidFill>
                <a:schemeClr val="tx1"/>
              </a:solidFill>
              <a:round/>
              <a:headEnd type="triangle" w="lg" len="lg"/>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33943" name="AutoShape 55">
            <a:extLst>
              <a:ext uri="{FF2B5EF4-FFF2-40B4-BE49-F238E27FC236}">
                <a16:creationId xmlns:a16="http://schemas.microsoft.com/office/drawing/2014/main" id="{E01C490E-34D6-495A-9544-0BBD3C74C042}"/>
              </a:ext>
            </a:extLst>
          </p:cNvPr>
          <p:cNvSpPr>
            <a:spLocks noChangeArrowheads="1"/>
          </p:cNvSpPr>
          <p:nvPr/>
        </p:nvSpPr>
        <p:spPr bwMode="auto">
          <a:xfrm>
            <a:off x="1804988" y="5372100"/>
            <a:ext cx="6842125" cy="720725"/>
          </a:xfrm>
          <a:prstGeom prst="wedgeRoundRectCallout">
            <a:avLst>
              <a:gd name="adj1" fmla="val -41463"/>
              <a:gd name="adj2" fmla="val -83042"/>
              <a:gd name="adj3" fmla="val 16667"/>
            </a:avLst>
          </a:prstGeom>
          <a:solidFill>
            <a:srgbClr val="00FFFF"/>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nchorCtr="1"/>
          <a:lstStyle/>
          <a:p>
            <a:pPr algn="ctr"/>
            <a:r>
              <a:rPr lang="zh-CN" altLang="en-US" sz="2800" b="1">
                <a:effectLst>
                  <a:outerShdw blurRad="38100" dist="38100" dir="2700000" algn="tl">
                    <a:srgbClr val="FFFFFF"/>
                  </a:outerShdw>
                </a:effectLst>
                <a:ea typeface="黑体" panose="02010609060101010101" pitchFamily="49" charset="-122"/>
                <a:cs typeface="Times New Roman" panose="02020603050405020304" pitchFamily="18" charset="0"/>
              </a:rPr>
              <a:t>主属性对候选键的部分依赖和传递依赖</a:t>
            </a:r>
          </a:p>
        </p:txBody>
      </p:sp>
      <p:sp>
        <p:nvSpPr>
          <p:cNvPr id="933945" name="Rectangle 57">
            <a:extLst>
              <a:ext uri="{FF2B5EF4-FFF2-40B4-BE49-F238E27FC236}">
                <a16:creationId xmlns:a16="http://schemas.microsoft.com/office/drawing/2014/main" id="{9723F637-B134-4F96-82FF-59DC52FC8B0B}"/>
              </a:ext>
            </a:extLst>
          </p:cNvPr>
          <p:cNvSpPr>
            <a:spLocks noGrp="1" noChangeArrowheads="1"/>
          </p:cNvSpPr>
          <p:nvPr>
            <p:ph type="body" idx="1"/>
          </p:nvPr>
        </p:nvSpPr>
        <p:spPr/>
        <p:txBody>
          <a:bodyPr/>
          <a:lstStyle/>
          <a:p>
            <a:pPr algn="just"/>
            <a:r>
              <a:rPr lang="zh-CN" altLang="en-US" i="1">
                <a:solidFill>
                  <a:srgbClr val="008000"/>
                </a:solidFill>
                <a:latin typeface="楷体_GB2312" pitchFamily="49" charset="-122"/>
                <a:cs typeface="Times New Roman" panose="02020603050405020304" pitchFamily="18" charset="0"/>
              </a:rPr>
              <a:t>例</a:t>
            </a:r>
            <a:r>
              <a:rPr lang="zh-CN" altLang="en-US">
                <a:solidFill>
                  <a:srgbClr val="000000"/>
                </a:solidFill>
                <a:latin typeface="楷体_GB2312" pitchFamily="49" charset="-122"/>
                <a:cs typeface="Times New Roman" panose="02020603050405020304" pitchFamily="18" charset="0"/>
              </a:rPr>
              <a:t>：在关系模式</a:t>
            </a:r>
            <a:r>
              <a:rPr lang="en-US" altLang="zh-CN">
                <a:solidFill>
                  <a:srgbClr val="000000"/>
                </a:solidFill>
                <a:latin typeface="楷体_GB2312" pitchFamily="49" charset="-122"/>
                <a:cs typeface="Times New Roman" panose="02020603050405020304" pitchFamily="18" charset="0"/>
              </a:rPr>
              <a:t>R(CITY</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STREET</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ZIP)</a:t>
            </a:r>
            <a:r>
              <a:rPr lang="zh-CN" altLang="en-US">
                <a:solidFill>
                  <a:srgbClr val="000000"/>
                </a:solidFill>
                <a:latin typeface="楷体_GB2312" pitchFamily="49" charset="-122"/>
                <a:cs typeface="Times New Roman" panose="02020603050405020304" pitchFamily="18" charset="0"/>
              </a:rPr>
              <a:t>中，候选键为</a:t>
            </a:r>
            <a:r>
              <a:rPr lang="en-US" altLang="zh-CN">
                <a:solidFill>
                  <a:srgbClr val="000000"/>
                </a:solidFill>
                <a:latin typeface="楷体_GB2312" pitchFamily="49" charset="-122"/>
                <a:cs typeface="Times New Roman" panose="02020603050405020304" pitchFamily="18" charset="0"/>
              </a:rPr>
              <a:t>{CITY,STREET}</a:t>
            </a:r>
            <a:r>
              <a:rPr lang="zh-CN" altLang="en-US">
                <a:solidFill>
                  <a:srgbClr val="000000"/>
                </a:solidFill>
                <a:latin typeface="楷体_GB2312" pitchFamily="49" charset="-122"/>
                <a:cs typeface="Times New Roman" panose="02020603050405020304" pitchFamily="18" charset="0"/>
              </a:rPr>
              <a:t>和</a:t>
            </a:r>
            <a:r>
              <a:rPr lang="en-US" altLang="zh-CN">
                <a:solidFill>
                  <a:srgbClr val="000000"/>
                </a:solidFill>
                <a:latin typeface="楷体_GB2312" pitchFamily="49" charset="-122"/>
                <a:cs typeface="Times New Roman" panose="02020603050405020304" pitchFamily="18" charset="0"/>
              </a:rPr>
              <a:t>{ZIP</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STREET}</a:t>
            </a:r>
            <a:r>
              <a:rPr lang="zh-CN" altLang="en-US">
                <a:solidFill>
                  <a:srgbClr val="000000"/>
                </a:solidFill>
                <a:latin typeface="楷体_GB2312" pitchFamily="49" charset="-122"/>
                <a:cs typeface="Times New Roman" panose="02020603050405020304" pitchFamily="18" charset="0"/>
              </a:rPr>
              <a:t>，</a:t>
            </a:r>
          </a:p>
          <a:p>
            <a:pPr algn="just"/>
            <a:r>
              <a:rPr lang="en-US" altLang="zh-CN">
                <a:solidFill>
                  <a:srgbClr val="000000"/>
                </a:solidFill>
                <a:latin typeface="楷体_GB2312" pitchFamily="49" charset="-122"/>
                <a:cs typeface="Times New Roman" panose="02020603050405020304" pitchFamily="18" charset="0"/>
              </a:rPr>
              <a:t>   F={{CITY,STREET}→ZIP</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ZIP→CITY}</a:t>
            </a:r>
            <a:r>
              <a:rPr lang="zh-CN" altLang="en-US">
                <a:solidFill>
                  <a:srgbClr val="000000"/>
                </a:solidFill>
                <a:latin typeface="楷体_GB2312" pitchFamily="49" charset="-122"/>
                <a:cs typeface="Times New Roman" panose="02020603050405020304" pitchFamily="18" charset="0"/>
              </a:rPr>
              <a:t>。</a:t>
            </a:r>
          </a:p>
        </p:txBody>
      </p:sp>
      <p:sp>
        <p:nvSpPr>
          <p:cNvPr id="933946" name="AutoShape 58">
            <a:extLst>
              <a:ext uri="{FF2B5EF4-FFF2-40B4-BE49-F238E27FC236}">
                <a16:creationId xmlns:a16="http://schemas.microsoft.com/office/drawing/2014/main" id="{247CD6C6-6C11-4E73-AA78-5425F4FC9B3D}"/>
              </a:ext>
            </a:extLst>
          </p:cNvPr>
          <p:cNvSpPr>
            <a:spLocks noChangeArrowheads="1"/>
          </p:cNvSpPr>
          <p:nvPr/>
        </p:nvSpPr>
        <p:spPr bwMode="auto">
          <a:xfrm>
            <a:off x="1619250" y="115888"/>
            <a:ext cx="1944688" cy="647700"/>
          </a:xfrm>
          <a:prstGeom prst="horizontalScroll">
            <a:avLst>
              <a:gd name="adj" fmla="val 12500"/>
            </a:avLst>
          </a:prstGeom>
          <a:gradFill rotWithShape="1">
            <a:gsLst>
              <a:gs pos="0">
                <a:srgbClr val="CCCCFF"/>
              </a:gs>
              <a:gs pos="50000">
                <a:schemeClr val="bg1"/>
              </a:gs>
              <a:gs pos="100000">
                <a:srgbClr val="CCCCFF"/>
              </a:gs>
            </a:gsLst>
            <a:lin ang="2700000" scaled="1"/>
          </a:gradFill>
          <a:ln>
            <a:noFill/>
          </a:ln>
          <a:effectLst>
            <a:outerShdw dist="71842" dir="2700000" algn="ctr" rotWithShape="0">
              <a:schemeClr val="tx1"/>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pPr algn="ctr"/>
            <a:r>
              <a:rPr lang="zh-CN" altLang="en-US" sz="3200" b="1">
                <a:solidFill>
                  <a:srgbClr val="660033"/>
                </a:solidFill>
                <a:effectLst>
                  <a:outerShdw blurRad="38100" dist="38100" dir="2700000" algn="tl">
                    <a:srgbClr val="000000"/>
                  </a:outerShdw>
                </a:effectLst>
                <a:ea typeface="隶书" panose="02010509060101010101" pitchFamily="49" charset="-122"/>
              </a:rPr>
              <a:t>问题分析</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2953"/>
    </mc:Choice>
    <mc:Fallback xmlns="">
      <p:transition spd="slow" advTm="62953"/>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33931"/>
                                        </p:tgtEl>
                                        <p:attrNameLst>
                                          <p:attrName>style.visibility</p:attrName>
                                        </p:attrNameLst>
                                      </p:cBhvr>
                                      <p:to>
                                        <p:strVal val="visible"/>
                                      </p:to>
                                    </p:set>
                                    <p:animEffect transition="in" filter="wipe(left)">
                                      <p:cBhvr>
                                        <p:cTn id="7" dur="1000"/>
                                        <p:tgtEl>
                                          <p:spTgt spid="933931"/>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933936"/>
                                        </p:tgtEl>
                                        <p:attrNameLst>
                                          <p:attrName>style.visibility</p:attrName>
                                        </p:attrNameLst>
                                      </p:cBhvr>
                                      <p:to>
                                        <p:strVal val="visible"/>
                                      </p:to>
                                    </p:set>
                                    <p:animEffect transition="in" filter="wipe(left)">
                                      <p:cBhvr>
                                        <p:cTn id="11" dur="1000"/>
                                        <p:tgtEl>
                                          <p:spTgt spid="933936"/>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933935"/>
                                        </p:tgtEl>
                                        <p:attrNameLst>
                                          <p:attrName>style.visibility</p:attrName>
                                        </p:attrNameLst>
                                      </p:cBhvr>
                                      <p:to>
                                        <p:strVal val="visible"/>
                                      </p:to>
                                    </p:set>
                                    <p:animEffect transition="in" filter="wipe(left)">
                                      <p:cBhvr>
                                        <p:cTn id="15" dur="1000"/>
                                        <p:tgtEl>
                                          <p:spTgt spid="933935"/>
                                        </p:tgtEl>
                                      </p:cBhvr>
                                    </p:animEffect>
                                  </p:childTnLst>
                                </p:cTn>
                              </p:par>
                            </p:childTnLst>
                          </p:cTn>
                        </p:par>
                        <p:par>
                          <p:cTn id="16" fill="hold" nodeType="afterGroup">
                            <p:stCondLst>
                              <p:cond delay="3000"/>
                            </p:stCondLst>
                            <p:childTnLst>
                              <p:par>
                                <p:cTn id="17" presetID="22" presetClass="entr" presetSubtype="2" fill="hold" nodeType="afterEffect">
                                  <p:stCondLst>
                                    <p:cond delay="0"/>
                                  </p:stCondLst>
                                  <p:childTnLst>
                                    <p:set>
                                      <p:cBhvr>
                                        <p:cTn id="18" dur="1" fill="hold">
                                          <p:stCondLst>
                                            <p:cond delay="0"/>
                                          </p:stCondLst>
                                        </p:cTn>
                                        <p:tgtEl>
                                          <p:spTgt spid="933939"/>
                                        </p:tgtEl>
                                        <p:attrNameLst>
                                          <p:attrName>style.visibility</p:attrName>
                                        </p:attrNameLst>
                                      </p:cBhvr>
                                      <p:to>
                                        <p:strVal val="visible"/>
                                      </p:to>
                                    </p:set>
                                    <p:animEffect transition="in" filter="wipe(right)">
                                      <p:cBhvr>
                                        <p:cTn id="19" dur="1000"/>
                                        <p:tgtEl>
                                          <p:spTgt spid="93393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933943"/>
                                        </p:tgtEl>
                                        <p:attrNameLst>
                                          <p:attrName>style.visibility</p:attrName>
                                        </p:attrNameLst>
                                      </p:cBhvr>
                                      <p:to>
                                        <p:strVal val="visible"/>
                                      </p:to>
                                    </p:set>
                                    <p:anim calcmode="lin" valueType="num">
                                      <p:cBhvr additive="base">
                                        <p:cTn id="24" dur="1000" fill="hold"/>
                                        <p:tgtEl>
                                          <p:spTgt spid="933943"/>
                                        </p:tgtEl>
                                        <p:attrNameLst>
                                          <p:attrName>ppt_x</p:attrName>
                                        </p:attrNameLst>
                                      </p:cBhvr>
                                      <p:tavLst>
                                        <p:tav tm="0">
                                          <p:val>
                                            <p:strVal val="#ppt_x"/>
                                          </p:val>
                                        </p:tav>
                                        <p:tav tm="100000">
                                          <p:val>
                                            <p:strVal val="#ppt_x"/>
                                          </p:val>
                                        </p:tav>
                                      </p:tavLst>
                                    </p:anim>
                                    <p:anim calcmode="lin" valueType="num">
                                      <p:cBhvr additive="base">
                                        <p:cTn id="25" dur="1000" fill="hold"/>
                                        <p:tgtEl>
                                          <p:spTgt spid="9339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3943"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8523" name="Rectangle 11">
            <a:extLst>
              <a:ext uri="{FF2B5EF4-FFF2-40B4-BE49-F238E27FC236}">
                <a16:creationId xmlns:a16="http://schemas.microsoft.com/office/drawing/2014/main" id="{211EA059-78CE-4952-951D-40E49FF3753D}"/>
              </a:ext>
            </a:extLst>
          </p:cNvPr>
          <p:cNvSpPr>
            <a:spLocks noGrp="1" noChangeArrowheads="1"/>
          </p:cNvSpPr>
          <p:nvPr>
            <p:ph type="title"/>
          </p:nvPr>
        </p:nvSpPr>
        <p:spPr/>
        <p:txBody>
          <a:bodyPr/>
          <a:lstStyle/>
          <a:p>
            <a:r>
              <a:rPr lang="zh-CN" altLang="en-US"/>
              <a:t>五、</a:t>
            </a:r>
            <a:r>
              <a:rPr lang="en-US" altLang="en-US"/>
              <a:t>鲍依斯-柯德范式</a:t>
            </a:r>
            <a:endParaRPr lang="zh-CN" altLang="en-US"/>
          </a:p>
        </p:txBody>
      </p:sp>
      <p:sp>
        <p:nvSpPr>
          <p:cNvPr id="448524" name="Rectangle 12">
            <a:extLst>
              <a:ext uri="{FF2B5EF4-FFF2-40B4-BE49-F238E27FC236}">
                <a16:creationId xmlns:a16="http://schemas.microsoft.com/office/drawing/2014/main" id="{CFBFA791-2C56-4F25-8056-DCEEA3BD1599}"/>
              </a:ext>
            </a:extLst>
          </p:cNvPr>
          <p:cNvSpPr>
            <a:spLocks noGrp="1" noChangeArrowheads="1"/>
          </p:cNvSpPr>
          <p:nvPr>
            <p:ph type="body" idx="1"/>
          </p:nvPr>
        </p:nvSpPr>
        <p:spPr/>
        <p:txBody>
          <a:bodyPr/>
          <a:lstStyle/>
          <a:p>
            <a:r>
              <a:rPr lang="zh-CN" altLang="en-US">
                <a:solidFill>
                  <a:srgbClr val="000000"/>
                </a:solidFill>
              </a:rPr>
              <a:t>       设有关系模式</a:t>
            </a:r>
            <a:r>
              <a:rPr lang="en-US" altLang="zh-CN">
                <a:solidFill>
                  <a:srgbClr val="000000"/>
                </a:solidFill>
              </a:rPr>
              <a:t>R(U,F)</a:t>
            </a:r>
            <a:r>
              <a:rPr lang="zh-CN" altLang="en-US">
                <a:solidFill>
                  <a:srgbClr val="000000"/>
                </a:solidFill>
              </a:rPr>
              <a:t>和属性集</a:t>
            </a:r>
            <a:r>
              <a:rPr lang="en-US" altLang="zh-CN">
                <a:solidFill>
                  <a:srgbClr val="000000"/>
                </a:solidFill>
              </a:rPr>
              <a:t>U</a:t>
            </a:r>
            <a:r>
              <a:rPr lang="zh-CN" altLang="en-US">
                <a:solidFill>
                  <a:srgbClr val="000000"/>
                </a:solidFill>
              </a:rPr>
              <a:t>的子集</a:t>
            </a:r>
            <a:r>
              <a:rPr lang="en-US" altLang="zh-CN">
                <a:solidFill>
                  <a:srgbClr val="000000"/>
                </a:solidFill>
              </a:rPr>
              <a:t>X</a:t>
            </a:r>
            <a:r>
              <a:rPr lang="zh-CN" altLang="en-US">
                <a:solidFill>
                  <a:srgbClr val="000000"/>
                </a:solidFill>
              </a:rPr>
              <a:t>和</a:t>
            </a:r>
            <a:r>
              <a:rPr lang="en-US" altLang="zh-CN">
                <a:solidFill>
                  <a:srgbClr val="000000"/>
                </a:solidFill>
              </a:rPr>
              <a:t>A</a:t>
            </a:r>
            <a:r>
              <a:rPr lang="zh-CN" altLang="en-US">
                <a:solidFill>
                  <a:srgbClr val="000000"/>
                </a:solidFill>
              </a:rPr>
              <a:t>，且</a:t>
            </a:r>
            <a:r>
              <a:rPr lang="en-US" altLang="zh-CN">
                <a:solidFill>
                  <a:srgbClr val="000000"/>
                </a:solidFill>
              </a:rPr>
              <a:t>A</a:t>
            </a:r>
            <a:r>
              <a:rPr lang="zh-CN" altLang="en-US">
                <a:solidFill>
                  <a:srgbClr val="000000"/>
                </a:solidFill>
              </a:rPr>
              <a:t>不是</a:t>
            </a:r>
            <a:r>
              <a:rPr lang="en-US" altLang="zh-CN">
                <a:solidFill>
                  <a:srgbClr val="000000"/>
                </a:solidFill>
              </a:rPr>
              <a:t>X</a:t>
            </a:r>
            <a:r>
              <a:rPr lang="zh-CN" altLang="en-US">
                <a:solidFill>
                  <a:srgbClr val="000000"/>
                </a:solidFill>
              </a:rPr>
              <a:t>的子集。如果</a:t>
            </a:r>
            <a:r>
              <a:rPr lang="zh-CN" altLang="en-US">
                <a:solidFill>
                  <a:srgbClr val="CC3300"/>
                </a:solidFill>
              </a:rPr>
              <a:t>对于</a:t>
            </a:r>
            <a:r>
              <a:rPr lang="en-US" altLang="zh-CN">
                <a:solidFill>
                  <a:srgbClr val="CC3300"/>
                </a:solidFill>
              </a:rPr>
              <a:t>F</a:t>
            </a:r>
            <a:r>
              <a:rPr lang="zh-CN" altLang="en-US">
                <a:solidFill>
                  <a:srgbClr val="CC3300"/>
                </a:solidFill>
              </a:rPr>
              <a:t>中的每一个函数依赖</a:t>
            </a:r>
            <a:r>
              <a:rPr lang="en-US" altLang="zh-CN">
                <a:solidFill>
                  <a:srgbClr val="CC3300"/>
                </a:solidFill>
              </a:rPr>
              <a:t>X→A</a:t>
            </a:r>
            <a:r>
              <a:rPr lang="zh-CN" altLang="en-US">
                <a:solidFill>
                  <a:srgbClr val="CC3300"/>
                </a:solidFill>
              </a:rPr>
              <a:t>，</a:t>
            </a:r>
            <a:r>
              <a:rPr lang="en-US" altLang="zh-CN">
                <a:solidFill>
                  <a:srgbClr val="CC3300"/>
                </a:solidFill>
              </a:rPr>
              <a:t>X</a:t>
            </a:r>
            <a:r>
              <a:rPr lang="zh-CN" altLang="en-US">
                <a:solidFill>
                  <a:srgbClr val="CC3300"/>
                </a:solidFill>
              </a:rPr>
              <a:t>都是</a:t>
            </a:r>
            <a:r>
              <a:rPr lang="en-US" altLang="zh-CN">
                <a:solidFill>
                  <a:srgbClr val="CC3300"/>
                </a:solidFill>
              </a:rPr>
              <a:t>R</a:t>
            </a:r>
            <a:r>
              <a:rPr lang="zh-CN" altLang="en-US">
                <a:solidFill>
                  <a:srgbClr val="CC3300"/>
                </a:solidFill>
              </a:rPr>
              <a:t>的一个候选键，</a:t>
            </a:r>
            <a:r>
              <a:rPr lang="zh-CN" altLang="en-US">
                <a:solidFill>
                  <a:srgbClr val="000000"/>
                </a:solidFill>
              </a:rPr>
              <a:t>则称</a:t>
            </a:r>
            <a:r>
              <a:rPr lang="en-US" altLang="zh-CN">
                <a:solidFill>
                  <a:srgbClr val="000000"/>
                </a:solidFill>
              </a:rPr>
              <a:t>R</a:t>
            </a:r>
            <a:r>
              <a:rPr lang="zh-CN" altLang="en-US">
                <a:solidFill>
                  <a:srgbClr val="000000"/>
                </a:solidFill>
              </a:rPr>
              <a:t>是鲍依斯</a:t>
            </a:r>
            <a:r>
              <a:rPr lang="en-US" altLang="zh-CN">
                <a:solidFill>
                  <a:srgbClr val="000000"/>
                </a:solidFill>
              </a:rPr>
              <a:t>-</a:t>
            </a:r>
            <a:r>
              <a:rPr lang="zh-CN" altLang="en-US">
                <a:solidFill>
                  <a:srgbClr val="000000"/>
                </a:solidFill>
              </a:rPr>
              <a:t>柯德范式，记为</a:t>
            </a:r>
            <a:r>
              <a:rPr lang="en-US" altLang="zh-CN">
                <a:solidFill>
                  <a:srgbClr val="000000"/>
                </a:solidFill>
              </a:rPr>
              <a:t>BCNF</a:t>
            </a:r>
            <a:r>
              <a:rPr lang="zh-CN" altLang="en-US">
                <a:solidFill>
                  <a:srgbClr val="000000"/>
                </a:solidFill>
              </a:rPr>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4416"/>
    </mc:Choice>
    <mc:Fallback xmlns="">
      <p:transition spd="slow" advTm="84416"/>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8524">
                                            <p:txEl>
                                              <p:pRg st="0" end="0"/>
                                            </p:txEl>
                                          </p:spTgt>
                                        </p:tgtEl>
                                        <p:attrNameLst>
                                          <p:attrName>style.visibility</p:attrName>
                                        </p:attrNameLst>
                                      </p:cBhvr>
                                      <p:to>
                                        <p:strVal val="visible"/>
                                      </p:to>
                                    </p:set>
                                    <p:animEffect transition="in" filter="wipe(left)">
                                      <p:cBhvr>
                                        <p:cTn id="7" dur="1000"/>
                                        <p:tgtEl>
                                          <p:spTgt spid="4485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24"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178" name="WordArt 2">
            <a:extLst>
              <a:ext uri="{FF2B5EF4-FFF2-40B4-BE49-F238E27FC236}">
                <a16:creationId xmlns:a16="http://schemas.microsoft.com/office/drawing/2014/main" id="{B97616AA-AE71-403C-A228-A2057064E037}"/>
              </a:ext>
            </a:extLst>
          </p:cNvPr>
          <p:cNvSpPr>
            <a:spLocks noChangeArrowheads="1" noChangeShapeType="1" noTextEdit="1"/>
          </p:cNvSpPr>
          <p:nvPr/>
        </p:nvSpPr>
        <p:spPr bwMode="auto">
          <a:xfrm>
            <a:off x="1331913" y="2925763"/>
            <a:ext cx="431800" cy="647700"/>
          </a:xfrm>
          <a:prstGeom prst="rect">
            <a:avLst/>
          </a:prstGeom>
        </p:spPr>
        <p:txBody>
          <a:bodyPr wrap="none" fromWordArt="1">
            <a:prstTxWarp prst="textInflate">
              <a:avLst>
                <a:gd name="adj" fmla="val 13634"/>
              </a:avLst>
            </a:prstTxWarp>
          </a:bodyPr>
          <a:lstStyle/>
          <a:p>
            <a:pPr algn="ctr"/>
            <a:r>
              <a:rPr lang="zh-CN" altLang="en-US" sz="4800" b="1" i="1" kern="10">
                <a:ln w="9525" cap="sq">
                  <a:solidFill>
                    <a:srgbClr val="000000"/>
                  </a:solidFill>
                  <a:round/>
                  <a:headEnd type="none" w="sm" len="sm"/>
                  <a:tailEnd type="none" w="sm" len="sm"/>
                </a:ln>
                <a:solidFill>
                  <a:srgbClr val="993300"/>
                </a:solidFill>
                <a:effectLst>
                  <a:outerShdw dist="35921" dir="2700000" algn="ctr" rotWithShape="0">
                    <a:schemeClr val="tx1"/>
                  </a:outerShdw>
                </a:effectLst>
                <a:latin typeface="隶书" panose="02010509060101010101" pitchFamily="49" charset="-122"/>
                <a:ea typeface="隶书" panose="02010509060101010101" pitchFamily="49" charset="-122"/>
              </a:rPr>
              <a:t>？</a:t>
            </a:r>
          </a:p>
        </p:txBody>
      </p:sp>
      <p:sp>
        <p:nvSpPr>
          <p:cNvPr id="946179" name="AutoShape 3">
            <a:extLst>
              <a:ext uri="{FF2B5EF4-FFF2-40B4-BE49-F238E27FC236}">
                <a16:creationId xmlns:a16="http://schemas.microsoft.com/office/drawing/2014/main" id="{8476C92E-0C29-4BC3-9B1F-6AA8BEE3E59B}"/>
              </a:ext>
            </a:extLst>
          </p:cNvPr>
          <p:cNvSpPr>
            <a:spLocks noChangeArrowheads="1"/>
          </p:cNvSpPr>
          <p:nvPr/>
        </p:nvSpPr>
        <p:spPr bwMode="auto">
          <a:xfrm>
            <a:off x="2124075" y="2852738"/>
            <a:ext cx="5400675" cy="1368425"/>
          </a:xfrm>
          <a:prstGeom prst="flowChartOffpageConnector">
            <a:avLst/>
          </a:prstGeom>
          <a:solidFill>
            <a:srgbClr val="CCFFFF"/>
          </a:solidFill>
          <a:ln w="12700" cap="sq">
            <a:solidFill>
              <a:schemeClr val="tx1"/>
            </a:solidFill>
            <a:miter lim="800000"/>
            <a:headEnd type="none" w="sm" len="sm"/>
            <a:tailEnd type="none" w="sm" len="sm"/>
          </a:ln>
          <a:effectLst>
            <a:outerShdw dist="71842" dir="2700000" algn="ctr" rotWithShape="0">
              <a:schemeClr val="tx1"/>
            </a:outerShdw>
          </a:effectLst>
        </p:spPr>
        <p:txBody>
          <a:bodyPr wrap="none" anchor="ctr"/>
          <a:lstStyle/>
          <a:p>
            <a:pPr algn="ctr">
              <a:lnSpc>
                <a:spcPct val="120000"/>
              </a:lnSpc>
            </a:pPr>
            <a:r>
              <a:rPr lang="zh-CN" altLang="en-US" sz="2800" b="1">
                <a:solidFill>
                  <a:srgbClr val="660066"/>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是</a:t>
            </a:r>
            <a:r>
              <a:rPr lang="en-US" altLang="zh-CN" sz="2800" b="1">
                <a:solidFill>
                  <a:srgbClr val="660066"/>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BCNF</a:t>
            </a:r>
            <a:r>
              <a:rPr lang="zh-CN" altLang="en-US" sz="2800" b="1">
                <a:solidFill>
                  <a:srgbClr val="660066"/>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的关系模式，</a:t>
            </a:r>
          </a:p>
          <a:p>
            <a:pPr algn="ctr">
              <a:lnSpc>
                <a:spcPct val="120000"/>
              </a:lnSpc>
            </a:pPr>
            <a:r>
              <a:rPr lang="zh-CN" altLang="en-US" sz="2800" b="1">
                <a:solidFill>
                  <a:srgbClr val="660066"/>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是否一定就是</a:t>
            </a:r>
            <a:r>
              <a:rPr lang="en-US" altLang="zh-CN" sz="2800" b="1">
                <a:solidFill>
                  <a:srgbClr val="660066"/>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3NF</a:t>
            </a:r>
            <a:r>
              <a:rPr lang="zh-CN" altLang="en-US" sz="2800" b="1">
                <a:solidFill>
                  <a:srgbClr val="660066"/>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模式</a:t>
            </a:r>
          </a:p>
        </p:txBody>
      </p:sp>
      <p:sp>
        <p:nvSpPr>
          <p:cNvPr id="946181" name="AutoShape 5">
            <a:extLst>
              <a:ext uri="{FF2B5EF4-FFF2-40B4-BE49-F238E27FC236}">
                <a16:creationId xmlns:a16="http://schemas.microsoft.com/office/drawing/2014/main" id="{3EF91D92-5867-4ABB-ACE3-BF03C0317E83}"/>
              </a:ext>
            </a:extLst>
          </p:cNvPr>
          <p:cNvSpPr>
            <a:spLocks noChangeArrowheads="1"/>
          </p:cNvSpPr>
          <p:nvPr/>
        </p:nvSpPr>
        <p:spPr bwMode="auto">
          <a:xfrm>
            <a:off x="971550" y="1484313"/>
            <a:ext cx="1584325" cy="649287"/>
          </a:xfrm>
          <a:prstGeom prst="flowChartOffpageConnector">
            <a:avLst/>
          </a:prstGeom>
          <a:solidFill>
            <a:srgbClr val="CCFF33"/>
          </a:solidFill>
          <a:ln w="19050" algn="ctr">
            <a:solidFill>
              <a:schemeClr val="tx1"/>
            </a:solidFill>
            <a:miter lim="800000"/>
            <a:headEnd/>
            <a:tailEnd/>
          </a:ln>
          <a:effectLst>
            <a:outerShdw dist="71842" dir="2700000" algn="ctr" rotWithShape="0">
              <a:schemeClr val="tx1"/>
            </a:outerShdw>
          </a:effectLst>
        </p:spPr>
        <p:txBody>
          <a:bodyPr wrap="none" anchor="ctr"/>
          <a:lstStyle/>
          <a:p>
            <a:pPr algn="ctr"/>
            <a:r>
              <a:rPr lang="zh-CN" altLang="en-US" sz="3200" b="1">
                <a:solidFill>
                  <a:srgbClr val="000099"/>
                </a:solidFill>
                <a:effectLst>
                  <a:outerShdw blurRad="38100" dist="38100" dir="2700000" algn="tl">
                    <a:srgbClr val="000000"/>
                  </a:outerShdw>
                </a:effectLst>
                <a:ea typeface="隶书" panose="02010509060101010101" pitchFamily="49" charset="-122"/>
              </a:rPr>
              <a:t>思考</a:t>
            </a:r>
          </a:p>
        </p:txBody>
      </p:sp>
      <p:sp>
        <p:nvSpPr>
          <p:cNvPr id="946182" name="Rectangle 6">
            <a:extLst>
              <a:ext uri="{FF2B5EF4-FFF2-40B4-BE49-F238E27FC236}">
                <a16:creationId xmlns:a16="http://schemas.microsoft.com/office/drawing/2014/main" id="{285D1F32-8395-4EEF-89BD-1222B8877616}"/>
              </a:ext>
            </a:extLst>
          </p:cNvPr>
          <p:cNvSpPr>
            <a:spLocks noGrp="1" noChangeArrowheads="1"/>
          </p:cNvSpPr>
          <p:nvPr>
            <p:ph type="title"/>
          </p:nvPr>
        </p:nvSpPr>
        <p:spPr/>
        <p:txBody>
          <a:bodyPr/>
          <a:lstStyle/>
          <a:p>
            <a:r>
              <a:rPr lang="zh-CN" altLang="en-US"/>
              <a:t>五、</a:t>
            </a:r>
            <a:r>
              <a:rPr lang="en-US" altLang="en-US"/>
              <a:t>鲍依斯-柯德范式</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1675"/>
    </mc:Choice>
    <mc:Fallback xmlns="">
      <p:transition spd="slow" advTm="11675"/>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46181"/>
                                        </p:tgtEl>
                                        <p:attrNameLst>
                                          <p:attrName>style.visibility</p:attrName>
                                        </p:attrNameLst>
                                      </p:cBhvr>
                                      <p:to>
                                        <p:strVal val="visible"/>
                                      </p:to>
                                    </p:set>
                                    <p:animEffect transition="in" filter="wipe(left)">
                                      <p:cBhvr>
                                        <p:cTn id="7" dur="1000"/>
                                        <p:tgtEl>
                                          <p:spTgt spid="946181"/>
                                        </p:tgtEl>
                                      </p:cBhvr>
                                    </p:animEffect>
                                  </p:childTnLst>
                                </p:cTn>
                              </p:par>
                            </p:childTnLst>
                          </p:cTn>
                        </p:par>
                        <p:par>
                          <p:cTn id="8" fill="hold" nodeType="afterGroup">
                            <p:stCondLst>
                              <p:cond delay="1000"/>
                            </p:stCondLst>
                            <p:childTnLst>
                              <p:par>
                                <p:cTn id="9" presetID="2" presetClass="entr" presetSubtype="8" fill="hold" nodeType="afterEffect">
                                  <p:stCondLst>
                                    <p:cond delay="0"/>
                                  </p:stCondLst>
                                  <p:childTnLst>
                                    <p:set>
                                      <p:cBhvr>
                                        <p:cTn id="10" dur="1" fill="hold">
                                          <p:stCondLst>
                                            <p:cond delay="0"/>
                                          </p:stCondLst>
                                        </p:cTn>
                                        <p:tgtEl>
                                          <p:spTgt spid="946178"/>
                                        </p:tgtEl>
                                        <p:attrNameLst>
                                          <p:attrName>style.visibility</p:attrName>
                                        </p:attrNameLst>
                                      </p:cBhvr>
                                      <p:to>
                                        <p:strVal val="visible"/>
                                      </p:to>
                                    </p:set>
                                    <p:anim calcmode="lin" valueType="num">
                                      <p:cBhvr additive="base">
                                        <p:cTn id="11" dur="1000" fill="hold"/>
                                        <p:tgtEl>
                                          <p:spTgt spid="946178"/>
                                        </p:tgtEl>
                                        <p:attrNameLst>
                                          <p:attrName>ppt_x</p:attrName>
                                        </p:attrNameLst>
                                      </p:cBhvr>
                                      <p:tavLst>
                                        <p:tav tm="0">
                                          <p:val>
                                            <p:strVal val="0-#ppt_w/2"/>
                                          </p:val>
                                        </p:tav>
                                        <p:tav tm="100000">
                                          <p:val>
                                            <p:strVal val="#ppt_x"/>
                                          </p:val>
                                        </p:tav>
                                      </p:tavLst>
                                    </p:anim>
                                    <p:anim calcmode="lin" valueType="num">
                                      <p:cBhvr additive="base">
                                        <p:cTn id="12" dur="1000" fill="hold"/>
                                        <p:tgtEl>
                                          <p:spTgt spid="946178"/>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2000"/>
                            </p:stCondLst>
                            <p:childTnLst>
                              <p:par>
                                <p:cTn id="14" presetID="53" presetClass="entr" presetSubtype="0" fill="hold" grpId="0" nodeType="afterEffect">
                                  <p:stCondLst>
                                    <p:cond delay="0"/>
                                  </p:stCondLst>
                                  <p:childTnLst>
                                    <p:set>
                                      <p:cBhvr>
                                        <p:cTn id="15" dur="1" fill="hold">
                                          <p:stCondLst>
                                            <p:cond delay="0"/>
                                          </p:stCondLst>
                                        </p:cTn>
                                        <p:tgtEl>
                                          <p:spTgt spid="946179"/>
                                        </p:tgtEl>
                                        <p:attrNameLst>
                                          <p:attrName>style.visibility</p:attrName>
                                        </p:attrNameLst>
                                      </p:cBhvr>
                                      <p:to>
                                        <p:strVal val="visible"/>
                                      </p:to>
                                    </p:set>
                                    <p:anim calcmode="lin" valueType="num">
                                      <p:cBhvr>
                                        <p:cTn id="16" dur="1000" fill="hold"/>
                                        <p:tgtEl>
                                          <p:spTgt spid="946179"/>
                                        </p:tgtEl>
                                        <p:attrNameLst>
                                          <p:attrName>ppt_w</p:attrName>
                                        </p:attrNameLst>
                                      </p:cBhvr>
                                      <p:tavLst>
                                        <p:tav tm="0">
                                          <p:val>
                                            <p:fltVal val="0"/>
                                          </p:val>
                                        </p:tav>
                                        <p:tav tm="100000">
                                          <p:val>
                                            <p:strVal val="#ppt_w"/>
                                          </p:val>
                                        </p:tav>
                                      </p:tavLst>
                                    </p:anim>
                                    <p:anim calcmode="lin" valueType="num">
                                      <p:cBhvr>
                                        <p:cTn id="17" dur="1000" fill="hold"/>
                                        <p:tgtEl>
                                          <p:spTgt spid="946179"/>
                                        </p:tgtEl>
                                        <p:attrNameLst>
                                          <p:attrName>ppt_h</p:attrName>
                                        </p:attrNameLst>
                                      </p:cBhvr>
                                      <p:tavLst>
                                        <p:tav tm="0">
                                          <p:val>
                                            <p:fltVal val="0"/>
                                          </p:val>
                                        </p:tav>
                                        <p:tav tm="100000">
                                          <p:val>
                                            <p:strVal val="#ppt_h"/>
                                          </p:val>
                                        </p:tav>
                                      </p:tavLst>
                                    </p:anim>
                                    <p:animEffect transition="in" filter="fade">
                                      <p:cBhvr>
                                        <p:cTn id="18" dur="1000"/>
                                        <p:tgtEl>
                                          <p:spTgt spid="946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6179" grpId="0" animBg="1"/>
      <p:bldP spid="946181"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65" name="AutoShape 5">
            <a:extLst>
              <a:ext uri="{FF2B5EF4-FFF2-40B4-BE49-F238E27FC236}">
                <a16:creationId xmlns:a16="http://schemas.microsoft.com/office/drawing/2014/main" id="{034A6399-23D2-4C43-8A1A-8975455991DB}"/>
              </a:ext>
            </a:extLst>
          </p:cNvPr>
          <p:cNvSpPr>
            <a:spLocks noChangeArrowheads="1"/>
          </p:cNvSpPr>
          <p:nvPr/>
        </p:nvSpPr>
        <p:spPr bwMode="auto">
          <a:xfrm>
            <a:off x="1763713" y="3933825"/>
            <a:ext cx="5832475" cy="1511300"/>
          </a:xfrm>
          <a:prstGeom prst="flowChartDocument">
            <a:avLst/>
          </a:prstGeom>
          <a:solidFill>
            <a:srgbClr val="008080"/>
          </a:solidFill>
          <a:ln w="12700" cap="sq">
            <a:solidFill>
              <a:schemeClr val="tx1"/>
            </a:solidFill>
            <a:miter lim="800000"/>
            <a:headEnd type="none" w="sm" len="sm"/>
            <a:tailEnd type="none" w="sm" len="sm"/>
          </a:ln>
          <a:effectLst>
            <a:outerShdw dist="71842" dir="2700000" algn="ctr" rotWithShape="0">
              <a:schemeClr val="tx1"/>
            </a:outerShdw>
          </a:effectLst>
        </p:spPr>
        <p:txBody>
          <a:bodyPr wrap="none" lIns="18000" tIns="0" anchor="ctr" anchorCtr="1"/>
          <a:lstStyle/>
          <a:p>
            <a:pPr algn="ctr">
              <a:lnSpc>
                <a:spcPct val="120000"/>
              </a:lnSpc>
            </a:pPr>
            <a:r>
              <a:rPr lang="en-US" altLang="zh-CN"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结论：</a:t>
            </a:r>
            <a:r>
              <a:rPr lang="pt-BR" altLang="en-US"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R</a:t>
            </a:r>
            <a:r>
              <a:rPr lang="zh-CN" altLang="pt-BR"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不</a:t>
            </a:r>
            <a:r>
              <a:rPr lang="en-US" altLang="pt-BR"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是</a:t>
            </a:r>
            <a:r>
              <a:rPr lang="pt-BR" altLang="zh-CN"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BC</a:t>
            </a:r>
            <a:r>
              <a:rPr lang="pt-BR" altLang="en-US"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NF模式</a:t>
            </a:r>
            <a:endParaRPr lang="zh-CN" altLang="en-US"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450566" name="Line 6">
            <a:extLst>
              <a:ext uri="{FF2B5EF4-FFF2-40B4-BE49-F238E27FC236}">
                <a16:creationId xmlns:a16="http://schemas.microsoft.com/office/drawing/2014/main" id="{968E9B92-A0CF-4314-AEB4-52AC1B033C85}"/>
              </a:ext>
            </a:extLst>
          </p:cNvPr>
          <p:cNvSpPr>
            <a:spLocks noChangeShapeType="1"/>
          </p:cNvSpPr>
          <p:nvPr/>
        </p:nvSpPr>
        <p:spPr bwMode="auto">
          <a:xfrm>
            <a:off x="5651500" y="3068638"/>
            <a:ext cx="1584325" cy="0"/>
          </a:xfrm>
          <a:prstGeom prst="line">
            <a:avLst/>
          </a:prstGeom>
          <a:noFill/>
          <a:ln w="38100" cap="sq">
            <a:solidFill>
              <a:srgbClr val="FF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50567" name="Rectangle 7">
            <a:extLst>
              <a:ext uri="{FF2B5EF4-FFF2-40B4-BE49-F238E27FC236}">
                <a16:creationId xmlns:a16="http://schemas.microsoft.com/office/drawing/2014/main" id="{7045381B-0243-417E-9C4A-8A2BED19072A}"/>
              </a:ext>
            </a:extLst>
          </p:cNvPr>
          <p:cNvSpPr>
            <a:spLocks noGrp="1" noChangeArrowheads="1"/>
          </p:cNvSpPr>
          <p:nvPr>
            <p:ph type="title"/>
          </p:nvPr>
        </p:nvSpPr>
        <p:spPr/>
        <p:txBody>
          <a:bodyPr/>
          <a:lstStyle/>
          <a:p>
            <a:r>
              <a:rPr lang="zh-CN" altLang="en-US"/>
              <a:t>五、</a:t>
            </a:r>
            <a:r>
              <a:rPr lang="en-US" altLang="en-US"/>
              <a:t>鲍依斯-柯德范式</a:t>
            </a:r>
            <a:endParaRPr lang="zh-CN" altLang="en-US"/>
          </a:p>
        </p:txBody>
      </p:sp>
      <p:sp>
        <p:nvSpPr>
          <p:cNvPr id="450568" name="Rectangle 8">
            <a:extLst>
              <a:ext uri="{FF2B5EF4-FFF2-40B4-BE49-F238E27FC236}">
                <a16:creationId xmlns:a16="http://schemas.microsoft.com/office/drawing/2014/main" id="{2E932A39-17A7-4D80-9219-2402B342518E}"/>
              </a:ext>
            </a:extLst>
          </p:cNvPr>
          <p:cNvSpPr>
            <a:spLocks noGrp="1" noChangeArrowheads="1"/>
          </p:cNvSpPr>
          <p:nvPr>
            <p:ph type="body" idx="1"/>
          </p:nvPr>
        </p:nvSpPr>
        <p:spPr/>
        <p:txBody>
          <a:bodyPr/>
          <a:lstStyle/>
          <a:p>
            <a:pPr algn="just"/>
            <a:r>
              <a:rPr lang="zh-CN" altLang="en-US">
                <a:solidFill>
                  <a:srgbClr val="000000"/>
                </a:solidFill>
                <a:latin typeface="楷体_GB2312" pitchFamily="49" charset="-122"/>
                <a:cs typeface="Times New Roman" panose="02020603050405020304" pitchFamily="18" charset="0"/>
              </a:rPr>
              <a:t>  </a:t>
            </a:r>
            <a:r>
              <a:rPr lang="zh-CN" altLang="en-US" i="1">
                <a:solidFill>
                  <a:srgbClr val="008000"/>
                </a:solidFill>
                <a:latin typeface="楷体_GB2312" pitchFamily="49" charset="-122"/>
                <a:cs typeface="Times New Roman" panose="02020603050405020304" pitchFamily="18" charset="0"/>
              </a:rPr>
              <a:t>例</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R(CITY</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STREET</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ZIP)</a:t>
            </a:r>
            <a:r>
              <a:rPr lang="zh-CN" altLang="en-US">
                <a:solidFill>
                  <a:srgbClr val="000000"/>
                </a:solidFill>
                <a:latin typeface="楷体_GB2312" pitchFamily="49" charset="-122"/>
                <a:cs typeface="Times New Roman" panose="02020603050405020304" pitchFamily="18" charset="0"/>
              </a:rPr>
              <a:t> ，</a:t>
            </a:r>
          </a:p>
          <a:p>
            <a:pPr algn="just">
              <a:buClrTx/>
              <a:buSzTx/>
              <a:buFontTx/>
              <a:buNone/>
            </a:pPr>
            <a:r>
              <a:rPr lang="zh-CN" altLang="en-US">
                <a:solidFill>
                  <a:srgbClr val="000000"/>
                </a:solidFill>
                <a:latin typeface="楷体_GB2312" pitchFamily="49" charset="-122"/>
                <a:cs typeface="Times New Roman" panose="02020603050405020304" pitchFamily="18" charset="0"/>
              </a:rPr>
              <a:t>     候选键为</a:t>
            </a:r>
            <a:r>
              <a:rPr lang="en-US" altLang="zh-CN">
                <a:solidFill>
                  <a:srgbClr val="000000"/>
                </a:solidFill>
                <a:latin typeface="楷体_GB2312" pitchFamily="49" charset="-122"/>
                <a:cs typeface="Times New Roman" panose="02020603050405020304" pitchFamily="18" charset="0"/>
              </a:rPr>
              <a:t>{CITY,STREET}</a:t>
            </a:r>
            <a:r>
              <a:rPr lang="zh-CN" altLang="en-US">
                <a:solidFill>
                  <a:srgbClr val="000000"/>
                </a:solidFill>
                <a:latin typeface="楷体_GB2312" pitchFamily="49" charset="-122"/>
                <a:cs typeface="Times New Roman" panose="02020603050405020304" pitchFamily="18" charset="0"/>
              </a:rPr>
              <a:t>和</a:t>
            </a:r>
            <a:r>
              <a:rPr lang="en-US" altLang="zh-CN">
                <a:solidFill>
                  <a:srgbClr val="000000"/>
                </a:solidFill>
                <a:latin typeface="楷体_GB2312" pitchFamily="49" charset="-122"/>
                <a:cs typeface="Times New Roman" panose="02020603050405020304" pitchFamily="18" charset="0"/>
              </a:rPr>
              <a:t>{ZIP</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STREET}</a:t>
            </a:r>
          </a:p>
          <a:p>
            <a:pPr algn="just">
              <a:buClrTx/>
              <a:buSzTx/>
              <a:buFontTx/>
              <a:buNone/>
            </a:pPr>
            <a:r>
              <a:rPr lang="en-US" altLang="zh-CN">
                <a:solidFill>
                  <a:srgbClr val="000000"/>
                </a:solidFill>
                <a:latin typeface="楷体_GB2312" pitchFamily="49" charset="-122"/>
                <a:cs typeface="Times New Roman" panose="02020603050405020304" pitchFamily="18" charset="0"/>
              </a:rPr>
              <a:t>     F={{CITY,STREET}→ZIP</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ZIP→CITY}</a:t>
            </a:r>
            <a:r>
              <a:rPr lang="zh-CN" altLang="en-US">
                <a:solidFill>
                  <a:srgbClr val="000000"/>
                </a:solidFill>
                <a:latin typeface="楷体_GB2312" pitchFamily="49" charset="-122"/>
                <a:cs typeface="Times New Roman" panose="02020603050405020304" pitchFamily="18" charset="0"/>
              </a:rPr>
              <a:t>。</a:t>
            </a: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8069"/>
    </mc:Choice>
    <mc:Fallback xmlns="">
      <p:transition spd="slow" advTm="38069"/>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50566"/>
                                        </p:tgtEl>
                                        <p:attrNameLst>
                                          <p:attrName>style.visibility</p:attrName>
                                        </p:attrNameLst>
                                      </p:cBhvr>
                                      <p:to>
                                        <p:strVal val="visible"/>
                                      </p:to>
                                    </p:set>
                                    <p:animEffect transition="in" filter="wipe(left)">
                                      <p:cBhvr>
                                        <p:cTn id="7" dur="1000"/>
                                        <p:tgtEl>
                                          <p:spTgt spid="4505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0" fill="hold" grpId="0" nodeType="clickEffect">
                                  <p:stCondLst>
                                    <p:cond delay="0"/>
                                  </p:stCondLst>
                                  <p:childTnLst>
                                    <p:set>
                                      <p:cBhvr>
                                        <p:cTn id="11" dur="1" fill="hold">
                                          <p:stCondLst>
                                            <p:cond delay="0"/>
                                          </p:stCondLst>
                                        </p:cTn>
                                        <p:tgtEl>
                                          <p:spTgt spid="450565"/>
                                        </p:tgtEl>
                                        <p:attrNameLst>
                                          <p:attrName>style.visibility</p:attrName>
                                        </p:attrNameLst>
                                      </p:cBhvr>
                                      <p:to>
                                        <p:strVal val="visible"/>
                                      </p:to>
                                    </p:set>
                                    <p:anim calcmode="lin" valueType="num">
                                      <p:cBhvr>
                                        <p:cTn id="12" dur="1000" fill="hold"/>
                                        <p:tgtEl>
                                          <p:spTgt spid="450565"/>
                                        </p:tgtEl>
                                        <p:attrNameLst>
                                          <p:attrName>ppt_w</p:attrName>
                                        </p:attrNameLst>
                                      </p:cBhvr>
                                      <p:tavLst>
                                        <p:tav tm="0">
                                          <p:val>
                                            <p:fltVal val="0"/>
                                          </p:val>
                                        </p:tav>
                                        <p:tav tm="100000">
                                          <p:val>
                                            <p:strVal val="#ppt_w"/>
                                          </p:val>
                                        </p:tav>
                                      </p:tavLst>
                                    </p:anim>
                                    <p:anim calcmode="lin" valueType="num">
                                      <p:cBhvr>
                                        <p:cTn id="13" dur="1000" fill="hold"/>
                                        <p:tgtEl>
                                          <p:spTgt spid="450565"/>
                                        </p:tgtEl>
                                        <p:attrNameLst>
                                          <p:attrName>ppt_h</p:attrName>
                                        </p:attrNameLst>
                                      </p:cBhvr>
                                      <p:tavLst>
                                        <p:tav tm="0">
                                          <p:val>
                                            <p:fltVal val="0"/>
                                          </p:val>
                                        </p:tav>
                                        <p:tav tm="100000">
                                          <p:val>
                                            <p:strVal val="#ppt_h"/>
                                          </p:val>
                                        </p:tav>
                                      </p:tavLst>
                                    </p:anim>
                                    <p:animEffect transition="in" filter="fade">
                                      <p:cBhvr>
                                        <p:cTn id="14" dur="1000"/>
                                        <p:tgtEl>
                                          <p:spTgt spid="4505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65"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3818" name="Rectangle 10">
            <a:extLst>
              <a:ext uri="{FF2B5EF4-FFF2-40B4-BE49-F238E27FC236}">
                <a16:creationId xmlns:a16="http://schemas.microsoft.com/office/drawing/2014/main" id="{C1B9C325-5878-46D3-94AD-E96978A5C247}"/>
              </a:ext>
            </a:extLst>
          </p:cNvPr>
          <p:cNvSpPr>
            <a:spLocks noGrp="1" noChangeArrowheads="1"/>
          </p:cNvSpPr>
          <p:nvPr>
            <p:ph type="body" idx="1"/>
          </p:nvPr>
        </p:nvSpPr>
        <p:spPr/>
        <p:txBody>
          <a:bodyPr/>
          <a:lstStyle/>
          <a:p>
            <a:pPr algn="just"/>
            <a:r>
              <a:rPr lang="zh-CN" altLang="en-US" i="1">
                <a:solidFill>
                  <a:srgbClr val="008000"/>
                </a:solidFill>
                <a:latin typeface="楷体_GB2312" pitchFamily="49" charset="-122"/>
                <a:cs typeface="Times New Roman" panose="02020603050405020304" pitchFamily="18" charset="0"/>
              </a:rPr>
              <a:t>例</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R(CITY</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STREET</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ZIP)</a:t>
            </a:r>
            <a:r>
              <a:rPr lang="zh-CN" altLang="en-US">
                <a:solidFill>
                  <a:srgbClr val="000000"/>
                </a:solidFill>
                <a:latin typeface="楷体_GB2312" pitchFamily="49" charset="-122"/>
                <a:cs typeface="Times New Roman" panose="02020603050405020304" pitchFamily="18" charset="0"/>
              </a:rPr>
              <a:t> ，</a:t>
            </a:r>
          </a:p>
          <a:p>
            <a:pPr algn="just">
              <a:buClrTx/>
              <a:buSzTx/>
              <a:buFontTx/>
              <a:buNone/>
            </a:pPr>
            <a:r>
              <a:rPr lang="zh-CN" altLang="en-US">
                <a:solidFill>
                  <a:srgbClr val="000000"/>
                </a:solidFill>
                <a:latin typeface="楷体_GB2312" pitchFamily="49" charset="-122"/>
                <a:cs typeface="Times New Roman" panose="02020603050405020304" pitchFamily="18" charset="0"/>
              </a:rPr>
              <a:t>    候选键为</a:t>
            </a:r>
            <a:r>
              <a:rPr lang="en-US" altLang="zh-CN">
                <a:solidFill>
                  <a:srgbClr val="000000"/>
                </a:solidFill>
                <a:latin typeface="楷体_GB2312" pitchFamily="49" charset="-122"/>
                <a:cs typeface="Times New Roman" panose="02020603050405020304" pitchFamily="18" charset="0"/>
              </a:rPr>
              <a:t>{CITY,STREET}</a:t>
            </a:r>
            <a:r>
              <a:rPr lang="zh-CN" altLang="en-US">
                <a:solidFill>
                  <a:srgbClr val="000000"/>
                </a:solidFill>
                <a:latin typeface="楷体_GB2312" pitchFamily="49" charset="-122"/>
                <a:cs typeface="Times New Roman" panose="02020603050405020304" pitchFamily="18" charset="0"/>
              </a:rPr>
              <a:t>和</a:t>
            </a:r>
            <a:r>
              <a:rPr lang="en-US" altLang="zh-CN">
                <a:solidFill>
                  <a:srgbClr val="000000"/>
                </a:solidFill>
                <a:latin typeface="楷体_GB2312" pitchFamily="49" charset="-122"/>
                <a:cs typeface="Times New Roman" panose="02020603050405020304" pitchFamily="18" charset="0"/>
              </a:rPr>
              <a:t>{ZIP</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STREET}</a:t>
            </a:r>
          </a:p>
          <a:p>
            <a:pPr algn="just">
              <a:buClrTx/>
              <a:buSzTx/>
              <a:buFontTx/>
              <a:buNone/>
            </a:pPr>
            <a:r>
              <a:rPr lang="en-US" altLang="zh-CN">
                <a:solidFill>
                  <a:srgbClr val="000000"/>
                </a:solidFill>
                <a:latin typeface="楷体_GB2312" pitchFamily="49" charset="-122"/>
                <a:cs typeface="Times New Roman" panose="02020603050405020304" pitchFamily="18" charset="0"/>
              </a:rPr>
              <a:t>    F={{CITY,STREET}→ZIP</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ZIP→CITY}</a:t>
            </a:r>
            <a:endParaRPr lang="zh-CN" altLang="en-US">
              <a:solidFill>
                <a:srgbClr val="000000"/>
              </a:solidFill>
              <a:latin typeface="楷体_GB2312" pitchFamily="49" charset="-122"/>
              <a:cs typeface="Times New Roman" panose="02020603050405020304" pitchFamily="18" charset="0"/>
            </a:endParaRPr>
          </a:p>
        </p:txBody>
      </p:sp>
      <p:sp>
        <p:nvSpPr>
          <p:cNvPr id="503813" name="AutoShape 5">
            <a:extLst>
              <a:ext uri="{FF2B5EF4-FFF2-40B4-BE49-F238E27FC236}">
                <a16:creationId xmlns:a16="http://schemas.microsoft.com/office/drawing/2014/main" id="{B89EB660-3F0C-4219-977C-812DB9F608A2}"/>
              </a:ext>
            </a:extLst>
          </p:cNvPr>
          <p:cNvSpPr>
            <a:spLocks noChangeArrowheads="1"/>
          </p:cNvSpPr>
          <p:nvPr/>
        </p:nvSpPr>
        <p:spPr bwMode="auto">
          <a:xfrm>
            <a:off x="1763713" y="3573463"/>
            <a:ext cx="6408737" cy="1008062"/>
          </a:xfrm>
          <a:prstGeom prst="wedgeRoundRectCallout">
            <a:avLst>
              <a:gd name="adj1" fmla="val 24981"/>
              <a:gd name="adj2" fmla="val -95199"/>
              <a:gd name="adj3" fmla="val 16667"/>
            </a:avLst>
          </a:prstGeom>
          <a:solidFill>
            <a:srgbClr val="00FFFF"/>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nchorCtr="1"/>
          <a:lstStyle/>
          <a:p>
            <a:pPr algn="ctr"/>
            <a:r>
              <a:rPr lang="en-US" altLang="zh-CN" sz="2800" b="1">
                <a:solidFill>
                  <a:srgbClr val="000000"/>
                </a:solidFill>
                <a:effectLst>
                  <a:outerShdw blurRad="38100" dist="38100" dir="2700000" algn="tl">
                    <a:srgbClr val="FFFFFF"/>
                  </a:outerShdw>
                </a:effectLst>
                <a:cs typeface="Times New Roman" panose="02020603050405020304" pitchFamily="18" charset="0"/>
              </a:rPr>
              <a:t>R</a:t>
            </a:r>
            <a:r>
              <a:rPr lang="en-US" altLang="zh-CN" sz="2800" b="1" baseline="-30000">
                <a:solidFill>
                  <a:srgbClr val="000000"/>
                </a:solidFill>
                <a:effectLst>
                  <a:outerShdw blurRad="38100" dist="38100" dir="2700000" algn="tl">
                    <a:srgbClr val="FFFFFF"/>
                  </a:outerShdw>
                </a:effectLst>
                <a:cs typeface="Times New Roman" panose="02020603050405020304" pitchFamily="18" charset="0"/>
              </a:rPr>
              <a:t>1</a:t>
            </a:r>
            <a:r>
              <a:rPr lang="en-US" altLang="zh-CN" sz="2800" b="1">
                <a:solidFill>
                  <a:srgbClr val="000000"/>
                </a:solidFill>
                <a:effectLst>
                  <a:outerShdw blurRad="38100" dist="38100" dir="2700000" algn="tl">
                    <a:srgbClr val="FFFFFF"/>
                  </a:outerShdw>
                </a:effectLst>
                <a:cs typeface="Times New Roman" panose="02020603050405020304" pitchFamily="18" charset="0"/>
              </a:rPr>
              <a:t>(ZIP</a:t>
            </a:r>
            <a:r>
              <a:rPr lang="zh-CN" altLang="en-US" sz="2800" b="1">
                <a:solidFill>
                  <a:srgbClr val="000000"/>
                </a:solidFill>
                <a:effectLst>
                  <a:outerShdw blurRad="38100" dist="38100" dir="2700000" algn="tl">
                    <a:srgbClr val="FFFFFF"/>
                  </a:outerShdw>
                </a:effectLst>
                <a:cs typeface="Times New Roman" panose="02020603050405020304" pitchFamily="18" charset="0"/>
              </a:rPr>
              <a:t>，</a:t>
            </a:r>
            <a:r>
              <a:rPr lang="en-US" altLang="zh-CN" sz="2800" b="1">
                <a:solidFill>
                  <a:srgbClr val="000000"/>
                </a:solidFill>
                <a:effectLst>
                  <a:outerShdw blurRad="38100" dist="38100" dir="2700000" algn="tl">
                    <a:srgbClr val="FFFFFF"/>
                  </a:outerShdw>
                </a:effectLst>
                <a:cs typeface="Times New Roman" panose="02020603050405020304" pitchFamily="18" charset="0"/>
              </a:rPr>
              <a:t>CITY)</a:t>
            </a:r>
            <a:r>
              <a:rPr lang="zh-CN" altLang="en-US" sz="2800" b="1">
                <a:solidFill>
                  <a:srgbClr val="000000"/>
                </a:solidFill>
                <a:effectLst>
                  <a:outerShdw blurRad="38100" dist="38100" dir="2700000" algn="tl">
                    <a:srgbClr val="FFFFFF"/>
                  </a:outerShdw>
                </a:effectLst>
                <a:cs typeface="Times New Roman" panose="02020603050405020304" pitchFamily="18" charset="0"/>
              </a:rPr>
              <a:t>，</a:t>
            </a:r>
            <a:r>
              <a:rPr lang="en-US" altLang="zh-CN" sz="2800" b="1">
                <a:solidFill>
                  <a:srgbClr val="000000"/>
                </a:solidFill>
                <a:effectLst>
                  <a:outerShdw blurRad="38100" dist="38100" dir="2700000" algn="tl">
                    <a:srgbClr val="FFFFFF"/>
                  </a:outerShdw>
                </a:effectLst>
                <a:cs typeface="Times New Roman" panose="02020603050405020304" pitchFamily="18" charset="0"/>
              </a:rPr>
              <a:t>F</a:t>
            </a:r>
            <a:r>
              <a:rPr lang="en-US" altLang="zh-CN" sz="2800" b="1" baseline="-30000">
                <a:solidFill>
                  <a:srgbClr val="000000"/>
                </a:solidFill>
                <a:effectLst>
                  <a:outerShdw blurRad="38100" dist="38100" dir="2700000" algn="tl">
                    <a:srgbClr val="FFFFFF"/>
                  </a:outerShdw>
                </a:effectLst>
                <a:cs typeface="Times New Roman" panose="02020603050405020304" pitchFamily="18" charset="0"/>
              </a:rPr>
              <a:t>1</a:t>
            </a:r>
            <a:r>
              <a:rPr lang="en-US" altLang="zh-CN" sz="2800" b="1">
                <a:solidFill>
                  <a:srgbClr val="000000"/>
                </a:solidFill>
                <a:effectLst>
                  <a:outerShdw blurRad="38100" dist="38100" dir="2700000" algn="tl">
                    <a:srgbClr val="FFFFFF"/>
                  </a:outerShdw>
                </a:effectLst>
                <a:cs typeface="Times New Roman" panose="02020603050405020304" pitchFamily="18" charset="0"/>
              </a:rPr>
              <a:t>={ZIP→CITY}</a:t>
            </a:r>
            <a:endParaRPr lang="zh-CN" altLang="en-US" sz="2800" b="1">
              <a:solidFill>
                <a:srgbClr val="000000"/>
              </a:solidFill>
              <a:effectLst>
                <a:outerShdw blurRad="38100" dist="38100" dir="2700000" algn="tl">
                  <a:srgbClr val="FFFFFF"/>
                </a:outerShdw>
              </a:effectLst>
              <a:cs typeface="Times New Roman" panose="02020603050405020304" pitchFamily="18" charset="0"/>
            </a:endParaRPr>
          </a:p>
        </p:txBody>
      </p:sp>
      <p:sp>
        <p:nvSpPr>
          <p:cNvPr id="503814" name="AutoShape 6">
            <a:extLst>
              <a:ext uri="{FF2B5EF4-FFF2-40B4-BE49-F238E27FC236}">
                <a16:creationId xmlns:a16="http://schemas.microsoft.com/office/drawing/2014/main" id="{7FC1E085-79A6-44FD-80F9-AD3ED3A671AB}"/>
              </a:ext>
            </a:extLst>
          </p:cNvPr>
          <p:cNvSpPr>
            <a:spLocks noChangeArrowheads="1"/>
          </p:cNvSpPr>
          <p:nvPr/>
        </p:nvSpPr>
        <p:spPr bwMode="auto">
          <a:xfrm>
            <a:off x="1763713" y="4868863"/>
            <a:ext cx="6408737" cy="1008062"/>
          </a:xfrm>
          <a:prstGeom prst="wedgeRoundRectCallout">
            <a:avLst>
              <a:gd name="adj1" fmla="val 17944"/>
              <a:gd name="adj2" fmla="val -47639"/>
              <a:gd name="adj3" fmla="val 16667"/>
            </a:avLst>
          </a:prstGeom>
          <a:solidFill>
            <a:srgbClr val="00FFFF"/>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nchorCtr="1"/>
          <a:lstStyle/>
          <a:p>
            <a:pPr algn="ctr"/>
            <a:r>
              <a:rPr lang="en-US" altLang="zh-CN" sz="2800" b="1">
                <a:solidFill>
                  <a:srgbClr val="000000"/>
                </a:solidFill>
                <a:effectLst>
                  <a:outerShdw blurRad="38100" dist="38100" dir="2700000" algn="tl">
                    <a:srgbClr val="FFFFFF"/>
                  </a:outerShdw>
                </a:effectLst>
                <a:cs typeface="Times New Roman" panose="02020603050405020304" pitchFamily="18" charset="0"/>
              </a:rPr>
              <a:t>R</a:t>
            </a:r>
            <a:r>
              <a:rPr lang="en-US" altLang="zh-CN" sz="2800" b="1" baseline="-30000">
                <a:solidFill>
                  <a:srgbClr val="000000"/>
                </a:solidFill>
                <a:effectLst>
                  <a:outerShdw blurRad="38100" dist="38100" dir="2700000" algn="tl">
                    <a:srgbClr val="FFFFFF"/>
                  </a:outerShdw>
                </a:effectLst>
                <a:cs typeface="Times New Roman" panose="02020603050405020304" pitchFamily="18" charset="0"/>
              </a:rPr>
              <a:t>2</a:t>
            </a:r>
            <a:r>
              <a:rPr lang="en-US" altLang="zh-CN" sz="2800" b="1">
                <a:solidFill>
                  <a:srgbClr val="000000"/>
                </a:solidFill>
                <a:effectLst>
                  <a:outerShdw blurRad="38100" dist="38100" dir="2700000" algn="tl">
                    <a:srgbClr val="FFFFFF"/>
                  </a:outerShdw>
                </a:effectLst>
                <a:cs typeface="Times New Roman" panose="02020603050405020304" pitchFamily="18" charset="0"/>
              </a:rPr>
              <a:t>(</a:t>
            </a:r>
            <a:r>
              <a:rPr lang="en-US" altLang="en-US" sz="2800" b="1">
                <a:solidFill>
                  <a:srgbClr val="000000"/>
                </a:solidFill>
                <a:effectLst>
                  <a:outerShdw blurRad="38100" dist="38100" dir="2700000" algn="tl">
                    <a:srgbClr val="FFFFFF"/>
                  </a:outerShdw>
                </a:effectLst>
                <a:cs typeface="Times New Roman" panose="02020603050405020304" pitchFamily="18" charset="0"/>
              </a:rPr>
              <a:t>STREET</a:t>
            </a:r>
            <a:r>
              <a:rPr lang="en-US" altLang="zh-CN" sz="2800" b="1">
                <a:solidFill>
                  <a:srgbClr val="000000"/>
                </a:solidFill>
                <a:effectLst>
                  <a:outerShdw blurRad="38100" dist="38100" dir="2700000" algn="tl">
                    <a:srgbClr val="FFFFFF"/>
                  </a:outerShdw>
                </a:effectLst>
                <a:cs typeface="Times New Roman" panose="02020603050405020304" pitchFamily="18" charset="0"/>
              </a:rPr>
              <a:t>， ZIP)</a:t>
            </a:r>
            <a:endParaRPr lang="zh-CN" altLang="en-US" sz="2800" b="1">
              <a:solidFill>
                <a:srgbClr val="000000"/>
              </a:solidFill>
              <a:effectLst>
                <a:outerShdw blurRad="38100" dist="38100" dir="2700000" algn="tl">
                  <a:srgbClr val="FFFFFF"/>
                </a:outerShdw>
              </a:effectLst>
              <a:cs typeface="Times New Roman" panose="02020603050405020304" pitchFamily="18" charset="0"/>
            </a:endParaRPr>
          </a:p>
        </p:txBody>
      </p:sp>
      <p:sp>
        <p:nvSpPr>
          <p:cNvPr id="503815" name="Line 7">
            <a:extLst>
              <a:ext uri="{FF2B5EF4-FFF2-40B4-BE49-F238E27FC236}">
                <a16:creationId xmlns:a16="http://schemas.microsoft.com/office/drawing/2014/main" id="{D971BC2A-A42C-4235-94A2-0E774C44255C}"/>
              </a:ext>
            </a:extLst>
          </p:cNvPr>
          <p:cNvSpPr>
            <a:spLocks noChangeShapeType="1"/>
          </p:cNvSpPr>
          <p:nvPr/>
        </p:nvSpPr>
        <p:spPr bwMode="auto">
          <a:xfrm>
            <a:off x="5508625" y="3068638"/>
            <a:ext cx="1584325" cy="0"/>
          </a:xfrm>
          <a:prstGeom prst="line">
            <a:avLst/>
          </a:prstGeom>
          <a:noFill/>
          <a:ln w="38100" cap="sq">
            <a:solidFill>
              <a:srgbClr val="FF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503816" name="AutoShape 8">
            <a:extLst>
              <a:ext uri="{FF2B5EF4-FFF2-40B4-BE49-F238E27FC236}">
                <a16:creationId xmlns:a16="http://schemas.microsoft.com/office/drawing/2014/main" id="{EE5B166A-6FCF-488B-9F82-3C2FCEF5529B}"/>
              </a:ext>
            </a:extLst>
          </p:cNvPr>
          <p:cNvSpPr>
            <a:spLocks noChangeArrowheads="1"/>
          </p:cNvSpPr>
          <p:nvPr/>
        </p:nvSpPr>
        <p:spPr bwMode="auto">
          <a:xfrm>
            <a:off x="1331913" y="3716338"/>
            <a:ext cx="7200900" cy="1511300"/>
          </a:xfrm>
          <a:prstGeom prst="flowChartDocument">
            <a:avLst/>
          </a:prstGeom>
          <a:solidFill>
            <a:srgbClr val="008080"/>
          </a:solidFill>
          <a:ln w="12700" cap="sq">
            <a:solidFill>
              <a:schemeClr val="tx1"/>
            </a:solidFill>
            <a:miter lim="800000"/>
            <a:headEnd type="none" w="sm" len="sm"/>
            <a:tailEnd type="none" w="sm" len="sm"/>
          </a:ln>
          <a:effectLst>
            <a:outerShdw dist="71842" dir="2700000" algn="ctr" rotWithShape="0">
              <a:schemeClr val="tx1"/>
            </a:outerShdw>
          </a:effectLst>
        </p:spPr>
        <p:txBody>
          <a:bodyPr lIns="18000" tIns="0" anchor="ctr" anchorCtr="1"/>
          <a:lstStyle/>
          <a:p>
            <a:pPr algn="ctr">
              <a:lnSpc>
                <a:spcPct val="120000"/>
              </a:lnSpc>
            </a:pPr>
            <a:r>
              <a:rPr lang="en-US" altLang="zh-CN"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结论：</a:t>
            </a:r>
            <a:r>
              <a:rPr lang="en-US" altLang="zh-CN"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R</a:t>
            </a:r>
            <a:r>
              <a:rPr lang="en-US" altLang="zh-CN" sz="2800" b="1" baseline="-3000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1</a:t>
            </a:r>
            <a:r>
              <a:rPr lang="zh-CN" altLang="en-US"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和</a:t>
            </a:r>
            <a:r>
              <a:rPr lang="en-US" altLang="zh-CN"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R</a:t>
            </a:r>
            <a:r>
              <a:rPr lang="en-US" altLang="zh-CN" sz="2800" b="1" baseline="-3000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2</a:t>
            </a:r>
            <a:r>
              <a:rPr lang="zh-CN" altLang="en-US"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就都属于</a:t>
            </a:r>
            <a:r>
              <a:rPr lang="en-US" altLang="zh-CN"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BCNF</a:t>
            </a:r>
            <a:r>
              <a:rPr lang="zh-CN" altLang="en-US"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了</a:t>
            </a:r>
            <a:r>
              <a:rPr lang="en-US" altLang="zh-CN"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a:t>
            </a:r>
            <a:r>
              <a:rPr lang="zh-CN" altLang="en-US" sz="2800" b="1">
                <a:solidFill>
                  <a:schemeClr val="bg1"/>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但丢失了</a:t>
            </a:r>
            <a:r>
              <a:rPr lang="en-US" altLang="zh-CN" sz="2800" b="1">
                <a:solidFill>
                  <a:schemeClr val="bg1"/>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{CITY,STREET}→ZIP</a:t>
            </a:r>
            <a:endParaRPr lang="zh-CN" altLang="en-US" sz="2800" b="1">
              <a:solidFill>
                <a:schemeClr val="bg1"/>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503817" name="Rectangle 9">
            <a:extLst>
              <a:ext uri="{FF2B5EF4-FFF2-40B4-BE49-F238E27FC236}">
                <a16:creationId xmlns:a16="http://schemas.microsoft.com/office/drawing/2014/main" id="{6F1FF457-F38B-476F-8F1F-7F84B7226209}"/>
              </a:ext>
            </a:extLst>
          </p:cNvPr>
          <p:cNvSpPr>
            <a:spLocks noGrp="1" noChangeArrowheads="1"/>
          </p:cNvSpPr>
          <p:nvPr>
            <p:ph type="title"/>
          </p:nvPr>
        </p:nvSpPr>
        <p:spPr/>
        <p:txBody>
          <a:bodyPr/>
          <a:lstStyle/>
          <a:p>
            <a:r>
              <a:rPr lang="zh-CN" altLang="en-US"/>
              <a:t>五、</a:t>
            </a:r>
            <a:r>
              <a:rPr lang="en-US" altLang="en-US"/>
              <a:t>鲍依斯-柯德范式</a:t>
            </a: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9163"/>
    </mc:Choice>
    <mc:Fallback xmlns="">
      <p:transition spd="slow" advTm="119163"/>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3813"/>
                                        </p:tgtEl>
                                        <p:attrNameLst>
                                          <p:attrName>style.visibility</p:attrName>
                                        </p:attrNameLst>
                                      </p:cBhvr>
                                      <p:to>
                                        <p:strVal val="visible"/>
                                      </p:to>
                                    </p:set>
                                    <p:anim calcmode="lin" valueType="num">
                                      <p:cBhvr additive="base">
                                        <p:cTn id="7" dur="1000" fill="hold"/>
                                        <p:tgtEl>
                                          <p:spTgt spid="503813"/>
                                        </p:tgtEl>
                                        <p:attrNameLst>
                                          <p:attrName>ppt_x</p:attrName>
                                        </p:attrNameLst>
                                      </p:cBhvr>
                                      <p:tavLst>
                                        <p:tav tm="0">
                                          <p:val>
                                            <p:strVal val="#ppt_x"/>
                                          </p:val>
                                        </p:tav>
                                        <p:tav tm="100000">
                                          <p:val>
                                            <p:strVal val="#ppt_x"/>
                                          </p:val>
                                        </p:tav>
                                      </p:tavLst>
                                    </p:anim>
                                    <p:anim calcmode="lin" valueType="num">
                                      <p:cBhvr additive="base">
                                        <p:cTn id="8" dur="1000" fill="hold"/>
                                        <p:tgtEl>
                                          <p:spTgt spid="50381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03814"/>
                                        </p:tgtEl>
                                        <p:attrNameLst>
                                          <p:attrName>style.visibility</p:attrName>
                                        </p:attrNameLst>
                                      </p:cBhvr>
                                      <p:to>
                                        <p:strVal val="visible"/>
                                      </p:to>
                                    </p:set>
                                    <p:anim calcmode="lin" valueType="num">
                                      <p:cBhvr additive="base">
                                        <p:cTn id="13" dur="1000" fill="hold"/>
                                        <p:tgtEl>
                                          <p:spTgt spid="503814"/>
                                        </p:tgtEl>
                                        <p:attrNameLst>
                                          <p:attrName>ppt_x</p:attrName>
                                        </p:attrNameLst>
                                      </p:cBhvr>
                                      <p:tavLst>
                                        <p:tav tm="0">
                                          <p:val>
                                            <p:strVal val="#ppt_x"/>
                                          </p:val>
                                        </p:tav>
                                        <p:tav tm="100000">
                                          <p:val>
                                            <p:strVal val="#ppt_x"/>
                                          </p:val>
                                        </p:tav>
                                      </p:tavLst>
                                    </p:anim>
                                    <p:anim calcmode="lin" valueType="num">
                                      <p:cBhvr additive="base">
                                        <p:cTn id="14" dur="1000" fill="hold"/>
                                        <p:tgtEl>
                                          <p:spTgt spid="50381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0" fill="hold" grpId="0" nodeType="clickEffect">
                                  <p:stCondLst>
                                    <p:cond delay="0"/>
                                  </p:stCondLst>
                                  <p:childTnLst>
                                    <p:set>
                                      <p:cBhvr>
                                        <p:cTn id="18" dur="1" fill="hold">
                                          <p:stCondLst>
                                            <p:cond delay="0"/>
                                          </p:stCondLst>
                                        </p:cTn>
                                        <p:tgtEl>
                                          <p:spTgt spid="503816"/>
                                        </p:tgtEl>
                                        <p:attrNameLst>
                                          <p:attrName>style.visibility</p:attrName>
                                        </p:attrNameLst>
                                      </p:cBhvr>
                                      <p:to>
                                        <p:strVal val="visible"/>
                                      </p:to>
                                    </p:set>
                                    <p:anim calcmode="lin" valueType="num">
                                      <p:cBhvr>
                                        <p:cTn id="19" dur="1000" fill="hold"/>
                                        <p:tgtEl>
                                          <p:spTgt spid="503816"/>
                                        </p:tgtEl>
                                        <p:attrNameLst>
                                          <p:attrName>ppt_w</p:attrName>
                                        </p:attrNameLst>
                                      </p:cBhvr>
                                      <p:tavLst>
                                        <p:tav tm="0">
                                          <p:val>
                                            <p:fltVal val="0"/>
                                          </p:val>
                                        </p:tav>
                                        <p:tav tm="100000">
                                          <p:val>
                                            <p:strVal val="#ppt_w"/>
                                          </p:val>
                                        </p:tav>
                                      </p:tavLst>
                                    </p:anim>
                                    <p:anim calcmode="lin" valueType="num">
                                      <p:cBhvr>
                                        <p:cTn id="20" dur="1000" fill="hold"/>
                                        <p:tgtEl>
                                          <p:spTgt spid="503816"/>
                                        </p:tgtEl>
                                        <p:attrNameLst>
                                          <p:attrName>ppt_h</p:attrName>
                                        </p:attrNameLst>
                                      </p:cBhvr>
                                      <p:tavLst>
                                        <p:tav tm="0">
                                          <p:val>
                                            <p:fltVal val="0"/>
                                          </p:val>
                                        </p:tav>
                                        <p:tav tm="100000">
                                          <p:val>
                                            <p:strVal val="#ppt_h"/>
                                          </p:val>
                                        </p:tav>
                                      </p:tavLst>
                                    </p:anim>
                                    <p:animEffect transition="in" filter="fade">
                                      <p:cBhvr>
                                        <p:cTn id="21" dur="1000"/>
                                        <p:tgtEl>
                                          <p:spTgt spid="5038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3813" grpId="0" animBg="1"/>
      <p:bldP spid="503814" grpId="0" animBg="1"/>
      <p:bldP spid="503816"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7174" name="Rectangle 6">
            <a:extLst>
              <a:ext uri="{FF2B5EF4-FFF2-40B4-BE49-F238E27FC236}">
                <a16:creationId xmlns:a16="http://schemas.microsoft.com/office/drawing/2014/main" id="{E119100C-0B1C-439C-A149-5AE40874CC71}"/>
              </a:ext>
            </a:extLst>
          </p:cNvPr>
          <p:cNvSpPr>
            <a:spLocks noGrp="1" noChangeArrowheads="1"/>
          </p:cNvSpPr>
          <p:nvPr>
            <p:ph type="title"/>
          </p:nvPr>
        </p:nvSpPr>
        <p:spPr/>
        <p:txBody>
          <a:bodyPr/>
          <a:lstStyle/>
          <a:p>
            <a:r>
              <a:rPr lang="zh-CN" altLang="en-US"/>
              <a:t>五、</a:t>
            </a:r>
            <a:r>
              <a:rPr lang="en-US" altLang="zh-CN"/>
              <a:t>BCNF</a:t>
            </a:r>
            <a:endParaRPr lang="zh-CN" altLang="en-US"/>
          </a:p>
        </p:txBody>
      </p:sp>
      <p:sp>
        <p:nvSpPr>
          <p:cNvPr id="647175" name="Rectangle 7">
            <a:extLst>
              <a:ext uri="{FF2B5EF4-FFF2-40B4-BE49-F238E27FC236}">
                <a16:creationId xmlns:a16="http://schemas.microsoft.com/office/drawing/2014/main" id="{D5D4512D-0D7A-49B0-AF38-D025F87CB24B}"/>
              </a:ext>
            </a:extLst>
          </p:cNvPr>
          <p:cNvSpPr>
            <a:spLocks noGrp="1" noChangeArrowheads="1"/>
          </p:cNvSpPr>
          <p:nvPr>
            <p:ph type="body" idx="1"/>
          </p:nvPr>
        </p:nvSpPr>
        <p:spPr/>
        <p:txBody>
          <a:bodyPr/>
          <a:lstStyle/>
          <a:p>
            <a:pPr algn="just"/>
            <a:endParaRPr lang="zh-CN" altLang="en-US"/>
          </a:p>
        </p:txBody>
      </p:sp>
      <p:sp>
        <p:nvSpPr>
          <p:cNvPr id="647176" name="AutoShape 8">
            <a:extLst>
              <a:ext uri="{FF2B5EF4-FFF2-40B4-BE49-F238E27FC236}">
                <a16:creationId xmlns:a16="http://schemas.microsoft.com/office/drawing/2014/main" id="{EC2CDF9A-C053-412B-9D56-02A34ECEA18A}"/>
              </a:ext>
            </a:extLst>
          </p:cNvPr>
          <p:cNvSpPr>
            <a:spLocks noChangeArrowheads="1"/>
          </p:cNvSpPr>
          <p:nvPr/>
        </p:nvSpPr>
        <p:spPr bwMode="auto">
          <a:xfrm>
            <a:off x="1042988" y="1630363"/>
            <a:ext cx="2233612" cy="719137"/>
          </a:xfrm>
          <a:prstGeom prst="homePlate">
            <a:avLst>
              <a:gd name="adj" fmla="val 46748"/>
            </a:avLst>
          </a:prstGeom>
          <a:gradFill rotWithShape="1">
            <a:gsLst>
              <a:gs pos="0">
                <a:srgbClr val="FF99FF"/>
              </a:gs>
              <a:gs pos="50000">
                <a:schemeClr val="bg1"/>
              </a:gs>
              <a:gs pos="100000">
                <a:srgbClr val="FF99FF"/>
              </a:gs>
            </a:gsLst>
            <a:lin ang="2700000" scaled="1"/>
          </a:gra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pPr algn="ctr"/>
            <a:r>
              <a:rPr lang="zh-CN" altLang="en-US" sz="2800" b="1">
                <a:effectLst>
                  <a:outerShdw blurRad="38100" dist="38100" dir="2700000" algn="tl">
                    <a:srgbClr val="FFFFFF"/>
                  </a:outerShdw>
                </a:effectLst>
                <a:ea typeface="黑体" panose="02010609060101010101" pitchFamily="49" charset="-122"/>
              </a:rPr>
              <a:t>拓展学习</a:t>
            </a:r>
          </a:p>
        </p:txBody>
      </p:sp>
      <p:sp>
        <p:nvSpPr>
          <p:cNvPr id="647177" name="Rectangle 9">
            <a:extLst>
              <a:ext uri="{FF2B5EF4-FFF2-40B4-BE49-F238E27FC236}">
                <a16:creationId xmlns:a16="http://schemas.microsoft.com/office/drawing/2014/main" id="{4486B3AE-2A7B-48AD-8879-F0E2F9318F0B}"/>
              </a:ext>
            </a:extLst>
          </p:cNvPr>
          <p:cNvSpPr>
            <a:spLocks noChangeArrowheads="1"/>
          </p:cNvSpPr>
          <p:nvPr/>
        </p:nvSpPr>
        <p:spPr bwMode="auto">
          <a:xfrm>
            <a:off x="1403350" y="3284538"/>
            <a:ext cx="6913563" cy="1439862"/>
          </a:xfrm>
          <a:prstGeom prst="rect">
            <a:avLst/>
          </a:prstGeom>
          <a:gradFill rotWithShape="1">
            <a:gsLst>
              <a:gs pos="0">
                <a:srgbClr val="00CCFF"/>
              </a:gs>
              <a:gs pos="50000">
                <a:schemeClr val="bg1"/>
              </a:gs>
              <a:gs pos="100000">
                <a:srgbClr val="00CCFF"/>
              </a:gs>
            </a:gsLst>
            <a:lin ang="2700000" scaled="1"/>
          </a:gradFill>
          <a:ln>
            <a:noFill/>
          </a:ln>
          <a:effectLst>
            <a:outerShdw dist="35921" dir="2700000" algn="ctr" rotWithShape="0">
              <a:schemeClr val="tx1"/>
            </a:outerShdw>
          </a:effectLst>
          <a:extLst>
            <a:ext uri="{91240B29-F687-4F45-9708-019B960494DF}">
              <a14:hiddenLine xmlns:a14="http://schemas.microsoft.com/office/drawing/2010/main" w="12700" cap="sq">
                <a:solidFill>
                  <a:schemeClr val="tx1"/>
                </a:solidFill>
                <a:miter lim="800000"/>
                <a:headEnd type="none" w="sm" len="sm"/>
                <a:tailEnd type="none" w="sm" len="sm"/>
              </a14:hiddenLine>
            </a:ext>
          </a:extLst>
        </p:spPr>
        <p:txBody>
          <a:bodyPr wrap="none" anchor="ctr"/>
          <a:lstStyle/>
          <a:p>
            <a:pPr algn="ctr"/>
            <a:r>
              <a:rPr lang="zh-CN" altLang="en-US" sz="3200" b="1">
                <a:effectLst>
                  <a:outerShdw blurRad="38100" dist="38100" dir="2700000" algn="tl">
                    <a:srgbClr val="FFFFFF"/>
                  </a:outerShdw>
                </a:effectLst>
                <a:ea typeface="幼圆" panose="02010509060101010101" pitchFamily="49" charset="-122"/>
              </a:rPr>
              <a:t>分解成</a:t>
            </a:r>
            <a:r>
              <a:rPr lang="en-US" altLang="zh-CN" sz="3200" b="1">
                <a:effectLst>
                  <a:outerShdw blurRad="38100" dist="38100" dir="2700000" algn="tl">
                    <a:srgbClr val="FFFFFF"/>
                  </a:outerShdw>
                </a:effectLst>
                <a:ea typeface="幼圆" panose="02010509060101010101" pitchFamily="49" charset="-122"/>
              </a:rPr>
              <a:t>BCNF</a:t>
            </a:r>
            <a:r>
              <a:rPr lang="zh-CN" altLang="en-US" sz="3200" b="1">
                <a:effectLst>
                  <a:outerShdw blurRad="38100" dist="38100" dir="2700000" algn="tl">
                    <a:srgbClr val="FFFFFF"/>
                  </a:outerShdw>
                </a:effectLst>
                <a:ea typeface="幼圆" panose="02010509060101010101" pitchFamily="49" charset="-122"/>
              </a:rPr>
              <a:t>模式集的算法</a:t>
            </a:r>
            <a:endParaRPr lang="en-US" altLang="zh-CN" sz="3200" b="1">
              <a:effectLst>
                <a:outerShdw blurRad="38100" dist="38100" dir="2700000" algn="tl">
                  <a:srgbClr val="FFFFFF"/>
                </a:outerShdw>
              </a:effectLst>
              <a:ea typeface="幼圆" panose="020105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8404"/>
    </mc:Choice>
    <mc:Fallback xmlns="">
      <p:transition spd="slow" advTm="8404"/>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nodePh="1">
                                  <p:stCondLst>
                                    <p:cond delay="0"/>
                                  </p:stCondLst>
                                  <p:endCondLst>
                                    <p:cond evt="begin" delay="0">
                                      <p:tn val="5"/>
                                    </p:cond>
                                  </p:endCondLst>
                                  <p:childTnLst>
                                    <p:set>
                                      <p:cBhvr>
                                        <p:cTn id="6" dur="1" fill="hold">
                                          <p:stCondLst>
                                            <p:cond delay="0"/>
                                          </p:stCondLst>
                                        </p:cTn>
                                        <p:tgtEl>
                                          <p:spTgt spid="647175">
                                            <p:txEl>
                                              <p:pRg st="0" end="0"/>
                                            </p:txEl>
                                          </p:spTgt>
                                        </p:tgtEl>
                                        <p:attrNameLst>
                                          <p:attrName>style.visibility</p:attrName>
                                        </p:attrNameLst>
                                      </p:cBhvr>
                                      <p:to>
                                        <p:strVal val="visible"/>
                                      </p:to>
                                    </p:set>
                                    <p:animEffect transition="in" filter="wipe(left)">
                                      <p:cBhvr>
                                        <p:cTn id="7" dur="1000"/>
                                        <p:tgtEl>
                                          <p:spTgt spid="6471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175"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1638" name="Group 134">
            <a:extLst>
              <a:ext uri="{FF2B5EF4-FFF2-40B4-BE49-F238E27FC236}">
                <a16:creationId xmlns:a16="http://schemas.microsoft.com/office/drawing/2014/main" id="{1D772794-A9D0-4B2F-9511-788B25B2DB88}"/>
              </a:ext>
            </a:extLst>
          </p:cNvPr>
          <p:cNvGraphicFramePr>
            <a:graphicFrameLocks noGrp="1"/>
          </p:cNvGraphicFramePr>
          <p:nvPr/>
        </p:nvGraphicFramePr>
        <p:xfrm>
          <a:off x="900113" y="1412875"/>
          <a:ext cx="7488237" cy="4252915"/>
        </p:xfrm>
        <a:graphic>
          <a:graphicData uri="http://schemas.openxmlformats.org/drawingml/2006/table">
            <a:tbl>
              <a:tblPr/>
              <a:tblGrid>
                <a:gridCol w="930275">
                  <a:extLst>
                    <a:ext uri="{9D8B030D-6E8A-4147-A177-3AD203B41FA5}">
                      <a16:colId xmlns:a16="http://schemas.microsoft.com/office/drawing/2014/main" val="1467180477"/>
                    </a:ext>
                  </a:extLst>
                </a:gridCol>
                <a:gridCol w="2525712">
                  <a:extLst>
                    <a:ext uri="{9D8B030D-6E8A-4147-A177-3AD203B41FA5}">
                      <a16:colId xmlns:a16="http://schemas.microsoft.com/office/drawing/2014/main" val="200775364"/>
                    </a:ext>
                  </a:extLst>
                </a:gridCol>
                <a:gridCol w="2447925">
                  <a:extLst>
                    <a:ext uri="{9D8B030D-6E8A-4147-A177-3AD203B41FA5}">
                      <a16:colId xmlns:a16="http://schemas.microsoft.com/office/drawing/2014/main" val="2818909394"/>
                    </a:ext>
                  </a:extLst>
                </a:gridCol>
                <a:gridCol w="1584325">
                  <a:extLst>
                    <a:ext uri="{9D8B030D-6E8A-4147-A177-3AD203B41FA5}">
                      <a16:colId xmlns:a16="http://schemas.microsoft.com/office/drawing/2014/main" val="2060574534"/>
                    </a:ext>
                  </a:extLst>
                </a:gridCol>
              </a:tblGrid>
              <a:tr h="636588">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8000"/>
                          </a:solidFill>
                          <a:effectLst>
                            <a:outerShdw blurRad="38100" dist="38100" dir="2700000" algn="tl">
                              <a:srgbClr val="000000"/>
                            </a:outerShdw>
                          </a:effectLst>
                          <a:latin typeface="宋体" panose="02010600030101010101" pitchFamily="2" charset="-122"/>
                          <a:ea typeface="黑体" panose="02010609060101010101" pitchFamily="49" charset="-122"/>
                          <a:cs typeface="Times New Roman" panose="02020603050405020304" pitchFamily="18" charset="0"/>
                        </a:rPr>
                        <a:t>范式</a:t>
                      </a:r>
                      <a:endParaRPr kumimoji="1" lang="zh-CN" altLang="en-US" sz="2400" b="1" i="0" u="none" strike="noStrike" cap="none" normalizeH="0" baseline="0">
                        <a:ln>
                          <a:noFill/>
                        </a:ln>
                        <a:solidFill>
                          <a:srgbClr val="008000"/>
                        </a:solidFill>
                        <a:effectLst>
                          <a:outerShdw blurRad="38100" dist="38100" dir="2700000" algn="tl">
                            <a:srgbClr val="000000"/>
                          </a:outerShdw>
                        </a:effectLst>
                        <a:latin typeface="Times New Roman" panose="02020603050405020304" pitchFamily="18" charset="0"/>
                        <a:ea typeface="黑体" panose="02010609060101010101" pitchFamily="49" charset="-122"/>
                        <a:cs typeface="Times New Roman" panose="02020603050405020304" pitchFamily="18" charset="0"/>
                      </a:endParaRPr>
                    </a:p>
                  </a:txBody>
                  <a:tcPr marL="90000" marR="90000" marT="46800" marB="46800" anchor="ctr" anchorCtr="1"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CCCCFF"/>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8000"/>
                          </a:solidFill>
                          <a:effectLst>
                            <a:outerShdw blurRad="38100" dist="38100" dir="2700000" algn="tl">
                              <a:srgbClr val="000000"/>
                            </a:outerShdw>
                          </a:effectLst>
                          <a:latin typeface="宋体" panose="02010600030101010101" pitchFamily="2" charset="-122"/>
                          <a:ea typeface="黑体" panose="02010609060101010101" pitchFamily="49" charset="-122"/>
                          <a:cs typeface="Times New Roman" panose="02020603050405020304" pitchFamily="18" charset="0"/>
                        </a:rPr>
                        <a:t>检验条件</a:t>
                      </a:r>
                      <a:endParaRPr kumimoji="1" lang="zh-CN" altLang="en-US" sz="2400" b="1" i="0" u="none" strike="noStrike" cap="none" normalizeH="0" baseline="0">
                        <a:ln>
                          <a:noFill/>
                        </a:ln>
                        <a:solidFill>
                          <a:srgbClr val="008000"/>
                        </a:solidFill>
                        <a:effectLst>
                          <a:outerShdw blurRad="38100" dist="38100" dir="2700000" algn="tl">
                            <a:srgbClr val="000000"/>
                          </a:outerShdw>
                        </a:effectLst>
                        <a:latin typeface="Times New Roman" panose="02020603050405020304" pitchFamily="18" charset="0"/>
                        <a:ea typeface="黑体" panose="02010609060101010101" pitchFamily="49" charset="-122"/>
                        <a:cs typeface="Times New Roman" panose="02020603050405020304" pitchFamily="18" charset="0"/>
                      </a:endParaRPr>
                    </a:p>
                  </a:txBody>
                  <a:tcPr marL="90000" marR="90000" marT="46800" marB="46800" anchor="ctr" anchorCtr="1"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CCCCFF"/>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8000"/>
                          </a:solidFill>
                          <a:effectLst>
                            <a:outerShdw blurRad="38100" dist="38100" dir="2700000" algn="tl">
                              <a:srgbClr val="000000"/>
                            </a:outerShdw>
                          </a:effectLst>
                          <a:latin typeface="宋体" panose="02010600030101010101" pitchFamily="2" charset="-122"/>
                          <a:ea typeface="黑体" panose="02010609060101010101" pitchFamily="49" charset="-122"/>
                          <a:cs typeface="Times New Roman" panose="02020603050405020304" pitchFamily="18" charset="0"/>
                        </a:rPr>
                        <a:t>规范化</a:t>
                      </a:r>
                      <a:endParaRPr kumimoji="1" lang="zh-CN" altLang="en-US" sz="2400" b="1" i="0" u="none" strike="noStrike" cap="none" normalizeH="0" baseline="0">
                        <a:ln>
                          <a:noFill/>
                        </a:ln>
                        <a:solidFill>
                          <a:srgbClr val="008000"/>
                        </a:solidFill>
                        <a:effectLst>
                          <a:outerShdw blurRad="38100" dist="38100" dir="2700000" algn="tl">
                            <a:srgbClr val="000000"/>
                          </a:outerShdw>
                        </a:effectLst>
                        <a:latin typeface="Times New Roman" panose="02020603050405020304" pitchFamily="18" charset="0"/>
                        <a:ea typeface="黑体" panose="02010609060101010101" pitchFamily="49" charset="-122"/>
                        <a:cs typeface="Times New Roman" panose="02020603050405020304" pitchFamily="18" charset="0"/>
                      </a:endParaRPr>
                    </a:p>
                  </a:txBody>
                  <a:tcPr marL="90000" marR="90000" marT="46800" marB="46800" anchor="ctr" anchorCtr="1"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CCCCFF"/>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8000"/>
                          </a:solidFill>
                          <a:effectLst>
                            <a:outerShdw blurRad="38100" dist="38100" dir="2700000" algn="tl">
                              <a:srgbClr val="000000"/>
                            </a:outerShdw>
                          </a:effectLst>
                          <a:latin typeface="Times New Roman" panose="02020603050405020304" pitchFamily="18" charset="0"/>
                          <a:ea typeface="黑体" panose="02010609060101010101" pitchFamily="49" charset="-122"/>
                          <a:cs typeface="Times New Roman" panose="02020603050405020304" pitchFamily="18" charset="0"/>
                        </a:rPr>
                        <a:t>分解特性</a:t>
                      </a:r>
                    </a:p>
                  </a:txBody>
                  <a:tcPr marL="90000" marR="90000" marT="46800" marB="46800" anchor="ctr" anchorCtr="1"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CCCCFF"/>
                    </a:solidFill>
                  </a:tcPr>
                </a:tc>
                <a:extLst>
                  <a:ext uri="{0D108BD9-81ED-4DB2-BD59-A6C34878D82A}">
                    <a16:rowId xmlns:a16="http://schemas.microsoft.com/office/drawing/2014/main" val="1197437570"/>
                  </a:ext>
                </a:extLst>
              </a:tr>
              <a:tr h="865188">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rgbClr val="003399"/>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1NF</a:t>
                      </a:r>
                      <a:endParaRPr kumimoji="1" lang="zh-CN" altLang="en-US" sz="2400" b="1" i="0" u="none" strike="noStrike" cap="none" normalizeH="0" baseline="0">
                        <a:ln>
                          <a:noFill/>
                        </a:ln>
                        <a:solidFill>
                          <a:srgbClr val="003399"/>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endParaRPr>
                    </a:p>
                  </a:txBody>
                  <a:tcPr marL="90000" marR="90000" marT="46800" marB="46800" anchor="ctr" anchorCtr="1"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a:noFill/>
                    </a:lnB>
                    <a:lnTlToBr>
                      <a:noFill/>
                    </a:lnTlToBr>
                    <a:lnBlToTr>
                      <a:noFill/>
                    </a:lnBlToTr>
                    <a:solidFill>
                      <a:srgbClr val="CCCCFF"/>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rPr>
                        <a:t>关系中没有子表</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rPr>
                        <a:t>重复其它属性，增加新记录</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rPr>
                        <a:t>无分解</a:t>
                      </a:r>
                      <a:endParaRPr kumimoji="1" lang="en-US" altLang="zh-CN" sz="2400" b="1" i="0" u="none" strike="noStrike" cap="none" normalizeH="0" baseline="0">
                        <a:ln>
                          <a:noFill/>
                        </a:ln>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3635085019"/>
                  </a:ext>
                </a:extLst>
              </a:tr>
              <a:tr h="947738">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rgbClr val="003399"/>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2NF</a:t>
                      </a:r>
                      <a:endParaRPr kumimoji="1" lang="zh-CN" altLang="en-US" sz="2400" b="1" i="0" u="none" strike="noStrike" cap="none" normalizeH="0" baseline="0">
                        <a:ln>
                          <a:noFill/>
                        </a:ln>
                        <a:solidFill>
                          <a:srgbClr val="003399"/>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endParaRPr>
                    </a:p>
                  </a:txBody>
                  <a:tcPr marL="90000" marR="90000" marT="46800" marB="46800" anchor="ctr" anchorCtr="1"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a:noFill/>
                    </a:lnT>
                    <a:lnB>
                      <a:noFill/>
                    </a:lnB>
                    <a:lnTlToBr>
                      <a:noFill/>
                    </a:lnTlToBr>
                    <a:lnBlToTr>
                      <a:noFill/>
                    </a:lnBlToTr>
                    <a:solidFill>
                      <a:srgbClr val="CCCCFF"/>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rPr>
                        <a:t>非主属性完全</a:t>
                      </a: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rPr>
                        <a:t>FD</a:t>
                      </a:r>
                      <a:r>
                        <a:rPr kumimoji="1" lang="zh-CN" altLang="en-US" sz="2400" b="1" i="0" u="none" strike="noStrike" cap="none" normalizeH="0" baseline="0">
                          <a:ln>
                            <a:noFill/>
                          </a:ln>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rPr>
                        <a:t>于候选键</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rPr>
                        <a:t>为每个部分依赖建立新关系</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rPr>
                        <a:t>无损联接</a:t>
                      </a:r>
                      <a:endParaRPr kumimoji="1" lang="en-US" altLang="zh-CN" sz="2400" b="1" i="0" u="none" strike="noStrike" cap="none" normalizeH="0" baseline="0">
                        <a:ln>
                          <a:noFill/>
                        </a:ln>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886304867"/>
                  </a:ext>
                </a:extLst>
              </a:tr>
              <a:tr h="871538">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rgbClr val="003399"/>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3NF</a:t>
                      </a:r>
                      <a:endParaRPr kumimoji="1" lang="zh-CN" altLang="en-US" sz="2400" b="1" i="0" u="none" strike="noStrike" cap="none" normalizeH="0" baseline="0">
                        <a:ln>
                          <a:noFill/>
                        </a:ln>
                        <a:solidFill>
                          <a:srgbClr val="003399"/>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endParaRPr>
                    </a:p>
                  </a:txBody>
                  <a:tcPr marL="90000" marR="90000" marT="46800" marB="46800" anchor="ctr" anchorCtr="1"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a:noFill/>
                    </a:lnT>
                    <a:lnB>
                      <a:noFill/>
                    </a:lnB>
                    <a:lnTlToBr>
                      <a:noFill/>
                    </a:lnTlToBr>
                    <a:lnBlToTr>
                      <a:noFill/>
                    </a:lnBlToTr>
                    <a:solidFill>
                      <a:srgbClr val="CCCCFF"/>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rPr>
                        <a:t>非主属性不传递依赖于候选键</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CC0000"/>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rPr>
                        <a:t>算法</a:t>
                      </a:r>
                      <a:r>
                        <a:rPr kumimoji="1" lang="en-US" altLang="zh-CN" sz="2400" b="1" i="0" u="none" strike="noStrike" cap="none" normalizeH="0" baseline="0">
                          <a:ln>
                            <a:noFill/>
                          </a:ln>
                          <a:solidFill>
                            <a:srgbClr val="CC0000"/>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rPr>
                        <a:t>6.5</a:t>
                      </a:r>
                      <a:endParaRPr kumimoji="1" lang="zh-CN" altLang="en-US" sz="2400" b="1" i="0" u="none" strike="noStrike" cap="none" normalizeH="0" baseline="0">
                        <a:ln>
                          <a:noFill/>
                        </a:ln>
                        <a:solidFill>
                          <a:srgbClr val="CC0000"/>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CC0000"/>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rPr>
                        <a:t>定理</a:t>
                      </a:r>
                      <a:r>
                        <a:rPr kumimoji="1" lang="en-US" altLang="zh-CN" sz="2400" b="1" i="0" u="none" strike="noStrike" cap="none" normalizeH="0" baseline="0">
                          <a:ln>
                            <a:noFill/>
                          </a:ln>
                          <a:solidFill>
                            <a:srgbClr val="CC0000"/>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rPr>
                        <a:t>6.9</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CC0000"/>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rPr>
                        <a:t>无损联接</a:t>
                      </a:r>
                    </a:p>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CC0000"/>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rPr>
                        <a:t>保持依赖</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231120224"/>
                  </a:ext>
                </a:extLst>
              </a:tr>
              <a:tr h="931863">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rgbClr val="003399"/>
                          </a:solidFill>
                          <a:effectLst>
                            <a:outerShdw blurRad="38100" dist="38100" dir="2700000" algn="tl">
                              <a:srgbClr val="000000"/>
                            </a:outerShdw>
                          </a:effectLst>
                          <a:latin typeface="黑体" panose="02010609060101010101" pitchFamily="49" charset="-122"/>
                          <a:ea typeface="黑体" panose="02010609060101010101" pitchFamily="49" charset="-122"/>
                        </a:rPr>
                        <a:t>BCNF</a:t>
                      </a:r>
                    </a:p>
                  </a:txBody>
                  <a:tcPr marL="90000" marR="90000" marT="46800" marB="46800" anchor="ctr" anchorCtr="1"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a:noFill/>
                    </a:lnT>
                    <a:lnB w="28575" cap="flat" cmpd="sng" algn="ctr">
                      <a:solidFill>
                        <a:schemeClr val="tx1"/>
                      </a:solidFill>
                      <a:prstDash val="solid"/>
                      <a:round/>
                      <a:headEnd type="none" w="sm" len="sm"/>
                      <a:tailEnd type="none" w="sm" len="sm"/>
                    </a:lnB>
                    <a:lnTlToBr>
                      <a:noFill/>
                    </a:lnTlToBr>
                    <a:lnBlToTr>
                      <a:noFill/>
                    </a:lnBlToTr>
                    <a:solidFill>
                      <a:srgbClr val="CCCCFF"/>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rPr>
                        <a:t>每一个</a:t>
                      </a:r>
                      <a:r>
                        <a:rPr kumimoji="1" lang="en-US" altLang="zh-CN" sz="2400" b="1" i="0" u="none" strike="noStrike" cap="none" normalizeH="0" baseline="0">
                          <a:ln>
                            <a:noFill/>
                          </a:ln>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rPr>
                        <a:t>X</a:t>
                      </a:r>
                      <a:r>
                        <a:rPr kumimoji="0" lang="en-US" altLang="zh-CN" sz="2400" b="1" i="0" u="none" strike="noStrike" cap="none" normalizeH="0" baseline="0">
                          <a:ln>
                            <a:noFill/>
                          </a:ln>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→Y</a:t>
                      </a:r>
                      <a:r>
                        <a:rPr kumimoji="0" lang="zh-CN" altLang="en-US" sz="2400" b="1" i="0" u="none" strike="noStrike" cap="none" normalizeH="0" baseline="0">
                          <a:ln>
                            <a:noFill/>
                          </a:ln>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kumimoji="0" lang="en-US" altLang="zh-CN" sz="2400" b="1" i="0" u="none" strike="noStrike" cap="none" normalizeH="0" baseline="0">
                          <a:ln>
                            <a:noFill/>
                          </a:ln>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X</a:t>
                      </a:r>
                      <a:r>
                        <a:rPr kumimoji="0" lang="zh-CN" altLang="en-US" sz="2400" b="1" i="0" u="none" strike="noStrike" cap="none" normalizeH="0" baseline="0">
                          <a:ln>
                            <a:noFill/>
                          </a:ln>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都是候选键</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a:ln>
                          <a:noFill/>
                        </a:ln>
                        <a:solidFill>
                          <a:srgbClr val="CC0000"/>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lvl1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lnSpc>
                          <a:spcPct val="120000"/>
                        </a:lnSpc>
                        <a:spcBef>
                          <a:spcPct val="20000"/>
                        </a:spcBef>
                        <a:buClr>
                          <a:srgbClr val="009900"/>
                        </a:buClr>
                        <a:buSzPct val="70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lnSpc>
                          <a:spcPct val="120000"/>
                        </a:lnSpc>
                        <a:spcBef>
                          <a:spcPct val="20000"/>
                        </a:spcBef>
                        <a:buClr>
                          <a:schemeClr val="tx2"/>
                        </a:buClr>
                        <a:buSzPct val="70000"/>
                        <a:buFont typeface="Wingdings" panose="05000000000000000000" pitchFamily="2" charset="2"/>
                        <a:defRPr sz="2000" b="1">
                          <a:solidFill>
                            <a:schemeClr val="tx1"/>
                          </a:solidFill>
                          <a:latin typeface="Arial" panose="020B0604020202020204" pitchFamily="34" charset="0"/>
                          <a:ea typeface="楷体_GB2312" pitchFamily="49" charset="-122"/>
                        </a:defRPr>
                      </a:lvl3pPr>
                      <a:lvl4pPr>
                        <a:lnSpc>
                          <a:spcPct val="120000"/>
                        </a:lnSpc>
                        <a:spcBef>
                          <a:spcPct val="20000"/>
                        </a:spcBef>
                        <a:defRPr b="1">
                          <a:solidFill>
                            <a:schemeClr val="tx1"/>
                          </a:solidFill>
                          <a:latin typeface="Arial" panose="020B0604020202020204" pitchFamily="34" charset="0"/>
                          <a:ea typeface="楷体_GB2312" pitchFamily="49" charset="-122"/>
                        </a:defRPr>
                      </a:lvl4pPr>
                      <a:lvl5pPr>
                        <a:lnSpc>
                          <a:spcPct val="120000"/>
                        </a:lnSpc>
                        <a:spcBef>
                          <a:spcPct val="20000"/>
                        </a:spcBef>
                        <a:defRPr b="1">
                          <a:solidFill>
                            <a:schemeClr val="tx1"/>
                          </a:solidFill>
                          <a:latin typeface="Arial" panose="020B0604020202020204" pitchFamily="34" charset="0"/>
                          <a:ea typeface="楷体_GB2312" pitchFamily="49" charset="-122"/>
                        </a:defRPr>
                      </a:lvl5pPr>
                      <a:lvl6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6pPr>
                      <a:lvl7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7pPr>
                      <a:lvl8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8pPr>
                      <a:lvl9pPr fontAlgn="base">
                        <a:lnSpc>
                          <a:spcPct val="120000"/>
                        </a:lnSpc>
                        <a:spcBef>
                          <a:spcPct val="20000"/>
                        </a:spcBef>
                        <a:spcAft>
                          <a:spcPct val="0"/>
                        </a:spcAft>
                        <a:defRPr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a:ln>
                          <a:noFill/>
                        </a:ln>
                        <a:solidFill>
                          <a:srgbClr val="CC0000"/>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3256832567"/>
                  </a:ext>
                </a:extLst>
              </a:tr>
            </a:tbl>
          </a:graphicData>
        </a:graphic>
      </p:graphicFrame>
      <p:sp>
        <p:nvSpPr>
          <p:cNvPr id="661584" name="AutoShape 80">
            <a:extLst>
              <a:ext uri="{FF2B5EF4-FFF2-40B4-BE49-F238E27FC236}">
                <a16:creationId xmlns:a16="http://schemas.microsoft.com/office/drawing/2014/main" id="{103A15A3-5609-4D85-BA0E-2C035A85F92E}"/>
              </a:ext>
            </a:extLst>
          </p:cNvPr>
          <p:cNvSpPr>
            <a:spLocks noChangeArrowheads="1"/>
          </p:cNvSpPr>
          <p:nvPr/>
        </p:nvSpPr>
        <p:spPr bwMode="auto">
          <a:xfrm>
            <a:off x="2124075" y="188913"/>
            <a:ext cx="1368425" cy="647700"/>
          </a:xfrm>
          <a:prstGeom prst="horizontalScroll">
            <a:avLst>
              <a:gd name="adj" fmla="val 12500"/>
            </a:avLst>
          </a:prstGeom>
          <a:gradFill rotWithShape="1">
            <a:gsLst>
              <a:gs pos="0">
                <a:srgbClr val="CCFFFF"/>
              </a:gs>
              <a:gs pos="50000">
                <a:srgbClr val="FFFFFF"/>
              </a:gs>
              <a:gs pos="100000">
                <a:srgbClr val="CCFFFF"/>
              </a:gs>
            </a:gsLst>
            <a:lin ang="5400000" scaled="1"/>
          </a:gradFill>
          <a:ln>
            <a:noFill/>
          </a:ln>
          <a:effectLst>
            <a:outerShdw dist="71842"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a:r>
              <a:rPr lang="zh-CN" altLang="en-US" sz="3200" b="1">
                <a:solidFill>
                  <a:srgbClr val="660033"/>
                </a:solidFill>
                <a:effectLst>
                  <a:outerShdw blurRad="38100" dist="38100" dir="2700000" algn="tl">
                    <a:srgbClr val="000000"/>
                  </a:outerShdw>
                </a:effectLst>
                <a:ea typeface="隶书" panose="02010509060101010101" pitchFamily="49" charset="-122"/>
              </a:rPr>
              <a:t>总结</a:t>
            </a:r>
          </a:p>
        </p:txBody>
      </p:sp>
      <p:sp>
        <p:nvSpPr>
          <p:cNvPr id="661587" name="Text Box 83">
            <a:extLst>
              <a:ext uri="{FF2B5EF4-FFF2-40B4-BE49-F238E27FC236}">
                <a16:creationId xmlns:a16="http://schemas.microsoft.com/office/drawing/2014/main" id="{24CECFCE-D186-4C3A-B21A-8106876BC3E1}"/>
              </a:ext>
            </a:extLst>
          </p:cNvPr>
          <p:cNvSpPr txBox="1">
            <a:spLocks noChangeArrowheads="1"/>
          </p:cNvSpPr>
          <p:nvPr/>
        </p:nvSpPr>
        <p:spPr bwMode="auto">
          <a:xfrm rot="5400000">
            <a:off x="1204913" y="2633662"/>
            <a:ext cx="546100" cy="701675"/>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Lst>
        </p:spPr>
        <p:txBody>
          <a:bodyPr wrap="none">
            <a:spAutoFit/>
          </a:bodyPr>
          <a:lstStyle/>
          <a:p>
            <a:r>
              <a:rPr lang="zh-CN" altLang="en-US" sz="4000" b="1">
                <a:solidFill>
                  <a:srgbClr val="FF0000"/>
                </a:solidFill>
                <a:latin typeface="黑体" panose="02010609060101010101" pitchFamily="49" charset="-122"/>
                <a:ea typeface="黑体" panose="02010609060101010101" pitchFamily="49" charset="-122"/>
                <a:sym typeface="Symbol" panose="05050102010706020507" pitchFamily="18" charset="2"/>
              </a:rPr>
              <a:t></a:t>
            </a:r>
          </a:p>
        </p:txBody>
      </p:sp>
      <p:sp>
        <p:nvSpPr>
          <p:cNvPr id="661639" name="Text Box 135">
            <a:extLst>
              <a:ext uri="{FF2B5EF4-FFF2-40B4-BE49-F238E27FC236}">
                <a16:creationId xmlns:a16="http://schemas.microsoft.com/office/drawing/2014/main" id="{6F614DD1-02BA-4A93-9E6E-4769AC70E166}"/>
              </a:ext>
            </a:extLst>
          </p:cNvPr>
          <p:cNvSpPr txBox="1">
            <a:spLocks noChangeArrowheads="1"/>
          </p:cNvSpPr>
          <p:nvPr/>
        </p:nvSpPr>
        <p:spPr bwMode="auto">
          <a:xfrm rot="5400000">
            <a:off x="1209676" y="3549650"/>
            <a:ext cx="546100" cy="701675"/>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Lst>
        </p:spPr>
        <p:txBody>
          <a:bodyPr wrap="none">
            <a:spAutoFit/>
          </a:bodyPr>
          <a:lstStyle/>
          <a:p>
            <a:r>
              <a:rPr lang="zh-CN" altLang="en-US" sz="4000" b="1">
                <a:solidFill>
                  <a:srgbClr val="FF0000"/>
                </a:solidFill>
                <a:latin typeface="黑体" panose="02010609060101010101" pitchFamily="49" charset="-122"/>
                <a:ea typeface="黑体" panose="02010609060101010101" pitchFamily="49" charset="-122"/>
                <a:sym typeface="Symbol" panose="05050102010706020507" pitchFamily="18" charset="2"/>
              </a:rPr>
              <a:t></a:t>
            </a:r>
          </a:p>
        </p:txBody>
      </p:sp>
      <p:sp>
        <p:nvSpPr>
          <p:cNvPr id="661640" name="Text Box 136">
            <a:extLst>
              <a:ext uri="{FF2B5EF4-FFF2-40B4-BE49-F238E27FC236}">
                <a16:creationId xmlns:a16="http://schemas.microsoft.com/office/drawing/2014/main" id="{2A691E1E-36D7-49DF-AEE7-CA2F429AC04B}"/>
              </a:ext>
            </a:extLst>
          </p:cNvPr>
          <p:cNvSpPr txBox="1">
            <a:spLocks noChangeArrowheads="1"/>
          </p:cNvSpPr>
          <p:nvPr/>
        </p:nvSpPr>
        <p:spPr bwMode="auto">
          <a:xfrm rot="5400000">
            <a:off x="1209676" y="4460875"/>
            <a:ext cx="546100" cy="701675"/>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Lst>
        </p:spPr>
        <p:txBody>
          <a:bodyPr wrap="none">
            <a:spAutoFit/>
          </a:bodyPr>
          <a:lstStyle/>
          <a:p>
            <a:r>
              <a:rPr lang="zh-CN" altLang="en-US" sz="4000" b="1">
                <a:solidFill>
                  <a:srgbClr val="FF0000"/>
                </a:solidFill>
                <a:latin typeface="黑体" panose="02010609060101010101" pitchFamily="49" charset="-122"/>
                <a:ea typeface="黑体" panose="02010609060101010101" pitchFamily="49" charset="-122"/>
                <a:sym typeface="Symbol" panose="05050102010706020507" pitchFamily="18" charset="2"/>
              </a:rPr>
              <a:t></a:t>
            </a:r>
          </a:p>
        </p:txBody>
      </p:sp>
    </p:spTree>
  </p:cSld>
  <p:clrMapOvr>
    <a:masterClrMapping/>
  </p:clrMapOvr>
  <mc:AlternateContent xmlns:mc="http://schemas.openxmlformats.org/markup-compatibility/2006" xmlns:p14="http://schemas.microsoft.com/office/powerpoint/2010/main">
    <mc:Choice Requires="p14">
      <p:transition spd="slow" p14:dur="2000" advTm="174586"/>
    </mc:Choice>
    <mc:Fallback xmlns="">
      <p:transition spd="slow" advTm="174586"/>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1" presetClass="entr" presetSubtype="8" fill="hold" nodeType="afterEffect">
                                  <p:stCondLst>
                                    <p:cond delay="0"/>
                                  </p:stCondLst>
                                  <p:childTnLst>
                                    <p:set>
                                      <p:cBhvr>
                                        <p:cTn id="6" dur="1" fill="hold">
                                          <p:stCondLst>
                                            <p:cond delay="0"/>
                                          </p:stCondLst>
                                        </p:cTn>
                                        <p:tgtEl>
                                          <p:spTgt spid="661638"/>
                                        </p:tgtEl>
                                        <p:attrNameLst>
                                          <p:attrName>style.visibility</p:attrName>
                                        </p:attrNameLst>
                                      </p:cBhvr>
                                      <p:to>
                                        <p:strVal val="visible"/>
                                      </p:to>
                                    </p:set>
                                    <p:animEffect transition="in" filter="wheel(8)">
                                      <p:cBhvr>
                                        <p:cTn id="7" dur="1000"/>
                                        <p:tgtEl>
                                          <p:spTgt spid="661638"/>
                                        </p:tgtEl>
                                      </p:cBhvr>
                                    </p:animEffect>
                                  </p:childTnLst>
                                </p:cTn>
                              </p:par>
                            </p:childTnLst>
                          </p:cTn>
                        </p:par>
                        <p:par>
                          <p:cTn id="8" fill="hold" nodeType="afterGroup">
                            <p:stCondLst>
                              <p:cond delay="1000"/>
                            </p:stCondLst>
                            <p:childTnLst>
                              <p:par>
                                <p:cTn id="9" presetID="22" presetClass="entr" presetSubtype="4" fill="hold" grpId="0" nodeType="afterEffect">
                                  <p:stCondLst>
                                    <p:cond delay="0"/>
                                  </p:stCondLst>
                                  <p:childTnLst>
                                    <p:set>
                                      <p:cBhvr>
                                        <p:cTn id="10" dur="1" fill="hold">
                                          <p:stCondLst>
                                            <p:cond delay="0"/>
                                          </p:stCondLst>
                                        </p:cTn>
                                        <p:tgtEl>
                                          <p:spTgt spid="661587"/>
                                        </p:tgtEl>
                                        <p:attrNameLst>
                                          <p:attrName>style.visibility</p:attrName>
                                        </p:attrNameLst>
                                      </p:cBhvr>
                                      <p:to>
                                        <p:strVal val="visible"/>
                                      </p:to>
                                    </p:set>
                                    <p:animEffect transition="in" filter="wipe(down)">
                                      <p:cBhvr>
                                        <p:cTn id="11" dur="500"/>
                                        <p:tgtEl>
                                          <p:spTgt spid="661587"/>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661639"/>
                                        </p:tgtEl>
                                        <p:attrNameLst>
                                          <p:attrName>style.visibility</p:attrName>
                                        </p:attrNameLst>
                                      </p:cBhvr>
                                      <p:to>
                                        <p:strVal val="visible"/>
                                      </p:to>
                                    </p:set>
                                    <p:animEffect transition="in" filter="wipe(down)">
                                      <p:cBhvr>
                                        <p:cTn id="14" dur="500"/>
                                        <p:tgtEl>
                                          <p:spTgt spid="661639"/>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661640"/>
                                        </p:tgtEl>
                                        <p:attrNameLst>
                                          <p:attrName>style.visibility</p:attrName>
                                        </p:attrNameLst>
                                      </p:cBhvr>
                                      <p:to>
                                        <p:strVal val="visible"/>
                                      </p:to>
                                    </p:set>
                                    <p:animEffect transition="in" filter="wipe(down)">
                                      <p:cBhvr>
                                        <p:cTn id="17" dur="500"/>
                                        <p:tgtEl>
                                          <p:spTgt spid="6616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1587" grpId="0"/>
      <p:bldP spid="661639" grpId="0"/>
      <p:bldP spid="661640"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0466" name="Rectangle 18">
            <a:extLst>
              <a:ext uri="{FF2B5EF4-FFF2-40B4-BE49-F238E27FC236}">
                <a16:creationId xmlns:a16="http://schemas.microsoft.com/office/drawing/2014/main" id="{9CA8EC08-1D31-4E54-AD0C-43FB48A45ABA}"/>
              </a:ext>
            </a:extLst>
          </p:cNvPr>
          <p:cNvSpPr>
            <a:spLocks noGrp="1" noChangeArrowheads="1"/>
          </p:cNvSpPr>
          <p:nvPr>
            <p:ph type="title"/>
          </p:nvPr>
        </p:nvSpPr>
        <p:spPr/>
        <p:txBody>
          <a:bodyPr/>
          <a:lstStyle/>
          <a:p>
            <a:r>
              <a:rPr lang="zh-CN" altLang="en-US"/>
              <a:t>六、关系模型的规范化设计过程</a:t>
            </a:r>
          </a:p>
        </p:txBody>
      </p:sp>
      <p:sp>
        <p:nvSpPr>
          <p:cNvPr id="1000468" name="Rectangle 20">
            <a:extLst>
              <a:ext uri="{FF2B5EF4-FFF2-40B4-BE49-F238E27FC236}">
                <a16:creationId xmlns:a16="http://schemas.microsoft.com/office/drawing/2014/main" id="{73EDAA59-8269-4366-BD7A-DE47ECA169B1}"/>
              </a:ext>
            </a:extLst>
          </p:cNvPr>
          <p:cNvSpPr>
            <a:spLocks noGrp="1" noChangeArrowheads="1"/>
          </p:cNvSpPr>
          <p:nvPr>
            <p:ph type="body" idx="1"/>
          </p:nvPr>
        </p:nvSpPr>
        <p:spPr>
          <a:noFill/>
          <a:ln/>
        </p:spPr>
        <p:txBody>
          <a:bodyPr/>
          <a:lstStyle/>
          <a:p>
            <a:pPr algn="just"/>
            <a:r>
              <a:rPr lang="en-US" altLang="zh-CN">
                <a:solidFill>
                  <a:srgbClr val="000000"/>
                </a:solidFill>
                <a:latin typeface="楷体_GB2312" pitchFamily="49" charset="-122"/>
                <a:cs typeface="Times New Roman" panose="02020603050405020304" pitchFamily="18" charset="0"/>
              </a:rPr>
              <a:t>1</a:t>
            </a:r>
            <a:r>
              <a:rPr lang="zh-CN" altLang="en-US">
                <a:solidFill>
                  <a:srgbClr val="000000"/>
                </a:solidFill>
                <a:latin typeface="楷体_GB2312" pitchFamily="49" charset="-122"/>
                <a:cs typeface="Times New Roman" panose="02020603050405020304" pitchFamily="18" charset="0"/>
              </a:rPr>
              <a:t>、规范化的目的</a:t>
            </a:r>
          </a:p>
          <a:p>
            <a:pPr algn="just"/>
            <a:r>
              <a:rPr lang="zh-CN" altLang="en-US">
                <a:solidFill>
                  <a:srgbClr val="000000"/>
                </a:solidFill>
                <a:latin typeface="楷体_GB2312" pitchFamily="49" charset="-122"/>
                <a:cs typeface="Times New Roman" panose="02020603050405020304" pitchFamily="18" charset="0"/>
              </a:rPr>
              <a:t>    通过模式分解使满足低一级范式的关系模式转换为满足高一级范式的关系模式的过程称为关系模式的规范化。 </a:t>
            </a:r>
          </a:p>
          <a:p>
            <a:pPr algn="just"/>
            <a:r>
              <a:rPr lang="zh-CN" altLang="en-US">
                <a:solidFill>
                  <a:srgbClr val="000000"/>
                </a:solidFill>
                <a:latin typeface="楷体_GB2312" pitchFamily="49" charset="-122"/>
                <a:cs typeface="Times New Roman" panose="02020603050405020304" pitchFamily="18" charset="0"/>
              </a:rPr>
              <a:t>    通过规范化，使关系模型达到</a:t>
            </a:r>
            <a:r>
              <a:rPr lang="zh-CN" altLang="en-US">
                <a:solidFill>
                  <a:srgbClr val="006600"/>
                </a:solidFill>
                <a:latin typeface="楷体_GB2312" pitchFamily="49" charset="-122"/>
                <a:cs typeface="Times New Roman" panose="02020603050405020304" pitchFamily="18" charset="0"/>
              </a:rPr>
              <a:t>最小的冗余</a:t>
            </a:r>
            <a:r>
              <a:rPr lang="zh-CN" altLang="en-US">
                <a:solidFill>
                  <a:srgbClr val="000000"/>
                </a:solidFill>
                <a:latin typeface="楷体_GB2312" pitchFamily="49" charset="-122"/>
                <a:cs typeface="Times New Roman" panose="02020603050405020304" pitchFamily="18" charset="0"/>
              </a:rPr>
              <a:t>，具有</a:t>
            </a:r>
            <a:r>
              <a:rPr lang="zh-CN" altLang="en-US">
                <a:solidFill>
                  <a:srgbClr val="006600"/>
                </a:solidFill>
                <a:latin typeface="楷体_GB2312" pitchFamily="49" charset="-122"/>
                <a:cs typeface="Times New Roman" panose="02020603050405020304" pitchFamily="18" charset="0"/>
              </a:rPr>
              <a:t>最少的操作异常</a:t>
            </a:r>
            <a:r>
              <a:rPr lang="zh-CN" altLang="en-US">
                <a:solidFill>
                  <a:srgbClr val="000000"/>
                </a:solidFill>
                <a:latin typeface="楷体_GB2312" pitchFamily="49" charset="-122"/>
                <a:cs typeface="Times New Roman" panose="02020603050405020304" pitchFamily="18" charset="0"/>
              </a:rPr>
              <a:t>。</a:t>
            </a:r>
          </a:p>
        </p:txBody>
      </p:sp>
    </p:spTree>
  </p:cSld>
  <p:clrMapOvr>
    <a:masterClrMapping/>
  </p:clrMapOvr>
  <mc:AlternateContent xmlns:mc="http://schemas.openxmlformats.org/markup-compatibility/2006" xmlns:p14="http://schemas.microsoft.com/office/powerpoint/2010/main">
    <mc:Choice Requires="p14">
      <p:transition spd="slow" p14:dur="2000" advTm="40845"/>
    </mc:Choice>
    <mc:Fallback xmlns="">
      <p:transition spd="slow" advTm="40845"/>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00468">
                                            <p:txEl>
                                              <p:pRg st="0" end="0"/>
                                            </p:txEl>
                                          </p:spTgt>
                                        </p:tgtEl>
                                        <p:attrNameLst>
                                          <p:attrName>style.visibility</p:attrName>
                                        </p:attrNameLst>
                                      </p:cBhvr>
                                      <p:to>
                                        <p:strVal val="visible"/>
                                      </p:to>
                                    </p:set>
                                    <p:animEffect transition="in" filter="wipe(left)">
                                      <p:cBhvr>
                                        <p:cTn id="7" dur="1000"/>
                                        <p:tgtEl>
                                          <p:spTgt spid="1000468">
                                            <p:txEl>
                                              <p:pRg st="0" end="0"/>
                                            </p:txEl>
                                          </p:spTgt>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000468">
                                            <p:txEl>
                                              <p:pRg st="1" end="1"/>
                                            </p:txEl>
                                          </p:spTgt>
                                        </p:tgtEl>
                                        <p:attrNameLst>
                                          <p:attrName>style.visibility</p:attrName>
                                        </p:attrNameLst>
                                      </p:cBhvr>
                                      <p:to>
                                        <p:strVal val="visible"/>
                                      </p:to>
                                    </p:set>
                                    <p:animEffect transition="in" filter="wipe(left)">
                                      <p:cBhvr>
                                        <p:cTn id="11" dur="1000"/>
                                        <p:tgtEl>
                                          <p:spTgt spid="1000468">
                                            <p:txEl>
                                              <p:pRg st="1" end="1"/>
                                            </p:txEl>
                                          </p:spTgt>
                                        </p:tgtEl>
                                      </p:cBhvr>
                                    </p:animEffect>
                                  </p:childTnLst>
                                </p:cTn>
                              </p:par>
                            </p:childTnLst>
                          </p:cTn>
                        </p:par>
                        <p:par>
                          <p:cTn id="12" fill="hold" nodeType="afterGroup">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1000468">
                                            <p:txEl>
                                              <p:pRg st="2" end="2"/>
                                            </p:txEl>
                                          </p:spTgt>
                                        </p:tgtEl>
                                        <p:attrNameLst>
                                          <p:attrName>style.visibility</p:attrName>
                                        </p:attrNameLst>
                                      </p:cBhvr>
                                      <p:to>
                                        <p:strVal val="visible"/>
                                      </p:to>
                                    </p:set>
                                    <p:animEffect transition="in" filter="wipe(left)">
                                      <p:cBhvr>
                                        <p:cTn id="15" dur="1000"/>
                                        <p:tgtEl>
                                          <p:spTgt spid="100046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0468" grpId="0" build="p"/>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4546" name="Rectangle 2">
            <a:extLst>
              <a:ext uri="{FF2B5EF4-FFF2-40B4-BE49-F238E27FC236}">
                <a16:creationId xmlns:a16="http://schemas.microsoft.com/office/drawing/2014/main" id="{AE624A0A-FD0D-436B-8B16-11D1832C8F94}"/>
              </a:ext>
            </a:extLst>
          </p:cNvPr>
          <p:cNvSpPr>
            <a:spLocks noGrp="1" noChangeArrowheads="1"/>
          </p:cNvSpPr>
          <p:nvPr>
            <p:ph type="title"/>
          </p:nvPr>
        </p:nvSpPr>
        <p:spPr/>
        <p:txBody>
          <a:bodyPr/>
          <a:lstStyle/>
          <a:p>
            <a:r>
              <a:rPr lang="zh-CN" altLang="en-US"/>
              <a:t>六、关系模型的规范化设计过程</a:t>
            </a:r>
          </a:p>
        </p:txBody>
      </p:sp>
      <p:sp>
        <p:nvSpPr>
          <p:cNvPr id="1004547" name="Rectangle 3">
            <a:extLst>
              <a:ext uri="{FF2B5EF4-FFF2-40B4-BE49-F238E27FC236}">
                <a16:creationId xmlns:a16="http://schemas.microsoft.com/office/drawing/2014/main" id="{E7DD6D6F-518A-4DDB-B3AB-9F85DCC8013A}"/>
              </a:ext>
            </a:extLst>
          </p:cNvPr>
          <p:cNvSpPr>
            <a:spLocks noGrp="1" noChangeArrowheads="1"/>
          </p:cNvSpPr>
          <p:nvPr>
            <p:ph type="body" idx="1"/>
          </p:nvPr>
        </p:nvSpPr>
        <p:spPr>
          <a:noFill/>
          <a:ln/>
        </p:spPr>
        <p:txBody>
          <a:bodyPr/>
          <a:lstStyle/>
          <a:p>
            <a:pPr algn="just"/>
            <a:r>
              <a:rPr lang="en-US" altLang="zh-CN">
                <a:solidFill>
                  <a:srgbClr val="000000"/>
                </a:solidFill>
                <a:latin typeface="楷体_GB2312" pitchFamily="49" charset="-122"/>
                <a:cs typeface="Times New Roman" panose="02020603050405020304" pitchFamily="18" charset="0"/>
              </a:rPr>
              <a:t>2</a:t>
            </a:r>
            <a:r>
              <a:rPr lang="en-US" altLang="en-US">
                <a:solidFill>
                  <a:srgbClr val="000000"/>
                </a:solidFill>
                <a:latin typeface="楷体_GB2312" pitchFamily="49" charset="-122"/>
                <a:cs typeface="Times New Roman" panose="02020603050405020304" pitchFamily="18" charset="0"/>
              </a:rPr>
              <a:t>、规范化过程</a:t>
            </a:r>
            <a:endParaRPr lang="zh-CN" altLang="en-US">
              <a:solidFill>
                <a:srgbClr val="000000"/>
              </a:solidFill>
              <a:latin typeface="楷体_GB2312" pitchFamily="49" charset="-122"/>
              <a:cs typeface="Times New Roman" panose="02020603050405020304" pitchFamily="18" charset="0"/>
            </a:endParaRPr>
          </a:p>
        </p:txBody>
      </p:sp>
      <p:sp>
        <p:nvSpPr>
          <p:cNvPr id="1004573" name="Rectangle 29">
            <a:extLst>
              <a:ext uri="{FF2B5EF4-FFF2-40B4-BE49-F238E27FC236}">
                <a16:creationId xmlns:a16="http://schemas.microsoft.com/office/drawing/2014/main" id="{46B3F9EE-813E-4DAD-A01F-1BE0851E0456}"/>
              </a:ext>
            </a:extLst>
          </p:cNvPr>
          <p:cNvSpPr>
            <a:spLocks noChangeArrowheads="1"/>
          </p:cNvSpPr>
          <p:nvPr/>
        </p:nvSpPr>
        <p:spPr bwMode="auto">
          <a:xfrm>
            <a:off x="2482850" y="2212975"/>
            <a:ext cx="3598863" cy="719138"/>
          </a:xfrm>
          <a:prstGeom prst="rect">
            <a:avLst/>
          </a:prstGeom>
          <a:solidFill>
            <a:srgbClr val="CCFFFF"/>
          </a:solidFill>
          <a:ln w="25400" cap="sq">
            <a:solidFill>
              <a:srgbClr val="080808"/>
            </a:solidFill>
            <a:miter lim="800000"/>
            <a:headEnd type="none" w="sm" len="sm"/>
            <a:tailEnd type="none" w="sm" len="sm"/>
          </a:ln>
          <a:effectLst>
            <a:outerShdw dist="71842" dir="2700000" algn="ctr" rotWithShape="0">
              <a:schemeClr val="tx1"/>
            </a:outerShdw>
          </a:effectLst>
        </p:spPr>
        <p:txBody>
          <a:bodyPr wrap="none" lIns="0" rIns="0" anchor="ctr" anchorCtr="1"/>
          <a:lstStyle/>
          <a:p>
            <a:pPr algn="ctr"/>
            <a:r>
              <a:rPr lang="en-US" altLang="en-US" sz="2400" b="1">
                <a:solidFill>
                  <a:srgbClr val="080808"/>
                </a:solidFill>
                <a:effectLst>
                  <a:outerShdw blurRad="38100" dist="38100" dir="2700000" algn="tl">
                    <a:srgbClr val="FFFFFF"/>
                  </a:outerShdw>
                </a:effectLst>
                <a:cs typeface="Times New Roman" panose="02020603050405020304" pitchFamily="18" charset="0"/>
              </a:rPr>
              <a:t>分析模式</a:t>
            </a:r>
            <a:r>
              <a:rPr lang="zh-CN" altLang="en-US" sz="2400" b="1">
                <a:solidFill>
                  <a:srgbClr val="080808"/>
                </a:solidFill>
                <a:effectLst>
                  <a:outerShdw blurRad="38100" dist="38100" dir="2700000" algn="tl">
                    <a:srgbClr val="FFFFFF"/>
                  </a:outerShdw>
                </a:effectLst>
                <a:cs typeface="Times New Roman" panose="02020603050405020304" pitchFamily="18" charset="0"/>
              </a:rPr>
              <a:t>（</a:t>
            </a:r>
            <a:r>
              <a:rPr lang="en-US" altLang="zh-CN" sz="2400" b="1">
                <a:solidFill>
                  <a:srgbClr val="003366"/>
                </a:solidFill>
                <a:effectLst>
                  <a:outerShdw blurRad="38100" dist="38100" dir="2700000" algn="tl">
                    <a:srgbClr val="000000"/>
                  </a:outerShdw>
                </a:effectLst>
                <a:cs typeface="Times New Roman" panose="02020603050405020304" pitchFamily="18" charset="0"/>
              </a:rPr>
              <a:t>F</a:t>
            </a:r>
            <a:r>
              <a:rPr lang="zh-CN" altLang="en-US" sz="2400" b="1">
                <a:solidFill>
                  <a:srgbClr val="003366"/>
                </a:solidFill>
                <a:effectLst>
                  <a:outerShdw blurRad="38100" dist="38100" dir="2700000" algn="tl">
                    <a:srgbClr val="000000"/>
                  </a:outerShdw>
                </a:effectLst>
                <a:cs typeface="Times New Roman" panose="02020603050405020304" pitchFamily="18" charset="0"/>
              </a:rPr>
              <a:t>，候选键</a:t>
            </a:r>
            <a:r>
              <a:rPr lang="zh-CN" altLang="en-US" sz="2400" b="1">
                <a:solidFill>
                  <a:srgbClr val="080808"/>
                </a:solidFill>
                <a:effectLst>
                  <a:outerShdw blurRad="38100" dist="38100" dir="2700000" algn="tl">
                    <a:srgbClr val="FFFFFF"/>
                  </a:outerShdw>
                </a:effectLst>
                <a:cs typeface="Times New Roman" panose="02020603050405020304" pitchFamily="18" charset="0"/>
              </a:rPr>
              <a:t>）</a:t>
            </a:r>
          </a:p>
        </p:txBody>
      </p:sp>
      <p:grpSp>
        <p:nvGrpSpPr>
          <p:cNvPr id="1004577" name="Group 33">
            <a:extLst>
              <a:ext uri="{FF2B5EF4-FFF2-40B4-BE49-F238E27FC236}">
                <a16:creationId xmlns:a16="http://schemas.microsoft.com/office/drawing/2014/main" id="{F722B97B-23A5-40B3-AA0D-617B3647C603}"/>
              </a:ext>
            </a:extLst>
          </p:cNvPr>
          <p:cNvGrpSpPr>
            <a:grpSpLocks/>
          </p:cNvGrpSpPr>
          <p:nvPr/>
        </p:nvGrpSpPr>
        <p:grpSpPr bwMode="auto">
          <a:xfrm>
            <a:off x="1617663" y="3925888"/>
            <a:ext cx="2376487" cy="1228725"/>
            <a:chOff x="1111" y="2577"/>
            <a:chExt cx="1497" cy="774"/>
          </a:xfrm>
        </p:grpSpPr>
        <p:grpSp>
          <p:nvGrpSpPr>
            <p:cNvPr id="1004578" name="Group 34">
              <a:extLst>
                <a:ext uri="{FF2B5EF4-FFF2-40B4-BE49-F238E27FC236}">
                  <a16:creationId xmlns:a16="http://schemas.microsoft.com/office/drawing/2014/main" id="{3732DD66-D4A1-4ABD-A020-3463AA74DEC3}"/>
                </a:ext>
              </a:extLst>
            </p:cNvPr>
            <p:cNvGrpSpPr>
              <a:grpSpLocks/>
            </p:cNvGrpSpPr>
            <p:nvPr/>
          </p:nvGrpSpPr>
          <p:grpSpPr bwMode="auto">
            <a:xfrm>
              <a:off x="1111" y="2632"/>
              <a:ext cx="1497" cy="719"/>
              <a:chOff x="1111" y="2632"/>
              <a:chExt cx="1497" cy="719"/>
            </a:xfrm>
          </p:grpSpPr>
          <p:sp>
            <p:nvSpPr>
              <p:cNvPr id="1004579" name="Rectangle 35">
                <a:extLst>
                  <a:ext uri="{FF2B5EF4-FFF2-40B4-BE49-F238E27FC236}">
                    <a16:creationId xmlns:a16="http://schemas.microsoft.com/office/drawing/2014/main" id="{D98D8E6B-BF34-4EE7-A940-C5EEE9E8865F}"/>
                  </a:ext>
                </a:extLst>
              </p:cNvPr>
              <p:cNvSpPr>
                <a:spLocks noChangeArrowheads="1"/>
              </p:cNvSpPr>
              <p:nvPr/>
            </p:nvSpPr>
            <p:spPr bwMode="auto">
              <a:xfrm>
                <a:off x="1111" y="2898"/>
                <a:ext cx="1497" cy="453"/>
              </a:xfrm>
              <a:prstGeom prst="rect">
                <a:avLst/>
              </a:prstGeom>
              <a:solidFill>
                <a:srgbClr val="CCFFFF"/>
              </a:solidFill>
              <a:ln w="25400" cap="sq">
                <a:solidFill>
                  <a:srgbClr val="080808"/>
                </a:solidFill>
                <a:miter lim="800000"/>
                <a:headEnd type="none" w="sm" len="sm"/>
                <a:tailEnd type="none" w="sm" len="sm"/>
              </a:ln>
              <a:effectLst>
                <a:outerShdw dist="71842" dir="2700000" algn="ctr" rotWithShape="0">
                  <a:schemeClr val="tx1"/>
                </a:outerShdw>
              </a:effectLst>
            </p:spPr>
            <p:txBody>
              <a:bodyPr wrap="none" lIns="0" rIns="0" anchor="ctr" anchorCtr="1"/>
              <a:lstStyle/>
              <a:p>
                <a:pPr algn="ctr"/>
                <a:r>
                  <a:rPr lang="zh-CN" altLang="en-US" sz="2400" b="1">
                    <a:solidFill>
                      <a:srgbClr val="080808"/>
                    </a:solidFill>
                    <a:effectLst>
                      <a:outerShdw blurRad="38100" dist="38100" dir="2700000" algn="tl">
                        <a:srgbClr val="FFFFFF"/>
                      </a:outerShdw>
                    </a:effectLst>
                    <a:cs typeface="Times New Roman" panose="02020603050405020304" pitchFamily="18" charset="0"/>
                  </a:rPr>
                  <a:t>结束</a:t>
                </a:r>
              </a:p>
            </p:txBody>
          </p:sp>
          <p:sp>
            <p:nvSpPr>
              <p:cNvPr id="1004580" name="AutoShape 36">
                <a:extLst>
                  <a:ext uri="{FF2B5EF4-FFF2-40B4-BE49-F238E27FC236}">
                    <a16:creationId xmlns:a16="http://schemas.microsoft.com/office/drawing/2014/main" id="{FC546692-9E3B-4C38-B843-79F510293610}"/>
                  </a:ext>
                </a:extLst>
              </p:cNvPr>
              <p:cNvSpPr>
                <a:spLocks noChangeArrowheads="1"/>
              </p:cNvSpPr>
              <p:nvPr/>
            </p:nvSpPr>
            <p:spPr bwMode="auto">
              <a:xfrm>
                <a:off x="1810" y="2632"/>
                <a:ext cx="136" cy="256"/>
              </a:xfrm>
              <a:prstGeom prst="downArrow">
                <a:avLst>
                  <a:gd name="adj1" fmla="val 50000"/>
                  <a:gd name="adj2" fmla="val 47059"/>
                </a:avLst>
              </a:prstGeom>
              <a:solidFill>
                <a:srgbClr val="00FF00"/>
              </a:solidFill>
              <a:ln w="12700" cap="sq">
                <a:solidFill>
                  <a:srgbClr val="080808"/>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grpSp>
        <p:sp>
          <p:nvSpPr>
            <p:cNvPr id="1004581" name="Text Box 37">
              <a:extLst>
                <a:ext uri="{FF2B5EF4-FFF2-40B4-BE49-F238E27FC236}">
                  <a16:creationId xmlns:a16="http://schemas.microsoft.com/office/drawing/2014/main" id="{9C4B7485-8FC8-47C9-AC93-F3815AED33F0}"/>
                </a:ext>
              </a:extLst>
            </p:cNvPr>
            <p:cNvSpPr txBox="1">
              <a:spLocks noChangeArrowheads="1"/>
            </p:cNvSpPr>
            <p:nvPr/>
          </p:nvSpPr>
          <p:spPr bwMode="auto">
            <a:xfrm>
              <a:off x="1519" y="2577"/>
              <a:ext cx="240" cy="32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cap="sq">
                  <a:solidFill>
                    <a:srgbClr val="080808"/>
                  </a:solidFill>
                  <a:miter lim="800000"/>
                  <a:headEnd type="none" w="sm" len="sm"/>
                  <a:tailEnd type="none" w="sm" len="sm"/>
                </a14:hiddenLine>
              </a:ext>
            </a:extLst>
          </p:spPr>
          <p:txBody>
            <a:bodyPr wrap="none" lIns="0" rIns="0" anchor="ctr" anchorCtr="1"/>
            <a:lstStyle/>
            <a:p>
              <a:r>
                <a:rPr lang="en-US" altLang="zh-CN" sz="2800" b="1">
                  <a:solidFill>
                    <a:srgbClr val="080808"/>
                  </a:solidFill>
                </a:rPr>
                <a:t>Y</a:t>
              </a:r>
            </a:p>
          </p:txBody>
        </p:sp>
      </p:grpSp>
      <p:grpSp>
        <p:nvGrpSpPr>
          <p:cNvPr id="1004586" name="Group 42">
            <a:extLst>
              <a:ext uri="{FF2B5EF4-FFF2-40B4-BE49-F238E27FC236}">
                <a16:creationId xmlns:a16="http://schemas.microsoft.com/office/drawing/2014/main" id="{CB950DF3-8E62-4986-9326-6DA1CF5BBDEC}"/>
              </a:ext>
            </a:extLst>
          </p:cNvPr>
          <p:cNvGrpSpPr>
            <a:grpSpLocks/>
          </p:cNvGrpSpPr>
          <p:nvPr/>
        </p:nvGrpSpPr>
        <p:grpSpPr bwMode="auto">
          <a:xfrm>
            <a:off x="4572000" y="5251450"/>
            <a:ext cx="3240088" cy="1130300"/>
            <a:chOff x="2699" y="3412"/>
            <a:chExt cx="2041" cy="712"/>
          </a:xfrm>
        </p:grpSpPr>
        <p:sp>
          <p:nvSpPr>
            <p:cNvPr id="1004587" name="AutoShape 43">
              <a:extLst>
                <a:ext uri="{FF2B5EF4-FFF2-40B4-BE49-F238E27FC236}">
                  <a16:creationId xmlns:a16="http://schemas.microsoft.com/office/drawing/2014/main" id="{7B326669-8710-455C-8767-1523F09403FA}"/>
                </a:ext>
              </a:extLst>
            </p:cNvPr>
            <p:cNvSpPr>
              <a:spLocks noChangeArrowheads="1"/>
            </p:cNvSpPr>
            <p:nvPr/>
          </p:nvSpPr>
          <p:spPr bwMode="auto">
            <a:xfrm>
              <a:off x="3651" y="3412"/>
              <a:ext cx="136" cy="250"/>
            </a:xfrm>
            <a:prstGeom prst="downArrow">
              <a:avLst>
                <a:gd name="adj1" fmla="val 50000"/>
                <a:gd name="adj2" fmla="val 45956"/>
              </a:avLst>
            </a:prstGeom>
            <a:solidFill>
              <a:srgbClr val="00FF00"/>
            </a:solidFill>
            <a:ln w="12700" cap="sq">
              <a:solidFill>
                <a:srgbClr val="080808"/>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1004588" name="Rectangle 44">
              <a:extLst>
                <a:ext uri="{FF2B5EF4-FFF2-40B4-BE49-F238E27FC236}">
                  <a16:creationId xmlns:a16="http://schemas.microsoft.com/office/drawing/2014/main" id="{D915A6D9-7A53-4989-A0CF-2540CEF0EE4B}"/>
                </a:ext>
              </a:extLst>
            </p:cNvPr>
            <p:cNvSpPr>
              <a:spLocks noChangeArrowheads="1"/>
            </p:cNvSpPr>
            <p:nvPr/>
          </p:nvSpPr>
          <p:spPr bwMode="auto">
            <a:xfrm>
              <a:off x="2699" y="3671"/>
              <a:ext cx="2041" cy="453"/>
            </a:xfrm>
            <a:prstGeom prst="rect">
              <a:avLst/>
            </a:prstGeom>
            <a:solidFill>
              <a:srgbClr val="000080"/>
            </a:solidFill>
            <a:ln w="25400" cap="sq">
              <a:solidFill>
                <a:srgbClr val="080808"/>
              </a:solidFill>
              <a:miter lim="800000"/>
              <a:headEnd type="none" w="sm" len="sm"/>
              <a:tailEnd type="none" w="sm" len="sm"/>
            </a:ln>
            <a:effectLst>
              <a:outerShdw dist="71842" dir="2700000" algn="ctr" rotWithShape="0">
                <a:schemeClr val="tx1"/>
              </a:outerShdw>
            </a:effectLst>
          </p:spPr>
          <p:txBody>
            <a:bodyPr wrap="none" lIns="0" rIns="0" anchor="ctr" anchorCtr="1"/>
            <a:lstStyle/>
            <a:p>
              <a:pPr algn="ctr"/>
              <a:r>
                <a:rPr lang="zh-CN" altLang="en-US" sz="2400" b="1">
                  <a:solidFill>
                    <a:srgbClr val="FFFF00"/>
                  </a:solidFill>
                  <a:effectLst>
                    <a:outerShdw blurRad="38100" dist="38100" dir="2700000" algn="tl">
                      <a:srgbClr val="000000"/>
                    </a:outerShdw>
                  </a:effectLst>
                  <a:cs typeface="Times New Roman" panose="02020603050405020304" pitchFamily="18" charset="0"/>
                </a:rPr>
                <a:t>符合某范式的模式集</a:t>
              </a:r>
              <a:endParaRPr lang="en-US" altLang="zh-CN" sz="2400" b="1" baseline="-30000">
                <a:solidFill>
                  <a:srgbClr val="FFFF00"/>
                </a:solidFill>
                <a:effectLst>
                  <a:outerShdw blurRad="38100" dist="38100" dir="2700000" algn="tl">
                    <a:srgbClr val="000000"/>
                  </a:outerShdw>
                </a:effectLst>
                <a:cs typeface="Times New Roman" panose="02020603050405020304" pitchFamily="18" charset="0"/>
              </a:endParaRPr>
            </a:p>
          </p:txBody>
        </p:sp>
      </p:grpSp>
      <p:sp>
        <p:nvSpPr>
          <p:cNvPr id="1004590" name="Rectangle 46">
            <a:extLst>
              <a:ext uri="{FF2B5EF4-FFF2-40B4-BE49-F238E27FC236}">
                <a16:creationId xmlns:a16="http://schemas.microsoft.com/office/drawing/2014/main" id="{80740741-F905-4366-8F6B-FFC3C161F77C}"/>
              </a:ext>
            </a:extLst>
          </p:cNvPr>
          <p:cNvSpPr>
            <a:spLocks noChangeArrowheads="1"/>
          </p:cNvSpPr>
          <p:nvPr/>
        </p:nvSpPr>
        <p:spPr bwMode="auto">
          <a:xfrm>
            <a:off x="1403350" y="3225800"/>
            <a:ext cx="6624638" cy="720725"/>
          </a:xfrm>
          <a:prstGeom prst="rect">
            <a:avLst/>
          </a:prstGeom>
          <a:solidFill>
            <a:srgbClr val="008080"/>
          </a:solidFill>
          <a:ln>
            <a:noFill/>
          </a:ln>
          <a:effectLst>
            <a:outerShdw dist="71842" dir="2700000" algn="ctr" rotWithShape="0">
              <a:schemeClr val="tx1"/>
            </a:outerShdw>
          </a:effectLst>
          <a:extLst>
            <a:ext uri="{91240B29-F687-4F45-9708-019B960494DF}">
              <a14:hiddenLine xmlns:a14="http://schemas.microsoft.com/office/drawing/2010/main" w="25400" cap="sq">
                <a:solidFill>
                  <a:schemeClr val="tx1"/>
                </a:solidFill>
                <a:miter lim="800000"/>
                <a:headEnd type="none" w="sm" len="sm"/>
                <a:tailEnd type="none" w="sm" len="sm"/>
              </a14:hiddenLine>
            </a:ext>
          </a:extLst>
        </p:spPr>
        <p:txBody>
          <a:bodyPr lIns="0" rIns="0" anchor="ctr" anchorCtr="1"/>
          <a:lstStyle/>
          <a:p>
            <a:pPr algn="ctr"/>
            <a:r>
              <a:rPr lang="zh-CN" altLang="en-US" sz="2400" b="1">
                <a:solidFill>
                  <a:schemeClr val="bg1"/>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确定各关系模式的函数依赖集和候选键 </a:t>
            </a:r>
          </a:p>
        </p:txBody>
      </p:sp>
      <p:grpSp>
        <p:nvGrpSpPr>
          <p:cNvPr id="1004591" name="Group 47">
            <a:extLst>
              <a:ext uri="{FF2B5EF4-FFF2-40B4-BE49-F238E27FC236}">
                <a16:creationId xmlns:a16="http://schemas.microsoft.com/office/drawing/2014/main" id="{16D7F630-2FE4-4ABE-8181-487976FFF338}"/>
              </a:ext>
            </a:extLst>
          </p:cNvPr>
          <p:cNvGrpSpPr>
            <a:grpSpLocks/>
          </p:cNvGrpSpPr>
          <p:nvPr/>
        </p:nvGrpSpPr>
        <p:grpSpPr bwMode="auto">
          <a:xfrm>
            <a:off x="1403350" y="4017963"/>
            <a:ext cx="6624638" cy="990600"/>
            <a:chOff x="703" y="1434"/>
            <a:chExt cx="4173" cy="624"/>
          </a:xfrm>
        </p:grpSpPr>
        <p:sp>
          <p:nvSpPr>
            <p:cNvPr id="1004592" name="AutoShape 48">
              <a:extLst>
                <a:ext uri="{FF2B5EF4-FFF2-40B4-BE49-F238E27FC236}">
                  <a16:creationId xmlns:a16="http://schemas.microsoft.com/office/drawing/2014/main" id="{A3BE3ADC-093B-4FC3-AF72-C2DE20955B18}"/>
                </a:ext>
              </a:extLst>
            </p:cNvPr>
            <p:cNvSpPr>
              <a:spLocks noChangeArrowheads="1"/>
            </p:cNvSpPr>
            <p:nvPr/>
          </p:nvSpPr>
          <p:spPr bwMode="auto">
            <a:xfrm>
              <a:off x="2699" y="1434"/>
              <a:ext cx="136" cy="159"/>
            </a:xfrm>
            <a:prstGeom prst="downArrow">
              <a:avLst>
                <a:gd name="adj1" fmla="val 50000"/>
                <a:gd name="adj2" fmla="val 29228"/>
              </a:avLst>
            </a:prstGeom>
            <a:solidFill>
              <a:srgbClr val="00FF00"/>
            </a:soli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1004593" name="Rectangle 49">
              <a:extLst>
                <a:ext uri="{FF2B5EF4-FFF2-40B4-BE49-F238E27FC236}">
                  <a16:creationId xmlns:a16="http://schemas.microsoft.com/office/drawing/2014/main" id="{A8CC713E-799D-4A88-817F-20CFFC98B557}"/>
                </a:ext>
              </a:extLst>
            </p:cNvPr>
            <p:cNvSpPr>
              <a:spLocks noChangeArrowheads="1"/>
            </p:cNvSpPr>
            <p:nvPr/>
          </p:nvSpPr>
          <p:spPr bwMode="auto">
            <a:xfrm>
              <a:off x="703" y="1604"/>
              <a:ext cx="4173" cy="454"/>
            </a:xfrm>
            <a:prstGeom prst="rect">
              <a:avLst/>
            </a:prstGeom>
            <a:solidFill>
              <a:srgbClr val="008080"/>
            </a:solidFill>
            <a:ln>
              <a:noFill/>
            </a:ln>
            <a:effectLst>
              <a:outerShdw dist="71842" dir="2700000" algn="ctr" rotWithShape="0">
                <a:schemeClr val="tx1"/>
              </a:outerShdw>
            </a:effectLst>
            <a:extLst>
              <a:ext uri="{91240B29-F687-4F45-9708-019B960494DF}">
                <a14:hiddenLine xmlns:a14="http://schemas.microsoft.com/office/drawing/2010/main" w="25400" cap="sq">
                  <a:solidFill>
                    <a:schemeClr val="tx1"/>
                  </a:solidFill>
                  <a:miter lim="800000"/>
                  <a:headEnd type="none" w="sm" len="sm"/>
                  <a:tailEnd type="none" w="sm" len="sm"/>
                </a14:hiddenLine>
              </a:ext>
            </a:extLst>
          </p:spPr>
          <p:txBody>
            <a:bodyPr lIns="0" rIns="0" anchor="ctr" anchorCtr="1"/>
            <a:lstStyle/>
            <a:p>
              <a:pPr algn="ctr"/>
              <a:r>
                <a:rPr lang="zh-CN" altLang="en-US" sz="2400" b="1">
                  <a:solidFill>
                    <a:schemeClr val="bg1"/>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求各关系模式的最小函数依赖集</a:t>
              </a:r>
            </a:p>
          </p:txBody>
        </p:sp>
      </p:grpSp>
      <p:grpSp>
        <p:nvGrpSpPr>
          <p:cNvPr id="1004594" name="Group 50">
            <a:extLst>
              <a:ext uri="{FF2B5EF4-FFF2-40B4-BE49-F238E27FC236}">
                <a16:creationId xmlns:a16="http://schemas.microsoft.com/office/drawing/2014/main" id="{1DD7515B-F17B-465E-9D20-1DA675193518}"/>
              </a:ext>
            </a:extLst>
          </p:cNvPr>
          <p:cNvGrpSpPr>
            <a:grpSpLocks/>
          </p:cNvGrpSpPr>
          <p:nvPr/>
        </p:nvGrpSpPr>
        <p:grpSpPr bwMode="auto">
          <a:xfrm>
            <a:off x="1403350" y="5068888"/>
            <a:ext cx="6624638" cy="1003300"/>
            <a:chOff x="703" y="2096"/>
            <a:chExt cx="4173" cy="632"/>
          </a:xfrm>
        </p:grpSpPr>
        <p:sp>
          <p:nvSpPr>
            <p:cNvPr id="1004595" name="AutoShape 51">
              <a:extLst>
                <a:ext uri="{FF2B5EF4-FFF2-40B4-BE49-F238E27FC236}">
                  <a16:creationId xmlns:a16="http://schemas.microsoft.com/office/drawing/2014/main" id="{4C2C2B81-10AE-45AF-B92B-A32AB4FB1468}"/>
                </a:ext>
              </a:extLst>
            </p:cNvPr>
            <p:cNvSpPr>
              <a:spLocks noChangeArrowheads="1"/>
            </p:cNvSpPr>
            <p:nvPr/>
          </p:nvSpPr>
          <p:spPr bwMode="auto">
            <a:xfrm>
              <a:off x="2699" y="2096"/>
              <a:ext cx="136" cy="159"/>
            </a:xfrm>
            <a:prstGeom prst="downArrow">
              <a:avLst>
                <a:gd name="adj1" fmla="val 50000"/>
                <a:gd name="adj2" fmla="val 29228"/>
              </a:avLst>
            </a:prstGeom>
            <a:solidFill>
              <a:srgbClr val="00FF00"/>
            </a:soli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1004596" name="Rectangle 52">
              <a:extLst>
                <a:ext uri="{FF2B5EF4-FFF2-40B4-BE49-F238E27FC236}">
                  <a16:creationId xmlns:a16="http://schemas.microsoft.com/office/drawing/2014/main" id="{ADC2E511-67F2-4D4E-A6ED-8947945D3878}"/>
                </a:ext>
              </a:extLst>
            </p:cNvPr>
            <p:cNvSpPr>
              <a:spLocks noChangeArrowheads="1"/>
            </p:cNvSpPr>
            <p:nvPr/>
          </p:nvSpPr>
          <p:spPr bwMode="auto">
            <a:xfrm>
              <a:off x="703" y="2274"/>
              <a:ext cx="4173" cy="454"/>
            </a:xfrm>
            <a:prstGeom prst="rect">
              <a:avLst/>
            </a:prstGeom>
            <a:solidFill>
              <a:srgbClr val="008080"/>
            </a:solidFill>
            <a:ln>
              <a:noFill/>
            </a:ln>
            <a:effectLst>
              <a:outerShdw dist="71842" dir="2700000" algn="ctr" rotWithShape="0">
                <a:schemeClr val="tx1"/>
              </a:outerShdw>
            </a:effectLst>
            <a:extLst>
              <a:ext uri="{91240B29-F687-4F45-9708-019B960494DF}">
                <a14:hiddenLine xmlns:a14="http://schemas.microsoft.com/office/drawing/2010/main" w="25400" cap="sq">
                  <a:solidFill>
                    <a:schemeClr val="tx1"/>
                  </a:solidFill>
                  <a:miter lim="800000"/>
                  <a:headEnd type="none" w="sm" len="sm"/>
                  <a:tailEnd type="none" w="sm" len="sm"/>
                </a14:hiddenLine>
              </a:ext>
            </a:extLst>
          </p:spPr>
          <p:txBody>
            <a:bodyPr lIns="0" rIns="0" anchor="ctr" anchorCtr="1"/>
            <a:lstStyle/>
            <a:p>
              <a:pPr algn="ctr"/>
              <a:r>
                <a:rPr lang="zh-CN" altLang="en-US" sz="2400" b="1">
                  <a:solidFill>
                    <a:schemeClr val="bg1"/>
                  </a:solidFill>
                  <a:effectLst>
                    <a:outerShdw blurRad="38100" dist="38100" dir="2700000" algn="tl">
                      <a:srgbClr val="000000"/>
                    </a:outerShdw>
                  </a:effectLst>
                  <a:latin typeface="黑体" panose="02010609060101010101" pitchFamily="49" charset="-122"/>
                  <a:ea typeface="黑体" panose="02010609060101010101" pitchFamily="49" charset="-122"/>
                  <a:cs typeface="Times New Roman" panose="02020603050405020304" pitchFamily="18" charset="0"/>
                </a:rPr>
                <a:t>合并左部决定因素相同的函数依赖</a:t>
              </a:r>
            </a:p>
          </p:txBody>
        </p:sp>
      </p:grpSp>
      <p:sp>
        <p:nvSpPr>
          <p:cNvPr id="1004597" name="AutoShape 53">
            <a:extLst>
              <a:ext uri="{FF2B5EF4-FFF2-40B4-BE49-F238E27FC236}">
                <a16:creationId xmlns:a16="http://schemas.microsoft.com/office/drawing/2014/main" id="{BEBD0894-CF4A-4246-9070-B35FF1A2D41F}"/>
              </a:ext>
            </a:extLst>
          </p:cNvPr>
          <p:cNvSpPr>
            <a:spLocks noChangeArrowheads="1"/>
          </p:cNvSpPr>
          <p:nvPr/>
        </p:nvSpPr>
        <p:spPr bwMode="auto">
          <a:xfrm rot="5400000">
            <a:off x="7810500" y="3983038"/>
            <a:ext cx="793750" cy="647700"/>
          </a:xfrm>
          <a:prstGeom prst="lightningBolt">
            <a:avLst/>
          </a:prstGeom>
          <a:solidFill>
            <a:srgbClr val="FF0000"/>
          </a:solidFill>
          <a:ln w="12700" cap="sq">
            <a:solidFill>
              <a:schemeClr val="tx1"/>
            </a:solidFill>
            <a:miter lim="800000"/>
            <a:headEnd type="none" w="sm" len="sm"/>
            <a:tailEnd type="none" w="sm" len="sm"/>
          </a:ln>
          <a:effectLst>
            <a:outerShdw dist="53882" dir="2700000" algn="ctr" rotWithShape="0">
              <a:schemeClr val="tx1"/>
            </a:outerShdw>
          </a:effectLst>
        </p:spPr>
        <p:txBody>
          <a:bodyPr wrap="none" anchor="ctr"/>
          <a:lstStyle/>
          <a:p>
            <a:endParaRPr lang="zh-CN" altLang="en-US"/>
          </a:p>
        </p:txBody>
      </p:sp>
      <p:sp>
        <p:nvSpPr>
          <p:cNvPr id="1004598" name="AutoShape 54">
            <a:extLst>
              <a:ext uri="{FF2B5EF4-FFF2-40B4-BE49-F238E27FC236}">
                <a16:creationId xmlns:a16="http://schemas.microsoft.com/office/drawing/2014/main" id="{0BB98423-59C5-4ABC-91C9-526651AEF82E}"/>
              </a:ext>
            </a:extLst>
          </p:cNvPr>
          <p:cNvSpPr>
            <a:spLocks noChangeArrowheads="1"/>
          </p:cNvSpPr>
          <p:nvPr/>
        </p:nvSpPr>
        <p:spPr bwMode="auto">
          <a:xfrm rot="5400000">
            <a:off x="6083300" y="2041525"/>
            <a:ext cx="793750" cy="647700"/>
          </a:xfrm>
          <a:prstGeom prst="lightningBolt">
            <a:avLst/>
          </a:prstGeom>
          <a:solidFill>
            <a:srgbClr val="FF0000"/>
          </a:solidFill>
          <a:ln w="12700" cap="sq">
            <a:solidFill>
              <a:schemeClr val="tx1"/>
            </a:solidFill>
            <a:miter lim="800000"/>
            <a:headEnd type="none" w="sm" len="sm"/>
            <a:tailEnd type="none" w="sm" len="sm"/>
          </a:ln>
          <a:effectLst>
            <a:outerShdw dist="53882" dir="2700000" algn="ctr" rotWithShape="0">
              <a:schemeClr val="tx1"/>
            </a:outerShdw>
          </a:effectLst>
        </p:spPr>
        <p:txBody>
          <a:bodyPr wrap="none" anchor="ctr"/>
          <a:lstStyle/>
          <a:p>
            <a:endParaRPr lang="zh-CN" altLang="en-US"/>
          </a:p>
        </p:txBody>
      </p:sp>
      <p:grpSp>
        <p:nvGrpSpPr>
          <p:cNvPr id="1004589" name="Group 45">
            <a:extLst>
              <a:ext uri="{FF2B5EF4-FFF2-40B4-BE49-F238E27FC236}">
                <a16:creationId xmlns:a16="http://schemas.microsoft.com/office/drawing/2014/main" id="{78AAE6CF-1F0E-46E4-9099-B15D61513DE1}"/>
              </a:ext>
            </a:extLst>
          </p:cNvPr>
          <p:cNvGrpSpPr>
            <a:grpSpLocks/>
          </p:cNvGrpSpPr>
          <p:nvPr/>
        </p:nvGrpSpPr>
        <p:grpSpPr bwMode="auto">
          <a:xfrm>
            <a:off x="4354513" y="3940175"/>
            <a:ext cx="3600450" cy="1230313"/>
            <a:chOff x="2789" y="2586"/>
            <a:chExt cx="2268" cy="775"/>
          </a:xfrm>
        </p:grpSpPr>
        <p:sp>
          <p:nvSpPr>
            <p:cNvPr id="1004583" name="AutoShape 39">
              <a:extLst>
                <a:ext uri="{FF2B5EF4-FFF2-40B4-BE49-F238E27FC236}">
                  <a16:creationId xmlns:a16="http://schemas.microsoft.com/office/drawing/2014/main" id="{990782E9-E20F-4DC7-82BB-220FA8CE3B06}"/>
                </a:ext>
              </a:extLst>
            </p:cNvPr>
            <p:cNvSpPr>
              <a:spLocks noChangeArrowheads="1"/>
            </p:cNvSpPr>
            <p:nvPr/>
          </p:nvSpPr>
          <p:spPr bwMode="auto">
            <a:xfrm>
              <a:off x="3524" y="2632"/>
              <a:ext cx="136" cy="250"/>
            </a:xfrm>
            <a:prstGeom prst="downArrow">
              <a:avLst>
                <a:gd name="adj1" fmla="val 50000"/>
                <a:gd name="adj2" fmla="val 45956"/>
              </a:avLst>
            </a:prstGeom>
            <a:solidFill>
              <a:srgbClr val="00FF00"/>
            </a:solidFill>
            <a:ln w="12700" cap="sq">
              <a:solidFill>
                <a:srgbClr val="080808"/>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1004584" name="Rectangle 40">
              <a:extLst>
                <a:ext uri="{FF2B5EF4-FFF2-40B4-BE49-F238E27FC236}">
                  <a16:creationId xmlns:a16="http://schemas.microsoft.com/office/drawing/2014/main" id="{B21DC45B-6FE7-4434-8E30-EAA06B353C79}"/>
                </a:ext>
              </a:extLst>
            </p:cNvPr>
            <p:cNvSpPr>
              <a:spLocks noChangeArrowheads="1"/>
            </p:cNvSpPr>
            <p:nvPr/>
          </p:nvSpPr>
          <p:spPr bwMode="auto">
            <a:xfrm>
              <a:off x="2789" y="2908"/>
              <a:ext cx="2268" cy="453"/>
            </a:xfrm>
            <a:prstGeom prst="rect">
              <a:avLst/>
            </a:prstGeom>
            <a:solidFill>
              <a:srgbClr val="CCFFFF"/>
            </a:solidFill>
            <a:ln w="25400" cap="sq">
              <a:solidFill>
                <a:srgbClr val="080808"/>
              </a:solidFill>
              <a:miter lim="800000"/>
              <a:headEnd type="none" w="sm" len="sm"/>
              <a:tailEnd type="none" w="sm" len="sm"/>
            </a:ln>
            <a:effectLst>
              <a:outerShdw dist="71842" dir="2700000" algn="ctr" rotWithShape="0">
                <a:schemeClr val="tx1"/>
              </a:outerShdw>
            </a:effectLst>
          </p:spPr>
          <p:txBody>
            <a:bodyPr wrap="none" lIns="0" rIns="0" anchor="ctr" anchorCtr="1"/>
            <a:lstStyle/>
            <a:p>
              <a:pPr algn="ctr"/>
              <a:r>
                <a:rPr lang="zh-CN" altLang="en-US" sz="2400" b="1">
                  <a:solidFill>
                    <a:srgbClr val="CC3300"/>
                  </a:solidFill>
                  <a:effectLst>
                    <a:outerShdw blurRad="38100" dist="38100" dir="2700000" algn="tl">
                      <a:srgbClr val="000000"/>
                    </a:outerShdw>
                  </a:effectLst>
                  <a:cs typeface="Times New Roman" panose="02020603050405020304" pitchFamily="18" charset="0"/>
                </a:rPr>
                <a:t>规范化算法</a:t>
              </a:r>
              <a:r>
                <a:rPr lang="en-US" altLang="zh-CN" sz="2400" b="1">
                  <a:solidFill>
                    <a:srgbClr val="CC3300"/>
                  </a:solidFill>
                  <a:effectLst>
                    <a:outerShdw blurRad="38100" dist="38100" dir="2700000" algn="tl">
                      <a:srgbClr val="000000"/>
                    </a:outerShdw>
                  </a:effectLst>
                  <a:cs typeface="Times New Roman" panose="02020603050405020304" pitchFamily="18" charset="0"/>
                </a:rPr>
                <a:t>(3NF,BCNF)</a:t>
              </a:r>
              <a:endParaRPr lang="en-US" altLang="zh-CN" sz="2400" b="1" baseline="-30000">
                <a:solidFill>
                  <a:srgbClr val="CC3300"/>
                </a:solidFill>
                <a:effectLst>
                  <a:outerShdw blurRad="38100" dist="38100" dir="2700000" algn="tl">
                    <a:srgbClr val="000000"/>
                  </a:outerShdw>
                </a:effectLst>
                <a:cs typeface="Times New Roman" panose="02020603050405020304" pitchFamily="18" charset="0"/>
              </a:endParaRPr>
            </a:p>
          </p:txBody>
        </p:sp>
        <p:sp>
          <p:nvSpPr>
            <p:cNvPr id="1004585" name="Text Box 41">
              <a:extLst>
                <a:ext uri="{FF2B5EF4-FFF2-40B4-BE49-F238E27FC236}">
                  <a16:creationId xmlns:a16="http://schemas.microsoft.com/office/drawing/2014/main" id="{A9A87799-7A2C-4EC9-B2E6-7E1710DC4B41}"/>
                </a:ext>
              </a:extLst>
            </p:cNvPr>
            <p:cNvSpPr txBox="1">
              <a:spLocks noChangeArrowheads="1"/>
            </p:cNvSpPr>
            <p:nvPr/>
          </p:nvSpPr>
          <p:spPr bwMode="auto">
            <a:xfrm>
              <a:off x="3696" y="2586"/>
              <a:ext cx="240" cy="32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cap="sq">
                  <a:solidFill>
                    <a:srgbClr val="080808"/>
                  </a:solidFill>
                  <a:miter lim="800000"/>
                  <a:headEnd type="none" w="sm" len="sm"/>
                  <a:tailEnd type="none" w="sm" len="sm"/>
                </a14:hiddenLine>
              </a:ext>
            </a:extLst>
          </p:spPr>
          <p:txBody>
            <a:bodyPr wrap="none" lIns="0" rIns="0" anchor="ctr" anchorCtr="1"/>
            <a:lstStyle/>
            <a:p>
              <a:r>
                <a:rPr lang="en-US" altLang="zh-CN" sz="2800" b="1">
                  <a:solidFill>
                    <a:srgbClr val="080808"/>
                  </a:solidFill>
                </a:rPr>
                <a:t>N</a:t>
              </a:r>
            </a:p>
          </p:txBody>
        </p:sp>
      </p:grpSp>
      <p:grpSp>
        <p:nvGrpSpPr>
          <p:cNvPr id="1004574" name="Group 30">
            <a:extLst>
              <a:ext uri="{FF2B5EF4-FFF2-40B4-BE49-F238E27FC236}">
                <a16:creationId xmlns:a16="http://schemas.microsoft.com/office/drawing/2014/main" id="{24EA2795-6A0D-476E-B743-0D0D2E70A93D}"/>
              </a:ext>
            </a:extLst>
          </p:cNvPr>
          <p:cNvGrpSpPr>
            <a:grpSpLocks/>
          </p:cNvGrpSpPr>
          <p:nvPr/>
        </p:nvGrpSpPr>
        <p:grpSpPr bwMode="auto">
          <a:xfrm>
            <a:off x="2411413" y="2997200"/>
            <a:ext cx="3671887" cy="1079500"/>
            <a:chOff x="567" y="1779"/>
            <a:chExt cx="2313" cy="485"/>
          </a:xfrm>
        </p:grpSpPr>
        <p:sp>
          <p:nvSpPr>
            <p:cNvPr id="1004575" name="AutoShape 31">
              <a:extLst>
                <a:ext uri="{FF2B5EF4-FFF2-40B4-BE49-F238E27FC236}">
                  <a16:creationId xmlns:a16="http://schemas.microsoft.com/office/drawing/2014/main" id="{59B57102-EAA8-4225-AF8D-D7BC63CDC0DE}"/>
                </a:ext>
              </a:extLst>
            </p:cNvPr>
            <p:cNvSpPr>
              <a:spLocks noChangeArrowheads="1"/>
            </p:cNvSpPr>
            <p:nvPr/>
          </p:nvSpPr>
          <p:spPr bwMode="auto">
            <a:xfrm>
              <a:off x="1642" y="1779"/>
              <a:ext cx="136" cy="135"/>
            </a:xfrm>
            <a:prstGeom prst="downArrow">
              <a:avLst>
                <a:gd name="adj1" fmla="val 50000"/>
                <a:gd name="adj2" fmla="val 25000"/>
              </a:avLst>
            </a:prstGeom>
            <a:solidFill>
              <a:srgbClr val="00FF00"/>
            </a:solidFill>
            <a:ln w="12700" cap="sq">
              <a:solidFill>
                <a:srgbClr val="080808"/>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1004576" name="AutoShape 32">
              <a:extLst>
                <a:ext uri="{FF2B5EF4-FFF2-40B4-BE49-F238E27FC236}">
                  <a16:creationId xmlns:a16="http://schemas.microsoft.com/office/drawing/2014/main" id="{F7F85447-F552-4EF7-9088-AFA9671AE058}"/>
                </a:ext>
              </a:extLst>
            </p:cNvPr>
            <p:cNvSpPr>
              <a:spLocks noChangeArrowheads="1"/>
            </p:cNvSpPr>
            <p:nvPr/>
          </p:nvSpPr>
          <p:spPr bwMode="auto">
            <a:xfrm>
              <a:off x="567" y="1924"/>
              <a:ext cx="2313" cy="340"/>
            </a:xfrm>
            <a:prstGeom prst="flowChartPreparation">
              <a:avLst/>
            </a:prstGeom>
            <a:solidFill>
              <a:srgbClr val="800080"/>
            </a:solidFill>
            <a:ln w="12700" cap="sq">
              <a:solidFill>
                <a:srgbClr val="080808"/>
              </a:solidFill>
              <a:miter lim="800000"/>
              <a:headEnd type="none" w="sm" len="sm"/>
              <a:tailEnd type="none" w="sm" len="sm"/>
            </a:ln>
            <a:effectLst>
              <a:outerShdw dist="71842" dir="2700000" algn="ctr" rotWithShape="0">
                <a:schemeClr val="tx1"/>
              </a:outerShdw>
            </a:effectLst>
          </p:spPr>
          <p:txBody>
            <a:bodyPr wrap="none" anchor="ctr"/>
            <a:lstStyle/>
            <a:p>
              <a:pPr algn="ctr"/>
              <a:r>
                <a:rPr lang="en-US" altLang="zh-CN" sz="2400" b="1">
                  <a:solidFill>
                    <a:srgbClr val="00FFFF"/>
                  </a:solidFill>
                  <a:effectLst>
                    <a:outerShdw blurRad="38100" dist="38100" dir="2700000" algn="tl">
                      <a:srgbClr val="000000"/>
                    </a:outerShdw>
                  </a:effectLst>
                </a:rPr>
                <a:t>满足某个特定范式</a:t>
              </a:r>
            </a:p>
            <a:p>
              <a:pPr algn="ctr"/>
              <a:r>
                <a:rPr lang="zh-CN" altLang="en-US" sz="2400" b="1">
                  <a:solidFill>
                    <a:srgbClr val="00FFFF"/>
                  </a:solidFill>
                  <a:effectLst>
                    <a:outerShdw blurRad="38100" dist="38100" dir="2700000" algn="tl">
                      <a:srgbClr val="000000"/>
                    </a:outerShdw>
                  </a:effectLst>
                </a:rPr>
                <a:t>（</a:t>
              </a:r>
              <a:r>
                <a:rPr lang="zh-CN" altLang="en-US" sz="2400" b="1">
                  <a:solidFill>
                    <a:srgbClr val="00FFFF"/>
                  </a:solidFill>
                  <a:effectLst>
                    <a:outerShdw blurRad="38100" dist="38100" dir="2700000" algn="tl">
                      <a:srgbClr val="000000"/>
                    </a:outerShdw>
                  </a:effectLst>
                  <a:latin typeface="楷体_GB2312" pitchFamily="49" charset="-122"/>
                </a:rPr>
                <a:t>≥</a:t>
              </a:r>
              <a:r>
                <a:rPr lang="en-US" altLang="zh-CN" sz="2400" b="1">
                  <a:solidFill>
                    <a:srgbClr val="00FFFF"/>
                  </a:solidFill>
                  <a:effectLst>
                    <a:outerShdw blurRad="38100" dist="38100" dir="2700000" algn="tl">
                      <a:srgbClr val="000000"/>
                    </a:outerShdw>
                  </a:effectLst>
                  <a:latin typeface="楷体_GB2312" pitchFamily="49" charset="-122"/>
                </a:rPr>
                <a:t>3NF</a:t>
              </a:r>
              <a:r>
                <a:rPr lang="zh-CN" altLang="en-US" sz="2400" b="1">
                  <a:solidFill>
                    <a:srgbClr val="00FFFF"/>
                  </a:solidFill>
                  <a:effectLst>
                    <a:outerShdw blurRad="38100" dist="38100" dir="2700000" algn="tl">
                      <a:srgbClr val="000000"/>
                    </a:outerShdw>
                  </a:effectLst>
                </a:rPr>
                <a:t>）</a:t>
              </a:r>
              <a:r>
                <a:rPr lang="en-US" altLang="zh-CN" sz="2400" b="1">
                  <a:solidFill>
                    <a:srgbClr val="00FFFF"/>
                  </a:solidFill>
                  <a:effectLst>
                    <a:outerShdw blurRad="38100" dist="38100" dir="2700000" algn="tl">
                      <a:srgbClr val="000000"/>
                    </a:outerShdw>
                  </a:effectLst>
                </a:rPr>
                <a:t>?</a:t>
              </a:r>
              <a:endParaRPr lang="zh-CN" altLang="en-US" sz="2400" b="1">
                <a:solidFill>
                  <a:srgbClr val="00FFFF"/>
                </a:solidFill>
                <a:effectLst>
                  <a:outerShdw blurRad="38100" dist="38100" dir="2700000" algn="tl">
                    <a:srgbClr val="000000"/>
                  </a:outerShdw>
                </a:effectLst>
              </a:endParaRP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6077"/>
    </mc:Choice>
    <mc:Fallback xmlns="">
      <p:transition spd="slow" advTm="116077"/>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04573"/>
                                        </p:tgtEl>
                                        <p:attrNameLst>
                                          <p:attrName>style.visibility</p:attrName>
                                        </p:attrNameLst>
                                      </p:cBhvr>
                                      <p:to>
                                        <p:strVal val="visible"/>
                                      </p:to>
                                    </p:set>
                                    <p:animEffect transition="in" filter="wipe(up)">
                                      <p:cBhvr>
                                        <p:cTn id="7" dur="1000"/>
                                        <p:tgtEl>
                                          <p:spTgt spid="10045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04590"/>
                                        </p:tgtEl>
                                        <p:attrNameLst>
                                          <p:attrName>style.visibility</p:attrName>
                                        </p:attrNameLst>
                                      </p:cBhvr>
                                      <p:to>
                                        <p:strVal val="visible"/>
                                      </p:to>
                                    </p:set>
                                    <p:animEffect transition="in" filter="wipe(up)">
                                      <p:cBhvr>
                                        <p:cTn id="12" dur="1000"/>
                                        <p:tgtEl>
                                          <p:spTgt spid="10045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004591"/>
                                        </p:tgtEl>
                                        <p:attrNameLst>
                                          <p:attrName>style.visibility</p:attrName>
                                        </p:attrNameLst>
                                      </p:cBhvr>
                                      <p:to>
                                        <p:strVal val="visible"/>
                                      </p:to>
                                    </p:set>
                                    <p:animEffect transition="in" filter="wipe(up)">
                                      <p:cBhvr>
                                        <p:cTn id="17" dur="1000"/>
                                        <p:tgtEl>
                                          <p:spTgt spid="100459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004594"/>
                                        </p:tgtEl>
                                        <p:attrNameLst>
                                          <p:attrName>style.visibility</p:attrName>
                                        </p:attrNameLst>
                                      </p:cBhvr>
                                      <p:to>
                                        <p:strVal val="visible"/>
                                      </p:to>
                                    </p:set>
                                    <p:animEffect transition="in" filter="wipe(up)">
                                      <p:cBhvr>
                                        <p:cTn id="22" dur="1000"/>
                                        <p:tgtEl>
                                          <p:spTgt spid="100459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xit" presetSubtype="10" fill="hold" grpId="1" nodeType="clickEffect">
                                  <p:stCondLst>
                                    <p:cond delay="0"/>
                                  </p:stCondLst>
                                  <p:childTnLst>
                                    <p:animEffect transition="out" filter="checkerboard(across)">
                                      <p:cBhvr>
                                        <p:cTn id="26" dur="500"/>
                                        <p:tgtEl>
                                          <p:spTgt spid="1004590"/>
                                        </p:tgtEl>
                                      </p:cBhvr>
                                    </p:animEffect>
                                    <p:set>
                                      <p:cBhvr>
                                        <p:cTn id="27" dur="1" fill="hold">
                                          <p:stCondLst>
                                            <p:cond delay="499"/>
                                          </p:stCondLst>
                                        </p:cTn>
                                        <p:tgtEl>
                                          <p:spTgt spid="1004590"/>
                                        </p:tgtEl>
                                        <p:attrNameLst>
                                          <p:attrName>style.visibility</p:attrName>
                                        </p:attrNameLst>
                                      </p:cBhvr>
                                      <p:to>
                                        <p:strVal val="hidden"/>
                                      </p:to>
                                    </p:set>
                                  </p:childTnLst>
                                </p:cTn>
                              </p:par>
                              <p:par>
                                <p:cTn id="28" presetID="5" presetClass="exit" presetSubtype="10" fill="hold" nodeType="withEffect">
                                  <p:stCondLst>
                                    <p:cond delay="0"/>
                                  </p:stCondLst>
                                  <p:childTnLst>
                                    <p:animEffect transition="out" filter="checkerboard(across)">
                                      <p:cBhvr>
                                        <p:cTn id="29" dur="500"/>
                                        <p:tgtEl>
                                          <p:spTgt spid="1004591"/>
                                        </p:tgtEl>
                                      </p:cBhvr>
                                    </p:animEffect>
                                    <p:set>
                                      <p:cBhvr>
                                        <p:cTn id="30" dur="1" fill="hold">
                                          <p:stCondLst>
                                            <p:cond delay="499"/>
                                          </p:stCondLst>
                                        </p:cTn>
                                        <p:tgtEl>
                                          <p:spTgt spid="1004591"/>
                                        </p:tgtEl>
                                        <p:attrNameLst>
                                          <p:attrName>style.visibility</p:attrName>
                                        </p:attrNameLst>
                                      </p:cBhvr>
                                      <p:to>
                                        <p:strVal val="hidden"/>
                                      </p:to>
                                    </p:set>
                                  </p:childTnLst>
                                </p:cTn>
                              </p:par>
                              <p:par>
                                <p:cTn id="31" presetID="5" presetClass="exit" presetSubtype="10" fill="hold" nodeType="withEffect">
                                  <p:stCondLst>
                                    <p:cond delay="0"/>
                                  </p:stCondLst>
                                  <p:childTnLst>
                                    <p:animEffect transition="out" filter="checkerboard(across)">
                                      <p:cBhvr>
                                        <p:cTn id="32" dur="500"/>
                                        <p:tgtEl>
                                          <p:spTgt spid="1004594"/>
                                        </p:tgtEl>
                                      </p:cBhvr>
                                    </p:animEffect>
                                    <p:set>
                                      <p:cBhvr>
                                        <p:cTn id="33" dur="1" fill="hold">
                                          <p:stCondLst>
                                            <p:cond delay="499"/>
                                          </p:stCondLst>
                                        </p:cTn>
                                        <p:tgtEl>
                                          <p:spTgt spid="1004594"/>
                                        </p:tgtEl>
                                        <p:attrNameLst>
                                          <p:attrName>style.visibility</p:attrName>
                                        </p:attrNameLst>
                                      </p:cBhvr>
                                      <p:to>
                                        <p:strVal val="hidden"/>
                                      </p:to>
                                    </p:set>
                                  </p:childTnLst>
                                </p:cTn>
                              </p:par>
                            </p:childTnLst>
                          </p:cTn>
                        </p:par>
                        <p:par>
                          <p:cTn id="34" fill="hold" nodeType="afterGroup">
                            <p:stCondLst>
                              <p:cond delay="500"/>
                            </p:stCondLst>
                            <p:childTnLst>
                              <p:par>
                                <p:cTn id="35" presetID="22" presetClass="entr" presetSubtype="1" fill="hold" nodeType="afterEffect">
                                  <p:stCondLst>
                                    <p:cond delay="0"/>
                                  </p:stCondLst>
                                  <p:childTnLst>
                                    <p:set>
                                      <p:cBhvr>
                                        <p:cTn id="36" dur="1" fill="hold">
                                          <p:stCondLst>
                                            <p:cond delay="0"/>
                                          </p:stCondLst>
                                        </p:cTn>
                                        <p:tgtEl>
                                          <p:spTgt spid="1004574"/>
                                        </p:tgtEl>
                                        <p:attrNameLst>
                                          <p:attrName>style.visibility</p:attrName>
                                        </p:attrNameLst>
                                      </p:cBhvr>
                                      <p:to>
                                        <p:strVal val="visible"/>
                                      </p:to>
                                    </p:set>
                                    <p:animEffect transition="in" filter="wipe(up)">
                                      <p:cBhvr>
                                        <p:cTn id="37" dur="1000"/>
                                        <p:tgtEl>
                                          <p:spTgt spid="100457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1004577"/>
                                        </p:tgtEl>
                                        <p:attrNameLst>
                                          <p:attrName>style.visibility</p:attrName>
                                        </p:attrNameLst>
                                      </p:cBhvr>
                                      <p:to>
                                        <p:strVal val="visible"/>
                                      </p:to>
                                    </p:set>
                                    <p:animEffect transition="in" filter="wipe(up)">
                                      <p:cBhvr>
                                        <p:cTn id="42" dur="1000"/>
                                        <p:tgtEl>
                                          <p:spTgt spid="100457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nodeType="clickEffect">
                                  <p:stCondLst>
                                    <p:cond delay="0"/>
                                  </p:stCondLst>
                                  <p:childTnLst>
                                    <p:set>
                                      <p:cBhvr>
                                        <p:cTn id="46" dur="1" fill="hold">
                                          <p:stCondLst>
                                            <p:cond delay="0"/>
                                          </p:stCondLst>
                                        </p:cTn>
                                        <p:tgtEl>
                                          <p:spTgt spid="1004589"/>
                                        </p:tgtEl>
                                        <p:attrNameLst>
                                          <p:attrName>style.visibility</p:attrName>
                                        </p:attrNameLst>
                                      </p:cBhvr>
                                      <p:to>
                                        <p:strVal val="visible"/>
                                      </p:to>
                                    </p:set>
                                    <p:animEffect transition="in" filter="wipe(up)">
                                      <p:cBhvr>
                                        <p:cTn id="47" dur="500"/>
                                        <p:tgtEl>
                                          <p:spTgt spid="100458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1004586"/>
                                        </p:tgtEl>
                                        <p:attrNameLst>
                                          <p:attrName>style.visibility</p:attrName>
                                        </p:attrNameLst>
                                      </p:cBhvr>
                                      <p:to>
                                        <p:strVal val="visible"/>
                                      </p:to>
                                    </p:set>
                                    <p:animEffect transition="in" filter="wipe(up)">
                                      <p:cBhvr>
                                        <p:cTn id="52" dur="1000"/>
                                        <p:tgtEl>
                                          <p:spTgt spid="100458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5" presetClass="entr" presetSubtype="0" fill="hold" nodeType="clickEffect">
                                  <p:stCondLst>
                                    <p:cond delay="0"/>
                                  </p:stCondLst>
                                  <p:childTnLst>
                                    <p:set>
                                      <p:cBhvr>
                                        <p:cTn id="56" dur="1" fill="hold">
                                          <p:stCondLst>
                                            <p:cond delay="0"/>
                                          </p:stCondLst>
                                        </p:cTn>
                                        <p:tgtEl>
                                          <p:spTgt spid="1004598"/>
                                        </p:tgtEl>
                                        <p:attrNameLst>
                                          <p:attrName>style.visibility</p:attrName>
                                        </p:attrNameLst>
                                      </p:cBhvr>
                                      <p:to>
                                        <p:strVal val="visible"/>
                                      </p:to>
                                    </p:set>
                                    <p:anim calcmode="lin" valueType="num">
                                      <p:cBhvr>
                                        <p:cTn id="57" dur="500" decel="50000" fill="hold">
                                          <p:stCondLst>
                                            <p:cond delay="0"/>
                                          </p:stCondLst>
                                        </p:cTn>
                                        <p:tgtEl>
                                          <p:spTgt spid="1004598"/>
                                        </p:tgtEl>
                                        <p:attrNameLst>
                                          <p:attrName>style.rotation</p:attrName>
                                        </p:attrNameLst>
                                      </p:cBhvr>
                                      <p:tavLst>
                                        <p:tav tm="0">
                                          <p:val>
                                            <p:fltVal val="-90"/>
                                          </p:val>
                                        </p:tav>
                                        <p:tav tm="100000">
                                          <p:val>
                                            <p:fltVal val="0"/>
                                          </p:val>
                                        </p:tav>
                                      </p:tavLst>
                                    </p:anim>
                                    <p:anim calcmode="lin" valueType="num">
                                      <p:cBhvr>
                                        <p:cTn id="58" dur="500" decel="50000" fill="hold">
                                          <p:stCondLst>
                                            <p:cond delay="0"/>
                                          </p:stCondLst>
                                        </p:cTn>
                                        <p:tgtEl>
                                          <p:spTgt spid="1004598"/>
                                        </p:tgtEl>
                                        <p:attrNameLst>
                                          <p:attrName>ppt_w</p:attrName>
                                        </p:attrNameLst>
                                      </p:cBhvr>
                                      <p:tavLst>
                                        <p:tav tm="0">
                                          <p:val>
                                            <p:strVal val="#ppt_w"/>
                                          </p:val>
                                        </p:tav>
                                        <p:tav tm="100000">
                                          <p:val>
                                            <p:strVal val="#ppt_w*.05"/>
                                          </p:val>
                                        </p:tav>
                                      </p:tavLst>
                                    </p:anim>
                                    <p:anim calcmode="lin" valueType="num">
                                      <p:cBhvr>
                                        <p:cTn id="59" dur="500" accel="50000" fill="hold">
                                          <p:stCondLst>
                                            <p:cond delay="500"/>
                                          </p:stCondLst>
                                        </p:cTn>
                                        <p:tgtEl>
                                          <p:spTgt spid="1004598"/>
                                        </p:tgtEl>
                                        <p:attrNameLst>
                                          <p:attrName>ppt_w</p:attrName>
                                        </p:attrNameLst>
                                      </p:cBhvr>
                                      <p:tavLst>
                                        <p:tav tm="0">
                                          <p:val>
                                            <p:strVal val="#ppt_w*.05"/>
                                          </p:val>
                                        </p:tav>
                                        <p:tav tm="100000">
                                          <p:val>
                                            <p:strVal val="#ppt_w"/>
                                          </p:val>
                                        </p:tav>
                                      </p:tavLst>
                                    </p:anim>
                                    <p:anim calcmode="lin" valueType="num">
                                      <p:cBhvr>
                                        <p:cTn id="60" dur="1000" fill="hold"/>
                                        <p:tgtEl>
                                          <p:spTgt spid="1004598"/>
                                        </p:tgtEl>
                                        <p:attrNameLst>
                                          <p:attrName>ppt_h</p:attrName>
                                        </p:attrNameLst>
                                      </p:cBhvr>
                                      <p:tavLst>
                                        <p:tav tm="0">
                                          <p:val>
                                            <p:strVal val="#ppt_h"/>
                                          </p:val>
                                        </p:tav>
                                        <p:tav tm="100000">
                                          <p:val>
                                            <p:strVal val="#ppt_h"/>
                                          </p:val>
                                        </p:tav>
                                      </p:tavLst>
                                    </p:anim>
                                    <p:anim calcmode="lin" valueType="num">
                                      <p:cBhvr>
                                        <p:cTn id="61" dur="500" decel="50000" fill="hold">
                                          <p:stCondLst>
                                            <p:cond delay="0"/>
                                          </p:stCondLst>
                                        </p:cTn>
                                        <p:tgtEl>
                                          <p:spTgt spid="1004598"/>
                                        </p:tgtEl>
                                        <p:attrNameLst>
                                          <p:attrName>ppt_x</p:attrName>
                                        </p:attrNameLst>
                                      </p:cBhvr>
                                      <p:tavLst>
                                        <p:tav tm="0">
                                          <p:val>
                                            <p:strVal val="#ppt_x+.4"/>
                                          </p:val>
                                        </p:tav>
                                        <p:tav tm="100000">
                                          <p:val>
                                            <p:strVal val="#ppt_x"/>
                                          </p:val>
                                        </p:tav>
                                      </p:tavLst>
                                    </p:anim>
                                    <p:anim calcmode="lin" valueType="num">
                                      <p:cBhvr>
                                        <p:cTn id="62" dur="500" decel="50000" fill="hold">
                                          <p:stCondLst>
                                            <p:cond delay="0"/>
                                          </p:stCondLst>
                                        </p:cTn>
                                        <p:tgtEl>
                                          <p:spTgt spid="1004598"/>
                                        </p:tgtEl>
                                        <p:attrNameLst>
                                          <p:attrName>ppt_y</p:attrName>
                                        </p:attrNameLst>
                                      </p:cBhvr>
                                      <p:tavLst>
                                        <p:tav tm="0">
                                          <p:val>
                                            <p:strVal val="#ppt_y-.2"/>
                                          </p:val>
                                        </p:tav>
                                        <p:tav tm="100000">
                                          <p:val>
                                            <p:strVal val="#ppt_y+.1"/>
                                          </p:val>
                                        </p:tav>
                                      </p:tavLst>
                                    </p:anim>
                                    <p:anim calcmode="lin" valueType="num">
                                      <p:cBhvr>
                                        <p:cTn id="63" dur="500" accel="50000" fill="hold">
                                          <p:stCondLst>
                                            <p:cond delay="500"/>
                                          </p:stCondLst>
                                        </p:cTn>
                                        <p:tgtEl>
                                          <p:spTgt spid="1004598"/>
                                        </p:tgtEl>
                                        <p:attrNameLst>
                                          <p:attrName>ppt_y</p:attrName>
                                        </p:attrNameLst>
                                      </p:cBhvr>
                                      <p:tavLst>
                                        <p:tav tm="0">
                                          <p:val>
                                            <p:strVal val="#ppt_y+.1"/>
                                          </p:val>
                                        </p:tav>
                                        <p:tav tm="100000">
                                          <p:val>
                                            <p:strVal val="#ppt_y"/>
                                          </p:val>
                                        </p:tav>
                                      </p:tavLst>
                                    </p:anim>
                                    <p:animEffect transition="in" filter="fade">
                                      <p:cBhvr>
                                        <p:cTn id="64" dur="1000" decel="50000">
                                          <p:stCondLst>
                                            <p:cond delay="0"/>
                                          </p:stCondLst>
                                        </p:cTn>
                                        <p:tgtEl>
                                          <p:spTgt spid="1004598"/>
                                        </p:tgtEl>
                                      </p:cBhvr>
                                    </p:animEffect>
                                  </p:childTnLst>
                                </p:cTn>
                              </p:par>
                            </p:childTnLst>
                          </p:cTn>
                        </p:par>
                        <p:par>
                          <p:cTn id="65" fill="hold" nodeType="afterGroup">
                            <p:stCondLst>
                              <p:cond delay="1000"/>
                            </p:stCondLst>
                            <p:childTnLst>
                              <p:par>
                                <p:cTn id="66" presetID="25" presetClass="entr" presetSubtype="0" fill="hold" nodeType="afterEffect">
                                  <p:stCondLst>
                                    <p:cond delay="0"/>
                                  </p:stCondLst>
                                  <p:childTnLst>
                                    <p:set>
                                      <p:cBhvr>
                                        <p:cTn id="67" dur="1" fill="hold">
                                          <p:stCondLst>
                                            <p:cond delay="0"/>
                                          </p:stCondLst>
                                        </p:cTn>
                                        <p:tgtEl>
                                          <p:spTgt spid="1004597"/>
                                        </p:tgtEl>
                                        <p:attrNameLst>
                                          <p:attrName>style.visibility</p:attrName>
                                        </p:attrNameLst>
                                      </p:cBhvr>
                                      <p:to>
                                        <p:strVal val="visible"/>
                                      </p:to>
                                    </p:set>
                                    <p:anim calcmode="lin" valueType="num">
                                      <p:cBhvr>
                                        <p:cTn id="68" dur="500" decel="50000" fill="hold">
                                          <p:stCondLst>
                                            <p:cond delay="0"/>
                                          </p:stCondLst>
                                        </p:cTn>
                                        <p:tgtEl>
                                          <p:spTgt spid="1004597"/>
                                        </p:tgtEl>
                                        <p:attrNameLst>
                                          <p:attrName>style.rotation</p:attrName>
                                        </p:attrNameLst>
                                      </p:cBhvr>
                                      <p:tavLst>
                                        <p:tav tm="0">
                                          <p:val>
                                            <p:fltVal val="-90"/>
                                          </p:val>
                                        </p:tav>
                                        <p:tav tm="100000">
                                          <p:val>
                                            <p:fltVal val="0"/>
                                          </p:val>
                                        </p:tav>
                                      </p:tavLst>
                                    </p:anim>
                                    <p:anim calcmode="lin" valueType="num">
                                      <p:cBhvr>
                                        <p:cTn id="69" dur="500" decel="50000" fill="hold">
                                          <p:stCondLst>
                                            <p:cond delay="0"/>
                                          </p:stCondLst>
                                        </p:cTn>
                                        <p:tgtEl>
                                          <p:spTgt spid="1004597"/>
                                        </p:tgtEl>
                                        <p:attrNameLst>
                                          <p:attrName>ppt_w</p:attrName>
                                        </p:attrNameLst>
                                      </p:cBhvr>
                                      <p:tavLst>
                                        <p:tav tm="0">
                                          <p:val>
                                            <p:strVal val="#ppt_w"/>
                                          </p:val>
                                        </p:tav>
                                        <p:tav tm="100000">
                                          <p:val>
                                            <p:strVal val="#ppt_w*.05"/>
                                          </p:val>
                                        </p:tav>
                                      </p:tavLst>
                                    </p:anim>
                                    <p:anim calcmode="lin" valueType="num">
                                      <p:cBhvr>
                                        <p:cTn id="70" dur="500" accel="50000" fill="hold">
                                          <p:stCondLst>
                                            <p:cond delay="500"/>
                                          </p:stCondLst>
                                        </p:cTn>
                                        <p:tgtEl>
                                          <p:spTgt spid="1004597"/>
                                        </p:tgtEl>
                                        <p:attrNameLst>
                                          <p:attrName>ppt_w</p:attrName>
                                        </p:attrNameLst>
                                      </p:cBhvr>
                                      <p:tavLst>
                                        <p:tav tm="0">
                                          <p:val>
                                            <p:strVal val="#ppt_w*.05"/>
                                          </p:val>
                                        </p:tav>
                                        <p:tav tm="100000">
                                          <p:val>
                                            <p:strVal val="#ppt_w"/>
                                          </p:val>
                                        </p:tav>
                                      </p:tavLst>
                                    </p:anim>
                                    <p:anim calcmode="lin" valueType="num">
                                      <p:cBhvr>
                                        <p:cTn id="71" dur="1000" fill="hold"/>
                                        <p:tgtEl>
                                          <p:spTgt spid="1004597"/>
                                        </p:tgtEl>
                                        <p:attrNameLst>
                                          <p:attrName>ppt_h</p:attrName>
                                        </p:attrNameLst>
                                      </p:cBhvr>
                                      <p:tavLst>
                                        <p:tav tm="0">
                                          <p:val>
                                            <p:strVal val="#ppt_h"/>
                                          </p:val>
                                        </p:tav>
                                        <p:tav tm="100000">
                                          <p:val>
                                            <p:strVal val="#ppt_h"/>
                                          </p:val>
                                        </p:tav>
                                      </p:tavLst>
                                    </p:anim>
                                    <p:anim calcmode="lin" valueType="num">
                                      <p:cBhvr>
                                        <p:cTn id="72" dur="500" decel="50000" fill="hold">
                                          <p:stCondLst>
                                            <p:cond delay="0"/>
                                          </p:stCondLst>
                                        </p:cTn>
                                        <p:tgtEl>
                                          <p:spTgt spid="1004597"/>
                                        </p:tgtEl>
                                        <p:attrNameLst>
                                          <p:attrName>ppt_x</p:attrName>
                                        </p:attrNameLst>
                                      </p:cBhvr>
                                      <p:tavLst>
                                        <p:tav tm="0">
                                          <p:val>
                                            <p:strVal val="#ppt_x+.4"/>
                                          </p:val>
                                        </p:tav>
                                        <p:tav tm="100000">
                                          <p:val>
                                            <p:strVal val="#ppt_x"/>
                                          </p:val>
                                        </p:tav>
                                      </p:tavLst>
                                    </p:anim>
                                    <p:anim calcmode="lin" valueType="num">
                                      <p:cBhvr>
                                        <p:cTn id="73" dur="500" decel="50000" fill="hold">
                                          <p:stCondLst>
                                            <p:cond delay="0"/>
                                          </p:stCondLst>
                                        </p:cTn>
                                        <p:tgtEl>
                                          <p:spTgt spid="1004597"/>
                                        </p:tgtEl>
                                        <p:attrNameLst>
                                          <p:attrName>ppt_y</p:attrName>
                                        </p:attrNameLst>
                                      </p:cBhvr>
                                      <p:tavLst>
                                        <p:tav tm="0">
                                          <p:val>
                                            <p:strVal val="#ppt_y-.2"/>
                                          </p:val>
                                        </p:tav>
                                        <p:tav tm="100000">
                                          <p:val>
                                            <p:strVal val="#ppt_y+.1"/>
                                          </p:val>
                                        </p:tav>
                                      </p:tavLst>
                                    </p:anim>
                                    <p:anim calcmode="lin" valueType="num">
                                      <p:cBhvr>
                                        <p:cTn id="74" dur="500" accel="50000" fill="hold">
                                          <p:stCondLst>
                                            <p:cond delay="500"/>
                                          </p:stCondLst>
                                        </p:cTn>
                                        <p:tgtEl>
                                          <p:spTgt spid="1004597"/>
                                        </p:tgtEl>
                                        <p:attrNameLst>
                                          <p:attrName>ppt_y</p:attrName>
                                        </p:attrNameLst>
                                      </p:cBhvr>
                                      <p:tavLst>
                                        <p:tav tm="0">
                                          <p:val>
                                            <p:strVal val="#ppt_y+.1"/>
                                          </p:val>
                                        </p:tav>
                                        <p:tav tm="100000">
                                          <p:val>
                                            <p:strVal val="#ppt_y"/>
                                          </p:val>
                                        </p:tav>
                                      </p:tavLst>
                                    </p:anim>
                                    <p:animEffect transition="in" filter="fade">
                                      <p:cBhvr>
                                        <p:cTn id="75" dur="1000" decel="50000">
                                          <p:stCondLst>
                                            <p:cond delay="0"/>
                                          </p:stCondLst>
                                        </p:cTn>
                                        <p:tgtEl>
                                          <p:spTgt spid="10045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573" grpId="0" animBg="1"/>
      <p:bldP spid="1004590" grpId="0" animBg="1"/>
      <p:bldP spid="1004590" grpId="1"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69" name="Rectangle 9">
            <a:extLst>
              <a:ext uri="{FF2B5EF4-FFF2-40B4-BE49-F238E27FC236}">
                <a16:creationId xmlns:a16="http://schemas.microsoft.com/office/drawing/2014/main" id="{966F77E3-52CF-4A0D-AD11-B542AFBA9C16}"/>
              </a:ext>
            </a:extLst>
          </p:cNvPr>
          <p:cNvSpPr>
            <a:spLocks noGrp="1" noChangeArrowheads="1"/>
          </p:cNvSpPr>
          <p:nvPr>
            <p:ph type="body" idx="1"/>
          </p:nvPr>
        </p:nvSpPr>
        <p:spPr/>
        <p:txBody>
          <a:bodyPr/>
          <a:lstStyle/>
          <a:p>
            <a:pPr algn="just"/>
            <a:r>
              <a:rPr lang="zh-CN" altLang="en-US" sz="2400" i="1">
                <a:solidFill>
                  <a:srgbClr val="008000"/>
                </a:solidFill>
                <a:latin typeface="楷体_GB2312" pitchFamily="49" charset="-122"/>
                <a:cs typeface="Times New Roman" panose="02020603050405020304" pitchFamily="18" charset="0"/>
              </a:rPr>
              <a:t>例</a:t>
            </a:r>
            <a:r>
              <a:rPr lang="en-US" altLang="zh-CN" sz="2400">
                <a:solidFill>
                  <a:srgbClr val="000000"/>
                </a:solidFill>
                <a:latin typeface="楷体_GB2312" pitchFamily="49" charset="-122"/>
                <a:cs typeface="Times New Roman" panose="02020603050405020304" pitchFamily="18" charset="0"/>
              </a:rPr>
              <a:t> </a:t>
            </a:r>
            <a:r>
              <a:rPr lang="zh-CN" altLang="en-US" sz="2400">
                <a:solidFill>
                  <a:srgbClr val="000000"/>
                </a:solidFill>
                <a:latin typeface="楷体_GB2312" pitchFamily="49" charset="-122"/>
                <a:cs typeface="Times New Roman" panose="02020603050405020304" pitchFamily="18" charset="0"/>
              </a:rPr>
              <a:t>设有关系模式</a:t>
            </a:r>
            <a:r>
              <a:rPr lang="en-US" altLang="zh-CN" sz="2400">
                <a:solidFill>
                  <a:srgbClr val="000000"/>
                </a:solidFill>
                <a:latin typeface="楷体_GB2312" pitchFamily="49" charset="-122"/>
                <a:cs typeface="Times New Roman" panose="02020603050405020304" pitchFamily="18" charset="0"/>
              </a:rPr>
              <a:t>R(CTHPSG),</a:t>
            </a:r>
            <a:r>
              <a:rPr lang="zh-CN" altLang="en-US" sz="2400">
                <a:solidFill>
                  <a:srgbClr val="000000"/>
                </a:solidFill>
                <a:latin typeface="楷体_GB2312" pitchFamily="49" charset="-122"/>
                <a:cs typeface="Times New Roman" panose="02020603050405020304" pitchFamily="18" charset="0"/>
              </a:rPr>
              <a:t> 其中</a:t>
            </a:r>
            <a:r>
              <a:rPr lang="en-US" altLang="zh-CN" sz="2400">
                <a:solidFill>
                  <a:srgbClr val="000000"/>
                </a:solidFill>
                <a:latin typeface="楷体_GB2312" pitchFamily="49" charset="-122"/>
                <a:cs typeface="Times New Roman" panose="02020603050405020304" pitchFamily="18" charset="0"/>
              </a:rPr>
              <a:t>S</a:t>
            </a:r>
            <a:r>
              <a:rPr lang="zh-CN" altLang="en-US" sz="2400">
                <a:solidFill>
                  <a:srgbClr val="000000"/>
                </a:solidFill>
                <a:latin typeface="楷体_GB2312" pitchFamily="49" charset="-122"/>
                <a:cs typeface="Times New Roman" panose="02020603050405020304" pitchFamily="18" charset="0"/>
              </a:rPr>
              <a:t>表示学生，</a:t>
            </a:r>
            <a:r>
              <a:rPr lang="en-US" altLang="zh-CN" sz="2400">
                <a:solidFill>
                  <a:srgbClr val="000000"/>
                </a:solidFill>
                <a:latin typeface="楷体_GB2312" pitchFamily="49" charset="-122"/>
                <a:cs typeface="Times New Roman" panose="02020603050405020304" pitchFamily="18" charset="0"/>
              </a:rPr>
              <a:t>C</a:t>
            </a:r>
            <a:r>
              <a:rPr lang="zh-CN" altLang="en-US" sz="2400">
                <a:solidFill>
                  <a:srgbClr val="000000"/>
                </a:solidFill>
                <a:latin typeface="楷体_GB2312" pitchFamily="49" charset="-122"/>
                <a:cs typeface="Times New Roman" panose="02020603050405020304" pitchFamily="18" charset="0"/>
              </a:rPr>
              <a:t>表示课程，</a:t>
            </a:r>
            <a:r>
              <a:rPr lang="en-US" altLang="zh-CN" sz="2400">
                <a:solidFill>
                  <a:srgbClr val="000000"/>
                </a:solidFill>
                <a:latin typeface="楷体_GB2312" pitchFamily="49" charset="-122"/>
                <a:cs typeface="Times New Roman" panose="02020603050405020304" pitchFamily="18" charset="0"/>
              </a:rPr>
              <a:t>G</a:t>
            </a:r>
            <a:r>
              <a:rPr lang="zh-CN" altLang="en-US" sz="2400">
                <a:solidFill>
                  <a:srgbClr val="000000"/>
                </a:solidFill>
                <a:latin typeface="楷体_GB2312" pitchFamily="49" charset="-122"/>
                <a:cs typeface="Times New Roman" panose="02020603050405020304" pitchFamily="18" charset="0"/>
              </a:rPr>
              <a:t>表示课程成绩，</a:t>
            </a:r>
            <a:r>
              <a:rPr lang="en-US" altLang="zh-CN" sz="2400">
                <a:solidFill>
                  <a:srgbClr val="000000"/>
                </a:solidFill>
                <a:latin typeface="楷体_GB2312" pitchFamily="49" charset="-122"/>
                <a:cs typeface="Times New Roman" panose="02020603050405020304" pitchFamily="18" charset="0"/>
              </a:rPr>
              <a:t>H</a:t>
            </a:r>
            <a:r>
              <a:rPr lang="zh-CN" altLang="en-US" sz="2400">
                <a:solidFill>
                  <a:srgbClr val="000000"/>
                </a:solidFill>
                <a:latin typeface="楷体_GB2312" pitchFamily="49" charset="-122"/>
                <a:cs typeface="Times New Roman" panose="02020603050405020304" pitchFamily="18" charset="0"/>
              </a:rPr>
              <a:t>表示上课时间，</a:t>
            </a:r>
            <a:r>
              <a:rPr lang="en-US" altLang="zh-CN" sz="2400">
                <a:solidFill>
                  <a:srgbClr val="000000"/>
                </a:solidFill>
                <a:latin typeface="楷体_GB2312" pitchFamily="49" charset="-122"/>
                <a:cs typeface="Times New Roman" panose="02020603050405020304" pitchFamily="18" charset="0"/>
              </a:rPr>
              <a:t>P</a:t>
            </a:r>
            <a:r>
              <a:rPr lang="zh-CN" altLang="en-US" sz="2400">
                <a:solidFill>
                  <a:srgbClr val="000000"/>
                </a:solidFill>
                <a:latin typeface="楷体_GB2312" pitchFamily="49" charset="-122"/>
                <a:cs typeface="Times New Roman" panose="02020603050405020304" pitchFamily="18" charset="0"/>
              </a:rPr>
              <a:t>表示上课教室，</a:t>
            </a:r>
            <a:r>
              <a:rPr lang="en-US" altLang="zh-CN" sz="2400">
                <a:solidFill>
                  <a:srgbClr val="000000"/>
                </a:solidFill>
                <a:latin typeface="楷体_GB2312" pitchFamily="49" charset="-122"/>
                <a:cs typeface="Times New Roman" panose="02020603050405020304" pitchFamily="18" charset="0"/>
              </a:rPr>
              <a:t>T</a:t>
            </a:r>
            <a:r>
              <a:rPr lang="zh-CN" altLang="en-US" sz="2400">
                <a:solidFill>
                  <a:srgbClr val="000000"/>
                </a:solidFill>
                <a:latin typeface="楷体_GB2312" pitchFamily="49" charset="-122"/>
                <a:cs typeface="Times New Roman" panose="02020603050405020304" pitchFamily="18" charset="0"/>
              </a:rPr>
              <a:t>表示任课教师。由现实情况得知：</a:t>
            </a:r>
          </a:p>
          <a:p>
            <a:pPr algn="just">
              <a:buFont typeface="Wingdings" panose="05000000000000000000" pitchFamily="2" charset="2"/>
              <a:buChar char="u"/>
            </a:pPr>
            <a:r>
              <a:rPr lang="zh-CN" altLang="en-US" sz="2400">
                <a:solidFill>
                  <a:srgbClr val="000000"/>
                </a:solidFill>
                <a:latin typeface="楷体_GB2312" pitchFamily="49" charset="-122"/>
                <a:cs typeface="Times New Roman" panose="02020603050405020304" pitchFamily="18" charset="0"/>
              </a:rPr>
              <a:t>一门课程有一个任课教师；</a:t>
            </a:r>
          </a:p>
          <a:p>
            <a:pPr algn="just">
              <a:buFont typeface="Wingdings" panose="05000000000000000000" pitchFamily="2" charset="2"/>
              <a:buChar char="u"/>
            </a:pPr>
            <a:r>
              <a:rPr lang="zh-CN" altLang="en-US" sz="2400">
                <a:solidFill>
                  <a:srgbClr val="000000"/>
                </a:solidFill>
                <a:latin typeface="楷体_GB2312" pitchFamily="49" charset="-122"/>
                <a:cs typeface="Times New Roman" panose="02020603050405020304" pitchFamily="18" charset="0"/>
              </a:rPr>
              <a:t>上课时间和上课教室可以唯一确定所上的课程；</a:t>
            </a:r>
          </a:p>
          <a:p>
            <a:pPr algn="just">
              <a:buFont typeface="Wingdings" panose="05000000000000000000" pitchFamily="2" charset="2"/>
              <a:buChar char="u"/>
            </a:pPr>
            <a:r>
              <a:rPr lang="zh-CN" altLang="en-US" sz="2400">
                <a:solidFill>
                  <a:srgbClr val="000000"/>
                </a:solidFill>
                <a:latin typeface="楷体_GB2312" pitchFamily="49" charset="-122"/>
                <a:cs typeface="Times New Roman" panose="02020603050405020304" pitchFamily="18" charset="0"/>
              </a:rPr>
              <a:t>上课时间和任课教师也可以唯一确定所上的课程；</a:t>
            </a:r>
          </a:p>
          <a:p>
            <a:pPr algn="just">
              <a:buFont typeface="Wingdings" panose="05000000000000000000" pitchFamily="2" charset="2"/>
              <a:buChar char="u"/>
            </a:pPr>
            <a:r>
              <a:rPr lang="zh-CN" altLang="en-US" sz="2400">
                <a:solidFill>
                  <a:srgbClr val="000000"/>
                </a:solidFill>
                <a:latin typeface="楷体_GB2312" pitchFamily="49" charset="-122"/>
                <a:cs typeface="Times New Roman" panose="02020603050405020304" pitchFamily="18" charset="0"/>
              </a:rPr>
              <a:t>学生所上的每门课程都有一个成绩；</a:t>
            </a:r>
          </a:p>
          <a:p>
            <a:pPr algn="just">
              <a:buFont typeface="Wingdings" panose="05000000000000000000" pitchFamily="2" charset="2"/>
              <a:buChar char="u"/>
            </a:pPr>
            <a:r>
              <a:rPr lang="zh-CN" altLang="en-US" sz="2400">
                <a:solidFill>
                  <a:srgbClr val="000000"/>
                </a:solidFill>
                <a:latin typeface="楷体_GB2312" pitchFamily="49" charset="-122"/>
                <a:cs typeface="Times New Roman" panose="02020603050405020304" pitchFamily="18" charset="0"/>
              </a:rPr>
              <a:t>学生和上课时间可以唯一确定上课的教室。</a:t>
            </a:r>
          </a:p>
          <a:p>
            <a:pPr algn="just"/>
            <a:r>
              <a:rPr lang="zh-CN" altLang="en-US" sz="2400">
                <a:solidFill>
                  <a:srgbClr val="000000"/>
                </a:solidFill>
                <a:latin typeface="楷体_GB2312" pitchFamily="49" charset="-122"/>
                <a:cs typeface="Times New Roman" panose="02020603050405020304" pitchFamily="18" charset="0"/>
              </a:rPr>
              <a:t>要求对关系模式</a:t>
            </a:r>
            <a:r>
              <a:rPr lang="en-US" altLang="zh-CN" sz="2400">
                <a:solidFill>
                  <a:srgbClr val="000000"/>
                </a:solidFill>
                <a:latin typeface="楷体_GB2312" pitchFamily="49" charset="-122"/>
                <a:cs typeface="Times New Roman" panose="02020603050405020304" pitchFamily="18" charset="0"/>
              </a:rPr>
              <a:t>R</a:t>
            </a:r>
            <a:r>
              <a:rPr lang="zh-CN" altLang="en-US" sz="2400">
                <a:solidFill>
                  <a:srgbClr val="000000"/>
                </a:solidFill>
                <a:latin typeface="楷体_GB2312" pitchFamily="49" charset="-122"/>
                <a:cs typeface="Times New Roman" panose="02020603050405020304" pitchFamily="18" charset="0"/>
              </a:rPr>
              <a:t>进行规范化设计。</a:t>
            </a:r>
            <a:endParaRPr lang="zh-CN" altLang="en-US" sz="2400"/>
          </a:p>
        </p:txBody>
      </p:sp>
      <p:sp>
        <p:nvSpPr>
          <p:cNvPr id="655363" name="AutoShape 3">
            <a:extLst>
              <a:ext uri="{FF2B5EF4-FFF2-40B4-BE49-F238E27FC236}">
                <a16:creationId xmlns:a16="http://schemas.microsoft.com/office/drawing/2014/main" id="{AD9B5A0E-A9F9-4DB3-88B0-9C23193B075F}"/>
              </a:ext>
            </a:extLst>
          </p:cNvPr>
          <p:cNvSpPr>
            <a:spLocks noChangeArrowheads="1"/>
          </p:cNvSpPr>
          <p:nvPr/>
        </p:nvSpPr>
        <p:spPr bwMode="auto">
          <a:xfrm>
            <a:off x="2193925" y="188913"/>
            <a:ext cx="2162175" cy="647700"/>
          </a:xfrm>
          <a:prstGeom prst="flowChartDelay">
            <a:avLst/>
          </a:prstGeom>
          <a:solidFill>
            <a:srgbClr val="CCFFFF"/>
          </a:solidFill>
          <a:ln w="12700" cap="sq">
            <a:solidFill>
              <a:schemeClr val="tx1"/>
            </a:solidFill>
            <a:miter lim="800000"/>
            <a:headEnd type="none" w="sm" len="sm"/>
            <a:tailEnd type="none" w="sm" len="sm"/>
          </a:ln>
          <a:effectLst>
            <a:outerShdw dist="71842" dir="2700000" algn="ctr" rotWithShape="0">
              <a:schemeClr val="tx1"/>
            </a:outerShdw>
          </a:effectLst>
        </p:spPr>
        <p:txBody>
          <a:bodyPr wrap="none" anchor="ctr"/>
          <a:lstStyle/>
          <a:p>
            <a:pPr algn="ctr"/>
            <a:r>
              <a:rPr lang="zh-CN" altLang="en-US" sz="2800" b="1">
                <a:solidFill>
                  <a:srgbClr val="660066"/>
                </a:solidFill>
                <a:effectLst>
                  <a:outerShdw blurRad="38100" dist="38100" dir="2700000" algn="tl">
                    <a:srgbClr val="000000"/>
                  </a:outerShdw>
                </a:effectLst>
                <a:ea typeface="隶书" panose="02010509060101010101" pitchFamily="49" charset="-122"/>
              </a:rPr>
              <a:t>示例讲解</a:t>
            </a:r>
            <a:endParaRPr lang="en-US" altLang="zh-CN" sz="2800" b="1">
              <a:solidFill>
                <a:srgbClr val="660066"/>
              </a:solidFill>
              <a:effectLst>
                <a:outerShdw blurRad="38100" dist="38100" dir="2700000" algn="tl">
                  <a:srgbClr val="000000"/>
                </a:outerShdw>
              </a:effectLst>
              <a:ea typeface="隶书" panose="02010509060101010101" pitchFamily="49"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2635"/>
    </mc:Choice>
    <mc:Fallback xmlns="">
      <p:transition spd="slow" advTm="42635"/>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55369">
                                            <p:txEl>
                                              <p:pRg st="0" end="0"/>
                                            </p:txEl>
                                          </p:spTgt>
                                        </p:tgtEl>
                                        <p:attrNameLst>
                                          <p:attrName>style.visibility</p:attrName>
                                        </p:attrNameLst>
                                      </p:cBhvr>
                                      <p:to>
                                        <p:strVal val="visible"/>
                                      </p:to>
                                    </p:set>
                                    <p:animEffect transition="in" filter="wipe(left)">
                                      <p:cBhvr>
                                        <p:cTn id="7" dur="1000"/>
                                        <p:tgtEl>
                                          <p:spTgt spid="655369">
                                            <p:txEl>
                                              <p:pRg st="0" end="0"/>
                                            </p:txEl>
                                          </p:spTgt>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655369">
                                            <p:txEl>
                                              <p:pRg st="1" end="1"/>
                                            </p:txEl>
                                          </p:spTgt>
                                        </p:tgtEl>
                                        <p:attrNameLst>
                                          <p:attrName>style.visibility</p:attrName>
                                        </p:attrNameLst>
                                      </p:cBhvr>
                                      <p:to>
                                        <p:strVal val="visible"/>
                                      </p:to>
                                    </p:set>
                                    <p:animEffect transition="in" filter="wipe(left)">
                                      <p:cBhvr>
                                        <p:cTn id="11" dur="1000"/>
                                        <p:tgtEl>
                                          <p:spTgt spid="655369">
                                            <p:txEl>
                                              <p:pRg st="1" end="1"/>
                                            </p:txEl>
                                          </p:spTgt>
                                        </p:tgtEl>
                                      </p:cBhvr>
                                    </p:animEffect>
                                  </p:childTnLst>
                                </p:cTn>
                              </p:par>
                            </p:childTnLst>
                          </p:cTn>
                        </p:par>
                        <p:par>
                          <p:cTn id="12" fill="hold" nodeType="afterGroup">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655369">
                                            <p:txEl>
                                              <p:pRg st="2" end="2"/>
                                            </p:txEl>
                                          </p:spTgt>
                                        </p:tgtEl>
                                        <p:attrNameLst>
                                          <p:attrName>style.visibility</p:attrName>
                                        </p:attrNameLst>
                                      </p:cBhvr>
                                      <p:to>
                                        <p:strVal val="visible"/>
                                      </p:to>
                                    </p:set>
                                    <p:animEffect transition="in" filter="wipe(left)">
                                      <p:cBhvr>
                                        <p:cTn id="15" dur="1000"/>
                                        <p:tgtEl>
                                          <p:spTgt spid="655369">
                                            <p:txEl>
                                              <p:pRg st="2" end="2"/>
                                            </p:txEl>
                                          </p:spTgt>
                                        </p:tgtEl>
                                      </p:cBhvr>
                                    </p:animEffect>
                                  </p:childTnLst>
                                </p:cTn>
                              </p:par>
                            </p:childTnLst>
                          </p:cTn>
                        </p:par>
                        <p:par>
                          <p:cTn id="16" fill="hold" nodeType="afterGroup">
                            <p:stCondLst>
                              <p:cond delay="3000"/>
                            </p:stCondLst>
                            <p:childTnLst>
                              <p:par>
                                <p:cTn id="17" presetID="22" presetClass="entr" presetSubtype="8" fill="hold" grpId="0" nodeType="afterEffect">
                                  <p:stCondLst>
                                    <p:cond delay="0"/>
                                  </p:stCondLst>
                                  <p:childTnLst>
                                    <p:set>
                                      <p:cBhvr>
                                        <p:cTn id="18" dur="1" fill="hold">
                                          <p:stCondLst>
                                            <p:cond delay="0"/>
                                          </p:stCondLst>
                                        </p:cTn>
                                        <p:tgtEl>
                                          <p:spTgt spid="655369">
                                            <p:txEl>
                                              <p:pRg st="3" end="3"/>
                                            </p:txEl>
                                          </p:spTgt>
                                        </p:tgtEl>
                                        <p:attrNameLst>
                                          <p:attrName>style.visibility</p:attrName>
                                        </p:attrNameLst>
                                      </p:cBhvr>
                                      <p:to>
                                        <p:strVal val="visible"/>
                                      </p:to>
                                    </p:set>
                                    <p:animEffect transition="in" filter="wipe(left)">
                                      <p:cBhvr>
                                        <p:cTn id="19" dur="1000"/>
                                        <p:tgtEl>
                                          <p:spTgt spid="655369">
                                            <p:txEl>
                                              <p:pRg st="3" end="3"/>
                                            </p:txEl>
                                          </p:spTgt>
                                        </p:tgtEl>
                                      </p:cBhvr>
                                    </p:animEffect>
                                  </p:childTnLst>
                                </p:cTn>
                              </p:par>
                            </p:childTnLst>
                          </p:cTn>
                        </p:par>
                        <p:par>
                          <p:cTn id="20" fill="hold" nodeType="afterGroup">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655369">
                                            <p:txEl>
                                              <p:pRg st="4" end="4"/>
                                            </p:txEl>
                                          </p:spTgt>
                                        </p:tgtEl>
                                        <p:attrNameLst>
                                          <p:attrName>style.visibility</p:attrName>
                                        </p:attrNameLst>
                                      </p:cBhvr>
                                      <p:to>
                                        <p:strVal val="visible"/>
                                      </p:to>
                                    </p:set>
                                    <p:animEffect transition="in" filter="wipe(left)">
                                      <p:cBhvr>
                                        <p:cTn id="23" dur="1000"/>
                                        <p:tgtEl>
                                          <p:spTgt spid="655369">
                                            <p:txEl>
                                              <p:pRg st="4" end="4"/>
                                            </p:txEl>
                                          </p:spTgt>
                                        </p:tgtEl>
                                      </p:cBhvr>
                                    </p:animEffect>
                                  </p:childTnLst>
                                </p:cTn>
                              </p:par>
                            </p:childTnLst>
                          </p:cTn>
                        </p:par>
                        <p:par>
                          <p:cTn id="24" fill="hold" nodeType="afterGroup">
                            <p:stCondLst>
                              <p:cond delay="5000"/>
                            </p:stCondLst>
                            <p:childTnLst>
                              <p:par>
                                <p:cTn id="25" presetID="22" presetClass="entr" presetSubtype="8" fill="hold" grpId="0" nodeType="afterEffect">
                                  <p:stCondLst>
                                    <p:cond delay="0"/>
                                  </p:stCondLst>
                                  <p:childTnLst>
                                    <p:set>
                                      <p:cBhvr>
                                        <p:cTn id="26" dur="1" fill="hold">
                                          <p:stCondLst>
                                            <p:cond delay="0"/>
                                          </p:stCondLst>
                                        </p:cTn>
                                        <p:tgtEl>
                                          <p:spTgt spid="655369">
                                            <p:txEl>
                                              <p:pRg st="5" end="5"/>
                                            </p:txEl>
                                          </p:spTgt>
                                        </p:tgtEl>
                                        <p:attrNameLst>
                                          <p:attrName>style.visibility</p:attrName>
                                        </p:attrNameLst>
                                      </p:cBhvr>
                                      <p:to>
                                        <p:strVal val="visible"/>
                                      </p:to>
                                    </p:set>
                                    <p:animEffect transition="in" filter="wipe(left)">
                                      <p:cBhvr>
                                        <p:cTn id="27" dur="1000"/>
                                        <p:tgtEl>
                                          <p:spTgt spid="655369">
                                            <p:txEl>
                                              <p:pRg st="5" end="5"/>
                                            </p:txEl>
                                          </p:spTgt>
                                        </p:tgtEl>
                                      </p:cBhvr>
                                    </p:animEffect>
                                  </p:childTnLst>
                                </p:cTn>
                              </p:par>
                            </p:childTnLst>
                          </p:cTn>
                        </p:par>
                        <p:par>
                          <p:cTn id="28" fill="hold" nodeType="afterGroup">
                            <p:stCondLst>
                              <p:cond delay="6000"/>
                            </p:stCondLst>
                            <p:childTnLst>
                              <p:par>
                                <p:cTn id="29" presetID="22" presetClass="entr" presetSubtype="8" fill="hold" grpId="0" nodeType="afterEffect">
                                  <p:stCondLst>
                                    <p:cond delay="0"/>
                                  </p:stCondLst>
                                  <p:childTnLst>
                                    <p:set>
                                      <p:cBhvr>
                                        <p:cTn id="30" dur="1" fill="hold">
                                          <p:stCondLst>
                                            <p:cond delay="0"/>
                                          </p:stCondLst>
                                        </p:cTn>
                                        <p:tgtEl>
                                          <p:spTgt spid="655369">
                                            <p:txEl>
                                              <p:pRg st="6" end="6"/>
                                            </p:txEl>
                                          </p:spTgt>
                                        </p:tgtEl>
                                        <p:attrNameLst>
                                          <p:attrName>style.visibility</p:attrName>
                                        </p:attrNameLst>
                                      </p:cBhvr>
                                      <p:to>
                                        <p:strVal val="visible"/>
                                      </p:to>
                                    </p:set>
                                    <p:animEffect transition="in" filter="wipe(left)">
                                      <p:cBhvr>
                                        <p:cTn id="31" dur="1000"/>
                                        <p:tgtEl>
                                          <p:spTgt spid="65536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69" grpId="0" build="p"/>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7010" name="AutoShape 2">
            <a:extLst>
              <a:ext uri="{FF2B5EF4-FFF2-40B4-BE49-F238E27FC236}">
                <a16:creationId xmlns:a16="http://schemas.microsoft.com/office/drawing/2014/main" id="{3DB5150E-8EC2-4BC7-82E5-5E7135085B8F}"/>
              </a:ext>
            </a:extLst>
          </p:cNvPr>
          <p:cNvSpPr>
            <a:spLocks noChangeArrowheads="1"/>
          </p:cNvSpPr>
          <p:nvPr/>
        </p:nvSpPr>
        <p:spPr bwMode="auto">
          <a:xfrm>
            <a:off x="2193925" y="188913"/>
            <a:ext cx="2162175" cy="647700"/>
          </a:xfrm>
          <a:prstGeom prst="flowChartDelay">
            <a:avLst/>
          </a:prstGeom>
          <a:solidFill>
            <a:srgbClr val="CCFFFF"/>
          </a:solidFill>
          <a:ln w="12700" cap="sq">
            <a:solidFill>
              <a:schemeClr val="tx1"/>
            </a:solidFill>
            <a:miter lim="800000"/>
            <a:headEnd type="none" w="sm" len="sm"/>
            <a:tailEnd type="none" w="sm" len="sm"/>
          </a:ln>
          <a:effectLst>
            <a:outerShdw dist="71842" dir="2700000" algn="ctr" rotWithShape="0">
              <a:schemeClr val="tx1"/>
            </a:outerShdw>
          </a:effectLst>
        </p:spPr>
        <p:txBody>
          <a:bodyPr wrap="none" anchor="ctr"/>
          <a:lstStyle/>
          <a:p>
            <a:pPr algn="ctr"/>
            <a:r>
              <a:rPr lang="zh-CN" altLang="en-US" sz="2800" b="1">
                <a:solidFill>
                  <a:srgbClr val="660066"/>
                </a:solidFill>
                <a:effectLst>
                  <a:outerShdw blurRad="38100" dist="38100" dir="2700000" algn="tl">
                    <a:srgbClr val="000000"/>
                  </a:outerShdw>
                </a:effectLst>
                <a:ea typeface="隶书" panose="02010509060101010101" pitchFamily="49" charset="-122"/>
              </a:rPr>
              <a:t>示例讲解</a:t>
            </a:r>
            <a:endParaRPr lang="en-US" altLang="zh-CN" sz="2800" b="1">
              <a:solidFill>
                <a:srgbClr val="660066"/>
              </a:solidFill>
              <a:effectLst>
                <a:outerShdw blurRad="38100" dist="38100" dir="2700000" algn="tl">
                  <a:srgbClr val="000000"/>
                </a:outerShdw>
              </a:effectLst>
              <a:ea typeface="隶书" panose="02010509060101010101" pitchFamily="49" charset="-122"/>
            </a:endParaRPr>
          </a:p>
        </p:txBody>
      </p:sp>
      <p:sp>
        <p:nvSpPr>
          <p:cNvPr id="1067011" name="Rectangle 3">
            <a:extLst>
              <a:ext uri="{FF2B5EF4-FFF2-40B4-BE49-F238E27FC236}">
                <a16:creationId xmlns:a16="http://schemas.microsoft.com/office/drawing/2014/main" id="{879752D6-66F0-47F1-B42D-42F2A31EC07B}"/>
              </a:ext>
            </a:extLst>
          </p:cNvPr>
          <p:cNvSpPr>
            <a:spLocks noGrp="1" noChangeArrowheads="1"/>
          </p:cNvSpPr>
          <p:nvPr>
            <p:ph type="body" idx="1"/>
          </p:nvPr>
        </p:nvSpPr>
        <p:spPr/>
        <p:txBody>
          <a:bodyPr/>
          <a:lstStyle/>
          <a:p>
            <a:pPr algn="just"/>
            <a:r>
              <a:rPr lang="zh-CN" altLang="en-US" i="1">
                <a:solidFill>
                  <a:srgbClr val="008000"/>
                </a:solidFill>
                <a:latin typeface="楷体_GB2312" pitchFamily="49" charset="-122"/>
                <a:cs typeface="Times New Roman" panose="02020603050405020304" pitchFamily="18" charset="0"/>
              </a:rPr>
              <a:t>例</a:t>
            </a:r>
            <a:r>
              <a:rPr lang="en-US" altLang="zh-CN">
                <a:solidFill>
                  <a:srgbClr val="000000"/>
                </a:solidFill>
                <a:latin typeface="楷体_GB2312" pitchFamily="49" charset="-122"/>
                <a:cs typeface="Times New Roman" panose="02020603050405020304" pitchFamily="18" charset="0"/>
              </a:rPr>
              <a:t> </a:t>
            </a:r>
            <a:r>
              <a:rPr lang="zh-CN" altLang="en-US">
                <a:solidFill>
                  <a:srgbClr val="000000"/>
                </a:solidFill>
                <a:latin typeface="楷体_GB2312" pitchFamily="49" charset="-122"/>
                <a:cs typeface="Times New Roman" panose="02020603050405020304" pitchFamily="18" charset="0"/>
              </a:rPr>
              <a:t>设有关系模式</a:t>
            </a:r>
            <a:r>
              <a:rPr lang="en-US" altLang="zh-CN">
                <a:solidFill>
                  <a:srgbClr val="000000"/>
                </a:solidFill>
                <a:latin typeface="楷体_GB2312" pitchFamily="49" charset="-122"/>
                <a:cs typeface="Times New Roman" panose="02020603050405020304" pitchFamily="18" charset="0"/>
              </a:rPr>
              <a:t>R(CTHPSG)</a:t>
            </a:r>
            <a:endParaRPr lang="zh-CN" altLang="en-US">
              <a:solidFill>
                <a:srgbClr val="000000"/>
              </a:solidFill>
              <a:latin typeface="楷体_GB2312" pitchFamily="49" charset="-122"/>
              <a:cs typeface="Times New Roman" panose="02020603050405020304" pitchFamily="18" charset="0"/>
            </a:endParaRPr>
          </a:p>
          <a:p>
            <a:pPr algn="just"/>
            <a:r>
              <a:rPr lang="zh-CN" altLang="en-US">
                <a:solidFill>
                  <a:srgbClr val="000000"/>
                </a:solidFill>
                <a:latin typeface="楷体_GB2312" pitchFamily="49" charset="-122"/>
                <a:cs typeface="Times New Roman" panose="02020603050405020304" pitchFamily="18" charset="0"/>
              </a:rPr>
              <a:t>解：</a:t>
            </a:r>
          </a:p>
          <a:p>
            <a:pPr algn="just"/>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1</a:t>
            </a:r>
            <a:r>
              <a:rPr lang="zh-CN" altLang="en-US">
                <a:solidFill>
                  <a:srgbClr val="000000"/>
                </a:solidFill>
                <a:latin typeface="楷体_GB2312" pitchFamily="49" charset="-122"/>
                <a:cs typeface="Times New Roman" panose="02020603050405020304" pitchFamily="18" charset="0"/>
              </a:rPr>
              <a:t>）确定关系模式的函数依赖集</a:t>
            </a:r>
            <a:r>
              <a:rPr lang="en-US" altLang="zh-CN">
                <a:solidFill>
                  <a:srgbClr val="000000"/>
                </a:solidFill>
                <a:latin typeface="楷体_GB2312" pitchFamily="49" charset="-122"/>
                <a:cs typeface="Times New Roman" panose="02020603050405020304" pitchFamily="18" charset="0"/>
              </a:rPr>
              <a:t>F</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363"/>
    </mc:Choice>
    <mc:Fallback xmlns="">
      <p:transition spd="slow" advTm="7363"/>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67011">
                                            <p:txEl>
                                              <p:pRg st="1" end="1"/>
                                            </p:txEl>
                                          </p:spTgt>
                                        </p:tgtEl>
                                        <p:attrNameLst>
                                          <p:attrName>style.visibility</p:attrName>
                                        </p:attrNameLst>
                                      </p:cBhvr>
                                      <p:to>
                                        <p:strVal val="visible"/>
                                      </p:to>
                                    </p:set>
                                    <p:animEffect transition="in" filter="wipe(left)">
                                      <p:cBhvr>
                                        <p:cTn id="7" dur="1000"/>
                                        <p:tgtEl>
                                          <p:spTgt spid="1067011">
                                            <p:txEl>
                                              <p:pRg st="1" end="1"/>
                                            </p:txEl>
                                          </p:spTgt>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067011">
                                            <p:txEl>
                                              <p:pRg st="2" end="2"/>
                                            </p:txEl>
                                          </p:spTgt>
                                        </p:tgtEl>
                                        <p:attrNameLst>
                                          <p:attrName>style.visibility</p:attrName>
                                        </p:attrNameLst>
                                      </p:cBhvr>
                                      <p:to>
                                        <p:strVal val="visible"/>
                                      </p:to>
                                    </p:set>
                                    <p:animEffect transition="in" filter="wipe(left)">
                                      <p:cBhvr>
                                        <p:cTn id="11" dur="1000"/>
                                        <p:tgtEl>
                                          <p:spTgt spid="10670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7011"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9058" name="Rectangle 2">
            <a:extLst>
              <a:ext uri="{FF2B5EF4-FFF2-40B4-BE49-F238E27FC236}">
                <a16:creationId xmlns:a16="http://schemas.microsoft.com/office/drawing/2014/main" id="{FC7D6C4F-A629-4B45-899E-FA56533C0E66}"/>
              </a:ext>
            </a:extLst>
          </p:cNvPr>
          <p:cNvSpPr>
            <a:spLocks noGrp="1" noChangeArrowheads="1"/>
          </p:cNvSpPr>
          <p:nvPr>
            <p:ph type="body" idx="1"/>
          </p:nvPr>
        </p:nvSpPr>
        <p:spPr/>
        <p:txBody>
          <a:bodyPr/>
          <a:lstStyle/>
          <a:p>
            <a:pPr algn="just"/>
            <a:r>
              <a:rPr lang="zh-CN" altLang="en-US" sz="2400" i="1">
                <a:solidFill>
                  <a:srgbClr val="008000"/>
                </a:solidFill>
                <a:latin typeface="楷体_GB2312" pitchFamily="49" charset="-122"/>
                <a:cs typeface="Times New Roman" panose="02020603050405020304" pitchFamily="18" charset="0"/>
              </a:rPr>
              <a:t>例</a:t>
            </a:r>
            <a:r>
              <a:rPr lang="en-US" altLang="zh-CN" sz="2400">
                <a:solidFill>
                  <a:srgbClr val="000000"/>
                </a:solidFill>
                <a:latin typeface="楷体_GB2312" pitchFamily="49" charset="-122"/>
                <a:cs typeface="Times New Roman" panose="02020603050405020304" pitchFamily="18" charset="0"/>
              </a:rPr>
              <a:t> </a:t>
            </a:r>
            <a:r>
              <a:rPr lang="zh-CN" altLang="en-US" sz="2400">
                <a:solidFill>
                  <a:srgbClr val="000000"/>
                </a:solidFill>
                <a:latin typeface="楷体_GB2312" pitchFamily="49" charset="-122"/>
                <a:cs typeface="Times New Roman" panose="02020603050405020304" pitchFamily="18" charset="0"/>
              </a:rPr>
              <a:t>设有关系模式</a:t>
            </a:r>
            <a:r>
              <a:rPr lang="en-US" altLang="zh-CN" sz="2400">
                <a:solidFill>
                  <a:srgbClr val="000000"/>
                </a:solidFill>
                <a:latin typeface="楷体_GB2312" pitchFamily="49" charset="-122"/>
                <a:cs typeface="Times New Roman" panose="02020603050405020304" pitchFamily="18" charset="0"/>
              </a:rPr>
              <a:t>R(CTHPSG),</a:t>
            </a:r>
            <a:r>
              <a:rPr lang="zh-CN" altLang="en-US" sz="2400">
                <a:solidFill>
                  <a:srgbClr val="000000"/>
                </a:solidFill>
                <a:latin typeface="楷体_GB2312" pitchFamily="49" charset="-122"/>
                <a:cs typeface="Times New Roman" panose="02020603050405020304" pitchFamily="18" charset="0"/>
              </a:rPr>
              <a:t> 其中</a:t>
            </a:r>
            <a:r>
              <a:rPr lang="en-US" altLang="zh-CN" sz="2400">
                <a:solidFill>
                  <a:srgbClr val="000000"/>
                </a:solidFill>
                <a:latin typeface="楷体_GB2312" pitchFamily="49" charset="-122"/>
                <a:cs typeface="Times New Roman" panose="02020603050405020304" pitchFamily="18" charset="0"/>
              </a:rPr>
              <a:t>S</a:t>
            </a:r>
            <a:r>
              <a:rPr lang="zh-CN" altLang="en-US" sz="2400">
                <a:solidFill>
                  <a:srgbClr val="000000"/>
                </a:solidFill>
                <a:latin typeface="楷体_GB2312" pitchFamily="49" charset="-122"/>
                <a:cs typeface="Times New Roman" panose="02020603050405020304" pitchFamily="18" charset="0"/>
              </a:rPr>
              <a:t>表示学生，</a:t>
            </a:r>
            <a:r>
              <a:rPr lang="en-US" altLang="zh-CN" sz="2400">
                <a:solidFill>
                  <a:srgbClr val="000000"/>
                </a:solidFill>
                <a:latin typeface="楷体_GB2312" pitchFamily="49" charset="-122"/>
                <a:cs typeface="Times New Roman" panose="02020603050405020304" pitchFamily="18" charset="0"/>
              </a:rPr>
              <a:t>C</a:t>
            </a:r>
            <a:r>
              <a:rPr lang="zh-CN" altLang="en-US" sz="2400">
                <a:solidFill>
                  <a:srgbClr val="000000"/>
                </a:solidFill>
                <a:latin typeface="楷体_GB2312" pitchFamily="49" charset="-122"/>
                <a:cs typeface="Times New Roman" panose="02020603050405020304" pitchFamily="18" charset="0"/>
              </a:rPr>
              <a:t>表示课程，</a:t>
            </a:r>
            <a:r>
              <a:rPr lang="en-US" altLang="zh-CN" sz="2400">
                <a:solidFill>
                  <a:srgbClr val="000000"/>
                </a:solidFill>
                <a:latin typeface="楷体_GB2312" pitchFamily="49" charset="-122"/>
                <a:cs typeface="Times New Roman" panose="02020603050405020304" pitchFamily="18" charset="0"/>
              </a:rPr>
              <a:t>G</a:t>
            </a:r>
            <a:r>
              <a:rPr lang="zh-CN" altLang="en-US" sz="2400">
                <a:solidFill>
                  <a:srgbClr val="000000"/>
                </a:solidFill>
                <a:latin typeface="楷体_GB2312" pitchFamily="49" charset="-122"/>
                <a:cs typeface="Times New Roman" panose="02020603050405020304" pitchFamily="18" charset="0"/>
              </a:rPr>
              <a:t>表示课程成绩，</a:t>
            </a:r>
            <a:r>
              <a:rPr lang="en-US" altLang="zh-CN" sz="2400">
                <a:solidFill>
                  <a:srgbClr val="000000"/>
                </a:solidFill>
                <a:latin typeface="楷体_GB2312" pitchFamily="49" charset="-122"/>
                <a:cs typeface="Times New Roman" panose="02020603050405020304" pitchFamily="18" charset="0"/>
              </a:rPr>
              <a:t>H</a:t>
            </a:r>
            <a:r>
              <a:rPr lang="zh-CN" altLang="en-US" sz="2400">
                <a:solidFill>
                  <a:srgbClr val="000000"/>
                </a:solidFill>
                <a:latin typeface="楷体_GB2312" pitchFamily="49" charset="-122"/>
                <a:cs typeface="Times New Roman" panose="02020603050405020304" pitchFamily="18" charset="0"/>
              </a:rPr>
              <a:t>表示上课时间，</a:t>
            </a:r>
            <a:r>
              <a:rPr lang="en-US" altLang="zh-CN" sz="2400">
                <a:solidFill>
                  <a:srgbClr val="000000"/>
                </a:solidFill>
                <a:latin typeface="楷体_GB2312" pitchFamily="49" charset="-122"/>
                <a:cs typeface="Times New Roman" panose="02020603050405020304" pitchFamily="18" charset="0"/>
              </a:rPr>
              <a:t>P</a:t>
            </a:r>
            <a:r>
              <a:rPr lang="zh-CN" altLang="en-US" sz="2400">
                <a:solidFill>
                  <a:srgbClr val="000000"/>
                </a:solidFill>
                <a:latin typeface="楷体_GB2312" pitchFamily="49" charset="-122"/>
                <a:cs typeface="Times New Roman" panose="02020603050405020304" pitchFamily="18" charset="0"/>
              </a:rPr>
              <a:t>表示上课教室，</a:t>
            </a:r>
            <a:r>
              <a:rPr lang="en-US" altLang="zh-CN" sz="2400">
                <a:solidFill>
                  <a:srgbClr val="000000"/>
                </a:solidFill>
                <a:latin typeface="楷体_GB2312" pitchFamily="49" charset="-122"/>
                <a:cs typeface="Times New Roman" panose="02020603050405020304" pitchFamily="18" charset="0"/>
              </a:rPr>
              <a:t>T</a:t>
            </a:r>
            <a:r>
              <a:rPr lang="zh-CN" altLang="en-US" sz="2400">
                <a:solidFill>
                  <a:srgbClr val="000000"/>
                </a:solidFill>
                <a:latin typeface="楷体_GB2312" pitchFamily="49" charset="-122"/>
                <a:cs typeface="Times New Roman" panose="02020603050405020304" pitchFamily="18" charset="0"/>
              </a:rPr>
              <a:t>表示任课教师。由现实情况得知：</a:t>
            </a:r>
          </a:p>
          <a:p>
            <a:pPr algn="just">
              <a:buFont typeface="Wingdings" panose="05000000000000000000" pitchFamily="2" charset="2"/>
              <a:buChar char="u"/>
            </a:pPr>
            <a:r>
              <a:rPr lang="zh-CN" altLang="en-US" sz="2400">
                <a:solidFill>
                  <a:srgbClr val="000000"/>
                </a:solidFill>
                <a:latin typeface="楷体_GB2312" pitchFamily="49" charset="-122"/>
                <a:cs typeface="Times New Roman" panose="02020603050405020304" pitchFamily="18" charset="0"/>
              </a:rPr>
              <a:t>一门课程有一个任课教师；</a:t>
            </a:r>
          </a:p>
          <a:p>
            <a:pPr algn="just">
              <a:buFont typeface="Wingdings" panose="05000000000000000000" pitchFamily="2" charset="2"/>
              <a:buChar char="u"/>
            </a:pPr>
            <a:r>
              <a:rPr lang="zh-CN" altLang="en-US" sz="2400">
                <a:solidFill>
                  <a:srgbClr val="000000"/>
                </a:solidFill>
                <a:latin typeface="楷体_GB2312" pitchFamily="49" charset="-122"/>
                <a:cs typeface="Times New Roman" panose="02020603050405020304" pitchFamily="18" charset="0"/>
              </a:rPr>
              <a:t>上课时间和上课教室可以唯一确定所上的课程；</a:t>
            </a:r>
          </a:p>
          <a:p>
            <a:pPr algn="just">
              <a:buFont typeface="Wingdings" panose="05000000000000000000" pitchFamily="2" charset="2"/>
              <a:buChar char="u"/>
            </a:pPr>
            <a:r>
              <a:rPr lang="zh-CN" altLang="en-US" sz="2400">
                <a:solidFill>
                  <a:srgbClr val="000000"/>
                </a:solidFill>
                <a:latin typeface="楷体_GB2312" pitchFamily="49" charset="-122"/>
                <a:cs typeface="Times New Roman" panose="02020603050405020304" pitchFamily="18" charset="0"/>
              </a:rPr>
              <a:t>上课时间和任课教师也可以唯一确定所上的课程；</a:t>
            </a:r>
          </a:p>
          <a:p>
            <a:pPr algn="just">
              <a:buFont typeface="Wingdings" panose="05000000000000000000" pitchFamily="2" charset="2"/>
              <a:buChar char="u"/>
            </a:pPr>
            <a:r>
              <a:rPr lang="zh-CN" altLang="en-US" sz="2400">
                <a:solidFill>
                  <a:srgbClr val="000000"/>
                </a:solidFill>
                <a:latin typeface="楷体_GB2312" pitchFamily="49" charset="-122"/>
                <a:cs typeface="Times New Roman" panose="02020603050405020304" pitchFamily="18" charset="0"/>
              </a:rPr>
              <a:t>学生所上的每门课程都有一个成绩；</a:t>
            </a:r>
          </a:p>
          <a:p>
            <a:pPr algn="just">
              <a:buFont typeface="Wingdings" panose="05000000000000000000" pitchFamily="2" charset="2"/>
              <a:buChar char="u"/>
            </a:pPr>
            <a:r>
              <a:rPr lang="zh-CN" altLang="en-US" sz="2400">
                <a:solidFill>
                  <a:srgbClr val="000000"/>
                </a:solidFill>
                <a:latin typeface="楷体_GB2312" pitchFamily="49" charset="-122"/>
                <a:cs typeface="Times New Roman" panose="02020603050405020304" pitchFamily="18" charset="0"/>
              </a:rPr>
              <a:t>学生和上课时间可以唯一确定上课的教室。</a:t>
            </a:r>
          </a:p>
          <a:p>
            <a:pPr algn="just"/>
            <a:r>
              <a:rPr lang="zh-CN" altLang="en-US" sz="2400">
                <a:solidFill>
                  <a:srgbClr val="000000"/>
                </a:solidFill>
                <a:latin typeface="楷体_GB2312" pitchFamily="49" charset="-122"/>
                <a:cs typeface="Times New Roman" panose="02020603050405020304" pitchFamily="18" charset="0"/>
              </a:rPr>
              <a:t>要求对关系模式</a:t>
            </a:r>
            <a:r>
              <a:rPr lang="en-US" altLang="zh-CN" sz="2400">
                <a:solidFill>
                  <a:srgbClr val="000000"/>
                </a:solidFill>
                <a:latin typeface="楷体_GB2312" pitchFamily="49" charset="-122"/>
                <a:cs typeface="Times New Roman" panose="02020603050405020304" pitchFamily="18" charset="0"/>
              </a:rPr>
              <a:t>R</a:t>
            </a:r>
            <a:r>
              <a:rPr lang="zh-CN" altLang="en-US" sz="2400">
                <a:solidFill>
                  <a:srgbClr val="000000"/>
                </a:solidFill>
                <a:latin typeface="楷体_GB2312" pitchFamily="49" charset="-122"/>
                <a:cs typeface="Times New Roman" panose="02020603050405020304" pitchFamily="18" charset="0"/>
              </a:rPr>
              <a:t>进行规范化设计。</a:t>
            </a:r>
            <a:endParaRPr lang="zh-CN" altLang="en-US" sz="2400"/>
          </a:p>
        </p:txBody>
      </p:sp>
      <p:sp>
        <p:nvSpPr>
          <p:cNvPr id="1069059" name="AutoShape 3">
            <a:extLst>
              <a:ext uri="{FF2B5EF4-FFF2-40B4-BE49-F238E27FC236}">
                <a16:creationId xmlns:a16="http://schemas.microsoft.com/office/drawing/2014/main" id="{CD2B87E8-5212-48D6-823A-A6D53890ABAB}"/>
              </a:ext>
            </a:extLst>
          </p:cNvPr>
          <p:cNvSpPr>
            <a:spLocks noChangeArrowheads="1"/>
          </p:cNvSpPr>
          <p:nvPr/>
        </p:nvSpPr>
        <p:spPr bwMode="auto">
          <a:xfrm>
            <a:off x="2193925" y="188913"/>
            <a:ext cx="2162175" cy="647700"/>
          </a:xfrm>
          <a:prstGeom prst="flowChartDelay">
            <a:avLst/>
          </a:prstGeom>
          <a:solidFill>
            <a:srgbClr val="CCFFFF"/>
          </a:solidFill>
          <a:ln w="12700" cap="sq">
            <a:solidFill>
              <a:schemeClr val="tx1"/>
            </a:solidFill>
            <a:miter lim="800000"/>
            <a:headEnd type="none" w="sm" len="sm"/>
            <a:tailEnd type="none" w="sm" len="sm"/>
          </a:ln>
          <a:effectLst>
            <a:outerShdw dist="71842" dir="2700000" algn="ctr" rotWithShape="0">
              <a:schemeClr val="tx1"/>
            </a:outerShdw>
          </a:effectLst>
        </p:spPr>
        <p:txBody>
          <a:bodyPr wrap="none" anchor="ctr"/>
          <a:lstStyle/>
          <a:p>
            <a:pPr algn="ctr"/>
            <a:r>
              <a:rPr lang="zh-CN" altLang="en-US" sz="2800" b="1">
                <a:solidFill>
                  <a:srgbClr val="660066"/>
                </a:solidFill>
                <a:effectLst>
                  <a:outerShdw blurRad="38100" dist="38100" dir="2700000" algn="tl">
                    <a:srgbClr val="000000"/>
                  </a:outerShdw>
                </a:effectLst>
                <a:ea typeface="隶书" panose="02010509060101010101" pitchFamily="49" charset="-122"/>
              </a:rPr>
              <a:t>示例讲解</a:t>
            </a:r>
            <a:endParaRPr lang="en-US" altLang="zh-CN" sz="2800" b="1">
              <a:solidFill>
                <a:srgbClr val="660066"/>
              </a:solidFill>
              <a:effectLst>
                <a:outerShdw blurRad="38100" dist="38100" dir="2700000" algn="tl">
                  <a:srgbClr val="000000"/>
                </a:outerShdw>
              </a:effectLst>
              <a:ea typeface="隶书" panose="02010509060101010101" pitchFamily="49" charset="-122"/>
            </a:endParaRPr>
          </a:p>
        </p:txBody>
      </p:sp>
      <p:sp>
        <p:nvSpPr>
          <p:cNvPr id="1069060" name="AutoShape 4">
            <a:extLst>
              <a:ext uri="{FF2B5EF4-FFF2-40B4-BE49-F238E27FC236}">
                <a16:creationId xmlns:a16="http://schemas.microsoft.com/office/drawing/2014/main" id="{15E811B7-FAF4-4D9B-8E71-E40A5E86FA3A}"/>
              </a:ext>
            </a:extLst>
          </p:cNvPr>
          <p:cNvSpPr>
            <a:spLocks noChangeArrowheads="1"/>
          </p:cNvSpPr>
          <p:nvPr/>
        </p:nvSpPr>
        <p:spPr bwMode="auto">
          <a:xfrm>
            <a:off x="6011863" y="2420938"/>
            <a:ext cx="1512887" cy="576262"/>
          </a:xfrm>
          <a:prstGeom prst="wedgeRectCallout">
            <a:avLst>
              <a:gd name="adj1" fmla="val -138245"/>
              <a:gd name="adj2" fmla="val 59093"/>
            </a:avLst>
          </a:prstGeom>
          <a:solidFill>
            <a:srgbClr val="000080"/>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lstStyle/>
          <a:p>
            <a:pPr algn="ctr"/>
            <a:r>
              <a:rPr lang="en-US" altLang="zh-CN" sz="2400" b="1">
                <a:solidFill>
                  <a:srgbClr val="00FFFF"/>
                </a:solidFill>
                <a:effectLst>
                  <a:outerShdw blurRad="38100" dist="38100" dir="2700000" algn="tl">
                    <a:srgbClr val="000000"/>
                  </a:outerShdw>
                </a:effectLst>
                <a:ea typeface="黑体" panose="02010609060101010101" pitchFamily="49" charset="-122"/>
              </a:rPr>
              <a:t>C→T</a:t>
            </a:r>
          </a:p>
        </p:txBody>
      </p:sp>
      <p:sp>
        <p:nvSpPr>
          <p:cNvPr id="1069061" name="AutoShape 5">
            <a:extLst>
              <a:ext uri="{FF2B5EF4-FFF2-40B4-BE49-F238E27FC236}">
                <a16:creationId xmlns:a16="http://schemas.microsoft.com/office/drawing/2014/main" id="{61C9670D-8019-4188-A5B4-2B5290C839A2}"/>
              </a:ext>
            </a:extLst>
          </p:cNvPr>
          <p:cNvSpPr>
            <a:spLocks noChangeArrowheads="1"/>
          </p:cNvSpPr>
          <p:nvPr/>
        </p:nvSpPr>
        <p:spPr bwMode="auto">
          <a:xfrm>
            <a:off x="7451725" y="3068638"/>
            <a:ext cx="1512888" cy="576262"/>
          </a:xfrm>
          <a:prstGeom prst="wedgeRectCallout">
            <a:avLst>
              <a:gd name="adj1" fmla="val -91236"/>
              <a:gd name="adj2" fmla="val -1241"/>
            </a:avLst>
          </a:prstGeom>
          <a:solidFill>
            <a:srgbClr val="000080"/>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lstStyle/>
          <a:p>
            <a:pPr algn="ctr"/>
            <a:r>
              <a:rPr lang="en-US" altLang="zh-CN" sz="2400" b="1">
                <a:solidFill>
                  <a:srgbClr val="00FFFF"/>
                </a:solidFill>
                <a:effectLst>
                  <a:outerShdw blurRad="38100" dist="38100" dir="2700000" algn="tl">
                    <a:srgbClr val="000000"/>
                  </a:outerShdw>
                </a:effectLst>
                <a:ea typeface="黑体" panose="02010609060101010101" pitchFamily="49" charset="-122"/>
              </a:rPr>
              <a:t>HP</a:t>
            </a:r>
            <a:r>
              <a:rPr lang="en-US" altLang="zh-CN" sz="2400" b="1">
                <a:solidFill>
                  <a:srgbClr val="00FFFF"/>
                </a:solidFill>
                <a:effectLst>
                  <a:outerShdw blurRad="38100" dist="38100" dir="2700000" algn="tl">
                    <a:srgbClr val="000000"/>
                  </a:outerShdw>
                </a:effectLst>
              </a:rPr>
              <a:t>→</a:t>
            </a:r>
            <a:r>
              <a:rPr lang="en-US" altLang="zh-CN" sz="2400" b="1">
                <a:solidFill>
                  <a:srgbClr val="00FFFF"/>
                </a:solidFill>
                <a:effectLst>
                  <a:outerShdw blurRad="38100" dist="38100" dir="2700000" algn="tl">
                    <a:srgbClr val="000000"/>
                  </a:outerShdw>
                </a:effectLst>
                <a:ea typeface="黑体" panose="02010609060101010101" pitchFamily="49" charset="-122"/>
              </a:rPr>
              <a:t>C</a:t>
            </a:r>
          </a:p>
        </p:txBody>
      </p:sp>
      <p:sp>
        <p:nvSpPr>
          <p:cNvPr id="1069062" name="AutoShape 6">
            <a:extLst>
              <a:ext uri="{FF2B5EF4-FFF2-40B4-BE49-F238E27FC236}">
                <a16:creationId xmlns:a16="http://schemas.microsoft.com/office/drawing/2014/main" id="{DC74A855-DA0A-4820-83F7-FDD591D4D0BD}"/>
              </a:ext>
            </a:extLst>
          </p:cNvPr>
          <p:cNvSpPr>
            <a:spLocks noChangeArrowheads="1"/>
          </p:cNvSpPr>
          <p:nvPr/>
        </p:nvSpPr>
        <p:spPr bwMode="auto">
          <a:xfrm>
            <a:off x="7451725" y="4221163"/>
            <a:ext cx="1512888" cy="576262"/>
          </a:xfrm>
          <a:prstGeom prst="wedgeRectCallout">
            <a:avLst>
              <a:gd name="adj1" fmla="val -91236"/>
              <a:gd name="adj2" fmla="val -59366"/>
            </a:avLst>
          </a:prstGeom>
          <a:solidFill>
            <a:srgbClr val="000080"/>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lstStyle/>
          <a:p>
            <a:pPr algn="ctr"/>
            <a:r>
              <a:rPr lang="en-US" altLang="zh-CN" sz="2400" b="1">
                <a:solidFill>
                  <a:srgbClr val="00FFFF"/>
                </a:solidFill>
                <a:effectLst>
                  <a:outerShdw blurRad="38100" dist="38100" dir="2700000" algn="tl">
                    <a:srgbClr val="000000"/>
                  </a:outerShdw>
                </a:effectLst>
                <a:ea typeface="黑体" panose="02010609060101010101" pitchFamily="49" charset="-122"/>
              </a:rPr>
              <a:t>HT</a:t>
            </a:r>
            <a:r>
              <a:rPr lang="en-US" altLang="zh-CN" sz="2400" b="1">
                <a:solidFill>
                  <a:srgbClr val="00FFFF"/>
                </a:solidFill>
                <a:effectLst>
                  <a:outerShdw blurRad="38100" dist="38100" dir="2700000" algn="tl">
                    <a:srgbClr val="000000"/>
                  </a:outerShdw>
                </a:effectLst>
              </a:rPr>
              <a:t>→</a:t>
            </a:r>
            <a:r>
              <a:rPr lang="en-US" altLang="zh-CN" sz="2400" b="1">
                <a:solidFill>
                  <a:srgbClr val="00FFFF"/>
                </a:solidFill>
                <a:effectLst>
                  <a:outerShdw blurRad="38100" dist="38100" dir="2700000" algn="tl">
                    <a:srgbClr val="000000"/>
                  </a:outerShdw>
                </a:effectLst>
                <a:ea typeface="黑体" panose="02010609060101010101" pitchFamily="49" charset="-122"/>
              </a:rPr>
              <a:t>C</a:t>
            </a:r>
          </a:p>
        </p:txBody>
      </p:sp>
      <p:sp>
        <p:nvSpPr>
          <p:cNvPr id="1069063" name="AutoShape 7">
            <a:extLst>
              <a:ext uri="{FF2B5EF4-FFF2-40B4-BE49-F238E27FC236}">
                <a16:creationId xmlns:a16="http://schemas.microsoft.com/office/drawing/2014/main" id="{5290D437-CAB1-4FBE-B915-4A7994492036}"/>
              </a:ext>
            </a:extLst>
          </p:cNvPr>
          <p:cNvSpPr>
            <a:spLocks noChangeArrowheads="1"/>
          </p:cNvSpPr>
          <p:nvPr/>
        </p:nvSpPr>
        <p:spPr bwMode="auto">
          <a:xfrm>
            <a:off x="7164388" y="4941888"/>
            <a:ext cx="1512887" cy="576262"/>
          </a:xfrm>
          <a:prstGeom prst="wedgeRectCallout">
            <a:avLst>
              <a:gd name="adj1" fmla="val -136255"/>
              <a:gd name="adj2" fmla="val -137329"/>
            </a:avLst>
          </a:prstGeom>
          <a:solidFill>
            <a:srgbClr val="000080"/>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lstStyle/>
          <a:p>
            <a:pPr algn="ctr"/>
            <a:r>
              <a:rPr lang="en-US" altLang="zh-CN" sz="2400" b="1">
                <a:solidFill>
                  <a:srgbClr val="00FFFF"/>
                </a:solidFill>
                <a:effectLst>
                  <a:outerShdw blurRad="38100" dist="38100" dir="2700000" algn="tl">
                    <a:srgbClr val="000000"/>
                  </a:outerShdw>
                </a:effectLst>
                <a:ea typeface="黑体" panose="02010609060101010101" pitchFamily="49" charset="-122"/>
              </a:rPr>
              <a:t>CS</a:t>
            </a:r>
            <a:r>
              <a:rPr lang="en-US" altLang="zh-CN" sz="2400" b="1">
                <a:solidFill>
                  <a:srgbClr val="00FFFF"/>
                </a:solidFill>
                <a:effectLst>
                  <a:outerShdw blurRad="38100" dist="38100" dir="2700000" algn="tl">
                    <a:srgbClr val="000000"/>
                  </a:outerShdw>
                </a:effectLst>
              </a:rPr>
              <a:t>→</a:t>
            </a:r>
            <a:r>
              <a:rPr lang="en-US" altLang="zh-CN" sz="2400" b="1">
                <a:solidFill>
                  <a:srgbClr val="00FFFF"/>
                </a:solidFill>
                <a:effectLst>
                  <a:outerShdw blurRad="38100" dist="38100" dir="2700000" algn="tl">
                    <a:srgbClr val="000000"/>
                  </a:outerShdw>
                </a:effectLst>
                <a:ea typeface="黑体" panose="02010609060101010101" pitchFamily="49" charset="-122"/>
              </a:rPr>
              <a:t>G</a:t>
            </a:r>
          </a:p>
        </p:txBody>
      </p:sp>
      <p:sp>
        <p:nvSpPr>
          <p:cNvPr id="1069064" name="AutoShape 8">
            <a:extLst>
              <a:ext uri="{FF2B5EF4-FFF2-40B4-BE49-F238E27FC236}">
                <a16:creationId xmlns:a16="http://schemas.microsoft.com/office/drawing/2014/main" id="{3FCC99F1-2DC3-4336-9495-FB24554DEC7B}"/>
              </a:ext>
            </a:extLst>
          </p:cNvPr>
          <p:cNvSpPr>
            <a:spLocks noChangeArrowheads="1"/>
          </p:cNvSpPr>
          <p:nvPr/>
        </p:nvSpPr>
        <p:spPr bwMode="auto">
          <a:xfrm>
            <a:off x="7092950" y="5661025"/>
            <a:ext cx="1512888" cy="576263"/>
          </a:xfrm>
          <a:prstGeom prst="wedgeRectCallout">
            <a:avLst>
              <a:gd name="adj1" fmla="val -136255"/>
              <a:gd name="adj2" fmla="val -137329"/>
            </a:avLst>
          </a:prstGeom>
          <a:solidFill>
            <a:srgbClr val="000080"/>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lstStyle/>
          <a:p>
            <a:pPr algn="ctr"/>
            <a:r>
              <a:rPr lang="en-US" altLang="zh-CN" sz="2400" b="1">
                <a:solidFill>
                  <a:srgbClr val="00FFFF"/>
                </a:solidFill>
                <a:effectLst>
                  <a:outerShdw blurRad="38100" dist="38100" dir="2700000" algn="tl">
                    <a:srgbClr val="000000"/>
                  </a:outerShdw>
                </a:effectLst>
                <a:ea typeface="黑体" panose="02010609060101010101" pitchFamily="49" charset="-122"/>
              </a:rPr>
              <a:t>HS</a:t>
            </a:r>
            <a:r>
              <a:rPr lang="en-US" altLang="zh-CN" sz="2400" b="1">
                <a:solidFill>
                  <a:srgbClr val="00FFFF"/>
                </a:solidFill>
                <a:effectLst>
                  <a:outerShdw blurRad="38100" dist="38100" dir="2700000" algn="tl">
                    <a:srgbClr val="000000"/>
                  </a:outerShdw>
                </a:effectLst>
              </a:rPr>
              <a:t>→</a:t>
            </a:r>
            <a:r>
              <a:rPr lang="en-US" altLang="zh-CN" sz="2400" b="1">
                <a:solidFill>
                  <a:srgbClr val="00FFFF"/>
                </a:solidFill>
                <a:effectLst>
                  <a:outerShdw blurRad="38100" dist="38100" dir="2700000" algn="tl">
                    <a:srgbClr val="000000"/>
                  </a:outerShdw>
                </a:effectLst>
                <a:ea typeface="黑体" panose="02010609060101010101" pitchFamily="49" charset="-122"/>
              </a:rPr>
              <a:t>P</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0747"/>
    </mc:Choice>
    <mc:Fallback xmlns="">
      <p:transition spd="slow" advTm="40747"/>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69060"/>
                                        </p:tgtEl>
                                        <p:attrNameLst>
                                          <p:attrName>style.visibility</p:attrName>
                                        </p:attrNameLst>
                                      </p:cBhvr>
                                      <p:to>
                                        <p:strVal val="visible"/>
                                      </p:to>
                                    </p:set>
                                    <p:anim calcmode="lin" valueType="num">
                                      <p:cBhvr additive="base">
                                        <p:cTn id="7" dur="1000" fill="hold"/>
                                        <p:tgtEl>
                                          <p:spTgt spid="1069060"/>
                                        </p:tgtEl>
                                        <p:attrNameLst>
                                          <p:attrName>ppt_x</p:attrName>
                                        </p:attrNameLst>
                                      </p:cBhvr>
                                      <p:tavLst>
                                        <p:tav tm="0">
                                          <p:val>
                                            <p:strVal val="1+#ppt_w/2"/>
                                          </p:val>
                                        </p:tav>
                                        <p:tav tm="100000">
                                          <p:val>
                                            <p:strVal val="#ppt_x"/>
                                          </p:val>
                                        </p:tav>
                                      </p:tavLst>
                                    </p:anim>
                                    <p:anim calcmode="lin" valueType="num">
                                      <p:cBhvr additive="base">
                                        <p:cTn id="8" dur="1000" fill="hold"/>
                                        <p:tgtEl>
                                          <p:spTgt spid="106906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69061"/>
                                        </p:tgtEl>
                                        <p:attrNameLst>
                                          <p:attrName>style.visibility</p:attrName>
                                        </p:attrNameLst>
                                      </p:cBhvr>
                                      <p:to>
                                        <p:strVal val="visible"/>
                                      </p:to>
                                    </p:set>
                                    <p:anim calcmode="lin" valueType="num">
                                      <p:cBhvr additive="base">
                                        <p:cTn id="13" dur="1000" fill="hold"/>
                                        <p:tgtEl>
                                          <p:spTgt spid="1069061"/>
                                        </p:tgtEl>
                                        <p:attrNameLst>
                                          <p:attrName>ppt_x</p:attrName>
                                        </p:attrNameLst>
                                      </p:cBhvr>
                                      <p:tavLst>
                                        <p:tav tm="0">
                                          <p:val>
                                            <p:strVal val="1+#ppt_w/2"/>
                                          </p:val>
                                        </p:tav>
                                        <p:tav tm="100000">
                                          <p:val>
                                            <p:strVal val="#ppt_x"/>
                                          </p:val>
                                        </p:tav>
                                      </p:tavLst>
                                    </p:anim>
                                    <p:anim calcmode="lin" valueType="num">
                                      <p:cBhvr additive="base">
                                        <p:cTn id="14" dur="1000" fill="hold"/>
                                        <p:tgtEl>
                                          <p:spTgt spid="106906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069062"/>
                                        </p:tgtEl>
                                        <p:attrNameLst>
                                          <p:attrName>style.visibility</p:attrName>
                                        </p:attrNameLst>
                                      </p:cBhvr>
                                      <p:to>
                                        <p:strVal val="visible"/>
                                      </p:to>
                                    </p:set>
                                    <p:anim calcmode="lin" valueType="num">
                                      <p:cBhvr additive="base">
                                        <p:cTn id="19" dur="1000" fill="hold"/>
                                        <p:tgtEl>
                                          <p:spTgt spid="1069062"/>
                                        </p:tgtEl>
                                        <p:attrNameLst>
                                          <p:attrName>ppt_x</p:attrName>
                                        </p:attrNameLst>
                                      </p:cBhvr>
                                      <p:tavLst>
                                        <p:tav tm="0">
                                          <p:val>
                                            <p:strVal val="1+#ppt_w/2"/>
                                          </p:val>
                                        </p:tav>
                                        <p:tav tm="100000">
                                          <p:val>
                                            <p:strVal val="#ppt_x"/>
                                          </p:val>
                                        </p:tav>
                                      </p:tavLst>
                                    </p:anim>
                                    <p:anim calcmode="lin" valueType="num">
                                      <p:cBhvr additive="base">
                                        <p:cTn id="20" dur="1000" fill="hold"/>
                                        <p:tgtEl>
                                          <p:spTgt spid="106906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069063"/>
                                        </p:tgtEl>
                                        <p:attrNameLst>
                                          <p:attrName>style.visibility</p:attrName>
                                        </p:attrNameLst>
                                      </p:cBhvr>
                                      <p:to>
                                        <p:strVal val="visible"/>
                                      </p:to>
                                    </p:set>
                                    <p:anim calcmode="lin" valueType="num">
                                      <p:cBhvr additive="base">
                                        <p:cTn id="25" dur="1000" fill="hold"/>
                                        <p:tgtEl>
                                          <p:spTgt spid="1069063"/>
                                        </p:tgtEl>
                                        <p:attrNameLst>
                                          <p:attrName>ppt_x</p:attrName>
                                        </p:attrNameLst>
                                      </p:cBhvr>
                                      <p:tavLst>
                                        <p:tav tm="0">
                                          <p:val>
                                            <p:strVal val="1+#ppt_w/2"/>
                                          </p:val>
                                        </p:tav>
                                        <p:tav tm="100000">
                                          <p:val>
                                            <p:strVal val="#ppt_x"/>
                                          </p:val>
                                        </p:tav>
                                      </p:tavLst>
                                    </p:anim>
                                    <p:anim calcmode="lin" valueType="num">
                                      <p:cBhvr additive="base">
                                        <p:cTn id="26" dur="1000" fill="hold"/>
                                        <p:tgtEl>
                                          <p:spTgt spid="1069063"/>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069064"/>
                                        </p:tgtEl>
                                        <p:attrNameLst>
                                          <p:attrName>style.visibility</p:attrName>
                                        </p:attrNameLst>
                                      </p:cBhvr>
                                      <p:to>
                                        <p:strVal val="visible"/>
                                      </p:to>
                                    </p:set>
                                    <p:anim calcmode="lin" valueType="num">
                                      <p:cBhvr additive="base">
                                        <p:cTn id="31" dur="1000" fill="hold"/>
                                        <p:tgtEl>
                                          <p:spTgt spid="1069064"/>
                                        </p:tgtEl>
                                        <p:attrNameLst>
                                          <p:attrName>ppt_x</p:attrName>
                                        </p:attrNameLst>
                                      </p:cBhvr>
                                      <p:tavLst>
                                        <p:tav tm="0">
                                          <p:val>
                                            <p:strVal val="1+#ppt_w/2"/>
                                          </p:val>
                                        </p:tav>
                                        <p:tav tm="100000">
                                          <p:val>
                                            <p:strVal val="#ppt_x"/>
                                          </p:val>
                                        </p:tav>
                                      </p:tavLst>
                                    </p:anim>
                                    <p:anim calcmode="lin" valueType="num">
                                      <p:cBhvr additive="base">
                                        <p:cTn id="32" dur="1000" fill="hold"/>
                                        <p:tgtEl>
                                          <p:spTgt spid="10690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9060" grpId="0" animBg="1"/>
      <p:bldP spid="1069061" grpId="0" animBg="1"/>
      <p:bldP spid="1069062" grpId="0" animBg="1"/>
      <p:bldP spid="1069063" grpId="0" animBg="1"/>
      <p:bldP spid="1069064"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7442" name="AutoShape 34">
            <a:extLst>
              <a:ext uri="{FF2B5EF4-FFF2-40B4-BE49-F238E27FC236}">
                <a16:creationId xmlns:a16="http://schemas.microsoft.com/office/drawing/2014/main" id="{73342EAA-1FF3-4513-BFA7-65978DFC606B}"/>
              </a:ext>
            </a:extLst>
          </p:cNvPr>
          <p:cNvSpPr>
            <a:spLocks noChangeArrowheads="1"/>
          </p:cNvSpPr>
          <p:nvPr/>
        </p:nvSpPr>
        <p:spPr bwMode="auto">
          <a:xfrm>
            <a:off x="2193925" y="188913"/>
            <a:ext cx="2162175" cy="647700"/>
          </a:xfrm>
          <a:prstGeom prst="flowChartDelay">
            <a:avLst/>
          </a:prstGeom>
          <a:solidFill>
            <a:srgbClr val="CCFFFF"/>
          </a:solidFill>
          <a:ln w="12700" cap="sq">
            <a:solidFill>
              <a:schemeClr val="tx1"/>
            </a:solidFill>
            <a:miter lim="800000"/>
            <a:headEnd type="none" w="sm" len="sm"/>
            <a:tailEnd type="none" w="sm" len="sm"/>
          </a:ln>
          <a:effectLst>
            <a:outerShdw dist="71842" dir="2700000" algn="ctr" rotWithShape="0">
              <a:schemeClr val="tx1"/>
            </a:outerShdw>
          </a:effectLst>
        </p:spPr>
        <p:txBody>
          <a:bodyPr wrap="none" anchor="ctr"/>
          <a:lstStyle/>
          <a:p>
            <a:pPr algn="ctr"/>
            <a:r>
              <a:rPr lang="zh-CN" altLang="en-US" sz="2800" b="1">
                <a:solidFill>
                  <a:srgbClr val="660066"/>
                </a:solidFill>
                <a:effectLst>
                  <a:outerShdw blurRad="38100" dist="38100" dir="2700000" algn="tl">
                    <a:srgbClr val="000000"/>
                  </a:outerShdw>
                </a:effectLst>
                <a:ea typeface="隶书" panose="02010509060101010101" pitchFamily="49" charset="-122"/>
              </a:rPr>
              <a:t>示例讲解</a:t>
            </a:r>
            <a:endParaRPr lang="en-US" altLang="zh-CN" sz="2800" b="1">
              <a:solidFill>
                <a:srgbClr val="660066"/>
              </a:solidFill>
              <a:effectLst>
                <a:outerShdw blurRad="38100" dist="38100" dir="2700000" algn="tl">
                  <a:srgbClr val="000000"/>
                </a:outerShdw>
              </a:effectLst>
              <a:ea typeface="隶书" panose="02010509060101010101" pitchFamily="49" charset="-122"/>
            </a:endParaRPr>
          </a:p>
        </p:txBody>
      </p:sp>
      <p:sp>
        <p:nvSpPr>
          <p:cNvPr id="657443" name="Rectangle 35">
            <a:extLst>
              <a:ext uri="{FF2B5EF4-FFF2-40B4-BE49-F238E27FC236}">
                <a16:creationId xmlns:a16="http://schemas.microsoft.com/office/drawing/2014/main" id="{435CD5BC-E63F-4CEB-AA3B-63640738CD41}"/>
              </a:ext>
            </a:extLst>
          </p:cNvPr>
          <p:cNvSpPr>
            <a:spLocks noGrp="1" noChangeArrowheads="1"/>
          </p:cNvSpPr>
          <p:nvPr>
            <p:ph type="body" idx="1"/>
          </p:nvPr>
        </p:nvSpPr>
        <p:spPr/>
        <p:txBody>
          <a:bodyPr/>
          <a:lstStyle/>
          <a:p>
            <a:pPr algn="just"/>
            <a:r>
              <a:rPr lang="zh-CN" altLang="en-US" i="1">
                <a:solidFill>
                  <a:srgbClr val="008000"/>
                </a:solidFill>
                <a:latin typeface="楷体_GB2312" pitchFamily="49" charset="-122"/>
                <a:cs typeface="Times New Roman" panose="02020603050405020304" pitchFamily="18" charset="0"/>
              </a:rPr>
              <a:t>例</a:t>
            </a:r>
            <a:r>
              <a:rPr lang="en-US" altLang="zh-CN">
                <a:solidFill>
                  <a:srgbClr val="000000"/>
                </a:solidFill>
                <a:latin typeface="楷体_GB2312" pitchFamily="49" charset="-122"/>
                <a:cs typeface="Times New Roman" panose="02020603050405020304" pitchFamily="18" charset="0"/>
              </a:rPr>
              <a:t> </a:t>
            </a:r>
            <a:r>
              <a:rPr lang="zh-CN" altLang="en-US">
                <a:solidFill>
                  <a:srgbClr val="000000"/>
                </a:solidFill>
                <a:latin typeface="楷体_GB2312" pitchFamily="49" charset="-122"/>
                <a:cs typeface="Times New Roman" panose="02020603050405020304" pitchFamily="18" charset="0"/>
              </a:rPr>
              <a:t>设有关系模式</a:t>
            </a:r>
            <a:r>
              <a:rPr lang="en-US" altLang="zh-CN">
                <a:solidFill>
                  <a:srgbClr val="000000"/>
                </a:solidFill>
                <a:latin typeface="楷体_GB2312" pitchFamily="49" charset="-122"/>
                <a:cs typeface="Times New Roman" panose="02020603050405020304" pitchFamily="18" charset="0"/>
              </a:rPr>
              <a:t>R(CTHPSG)</a:t>
            </a:r>
            <a:endParaRPr lang="zh-CN" altLang="en-US">
              <a:solidFill>
                <a:srgbClr val="000000"/>
              </a:solidFill>
              <a:latin typeface="楷体_GB2312" pitchFamily="49" charset="-122"/>
              <a:cs typeface="Times New Roman" panose="02020603050405020304" pitchFamily="18" charset="0"/>
            </a:endParaRPr>
          </a:p>
          <a:p>
            <a:pPr algn="just"/>
            <a:r>
              <a:rPr lang="en-US" altLang="zh-CN">
                <a:solidFill>
                  <a:srgbClr val="000000"/>
                </a:solidFill>
                <a:latin typeface="楷体_GB2312" pitchFamily="49" charset="-122"/>
                <a:cs typeface="Times New Roman" panose="02020603050405020304" pitchFamily="18" charset="0"/>
              </a:rPr>
              <a:t>   F={C</a:t>
            </a:r>
            <a:r>
              <a:rPr lang="en-US" altLang="zh-CN">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a:solidFill>
                  <a:srgbClr val="000000"/>
                </a:solidFill>
                <a:latin typeface="楷体_GB2312" pitchFamily="49" charset="-122"/>
                <a:cs typeface="Times New Roman" panose="02020603050405020304" pitchFamily="18" charset="0"/>
              </a:rPr>
              <a:t>T</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HP</a:t>
            </a:r>
            <a:r>
              <a:rPr lang="en-US" altLang="zh-CN">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a:solidFill>
                  <a:srgbClr val="000000"/>
                </a:solidFill>
                <a:latin typeface="楷体_GB2312" pitchFamily="49" charset="-122"/>
                <a:cs typeface="Times New Roman" panose="02020603050405020304" pitchFamily="18" charset="0"/>
              </a:rPr>
              <a:t>C</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HT</a:t>
            </a:r>
            <a:r>
              <a:rPr lang="en-US" altLang="zh-CN">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a:solidFill>
                  <a:srgbClr val="000000"/>
                </a:solidFill>
                <a:latin typeface="楷体_GB2312" pitchFamily="49" charset="-122"/>
                <a:cs typeface="Times New Roman" panose="02020603050405020304" pitchFamily="18" charset="0"/>
              </a:rPr>
              <a:t>P</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CS</a:t>
            </a:r>
            <a:r>
              <a:rPr lang="en-US" altLang="zh-CN">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a:solidFill>
                  <a:srgbClr val="000000"/>
                </a:solidFill>
                <a:latin typeface="楷体_GB2312" pitchFamily="49" charset="-122"/>
                <a:cs typeface="Times New Roman" panose="02020603050405020304" pitchFamily="18" charset="0"/>
              </a:rPr>
              <a:t>G</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HS</a:t>
            </a:r>
            <a:r>
              <a:rPr lang="en-US" altLang="zh-CN">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a:solidFill>
                  <a:srgbClr val="000000"/>
                </a:solidFill>
                <a:latin typeface="楷体_GB2312" pitchFamily="49" charset="-122"/>
                <a:cs typeface="Times New Roman" panose="02020603050405020304" pitchFamily="18" charset="0"/>
              </a:rPr>
              <a:t>P}</a:t>
            </a:r>
          </a:p>
          <a:p>
            <a:pPr algn="just"/>
            <a:r>
              <a:rPr lang="zh-CN" altLang="en-US">
                <a:solidFill>
                  <a:srgbClr val="000000"/>
                </a:solidFill>
                <a:latin typeface="楷体_GB2312" pitchFamily="49" charset="-122"/>
                <a:cs typeface="Times New Roman" panose="02020603050405020304" pitchFamily="18" charset="0"/>
              </a:rPr>
              <a:t>解：</a:t>
            </a:r>
          </a:p>
          <a:p>
            <a:pPr algn="just"/>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2</a:t>
            </a:r>
            <a:r>
              <a:rPr lang="zh-CN" altLang="en-US">
                <a:solidFill>
                  <a:srgbClr val="000000"/>
                </a:solidFill>
                <a:latin typeface="楷体_GB2312" pitchFamily="49" charset="-122"/>
                <a:cs typeface="Times New Roman" panose="02020603050405020304" pitchFamily="18" charset="0"/>
              </a:rPr>
              <a:t>）求候选键</a:t>
            </a:r>
            <a:endParaRPr lang="zh-CN" altLang="en-US"/>
          </a:p>
        </p:txBody>
      </p:sp>
      <p:sp>
        <p:nvSpPr>
          <p:cNvPr id="657445" name="Line 37">
            <a:extLst>
              <a:ext uri="{FF2B5EF4-FFF2-40B4-BE49-F238E27FC236}">
                <a16:creationId xmlns:a16="http://schemas.microsoft.com/office/drawing/2014/main" id="{8189CB35-BF50-4B54-B802-EE515D51B396}"/>
              </a:ext>
            </a:extLst>
          </p:cNvPr>
          <p:cNvSpPr>
            <a:spLocks noChangeShapeType="1"/>
          </p:cNvSpPr>
          <p:nvPr/>
        </p:nvSpPr>
        <p:spPr bwMode="auto">
          <a:xfrm>
            <a:off x="6443663" y="2452688"/>
            <a:ext cx="360362" cy="0"/>
          </a:xfrm>
          <a:prstGeom prst="line">
            <a:avLst/>
          </a:prstGeom>
          <a:noFill/>
          <a:ln w="38100" cap="sq">
            <a:solidFill>
              <a:srgbClr val="FF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4041"/>
    </mc:Choice>
    <mc:Fallback xmlns="">
      <p:transition spd="slow" advTm="14041"/>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57443">
                                            <p:txEl>
                                              <p:pRg st="3" end="3"/>
                                            </p:txEl>
                                          </p:spTgt>
                                        </p:tgtEl>
                                        <p:attrNameLst>
                                          <p:attrName>style.visibility</p:attrName>
                                        </p:attrNameLst>
                                      </p:cBhvr>
                                      <p:to>
                                        <p:strVal val="visible"/>
                                      </p:to>
                                    </p:set>
                                    <p:animEffect transition="in" filter="wipe(left)">
                                      <p:cBhvr>
                                        <p:cTn id="7" dur="1000"/>
                                        <p:tgtEl>
                                          <p:spTgt spid="657443">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57445"/>
                                        </p:tgtEl>
                                        <p:attrNameLst>
                                          <p:attrName>style.visibility</p:attrName>
                                        </p:attrNameLst>
                                      </p:cBhvr>
                                      <p:to>
                                        <p:strVal val="visible"/>
                                      </p:to>
                                    </p:set>
                                    <p:animEffect transition="in" filter="wipe(left)">
                                      <p:cBhvr>
                                        <p:cTn id="12" dur="1000"/>
                                        <p:tgtEl>
                                          <p:spTgt spid="6574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744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064962" name="Group 2">
            <a:extLst>
              <a:ext uri="{FF2B5EF4-FFF2-40B4-BE49-F238E27FC236}">
                <a16:creationId xmlns:a16="http://schemas.microsoft.com/office/drawing/2014/main" id="{3C80457D-D0BE-4E3B-8815-421568B6689B}"/>
              </a:ext>
            </a:extLst>
          </p:cNvPr>
          <p:cNvGrpSpPr>
            <a:grpSpLocks/>
          </p:cNvGrpSpPr>
          <p:nvPr/>
        </p:nvGrpSpPr>
        <p:grpSpPr bwMode="auto">
          <a:xfrm>
            <a:off x="3979863" y="4056063"/>
            <a:ext cx="2447925" cy="792162"/>
            <a:chOff x="2235" y="2614"/>
            <a:chExt cx="1542" cy="499"/>
          </a:xfrm>
        </p:grpSpPr>
        <p:sp>
          <p:nvSpPr>
            <p:cNvPr id="1064963" name="Rectangle 3">
              <a:extLst>
                <a:ext uri="{FF2B5EF4-FFF2-40B4-BE49-F238E27FC236}">
                  <a16:creationId xmlns:a16="http://schemas.microsoft.com/office/drawing/2014/main" id="{E143F414-D9F3-438F-A693-7C0B3B948EF9}"/>
                </a:ext>
              </a:extLst>
            </p:cNvPr>
            <p:cNvSpPr>
              <a:spLocks noChangeArrowheads="1"/>
            </p:cNvSpPr>
            <p:nvPr/>
          </p:nvSpPr>
          <p:spPr bwMode="auto">
            <a:xfrm>
              <a:off x="2235" y="2614"/>
              <a:ext cx="1542" cy="499"/>
            </a:xfrm>
            <a:prstGeom prst="rect">
              <a:avLst/>
            </a:prstGeom>
            <a:solidFill>
              <a:srgbClr val="CCFFCC"/>
            </a:solidFill>
            <a:ln w="28575">
              <a:solidFill>
                <a:srgbClr val="000000"/>
              </a:solidFill>
              <a:miter lim="800000"/>
              <a:headEnd/>
              <a:tailEnd/>
            </a:ln>
            <a:effectLst>
              <a:outerShdw dist="35921" dir="2700000" algn="ctr" rotWithShape="0">
                <a:schemeClr val="tx1"/>
              </a:outerShdw>
            </a:effectLst>
          </p:spPr>
          <p:txBody>
            <a:bodyPr/>
            <a:lstStyle/>
            <a:p>
              <a:endParaRPr lang="zh-CN" altLang="en-US"/>
            </a:p>
          </p:txBody>
        </p:sp>
        <p:sp>
          <p:nvSpPr>
            <p:cNvPr id="1064964" name="Text Box 4">
              <a:extLst>
                <a:ext uri="{FF2B5EF4-FFF2-40B4-BE49-F238E27FC236}">
                  <a16:creationId xmlns:a16="http://schemas.microsoft.com/office/drawing/2014/main" id="{78EA845D-8113-4C17-B55C-7C8DF2B628B3}"/>
                </a:ext>
              </a:extLst>
            </p:cNvPr>
            <p:cNvSpPr txBox="1">
              <a:spLocks noChangeArrowheads="1"/>
            </p:cNvSpPr>
            <p:nvPr/>
          </p:nvSpPr>
          <p:spPr bwMode="auto">
            <a:xfrm>
              <a:off x="2362" y="2685"/>
              <a:ext cx="428" cy="339"/>
            </a:xfrm>
            <a:prstGeom prst="rect">
              <a:avLst/>
            </a:prstGeom>
            <a:solidFill>
              <a:srgbClr val="003366"/>
            </a:solidFill>
            <a:ln w="28575">
              <a:solidFill>
                <a:srgbClr val="000000"/>
              </a:solidFill>
              <a:miter lim="800000"/>
              <a:headEnd/>
              <a:tailEnd/>
            </a:ln>
            <a:effectLst>
              <a:outerShdw dist="35921" dir="2700000" algn="ctr" rotWithShape="0">
                <a:schemeClr val="tx1"/>
              </a:outerShdw>
            </a:effectLst>
          </p:spPr>
          <p:txBody>
            <a:bodyPr lIns="0" rIns="0" bIns="10800" anchor="ctr" anchorCtr="1"/>
            <a:lstStyle/>
            <a:p>
              <a:pPr algn="ctr"/>
              <a:r>
                <a:rPr lang="en-US" altLang="zh-CN" sz="2400" b="1">
                  <a:solidFill>
                    <a:srgbClr val="FFFF66"/>
                  </a:solidFill>
                  <a:effectLst>
                    <a:outerShdw blurRad="38100" dist="38100" dir="2700000" algn="tl">
                      <a:srgbClr val="000000"/>
                    </a:outerShdw>
                  </a:effectLst>
                </a:rPr>
                <a:t>H</a:t>
              </a:r>
            </a:p>
          </p:txBody>
        </p:sp>
        <p:sp>
          <p:nvSpPr>
            <p:cNvPr id="1064965" name="Text Box 5">
              <a:extLst>
                <a:ext uri="{FF2B5EF4-FFF2-40B4-BE49-F238E27FC236}">
                  <a16:creationId xmlns:a16="http://schemas.microsoft.com/office/drawing/2014/main" id="{421D756D-F799-4E71-B329-E40C3D86EDBA}"/>
                </a:ext>
              </a:extLst>
            </p:cNvPr>
            <p:cNvSpPr txBox="1">
              <a:spLocks noChangeArrowheads="1"/>
            </p:cNvSpPr>
            <p:nvPr/>
          </p:nvSpPr>
          <p:spPr bwMode="auto">
            <a:xfrm>
              <a:off x="3213" y="2685"/>
              <a:ext cx="428" cy="339"/>
            </a:xfrm>
            <a:prstGeom prst="rect">
              <a:avLst/>
            </a:prstGeom>
            <a:solidFill>
              <a:srgbClr val="003366"/>
            </a:solidFill>
            <a:ln w="28575">
              <a:solidFill>
                <a:srgbClr val="000000"/>
              </a:solidFill>
              <a:miter lim="800000"/>
              <a:headEnd/>
              <a:tailEnd/>
            </a:ln>
            <a:effectLst>
              <a:outerShdw dist="35921" dir="2700000" algn="ctr" rotWithShape="0">
                <a:schemeClr val="tx1"/>
              </a:outerShdw>
            </a:effectLst>
          </p:spPr>
          <p:txBody>
            <a:bodyPr lIns="0" rIns="0" bIns="10800" anchor="ctr" anchorCtr="1"/>
            <a:lstStyle/>
            <a:p>
              <a:pPr algn="ctr"/>
              <a:r>
                <a:rPr lang="en-US" altLang="zh-CN" sz="2400" b="1">
                  <a:solidFill>
                    <a:srgbClr val="FFFF66"/>
                  </a:solidFill>
                  <a:effectLst>
                    <a:outerShdw blurRad="38100" dist="38100" dir="2700000" algn="tl">
                      <a:srgbClr val="000000"/>
                    </a:outerShdw>
                  </a:effectLst>
                </a:rPr>
                <a:t>S</a:t>
              </a:r>
            </a:p>
          </p:txBody>
        </p:sp>
      </p:grpSp>
      <p:grpSp>
        <p:nvGrpSpPr>
          <p:cNvPr id="1064966" name="Group 6">
            <a:extLst>
              <a:ext uri="{FF2B5EF4-FFF2-40B4-BE49-F238E27FC236}">
                <a16:creationId xmlns:a16="http://schemas.microsoft.com/office/drawing/2014/main" id="{9990A5CE-95C7-418A-81FD-30CEBBAA1CFC}"/>
              </a:ext>
            </a:extLst>
          </p:cNvPr>
          <p:cNvGrpSpPr>
            <a:grpSpLocks/>
          </p:cNvGrpSpPr>
          <p:nvPr/>
        </p:nvGrpSpPr>
        <p:grpSpPr bwMode="auto">
          <a:xfrm>
            <a:off x="4181475" y="4862513"/>
            <a:ext cx="679450" cy="993775"/>
            <a:chOff x="2362" y="3122"/>
            <a:chExt cx="428" cy="626"/>
          </a:xfrm>
        </p:grpSpPr>
        <p:sp>
          <p:nvSpPr>
            <p:cNvPr id="1064967" name="Text Box 7">
              <a:extLst>
                <a:ext uri="{FF2B5EF4-FFF2-40B4-BE49-F238E27FC236}">
                  <a16:creationId xmlns:a16="http://schemas.microsoft.com/office/drawing/2014/main" id="{3EC14F56-38E1-4FFC-AE43-A53F767EF807}"/>
                </a:ext>
              </a:extLst>
            </p:cNvPr>
            <p:cNvSpPr txBox="1">
              <a:spLocks noChangeArrowheads="1"/>
            </p:cNvSpPr>
            <p:nvPr/>
          </p:nvSpPr>
          <p:spPr bwMode="auto">
            <a:xfrm>
              <a:off x="2362" y="3408"/>
              <a:ext cx="428" cy="340"/>
            </a:xfrm>
            <a:prstGeom prst="rect">
              <a:avLst/>
            </a:prstGeom>
            <a:solidFill>
              <a:srgbClr val="FF99CC"/>
            </a:solidFill>
            <a:ln w="28575">
              <a:solidFill>
                <a:srgbClr val="000000"/>
              </a:solidFill>
              <a:miter lim="800000"/>
              <a:headEnd/>
              <a:tailEnd/>
            </a:ln>
            <a:effectLst>
              <a:outerShdw dist="35921" dir="2700000" algn="ctr" rotWithShape="0">
                <a:schemeClr val="tx1"/>
              </a:outerShdw>
            </a:effectLst>
          </p:spPr>
          <p:txBody>
            <a:bodyPr lIns="0" rIns="0" bIns="10800" anchor="ctr" anchorCtr="1"/>
            <a:lstStyle/>
            <a:p>
              <a:pPr algn="ctr"/>
              <a:r>
                <a:rPr lang="en-US" altLang="zh-CN" sz="2400" b="1">
                  <a:solidFill>
                    <a:srgbClr val="000099"/>
                  </a:solidFill>
                  <a:effectLst>
                    <a:outerShdw blurRad="38100" dist="38100" dir="2700000" algn="tl">
                      <a:srgbClr val="000000"/>
                    </a:outerShdw>
                  </a:effectLst>
                </a:rPr>
                <a:t>P</a:t>
              </a:r>
            </a:p>
          </p:txBody>
        </p:sp>
        <p:sp>
          <p:nvSpPr>
            <p:cNvPr id="1064968" name="Line 8">
              <a:extLst>
                <a:ext uri="{FF2B5EF4-FFF2-40B4-BE49-F238E27FC236}">
                  <a16:creationId xmlns:a16="http://schemas.microsoft.com/office/drawing/2014/main" id="{3DC0AE4F-6497-4EED-859E-06BD56190CD7}"/>
                </a:ext>
              </a:extLst>
            </p:cNvPr>
            <p:cNvSpPr>
              <a:spLocks noChangeShapeType="1"/>
            </p:cNvSpPr>
            <p:nvPr/>
          </p:nvSpPr>
          <p:spPr bwMode="auto">
            <a:xfrm>
              <a:off x="2570" y="3122"/>
              <a:ext cx="0" cy="272"/>
            </a:xfrm>
            <a:prstGeom prst="line">
              <a:avLst/>
            </a:prstGeom>
            <a:noFill/>
            <a:ln w="38100">
              <a:solidFill>
                <a:srgbClr val="000000"/>
              </a:solidFill>
              <a:round/>
              <a:headEnd/>
              <a:tailEnd type="triangle" w="lg" len="lg"/>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grpSp>
      <p:grpSp>
        <p:nvGrpSpPr>
          <p:cNvPr id="1064969" name="Group 9">
            <a:extLst>
              <a:ext uri="{FF2B5EF4-FFF2-40B4-BE49-F238E27FC236}">
                <a16:creationId xmlns:a16="http://schemas.microsoft.com/office/drawing/2014/main" id="{DE818A02-1B8B-4642-AF46-13B649857CB7}"/>
              </a:ext>
            </a:extLst>
          </p:cNvPr>
          <p:cNvGrpSpPr>
            <a:grpSpLocks/>
          </p:cNvGrpSpPr>
          <p:nvPr/>
        </p:nvGrpSpPr>
        <p:grpSpPr bwMode="auto">
          <a:xfrm>
            <a:off x="3763963" y="3767138"/>
            <a:ext cx="2447925" cy="2305050"/>
            <a:chOff x="2099" y="2432"/>
            <a:chExt cx="1542" cy="1452"/>
          </a:xfrm>
        </p:grpSpPr>
        <p:sp>
          <p:nvSpPr>
            <p:cNvPr id="1064970" name="Text Box 10">
              <a:extLst>
                <a:ext uri="{FF2B5EF4-FFF2-40B4-BE49-F238E27FC236}">
                  <a16:creationId xmlns:a16="http://schemas.microsoft.com/office/drawing/2014/main" id="{86A0F8B5-AA45-40E6-A19E-288AF3099980}"/>
                </a:ext>
              </a:extLst>
            </p:cNvPr>
            <p:cNvSpPr txBox="1">
              <a:spLocks noChangeArrowheads="1"/>
            </p:cNvSpPr>
            <p:nvPr/>
          </p:nvSpPr>
          <p:spPr bwMode="auto">
            <a:xfrm>
              <a:off x="3213" y="3408"/>
              <a:ext cx="428" cy="340"/>
            </a:xfrm>
            <a:prstGeom prst="rect">
              <a:avLst/>
            </a:prstGeom>
            <a:solidFill>
              <a:srgbClr val="FF99CC"/>
            </a:solidFill>
            <a:ln w="28575">
              <a:solidFill>
                <a:srgbClr val="000000"/>
              </a:solidFill>
              <a:miter lim="800000"/>
              <a:headEnd/>
              <a:tailEnd/>
            </a:ln>
            <a:effectLst>
              <a:outerShdw dist="35921" dir="2700000" algn="ctr" rotWithShape="0">
                <a:schemeClr val="tx1"/>
              </a:outerShdw>
            </a:effectLst>
          </p:spPr>
          <p:txBody>
            <a:bodyPr lIns="0" rIns="0" bIns="10800" anchor="ctr" anchorCtr="1"/>
            <a:lstStyle/>
            <a:p>
              <a:pPr algn="ctr"/>
              <a:r>
                <a:rPr lang="en-US" altLang="zh-CN" sz="2400" b="1">
                  <a:solidFill>
                    <a:srgbClr val="000099"/>
                  </a:solidFill>
                  <a:effectLst>
                    <a:outerShdw blurRad="38100" dist="38100" dir="2700000" algn="tl">
                      <a:srgbClr val="000000"/>
                    </a:outerShdw>
                  </a:effectLst>
                </a:rPr>
                <a:t>C</a:t>
              </a:r>
            </a:p>
          </p:txBody>
        </p:sp>
        <p:sp>
          <p:nvSpPr>
            <p:cNvPr id="1064971" name="Line 11">
              <a:extLst>
                <a:ext uri="{FF2B5EF4-FFF2-40B4-BE49-F238E27FC236}">
                  <a16:creationId xmlns:a16="http://schemas.microsoft.com/office/drawing/2014/main" id="{DDD9D179-9F56-4116-816F-ACE7B5C16BC2}"/>
                </a:ext>
              </a:extLst>
            </p:cNvPr>
            <p:cNvSpPr>
              <a:spLocks noChangeShapeType="1"/>
            </p:cNvSpPr>
            <p:nvPr/>
          </p:nvSpPr>
          <p:spPr bwMode="auto">
            <a:xfrm rot="16200000">
              <a:off x="3108" y="3464"/>
              <a:ext cx="0" cy="204"/>
            </a:xfrm>
            <a:prstGeom prst="line">
              <a:avLst/>
            </a:prstGeom>
            <a:noFill/>
            <a:ln w="38100">
              <a:solidFill>
                <a:srgbClr val="000000"/>
              </a:solidFill>
              <a:round/>
              <a:headEnd/>
              <a:tailEnd type="triangle" w="lg" len="lg"/>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64972" name="Rectangle 12">
              <a:extLst>
                <a:ext uri="{FF2B5EF4-FFF2-40B4-BE49-F238E27FC236}">
                  <a16:creationId xmlns:a16="http://schemas.microsoft.com/office/drawing/2014/main" id="{7B12BE38-A815-4B05-A9AD-C340A2950068}"/>
                </a:ext>
              </a:extLst>
            </p:cNvPr>
            <p:cNvSpPr>
              <a:spLocks noChangeArrowheads="1"/>
            </p:cNvSpPr>
            <p:nvPr/>
          </p:nvSpPr>
          <p:spPr bwMode="auto">
            <a:xfrm>
              <a:off x="2099" y="2432"/>
              <a:ext cx="907" cy="1452"/>
            </a:xfrm>
            <a:prstGeom prst="rect">
              <a:avLst/>
            </a:prstGeom>
            <a:noFill/>
            <a:ln w="38100">
              <a:solidFill>
                <a:srgbClr val="0000FF"/>
              </a:solidFill>
              <a:prstDash val="sysDot"/>
              <a:miter lim="800000"/>
              <a:headEnd/>
              <a:tailEnd/>
            </a:ln>
            <a:effectLst>
              <a:outerShdw dist="17961" dir="2700000" algn="ctr" rotWithShape="0">
                <a:schemeClr val="tx1"/>
              </a:outerShdw>
            </a:effectLst>
            <a:extLst>
              <a:ext uri="{909E8E84-426E-40DD-AFC4-6F175D3DCCD1}">
                <a14:hiddenFill xmlns:a14="http://schemas.microsoft.com/office/drawing/2010/main">
                  <a:solidFill>
                    <a:srgbClr val="CCFFCC"/>
                  </a:solidFill>
                </a14:hiddenFill>
              </a:ext>
            </a:extLst>
          </p:spPr>
          <p:txBody>
            <a:bodyPr/>
            <a:lstStyle/>
            <a:p>
              <a:endParaRPr lang="zh-CN" altLang="en-US"/>
            </a:p>
          </p:txBody>
        </p:sp>
      </p:grpSp>
      <p:grpSp>
        <p:nvGrpSpPr>
          <p:cNvPr id="1064973" name="Group 13">
            <a:extLst>
              <a:ext uri="{FF2B5EF4-FFF2-40B4-BE49-F238E27FC236}">
                <a16:creationId xmlns:a16="http://schemas.microsoft.com/office/drawing/2014/main" id="{F3A4C088-D1EB-4583-B5F0-EAC7F6E68189}"/>
              </a:ext>
            </a:extLst>
          </p:cNvPr>
          <p:cNvGrpSpPr>
            <a:grpSpLocks/>
          </p:cNvGrpSpPr>
          <p:nvPr/>
        </p:nvGrpSpPr>
        <p:grpSpPr bwMode="auto">
          <a:xfrm>
            <a:off x="5348288" y="3767138"/>
            <a:ext cx="2319337" cy="2305050"/>
            <a:chOff x="3097" y="2432"/>
            <a:chExt cx="1461" cy="1452"/>
          </a:xfrm>
        </p:grpSpPr>
        <p:sp>
          <p:nvSpPr>
            <p:cNvPr id="1064974" name="Line 14">
              <a:extLst>
                <a:ext uri="{FF2B5EF4-FFF2-40B4-BE49-F238E27FC236}">
                  <a16:creationId xmlns:a16="http://schemas.microsoft.com/office/drawing/2014/main" id="{71CB6221-A9CF-4CDA-A82B-B240268B49A9}"/>
                </a:ext>
              </a:extLst>
            </p:cNvPr>
            <p:cNvSpPr>
              <a:spLocks noChangeShapeType="1"/>
            </p:cNvSpPr>
            <p:nvPr/>
          </p:nvSpPr>
          <p:spPr bwMode="auto">
            <a:xfrm rot="16200000">
              <a:off x="3934" y="3056"/>
              <a:ext cx="0" cy="385"/>
            </a:xfrm>
            <a:prstGeom prst="line">
              <a:avLst/>
            </a:prstGeom>
            <a:noFill/>
            <a:ln w="38100">
              <a:solidFill>
                <a:srgbClr val="000000"/>
              </a:solidFill>
              <a:round/>
              <a:headEnd/>
              <a:tailEnd type="triangle" w="lg" len="lg"/>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64975" name="Text Box 15">
              <a:extLst>
                <a:ext uri="{FF2B5EF4-FFF2-40B4-BE49-F238E27FC236}">
                  <a16:creationId xmlns:a16="http://schemas.microsoft.com/office/drawing/2014/main" id="{6413B399-3049-4310-A3A3-9D29CBFECB58}"/>
                </a:ext>
              </a:extLst>
            </p:cNvPr>
            <p:cNvSpPr txBox="1">
              <a:spLocks noChangeArrowheads="1"/>
            </p:cNvSpPr>
            <p:nvPr/>
          </p:nvSpPr>
          <p:spPr bwMode="auto">
            <a:xfrm>
              <a:off x="4130" y="3090"/>
              <a:ext cx="428" cy="340"/>
            </a:xfrm>
            <a:prstGeom prst="rect">
              <a:avLst/>
            </a:prstGeom>
            <a:solidFill>
              <a:srgbClr val="FF99CC"/>
            </a:solidFill>
            <a:ln w="28575">
              <a:solidFill>
                <a:srgbClr val="000000"/>
              </a:solidFill>
              <a:miter lim="800000"/>
              <a:headEnd/>
              <a:tailEnd/>
            </a:ln>
            <a:effectLst>
              <a:outerShdw dist="35921" dir="2700000" algn="ctr" rotWithShape="0">
                <a:schemeClr val="tx1"/>
              </a:outerShdw>
            </a:effectLst>
          </p:spPr>
          <p:txBody>
            <a:bodyPr lIns="0" rIns="0" bIns="10800" anchor="ctr" anchorCtr="1"/>
            <a:lstStyle/>
            <a:p>
              <a:pPr algn="ctr"/>
              <a:r>
                <a:rPr lang="en-US" altLang="zh-CN" sz="2400" b="1">
                  <a:solidFill>
                    <a:srgbClr val="000099"/>
                  </a:solidFill>
                  <a:effectLst>
                    <a:outerShdw blurRad="38100" dist="38100" dir="2700000" algn="tl">
                      <a:srgbClr val="000000"/>
                    </a:outerShdw>
                  </a:effectLst>
                </a:rPr>
                <a:t>G</a:t>
              </a:r>
            </a:p>
          </p:txBody>
        </p:sp>
        <p:sp>
          <p:nvSpPr>
            <p:cNvPr id="1064976" name="Rectangle 16">
              <a:extLst>
                <a:ext uri="{FF2B5EF4-FFF2-40B4-BE49-F238E27FC236}">
                  <a16:creationId xmlns:a16="http://schemas.microsoft.com/office/drawing/2014/main" id="{73C9B34E-E36A-43BB-9E99-1CF0B638A4E9}"/>
                </a:ext>
              </a:extLst>
            </p:cNvPr>
            <p:cNvSpPr>
              <a:spLocks noChangeArrowheads="1"/>
            </p:cNvSpPr>
            <p:nvPr/>
          </p:nvSpPr>
          <p:spPr bwMode="auto">
            <a:xfrm>
              <a:off x="3097" y="2432"/>
              <a:ext cx="635" cy="1452"/>
            </a:xfrm>
            <a:prstGeom prst="rect">
              <a:avLst/>
            </a:prstGeom>
            <a:noFill/>
            <a:ln w="38100">
              <a:solidFill>
                <a:srgbClr val="CC3300"/>
              </a:solidFill>
              <a:miter lim="800000"/>
              <a:headEnd/>
              <a:tailEnd/>
            </a:ln>
            <a:effectLst>
              <a:outerShdw dist="17961" dir="2700000" algn="ctr" rotWithShape="0">
                <a:schemeClr val="tx1"/>
              </a:outerShdw>
            </a:effectLst>
            <a:extLst>
              <a:ext uri="{909E8E84-426E-40DD-AFC4-6F175D3DCCD1}">
                <a14:hiddenFill xmlns:a14="http://schemas.microsoft.com/office/drawing/2010/main">
                  <a:solidFill>
                    <a:srgbClr val="CCFFCC"/>
                  </a:solidFill>
                </a14:hiddenFill>
              </a:ext>
            </a:extLst>
          </p:spPr>
          <p:txBody>
            <a:bodyPr/>
            <a:lstStyle/>
            <a:p>
              <a:endParaRPr lang="zh-CN" altLang="en-US"/>
            </a:p>
          </p:txBody>
        </p:sp>
      </p:grpSp>
      <p:grpSp>
        <p:nvGrpSpPr>
          <p:cNvPr id="1064977" name="Group 17">
            <a:extLst>
              <a:ext uri="{FF2B5EF4-FFF2-40B4-BE49-F238E27FC236}">
                <a16:creationId xmlns:a16="http://schemas.microsoft.com/office/drawing/2014/main" id="{993A3CD7-898F-4FC2-A975-F696424F7EFE}"/>
              </a:ext>
            </a:extLst>
          </p:cNvPr>
          <p:cNvGrpSpPr>
            <a:grpSpLocks/>
          </p:cNvGrpSpPr>
          <p:nvPr/>
        </p:nvGrpSpPr>
        <p:grpSpPr bwMode="auto">
          <a:xfrm>
            <a:off x="3332163" y="4760913"/>
            <a:ext cx="2519362" cy="1547812"/>
            <a:chOff x="1827" y="3058"/>
            <a:chExt cx="1587" cy="975"/>
          </a:xfrm>
        </p:grpSpPr>
        <p:sp>
          <p:nvSpPr>
            <p:cNvPr id="1064978" name="Line 18">
              <a:extLst>
                <a:ext uri="{FF2B5EF4-FFF2-40B4-BE49-F238E27FC236}">
                  <a16:creationId xmlns:a16="http://schemas.microsoft.com/office/drawing/2014/main" id="{6609189C-40AE-4171-ACEA-8B321DC24BFC}"/>
                </a:ext>
              </a:extLst>
            </p:cNvPr>
            <p:cNvSpPr>
              <a:spLocks noChangeShapeType="1"/>
            </p:cNvSpPr>
            <p:nvPr/>
          </p:nvSpPr>
          <p:spPr bwMode="auto">
            <a:xfrm>
              <a:off x="3414" y="3757"/>
              <a:ext cx="0" cy="272"/>
            </a:xfrm>
            <a:prstGeom prst="line">
              <a:avLst/>
            </a:prstGeom>
            <a:noFill/>
            <a:ln w="38100" cap="sq">
              <a:solidFill>
                <a:schemeClr val="tx1"/>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064979" name="Line 19">
              <a:extLst>
                <a:ext uri="{FF2B5EF4-FFF2-40B4-BE49-F238E27FC236}">
                  <a16:creationId xmlns:a16="http://schemas.microsoft.com/office/drawing/2014/main" id="{CD4E487E-5A29-49AE-A30A-DA6A257B9D87}"/>
                </a:ext>
              </a:extLst>
            </p:cNvPr>
            <p:cNvSpPr>
              <a:spLocks noChangeShapeType="1"/>
            </p:cNvSpPr>
            <p:nvPr/>
          </p:nvSpPr>
          <p:spPr bwMode="auto">
            <a:xfrm>
              <a:off x="1827" y="4029"/>
              <a:ext cx="1587" cy="0"/>
            </a:xfrm>
            <a:prstGeom prst="line">
              <a:avLst/>
            </a:prstGeom>
            <a:noFill/>
            <a:ln w="38100" cap="sq">
              <a:solidFill>
                <a:schemeClr val="tx1"/>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064980" name="Line 20">
              <a:extLst>
                <a:ext uri="{FF2B5EF4-FFF2-40B4-BE49-F238E27FC236}">
                  <a16:creationId xmlns:a16="http://schemas.microsoft.com/office/drawing/2014/main" id="{B1ADBE2C-D148-4DB4-947D-FC0BC236DEE1}"/>
                </a:ext>
              </a:extLst>
            </p:cNvPr>
            <p:cNvSpPr>
              <a:spLocks noChangeShapeType="1"/>
            </p:cNvSpPr>
            <p:nvPr/>
          </p:nvSpPr>
          <p:spPr bwMode="auto">
            <a:xfrm>
              <a:off x="1827" y="3058"/>
              <a:ext cx="0" cy="975"/>
            </a:xfrm>
            <a:prstGeom prst="line">
              <a:avLst/>
            </a:prstGeom>
            <a:noFill/>
            <a:ln w="38100" cap="sq">
              <a:solidFill>
                <a:schemeClr val="tx1"/>
              </a:solidFill>
              <a:round/>
              <a:headEnd type="triangle" w="lg" len="lg"/>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64981" name="Group 21">
            <a:extLst>
              <a:ext uri="{FF2B5EF4-FFF2-40B4-BE49-F238E27FC236}">
                <a16:creationId xmlns:a16="http://schemas.microsoft.com/office/drawing/2014/main" id="{882BE730-F72C-4C15-9F6F-64C68D22989D}"/>
              </a:ext>
            </a:extLst>
          </p:cNvPr>
          <p:cNvGrpSpPr>
            <a:grpSpLocks/>
          </p:cNvGrpSpPr>
          <p:nvPr/>
        </p:nvGrpSpPr>
        <p:grpSpPr bwMode="auto">
          <a:xfrm>
            <a:off x="2755900" y="3911600"/>
            <a:ext cx="2303463" cy="1393825"/>
            <a:chOff x="1464" y="2523"/>
            <a:chExt cx="1451" cy="878"/>
          </a:xfrm>
        </p:grpSpPr>
        <p:sp>
          <p:nvSpPr>
            <p:cNvPr id="1064982" name="Text Box 22">
              <a:extLst>
                <a:ext uri="{FF2B5EF4-FFF2-40B4-BE49-F238E27FC236}">
                  <a16:creationId xmlns:a16="http://schemas.microsoft.com/office/drawing/2014/main" id="{15AD6675-26EB-485E-8FF4-6DE34751B7CF}"/>
                </a:ext>
              </a:extLst>
            </p:cNvPr>
            <p:cNvSpPr txBox="1">
              <a:spLocks noChangeArrowheads="1"/>
            </p:cNvSpPr>
            <p:nvPr/>
          </p:nvSpPr>
          <p:spPr bwMode="auto">
            <a:xfrm>
              <a:off x="1600" y="2682"/>
              <a:ext cx="428" cy="340"/>
            </a:xfrm>
            <a:prstGeom prst="rect">
              <a:avLst/>
            </a:prstGeom>
            <a:solidFill>
              <a:srgbClr val="FF99CC"/>
            </a:solidFill>
            <a:ln w="28575" algn="ctr">
              <a:solidFill>
                <a:srgbClr val="000000"/>
              </a:solidFill>
              <a:miter lim="800000"/>
              <a:headEnd/>
              <a:tailEnd/>
            </a:ln>
            <a:effectLst>
              <a:outerShdw dist="35921" dir="2700000" algn="ctr" rotWithShape="0">
                <a:schemeClr val="tx1"/>
              </a:outerShdw>
            </a:effectLst>
          </p:spPr>
          <p:txBody>
            <a:bodyPr lIns="0" rIns="0" bIns="10800" anchor="ctr" anchorCtr="1"/>
            <a:lstStyle/>
            <a:p>
              <a:pPr algn="ctr"/>
              <a:r>
                <a:rPr lang="en-US" altLang="zh-CN" sz="2400" b="1">
                  <a:solidFill>
                    <a:srgbClr val="000099"/>
                  </a:solidFill>
                  <a:effectLst>
                    <a:outerShdw blurRad="38100" dist="38100" dir="2700000" algn="tl">
                      <a:srgbClr val="000000"/>
                    </a:outerShdw>
                  </a:effectLst>
                </a:rPr>
                <a:t>T</a:t>
              </a:r>
            </a:p>
          </p:txBody>
        </p:sp>
        <p:sp>
          <p:nvSpPr>
            <p:cNvPr id="1064983" name="Rectangle 23">
              <a:extLst>
                <a:ext uri="{FF2B5EF4-FFF2-40B4-BE49-F238E27FC236}">
                  <a16:creationId xmlns:a16="http://schemas.microsoft.com/office/drawing/2014/main" id="{8AC238C3-F7F0-4FB7-8E08-3C0B90DA389F}"/>
                </a:ext>
              </a:extLst>
            </p:cNvPr>
            <p:cNvSpPr>
              <a:spLocks noChangeArrowheads="1"/>
            </p:cNvSpPr>
            <p:nvPr/>
          </p:nvSpPr>
          <p:spPr bwMode="auto">
            <a:xfrm>
              <a:off x="1464" y="2523"/>
              <a:ext cx="1451" cy="689"/>
            </a:xfrm>
            <a:prstGeom prst="rect">
              <a:avLst/>
            </a:prstGeom>
            <a:noFill/>
            <a:ln w="38100">
              <a:solidFill>
                <a:srgbClr val="00FF00"/>
              </a:solidFill>
              <a:prstDash val="lgDash"/>
              <a:miter lim="800000"/>
              <a:headEnd/>
              <a:tailEnd/>
            </a:ln>
            <a:effectLst>
              <a:outerShdw dist="35921" dir="2700000" algn="ctr" rotWithShape="0">
                <a:schemeClr val="tx1"/>
              </a:outerShdw>
            </a:effectLst>
            <a:extLst>
              <a:ext uri="{909E8E84-426E-40DD-AFC4-6F175D3DCCD1}">
                <a14:hiddenFill xmlns:a14="http://schemas.microsoft.com/office/drawing/2010/main">
                  <a:solidFill>
                    <a:srgbClr val="CCFFCC"/>
                  </a:solidFill>
                </a14:hiddenFill>
              </a:ext>
            </a:extLst>
          </p:spPr>
          <p:txBody>
            <a:bodyPr/>
            <a:lstStyle/>
            <a:p>
              <a:endParaRPr lang="zh-CN" altLang="en-US"/>
            </a:p>
          </p:txBody>
        </p:sp>
        <p:sp>
          <p:nvSpPr>
            <p:cNvPr id="1064984" name="Line 24">
              <a:extLst>
                <a:ext uri="{FF2B5EF4-FFF2-40B4-BE49-F238E27FC236}">
                  <a16:creationId xmlns:a16="http://schemas.microsoft.com/office/drawing/2014/main" id="{01DFFDC8-6227-4D97-9102-FB0F716DF6A1}"/>
                </a:ext>
              </a:extLst>
            </p:cNvPr>
            <p:cNvSpPr>
              <a:spLocks noChangeShapeType="1"/>
            </p:cNvSpPr>
            <p:nvPr/>
          </p:nvSpPr>
          <p:spPr bwMode="auto">
            <a:xfrm>
              <a:off x="2381" y="3231"/>
              <a:ext cx="0" cy="170"/>
            </a:xfrm>
            <a:prstGeom prst="line">
              <a:avLst/>
            </a:prstGeom>
            <a:noFill/>
            <a:ln w="38100">
              <a:solidFill>
                <a:srgbClr val="000000"/>
              </a:solidFill>
              <a:round/>
              <a:headEnd/>
              <a:tailEnd type="triangle" w="lg" len="lg"/>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1064985" name="AutoShape 25">
            <a:extLst>
              <a:ext uri="{FF2B5EF4-FFF2-40B4-BE49-F238E27FC236}">
                <a16:creationId xmlns:a16="http://schemas.microsoft.com/office/drawing/2014/main" id="{45FC3975-B9B3-4947-8C39-A3C8766F13A7}"/>
              </a:ext>
            </a:extLst>
          </p:cNvPr>
          <p:cNvSpPr>
            <a:spLocks noChangeArrowheads="1"/>
          </p:cNvSpPr>
          <p:nvPr/>
        </p:nvSpPr>
        <p:spPr bwMode="auto">
          <a:xfrm>
            <a:off x="2195513" y="4078288"/>
            <a:ext cx="5832475" cy="1511300"/>
          </a:xfrm>
          <a:prstGeom prst="flowChartDocument">
            <a:avLst/>
          </a:prstGeom>
          <a:solidFill>
            <a:srgbClr val="008080"/>
          </a:solidFill>
          <a:ln w="12700" cap="sq">
            <a:solidFill>
              <a:schemeClr val="tx1"/>
            </a:solidFill>
            <a:miter lim="800000"/>
            <a:headEnd type="none" w="sm" len="sm"/>
            <a:tailEnd type="none" w="sm" len="sm"/>
          </a:ln>
          <a:effectLst>
            <a:outerShdw dist="71842" dir="2700000" algn="ctr" rotWithShape="0">
              <a:schemeClr val="tx1"/>
            </a:outerShdw>
          </a:effectLst>
        </p:spPr>
        <p:txBody>
          <a:bodyPr wrap="none" lIns="18000" tIns="0" anchor="ctr" anchorCtr="1"/>
          <a:lstStyle/>
          <a:p>
            <a:pPr algn="ctr">
              <a:lnSpc>
                <a:spcPct val="120000"/>
              </a:lnSpc>
            </a:pPr>
            <a:r>
              <a:rPr lang="en-US" altLang="zh-CN"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结论：</a:t>
            </a:r>
            <a:r>
              <a:rPr lang="pt-BR" altLang="en-US"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R</a:t>
            </a:r>
            <a:r>
              <a:rPr lang="en-US" altLang="pt-BR"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是</a:t>
            </a:r>
            <a:r>
              <a:rPr lang="pt-BR" altLang="zh-CN"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2</a:t>
            </a:r>
            <a:r>
              <a:rPr lang="pt-BR" altLang="en-US"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NF模式</a:t>
            </a:r>
            <a:endParaRPr lang="zh-CN" altLang="en-US"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1064986" name="Line 26">
            <a:extLst>
              <a:ext uri="{FF2B5EF4-FFF2-40B4-BE49-F238E27FC236}">
                <a16:creationId xmlns:a16="http://schemas.microsoft.com/office/drawing/2014/main" id="{1798CFDD-258D-45FC-8618-402CB89C0E4F}"/>
              </a:ext>
            </a:extLst>
          </p:cNvPr>
          <p:cNvSpPr>
            <a:spLocks noChangeShapeType="1"/>
          </p:cNvSpPr>
          <p:nvPr/>
        </p:nvSpPr>
        <p:spPr bwMode="auto">
          <a:xfrm>
            <a:off x="6516688" y="2492375"/>
            <a:ext cx="792162" cy="0"/>
          </a:xfrm>
          <a:prstGeom prst="line">
            <a:avLst/>
          </a:prstGeom>
          <a:noFill/>
          <a:ln w="38100" cap="sq">
            <a:solidFill>
              <a:srgbClr val="FF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064987" name="Line 27">
            <a:extLst>
              <a:ext uri="{FF2B5EF4-FFF2-40B4-BE49-F238E27FC236}">
                <a16:creationId xmlns:a16="http://schemas.microsoft.com/office/drawing/2014/main" id="{C44D9A15-EAF5-4453-AEF2-B0E68FD225FC}"/>
              </a:ext>
            </a:extLst>
          </p:cNvPr>
          <p:cNvSpPr>
            <a:spLocks noChangeShapeType="1"/>
          </p:cNvSpPr>
          <p:nvPr/>
        </p:nvSpPr>
        <p:spPr bwMode="auto">
          <a:xfrm>
            <a:off x="4068763" y="2492375"/>
            <a:ext cx="792162" cy="0"/>
          </a:xfrm>
          <a:prstGeom prst="line">
            <a:avLst/>
          </a:prstGeom>
          <a:noFill/>
          <a:ln w="38100" cap="sq">
            <a:solidFill>
              <a:srgbClr val="FF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064988" name="Line 28">
            <a:extLst>
              <a:ext uri="{FF2B5EF4-FFF2-40B4-BE49-F238E27FC236}">
                <a16:creationId xmlns:a16="http://schemas.microsoft.com/office/drawing/2014/main" id="{E23B8DA3-65F3-451A-8606-93EB422D581C}"/>
              </a:ext>
            </a:extLst>
          </p:cNvPr>
          <p:cNvSpPr>
            <a:spLocks noChangeShapeType="1"/>
          </p:cNvSpPr>
          <p:nvPr/>
        </p:nvSpPr>
        <p:spPr bwMode="auto">
          <a:xfrm>
            <a:off x="2843213" y="2492375"/>
            <a:ext cx="792162" cy="0"/>
          </a:xfrm>
          <a:prstGeom prst="line">
            <a:avLst/>
          </a:prstGeom>
          <a:noFill/>
          <a:ln w="38100" cap="sq">
            <a:solidFill>
              <a:srgbClr val="FF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064989" name="Line 29">
            <a:extLst>
              <a:ext uri="{FF2B5EF4-FFF2-40B4-BE49-F238E27FC236}">
                <a16:creationId xmlns:a16="http://schemas.microsoft.com/office/drawing/2014/main" id="{EC263396-B7B6-4578-AEAD-B848022A748C}"/>
              </a:ext>
            </a:extLst>
          </p:cNvPr>
          <p:cNvSpPr>
            <a:spLocks noChangeShapeType="1"/>
          </p:cNvSpPr>
          <p:nvPr/>
        </p:nvSpPr>
        <p:spPr bwMode="auto">
          <a:xfrm>
            <a:off x="5364163" y="2492375"/>
            <a:ext cx="792162" cy="0"/>
          </a:xfrm>
          <a:prstGeom prst="line">
            <a:avLst/>
          </a:prstGeom>
          <a:noFill/>
          <a:ln w="38100" cap="sq">
            <a:solidFill>
              <a:srgbClr val="FF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064990" name="Line 30">
            <a:extLst>
              <a:ext uri="{FF2B5EF4-FFF2-40B4-BE49-F238E27FC236}">
                <a16:creationId xmlns:a16="http://schemas.microsoft.com/office/drawing/2014/main" id="{D7F12B6C-D43D-4C70-8F0F-10CA1295ED98}"/>
              </a:ext>
            </a:extLst>
          </p:cNvPr>
          <p:cNvSpPr>
            <a:spLocks noChangeShapeType="1"/>
          </p:cNvSpPr>
          <p:nvPr/>
        </p:nvSpPr>
        <p:spPr bwMode="auto">
          <a:xfrm>
            <a:off x="1692275" y="2492375"/>
            <a:ext cx="792163" cy="0"/>
          </a:xfrm>
          <a:prstGeom prst="line">
            <a:avLst/>
          </a:prstGeom>
          <a:noFill/>
          <a:ln w="38100" cap="sq">
            <a:solidFill>
              <a:srgbClr val="FF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064991" name="AutoShape 31">
            <a:extLst>
              <a:ext uri="{FF2B5EF4-FFF2-40B4-BE49-F238E27FC236}">
                <a16:creationId xmlns:a16="http://schemas.microsoft.com/office/drawing/2014/main" id="{63231060-D449-47A9-98C2-88E8A5A1E90A}"/>
              </a:ext>
            </a:extLst>
          </p:cNvPr>
          <p:cNvSpPr>
            <a:spLocks noChangeArrowheads="1"/>
          </p:cNvSpPr>
          <p:nvPr/>
        </p:nvSpPr>
        <p:spPr bwMode="auto">
          <a:xfrm>
            <a:off x="2193925" y="188913"/>
            <a:ext cx="2162175" cy="647700"/>
          </a:xfrm>
          <a:prstGeom prst="flowChartDelay">
            <a:avLst/>
          </a:prstGeom>
          <a:solidFill>
            <a:srgbClr val="CCFFFF"/>
          </a:solidFill>
          <a:ln w="12700" cap="sq">
            <a:solidFill>
              <a:schemeClr val="tx1"/>
            </a:solidFill>
            <a:miter lim="800000"/>
            <a:headEnd type="none" w="sm" len="sm"/>
            <a:tailEnd type="none" w="sm" len="sm"/>
          </a:ln>
          <a:effectLst>
            <a:outerShdw dist="71842" dir="2700000" algn="ctr" rotWithShape="0">
              <a:schemeClr val="tx1"/>
            </a:outerShdw>
          </a:effectLst>
        </p:spPr>
        <p:txBody>
          <a:bodyPr wrap="none" anchor="ctr"/>
          <a:lstStyle/>
          <a:p>
            <a:pPr algn="ctr"/>
            <a:r>
              <a:rPr lang="zh-CN" altLang="en-US" sz="2800" b="1">
                <a:solidFill>
                  <a:srgbClr val="660066"/>
                </a:solidFill>
                <a:effectLst>
                  <a:outerShdw blurRad="38100" dist="38100" dir="2700000" algn="tl">
                    <a:srgbClr val="000000"/>
                  </a:outerShdw>
                </a:effectLst>
                <a:ea typeface="隶书" panose="02010509060101010101" pitchFamily="49" charset="-122"/>
              </a:rPr>
              <a:t>示例讲解</a:t>
            </a:r>
            <a:endParaRPr lang="en-US" altLang="zh-CN" sz="2800" b="1">
              <a:solidFill>
                <a:srgbClr val="660066"/>
              </a:solidFill>
              <a:effectLst>
                <a:outerShdw blurRad="38100" dist="38100" dir="2700000" algn="tl">
                  <a:srgbClr val="000000"/>
                </a:outerShdw>
              </a:effectLst>
              <a:ea typeface="隶书" panose="02010509060101010101" pitchFamily="49" charset="-122"/>
            </a:endParaRPr>
          </a:p>
        </p:txBody>
      </p:sp>
      <p:sp>
        <p:nvSpPr>
          <p:cNvPr id="1064992" name="Rectangle 32">
            <a:extLst>
              <a:ext uri="{FF2B5EF4-FFF2-40B4-BE49-F238E27FC236}">
                <a16:creationId xmlns:a16="http://schemas.microsoft.com/office/drawing/2014/main" id="{0A111FBC-201C-424D-B55A-778EDEB89585}"/>
              </a:ext>
            </a:extLst>
          </p:cNvPr>
          <p:cNvSpPr>
            <a:spLocks noGrp="1" noChangeArrowheads="1"/>
          </p:cNvSpPr>
          <p:nvPr>
            <p:ph type="body" idx="1"/>
          </p:nvPr>
        </p:nvSpPr>
        <p:spPr/>
        <p:txBody>
          <a:bodyPr/>
          <a:lstStyle/>
          <a:p>
            <a:pPr algn="just"/>
            <a:r>
              <a:rPr lang="zh-CN" altLang="en-US" i="1">
                <a:solidFill>
                  <a:srgbClr val="008000"/>
                </a:solidFill>
                <a:latin typeface="楷体_GB2312" pitchFamily="49" charset="-122"/>
                <a:cs typeface="Times New Roman" panose="02020603050405020304" pitchFamily="18" charset="0"/>
              </a:rPr>
              <a:t>例</a:t>
            </a:r>
            <a:r>
              <a:rPr lang="en-US" altLang="zh-CN">
                <a:solidFill>
                  <a:srgbClr val="000000"/>
                </a:solidFill>
                <a:latin typeface="楷体_GB2312" pitchFamily="49" charset="-122"/>
                <a:cs typeface="Times New Roman" panose="02020603050405020304" pitchFamily="18" charset="0"/>
              </a:rPr>
              <a:t> </a:t>
            </a:r>
            <a:r>
              <a:rPr lang="zh-CN" altLang="en-US">
                <a:solidFill>
                  <a:srgbClr val="000000"/>
                </a:solidFill>
                <a:latin typeface="楷体_GB2312" pitchFamily="49" charset="-122"/>
                <a:cs typeface="Times New Roman" panose="02020603050405020304" pitchFamily="18" charset="0"/>
              </a:rPr>
              <a:t>设有关系模式</a:t>
            </a:r>
            <a:r>
              <a:rPr lang="en-US" altLang="zh-CN">
                <a:solidFill>
                  <a:srgbClr val="000000"/>
                </a:solidFill>
                <a:latin typeface="楷体_GB2312" pitchFamily="49" charset="-122"/>
                <a:cs typeface="Times New Roman" panose="02020603050405020304" pitchFamily="18" charset="0"/>
              </a:rPr>
              <a:t>R(CTHPSG)</a:t>
            </a:r>
            <a:endParaRPr lang="zh-CN" altLang="en-US">
              <a:solidFill>
                <a:srgbClr val="000000"/>
              </a:solidFill>
              <a:latin typeface="楷体_GB2312" pitchFamily="49" charset="-122"/>
              <a:cs typeface="Times New Roman" panose="02020603050405020304" pitchFamily="18" charset="0"/>
            </a:endParaRPr>
          </a:p>
          <a:p>
            <a:pPr algn="just"/>
            <a:r>
              <a:rPr lang="en-US" altLang="zh-CN">
                <a:solidFill>
                  <a:srgbClr val="000000"/>
                </a:solidFill>
                <a:latin typeface="楷体_GB2312" pitchFamily="49" charset="-122"/>
                <a:cs typeface="Times New Roman" panose="02020603050405020304" pitchFamily="18" charset="0"/>
              </a:rPr>
              <a:t>   F={C</a:t>
            </a:r>
            <a:r>
              <a:rPr lang="en-US" altLang="zh-CN">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a:solidFill>
                  <a:srgbClr val="000000"/>
                </a:solidFill>
                <a:latin typeface="楷体_GB2312" pitchFamily="49" charset="-122"/>
                <a:cs typeface="Times New Roman" panose="02020603050405020304" pitchFamily="18" charset="0"/>
              </a:rPr>
              <a:t>T</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HP</a:t>
            </a:r>
            <a:r>
              <a:rPr lang="en-US" altLang="zh-CN">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a:solidFill>
                  <a:srgbClr val="000000"/>
                </a:solidFill>
                <a:latin typeface="楷体_GB2312" pitchFamily="49" charset="-122"/>
                <a:cs typeface="Times New Roman" panose="02020603050405020304" pitchFamily="18" charset="0"/>
              </a:rPr>
              <a:t>C</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HT</a:t>
            </a:r>
            <a:r>
              <a:rPr lang="en-US" altLang="zh-CN">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a:solidFill>
                  <a:srgbClr val="000000"/>
                </a:solidFill>
                <a:latin typeface="楷体_GB2312" pitchFamily="49" charset="-122"/>
                <a:cs typeface="Times New Roman" panose="02020603050405020304" pitchFamily="18" charset="0"/>
              </a:rPr>
              <a:t>P</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CS</a:t>
            </a:r>
            <a:r>
              <a:rPr lang="en-US" altLang="zh-CN">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a:solidFill>
                  <a:srgbClr val="000000"/>
                </a:solidFill>
                <a:latin typeface="楷体_GB2312" pitchFamily="49" charset="-122"/>
                <a:cs typeface="Times New Roman" panose="02020603050405020304" pitchFamily="18" charset="0"/>
              </a:rPr>
              <a:t>G</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HS</a:t>
            </a:r>
            <a:r>
              <a:rPr lang="en-US" altLang="zh-CN">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a:solidFill>
                  <a:srgbClr val="000000"/>
                </a:solidFill>
                <a:latin typeface="楷体_GB2312" pitchFamily="49" charset="-122"/>
                <a:cs typeface="Times New Roman" panose="02020603050405020304" pitchFamily="18" charset="0"/>
              </a:rPr>
              <a:t>P}</a:t>
            </a:r>
          </a:p>
          <a:p>
            <a:pPr algn="just"/>
            <a:r>
              <a:rPr lang="zh-CN" altLang="en-US">
                <a:solidFill>
                  <a:srgbClr val="000000"/>
                </a:solidFill>
                <a:latin typeface="楷体_GB2312" pitchFamily="49" charset="-122"/>
                <a:cs typeface="Times New Roman" panose="02020603050405020304" pitchFamily="18" charset="0"/>
              </a:rPr>
              <a:t>解：</a:t>
            </a:r>
          </a:p>
          <a:p>
            <a:pPr algn="just"/>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3</a:t>
            </a:r>
            <a:r>
              <a:rPr lang="zh-CN" altLang="en-US">
                <a:solidFill>
                  <a:srgbClr val="000000"/>
                </a:solidFill>
                <a:latin typeface="楷体_GB2312" pitchFamily="49" charset="-122"/>
                <a:cs typeface="Times New Roman" panose="02020603050405020304" pitchFamily="18" charset="0"/>
              </a:rPr>
              <a:t>）判断</a:t>
            </a:r>
            <a:r>
              <a:rPr lang="en-US" altLang="zh-CN">
                <a:solidFill>
                  <a:srgbClr val="000000"/>
                </a:solidFill>
                <a:latin typeface="楷体_GB2312" pitchFamily="49" charset="-122"/>
                <a:cs typeface="Times New Roman" panose="02020603050405020304" pitchFamily="18" charset="0"/>
              </a:rPr>
              <a:t>R</a:t>
            </a:r>
            <a:r>
              <a:rPr lang="zh-CN" altLang="en-US">
                <a:solidFill>
                  <a:srgbClr val="000000"/>
                </a:solidFill>
                <a:latin typeface="楷体_GB2312" pitchFamily="49" charset="-122"/>
                <a:cs typeface="Times New Roman" panose="02020603050405020304" pitchFamily="18" charset="0"/>
              </a:rPr>
              <a:t>是第几范式</a:t>
            </a:r>
            <a:endParaRPr lang="zh-CN" altLang="en-US"/>
          </a:p>
        </p:txBody>
      </p:sp>
      <p:sp>
        <p:nvSpPr>
          <p:cNvPr id="1064993" name="Line 33">
            <a:extLst>
              <a:ext uri="{FF2B5EF4-FFF2-40B4-BE49-F238E27FC236}">
                <a16:creationId xmlns:a16="http://schemas.microsoft.com/office/drawing/2014/main" id="{CC9D84AB-B0FA-4DD8-9DA5-257B8DC76363}"/>
              </a:ext>
            </a:extLst>
          </p:cNvPr>
          <p:cNvSpPr>
            <a:spLocks noChangeShapeType="1"/>
          </p:cNvSpPr>
          <p:nvPr/>
        </p:nvSpPr>
        <p:spPr bwMode="auto">
          <a:xfrm>
            <a:off x="6443663" y="2492375"/>
            <a:ext cx="360362" cy="0"/>
          </a:xfrm>
          <a:prstGeom prst="line">
            <a:avLst/>
          </a:prstGeom>
          <a:noFill/>
          <a:ln w="38100" cap="sq">
            <a:solidFill>
              <a:srgbClr val="FF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3766"/>
    </mc:Choice>
    <mc:Fallback xmlns="">
      <p:transition spd="slow" advTm="43766"/>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64992">
                                            <p:txEl>
                                              <p:pRg st="3" end="3"/>
                                            </p:txEl>
                                          </p:spTgt>
                                        </p:tgtEl>
                                        <p:attrNameLst>
                                          <p:attrName>style.visibility</p:attrName>
                                        </p:attrNameLst>
                                      </p:cBhvr>
                                      <p:to>
                                        <p:strVal val="visible"/>
                                      </p:to>
                                    </p:set>
                                    <p:animEffect transition="in" filter="wipe(left)">
                                      <p:cBhvr>
                                        <p:cTn id="7" dur="1000"/>
                                        <p:tgtEl>
                                          <p:spTgt spid="1064992">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64986"/>
                                        </p:tgtEl>
                                        <p:attrNameLst>
                                          <p:attrName>style.visibility</p:attrName>
                                        </p:attrNameLst>
                                      </p:cBhvr>
                                      <p:to>
                                        <p:strVal val="visible"/>
                                      </p:to>
                                    </p:set>
                                    <p:animEffect transition="in" filter="wipe(left)">
                                      <p:cBhvr>
                                        <p:cTn id="12" dur="1000"/>
                                        <p:tgtEl>
                                          <p:spTgt spid="1064986"/>
                                        </p:tgtEl>
                                      </p:cBhvr>
                                    </p:animEffect>
                                  </p:childTnLst>
                                  <p:subTnLst>
                                    <p:set>
                                      <p:cBhvr override="childStyle">
                                        <p:cTn dur="1" fill="hold" display="0" masterRel="nextClick" afterEffect="1"/>
                                        <p:tgtEl>
                                          <p:spTgt spid="1064986"/>
                                        </p:tgtEl>
                                        <p:attrNameLst>
                                          <p:attrName>style.visibility</p:attrName>
                                        </p:attrNameLst>
                                      </p:cBhvr>
                                      <p:to>
                                        <p:strVal val="hidden"/>
                                      </p:to>
                                    </p:set>
                                  </p:sub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1064962"/>
                                        </p:tgtEl>
                                        <p:attrNameLst>
                                          <p:attrName>style.visibility</p:attrName>
                                        </p:attrNameLst>
                                      </p:cBhvr>
                                      <p:to>
                                        <p:strVal val="visible"/>
                                      </p:to>
                                    </p:set>
                                    <p:animEffect transition="in" filter="wipe(left)">
                                      <p:cBhvr>
                                        <p:cTn id="16" dur="1000"/>
                                        <p:tgtEl>
                                          <p:spTgt spid="1064962"/>
                                        </p:tgtEl>
                                      </p:cBhvr>
                                    </p:animEffect>
                                  </p:childTnLst>
                                </p:cTn>
                              </p:par>
                            </p:childTnLst>
                          </p:cTn>
                        </p:par>
                        <p:par>
                          <p:cTn id="17" fill="hold" nodeType="afterGroup">
                            <p:stCondLst>
                              <p:cond delay="2000"/>
                            </p:stCondLst>
                            <p:childTnLst>
                              <p:par>
                                <p:cTn id="18" presetID="22" presetClass="entr" presetSubtype="8" fill="hold" nodeType="afterEffect">
                                  <p:stCondLst>
                                    <p:cond delay="0"/>
                                  </p:stCondLst>
                                  <p:childTnLst>
                                    <p:set>
                                      <p:cBhvr>
                                        <p:cTn id="19" dur="1" fill="hold">
                                          <p:stCondLst>
                                            <p:cond delay="0"/>
                                          </p:stCondLst>
                                        </p:cTn>
                                        <p:tgtEl>
                                          <p:spTgt spid="1064966"/>
                                        </p:tgtEl>
                                        <p:attrNameLst>
                                          <p:attrName>style.visibility</p:attrName>
                                        </p:attrNameLst>
                                      </p:cBhvr>
                                      <p:to>
                                        <p:strVal val="visible"/>
                                      </p:to>
                                    </p:set>
                                    <p:animEffect transition="in" filter="wipe(left)">
                                      <p:cBhvr>
                                        <p:cTn id="20" dur="1000"/>
                                        <p:tgtEl>
                                          <p:spTgt spid="1064966"/>
                                        </p:tgtEl>
                                      </p:cBhvr>
                                    </p:animEffect>
                                  </p:childTnLst>
                                </p:cTn>
                              </p:par>
                            </p:childTnLst>
                          </p:cTn>
                        </p:par>
                        <p:par>
                          <p:cTn id="21" fill="hold" nodeType="afterGroup">
                            <p:stCondLst>
                              <p:cond delay="3000"/>
                            </p:stCondLst>
                            <p:childTnLst>
                              <p:par>
                                <p:cTn id="22" presetID="22" presetClass="entr" presetSubtype="8" fill="hold" nodeType="afterEffect">
                                  <p:stCondLst>
                                    <p:cond delay="0"/>
                                  </p:stCondLst>
                                  <p:childTnLst>
                                    <p:set>
                                      <p:cBhvr>
                                        <p:cTn id="23" dur="1" fill="hold">
                                          <p:stCondLst>
                                            <p:cond delay="0"/>
                                          </p:stCondLst>
                                        </p:cTn>
                                        <p:tgtEl>
                                          <p:spTgt spid="1064987"/>
                                        </p:tgtEl>
                                        <p:attrNameLst>
                                          <p:attrName>style.visibility</p:attrName>
                                        </p:attrNameLst>
                                      </p:cBhvr>
                                      <p:to>
                                        <p:strVal val="visible"/>
                                      </p:to>
                                    </p:set>
                                    <p:animEffect transition="in" filter="wipe(left)">
                                      <p:cBhvr>
                                        <p:cTn id="24" dur="1000"/>
                                        <p:tgtEl>
                                          <p:spTgt spid="1064987"/>
                                        </p:tgtEl>
                                      </p:cBhvr>
                                    </p:animEffect>
                                  </p:childTnLst>
                                  <p:subTnLst>
                                    <p:set>
                                      <p:cBhvr override="childStyle">
                                        <p:cTn dur="1" fill="hold" display="0" masterRel="nextClick" afterEffect="1"/>
                                        <p:tgtEl>
                                          <p:spTgt spid="1064987"/>
                                        </p:tgtEl>
                                        <p:attrNameLst>
                                          <p:attrName>style.visibility</p:attrName>
                                        </p:attrNameLst>
                                      </p:cBhvr>
                                      <p:to>
                                        <p:strVal val="hidden"/>
                                      </p:to>
                                    </p:set>
                                  </p:subTnLst>
                                </p:cTn>
                              </p:par>
                            </p:childTnLst>
                          </p:cTn>
                        </p:par>
                        <p:par>
                          <p:cTn id="25" fill="hold" nodeType="afterGroup">
                            <p:stCondLst>
                              <p:cond delay="4000"/>
                            </p:stCondLst>
                            <p:childTnLst>
                              <p:par>
                                <p:cTn id="26" presetID="22" presetClass="entr" presetSubtype="8" fill="hold" nodeType="afterEffect">
                                  <p:stCondLst>
                                    <p:cond delay="0"/>
                                  </p:stCondLst>
                                  <p:childTnLst>
                                    <p:set>
                                      <p:cBhvr>
                                        <p:cTn id="27" dur="1" fill="hold">
                                          <p:stCondLst>
                                            <p:cond delay="0"/>
                                          </p:stCondLst>
                                        </p:cTn>
                                        <p:tgtEl>
                                          <p:spTgt spid="1064981"/>
                                        </p:tgtEl>
                                        <p:attrNameLst>
                                          <p:attrName>style.visibility</p:attrName>
                                        </p:attrNameLst>
                                      </p:cBhvr>
                                      <p:to>
                                        <p:strVal val="visible"/>
                                      </p:to>
                                    </p:set>
                                    <p:animEffect transition="in" filter="wipe(left)">
                                      <p:cBhvr>
                                        <p:cTn id="28" dur="1000"/>
                                        <p:tgtEl>
                                          <p:spTgt spid="1064981"/>
                                        </p:tgtEl>
                                      </p:cBhvr>
                                    </p:animEffect>
                                  </p:childTnLst>
                                </p:cTn>
                              </p:par>
                            </p:childTnLst>
                          </p:cTn>
                        </p:par>
                        <p:par>
                          <p:cTn id="29" fill="hold" nodeType="afterGroup">
                            <p:stCondLst>
                              <p:cond delay="5000"/>
                            </p:stCondLst>
                            <p:childTnLst>
                              <p:par>
                                <p:cTn id="30" presetID="22" presetClass="entr" presetSubtype="8" fill="hold" nodeType="afterEffect">
                                  <p:stCondLst>
                                    <p:cond delay="0"/>
                                  </p:stCondLst>
                                  <p:childTnLst>
                                    <p:set>
                                      <p:cBhvr>
                                        <p:cTn id="31" dur="1" fill="hold">
                                          <p:stCondLst>
                                            <p:cond delay="0"/>
                                          </p:stCondLst>
                                        </p:cTn>
                                        <p:tgtEl>
                                          <p:spTgt spid="1064988"/>
                                        </p:tgtEl>
                                        <p:attrNameLst>
                                          <p:attrName>style.visibility</p:attrName>
                                        </p:attrNameLst>
                                      </p:cBhvr>
                                      <p:to>
                                        <p:strVal val="visible"/>
                                      </p:to>
                                    </p:set>
                                    <p:animEffect transition="in" filter="wipe(left)">
                                      <p:cBhvr>
                                        <p:cTn id="32" dur="1000"/>
                                        <p:tgtEl>
                                          <p:spTgt spid="1064988"/>
                                        </p:tgtEl>
                                      </p:cBhvr>
                                    </p:animEffect>
                                  </p:childTnLst>
                                  <p:subTnLst>
                                    <p:set>
                                      <p:cBhvr override="childStyle">
                                        <p:cTn dur="1" fill="hold" display="0" masterRel="nextClick" afterEffect="1"/>
                                        <p:tgtEl>
                                          <p:spTgt spid="1064988"/>
                                        </p:tgtEl>
                                        <p:attrNameLst>
                                          <p:attrName>style.visibility</p:attrName>
                                        </p:attrNameLst>
                                      </p:cBhvr>
                                      <p:to>
                                        <p:strVal val="hidden"/>
                                      </p:to>
                                    </p:set>
                                  </p:subTnLst>
                                </p:cTn>
                              </p:par>
                            </p:childTnLst>
                          </p:cTn>
                        </p:par>
                        <p:par>
                          <p:cTn id="33" fill="hold" nodeType="afterGroup">
                            <p:stCondLst>
                              <p:cond delay="6000"/>
                            </p:stCondLst>
                            <p:childTnLst>
                              <p:par>
                                <p:cTn id="34" presetID="22" presetClass="entr" presetSubtype="8" fill="hold" nodeType="afterEffect">
                                  <p:stCondLst>
                                    <p:cond delay="0"/>
                                  </p:stCondLst>
                                  <p:childTnLst>
                                    <p:set>
                                      <p:cBhvr>
                                        <p:cTn id="35" dur="1" fill="hold">
                                          <p:stCondLst>
                                            <p:cond delay="0"/>
                                          </p:stCondLst>
                                        </p:cTn>
                                        <p:tgtEl>
                                          <p:spTgt spid="1064969"/>
                                        </p:tgtEl>
                                        <p:attrNameLst>
                                          <p:attrName>style.visibility</p:attrName>
                                        </p:attrNameLst>
                                      </p:cBhvr>
                                      <p:to>
                                        <p:strVal val="visible"/>
                                      </p:to>
                                    </p:set>
                                    <p:animEffect transition="in" filter="wipe(left)">
                                      <p:cBhvr>
                                        <p:cTn id="36" dur="1000"/>
                                        <p:tgtEl>
                                          <p:spTgt spid="1064969"/>
                                        </p:tgtEl>
                                      </p:cBhvr>
                                    </p:animEffect>
                                  </p:childTnLst>
                                </p:cTn>
                              </p:par>
                            </p:childTnLst>
                          </p:cTn>
                        </p:par>
                        <p:par>
                          <p:cTn id="37" fill="hold" nodeType="afterGroup">
                            <p:stCondLst>
                              <p:cond delay="7000"/>
                            </p:stCondLst>
                            <p:childTnLst>
                              <p:par>
                                <p:cTn id="38" presetID="22" presetClass="entr" presetSubtype="8" fill="hold" nodeType="afterEffect">
                                  <p:stCondLst>
                                    <p:cond delay="0"/>
                                  </p:stCondLst>
                                  <p:childTnLst>
                                    <p:set>
                                      <p:cBhvr>
                                        <p:cTn id="39" dur="1" fill="hold">
                                          <p:stCondLst>
                                            <p:cond delay="0"/>
                                          </p:stCondLst>
                                        </p:cTn>
                                        <p:tgtEl>
                                          <p:spTgt spid="1064989"/>
                                        </p:tgtEl>
                                        <p:attrNameLst>
                                          <p:attrName>style.visibility</p:attrName>
                                        </p:attrNameLst>
                                      </p:cBhvr>
                                      <p:to>
                                        <p:strVal val="visible"/>
                                      </p:to>
                                    </p:set>
                                    <p:animEffect transition="in" filter="wipe(left)">
                                      <p:cBhvr>
                                        <p:cTn id="40" dur="1000"/>
                                        <p:tgtEl>
                                          <p:spTgt spid="1064989"/>
                                        </p:tgtEl>
                                      </p:cBhvr>
                                    </p:animEffect>
                                  </p:childTnLst>
                                  <p:subTnLst>
                                    <p:set>
                                      <p:cBhvr override="childStyle">
                                        <p:cTn dur="1" fill="hold" display="0" masterRel="nextClick" afterEffect="1"/>
                                        <p:tgtEl>
                                          <p:spTgt spid="1064989"/>
                                        </p:tgtEl>
                                        <p:attrNameLst>
                                          <p:attrName>style.visibility</p:attrName>
                                        </p:attrNameLst>
                                      </p:cBhvr>
                                      <p:to>
                                        <p:strVal val="hidden"/>
                                      </p:to>
                                    </p:set>
                                  </p:subTnLst>
                                </p:cTn>
                              </p:par>
                            </p:childTnLst>
                          </p:cTn>
                        </p:par>
                        <p:par>
                          <p:cTn id="41" fill="hold" nodeType="afterGroup">
                            <p:stCondLst>
                              <p:cond delay="8000"/>
                            </p:stCondLst>
                            <p:childTnLst>
                              <p:par>
                                <p:cTn id="42" presetID="22" presetClass="entr" presetSubtype="8" fill="hold" nodeType="afterEffect">
                                  <p:stCondLst>
                                    <p:cond delay="0"/>
                                  </p:stCondLst>
                                  <p:childTnLst>
                                    <p:set>
                                      <p:cBhvr>
                                        <p:cTn id="43" dur="1" fill="hold">
                                          <p:stCondLst>
                                            <p:cond delay="0"/>
                                          </p:stCondLst>
                                        </p:cTn>
                                        <p:tgtEl>
                                          <p:spTgt spid="1064973"/>
                                        </p:tgtEl>
                                        <p:attrNameLst>
                                          <p:attrName>style.visibility</p:attrName>
                                        </p:attrNameLst>
                                      </p:cBhvr>
                                      <p:to>
                                        <p:strVal val="visible"/>
                                      </p:to>
                                    </p:set>
                                    <p:animEffect transition="in" filter="wipe(left)">
                                      <p:cBhvr>
                                        <p:cTn id="44" dur="1000"/>
                                        <p:tgtEl>
                                          <p:spTgt spid="1064973"/>
                                        </p:tgtEl>
                                      </p:cBhvr>
                                    </p:animEffect>
                                  </p:childTnLst>
                                </p:cTn>
                              </p:par>
                            </p:childTnLst>
                          </p:cTn>
                        </p:par>
                        <p:par>
                          <p:cTn id="45" fill="hold" nodeType="afterGroup">
                            <p:stCondLst>
                              <p:cond delay="9000"/>
                            </p:stCondLst>
                            <p:childTnLst>
                              <p:par>
                                <p:cTn id="46" presetID="22" presetClass="entr" presetSubtype="8" fill="hold" nodeType="afterEffect">
                                  <p:stCondLst>
                                    <p:cond delay="0"/>
                                  </p:stCondLst>
                                  <p:childTnLst>
                                    <p:set>
                                      <p:cBhvr>
                                        <p:cTn id="47" dur="1" fill="hold">
                                          <p:stCondLst>
                                            <p:cond delay="0"/>
                                          </p:stCondLst>
                                        </p:cTn>
                                        <p:tgtEl>
                                          <p:spTgt spid="1064990"/>
                                        </p:tgtEl>
                                        <p:attrNameLst>
                                          <p:attrName>style.visibility</p:attrName>
                                        </p:attrNameLst>
                                      </p:cBhvr>
                                      <p:to>
                                        <p:strVal val="visible"/>
                                      </p:to>
                                    </p:set>
                                    <p:animEffect transition="in" filter="wipe(left)">
                                      <p:cBhvr>
                                        <p:cTn id="48" dur="1000"/>
                                        <p:tgtEl>
                                          <p:spTgt spid="1064990"/>
                                        </p:tgtEl>
                                      </p:cBhvr>
                                    </p:animEffect>
                                  </p:childTnLst>
                                  <p:subTnLst>
                                    <p:set>
                                      <p:cBhvr override="childStyle">
                                        <p:cTn dur="1" fill="hold" display="0" masterRel="nextClick" afterEffect="1"/>
                                        <p:tgtEl>
                                          <p:spTgt spid="1064990"/>
                                        </p:tgtEl>
                                        <p:attrNameLst>
                                          <p:attrName>style.visibility</p:attrName>
                                        </p:attrNameLst>
                                      </p:cBhvr>
                                      <p:to>
                                        <p:strVal val="hidden"/>
                                      </p:to>
                                    </p:set>
                                  </p:subTnLst>
                                </p:cTn>
                              </p:par>
                            </p:childTnLst>
                          </p:cTn>
                        </p:par>
                        <p:par>
                          <p:cTn id="49" fill="hold" nodeType="afterGroup">
                            <p:stCondLst>
                              <p:cond delay="10000"/>
                            </p:stCondLst>
                            <p:childTnLst>
                              <p:par>
                                <p:cTn id="50" presetID="22" presetClass="entr" presetSubtype="2" fill="hold" nodeType="afterEffect">
                                  <p:stCondLst>
                                    <p:cond delay="0"/>
                                  </p:stCondLst>
                                  <p:childTnLst>
                                    <p:set>
                                      <p:cBhvr>
                                        <p:cTn id="51" dur="1" fill="hold">
                                          <p:stCondLst>
                                            <p:cond delay="0"/>
                                          </p:stCondLst>
                                        </p:cTn>
                                        <p:tgtEl>
                                          <p:spTgt spid="1064977"/>
                                        </p:tgtEl>
                                        <p:attrNameLst>
                                          <p:attrName>style.visibility</p:attrName>
                                        </p:attrNameLst>
                                      </p:cBhvr>
                                      <p:to>
                                        <p:strVal val="visible"/>
                                      </p:to>
                                    </p:set>
                                    <p:animEffect transition="in" filter="wipe(right)">
                                      <p:cBhvr>
                                        <p:cTn id="52" dur="1000"/>
                                        <p:tgtEl>
                                          <p:spTgt spid="106497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3" presetClass="entr" presetSubtype="0" fill="hold" grpId="0" nodeType="clickEffect">
                                  <p:stCondLst>
                                    <p:cond delay="0"/>
                                  </p:stCondLst>
                                  <p:childTnLst>
                                    <p:set>
                                      <p:cBhvr>
                                        <p:cTn id="56" dur="1" fill="hold">
                                          <p:stCondLst>
                                            <p:cond delay="0"/>
                                          </p:stCondLst>
                                        </p:cTn>
                                        <p:tgtEl>
                                          <p:spTgt spid="1064985"/>
                                        </p:tgtEl>
                                        <p:attrNameLst>
                                          <p:attrName>style.visibility</p:attrName>
                                        </p:attrNameLst>
                                      </p:cBhvr>
                                      <p:to>
                                        <p:strVal val="visible"/>
                                      </p:to>
                                    </p:set>
                                    <p:anim calcmode="lin" valueType="num">
                                      <p:cBhvr>
                                        <p:cTn id="57" dur="1000" fill="hold"/>
                                        <p:tgtEl>
                                          <p:spTgt spid="1064985"/>
                                        </p:tgtEl>
                                        <p:attrNameLst>
                                          <p:attrName>ppt_w</p:attrName>
                                        </p:attrNameLst>
                                      </p:cBhvr>
                                      <p:tavLst>
                                        <p:tav tm="0">
                                          <p:val>
                                            <p:fltVal val="0"/>
                                          </p:val>
                                        </p:tav>
                                        <p:tav tm="100000">
                                          <p:val>
                                            <p:strVal val="#ppt_w"/>
                                          </p:val>
                                        </p:tav>
                                      </p:tavLst>
                                    </p:anim>
                                    <p:anim calcmode="lin" valueType="num">
                                      <p:cBhvr>
                                        <p:cTn id="58" dur="1000" fill="hold"/>
                                        <p:tgtEl>
                                          <p:spTgt spid="1064985"/>
                                        </p:tgtEl>
                                        <p:attrNameLst>
                                          <p:attrName>ppt_h</p:attrName>
                                        </p:attrNameLst>
                                      </p:cBhvr>
                                      <p:tavLst>
                                        <p:tav tm="0">
                                          <p:val>
                                            <p:fltVal val="0"/>
                                          </p:val>
                                        </p:tav>
                                        <p:tav tm="100000">
                                          <p:val>
                                            <p:strVal val="#ppt_h"/>
                                          </p:val>
                                        </p:tav>
                                      </p:tavLst>
                                    </p:anim>
                                    <p:animEffect transition="in" filter="fade">
                                      <p:cBhvr>
                                        <p:cTn id="59" dur="1000"/>
                                        <p:tgtEl>
                                          <p:spTgt spid="10649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85" grpId="0" animBg="1"/>
      <p:bldP spid="1064992"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4507" name="AutoShape 11">
            <a:extLst>
              <a:ext uri="{FF2B5EF4-FFF2-40B4-BE49-F238E27FC236}">
                <a16:creationId xmlns:a16="http://schemas.microsoft.com/office/drawing/2014/main" id="{066A9DE6-E89C-40E4-89AE-0510A90012EA}"/>
              </a:ext>
            </a:extLst>
          </p:cNvPr>
          <p:cNvSpPr>
            <a:spLocks noChangeArrowheads="1"/>
          </p:cNvSpPr>
          <p:nvPr/>
        </p:nvSpPr>
        <p:spPr bwMode="auto">
          <a:xfrm>
            <a:off x="6227763" y="5949950"/>
            <a:ext cx="2700337" cy="647700"/>
          </a:xfrm>
          <a:prstGeom prst="foldedCorner">
            <a:avLst>
              <a:gd name="adj" fmla="val 12500"/>
            </a:avLst>
          </a:prstGeom>
          <a:solidFill>
            <a:srgbClr val="CC99FF"/>
          </a:solidFill>
          <a:ln w="25400" cap="sq">
            <a:solidFill>
              <a:srgbClr val="000000"/>
            </a:solidFill>
            <a:round/>
            <a:headEnd type="none" w="sm" len="sm"/>
            <a:tailEnd type="none" w="sm" len="sm"/>
          </a:ln>
          <a:effectLst>
            <a:outerShdw dist="35921" dir="2700000" algn="ctr" rotWithShape="0">
              <a:schemeClr val="tx1"/>
            </a:outerShdw>
          </a:effectLst>
        </p:spPr>
        <p:txBody>
          <a:bodyPr wrap="none" anchor="ctr"/>
          <a:lstStyle/>
          <a:p>
            <a:pPr algn="ctr"/>
            <a:r>
              <a:rPr lang="zh-CN" altLang="en-US" sz="2800" b="1">
                <a:solidFill>
                  <a:srgbClr val="000066"/>
                </a:solidFill>
                <a:effectLst>
                  <a:outerShdw blurRad="38100" dist="38100" dir="2700000" algn="tl">
                    <a:srgbClr val="000000"/>
                  </a:outerShdw>
                </a:effectLst>
                <a:latin typeface="黑体" panose="02010609060101010101" pitchFamily="49" charset="-122"/>
                <a:ea typeface="黑体" panose="02010609060101010101" pitchFamily="49" charset="-122"/>
              </a:rPr>
              <a:t>规范级别：</a:t>
            </a:r>
            <a:r>
              <a:rPr lang="en-US" altLang="zh-CN" sz="2800" b="1">
                <a:solidFill>
                  <a:srgbClr val="000066"/>
                </a:solidFill>
                <a:effectLst>
                  <a:outerShdw blurRad="38100" dist="38100" dir="2700000" algn="tl">
                    <a:srgbClr val="000000"/>
                  </a:outerShdw>
                </a:effectLst>
                <a:latin typeface="黑体" panose="02010609060101010101" pitchFamily="49" charset="-122"/>
                <a:ea typeface="黑体" panose="02010609060101010101" pitchFamily="49" charset="-122"/>
              </a:rPr>
              <a:t>3NF</a:t>
            </a:r>
          </a:p>
        </p:txBody>
      </p:sp>
      <p:sp>
        <p:nvSpPr>
          <p:cNvPr id="874508" name="AutoShape 12">
            <a:extLst>
              <a:ext uri="{FF2B5EF4-FFF2-40B4-BE49-F238E27FC236}">
                <a16:creationId xmlns:a16="http://schemas.microsoft.com/office/drawing/2014/main" id="{4E062A95-0B60-4307-9B71-A3944284B3D2}"/>
              </a:ext>
            </a:extLst>
          </p:cNvPr>
          <p:cNvSpPr>
            <a:spLocks noChangeArrowheads="1"/>
          </p:cNvSpPr>
          <p:nvPr/>
        </p:nvSpPr>
        <p:spPr bwMode="auto">
          <a:xfrm>
            <a:off x="2193925" y="188913"/>
            <a:ext cx="2162175" cy="647700"/>
          </a:xfrm>
          <a:prstGeom prst="flowChartDelay">
            <a:avLst/>
          </a:prstGeom>
          <a:solidFill>
            <a:srgbClr val="CCFFFF"/>
          </a:solidFill>
          <a:ln w="12700" cap="sq">
            <a:solidFill>
              <a:schemeClr val="tx1"/>
            </a:solidFill>
            <a:miter lim="800000"/>
            <a:headEnd type="none" w="sm" len="sm"/>
            <a:tailEnd type="none" w="sm" len="sm"/>
          </a:ln>
          <a:effectLst>
            <a:outerShdw dist="71842" dir="2700000" algn="ctr" rotWithShape="0">
              <a:schemeClr val="tx1"/>
            </a:outerShdw>
          </a:effectLst>
        </p:spPr>
        <p:txBody>
          <a:bodyPr wrap="none" anchor="ctr"/>
          <a:lstStyle/>
          <a:p>
            <a:pPr algn="ctr"/>
            <a:r>
              <a:rPr lang="zh-CN" altLang="en-US" sz="2800" b="1">
                <a:solidFill>
                  <a:srgbClr val="660066"/>
                </a:solidFill>
                <a:effectLst>
                  <a:outerShdw blurRad="38100" dist="38100" dir="2700000" algn="tl">
                    <a:srgbClr val="000000"/>
                  </a:outerShdw>
                </a:effectLst>
                <a:ea typeface="隶书" panose="02010509060101010101" pitchFamily="49" charset="-122"/>
              </a:rPr>
              <a:t>示例讲解</a:t>
            </a:r>
            <a:endParaRPr lang="en-US" altLang="zh-CN" sz="2800" b="1">
              <a:solidFill>
                <a:srgbClr val="660066"/>
              </a:solidFill>
              <a:effectLst>
                <a:outerShdw blurRad="38100" dist="38100" dir="2700000" algn="tl">
                  <a:srgbClr val="000000"/>
                </a:outerShdw>
              </a:effectLst>
              <a:ea typeface="隶书" panose="02010509060101010101" pitchFamily="49" charset="-122"/>
            </a:endParaRPr>
          </a:p>
        </p:txBody>
      </p:sp>
      <p:sp>
        <p:nvSpPr>
          <p:cNvPr id="874509" name="Rectangle 13">
            <a:extLst>
              <a:ext uri="{FF2B5EF4-FFF2-40B4-BE49-F238E27FC236}">
                <a16:creationId xmlns:a16="http://schemas.microsoft.com/office/drawing/2014/main" id="{7E12DF33-E49B-4A8A-BB5E-25CE28E1448D}"/>
              </a:ext>
            </a:extLst>
          </p:cNvPr>
          <p:cNvSpPr>
            <a:spLocks noGrp="1" noChangeArrowheads="1"/>
          </p:cNvSpPr>
          <p:nvPr>
            <p:ph type="body" idx="1"/>
          </p:nvPr>
        </p:nvSpPr>
        <p:spPr/>
        <p:txBody>
          <a:bodyPr/>
          <a:lstStyle/>
          <a:p>
            <a:pPr algn="just"/>
            <a:r>
              <a:rPr lang="zh-CN" altLang="en-US" i="1">
                <a:solidFill>
                  <a:srgbClr val="008000"/>
                </a:solidFill>
                <a:latin typeface="楷体_GB2312" pitchFamily="49" charset="-122"/>
                <a:cs typeface="Times New Roman" panose="02020603050405020304" pitchFamily="18" charset="0"/>
              </a:rPr>
              <a:t>例</a:t>
            </a:r>
            <a:r>
              <a:rPr lang="en-US" altLang="zh-CN">
                <a:solidFill>
                  <a:srgbClr val="000000"/>
                </a:solidFill>
                <a:latin typeface="楷体_GB2312" pitchFamily="49" charset="-122"/>
                <a:cs typeface="Times New Roman" panose="02020603050405020304" pitchFamily="18" charset="0"/>
              </a:rPr>
              <a:t> </a:t>
            </a:r>
            <a:r>
              <a:rPr lang="zh-CN" altLang="en-US">
                <a:solidFill>
                  <a:srgbClr val="000000"/>
                </a:solidFill>
                <a:latin typeface="楷体_GB2312" pitchFamily="49" charset="-122"/>
                <a:cs typeface="Times New Roman" panose="02020603050405020304" pitchFamily="18" charset="0"/>
              </a:rPr>
              <a:t>设有关系模式</a:t>
            </a:r>
            <a:r>
              <a:rPr lang="en-US" altLang="zh-CN">
                <a:solidFill>
                  <a:srgbClr val="000000"/>
                </a:solidFill>
                <a:latin typeface="楷体_GB2312" pitchFamily="49" charset="-122"/>
                <a:cs typeface="Times New Roman" panose="02020603050405020304" pitchFamily="18" charset="0"/>
              </a:rPr>
              <a:t>R(CTHPSG)</a:t>
            </a:r>
            <a:endParaRPr lang="zh-CN" altLang="en-US">
              <a:solidFill>
                <a:srgbClr val="000000"/>
              </a:solidFill>
              <a:latin typeface="楷体_GB2312" pitchFamily="49" charset="-122"/>
              <a:cs typeface="Times New Roman" panose="02020603050405020304" pitchFamily="18" charset="0"/>
            </a:endParaRPr>
          </a:p>
          <a:p>
            <a:pPr algn="just"/>
            <a:r>
              <a:rPr lang="en-US" altLang="zh-CN">
                <a:solidFill>
                  <a:srgbClr val="000000"/>
                </a:solidFill>
                <a:latin typeface="楷体_GB2312" pitchFamily="49" charset="-122"/>
                <a:cs typeface="Times New Roman" panose="02020603050405020304" pitchFamily="18" charset="0"/>
              </a:rPr>
              <a:t>   F={C</a:t>
            </a:r>
            <a:r>
              <a:rPr lang="en-US" altLang="zh-CN">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a:solidFill>
                  <a:srgbClr val="000000"/>
                </a:solidFill>
                <a:latin typeface="楷体_GB2312" pitchFamily="49" charset="-122"/>
                <a:cs typeface="Times New Roman" panose="02020603050405020304" pitchFamily="18" charset="0"/>
              </a:rPr>
              <a:t>T</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HP</a:t>
            </a:r>
            <a:r>
              <a:rPr lang="en-US" altLang="zh-CN">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a:solidFill>
                  <a:srgbClr val="000000"/>
                </a:solidFill>
                <a:latin typeface="楷体_GB2312" pitchFamily="49" charset="-122"/>
                <a:cs typeface="Times New Roman" panose="02020603050405020304" pitchFamily="18" charset="0"/>
              </a:rPr>
              <a:t>C</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HT</a:t>
            </a:r>
            <a:r>
              <a:rPr lang="en-US" altLang="zh-CN">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a:solidFill>
                  <a:srgbClr val="000000"/>
                </a:solidFill>
                <a:latin typeface="楷体_GB2312" pitchFamily="49" charset="-122"/>
                <a:cs typeface="Times New Roman" panose="02020603050405020304" pitchFamily="18" charset="0"/>
              </a:rPr>
              <a:t>P</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CS</a:t>
            </a:r>
            <a:r>
              <a:rPr lang="en-US" altLang="zh-CN">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a:solidFill>
                  <a:srgbClr val="000000"/>
                </a:solidFill>
                <a:latin typeface="楷体_GB2312" pitchFamily="49" charset="-122"/>
                <a:cs typeface="Times New Roman" panose="02020603050405020304" pitchFamily="18" charset="0"/>
              </a:rPr>
              <a:t>G</a:t>
            </a:r>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HS</a:t>
            </a:r>
            <a:r>
              <a:rPr lang="en-US" altLang="zh-CN">
                <a:solidFill>
                  <a:srgbClr val="000000"/>
                </a:solidFill>
                <a:latin typeface="楷体_GB2312" pitchFamily="49" charset="-122"/>
                <a:cs typeface="Times New Roman" panose="02020603050405020304" pitchFamily="18" charset="0"/>
                <a:sym typeface="Symbol" panose="05050102010706020507" pitchFamily="18" charset="2"/>
              </a:rPr>
              <a:t></a:t>
            </a:r>
            <a:r>
              <a:rPr lang="en-US" altLang="zh-CN">
                <a:solidFill>
                  <a:srgbClr val="000000"/>
                </a:solidFill>
                <a:latin typeface="楷体_GB2312" pitchFamily="49" charset="-122"/>
                <a:cs typeface="Times New Roman" panose="02020603050405020304" pitchFamily="18" charset="0"/>
              </a:rPr>
              <a:t>P}</a:t>
            </a:r>
          </a:p>
          <a:p>
            <a:pPr algn="just"/>
            <a:r>
              <a:rPr lang="zh-CN" altLang="en-US">
                <a:solidFill>
                  <a:srgbClr val="000000"/>
                </a:solidFill>
                <a:latin typeface="楷体_GB2312" pitchFamily="49" charset="-122"/>
                <a:cs typeface="Times New Roman" panose="02020603050405020304" pitchFamily="18" charset="0"/>
              </a:rPr>
              <a:t>解：</a:t>
            </a:r>
          </a:p>
          <a:p>
            <a:pPr algn="just"/>
            <a:r>
              <a:rPr lang="zh-CN" altLang="en-US">
                <a:solidFill>
                  <a:srgbClr val="000000"/>
                </a:solidFill>
                <a:latin typeface="楷体_GB2312" pitchFamily="49" charset="-122"/>
                <a:cs typeface="Times New Roman" panose="02020603050405020304" pitchFamily="18" charset="0"/>
              </a:rPr>
              <a:t>（</a:t>
            </a:r>
            <a:r>
              <a:rPr lang="en-US" altLang="zh-CN">
                <a:solidFill>
                  <a:srgbClr val="000000"/>
                </a:solidFill>
                <a:latin typeface="楷体_GB2312" pitchFamily="49" charset="-122"/>
                <a:cs typeface="Times New Roman" panose="02020603050405020304" pitchFamily="18" charset="0"/>
              </a:rPr>
              <a:t>4</a:t>
            </a:r>
            <a:r>
              <a:rPr lang="zh-CN" altLang="en-US">
                <a:solidFill>
                  <a:srgbClr val="000000"/>
                </a:solidFill>
                <a:latin typeface="楷体_GB2312" pitchFamily="49" charset="-122"/>
                <a:cs typeface="Times New Roman" panose="02020603050405020304" pitchFamily="18" charset="0"/>
              </a:rPr>
              <a:t>）将</a:t>
            </a:r>
            <a:r>
              <a:rPr lang="en-US" altLang="zh-CN">
                <a:solidFill>
                  <a:srgbClr val="000000"/>
                </a:solidFill>
                <a:latin typeface="楷体_GB2312" pitchFamily="49" charset="-122"/>
                <a:cs typeface="Times New Roman" panose="02020603050405020304" pitchFamily="18" charset="0"/>
              </a:rPr>
              <a:t>R</a:t>
            </a:r>
            <a:r>
              <a:rPr lang="zh-CN" altLang="en-US">
                <a:solidFill>
                  <a:srgbClr val="000000"/>
                </a:solidFill>
                <a:latin typeface="楷体_GB2312" pitchFamily="49" charset="-122"/>
                <a:cs typeface="Times New Roman" panose="02020603050405020304" pitchFamily="18" charset="0"/>
              </a:rPr>
              <a:t>分解成</a:t>
            </a:r>
            <a:r>
              <a:rPr lang="en-US" altLang="zh-CN">
                <a:solidFill>
                  <a:srgbClr val="000000"/>
                </a:solidFill>
                <a:latin typeface="楷体_GB2312" pitchFamily="49" charset="-122"/>
                <a:cs typeface="Times New Roman" panose="02020603050405020304" pitchFamily="18" charset="0"/>
              </a:rPr>
              <a:t>3NF</a:t>
            </a:r>
            <a:r>
              <a:rPr lang="zh-CN" altLang="en-US">
                <a:solidFill>
                  <a:srgbClr val="000000"/>
                </a:solidFill>
                <a:latin typeface="楷体_GB2312" pitchFamily="49" charset="-122"/>
                <a:cs typeface="Times New Roman" panose="02020603050405020304" pitchFamily="18" charset="0"/>
              </a:rPr>
              <a:t>模式，保持依赖且具有无损联接性</a:t>
            </a:r>
          </a:p>
        </p:txBody>
      </p:sp>
      <p:sp>
        <p:nvSpPr>
          <p:cNvPr id="874500" name="AutoShape 4">
            <a:extLst>
              <a:ext uri="{FF2B5EF4-FFF2-40B4-BE49-F238E27FC236}">
                <a16:creationId xmlns:a16="http://schemas.microsoft.com/office/drawing/2014/main" id="{921DE8C0-1D0E-413B-8033-61614373530A}"/>
              </a:ext>
            </a:extLst>
          </p:cNvPr>
          <p:cNvSpPr>
            <a:spLocks noChangeArrowheads="1"/>
          </p:cNvSpPr>
          <p:nvPr/>
        </p:nvSpPr>
        <p:spPr bwMode="auto">
          <a:xfrm>
            <a:off x="3924300" y="2924175"/>
            <a:ext cx="3959225" cy="792163"/>
          </a:xfrm>
          <a:prstGeom prst="wedgeRectCallout">
            <a:avLst>
              <a:gd name="adj1" fmla="val -113514"/>
              <a:gd name="adj2" fmla="val -76454"/>
            </a:avLst>
          </a:prstGeom>
          <a:solidFill>
            <a:srgbClr val="000080"/>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lstStyle/>
          <a:p>
            <a:pPr algn="ctr"/>
            <a:r>
              <a:rPr lang="zh-CN" altLang="zh-CN" sz="2400" b="1">
                <a:solidFill>
                  <a:schemeClr val="bg1"/>
                </a:solidFill>
                <a:effectLst>
                  <a:outerShdw blurRad="38100" dist="38100" dir="2700000" algn="tl">
                    <a:srgbClr val="000000"/>
                  </a:outerShdw>
                </a:effectLst>
                <a:ea typeface="黑体" panose="02010609060101010101" pitchFamily="49" charset="-122"/>
              </a:rPr>
              <a:t>F是最小函数依赖集</a:t>
            </a:r>
            <a:endParaRPr lang="en-US" altLang="zh-CN" sz="2400" b="1">
              <a:solidFill>
                <a:schemeClr val="bg1"/>
              </a:solidFill>
              <a:effectLst>
                <a:outerShdw blurRad="38100" dist="38100" dir="2700000" algn="tl">
                  <a:srgbClr val="000000"/>
                </a:outerShdw>
              </a:effectLst>
              <a:ea typeface="黑体" panose="02010609060101010101" pitchFamily="49" charset="-122"/>
            </a:endParaRPr>
          </a:p>
        </p:txBody>
      </p:sp>
      <p:sp>
        <p:nvSpPr>
          <p:cNvPr id="874501" name="AutoShape 5">
            <a:extLst>
              <a:ext uri="{FF2B5EF4-FFF2-40B4-BE49-F238E27FC236}">
                <a16:creationId xmlns:a16="http://schemas.microsoft.com/office/drawing/2014/main" id="{D3224DAD-D659-4FFD-A0F9-7397F36C5E79}"/>
              </a:ext>
            </a:extLst>
          </p:cNvPr>
          <p:cNvSpPr>
            <a:spLocks noChangeArrowheads="1"/>
          </p:cNvSpPr>
          <p:nvPr/>
        </p:nvSpPr>
        <p:spPr bwMode="auto">
          <a:xfrm>
            <a:off x="1835150" y="2781300"/>
            <a:ext cx="1008063" cy="647700"/>
          </a:xfrm>
          <a:prstGeom prst="wedgeRectCallout">
            <a:avLst>
              <a:gd name="adj1" fmla="val -33620"/>
              <a:gd name="adj2" fmla="val -98282"/>
            </a:avLst>
          </a:prstGeom>
          <a:solidFill>
            <a:srgbClr val="CCFFFF"/>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lstStyle/>
          <a:p>
            <a:pPr algn="ctr"/>
            <a:r>
              <a:rPr lang="zh-CN" altLang="zh-CN" sz="2800" b="1">
                <a:solidFill>
                  <a:schemeClr val="tx2"/>
                </a:solidFill>
                <a:effectLst>
                  <a:outerShdw blurRad="38100" dist="38100" dir="2700000" algn="tl">
                    <a:srgbClr val="000000"/>
                  </a:outerShdw>
                </a:effectLst>
                <a:ea typeface="黑体" panose="02010609060101010101" pitchFamily="49" charset="-122"/>
              </a:rPr>
              <a:t>CT</a:t>
            </a:r>
            <a:endParaRPr lang="en-US" altLang="zh-CN" sz="2800" b="1">
              <a:solidFill>
                <a:schemeClr val="tx2"/>
              </a:solidFill>
              <a:effectLst>
                <a:outerShdw blurRad="38100" dist="38100" dir="2700000" algn="tl">
                  <a:srgbClr val="000000"/>
                </a:outerShdw>
              </a:effectLst>
              <a:ea typeface="黑体" panose="02010609060101010101" pitchFamily="49" charset="-122"/>
            </a:endParaRPr>
          </a:p>
        </p:txBody>
      </p:sp>
      <p:sp>
        <p:nvSpPr>
          <p:cNvPr id="874502" name="AutoShape 6">
            <a:extLst>
              <a:ext uri="{FF2B5EF4-FFF2-40B4-BE49-F238E27FC236}">
                <a16:creationId xmlns:a16="http://schemas.microsoft.com/office/drawing/2014/main" id="{13707689-EC77-48ED-9A2D-371929B8FD4E}"/>
              </a:ext>
            </a:extLst>
          </p:cNvPr>
          <p:cNvSpPr>
            <a:spLocks noChangeArrowheads="1"/>
          </p:cNvSpPr>
          <p:nvPr/>
        </p:nvSpPr>
        <p:spPr bwMode="auto">
          <a:xfrm>
            <a:off x="3022600" y="2781300"/>
            <a:ext cx="1008063" cy="647700"/>
          </a:xfrm>
          <a:prstGeom prst="wedgeRectCallout">
            <a:avLst>
              <a:gd name="adj1" fmla="val -33620"/>
              <a:gd name="adj2" fmla="val -98282"/>
            </a:avLst>
          </a:prstGeom>
          <a:solidFill>
            <a:srgbClr val="CCFFFF"/>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lstStyle/>
          <a:p>
            <a:pPr algn="ctr"/>
            <a:r>
              <a:rPr lang="zh-CN" altLang="zh-CN" sz="2800" b="1">
                <a:solidFill>
                  <a:schemeClr val="tx2"/>
                </a:solidFill>
                <a:effectLst>
                  <a:outerShdw blurRad="38100" dist="38100" dir="2700000" algn="tl">
                    <a:srgbClr val="000000"/>
                  </a:outerShdw>
                </a:effectLst>
                <a:ea typeface="黑体" panose="02010609060101010101" pitchFamily="49" charset="-122"/>
              </a:rPr>
              <a:t>HPC</a:t>
            </a:r>
            <a:endParaRPr lang="en-US" altLang="zh-CN" sz="2800" b="1">
              <a:solidFill>
                <a:schemeClr val="tx2"/>
              </a:solidFill>
              <a:effectLst>
                <a:outerShdw blurRad="38100" dist="38100" dir="2700000" algn="tl">
                  <a:srgbClr val="000000"/>
                </a:outerShdw>
              </a:effectLst>
              <a:ea typeface="黑体" panose="02010609060101010101" pitchFamily="49" charset="-122"/>
            </a:endParaRPr>
          </a:p>
        </p:txBody>
      </p:sp>
      <p:sp>
        <p:nvSpPr>
          <p:cNvPr id="874503" name="AutoShape 7">
            <a:extLst>
              <a:ext uri="{FF2B5EF4-FFF2-40B4-BE49-F238E27FC236}">
                <a16:creationId xmlns:a16="http://schemas.microsoft.com/office/drawing/2014/main" id="{EC669785-8D20-4500-A348-4E92B0B47861}"/>
              </a:ext>
            </a:extLst>
          </p:cNvPr>
          <p:cNvSpPr>
            <a:spLocks noChangeArrowheads="1"/>
          </p:cNvSpPr>
          <p:nvPr/>
        </p:nvSpPr>
        <p:spPr bwMode="auto">
          <a:xfrm>
            <a:off x="4211638" y="2781300"/>
            <a:ext cx="1008062" cy="647700"/>
          </a:xfrm>
          <a:prstGeom prst="wedgeRectCallout">
            <a:avLst>
              <a:gd name="adj1" fmla="val -33620"/>
              <a:gd name="adj2" fmla="val -98282"/>
            </a:avLst>
          </a:prstGeom>
          <a:solidFill>
            <a:srgbClr val="CCFFFF"/>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lstStyle/>
          <a:p>
            <a:pPr algn="ctr"/>
            <a:r>
              <a:rPr lang="zh-CN" altLang="zh-CN" sz="2800" b="1">
                <a:solidFill>
                  <a:schemeClr val="tx2"/>
                </a:solidFill>
                <a:effectLst>
                  <a:outerShdw blurRad="38100" dist="38100" dir="2700000" algn="tl">
                    <a:srgbClr val="000000"/>
                  </a:outerShdw>
                </a:effectLst>
                <a:ea typeface="黑体" panose="02010609060101010101" pitchFamily="49" charset="-122"/>
              </a:rPr>
              <a:t>HPT</a:t>
            </a:r>
            <a:endParaRPr lang="en-US" altLang="zh-CN" sz="2800" b="1">
              <a:solidFill>
                <a:schemeClr val="tx2"/>
              </a:solidFill>
              <a:effectLst>
                <a:outerShdw blurRad="38100" dist="38100" dir="2700000" algn="tl">
                  <a:srgbClr val="000000"/>
                </a:outerShdw>
              </a:effectLst>
              <a:ea typeface="黑体" panose="02010609060101010101" pitchFamily="49" charset="-122"/>
            </a:endParaRPr>
          </a:p>
        </p:txBody>
      </p:sp>
      <p:sp>
        <p:nvSpPr>
          <p:cNvPr id="874504" name="AutoShape 8">
            <a:extLst>
              <a:ext uri="{FF2B5EF4-FFF2-40B4-BE49-F238E27FC236}">
                <a16:creationId xmlns:a16="http://schemas.microsoft.com/office/drawing/2014/main" id="{476F3E34-C558-4D22-81E2-090A613EC096}"/>
              </a:ext>
            </a:extLst>
          </p:cNvPr>
          <p:cNvSpPr>
            <a:spLocks noChangeArrowheads="1"/>
          </p:cNvSpPr>
          <p:nvPr/>
        </p:nvSpPr>
        <p:spPr bwMode="auto">
          <a:xfrm>
            <a:off x="5399088" y="2781300"/>
            <a:ext cx="1008062" cy="647700"/>
          </a:xfrm>
          <a:prstGeom prst="wedgeRectCallout">
            <a:avLst>
              <a:gd name="adj1" fmla="val -33620"/>
              <a:gd name="adj2" fmla="val -98282"/>
            </a:avLst>
          </a:prstGeom>
          <a:solidFill>
            <a:srgbClr val="CCFFFF"/>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lstStyle/>
          <a:p>
            <a:pPr algn="ctr"/>
            <a:r>
              <a:rPr lang="zh-CN" altLang="zh-CN" sz="2800" b="1">
                <a:solidFill>
                  <a:schemeClr val="tx2"/>
                </a:solidFill>
                <a:effectLst>
                  <a:outerShdw blurRad="38100" dist="38100" dir="2700000" algn="tl">
                    <a:srgbClr val="000000"/>
                  </a:outerShdw>
                </a:effectLst>
                <a:ea typeface="黑体" panose="02010609060101010101" pitchFamily="49" charset="-122"/>
              </a:rPr>
              <a:t>CSG</a:t>
            </a:r>
            <a:endParaRPr lang="en-US" altLang="zh-CN" sz="2800" b="1">
              <a:solidFill>
                <a:schemeClr val="tx2"/>
              </a:solidFill>
              <a:effectLst>
                <a:outerShdw blurRad="38100" dist="38100" dir="2700000" algn="tl">
                  <a:srgbClr val="000000"/>
                </a:outerShdw>
              </a:effectLst>
              <a:ea typeface="黑体" panose="02010609060101010101" pitchFamily="49" charset="-122"/>
            </a:endParaRPr>
          </a:p>
        </p:txBody>
      </p:sp>
      <p:sp>
        <p:nvSpPr>
          <p:cNvPr id="874505" name="AutoShape 9">
            <a:extLst>
              <a:ext uri="{FF2B5EF4-FFF2-40B4-BE49-F238E27FC236}">
                <a16:creationId xmlns:a16="http://schemas.microsoft.com/office/drawing/2014/main" id="{15E8BD7F-81CD-4732-95EA-6514D1E0F69C}"/>
              </a:ext>
            </a:extLst>
          </p:cNvPr>
          <p:cNvSpPr>
            <a:spLocks noChangeArrowheads="1"/>
          </p:cNvSpPr>
          <p:nvPr/>
        </p:nvSpPr>
        <p:spPr bwMode="auto">
          <a:xfrm>
            <a:off x="6588125" y="2781300"/>
            <a:ext cx="1008063" cy="647700"/>
          </a:xfrm>
          <a:prstGeom prst="wedgeRectCallout">
            <a:avLst>
              <a:gd name="adj1" fmla="val -33620"/>
              <a:gd name="adj2" fmla="val -98282"/>
            </a:avLst>
          </a:prstGeom>
          <a:solidFill>
            <a:srgbClr val="CCFFFF"/>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lstStyle/>
          <a:p>
            <a:pPr algn="ctr"/>
            <a:r>
              <a:rPr lang="zh-CN" altLang="zh-CN" sz="2800" b="1">
                <a:solidFill>
                  <a:schemeClr val="tx2"/>
                </a:solidFill>
                <a:effectLst>
                  <a:outerShdw blurRad="38100" dist="38100" dir="2700000" algn="tl">
                    <a:srgbClr val="000000"/>
                  </a:outerShdw>
                </a:effectLst>
                <a:ea typeface="黑体" panose="02010609060101010101" pitchFamily="49" charset="-122"/>
              </a:rPr>
              <a:t>HSP</a:t>
            </a:r>
            <a:endParaRPr lang="en-US" altLang="zh-CN" sz="2800" b="1">
              <a:solidFill>
                <a:schemeClr val="tx2"/>
              </a:solidFill>
              <a:effectLst>
                <a:outerShdw blurRad="38100" dist="38100" dir="2700000" algn="tl">
                  <a:srgbClr val="000000"/>
                </a:outerShdw>
              </a:effectLst>
              <a:ea typeface="黑体" panose="02010609060101010101" pitchFamily="49" charset="-122"/>
            </a:endParaRPr>
          </a:p>
        </p:txBody>
      </p:sp>
      <p:sp>
        <p:nvSpPr>
          <p:cNvPr id="874506" name="AutoShape 10">
            <a:extLst>
              <a:ext uri="{FF2B5EF4-FFF2-40B4-BE49-F238E27FC236}">
                <a16:creationId xmlns:a16="http://schemas.microsoft.com/office/drawing/2014/main" id="{059BFDF4-A031-468E-8331-FF1777D3859C}"/>
              </a:ext>
            </a:extLst>
          </p:cNvPr>
          <p:cNvSpPr>
            <a:spLocks noChangeArrowheads="1"/>
          </p:cNvSpPr>
          <p:nvPr/>
        </p:nvSpPr>
        <p:spPr bwMode="auto">
          <a:xfrm>
            <a:off x="971550" y="3646488"/>
            <a:ext cx="7345363" cy="1150937"/>
          </a:xfrm>
          <a:prstGeom prst="flowChartDocument">
            <a:avLst/>
          </a:prstGeom>
          <a:solidFill>
            <a:srgbClr val="008080"/>
          </a:solidFill>
          <a:ln w="12700" cap="sq">
            <a:solidFill>
              <a:schemeClr val="tx1"/>
            </a:solidFill>
            <a:miter lim="800000"/>
            <a:headEnd type="none" w="sm" len="sm"/>
            <a:tailEnd type="none" w="sm" len="sm"/>
          </a:ln>
          <a:effectLst>
            <a:outerShdw dist="71842" dir="2700000" algn="ctr" rotWithShape="0">
              <a:schemeClr val="tx1"/>
            </a:outerShdw>
          </a:effectLst>
        </p:spPr>
        <p:txBody>
          <a:bodyPr wrap="none" lIns="18000" tIns="0" anchor="ctr" anchorCtr="1"/>
          <a:lstStyle/>
          <a:p>
            <a:pPr algn="ctr">
              <a:lnSpc>
                <a:spcPct val="120000"/>
              </a:lnSpc>
            </a:pPr>
            <a:r>
              <a:rPr lang="en-US" altLang="zh-CN" sz="2800" b="1">
                <a:solidFill>
                  <a:schemeClr val="bg1"/>
                </a:solidFill>
                <a:effectLst>
                  <a:outerShdw blurRad="38100" dist="38100" dir="2700000" algn="tl">
                    <a:srgbClr val="000000"/>
                  </a:outerShdw>
                </a:effectLst>
                <a:cs typeface="Times New Roman" panose="02020603050405020304" pitchFamily="18" charset="0"/>
              </a:rPr>
              <a:t>ρ</a:t>
            </a:r>
            <a:r>
              <a:rPr lang="zh-CN" altLang="en-US" sz="2800" b="1">
                <a:solidFill>
                  <a:schemeClr val="bg1"/>
                </a:solidFill>
                <a:effectLst>
                  <a:outerShdw blurRad="38100" dist="38100" dir="2700000" algn="tl">
                    <a:srgbClr val="000000"/>
                  </a:outerShdw>
                </a:effectLst>
                <a:cs typeface="Times New Roman" panose="02020603050405020304" pitchFamily="18" charset="0"/>
              </a:rPr>
              <a:t>＝</a:t>
            </a:r>
            <a:r>
              <a:rPr lang="en-US" altLang="zh-CN" sz="2800" b="1">
                <a:solidFill>
                  <a:schemeClr val="bg1"/>
                </a:solidFill>
                <a:effectLst>
                  <a:outerShdw blurRad="38100" dist="38100" dir="2700000" algn="tl">
                    <a:srgbClr val="000000"/>
                  </a:outerShdw>
                </a:effectLst>
                <a:cs typeface="Times New Roman" panose="02020603050405020304" pitchFamily="18" charset="0"/>
              </a:rPr>
              <a:t>{CT,CHP,HPT,CSG,HSP}</a:t>
            </a:r>
            <a:r>
              <a:rPr lang="zh-CN" altLang="en-US" sz="2800" b="1">
                <a:solidFill>
                  <a:schemeClr val="bg1"/>
                </a:solidFill>
                <a:effectLst>
                  <a:outerShdw blurRad="38100" dist="38100" dir="2700000" algn="tl">
                    <a:srgbClr val="000000"/>
                  </a:outerShdw>
                </a:effectLst>
                <a:cs typeface="Times New Roman" panose="02020603050405020304" pitchFamily="18" charset="0"/>
              </a:rPr>
              <a:t>，保持依赖性</a:t>
            </a:r>
          </a:p>
        </p:txBody>
      </p:sp>
      <p:sp>
        <p:nvSpPr>
          <p:cNvPr id="874510" name="AutoShape 14">
            <a:extLst>
              <a:ext uri="{FF2B5EF4-FFF2-40B4-BE49-F238E27FC236}">
                <a16:creationId xmlns:a16="http://schemas.microsoft.com/office/drawing/2014/main" id="{FC65874B-D03F-43FC-B509-079347368230}"/>
              </a:ext>
            </a:extLst>
          </p:cNvPr>
          <p:cNvSpPr>
            <a:spLocks noChangeArrowheads="1"/>
          </p:cNvSpPr>
          <p:nvPr/>
        </p:nvSpPr>
        <p:spPr bwMode="auto">
          <a:xfrm>
            <a:off x="971550" y="4868863"/>
            <a:ext cx="7345363" cy="1150937"/>
          </a:xfrm>
          <a:prstGeom prst="flowChartDocument">
            <a:avLst/>
          </a:prstGeom>
          <a:solidFill>
            <a:srgbClr val="000080"/>
          </a:solidFill>
          <a:ln w="12700" cap="sq">
            <a:solidFill>
              <a:schemeClr val="tx1"/>
            </a:solidFill>
            <a:miter lim="800000"/>
            <a:headEnd type="none" w="sm" len="sm"/>
            <a:tailEnd type="none" w="sm" len="sm"/>
          </a:ln>
          <a:effectLst>
            <a:outerShdw dist="71842" dir="2700000" algn="ctr" rotWithShape="0">
              <a:schemeClr val="tx1"/>
            </a:outerShdw>
          </a:effectLst>
        </p:spPr>
        <p:txBody>
          <a:bodyPr wrap="none" lIns="18000" tIns="0" anchor="ctr" anchorCtr="1"/>
          <a:lstStyle/>
          <a:p>
            <a:pPr algn="ctr">
              <a:lnSpc>
                <a:spcPct val="120000"/>
              </a:lnSpc>
            </a:pPr>
            <a:r>
              <a:rPr lang="en-US" altLang="zh-CN"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结论：</a:t>
            </a:r>
            <a:r>
              <a:rPr lang="zh-CN" altLang="en-US"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该</a:t>
            </a:r>
            <a:r>
              <a:rPr lang="zh-CN" altLang="pt-BR"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分解保持依赖和具有无损联接性</a:t>
            </a:r>
            <a:endParaRPr lang="zh-CN" altLang="en-US" sz="2800"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874511" name="Line 15">
            <a:extLst>
              <a:ext uri="{FF2B5EF4-FFF2-40B4-BE49-F238E27FC236}">
                <a16:creationId xmlns:a16="http://schemas.microsoft.com/office/drawing/2014/main" id="{2235D47B-5C81-431E-86F0-814AAC07E57D}"/>
              </a:ext>
            </a:extLst>
          </p:cNvPr>
          <p:cNvSpPr>
            <a:spLocks noChangeShapeType="1"/>
          </p:cNvSpPr>
          <p:nvPr/>
        </p:nvSpPr>
        <p:spPr bwMode="auto">
          <a:xfrm>
            <a:off x="5076825" y="4365625"/>
            <a:ext cx="719138" cy="0"/>
          </a:xfrm>
          <a:prstGeom prst="line">
            <a:avLst/>
          </a:prstGeom>
          <a:noFill/>
          <a:ln w="38100" cap="sq">
            <a:solidFill>
              <a:srgbClr val="FF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9060"/>
    </mc:Choice>
    <mc:Fallback xmlns="">
      <p:transition spd="slow" advTm="49060"/>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874507"/>
                                        </p:tgtEl>
                                        <p:attrNameLst>
                                          <p:attrName>style.visibility</p:attrName>
                                        </p:attrNameLst>
                                      </p:cBhvr>
                                      <p:to>
                                        <p:strVal val="visible"/>
                                      </p:to>
                                    </p:set>
                                    <p:anim calcmode="lin" valueType="num">
                                      <p:cBhvr>
                                        <p:cTn id="7" dur="1000" fill="hold"/>
                                        <p:tgtEl>
                                          <p:spTgt spid="874507"/>
                                        </p:tgtEl>
                                        <p:attrNameLst>
                                          <p:attrName>ppt_w</p:attrName>
                                        </p:attrNameLst>
                                      </p:cBhvr>
                                      <p:tavLst>
                                        <p:tav tm="0">
                                          <p:val>
                                            <p:fltVal val="0"/>
                                          </p:val>
                                        </p:tav>
                                        <p:tav tm="100000">
                                          <p:val>
                                            <p:strVal val="#ppt_w"/>
                                          </p:val>
                                        </p:tav>
                                      </p:tavLst>
                                    </p:anim>
                                    <p:anim calcmode="lin" valueType="num">
                                      <p:cBhvr>
                                        <p:cTn id="8" dur="1000" fill="hold"/>
                                        <p:tgtEl>
                                          <p:spTgt spid="874507"/>
                                        </p:tgtEl>
                                        <p:attrNameLst>
                                          <p:attrName>ppt_h</p:attrName>
                                        </p:attrNameLst>
                                      </p:cBhvr>
                                      <p:tavLst>
                                        <p:tav tm="0">
                                          <p:val>
                                            <p:fltVal val="0"/>
                                          </p:val>
                                        </p:tav>
                                        <p:tav tm="100000">
                                          <p:val>
                                            <p:strVal val="#ppt_h"/>
                                          </p:val>
                                        </p:tav>
                                      </p:tavLst>
                                    </p:anim>
                                    <p:animEffect transition="in" filter="fade">
                                      <p:cBhvr>
                                        <p:cTn id="9" dur="1000"/>
                                        <p:tgtEl>
                                          <p:spTgt spid="87450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39" presetClass="entr" presetSubtype="0" accel="100000" fill="hold" grpId="0" nodeType="clickEffect">
                                  <p:stCondLst>
                                    <p:cond delay="0"/>
                                  </p:stCondLst>
                                  <p:childTnLst>
                                    <p:set>
                                      <p:cBhvr>
                                        <p:cTn id="13" dur="1" fill="hold">
                                          <p:stCondLst>
                                            <p:cond delay="0"/>
                                          </p:stCondLst>
                                        </p:cTn>
                                        <p:tgtEl>
                                          <p:spTgt spid="874500"/>
                                        </p:tgtEl>
                                        <p:attrNameLst>
                                          <p:attrName>style.visibility</p:attrName>
                                        </p:attrNameLst>
                                      </p:cBhvr>
                                      <p:to>
                                        <p:strVal val="visible"/>
                                      </p:to>
                                    </p:set>
                                    <p:anim calcmode="lin" valueType="num">
                                      <p:cBhvr>
                                        <p:cTn id="14" dur="500" fill="hold"/>
                                        <p:tgtEl>
                                          <p:spTgt spid="874500"/>
                                        </p:tgtEl>
                                        <p:attrNameLst>
                                          <p:attrName>ppt_h</p:attrName>
                                        </p:attrNameLst>
                                      </p:cBhvr>
                                      <p:tavLst>
                                        <p:tav tm="0">
                                          <p:val>
                                            <p:strVal val="#ppt_h/20"/>
                                          </p:val>
                                        </p:tav>
                                        <p:tav tm="50000">
                                          <p:val>
                                            <p:strVal val="#ppt_h/20"/>
                                          </p:val>
                                        </p:tav>
                                        <p:tav tm="100000">
                                          <p:val>
                                            <p:strVal val="#ppt_h"/>
                                          </p:val>
                                        </p:tav>
                                      </p:tavLst>
                                    </p:anim>
                                    <p:anim calcmode="lin" valueType="num">
                                      <p:cBhvr>
                                        <p:cTn id="15" dur="500" fill="hold"/>
                                        <p:tgtEl>
                                          <p:spTgt spid="874500"/>
                                        </p:tgtEl>
                                        <p:attrNameLst>
                                          <p:attrName>ppt_w</p:attrName>
                                        </p:attrNameLst>
                                      </p:cBhvr>
                                      <p:tavLst>
                                        <p:tav tm="0">
                                          <p:val>
                                            <p:strVal val="#ppt_w+.3"/>
                                          </p:val>
                                        </p:tav>
                                        <p:tav tm="50000">
                                          <p:val>
                                            <p:strVal val="#ppt_w+.3"/>
                                          </p:val>
                                        </p:tav>
                                        <p:tav tm="100000">
                                          <p:val>
                                            <p:strVal val="#ppt_w"/>
                                          </p:val>
                                        </p:tav>
                                      </p:tavLst>
                                    </p:anim>
                                    <p:anim calcmode="lin" valueType="num">
                                      <p:cBhvr>
                                        <p:cTn id="16" dur="500" fill="hold"/>
                                        <p:tgtEl>
                                          <p:spTgt spid="874500"/>
                                        </p:tgtEl>
                                        <p:attrNameLst>
                                          <p:attrName>ppt_x</p:attrName>
                                        </p:attrNameLst>
                                      </p:cBhvr>
                                      <p:tavLst>
                                        <p:tav tm="0">
                                          <p:val>
                                            <p:strVal val="#ppt_x-.3"/>
                                          </p:val>
                                        </p:tav>
                                        <p:tav tm="50000">
                                          <p:val>
                                            <p:strVal val="#ppt_x"/>
                                          </p:val>
                                        </p:tav>
                                        <p:tav tm="100000">
                                          <p:val>
                                            <p:strVal val="#ppt_x"/>
                                          </p:val>
                                        </p:tav>
                                      </p:tavLst>
                                    </p:anim>
                                    <p:anim calcmode="lin" valueType="num">
                                      <p:cBhvr>
                                        <p:cTn id="17" dur="500" fill="hold"/>
                                        <p:tgtEl>
                                          <p:spTgt spid="874500"/>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874500"/>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53" presetClass="entr" presetSubtype="0" fill="hold" grpId="0" nodeType="clickEffect">
                                  <p:stCondLst>
                                    <p:cond delay="0"/>
                                  </p:stCondLst>
                                  <p:childTnLst>
                                    <p:set>
                                      <p:cBhvr>
                                        <p:cTn id="21" dur="1" fill="hold">
                                          <p:stCondLst>
                                            <p:cond delay="0"/>
                                          </p:stCondLst>
                                        </p:cTn>
                                        <p:tgtEl>
                                          <p:spTgt spid="874501"/>
                                        </p:tgtEl>
                                        <p:attrNameLst>
                                          <p:attrName>style.visibility</p:attrName>
                                        </p:attrNameLst>
                                      </p:cBhvr>
                                      <p:to>
                                        <p:strVal val="visible"/>
                                      </p:to>
                                    </p:set>
                                    <p:anim calcmode="lin" valueType="num">
                                      <p:cBhvr>
                                        <p:cTn id="22" dur="1000" fill="hold"/>
                                        <p:tgtEl>
                                          <p:spTgt spid="874501"/>
                                        </p:tgtEl>
                                        <p:attrNameLst>
                                          <p:attrName>ppt_w</p:attrName>
                                        </p:attrNameLst>
                                      </p:cBhvr>
                                      <p:tavLst>
                                        <p:tav tm="0">
                                          <p:val>
                                            <p:fltVal val="0"/>
                                          </p:val>
                                        </p:tav>
                                        <p:tav tm="100000">
                                          <p:val>
                                            <p:strVal val="#ppt_w"/>
                                          </p:val>
                                        </p:tav>
                                      </p:tavLst>
                                    </p:anim>
                                    <p:anim calcmode="lin" valueType="num">
                                      <p:cBhvr>
                                        <p:cTn id="23" dur="1000" fill="hold"/>
                                        <p:tgtEl>
                                          <p:spTgt spid="874501"/>
                                        </p:tgtEl>
                                        <p:attrNameLst>
                                          <p:attrName>ppt_h</p:attrName>
                                        </p:attrNameLst>
                                      </p:cBhvr>
                                      <p:tavLst>
                                        <p:tav tm="0">
                                          <p:val>
                                            <p:fltVal val="0"/>
                                          </p:val>
                                        </p:tav>
                                        <p:tav tm="100000">
                                          <p:val>
                                            <p:strVal val="#ppt_h"/>
                                          </p:val>
                                        </p:tav>
                                      </p:tavLst>
                                    </p:anim>
                                    <p:animEffect transition="in" filter="fade">
                                      <p:cBhvr>
                                        <p:cTn id="24" dur="1000"/>
                                        <p:tgtEl>
                                          <p:spTgt spid="87450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3" presetClass="entr" presetSubtype="0" fill="hold" grpId="0" nodeType="clickEffect">
                                  <p:stCondLst>
                                    <p:cond delay="0"/>
                                  </p:stCondLst>
                                  <p:childTnLst>
                                    <p:set>
                                      <p:cBhvr>
                                        <p:cTn id="28" dur="1" fill="hold">
                                          <p:stCondLst>
                                            <p:cond delay="0"/>
                                          </p:stCondLst>
                                        </p:cTn>
                                        <p:tgtEl>
                                          <p:spTgt spid="874502"/>
                                        </p:tgtEl>
                                        <p:attrNameLst>
                                          <p:attrName>style.visibility</p:attrName>
                                        </p:attrNameLst>
                                      </p:cBhvr>
                                      <p:to>
                                        <p:strVal val="visible"/>
                                      </p:to>
                                    </p:set>
                                    <p:anim calcmode="lin" valueType="num">
                                      <p:cBhvr>
                                        <p:cTn id="29" dur="1000" fill="hold"/>
                                        <p:tgtEl>
                                          <p:spTgt spid="874502"/>
                                        </p:tgtEl>
                                        <p:attrNameLst>
                                          <p:attrName>ppt_w</p:attrName>
                                        </p:attrNameLst>
                                      </p:cBhvr>
                                      <p:tavLst>
                                        <p:tav tm="0">
                                          <p:val>
                                            <p:fltVal val="0"/>
                                          </p:val>
                                        </p:tav>
                                        <p:tav tm="100000">
                                          <p:val>
                                            <p:strVal val="#ppt_w"/>
                                          </p:val>
                                        </p:tav>
                                      </p:tavLst>
                                    </p:anim>
                                    <p:anim calcmode="lin" valueType="num">
                                      <p:cBhvr>
                                        <p:cTn id="30" dur="1000" fill="hold"/>
                                        <p:tgtEl>
                                          <p:spTgt spid="874502"/>
                                        </p:tgtEl>
                                        <p:attrNameLst>
                                          <p:attrName>ppt_h</p:attrName>
                                        </p:attrNameLst>
                                      </p:cBhvr>
                                      <p:tavLst>
                                        <p:tav tm="0">
                                          <p:val>
                                            <p:fltVal val="0"/>
                                          </p:val>
                                        </p:tav>
                                        <p:tav tm="100000">
                                          <p:val>
                                            <p:strVal val="#ppt_h"/>
                                          </p:val>
                                        </p:tav>
                                      </p:tavLst>
                                    </p:anim>
                                    <p:animEffect transition="in" filter="fade">
                                      <p:cBhvr>
                                        <p:cTn id="31" dur="1000"/>
                                        <p:tgtEl>
                                          <p:spTgt spid="87450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53" presetClass="entr" presetSubtype="0" fill="hold" grpId="0" nodeType="clickEffect">
                                  <p:stCondLst>
                                    <p:cond delay="0"/>
                                  </p:stCondLst>
                                  <p:childTnLst>
                                    <p:set>
                                      <p:cBhvr>
                                        <p:cTn id="35" dur="1" fill="hold">
                                          <p:stCondLst>
                                            <p:cond delay="0"/>
                                          </p:stCondLst>
                                        </p:cTn>
                                        <p:tgtEl>
                                          <p:spTgt spid="874503"/>
                                        </p:tgtEl>
                                        <p:attrNameLst>
                                          <p:attrName>style.visibility</p:attrName>
                                        </p:attrNameLst>
                                      </p:cBhvr>
                                      <p:to>
                                        <p:strVal val="visible"/>
                                      </p:to>
                                    </p:set>
                                    <p:anim calcmode="lin" valueType="num">
                                      <p:cBhvr>
                                        <p:cTn id="36" dur="1000" fill="hold"/>
                                        <p:tgtEl>
                                          <p:spTgt spid="874503"/>
                                        </p:tgtEl>
                                        <p:attrNameLst>
                                          <p:attrName>ppt_w</p:attrName>
                                        </p:attrNameLst>
                                      </p:cBhvr>
                                      <p:tavLst>
                                        <p:tav tm="0">
                                          <p:val>
                                            <p:fltVal val="0"/>
                                          </p:val>
                                        </p:tav>
                                        <p:tav tm="100000">
                                          <p:val>
                                            <p:strVal val="#ppt_w"/>
                                          </p:val>
                                        </p:tav>
                                      </p:tavLst>
                                    </p:anim>
                                    <p:anim calcmode="lin" valueType="num">
                                      <p:cBhvr>
                                        <p:cTn id="37" dur="1000" fill="hold"/>
                                        <p:tgtEl>
                                          <p:spTgt spid="874503"/>
                                        </p:tgtEl>
                                        <p:attrNameLst>
                                          <p:attrName>ppt_h</p:attrName>
                                        </p:attrNameLst>
                                      </p:cBhvr>
                                      <p:tavLst>
                                        <p:tav tm="0">
                                          <p:val>
                                            <p:fltVal val="0"/>
                                          </p:val>
                                        </p:tav>
                                        <p:tav tm="100000">
                                          <p:val>
                                            <p:strVal val="#ppt_h"/>
                                          </p:val>
                                        </p:tav>
                                      </p:tavLst>
                                    </p:anim>
                                    <p:animEffect transition="in" filter="fade">
                                      <p:cBhvr>
                                        <p:cTn id="38" dur="1000"/>
                                        <p:tgtEl>
                                          <p:spTgt spid="87450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3" presetClass="entr" presetSubtype="0" fill="hold" grpId="0" nodeType="clickEffect">
                                  <p:stCondLst>
                                    <p:cond delay="0"/>
                                  </p:stCondLst>
                                  <p:childTnLst>
                                    <p:set>
                                      <p:cBhvr>
                                        <p:cTn id="42" dur="1" fill="hold">
                                          <p:stCondLst>
                                            <p:cond delay="0"/>
                                          </p:stCondLst>
                                        </p:cTn>
                                        <p:tgtEl>
                                          <p:spTgt spid="874504"/>
                                        </p:tgtEl>
                                        <p:attrNameLst>
                                          <p:attrName>style.visibility</p:attrName>
                                        </p:attrNameLst>
                                      </p:cBhvr>
                                      <p:to>
                                        <p:strVal val="visible"/>
                                      </p:to>
                                    </p:set>
                                    <p:anim calcmode="lin" valueType="num">
                                      <p:cBhvr>
                                        <p:cTn id="43" dur="1000" fill="hold"/>
                                        <p:tgtEl>
                                          <p:spTgt spid="874504"/>
                                        </p:tgtEl>
                                        <p:attrNameLst>
                                          <p:attrName>ppt_w</p:attrName>
                                        </p:attrNameLst>
                                      </p:cBhvr>
                                      <p:tavLst>
                                        <p:tav tm="0">
                                          <p:val>
                                            <p:fltVal val="0"/>
                                          </p:val>
                                        </p:tav>
                                        <p:tav tm="100000">
                                          <p:val>
                                            <p:strVal val="#ppt_w"/>
                                          </p:val>
                                        </p:tav>
                                      </p:tavLst>
                                    </p:anim>
                                    <p:anim calcmode="lin" valueType="num">
                                      <p:cBhvr>
                                        <p:cTn id="44" dur="1000" fill="hold"/>
                                        <p:tgtEl>
                                          <p:spTgt spid="874504"/>
                                        </p:tgtEl>
                                        <p:attrNameLst>
                                          <p:attrName>ppt_h</p:attrName>
                                        </p:attrNameLst>
                                      </p:cBhvr>
                                      <p:tavLst>
                                        <p:tav tm="0">
                                          <p:val>
                                            <p:fltVal val="0"/>
                                          </p:val>
                                        </p:tav>
                                        <p:tav tm="100000">
                                          <p:val>
                                            <p:strVal val="#ppt_h"/>
                                          </p:val>
                                        </p:tav>
                                      </p:tavLst>
                                    </p:anim>
                                    <p:animEffect transition="in" filter="fade">
                                      <p:cBhvr>
                                        <p:cTn id="45" dur="1000"/>
                                        <p:tgtEl>
                                          <p:spTgt spid="874504"/>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53" presetClass="entr" presetSubtype="0" fill="hold" grpId="0" nodeType="clickEffect">
                                  <p:stCondLst>
                                    <p:cond delay="0"/>
                                  </p:stCondLst>
                                  <p:childTnLst>
                                    <p:set>
                                      <p:cBhvr>
                                        <p:cTn id="49" dur="1" fill="hold">
                                          <p:stCondLst>
                                            <p:cond delay="0"/>
                                          </p:stCondLst>
                                        </p:cTn>
                                        <p:tgtEl>
                                          <p:spTgt spid="874505"/>
                                        </p:tgtEl>
                                        <p:attrNameLst>
                                          <p:attrName>style.visibility</p:attrName>
                                        </p:attrNameLst>
                                      </p:cBhvr>
                                      <p:to>
                                        <p:strVal val="visible"/>
                                      </p:to>
                                    </p:set>
                                    <p:anim calcmode="lin" valueType="num">
                                      <p:cBhvr>
                                        <p:cTn id="50" dur="1000" fill="hold"/>
                                        <p:tgtEl>
                                          <p:spTgt spid="874505"/>
                                        </p:tgtEl>
                                        <p:attrNameLst>
                                          <p:attrName>ppt_w</p:attrName>
                                        </p:attrNameLst>
                                      </p:cBhvr>
                                      <p:tavLst>
                                        <p:tav tm="0">
                                          <p:val>
                                            <p:fltVal val="0"/>
                                          </p:val>
                                        </p:tav>
                                        <p:tav tm="100000">
                                          <p:val>
                                            <p:strVal val="#ppt_w"/>
                                          </p:val>
                                        </p:tav>
                                      </p:tavLst>
                                    </p:anim>
                                    <p:anim calcmode="lin" valueType="num">
                                      <p:cBhvr>
                                        <p:cTn id="51" dur="1000" fill="hold"/>
                                        <p:tgtEl>
                                          <p:spTgt spid="874505"/>
                                        </p:tgtEl>
                                        <p:attrNameLst>
                                          <p:attrName>ppt_h</p:attrName>
                                        </p:attrNameLst>
                                      </p:cBhvr>
                                      <p:tavLst>
                                        <p:tav tm="0">
                                          <p:val>
                                            <p:fltVal val="0"/>
                                          </p:val>
                                        </p:tav>
                                        <p:tav tm="100000">
                                          <p:val>
                                            <p:strVal val="#ppt_h"/>
                                          </p:val>
                                        </p:tav>
                                      </p:tavLst>
                                    </p:anim>
                                    <p:animEffect transition="in" filter="fade">
                                      <p:cBhvr>
                                        <p:cTn id="52" dur="1000"/>
                                        <p:tgtEl>
                                          <p:spTgt spid="87450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3" presetClass="entr" presetSubtype="0" fill="hold" grpId="0" nodeType="clickEffect">
                                  <p:stCondLst>
                                    <p:cond delay="0"/>
                                  </p:stCondLst>
                                  <p:childTnLst>
                                    <p:set>
                                      <p:cBhvr>
                                        <p:cTn id="56" dur="1" fill="hold">
                                          <p:stCondLst>
                                            <p:cond delay="0"/>
                                          </p:stCondLst>
                                        </p:cTn>
                                        <p:tgtEl>
                                          <p:spTgt spid="874506"/>
                                        </p:tgtEl>
                                        <p:attrNameLst>
                                          <p:attrName>style.visibility</p:attrName>
                                        </p:attrNameLst>
                                      </p:cBhvr>
                                      <p:to>
                                        <p:strVal val="visible"/>
                                      </p:to>
                                    </p:set>
                                    <p:anim calcmode="lin" valueType="num">
                                      <p:cBhvr>
                                        <p:cTn id="57" dur="1000" fill="hold"/>
                                        <p:tgtEl>
                                          <p:spTgt spid="874506"/>
                                        </p:tgtEl>
                                        <p:attrNameLst>
                                          <p:attrName>ppt_w</p:attrName>
                                        </p:attrNameLst>
                                      </p:cBhvr>
                                      <p:tavLst>
                                        <p:tav tm="0">
                                          <p:val>
                                            <p:fltVal val="0"/>
                                          </p:val>
                                        </p:tav>
                                        <p:tav tm="100000">
                                          <p:val>
                                            <p:strVal val="#ppt_w"/>
                                          </p:val>
                                        </p:tav>
                                      </p:tavLst>
                                    </p:anim>
                                    <p:anim calcmode="lin" valueType="num">
                                      <p:cBhvr>
                                        <p:cTn id="58" dur="1000" fill="hold"/>
                                        <p:tgtEl>
                                          <p:spTgt spid="874506"/>
                                        </p:tgtEl>
                                        <p:attrNameLst>
                                          <p:attrName>ppt_h</p:attrName>
                                        </p:attrNameLst>
                                      </p:cBhvr>
                                      <p:tavLst>
                                        <p:tav tm="0">
                                          <p:val>
                                            <p:fltVal val="0"/>
                                          </p:val>
                                        </p:tav>
                                        <p:tav tm="100000">
                                          <p:val>
                                            <p:strVal val="#ppt_h"/>
                                          </p:val>
                                        </p:tav>
                                      </p:tavLst>
                                    </p:anim>
                                    <p:animEffect transition="in" filter="fade">
                                      <p:cBhvr>
                                        <p:cTn id="59" dur="1000"/>
                                        <p:tgtEl>
                                          <p:spTgt spid="874506"/>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874511"/>
                                        </p:tgtEl>
                                        <p:attrNameLst>
                                          <p:attrName>style.visibility</p:attrName>
                                        </p:attrNameLst>
                                      </p:cBhvr>
                                      <p:to>
                                        <p:strVal val="visible"/>
                                      </p:to>
                                    </p:set>
                                    <p:animEffect transition="in" filter="wipe(left)">
                                      <p:cBhvr>
                                        <p:cTn id="64" dur="1000"/>
                                        <p:tgtEl>
                                          <p:spTgt spid="874511"/>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53" presetClass="entr" presetSubtype="0" fill="hold" grpId="0" nodeType="clickEffect">
                                  <p:stCondLst>
                                    <p:cond delay="0"/>
                                  </p:stCondLst>
                                  <p:childTnLst>
                                    <p:set>
                                      <p:cBhvr>
                                        <p:cTn id="68" dur="1" fill="hold">
                                          <p:stCondLst>
                                            <p:cond delay="0"/>
                                          </p:stCondLst>
                                        </p:cTn>
                                        <p:tgtEl>
                                          <p:spTgt spid="874510"/>
                                        </p:tgtEl>
                                        <p:attrNameLst>
                                          <p:attrName>style.visibility</p:attrName>
                                        </p:attrNameLst>
                                      </p:cBhvr>
                                      <p:to>
                                        <p:strVal val="visible"/>
                                      </p:to>
                                    </p:set>
                                    <p:anim calcmode="lin" valueType="num">
                                      <p:cBhvr>
                                        <p:cTn id="69" dur="1000" fill="hold"/>
                                        <p:tgtEl>
                                          <p:spTgt spid="874510"/>
                                        </p:tgtEl>
                                        <p:attrNameLst>
                                          <p:attrName>ppt_w</p:attrName>
                                        </p:attrNameLst>
                                      </p:cBhvr>
                                      <p:tavLst>
                                        <p:tav tm="0">
                                          <p:val>
                                            <p:fltVal val="0"/>
                                          </p:val>
                                        </p:tav>
                                        <p:tav tm="100000">
                                          <p:val>
                                            <p:strVal val="#ppt_w"/>
                                          </p:val>
                                        </p:tav>
                                      </p:tavLst>
                                    </p:anim>
                                    <p:anim calcmode="lin" valueType="num">
                                      <p:cBhvr>
                                        <p:cTn id="70" dur="1000" fill="hold"/>
                                        <p:tgtEl>
                                          <p:spTgt spid="874510"/>
                                        </p:tgtEl>
                                        <p:attrNameLst>
                                          <p:attrName>ppt_h</p:attrName>
                                        </p:attrNameLst>
                                      </p:cBhvr>
                                      <p:tavLst>
                                        <p:tav tm="0">
                                          <p:val>
                                            <p:fltVal val="0"/>
                                          </p:val>
                                        </p:tav>
                                        <p:tav tm="100000">
                                          <p:val>
                                            <p:strVal val="#ppt_h"/>
                                          </p:val>
                                        </p:tav>
                                      </p:tavLst>
                                    </p:anim>
                                    <p:animEffect transition="in" filter="fade">
                                      <p:cBhvr>
                                        <p:cTn id="71" dur="1000"/>
                                        <p:tgtEl>
                                          <p:spTgt spid="8745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4507" grpId="0" animBg="1"/>
      <p:bldP spid="874500" grpId="0" animBg="1"/>
      <p:bldP spid="874501" grpId="0" animBg="1"/>
      <p:bldP spid="874502" grpId="0" animBg="1"/>
      <p:bldP spid="874503" grpId="0" animBg="1"/>
      <p:bldP spid="874504" grpId="0" animBg="1"/>
      <p:bldP spid="874505" grpId="0" animBg="1"/>
      <p:bldP spid="874506" grpId="0" animBg="1"/>
      <p:bldP spid="87451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69" name="Rectangle 49">
            <a:extLst>
              <a:ext uri="{FF2B5EF4-FFF2-40B4-BE49-F238E27FC236}">
                <a16:creationId xmlns:a16="http://schemas.microsoft.com/office/drawing/2014/main" id="{28E8C979-586C-4400-B84E-317BC0D048E5}"/>
              </a:ext>
            </a:extLst>
          </p:cNvPr>
          <p:cNvSpPr>
            <a:spLocks noChangeArrowheads="1"/>
          </p:cNvSpPr>
          <p:nvPr/>
        </p:nvSpPr>
        <p:spPr bwMode="auto">
          <a:xfrm>
            <a:off x="1476375" y="1412875"/>
            <a:ext cx="6119813" cy="5111750"/>
          </a:xfrm>
          <a:prstGeom prst="rect">
            <a:avLst/>
          </a:prstGeom>
          <a:solidFill>
            <a:srgbClr val="CCFF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r>
              <a:rPr lang="zh-CN" altLang="en-US" sz="2800" b="1">
                <a:effectLst>
                  <a:outerShdw blurRad="38100" dist="38100" dir="2700000" algn="tl">
                    <a:srgbClr val="FFFFFF"/>
                  </a:outerShdw>
                </a:effectLst>
                <a:ea typeface="黑体" panose="02010609060101010101" pitchFamily="49" charset="-122"/>
              </a:rPr>
              <a:t>候选键求法</a:t>
            </a:r>
          </a:p>
        </p:txBody>
      </p:sp>
      <p:grpSp>
        <p:nvGrpSpPr>
          <p:cNvPr id="670749" name="Group 29">
            <a:extLst>
              <a:ext uri="{FF2B5EF4-FFF2-40B4-BE49-F238E27FC236}">
                <a16:creationId xmlns:a16="http://schemas.microsoft.com/office/drawing/2014/main" id="{3CA57E1C-0DBF-468E-A0B7-1EE552FDA208}"/>
              </a:ext>
            </a:extLst>
          </p:cNvPr>
          <p:cNvGrpSpPr>
            <a:grpSpLocks/>
          </p:cNvGrpSpPr>
          <p:nvPr/>
        </p:nvGrpSpPr>
        <p:grpSpPr bwMode="auto">
          <a:xfrm>
            <a:off x="2052638" y="1703388"/>
            <a:ext cx="4678362" cy="4678362"/>
            <a:chOff x="1385" y="436"/>
            <a:chExt cx="2947" cy="2947"/>
          </a:xfrm>
        </p:grpSpPr>
        <p:sp>
          <p:nvSpPr>
            <p:cNvPr id="670750" name="Oval 30">
              <a:extLst>
                <a:ext uri="{FF2B5EF4-FFF2-40B4-BE49-F238E27FC236}">
                  <a16:creationId xmlns:a16="http://schemas.microsoft.com/office/drawing/2014/main" id="{6B4A5F54-B24A-4EF7-AA95-B8CBFCBF41B6}"/>
                </a:ext>
              </a:extLst>
            </p:cNvPr>
            <p:cNvSpPr>
              <a:spLocks noChangeArrowheads="1"/>
            </p:cNvSpPr>
            <p:nvPr/>
          </p:nvSpPr>
          <p:spPr bwMode="auto">
            <a:xfrm>
              <a:off x="1385" y="436"/>
              <a:ext cx="2947" cy="2947"/>
            </a:xfrm>
            <a:prstGeom prst="ellipse">
              <a:avLst/>
            </a:prstGeom>
            <a:solidFill>
              <a:srgbClr val="CCCCFF"/>
            </a:solidFill>
            <a:ln w="12700" cap="sq">
              <a:solidFill>
                <a:srgbClr val="000000"/>
              </a:solidFill>
              <a:round/>
              <a:headEnd type="none" w="sm" len="sm"/>
              <a:tailEnd type="none" w="sm" len="sm"/>
            </a:ln>
            <a:effectLst>
              <a:outerShdw dist="89803" dir="2700000" algn="ctr" rotWithShape="0">
                <a:schemeClr val="tx1"/>
              </a:outerShdw>
            </a:effectLst>
          </p:spPr>
          <p:txBody>
            <a:bodyPr wrap="none" lIns="0" tIns="0" rIns="0" bIns="0"/>
            <a:lstStyle/>
            <a:p>
              <a:pPr algn="ctr"/>
              <a:endParaRPr lang="en-US" altLang="zh-CN" sz="2800" b="1"/>
            </a:p>
          </p:txBody>
        </p:sp>
        <p:sp>
          <p:nvSpPr>
            <p:cNvPr id="670751" name="Text Box 31">
              <a:extLst>
                <a:ext uri="{FF2B5EF4-FFF2-40B4-BE49-F238E27FC236}">
                  <a16:creationId xmlns:a16="http://schemas.microsoft.com/office/drawing/2014/main" id="{76DFE271-CC26-438E-9040-37EDB6518C7A}"/>
                </a:ext>
              </a:extLst>
            </p:cNvPr>
            <p:cNvSpPr txBox="1">
              <a:spLocks noChangeArrowheads="1"/>
            </p:cNvSpPr>
            <p:nvPr/>
          </p:nvSpPr>
          <p:spPr bwMode="auto">
            <a:xfrm>
              <a:off x="2567" y="527"/>
              <a:ext cx="540" cy="32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en-US" altLang="zh-CN" sz="2800" b="1">
                  <a:solidFill>
                    <a:srgbClr val="000000"/>
                  </a:solidFill>
                </a:rPr>
                <a:t>1NF</a:t>
              </a:r>
              <a:endParaRPr lang="zh-CN" altLang="en-US" sz="2800" b="1">
                <a:solidFill>
                  <a:srgbClr val="000000"/>
                </a:solidFill>
              </a:endParaRPr>
            </a:p>
          </p:txBody>
        </p:sp>
      </p:grpSp>
      <p:grpSp>
        <p:nvGrpSpPr>
          <p:cNvPr id="670752" name="Group 32">
            <a:extLst>
              <a:ext uri="{FF2B5EF4-FFF2-40B4-BE49-F238E27FC236}">
                <a16:creationId xmlns:a16="http://schemas.microsoft.com/office/drawing/2014/main" id="{D6045CDF-05D7-4B41-A9FC-6847BA0D4CB9}"/>
              </a:ext>
            </a:extLst>
          </p:cNvPr>
          <p:cNvGrpSpPr>
            <a:grpSpLocks/>
          </p:cNvGrpSpPr>
          <p:nvPr/>
        </p:nvGrpSpPr>
        <p:grpSpPr bwMode="auto">
          <a:xfrm>
            <a:off x="2554288" y="2568575"/>
            <a:ext cx="3598862" cy="3598863"/>
            <a:chOff x="1701" y="981"/>
            <a:chExt cx="2267" cy="2267"/>
          </a:xfrm>
        </p:grpSpPr>
        <p:sp>
          <p:nvSpPr>
            <p:cNvPr id="670753" name="Oval 33">
              <a:extLst>
                <a:ext uri="{FF2B5EF4-FFF2-40B4-BE49-F238E27FC236}">
                  <a16:creationId xmlns:a16="http://schemas.microsoft.com/office/drawing/2014/main" id="{D9A2E508-984E-4093-9CB8-413179653DF3}"/>
                </a:ext>
              </a:extLst>
            </p:cNvPr>
            <p:cNvSpPr>
              <a:spLocks noChangeArrowheads="1"/>
            </p:cNvSpPr>
            <p:nvPr/>
          </p:nvSpPr>
          <p:spPr bwMode="auto">
            <a:xfrm>
              <a:off x="1701" y="981"/>
              <a:ext cx="2267" cy="2267"/>
            </a:xfrm>
            <a:prstGeom prst="ellipse">
              <a:avLst/>
            </a:prstGeom>
            <a:solidFill>
              <a:srgbClr val="99CCFF"/>
            </a:solidFill>
            <a:ln w="12700" cap="sq">
              <a:solidFill>
                <a:srgbClr val="000000"/>
              </a:solidFill>
              <a:round/>
              <a:headEnd type="none" w="sm" len="sm"/>
              <a:tailEnd type="none" w="sm" len="sm"/>
            </a:ln>
            <a:effectLst>
              <a:outerShdw dist="89803" dir="2700000" algn="ctr" rotWithShape="0">
                <a:schemeClr val="tx1"/>
              </a:outerShdw>
            </a:effectLst>
          </p:spPr>
          <p:txBody>
            <a:bodyPr wrap="none" lIns="0" tIns="0" rIns="0" bIns="0"/>
            <a:lstStyle/>
            <a:p>
              <a:pPr algn="ctr"/>
              <a:endParaRPr lang="en-US" altLang="zh-CN" sz="2800" b="1"/>
            </a:p>
          </p:txBody>
        </p:sp>
        <p:sp>
          <p:nvSpPr>
            <p:cNvPr id="670754" name="Text Box 34">
              <a:extLst>
                <a:ext uri="{FF2B5EF4-FFF2-40B4-BE49-F238E27FC236}">
                  <a16:creationId xmlns:a16="http://schemas.microsoft.com/office/drawing/2014/main" id="{B66AF61F-6BA6-49E7-998A-BD94882DDC01}"/>
                </a:ext>
              </a:extLst>
            </p:cNvPr>
            <p:cNvSpPr txBox="1">
              <a:spLocks noChangeArrowheads="1"/>
            </p:cNvSpPr>
            <p:nvPr/>
          </p:nvSpPr>
          <p:spPr bwMode="auto">
            <a:xfrm>
              <a:off x="2567" y="1071"/>
              <a:ext cx="540" cy="327"/>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en-US" altLang="zh-CN" sz="2800" b="1"/>
                <a:t>2NF</a:t>
              </a:r>
              <a:endParaRPr lang="zh-CN" altLang="en-US" sz="2800" b="1"/>
            </a:p>
          </p:txBody>
        </p:sp>
      </p:grpSp>
      <p:grpSp>
        <p:nvGrpSpPr>
          <p:cNvPr id="670755" name="Group 35">
            <a:extLst>
              <a:ext uri="{FF2B5EF4-FFF2-40B4-BE49-F238E27FC236}">
                <a16:creationId xmlns:a16="http://schemas.microsoft.com/office/drawing/2014/main" id="{C73446A6-CD90-4F3D-82E6-72E9A3F76551}"/>
              </a:ext>
            </a:extLst>
          </p:cNvPr>
          <p:cNvGrpSpPr>
            <a:grpSpLocks/>
          </p:cNvGrpSpPr>
          <p:nvPr/>
        </p:nvGrpSpPr>
        <p:grpSpPr bwMode="auto">
          <a:xfrm>
            <a:off x="3073400" y="3433763"/>
            <a:ext cx="2519363" cy="2519362"/>
            <a:chOff x="2028" y="1526"/>
            <a:chExt cx="1587" cy="1587"/>
          </a:xfrm>
        </p:grpSpPr>
        <p:sp>
          <p:nvSpPr>
            <p:cNvPr id="670756" name="Oval 36">
              <a:extLst>
                <a:ext uri="{FF2B5EF4-FFF2-40B4-BE49-F238E27FC236}">
                  <a16:creationId xmlns:a16="http://schemas.microsoft.com/office/drawing/2014/main" id="{69A41795-920F-4B4B-AB38-5C18FF33C942}"/>
                </a:ext>
              </a:extLst>
            </p:cNvPr>
            <p:cNvSpPr>
              <a:spLocks noChangeArrowheads="1"/>
            </p:cNvSpPr>
            <p:nvPr/>
          </p:nvSpPr>
          <p:spPr bwMode="auto">
            <a:xfrm>
              <a:off x="2028" y="1526"/>
              <a:ext cx="1587" cy="1587"/>
            </a:xfrm>
            <a:prstGeom prst="ellipse">
              <a:avLst/>
            </a:prstGeom>
            <a:solidFill>
              <a:srgbClr val="003F3E"/>
            </a:solidFill>
            <a:ln w="12700" cap="sq">
              <a:solidFill>
                <a:srgbClr val="000000"/>
              </a:solidFill>
              <a:round/>
              <a:headEnd type="none" w="sm" len="sm"/>
              <a:tailEnd type="none" w="sm" len="sm"/>
            </a:ln>
            <a:effectLst>
              <a:outerShdw dist="89803" dir="2700000" algn="ctr" rotWithShape="0">
                <a:schemeClr val="tx1"/>
              </a:outerShdw>
            </a:effectLst>
          </p:spPr>
          <p:txBody>
            <a:bodyPr wrap="none" lIns="0" tIns="0" rIns="0" bIns="0"/>
            <a:lstStyle/>
            <a:p>
              <a:pPr algn="ctr"/>
              <a:endParaRPr lang="en-US" altLang="zh-CN" sz="2800" b="1"/>
            </a:p>
          </p:txBody>
        </p:sp>
        <p:sp>
          <p:nvSpPr>
            <p:cNvPr id="670757" name="Text Box 37">
              <a:extLst>
                <a:ext uri="{FF2B5EF4-FFF2-40B4-BE49-F238E27FC236}">
                  <a16:creationId xmlns:a16="http://schemas.microsoft.com/office/drawing/2014/main" id="{A164B1DD-3BB0-43C3-BBF5-D6AC3F9B7E7F}"/>
                </a:ext>
              </a:extLst>
            </p:cNvPr>
            <p:cNvSpPr txBox="1">
              <a:spLocks noChangeArrowheads="1"/>
            </p:cNvSpPr>
            <p:nvPr/>
          </p:nvSpPr>
          <p:spPr bwMode="auto">
            <a:xfrm>
              <a:off x="2562" y="1652"/>
              <a:ext cx="540" cy="327"/>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en-US" altLang="zh-CN" sz="2800" b="1">
                  <a:solidFill>
                    <a:srgbClr val="FFFF00"/>
                  </a:solidFill>
                </a:rPr>
                <a:t>3NF</a:t>
              </a:r>
              <a:endParaRPr lang="zh-CN" altLang="en-US" sz="2800" b="1">
                <a:solidFill>
                  <a:srgbClr val="FFFF00"/>
                </a:solidFill>
              </a:endParaRPr>
            </a:p>
          </p:txBody>
        </p:sp>
      </p:grpSp>
      <p:grpSp>
        <p:nvGrpSpPr>
          <p:cNvPr id="670758" name="Group 38">
            <a:extLst>
              <a:ext uri="{FF2B5EF4-FFF2-40B4-BE49-F238E27FC236}">
                <a16:creationId xmlns:a16="http://schemas.microsoft.com/office/drawing/2014/main" id="{8E07FEF7-8001-4FA6-934C-F7E13533D547}"/>
              </a:ext>
            </a:extLst>
          </p:cNvPr>
          <p:cNvGrpSpPr>
            <a:grpSpLocks/>
          </p:cNvGrpSpPr>
          <p:nvPr/>
        </p:nvGrpSpPr>
        <p:grpSpPr bwMode="auto">
          <a:xfrm>
            <a:off x="3633788" y="4152900"/>
            <a:ext cx="1439862" cy="1439863"/>
            <a:chOff x="2245" y="1933"/>
            <a:chExt cx="907" cy="907"/>
          </a:xfrm>
        </p:grpSpPr>
        <p:sp>
          <p:nvSpPr>
            <p:cNvPr id="670759" name="Oval 39">
              <a:extLst>
                <a:ext uri="{FF2B5EF4-FFF2-40B4-BE49-F238E27FC236}">
                  <a16:creationId xmlns:a16="http://schemas.microsoft.com/office/drawing/2014/main" id="{8EDB9BD4-E39F-42B3-877E-B97B9CB38565}"/>
                </a:ext>
              </a:extLst>
            </p:cNvPr>
            <p:cNvSpPr>
              <a:spLocks noChangeArrowheads="1"/>
            </p:cNvSpPr>
            <p:nvPr/>
          </p:nvSpPr>
          <p:spPr bwMode="auto">
            <a:xfrm>
              <a:off x="2245" y="1933"/>
              <a:ext cx="907" cy="907"/>
            </a:xfrm>
            <a:prstGeom prst="ellipse">
              <a:avLst/>
            </a:prstGeom>
            <a:solidFill>
              <a:srgbClr val="000080"/>
            </a:solidFill>
            <a:ln w="12700" cap="sq">
              <a:solidFill>
                <a:srgbClr val="000000"/>
              </a:solidFill>
              <a:round/>
              <a:headEnd type="none" w="sm" len="sm"/>
              <a:tailEnd type="none" w="sm" len="sm"/>
            </a:ln>
            <a:effectLst>
              <a:outerShdw dist="89803" dir="2700000" algn="ctr" rotWithShape="0">
                <a:schemeClr val="tx1"/>
              </a:outerShdw>
            </a:effectLst>
          </p:spPr>
          <p:txBody>
            <a:bodyPr wrap="none" lIns="0" tIns="0" rIns="0" bIns="0"/>
            <a:lstStyle/>
            <a:p>
              <a:pPr algn="ctr"/>
              <a:endParaRPr lang="en-US" altLang="zh-CN" sz="2800" b="1"/>
            </a:p>
          </p:txBody>
        </p:sp>
        <p:sp>
          <p:nvSpPr>
            <p:cNvPr id="670760" name="Text Box 40">
              <a:extLst>
                <a:ext uri="{FF2B5EF4-FFF2-40B4-BE49-F238E27FC236}">
                  <a16:creationId xmlns:a16="http://schemas.microsoft.com/office/drawing/2014/main" id="{96A45DB6-9568-4625-9FE0-5789515E9189}"/>
                </a:ext>
              </a:extLst>
            </p:cNvPr>
            <p:cNvSpPr txBox="1">
              <a:spLocks noChangeArrowheads="1"/>
            </p:cNvSpPr>
            <p:nvPr/>
          </p:nvSpPr>
          <p:spPr bwMode="auto">
            <a:xfrm>
              <a:off x="2336" y="2205"/>
              <a:ext cx="739" cy="32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en-US" altLang="zh-CN" sz="2800" b="1">
                  <a:solidFill>
                    <a:srgbClr val="FFFF00"/>
                  </a:solidFill>
                </a:rPr>
                <a:t>BCNF</a:t>
              </a:r>
              <a:endParaRPr lang="zh-CN" altLang="en-US" sz="2800" b="1">
                <a:solidFill>
                  <a:srgbClr val="FFFF00"/>
                </a:solidFill>
              </a:endParaRPr>
            </a:p>
          </p:txBody>
        </p:sp>
      </p:grpSp>
      <p:sp>
        <p:nvSpPr>
          <p:cNvPr id="670761" name="AutoShape 41">
            <a:extLst>
              <a:ext uri="{FF2B5EF4-FFF2-40B4-BE49-F238E27FC236}">
                <a16:creationId xmlns:a16="http://schemas.microsoft.com/office/drawing/2014/main" id="{54591A38-94F7-4F54-A754-E13EA2EB3C39}"/>
              </a:ext>
            </a:extLst>
          </p:cNvPr>
          <p:cNvSpPr>
            <a:spLocks noChangeArrowheads="1"/>
          </p:cNvSpPr>
          <p:nvPr/>
        </p:nvSpPr>
        <p:spPr bwMode="auto">
          <a:xfrm>
            <a:off x="6156325" y="1339850"/>
            <a:ext cx="2663825" cy="936625"/>
          </a:xfrm>
          <a:prstGeom prst="wedgeRectCallout">
            <a:avLst>
              <a:gd name="adj1" fmla="val -117880"/>
              <a:gd name="adj2" fmla="val 79324"/>
            </a:avLst>
          </a:prstGeom>
          <a:solidFill>
            <a:srgbClr val="00FFFF"/>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lstStyle/>
          <a:p>
            <a:pPr algn="ctr"/>
            <a:r>
              <a:rPr lang="zh-CN" altLang="en-US" sz="2400" b="1">
                <a:solidFill>
                  <a:srgbClr val="660033"/>
                </a:solidFill>
                <a:effectLst>
                  <a:outerShdw blurRad="38100" dist="38100" dir="2700000" algn="tl">
                    <a:srgbClr val="000000"/>
                  </a:outerShdw>
                </a:effectLst>
                <a:ea typeface="黑体" panose="02010609060101010101" pitchFamily="49" charset="-122"/>
              </a:rPr>
              <a:t>消除非主属性对键的部分</a:t>
            </a:r>
            <a:r>
              <a:rPr lang="en-US" altLang="zh-CN" sz="2400" b="1">
                <a:solidFill>
                  <a:srgbClr val="660033"/>
                </a:solidFill>
                <a:effectLst>
                  <a:outerShdw blurRad="38100" dist="38100" dir="2700000" algn="tl">
                    <a:srgbClr val="000000"/>
                  </a:outerShdw>
                </a:effectLst>
                <a:ea typeface="黑体" panose="02010609060101010101" pitchFamily="49" charset="-122"/>
              </a:rPr>
              <a:t>FD</a:t>
            </a:r>
          </a:p>
        </p:txBody>
      </p:sp>
      <p:sp>
        <p:nvSpPr>
          <p:cNvPr id="670762" name="AutoShape 42">
            <a:extLst>
              <a:ext uri="{FF2B5EF4-FFF2-40B4-BE49-F238E27FC236}">
                <a16:creationId xmlns:a16="http://schemas.microsoft.com/office/drawing/2014/main" id="{59493E17-CA37-418F-95F0-1721263A63B4}"/>
              </a:ext>
            </a:extLst>
          </p:cNvPr>
          <p:cNvSpPr>
            <a:spLocks noChangeArrowheads="1"/>
          </p:cNvSpPr>
          <p:nvPr/>
        </p:nvSpPr>
        <p:spPr bwMode="auto">
          <a:xfrm>
            <a:off x="6156325" y="2492375"/>
            <a:ext cx="2663825" cy="936625"/>
          </a:xfrm>
          <a:prstGeom prst="wedgeRectCallout">
            <a:avLst>
              <a:gd name="adj1" fmla="val -117880"/>
              <a:gd name="adj2" fmla="val 48644"/>
            </a:avLst>
          </a:prstGeom>
          <a:solidFill>
            <a:srgbClr val="00FFFF"/>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lstStyle/>
          <a:p>
            <a:pPr algn="ctr"/>
            <a:r>
              <a:rPr lang="zh-CN" altLang="en-US" sz="2400" b="1">
                <a:solidFill>
                  <a:srgbClr val="660033"/>
                </a:solidFill>
                <a:effectLst>
                  <a:outerShdw blurRad="38100" dist="38100" dir="2700000" algn="tl">
                    <a:srgbClr val="000000"/>
                  </a:outerShdw>
                </a:effectLst>
                <a:ea typeface="黑体" panose="02010609060101010101" pitchFamily="49" charset="-122"/>
              </a:rPr>
              <a:t>消除非主属性对键的</a:t>
            </a:r>
            <a:r>
              <a:rPr lang="zh-CN" altLang="zh-CN" sz="2400" b="1">
                <a:solidFill>
                  <a:srgbClr val="660033"/>
                </a:solidFill>
                <a:effectLst>
                  <a:outerShdw blurRad="38100" dist="38100" dir="2700000" algn="tl">
                    <a:srgbClr val="000000"/>
                  </a:outerShdw>
                </a:effectLst>
                <a:ea typeface="黑体" panose="02010609060101010101" pitchFamily="49" charset="-122"/>
              </a:rPr>
              <a:t>传递</a:t>
            </a:r>
            <a:r>
              <a:rPr lang="en-US" altLang="zh-CN" sz="2400" b="1">
                <a:solidFill>
                  <a:srgbClr val="660033"/>
                </a:solidFill>
                <a:effectLst>
                  <a:outerShdw blurRad="38100" dist="38100" dir="2700000" algn="tl">
                    <a:srgbClr val="000000"/>
                  </a:outerShdw>
                </a:effectLst>
                <a:ea typeface="黑体" panose="02010609060101010101" pitchFamily="49" charset="-122"/>
              </a:rPr>
              <a:t>FD</a:t>
            </a:r>
          </a:p>
        </p:txBody>
      </p:sp>
      <p:sp>
        <p:nvSpPr>
          <p:cNvPr id="670763" name="AutoShape 43">
            <a:extLst>
              <a:ext uri="{FF2B5EF4-FFF2-40B4-BE49-F238E27FC236}">
                <a16:creationId xmlns:a16="http://schemas.microsoft.com/office/drawing/2014/main" id="{5D804552-0AF6-4717-8930-AE3A21B530A1}"/>
              </a:ext>
            </a:extLst>
          </p:cNvPr>
          <p:cNvSpPr>
            <a:spLocks noChangeArrowheads="1"/>
          </p:cNvSpPr>
          <p:nvPr/>
        </p:nvSpPr>
        <p:spPr bwMode="auto">
          <a:xfrm>
            <a:off x="6156325" y="3500438"/>
            <a:ext cx="2663825" cy="936625"/>
          </a:xfrm>
          <a:prstGeom prst="wedgeRectCallout">
            <a:avLst>
              <a:gd name="adj1" fmla="val -117880"/>
              <a:gd name="adj2" fmla="val 48644"/>
            </a:avLst>
          </a:prstGeom>
          <a:solidFill>
            <a:srgbClr val="00FFFF"/>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lstStyle/>
          <a:p>
            <a:pPr algn="ctr"/>
            <a:r>
              <a:rPr lang="zh-CN" altLang="en-US" sz="2400" b="1">
                <a:solidFill>
                  <a:srgbClr val="660033"/>
                </a:solidFill>
                <a:effectLst>
                  <a:outerShdw blurRad="38100" dist="38100" dir="2700000" algn="tl">
                    <a:srgbClr val="000000"/>
                  </a:outerShdw>
                </a:effectLst>
                <a:ea typeface="黑体" panose="02010609060101010101" pitchFamily="49" charset="-122"/>
              </a:rPr>
              <a:t>消除主属性对键的部分和传递</a:t>
            </a:r>
            <a:r>
              <a:rPr lang="en-US" altLang="zh-CN" sz="2400" b="1">
                <a:solidFill>
                  <a:srgbClr val="660033"/>
                </a:solidFill>
                <a:effectLst>
                  <a:outerShdw blurRad="38100" dist="38100" dir="2700000" algn="tl">
                    <a:srgbClr val="000000"/>
                  </a:outerShdw>
                </a:effectLst>
                <a:ea typeface="黑体" panose="02010609060101010101" pitchFamily="49" charset="-122"/>
              </a:rPr>
              <a:t>FD</a:t>
            </a:r>
          </a:p>
        </p:txBody>
      </p:sp>
      <p:sp>
        <p:nvSpPr>
          <p:cNvPr id="670764" name="AutoShape 44">
            <a:extLst>
              <a:ext uri="{FF2B5EF4-FFF2-40B4-BE49-F238E27FC236}">
                <a16:creationId xmlns:a16="http://schemas.microsoft.com/office/drawing/2014/main" id="{1771AB0D-9830-42B8-AF21-717925D32BB0}"/>
              </a:ext>
            </a:extLst>
          </p:cNvPr>
          <p:cNvSpPr>
            <a:spLocks noChangeArrowheads="1"/>
          </p:cNvSpPr>
          <p:nvPr/>
        </p:nvSpPr>
        <p:spPr bwMode="auto">
          <a:xfrm>
            <a:off x="1114425" y="2852738"/>
            <a:ext cx="2160588" cy="936625"/>
          </a:xfrm>
          <a:prstGeom prst="wedgeRectCallout">
            <a:avLst>
              <a:gd name="adj1" fmla="val 77481"/>
              <a:gd name="adj2" fmla="val 63560"/>
            </a:avLst>
          </a:prstGeom>
          <a:solidFill>
            <a:srgbClr val="008000"/>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lstStyle/>
          <a:p>
            <a:pPr algn="ctr"/>
            <a:r>
              <a:rPr lang="zh-CN" altLang="en-US" sz="2400" b="1">
                <a:solidFill>
                  <a:srgbClr val="FFFF00"/>
                </a:solidFill>
                <a:effectLst>
                  <a:outerShdw blurRad="38100" dist="38100" dir="2700000" algn="tl">
                    <a:srgbClr val="000000"/>
                  </a:outerShdw>
                </a:effectLst>
                <a:ea typeface="黑体" panose="02010609060101010101" pitchFamily="49" charset="-122"/>
              </a:rPr>
              <a:t>分解成</a:t>
            </a:r>
            <a:r>
              <a:rPr lang="en-US" altLang="zh-CN" sz="2400" b="1">
                <a:solidFill>
                  <a:srgbClr val="FFFF00"/>
                </a:solidFill>
                <a:effectLst>
                  <a:outerShdw blurRad="38100" dist="38100" dir="2700000" algn="tl">
                    <a:srgbClr val="000000"/>
                  </a:outerShdw>
                </a:effectLst>
                <a:ea typeface="黑体" panose="02010609060101010101" pitchFamily="49" charset="-122"/>
              </a:rPr>
              <a:t>3NF</a:t>
            </a:r>
            <a:r>
              <a:rPr lang="zh-CN" altLang="en-US" sz="2400" b="1">
                <a:solidFill>
                  <a:srgbClr val="FFFF00"/>
                </a:solidFill>
                <a:effectLst>
                  <a:outerShdw blurRad="38100" dist="38100" dir="2700000" algn="tl">
                    <a:srgbClr val="000000"/>
                  </a:outerShdw>
                </a:effectLst>
                <a:ea typeface="黑体" panose="02010609060101010101" pitchFamily="49" charset="-122"/>
              </a:rPr>
              <a:t>模式集算法</a:t>
            </a:r>
          </a:p>
        </p:txBody>
      </p:sp>
      <p:sp>
        <p:nvSpPr>
          <p:cNvPr id="670766" name="AutoShape 46">
            <a:extLst>
              <a:ext uri="{FF2B5EF4-FFF2-40B4-BE49-F238E27FC236}">
                <a16:creationId xmlns:a16="http://schemas.microsoft.com/office/drawing/2014/main" id="{C8BECBC9-8E53-43EE-BFB9-4587C22C0685}"/>
              </a:ext>
            </a:extLst>
          </p:cNvPr>
          <p:cNvSpPr>
            <a:spLocks noChangeArrowheads="1"/>
          </p:cNvSpPr>
          <p:nvPr/>
        </p:nvSpPr>
        <p:spPr bwMode="auto">
          <a:xfrm rot="5400000">
            <a:off x="4714875" y="3068638"/>
            <a:ext cx="793750" cy="647700"/>
          </a:xfrm>
          <a:prstGeom prst="lightningBolt">
            <a:avLst/>
          </a:prstGeom>
          <a:solidFill>
            <a:srgbClr val="FF0000"/>
          </a:solidFill>
          <a:ln w="12700" cap="sq">
            <a:solidFill>
              <a:schemeClr val="tx1"/>
            </a:solidFill>
            <a:miter lim="800000"/>
            <a:headEnd type="none" w="sm" len="sm"/>
            <a:tailEnd type="none" w="sm" len="sm"/>
          </a:ln>
          <a:effectLst>
            <a:outerShdw dist="53882" dir="2700000" algn="ctr" rotWithShape="0">
              <a:schemeClr val="tx1"/>
            </a:outerShdw>
          </a:effectLst>
        </p:spPr>
        <p:txBody>
          <a:bodyPr wrap="none" anchor="ctr"/>
          <a:lstStyle/>
          <a:p>
            <a:endParaRPr lang="zh-CN" altLang="en-US"/>
          </a:p>
        </p:txBody>
      </p:sp>
      <p:sp>
        <p:nvSpPr>
          <p:cNvPr id="670768" name="Rectangle 48">
            <a:extLst>
              <a:ext uri="{FF2B5EF4-FFF2-40B4-BE49-F238E27FC236}">
                <a16:creationId xmlns:a16="http://schemas.microsoft.com/office/drawing/2014/main" id="{BDCA6F1E-8816-4969-B8A0-62A5C35EDF6B}"/>
              </a:ext>
            </a:extLst>
          </p:cNvPr>
          <p:cNvSpPr>
            <a:spLocks noGrp="1" noChangeArrowheads="1"/>
          </p:cNvSpPr>
          <p:nvPr>
            <p:ph type="title"/>
          </p:nvPr>
        </p:nvSpPr>
        <p:spPr/>
        <p:txBody>
          <a:bodyPr/>
          <a:lstStyle/>
          <a:p>
            <a:r>
              <a:rPr lang="zh-CN" altLang="en-US"/>
              <a:t>小结</a:t>
            </a:r>
          </a:p>
        </p:txBody>
      </p:sp>
    </p:spTree>
    <p:custDataLst>
      <p:tags r:id="rId1"/>
    </p:custDataLst>
  </p:cSld>
  <p:clrMapOvr>
    <a:masterClrMapping/>
  </p:clrMapOvr>
  <p:transition advTm="48935"/>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670749"/>
                                        </p:tgtEl>
                                        <p:attrNameLst>
                                          <p:attrName>style.visibility</p:attrName>
                                        </p:attrNameLst>
                                      </p:cBhvr>
                                      <p:to>
                                        <p:strVal val="visible"/>
                                      </p:to>
                                    </p:set>
                                    <p:anim calcmode="lin" valueType="num">
                                      <p:cBhvr>
                                        <p:cTn id="7" dur="1000" fill="hold"/>
                                        <p:tgtEl>
                                          <p:spTgt spid="670749"/>
                                        </p:tgtEl>
                                        <p:attrNameLst>
                                          <p:attrName>ppt_w</p:attrName>
                                        </p:attrNameLst>
                                      </p:cBhvr>
                                      <p:tavLst>
                                        <p:tav tm="0">
                                          <p:val>
                                            <p:fltVal val="0"/>
                                          </p:val>
                                        </p:tav>
                                        <p:tav tm="100000">
                                          <p:val>
                                            <p:strVal val="#ppt_w"/>
                                          </p:val>
                                        </p:tav>
                                      </p:tavLst>
                                    </p:anim>
                                    <p:anim calcmode="lin" valueType="num">
                                      <p:cBhvr>
                                        <p:cTn id="8" dur="1000" fill="hold"/>
                                        <p:tgtEl>
                                          <p:spTgt spid="670749"/>
                                        </p:tgtEl>
                                        <p:attrNameLst>
                                          <p:attrName>ppt_h</p:attrName>
                                        </p:attrNameLst>
                                      </p:cBhvr>
                                      <p:tavLst>
                                        <p:tav tm="0">
                                          <p:val>
                                            <p:fltVal val="0"/>
                                          </p:val>
                                        </p:tav>
                                        <p:tav tm="100000">
                                          <p:val>
                                            <p:strVal val="#ppt_h"/>
                                          </p:val>
                                        </p:tav>
                                      </p:tavLst>
                                    </p:anim>
                                    <p:animEffect transition="in" filter="fade">
                                      <p:cBhvr>
                                        <p:cTn id="9" dur="1000"/>
                                        <p:tgtEl>
                                          <p:spTgt spid="670749"/>
                                        </p:tgtEl>
                                      </p:cBhvr>
                                    </p:animEffect>
                                  </p:childTnLst>
                                </p:cTn>
                              </p:par>
                            </p:childTnLst>
                          </p:cTn>
                        </p:par>
                        <p:par>
                          <p:cTn id="10" fill="hold" nodeType="afterGroup">
                            <p:stCondLst>
                              <p:cond delay="1000"/>
                            </p:stCondLst>
                            <p:childTnLst>
                              <p:par>
                                <p:cTn id="11" presetID="53" presetClass="entr" presetSubtype="0" fill="hold" nodeType="afterEffect">
                                  <p:stCondLst>
                                    <p:cond delay="0"/>
                                  </p:stCondLst>
                                  <p:childTnLst>
                                    <p:set>
                                      <p:cBhvr>
                                        <p:cTn id="12" dur="1" fill="hold">
                                          <p:stCondLst>
                                            <p:cond delay="0"/>
                                          </p:stCondLst>
                                        </p:cTn>
                                        <p:tgtEl>
                                          <p:spTgt spid="670752"/>
                                        </p:tgtEl>
                                        <p:attrNameLst>
                                          <p:attrName>style.visibility</p:attrName>
                                        </p:attrNameLst>
                                      </p:cBhvr>
                                      <p:to>
                                        <p:strVal val="visible"/>
                                      </p:to>
                                    </p:set>
                                    <p:anim calcmode="lin" valueType="num">
                                      <p:cBhvr>
                                        <p:cTn id="13" dur="1000" fill="hold"/>
                                        <p:tgtEl>
                                          <p:spTgt spid="670752"/>
                                        </p:tgtEl>
                                        <p:attrNameLst>
                                          <p:attrName>ppt_w</p:attrName>
                                        </p:attrNameLst>
                                      </p:cBhvr>
                                      <p:tavLst>
                                        <p:tav tm="0">
                                          <p:val>
                                            <p:fltVal val="0"/>
                                          </p:val>
                                        </p:tav>
                                        <p:tav tm="100000">
                                          <p:val>
                                            <p:strVal val="#ppt_w"/>
                                          </p:val>
                                        </p:tav>
                                      </p:tavLst>
                                    </p:anim>
                                    <p:anim calcmode="lin" valueType="num">
                                      <p:cBhvr>
                                        <p:cTn id="14" dur="1000" fill="hold"/>
                                        <p:tgtEl>
                                          <p:spTgt spid="670752"/>
                                        </p:tgtEl>
                                        <p:attrNameLst>
                                          <p:attrName>ppt_h</p:attrName>
                                        </p:attrNameLst>
                                      </p:cBhvr>
                                      <p:tavLst>
                                        <p:tav tm="0">
                                          <p:val>
                                            <p:fltVal val="0"/>
                                          </p:val>
                                        </p:tav>
                                        <p:tav tm="100000">
                                          <p:val>
                                            <p:strVal val="#ppt_h"/>
                                          </p:val>
                                        </p:tav>
                                      </p:tavLst>
                                    </p:anim>
                                    <p:animEffect transition="in" filter="fade">
                                      <p:cBhvr>
                                        <p:cTn id="15" dur="1000"/>
                                        <p:tgtEl>
                                          <p:spTgt spid="670752"/>
                                        </p:tgtEl>
                                      </p:cBhvr>
                                    </p:animEffect>
                                  </p:childTnLst>
                                </p:cTn>
                              </p:par>
                            </p:childTnLst>
                          </p:cTn>
                        </p:par>
                        <p:par>
                          <p:cTn id="16" fill="hold" nodeType="afterGroup">
                            <p:stCondLst>
                              <p:cond delay="2000"/>
                            </p:stCondLst>
                            <p:childTnLst>
                              <p:par>
                                <p:cTn id="17" presetID="53" presetClass="entr" presetSubtype="0" fill="hold" nodeType="afterEffect">
                                  <p:stCondLst>
                                    <p:cond delay="0"/>
                                  </p:stCondLst>
                                  <p:childTnLst>
                                    <p:set>
                                      <p:cBhvr>
                                        <p:cTn id="18" dur="1" fill="hold">
                                          <p:stCondLst>
                                            <p:cond delay="0"/>
                                          </p:stCondLst>
                                        </p:cTn>
                                        <p:tgtEl>
                                          <p:spTgt spid="670755"/>
                                        </p:tgtEl>
                                        <p:attrNameLst>
                                          <p:attrName>style.visibility</p:attrName>
                                        </p:attrNameLst>
                                      </p:cBhvr>
                                      <p:to>
                                        <p:strVal val="visible"/>
                                      </p:to>
                                    </p:set>
                                    <p:anim calcmode="lin" valueType="num">
                                      <p:cBhvr>
                                        <p:cTn id="19" dur="1000" fill="hold"/>
                                        <p:tgtEl>
                                          <p:spTgt spid="670755"/>
                                        </p:tgtEl>
                                        <p:attrNameLst>
                                          <p:attrName>ppt_w</p:attrName>
                                        </p:attrNameLst>
                                      </p:cBhvr>
                                      <p:tavLst>
                                        <p:tav tm="0">
                                          <p:val>
                                            <p:fltVal val="0"/>
                                          </p:val>
                                        </p:tav>
                                        <p:tav tm="100000">
                                          <p:val>
                                            <p:strVal val="#ppt_w"/>
                                          </p:val>
                                        </p:tav>
                                      </p:tavLst>
                                    </p:anim>
                                    <p:anim calcmode="lin" valueType="num">
                                      <p:cBhvr>
                                        <p:cTn id="20" dur="1000" fill="hold"/>
                                        <p:tgtEl>
                                          <p:spTgt spid="670755"/>
                                        </p:tgtEl>
                                        <p:attrNameLst>
                                          <p:attrName>ppt_h</p:attrName>
                                        </p:attrNameLst>
                                      </p:cBhvr>
                                      <p:tavLst>
                                        <p:tav tm="0">
                                          <p:val>
                                            <p:fltVal val="0"/>
                                          </p:val>
                                        </p:tav>
                                        <p:tav tm="100000">
                                          <p:val>
                                            <p:strVal val="#ppt_h"/>
                                          </p:val>
                                        </p:tav>
                                      </p:tavLst>
                                    </p:anim>
                                    <p:animEffect transition="in" filter="fade">
                                      <p:cBhvr>
                                        <p:cTn id="21" dur="1000"/>
                                        <p:tgtEl>
                                          <p:spTgt spid="670755"/>
                                        </p:tgtEl>
                                      </p:cBhvr>
                                    </p:animEffect>
                                  </p:childTnLst>
                                </p:cTn>
                              </p:par>
                            </p:childTnLst>
                          </p:cTn>
                        </p:par>
                        <p:par>
                          <p:cTn id="22" fill="hold" nodeType="afterGroup">
                            <p:stCondLst>
                              <p:cond delay="3000"/>
                            </p:stCondLst>
                            <p:childTnLst>
                              <p:par>
                                <p:cTn id="23" presetID="53" presetClass="entr" presetSubtype="0" fill="hold" nodeType="afterEffect">
                                  <p:stCondLst>
                                    <p:cond delay="0"/>
                                  </p:stCondLst>
                                  <p:childTnLst>
                                    <p:set>
                                      <p:cBhvr>
                                        <p:cTn id="24" dur="1" fill="hold">
                                          <p:stCondLst>
                                            <p:cond delay="0"/>
                                          </p:stCondLst>
                                        </p:cTn>
                                        <p:tgtEl>
                                          <p:spTgt spid="670758"/>
                                        </p:tgtEl>
                                        <p:attrNameLst>
                                          <p:attrName>style.visibility</p:attrName>
                                        </p:attrNameLst>
                                      </p:cBhvr>
                                      <p:to>
                                        <p:strVal val="visible"/>
                                      </p:to>
                                    </p:set>
                                    <p:anim calcmode="lin" valueType="num">
                                      <p:cBhvr>
                                        <p:cTn id="25" dur="1000" fill="hold"/>
                                        <p:tgtEl>
                                          <p:spTgt spid="670758"/>
                                        </p:tgtEl>
                                        <p:attrNameLst>
                                          <p:attrName>ppt_w</p:attrName>
                                        </p:attrNameLst>
                                      </p:cBhvr>
                                      <p:tavLst>
                                        <p:tav tm="0">
                                          <p:val>
                                            <p:fltVal val="0"/>
                                          </p:val>
                                        </p:tav>
                                        <p:tav tm="100000">
                                          <p:val>
                                            <p:strVal val="#ppt_w"/>
                                          </p:val>
                                        </p:tav>
                                      </p:tavLst>
                                    </p:anim>
                                    <p:anim calcmode="lin" valueType="num">
                                      <p:cBhvr>
                                        <p:cTn id="26" dur="1000" fill="hold"/>
                                        <p:tgtEl>
                                          <p:spTgt spid="670758"/>
                                        </p:tgtEl>
                                        <p:attrNameLst>
                                          <p:attrName>ppt_h</p:attrName>
                                        </p:attrNameLst>
                                      </p:cBhvr>
                                      <p:tavLst>
                                        <p:tav tm="0">
                                          <p:val>
                                            <p:fltVal val="0"/>
                                          </p:val>
                                        </p:tav>
                                        <p:tav tm="100000">
                                          <p:val>
                                            <p:strVal val="#ppt_h"/>
                                          </p:val>
                                        </p:tav>
                                      </p:tavLst>
                                    </p:anim>
                                    <p:animEffect transition="in" filter="fade">
                                      <p:cBhvr>
                                        <p:cTn id="27" dur="1000"/>
                                        <p:tgtEl>
                                          <p:spTgt spid="67075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2" fill="hold" grpId="0" nodeType="clickEffect">
                                  <p:stCondLst>
                                    <p:cond delay="0"/>
                                  </p:stCondLst>
                                  <p:childTnLst>
                                    <p:set>
                                      <p:cBhvr>
                                        <p:cTn id="31" dur="1" fill="hold">
                                          <p:stCondLst>
                                            <p:cond delay="0"/>
                                          </p:stCondLst>
                                        </p:cTn>
                                        <p:tgtEl>
                                          <p:spTgt spid="670761"/>
                                        </p:tgtEl>
                                        <p:attrNameLst>
                                          <p:attrName>style.visibility</p:attrName>
                                        </p:attrNameLst>
                                      </p:cBhvr>
                                      <p:to>
                                        <p:strVal val="visible"/>
                                      </p:to>
                                    </p:set>
                                    <p:anim calcmode="lin" valueType="num">
                                      <p:cBhvr additive="base">
                                        <p:cTn id="32" dur="1000" fill="hold"/>
                                        <p:tgtEl>
                                          <p:spTgt spid="670761"/>
                                        </p:tgtEl>
                                        <p:attrNameLst>
                                          <p:attrName>ppt_x</p:attrName>
                                        </p:attrNameLst>
                                      </p:cBhvr>
                                      <p:tavLst>
                                        <p:tav tm="0">
                                          <p:val>
                                            <p:strVal val="1+#ppt_w/2"/>
                                          </p:val>
                                        </p:tav>
                                        <p:tav tm="100000">
                                          <p:val>
                                            <p:strVal val="#ppt_x"/>
                                          </p:val>
                                        </p:tav>
                                      </p:tavLst>
                                    </p:anim>
                                    <p:anim calcmode="lin" valueType="num">
                                      <p:cBhvr additive="base">
                                        <p:cTn id="33" dur="1000" fill="hold"/>
                                        <p:tgtEl>
                                          <p:spTgt spid="670761"/>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2" fill="hold" grpId="0" nodeType="clickEffect">
                                  <p:stCondLst>
                                    <p:cond delay="0"/>
                                  </p:stCondLst>
                                  <p:childTnLst>
                                    <p:set>
                                      <p:cBhvr>
                                        <p:cTn id="37" dur="1" fill="hold">
                                          <p:stCondLst>
                                            <p:cond delay="0"/>
                                          </p:stCondLst>
                                        </p:cTn>
                                        <p:tgtEl>
                                          <p:spTgt spid="670762"/>
                                        </p:tgtEl>
                                        <p:attrNameLst>
                                          <p:attrName>style.visibility</p:attrName>
                                        </p:attrNameLst>
                                      </p:cBhvr>
                                      <p:to>
                                        <p:strVal val="visible"/>
                                      </p:to>
                                    </p:set>
                                    <p:anim calcmode="lin" valueType="num">
                                      <p:cBhvr additive="base">
                                        <p:cTn id="38" dur="1000" fill="hold"/>
                                        <p:tgtEl>
                                          <p:spTgt spid="670762"/>
                                        </p:tgtEl>
                                        <p:attrNameLst>
                                          <p:attrName>ppt_x</p:attrName>
                                        </p:attrNameLst>
                                      </p:cBhvr>
                                      <p:tavLst>
                                        <p:tav tm="0">
                                          <p:val>
                                            <p:strVal val="1+#ppt_w/2"/>
                                          </p:val>
                                        </p:tav>
                                        <p:tav tm="100000">
                                          <p:val>
                                            <p:strVal val="#ppt_x"/>
                                          </p:val>
                                        </p:tav>
                                      </p:tavLst>
                                    </p:anim>
                                    <p:anim calcmode="lin" valueType="num">
                                      <p:cBhvr additive="base">
                                        <p:cTn id="39" dur="1000" fill="hold"/>
                                        <p:tgtEl>
                                          <p:spTgt spid="670762"/>
                                        </p:tgtEl>
                                        <p:attrNameLst>
                                          <p:attrName>ppt_y</p:attrName>
                                        </p:attrNameLst>
                                      </p:cBhvr>
                                      <p:tavLst>
                                        <p:tav tm="0">
                                          <p:val>
                                            <p:strVal val="#ppt_y"/>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2" fill="hold" grpId="0" nodeType="clickEffect">
                                  <p:stCondLst>
                                    <p:cond delay="0"/>
                                  </p:stCondLst>
                                  <p:childTnLst>
                                    <p:set>
                                      <p:cBhvr>
                                        <p:cTn id="43" dur="1" fill="hold">
                                          <p:stCondLst>
                                            <p:cond delay="0"/>
                                          </p:stCondLst>
                                        </p:cTn>
                                        <p:tgtEl>
                                          <p:spTgt spid="670763"/>
                                        </p:tgtEl>
                                        <p:attrNameLst>
                                          <p:attrName>style.visibility</p:attrName>
                                        </p:attrNameLst>
                                      </p:cBhvr>
                                      <p:to>
                                        <p:strVal val="visible"/>
                                      </p:to>
                                    </p:set>
                                    <p:anim calcmode="lin" valueType="num">
                                      <p:cBhvr additive="base">
                                        <p:cTn id="44" dur="1000" fill="hold"/>
                                        <p:tgtEl>
                                          <p:spTgt spid="670763"/>
                                        </p:tgtEl>
                                        <p:attrNameLst>
                                          <p:attrName>ppt_x</p:attrName>
                                        </p:attrNameLst>
                                      </p:cBhvr>
                                      <p:tavLst>
                                        <p:tav tm="0">
                                          <p:val>
                                            <p:strVal val="1+#ppt_w/2"/>
                                          </p:val>
                                        </p:tav>
                                        <p:tav tm="100000">
                                          <p:val>
                                            <p:strVal val="#ppt_x"/>
                                          </p:val>
                                        </p:tav>
                                      </p:tavLst>
                                    </p:anim>
                                    <p:anim calcmode="lin" valueType="num">
                                      <p:cBhvr additive="base">
                                        <p:cTn id="45" dur="1000" fill="hold"/>
                                        <p:tgtEl>
                                          <p:spTgt spid="670763"/>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6" presetClass="entr" presetSubtype="0" fill="hold" grpId="0" nodeType="clickEffect">
                                  <p:stCondLst>
                                    <p:cond delay="0"/>
                                  </p:stCondLst>
                                  <p:childTnLst>
                                    <p:set>
                                      <p:cBhvr>
                                        <p:cTn id="49" dur="1" fill="hold">
                                          <p:stCondLst>
                                            <p:cond delay="0"/>
                                          </p:stCondLst>
                                        </p:cTn>
                                        <p:tgtEl>
                                          <p:spTgt spid="670764"/>
                                        </p:tgtEl>
                                        <p:attrNameLst>
                                          <p:attrName>style.visibility</p:attrName>
                                        </p:attrNameLst>
                                      </p:cBhvr>
                                      <p:to>
                                        <p:strVal val="visible"/>
                                      </p:to>
                                    </p:set>
                                    <p:animEffect transition="in" filter="wipe(down)">
                                      <p:cBhvr>
                                        <p:cTn id="50" dur="290">
                                          <p:stCondLst>
                                            <p:cond delay="0"/>
                                          </p:stCondLst>
                                        </p:cTn>
                                        <p:tgtEl>
                                          <p:spTgt spid="670764"/>
                                        </p:tgtEl>
                                      </p:cBhvr>
                                    </p:animEffect>
                                    <p:anim calcmode="lin" valueType="num">
                                      <p:cBhvr>
                                        <p:cTn id="51" dur="911" tmFilter="0,0; 0.14,0.36; 0.43,0.73; 0.71,0.91; 1.0,1.0">
                                          <p:stCondLst>
                                            <p:cond delay="0"/>
                                          </p:stCondLst>
                                        </p:cTn>
                                        <p:tgtEl>
                                          <p:spTgt spid="670764"/>
                                        </p:tgtEl>
                                        <p:attrNameLst>
                                          <p:attrName>ppt_x</p:attrName>
                                        </p:attrNameLst>
                                      </p:cBhvr>
                                      <p:tavLst>
                                        <p:tav tm="0">
                                          <p:val>
                                            <p:strVal val="#ppt_x-0.25"/>
                                          </p:val>
                                        </p:tav>
                                        <p:tav tm="100000">
                                          <p:val>
                                            <p:strVal val="#ppt_x"/>
                                          </p:val>
                                        </p:tav>
                                      </p:tavLst>
                                    </p:anim>
                                    <p:anim calcmode="lin" valueType="num">
                                      <p:cBhvr>
                                        <p:cTn id="52" dur="332" tmFilter="0.0,0.0; 0.25,0.07; 0.50,0.2; 0.75,0.467; 1.0,1.0">
                                          <p:stCondLst>
                                            <p:cond delay="0"/>
                                          </p:stCondLst>
                                        </p:cTn>
                                        <p:tgtEl>
                                          <p:spTgt spid="670764"/>
                                        </p:tgtEl>
                                        <p:attrNameLst>
                                          <p:attrName>ppt_y</p:attrName>
                                        </p:attrNameLst>
                                      </p:cBhvr>
                                      <p:tavLst>
                                        <p:tav tm="0" fmla="#ppt_y-sin(pi*$)/3">
                                          <p:val>
                                            <p:fltVal val="0.5"/>
                                          </p:val>
                                        </p:tav>
                                        <p:tav tm="100000">
                                          <p:val>
                                            <p:fltVal val="1"/>
                                          </p:val>
                                        </p:tav>
                                      </p:tavLst>
                                    </p:anim>
                                    <p:anim calcmode="lin" valueType="num">
                                      <p:cBhvr>
                                        <p:cTn id="53" dur="332" tmFilter="0, 0; 0.125,0.2665; 0.25,0.4; 0.375,0.465; 0.5,0.5;  0.625,0.535; 0.75,0.6; 0.875,0.7335; 1,1">
                                          <p:stCondLst>
                                            <p:cond delay="332"/>
                                          </p:stCondLst>
                                        </p:cTn>
                                        <p:tgtEl>
                                          <p:spTgt spid="670764"/>
                                        </p:tgtEl>
                                        <p:attrNameLst>
                                          <p:attrName>ppt_y</p:attrName>
                                        </p:attrNameLst>
                                      </p:cBhvr>
                                      <p:tavLst>
                                        <p:tav tm="0" fmla="#ppt_y-sin(pi*$)/9">
                                          <p:val>
                                            <p:fltVal val="0"/>
                                          </p:val>
                                        </p:tav>
                                        <p:tav tm="100000">
                                          <p:val>
                                            <p:fltVal val="1"/>
                                          </p:val>
                                        </p:tav>
                                      </p:tavLst>
                                    </p:anim>
                                    <p:anim calcmode="lin" valueType="num">
                                      <p:cBhvr>
                                        <p:cTn id="54" dur="166" tmFilter="0, 0; 0.125,0.2665; 0.25,0.4; 0.375,0.465; 0.5,0.5;  0.625,0.535; 0.75,0.6; 0.875,0.7335; 1,1">
                                          <p:stCondLst>
                                            <p:cond delay="662"/>
                                          </p:stCondLst>
                                        </p:cTn>
                                        <p:tgtEl>
                                          <p:spTgt spid="670764"/>
                                        </p:tgtEl>
                                        <p:attrNameLst>
                                          <p:attrName>ppt_y</p:attrName>
                                        </p:attrNameLst>
                                      </p:cBhvr>
                                      <p:tavLst>
                                        <p:tav tm="0" fmla="#ppt_y-sin(pi*$)/27">
                                          <p:val>
                                            <p:fltVal val="0"/>
                                          </p:val>
                                        </p:tav>
                                        <p:tav tm="100000">
                                          <p:val>
                                            <p:fltVal val="1"/>
                                          </p:val>
                                        </p:tav>
                                      </p:tavLst>
                                    </p:anim>
                                    <p:anim calcmode="lin" valueType="num">
                                      <p:cBhvr>
                                        <p:cTn id="55" dur="82" tmFilter="0, 0; 0.125,0.2665; 0.25,0.4; 0.375,0.465; 0.5,0.5;  0.625,0.535; 0.75,0.6; 0.875,0.7335; 1,1">
                                          <p:stCondLst>
                                            <p:cond delay="828"/>
                                          </p:stCondLst>
                                        </p:cTn>
                                        <p:tgtEl>
                                          <p:spTgt spid="670764"/>
                                        </p:tgtEl>
                                        <p:attrNameLst>
                                          <p:attrName>ppt_y</p:attrName>
                                        </p:attrNameLst>
                                      </p:cBhvr>
                                      <p:tavLst>
                                        <p:tav tm="0" fmla="#ppt_y-sin(pi*$)/81">
                                          <p:val>
                                            <p:fltVal val="0"/>
                                          </p:val>
                                        </p:tav>
                                        <p:tav tm="100000">
                                          <p:val>
                                            <p:fltVal val="1"/>
                                          </p:val>
                                        </p:tav>
                                      </p:tavLst>
                                    </p:anim>
                                    <p:animScale>
                                      <p:cBhvr>
                                        <p:cTn id="56" dur="13">
                                          <p:stCondLst>
                                            <p:cond delay="325"/>
                                          </p:stCondLst>
                                        </p:cTn>
                                        <p:tgtEl>
                                          <p:spTgt spid="670764"/>
                                        </p:tgtEl>
                                      </p:cBhvr>
                                      <p:to x="100000" y="60000"/>
                                    </p:animScale>
                                    <p:animScale>
                                      <p:cBhvr>
                                        <p:cTn id="57" dur="83" decel="50000">
                                          <p:stCondLst>
                                            <p:cond delay="338"/>
                                          </p:stCondLst>
                                        </p:cTn>
                                        <p:tgtEl>
                                          <p:spTgt spid="670764"/>
                                        </p:tgtEl>
                                      </p:cBhvr>
                                      <p:to x="100000" y="100000"/>
                                    </p:animScale>
                                    <p:animScale>
                                      <p:cBhvr>
                                        <p:cTn id="58" dur="13">
                                          <p:stCondLst>
                                            <p:cond delay="656"/>
                                          </p:stCondLst>
                                        </p:cTn>
                                        <p:tgtEl>
                                          <p:spTgt spid="670764"/>
                                        </p:tgtEl>
                                      </p:cBhvr>
                                      <p:to x="100000" y="80000"/>
                                    </p:animScale>
                                    <p:animScale>
                                      <p:cBhvr>
                                        <p:cTn id="59" dur="83" decel="50000">
                                          <p:stCondLst>
                                            <p:cond delay="669"/>
                                          </p:stCondLst>
                                        </p:cTn>
                                        <p:tgtEl>
                                          <p:spTgt spid="670764"/>
                                        </p:tgtEl>
                                      </p:cBhvr>
                                      <p:to x="100000" y="100000"/>
                                    </p:animScale>
                                    <p:animScale>
                                      <p:cBhvr>
                                        <p:cTn id="60" dur="13">
                                          <p:stCondLst>
                                            <p:cond delay="821"/>
                                          </p:stCondLst>
                                        </p:cTn>
                                        <p:tgtEl>
                                          <p:spTgt spid="670764"/>
                                        </p:tgtEl>
                                      </p:cBhvr>
                                      <p:to x="100000" y="90000"/>
                                    </p:animScale>
                                    <p:animScale>
                                      <p:cBhvr>
                                        <p:cTn id="61" dur="83" decel="50000">
                                          <p:stCondLst>
                                            <p:cond delay="834"/>
                                          </p:stCondLst>
                                        </p:cTn>
                                        <p:tgtEl>
                                          <p:spTgt spid="670764"/>
                                        </p:tgtEl>
                                      </p:cBhvr>
                                      <p:to x="100000" y="100000"/>
                                    </p:animScale>
                                    <p:animScale>
                                      <p:cBhvr>
                                        <p:cTn id="62" dur="13">
                                          <p:stCondLst>
                                            <p:cond delay="904"/>
                                          </p:stCondLst>
                                        </p:cTn>
                                        <p:tgtEl>
                                          <p:spTgt spid="670764"/>
                                        </p:tgtEl>
                                      </p:cBhvr>
                                      <p:to x="100000" y="95000"/>
                                    </p:animScale>
                                    <p:animScale>
                                      <p:cBhvr>
                                        <p:cTn id="63" dur="83" decel="50000">
                                          <p:stCondLst>
                                            <p:cond delay="917"/>
                                          </p:stCondLst>
                                        </p:cTn>
                                        <p:tgtEl>
                                          <p:spTgt spid="670764"/>
                                        </p:tgtEl>
                                      </p:cBhvr>
                                      <p:to x="100000" y="100000"/>
                                    </p:animScale>
                                  </p:childTnLst>
                                </p:cTn>
                              </p:par>
                            </p:childTnLst>
                          </p:cTn>
                        </p:par>
                        <p:par>
                          <p:cTn id="64" fill="hold" nodeType="afterGroup">
                            <p:stCondLst>
                              <p:cond delay="1000"/>
                            </p:stCondLst>
                            <p:childTnLst>
                              <p:par>
                                <p:cTn id="65" presetID="25" presetClass="entr" presetSubtype="0" fill="hold" nodeType="afterEffect">
                                  <p:stCondLst>
                                    <p:cond delay="0"/>
                                  </p:stCondLst>
                                  <p:childTnLst>
                                    <p:set>
                                      <p:cBhvr>
                                        <p:cTn id="66" dur="1" fill="hold">
                                          <p:stCondLst>
                                            <p:cond delay="0"/>
                                          </p:stCondLst>
                                        </p:cTn>
                                        <p:tgtEl>
                                          <p:spTgt spid="670766"/>
                                        </p:tgtEl>
                                        <p:attrNameLst>
                                          <p:attrName>style.visibility</p:attrName>
                                        </p:attrNameLst>
                                      </p:cBhvr>
                                      <p:to>
                                        <p:strVal val="visible"/>
                                      </p:to>
                                    </p:set>
                                    <p:anim calcmode="lin" valueType="num">
                                      <p:cBhvr>
                                        <p:cTn id="67" dur="500" decel="50000" fill="hold">
                                          <p:stCondLst>
                                            <p:cond delay="0"/>
                                          </p:stCondLst>
                                        </p:cTn>
                                        <p:tgtEl>
                                          <p:spTgt spid="670766"/>
                                        </p:tgtEl>
                                        <p:attrNameLst>
                                          <p:attrName>style.rotation</p:attrName>
                                        </p:attrNameLst>
                                      </p:cBhvr>
                                      <p:tavLst>
                                        <p:tav tm="0">
                                          <p:val>
                                            <p:fltVal val="-90"/>
                                          </p:val>
                                        </p:tav>
                                        <p:tav tm="100000">
                                          <p:val>
                                            <p:fltVal val="0"/>
                                          </p:val>
                                        </p:tav>
                                      </p:tavLst>
                                    </p:anim>
                                    <p:anim calcmode="lin" valueType="num">
                                      <p:cBhvr>
                                        <p:cTn id="68" dur="500" decel="50000" fill="hold">
                                          <p:stCondLst>
                                            <p:cond delay="0"/>
                                          </p:stCondLst>
                                        </p:cTn>
                                        <p:tgtEl>
                                          <p:spTgt spid="670766"/>
                                        </p:tgtEl>
                                        <p:attrNameLst>
                                          <p:attrName>ppt_w</p:attrName>
                                        </p:attrNameLst>
                                      </p:cBhvr>
                                      <p:tavLst>
                                        <p:tav tm="0">
                                          <p:val>
                                            <p:strVal val="#ppt_w"/>
                                          </p:val>
                                        </p:tav>
                                        <p:tav tm="100000">
                                          <p:val>
                                            <p:strVal val="#ppt_w*.05"/>
                                          </p:val>
                                        </p:tav>
                                      </p:tavLst>
                                    </p:anim>
                                    <p:anim calcmode="lin" valueType="num">
                                      <p:cBhvr>
                                        <p:cTn id="69" dur="500" accel="50000" fill="hold">
                                          <p:stCondLst>
                                            <p:cond delay="500"/>
                                          </p:stCondLst>
                                        </p:cTn>
                                        <p:tgtEl>
                                          <p:spTgt spid="670766"/>
                                        </p:tgtEl>
                                        <p:attrNameLst>
                                          <p:attrName>ppt_w</p:attrName>
                                        </p:attrNameLst>
                                      </p:cBhvr>
                                      <p:tavLst>
                                        <p:tav tm="0">
                                          <p:val>
                                            <p:strVal val="#ppt_w*.05"/>
                                          </p:val>
                                        </p:tav>
                                        <p:tav tm="100000">
                                          <p:val>
                                            <p:strVal val="#ppt_w"/>
                                          </p:val>
                                        </p:tav>
                                      </p:tavLst>
                                    </p:anim>
                                    <p:anim calcmode="lin" valueType="num">
                                      <p:cBhvr>
                                        <p:cTn id="70" dur="1000" fill="hold"/>
                                        <p:tgtEl>
                                          <p:spTgt spid="670766"/>
                                        </p:tgtEl>
                                        <p:attrNameLst>
                                          <p:attrName>ppt_h</p:attrName>
                                        </p:attrNameLst>
                                      </p:cBhvr>
                                      <p:tavLst>
                                        <p:tav tm="0">
                                          <p:val>
                                            <p:strVal val="#ppt_h"/>
                                          </p:val>
                                        </p:tav>
                                        <p:tav tm="100000">
                                          <p:val>
                                            <p:strVal val="#ppt_h"/>
                                          </p:val>
                                        </p:tav>
                                      </p:tavLst>
                                    </p:anim>
                                    <p:anim calcmode="lin" valueType="num">
                                      <p:cBhvr>
                                        <p:cTn id="71" dur="500" decel="50000" fill="hold">
                                          <p:stCondLst>
                                            <p:cond delay="0"/>
                                          </p:stCondLst>
                                        </p:cTn>
                                        <p:tgtEl>
                                          <p:spTgt spid="670766"/>
                                        </p:tgtEl>
                                        <p:attrNameLst>
                                          <p:attrName>ppt_x</p:attrName>
                                        </p:attrNameLst>
                                      </p:cBhvr>
                                      <p:tavLst>
                                        <p:tav tm="0">
                                          <p:val>
                                            <p:strVal val="#ppt_x+.4"/>
                                          </p:val>
                                        </p:tav>
                                        <p:tav tm="100000">
                                          <p:val>
                                            <p:strVal val="#ppt_x"/>
                                          </p:val>
                                        </p:tav>
                                      </p:tavLst>
                                    </p:anim>
                                    <p:anim calcmode="lin" valueType="num">
                                      <p:cBhvr>
                                        <p:cTn id="72" dur="500" decel="50000" fill="hold">
                                          <p:stCondLst>
                                            <p:cond delay="0"/>
                                          </p:stCondLst>
                                        </p:cTn>
                                        <p:tgtEl>
                                          <p:spTgt spid="670766"/>
                                        </p:tgtEl>
                                        <p:attrNameLst>
                                          <p:attrName>ppt_y</p:attrName>
                                        </p:attrNameLst>
                                      </p:cBhvr>
                                      <p:tavLst>
                                        <p:tav tm="0">
                                          <p:val>
                                            <p:strVal val="#ppt_y-.2"/>
                                          </p:val>
                                        </p:tav>
                                        <p:tav tm="100000">
                                          <p:val>
                                            <p:strVal val="#ppt_y+.1"/>
                                          </p:val>
                                        </p:tav>
                                      </p:tavLst>
                                    </p:anim>
                                    <p:anim calcmode="lin" valueType="num">
                                      <p:cBhvr>
                                        <p:cTn id="73" dur="500" accel="50000" fill="hold">
                                          <p:stCondLst>
                                            <p:cond delay="500"/>
                                          </p:stCondLst>
                                        </p:cTn>
                                        <p:tgtEl>
                                          <p:spTgt spid="670766"/>
                                        </p:tgtEl>
                                        <p:attrNameLst>
                                          <p:attrName>ppt_y</p:attrName>
                                        </p:attrNameLst>
                                      </p:cBhvr>
                                      <p:tavLst>
                                        <p:tav tm="0">
                                          <p:val>
                                            <p:strVal val="#ppt_y+.1"/>
                                          </p:val>
                                        </p:tav>
                                        <p:tav tm="100000">
                                          <p:val>
                                            <p:strVal val="#ppt_y"/>
                                          </p:val>
                                        </p:tav>
                                      </p:tavLst>
                                    </p:anim>
                                    <p:animEffect transition="in" filter="fade">
                                      <p:cBhvr>
                                        <p:cTn id="74" dur="1000" decel="50000">
                                          <p:stCondLst>
                                            <p:cond delay="0"/>
                                          </p:stCondLst>
                                        </p:cTn>
                                        <p:tgtEl>
                                          <p:spTgt spid="670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0761" grpId="0" animBg="1"/>
      <p:bldP spid="670762" grpId="0" animBg="1"/>
      <p:bldP spid="670763" grpId="0" animBg="1"/>
      <p:bldP spid="67076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806" name="Rectangle 38">
            <a:extLst>
              <a:ext uri="{FF2B5EF4-FFF2-40B4-BE49-F238E27FC236}">
                <a16:creationId xmlns:a16="http://schemas.microsoft.com/office/drawing/2014/main" id="{6A6C73ED-762E-4907-A7A1-BEB0B7A2BB3C}"/>
              </a:ext>
            </a:extLst>
          </p:cNvPr>
          <p:cNvSpPr>
            <a:spLocks noChangeArrowheads="1"/>
          </p:cNvSpPr>
          <p:nvPr/>
        </p:nvSpPr>
        <p:spPr bwMode="auto">
          <a:xfrm>
            <a:off x="1476375" y="1412875"/>
            <a:ext cx="6119813" cy="5111750"/>
          </a:xfrm>
          <a:prstGeom prst="rect">
            <a:avLst/>
          </a:prstGeom>
          <a:solidFill>
            <a:srgbClr val="CCFF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r>
              <a:rPr lang="zh-CN" altLang="en-US" sz="2800" b="1">
                <a:effectLst>
                  <a:outerShdw blurRad="38100" dist="38100" dir="2700000" algn="tl">
                    <a:srgbClr val="FFFFFF"/>
                  </a:outerShdw>
                </a:effectLst>
                <a:ea typeface="黑体" panose="02010609060101010101" pitchFamily="49" charset="-122"/>
              </a:rPr>
              <a:t>候选键求法</a:t>
            </a:r>
          </a:p>
        </p:txBody>
      </p:sp>
      <p:grpSp>
        <p:nvGrpSpPr>
          <p:cNvPr id="672793" name="Group 25">
            <a:extLst>
              <a:ext uri="{FF2B5EF4-FFF2-40B4-BE49-F238E27FC236}">
                <a16:creationId xmlns:a16="http://schemas.microsoft.com/office/drawing/2014/main" id="{8C7484B2-E078-4CF1-A473-FE14E8BBC988}"/>
              </a:ext>
            </a:extLst>
          </p:cNvPr>
          <p:cNvGrpSpPr>
            <a:grpSpLocks/>
          </p:cNvGrpSpPr>
          <p:nvPr/>
        </p:nvGrpSpPr>
        <p:grpSpPr bwMode="auto">
          <a:xfrm>
            <a:off x="2052638" y="1703388"/>
            <a:ext cx="4678362" cy="4678362"/>
            <a:chOff x="1385" y="436"/>
            <a:chExt cx="2947" cy="2947"/>
          </a:xfrm>
        </p:grpSpPr>
        <p:sp>
          <p:nvSpPr>
            <p:cNvPr id="672794" name="Oval 26">
              <a:extLst>
                <a:ext uri="{FF2B5EF4-FFF2-40B4-BE49-F238E27FC236}">
                  <a16:creationId xmlns:a16="http://schemas.microsoft.com/office/drawing/2014/main" id="{6E684B9C-603E-46CD-A7B4-6230D9F725C3}"/>
                </a:ext>
              </a:extLst>
            </p:cNvPr>
            <p:cNvSpPr>
              <a:spLocks noChangeArrowheads="1"/>
            </p:cNvSpPr>
            <p:nvPr/>
          </p:nvSpPr>
          <p:spPr bwMode="auto">
            <a:xfrm>
              <a:off x="1385" y="436"/>
              <a:ext cx="2947" cy="2947"/>
            </a:xfrm>
            <a:prstGeom prst="ellipse">
              <a:avLst/>
            </a:prstGeom>
            <a:solidFill>
              <a:srgbClr val="CCCCFF"/>
            </a:solidFill>
            <a:ln w="12700" cap="sq" algn="ctr">
              <a:solidFill>
                <a:srgbClr val="000000"/>
              </a:solidFill>
              <a:round/>
              <a:headEnd type="none" w="sm" len="sm"/>
              <a:tailEnd type="none" w="sm" len="sm"/>
            </a:ln>
            <a:effectLst>
              <a:outerShdw dist="89803" dir="2700000" algn="ctr" rotWithShape="0">
                <a:schemeClr val="tx1"/>
              </a:outerShdw>
            </a:effectLst>
          </p:spPr>
          <p:txBody>
            <a:bodyPr wrap="none" lIns="0" tIns="0" rIns="0" bIns="0"/>
            <a:lstStyle/>
            <a:p>
              <a:pPr algn="ctr"/>
              <a:endParaRPr lang="en-US" altLang="zh-CN" sz="2800" b="1"/>
            </a:p>
          </p:txBody>
        </p:sp>
        <p:sp>
          <p:nvSpPr>
            <p:cNvPr id="672795" name="Text Box 27">
              <a:extLst>
                <a:ext uri="{FF2B5EF4-FFF2-40B4-BE49-F238E27FC236}">
                  <a16:creationId xmlns:a16="http://schemas.microsoft.com/office/drawing/2014/main" id="{2B10CCD8-6295-4FE6-A7FA-3F91EFB2752C}"/>
                </a:ext>
              </a:extLst>
            </p:cNvPr>
            <p:cNvSpPr txBox="1">
              <a:spLocks noChangeArrowheads="1"/>
            </p:cNvSpPr>
            <p:nvPr/>
          </p:nvSpPr>
          <p:spPr bwMode="auto">
            <a:xfrm>
              <a:off x="2567" y="527"/>
              <a:ext cx="540" cy="327"/>
            </a:xfrm>
            <a:prstGeom prst="rect">
              <a:avLst/>
            </a:prstGeom>
            <a:noFill/>
            <a:ln>
              <a:noFill/>
            </a:ln>
            <a:effectLst>
              <a:outerShdw dist="40161" dir="1106097" algn="ctr" rotWithShape="0">
                <a:schemeClr val="tx1"/>
              </a:outerShdw>
            </a:effectLst>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12700" cap="sq" algn="ctr">
                  <a:solidFill>
                    <a:srgbClr val="000000"/>
                  </a:solidFill>
                  <a:miter lim="800000"/>
                  <a:headEnd type="none" w="sm" len="sm"/>
                  <a:tailEnd type="none" w="sm" len="sm"/>
                </a14:hiddenLine>
              </a:ext>
            </a:extLst>
          </p:spPr>
          <p:txBody>
            <a:bodyPr wrap="none" lIns="0" tIns="0" rIns="0" bIns="0"/>
            <a:lstStyle/>
            <a:p>
              <a:pPr algn="ctr"/>
              <a:r>
                <a:rPr lang="en-US" altLang="zh-CN" sz="2800" b="1"/>
                <a:t>1NF</a:t>
              </a:r>
              <a:endParaRPr lang="zh-CN" altLang="en-US" sz="2800" b="1"/>
            </a:p>
          </p:txBody>
        </p:sp>
      </p:grpSp>
      <p:grpSp>
        <p:nvGrpSpPr>
          <p:cNvPr id="672796" name="Group 28">
            <a:extLst>
              <a:ext uri="{FF2B5EF4-FFF2-40B4-BE49-F238E27FC236}">
                <a16:creationId xmlns:a16="http://schemas.microsoft.com/office/drawing/2014/main" id="{59E3EC04-68BA-47B1-AEDB-9F75D3265899}"/>
              </a:ext>
            </a:extLst>
          </p:cNvPr>
          <p:cNvGrpSpPr>
            <a:grpSpLocks/>
          </p:cNvGrpSpPr>
          <p:nvPr/>
        </p:nvGrpSpPr>
        <p:grpSpPr bwMode="auto">
          <a:xfrm>
            <a:off x="2554288" y="2568575"/>
            <a:ext cx="3598862" cy="3598863"/>
            <a:chOff x="1701" y="981"/>
            <a:chExt cx="2267" cy="2267"/>
          </a:xfrm>
        </p:grpSpPr>
        <p:sp>
          <p:nvSpPr>
            <p:cNvPr id="672797" name="Oval 29">
              <a:extLst>
                <a:ext uri="{FF2B5EF4-FFF2-40B4-BE49-F238E27FC236}">
                  <a16:creationId xmlns:a16="http://schemas.microsoft.com/office/drawing/2014/main" id="{68C0E04F-B45A-4026-8946-25554FC3C8BB}"/>
                </a:ext>
              </a:extLst>
            </p:cNvPr>
            <p:cNvSpPr>
              <a:spLocks noChangeArrowheads="1"/>
            </p:cNvSpPr>
            <p:nvPr/>
          </p:nvSpPr>
          <p:spPr bwMode="auto">
            <a:xfrm>
              <a:off x="1701" y="981"/>
              <a:ext cx="2267" cy="2267"/>
            </a:xfrm>
            <a:prstGeom prst="ellipse">
              <a:avLst/>
            </a:prstGeom>
            <a:solidFill>
              <a:srgbClr val="99CCFF"/>
            </a:solidFill>
            <a:ln w="12700" cap="sq">
              <a:solidFill>
                <a:srgbClr val="000000"/>
              </a:solidFill>
              <a:round/>
              <a:headEnd type="none" w="sm" len="sm"/>
              <a:tailEnd type="none" w="sm" len="sm"/>
            </a:ln>
            <a:effectLst>
              <a:outerShdw dist="89803" dir="2700000" algn="ctr" rotWithShape="0">
                <a:schemeClr val="tx1"/>
              </a:outerShdw>
            </a:effectLst>
          </p:spPr>
          <p:txBody>
            <a:bodyPr wrap="none" lIns="0" tIns="0" rIns="0" bIns="0"/>
            <a:lstStyle/>
            <a:p>
              <a:pPr algn="ctr"/>
              <a:endParaRPr lang="en-US" altLang="zh-CN" sz="2800" b="1"/>
            </a:p>
          </p:txBody>
        </p:sp>
        <p:sp>
          <p:nvSpPr>
            <p:cNvPr id="672798" name="Text Box 30">
              <a:extLst>
                <a:ext uri="{FF2B5EF4-FFF2-40B4-BE49-F238E27FC236}">
                  <a16:creationId xmlns:a16="http://schemas.microsoft.com/office/drawing/2014/main" id="{27D2D8A1-4D5B-4A6B-8933-2253FD723A1A}"/>
                </a:ext>
              </a:extLst>
            </p:cNvPr>
            <p:cNvSpPr txBox="1">
              <a:spLocks noChangeArrowheads="1"/>
            </p:cNvSpPr>
            <p:nvPr/>
          </p:nvSpPr>
          <p:spPr bwMode="auto">
            <a:xfrm>
              <a:off x="2567" y="1071"/>
              <a:ext cx="540" cy="327"/>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en-US" altLang="zh-CN" sz="2800" b="1"/>
                <a:t>2NF</a:t>
              </a:r>
              <a:endParaRPr lang="zh-CN" altLang="en-US" sz="2800" b="1"/>
            </a:p>
          </p:txBody>
        </p:sp>
      </p:grpSp>
      <p:grpSp>
        <p:nvGrpSpPr>
          <p:cNvPr id="672799" name="Group 31">
            <a:extLst>
              <a:ext uri="{FF2B5EF4-FFF2-40B4-BE49-F238E27FC236}">
                <a16:creationId xmlns:a16="http://schemas.microsoft.com/office/drawing/2014/main" id="{CAA76627-448C-4E14-820C-66AD14ACBF1A}"/>
              </a:ext>
            </a:extLst>
          </p:cNvPr>
          <p:cNvGrpSpPr>
            <a:grpSpLocks/>
          </p:cNvGrpSpPr>
          <p:nvPr/>
        </p:nvGrpSpPr>
        <p:grpSpPr bwMode="auto">
          <a:xfrm>
            <a:off x="3073400" y="3433763"/>
            <a:ext cx="2519363" cy="2519362"/>
            <a:chOff x="2028" y="1526"/>
            <a:chExt cx="1587" cy="1587"/>
          </a:xfrm>
        </p:grpSpPr>
        <p:sp>
          <p:nvSpPr>
            <p:cNvPr id="672800" name="Oval 32">
              <a:extLst>
                <a:ext uri="{FF2B5EF4-FFF2-40B4-BE49-F238E27FC236}">
                  <a16:creationId xmlns:a16="http://schemas.microsoft.com/office/drawing/2014/main" id="{564F16B2-ADF2-4281-8F9E-C2653041467B}"/>
                </a:ext>
              </a:extLst>
            </p:cNvPr>
            <p:cNvSpPr>
              <a:spLocks noChangeArrowheads="1"/>
            </p:cNvSpPr>
            <p:nvPr/>
          </p:nvSpPr>
          <p:spPr bwMode="auto">
            <a:xfrm>
              <a:off x="2028" y="1526"/>
              <a:ext cx="1587" cy="1587"/>
            </a:xfrm>
            <a:prstGeom prst="ellipse">
              <a:avLst/>
            </a:prstGeom>
            <a:solidFill>
              <a:srgbClr val="003F3E"/>
            </a:solidFill>
            <a:ln w="12700" cap="sq">
              <a:solidFill>
                <a:srgbClr val="000000"/>
              </a:solidFill>
              <a:round/>
              <a:headEnd type="none" w="sm" len="sm"/>
              <a:tailEnd type="none" w="sm" len="sm"/>
            </a:ln>
            <a:effectLst>
              <a:outerShdw dist="89803" dir="2700000" algn="ctr" rotWithShape="0">
                <a:schemeClr val="tx1"/>
              </a:outerShdw>
            </a:effectLst>
          </p:spPr>
          <p:txBody>
            <a:bodyPr wrap="none" lIns="0" tIns="0" rIns="0" bIns="0"/>
            <a:lstStyle/>
            <a:p>
              <a:pPr algn="ctr"/>
              <a:endParaRPr lang="en-US" altLang="zh-CN" sz="2800" b="1"/>
            </a:p>
          </p:txBody>
        </p:sp>
        <p:sp>
          <p:nvSpPr>
            <p:cNvPr id="672801" name="Text Box 33">
              <a:extLst>
                <a:ext uri="{FF2B5EF4-FFF2-40B4-BE49-F238E27FC236}">
                  <a16:creationId xmlns:a16="http://schemas.microsoft.com/office/drawing/2014/main" id="{13701C06-A977-4E97-AB2A-0F7C2C4FB0C8}"/>
                </a:ext>
              </a:extLst>
            </p:cNvPr>
            <p:cNvSpPr txBox="1">
              <a:spLocks noChangeArrowheads="1"/>
            </p:cNvSpPr>
            <p:nvPr/>
          </p:nvSpPr>
          <p:spPr bwMode="auto">
            <a:xfrm>
              <a:off x="2562" y="1652"/>
              <a:ext cx="540" cy="327"/>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en-US" altLang="zh-CN" sz="2800" b="1">
                  <a:solidFill>
                    <a:srgbClr val="FFFF00"/>
                  </a:solidFill>
                </a:rPr>
                <a:t>3NF</a:t>
              </a:r>
              <a:endParaRPr lang="zh-CN" altLang="en-US" sz="2800" b="1">
                <a:solidFill>
                  <a:srgbClr val="FFFF00"/>
                </a:solidFill>
              </a:endParaRPr>
            </a:p>
          </p:txBody>
        </p:sp>
      </p:grpSp>
      <p:grpSp>
        <p:nvGrpSpPr>
          <p:cNvPr id="672802" name="Group 34">
            <a:extLst>
              <a:ext uri="{FF2B5EF4-FFF2-40B4-BE49-F238E27FC236}">
                <a16:creationId xmlns:a16="http://schemas.microsoft.com/office/drawing/2014/main" id="{E633DF24-9241-4F98-A368-BA42590350F2}"/>
              </a:ext>
            </a:extLst>
          </p:cNvPr>
          <p:cNvGrpSpPr>
            <a:grpSpLocks/>
          </p:cNvGrpSpPr>
          <p:nvPr/>
        </p:nvGrpSpPr>
        <p:grpSpPr bwMode="auto">
          <a:xfrm>
            <a:off x="3633788" y="4152900"/>
            <a:ext cx="1439862" cy="1439863"/>
            <a:chOff x="2245" y="1933"/>
            <a:chExt cx="907" cy="907"/>
          </a:xfrm>
        </p:grpSpPr>
        <p:sp>
          <p:nvSpPr>
            <p:cNvPr id="672803" name="Oval 35">
              <a:extLst>
                <a:ext uri="{FF2B5EF4-FFF2-40B4-BE49-F238E27FC236}">
                  <a16:creationId xmlns:a16="http://schemas.microsoft.com/office/drawing/2014/main" id="{85464D70-EF02-464A-99B4-743EC89C88FE}"/>
                </a:ext>
              </a:extLst>
            </p:cNvPr>
            <p:cNvSpPr>
              <a:spLocks noChangeArrowheads="1"/>
            </p:cNvSpPr>
            <p:nvPr/>
          </p:nvSpPr>
          <p:spPr bwMode="auto">
            <a:xfrm>
              <a:off x="2245" y="1933"/>
              <a:ext cx="907" cy="907"/>
            </a:xfrm>
            <a:prstGeom prst="ellipse">
              <a:avLst/>
            </a:prstGeom>
            <a:solidFill>
              <a:srgbClr val="000080"/>
            </a:solidFill>
            <a:ln w="12700" cap="sq">
              <a:solidFill>
                <a:srgbClr val="000000"/>
              </a:solidFill>
              <a:round/>
              <a:headEnd type="none" w="sm" len="sm"/>
              <a:tailEnd type="none" w="sm" len="sm"/>
            </a:ln>
            <a:effectLst>
              <a:outerShdw dist="89803" dir="2700000" algn="ctr" rotWithShape="0">
                <a:schemeClr val="tx1"/>
              </a:outerShdw>
            </a:effectLst>
          </p:spPr>
          <p:txBody>
            <a:bodyPr wrap="none" lIns="0" tIns="0" rIns="0" bIns="0"/>
            <a:lstStyle/>
            <a:p>
              <a:pPr algn="ctr"/>
              <a:endParaRPr lang="en-US" altLang="zh-CN" sz="2800" b="1"/>
            </a:p>
          </p:txBody>
        </p:sp>
        <p:sp>
          <p:nvSpPr>
            <p:cNvPr id="672804" name="Text Box 36">
              <a:extLst>
                <a:ext uri="{FF2B5EF4-FFF2-40B4-BE49-F238E27FC236}">
                  <a16:creationId xmlns:a16="http://schemas.microsoft.com/office/drawing/2014/main" id="{20533606-F356-4E0B-AB20-DC3396B9271F}"/>
                </a:ext>
              </a:extLst>
            </p:cNvPr>
            <p:cNvSpPr txBox="1">
              <a:spLocks noChangeArrowheads="1"/>
            </p:cNvSpPr>
            <p:nvPr/>
          </p:nvSpPr>
          <p:spPr bwMode="auto">
            <a:xfrm>
              <a:off x="2336" y="2205"/>
              <a:ext cx="739" cy="32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en-US" altLang="zh-CN" sz="2800" b="1">
                  <a:solidFill>
                    <a:srgbClr val="FFFF00"/>
                  </a:solidFill>
                </a:rPr>
                <a:t>BCNF</a:t>
              </a:r>
              <a:endParaRPr lang="zh-CN" altLang="en-US" sz="2800" b="1">
                <a:solidFill>
                  <a:srgbClr val="FFFF00"/>
                </a:solidFill>
              </a:endParaRPr>
            </a:p>
          </p:txBody>
        </p:sp>
      </p:grpSp>
      <p:sp>
        <p:nvSpPr>
          <p:cNvPr id="672792" name="Rectangle 24">
            <a:extLst>
              <a:ext uri="{FF2B5EF4-FFF2-40B4-BE49-F238E27FC236}">
                <a16:creationId xmlns:a16="http://schemas.microsoft.com/office/drawing/2014/main" id="{8F003263-7FF4-4AB7-B229-0A119EE84044}"/>
              </a:ext>
            </a:extLst>
          </p:cNvPr>
          <p:cNvSpPr>
            <a:spLocks noChangeArrowheads="1"/>
          </p:cNvSpPr>
          <p:nvPr/>
        </p:nvSpPr>
        <p:spPr bwMode="auto">
          <a:xfrm>
            <a:off x="827088" y="2852738"/>
            <a:ext cx="7777162" cy="2663825"/>
          </a:xfrm>
          <a:prstGeom prst="rect">
            <a:avLst/>
          </a:prstGeom>
          <a:solidFill>
            <a:srgbClr val="000080"/>
          </a:solidFill>
          <a:ln w="12700" cap="sq">
            <a:solidFill>
              <a:srgbClr val="080808"/>
            </a:solidFill>
            <a:miter lim="800000"/>
            <a:headEnd type="none" w="sm" len="sm"/>
            <a:tailEnd type="none" w="sm" len="sm"/>
          </a:ln>
          <a:effectLst>
            <a:outerShdw dist="71842" dir="2700000" algn="ctr" rotWithShape="0">
              <a:schemeClr val="tx1"/>
            </a:outerShdw>
          </a:effectLst>
        </p:spPr>
        <p:txBody>
          <a:bodyPr anchor="ctr" anchorCtr="1"/>
          <a:lstStyle/>
          <a:p>
            <a:pPr>
              <a:lnSpc>
                <a:spcPct val="120000"/>
              </a:lnSpc>
              <a:spcBef>
                <a:spcPct val="20000"/>
              </a:spcBef>
            </a:pPr>
            <a:r>
              <a:rPr lang="zh-CN" altLang="en-US" sz="2800" b="1">
                <a:solidFill>
                  <a:srgbClr val="FFFF00"/>
                </a:solidFill>
                <a:effectLst>
                  <a:outerShdw blurRad="38100" dist="38100" dir="2700000" algn="tl">
                    <a:srgbClr val="000000"/>
                  </a:outerShdw>
                </a:effectLst>
                <a:ea typeface="黑体" panose="02010609060101010101" pitchFamily="49" charset="-122"/>
              </a:rPr>
              <a:t>模式设计</a:t>
            </a:r>
          </a:p>
          <a:p>
            <a:pPr>
              <a:lnSpc>
                <a:spcPct val="120000"/>
              </a:lnSpc>
              <a:spcBef>
                <a:spcPct val="20000"/>
              </a:spcBef>
            </a:pPr>
            <a:r>
              <a:rPr lang="zh-CN" altLang="en-US" sz="2800" b="1">
                <a:solidFill>
                  <a:srgbClr val="FFFFFF"/>
                </a:solidFill>
                <a:effectLst>
                  <a:outerShdw blurRad="38100" dist="38100" dir="2700000" algn="tl">
                    <a:srgbClr val="000000"/>
                  </a:outerShdw>
                </a:effectLst>
                <a:ea typeface="黑体" panose="02010609060101010101" pitchFamily="49" charset="-122"/>
              </a:rPr>
              <a:t>    在保证无损联接和保持</a:t>
            </a:r>
            <a:r>
              <a:rPr lang="en-US" altLang="zh-CN" sz="2800" b="1">
                <a:solidFill>
                  <a:srgbClr val="FFFFFF"/>
                </a:solidFill>
                <a:effectLst>
                  <a:outerShdw blurRad="38100" dist="38100" dir="2700000" algn="tl">
                    <a:srgbClr val="000000"/>
                  </a:outerShdw>
                </a:effectLst>
                <a:ea typeface="黑体" panose="02010609060101010101" pitchFamily="49" charset="-122"/>
              </a:rPr>
              <a:t>FD</a:t>
            </a:r>
            <a:r>
              <a:rPr lang="zh-CN" altLang="en-US" sz="2800" b="1">
                <a:solidFill>
                  <a:srgbClr val="FFFFFF"/>
                </a:solidFill>
                <a:effectLst>
                  <a:outerShdw blurRad="38100" dist="38100" dir="2700000" algn="tl">
                    <a:srgbClr val="000000"/>
                  </a:outerShdw>
                </a:effectLst>
                <a:ea typeface="黑体" panose="02010609060101010101" pitchFamily="49" charset="-122"/>
              </a:rPr>
              <a:t>两个特点的前提下，设计成</a:t>
            </a:r>
            <a:r>
              <a:rPr lang="en-US" altLang="zh-CN" sz="2800" b="1">
                <a:solidFill>
                  <a:srgbClr val="FFFFFF"/>
                </a:solidFill>
                <a:effectLst>
                  <a:outerShdw blurRad="38100" dist="38100" dir="2700000" algn="tl">
                    <a:srgbClr val="000000"/>
                  </a:outerShdw>
                </a:effectLst>
                <a:ea typeface="黑体" panose="02010609060101010101" pitchFamily="49" charset="-122"/>
              </a:rPr>
              <a:t>3NF</a:t>
            </a:r>
            <a:r>
              <a:rPr lang="zh-CN" altLang="en-US" sz="2800" b="1">
                <a:solidFill>
                  <a:srgbClr val="FFFFFF"/>
                </a:solidFill>
                <a:effectLst>
                  <a:outerShdw blurRad="38100" dist="38100" dir="2700000" algn="tl">
                    <a:srgbClr val="000000"/>
                  </a:outerShdw>
                </a:effectLst>
                <a:ea typeface="黑体" panose="02010609060101010101" pitchFamily="49" charset="-122"/>
              </a:rPr>
              <a:t>模式集。</a:t>
            </a:r>
          </a:p>
        </p:txBody>
      </p:sp>
      <p:sp>
        <p:nvSpPr>
          <p:cNvPr id="672805" name="Rectangle 37">
            <a:extLst>
              <a:ext uri="{FF2B5EF4-FFF2-40B4-BE49-F238E27FC236}">
                <a16:creationId xmlns:a16="http://schemas.microsoft.com/office/drawing/2014/main" id="{7501CA9F-B21E-4371-A8E1-CF18776E31DD}"/>
              </a:ext>
            </a:extLst>
          </p:cNvPr>
          <p:cNvSpPr>
            <a:spLocks noGrp="1" noChangeArrowheads="1"/>
          </p:cNvSpPr>
          <p:nvPr>
            <p:ph type="title"/>
          </p:nvPr>
        </p:nvSpPr>
        <p:spPr/>
        <p:txBody>
          <a:bodyPr/>
          <a:lstStyle/>
          <a:p>
            <a:r>
              <a:rPr lang="zh-CN" altLang="en-US"/>
              <a:t>小结</a:t>
            </a:r>
          </a:p>
        </p:txBody>
      </p:sp>
    </p:spTree>
  </p:cSld>
  <p:clrMapOvr>
    <a:masterClrMapping/>
  </p:clrMapOvr>
  <p:transition advTm="15936"/>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672792"/>
                                        </p:tgtEl>
                                        <p:attrNameLst>
                                          <p:attrName>style.visibility</p:attrName>
                                        </p:attrNameLst>
                                      </p:cBhvr>
                                      <p:to>
                                        <p:strVal val="visible"/>
                                      </p:to>
                                    </p:set>
                                    <p:anim calcmode="lin" valueType="num">
                                      <p:cBhvr>
                                        <p:cTn id="7" dur="1000" fill="hold"/>
                                        <p:tgtEl>
                                          <p:spTgt spid="672792"/>
                                        </p:tgtEl>
                                        <p:attrNameLst>
                                          <p:attrName>ppt_w</p:attrName>
                                        </p:attrNameLst>
                                      </p:cBhvr>
                                      <p:tavLst>
                                        <p:tav tm="0">
                                          <p:val>
                                            <p:fltVal val="0"/>
                                          </p:val>
                                        </p:tav>
                                        <p:tav tm="100000">
                                          <p:val>
                                            <p:strVal val="#ppt_w"/>
                                          </p:val>
                                        </p:tav>
                                      </p:tavLst>
                                    </p:anim>
                                    <p:anim calcmode="lin" valueType="num">
                                      <p:cBhvr>
                                        <p:cTn id="8" dur="1000" fill="hold"/>
                                        <p:tgtEl>
                                          <p:spTgt spid="672792"/>
                                        </p:tgtEl>
                                        <p:attrNameLst>
                                          <p:attrName>ppt_h</p:attrName>
                                        </p:attrNameLst>
                                      </p:cBhvr>
                                      <p:tavLst>
                                        <p:tav tm="0">
                                          <p:val>
                                            <p:fltVal val="0"/>
                                          </p:val>
                                        </p:tav>
                                        <p:tav tm="100000">
                                          <p:val>
                                            <p:strVal val="#ppt_h"/>
                                          </p:val>
                                        </p:tav>
                                      </p:tavLst>
                                    </p:anim>
                                    <p:animEffect transition="in" filter="fade">
                                      <p:cBhvr>
                                        <p:cTn id="9" dur="1000"/>
                                        <p:tgtEl>
                                          <p:spTgt spid="6727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279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8882" name="Rectangle 2">
            <a:extLst>
              <a:ext uri="{FF2B5EF4-FFF2-40B4-BE49-F238E27FC236}">
                <a16:creationId xmlns:a16="http://schemas.microsoft.com/office/drawing/2014/main" id="{7DBAA863-9559-489E-9B6F-68C23C2F8A8B}"/>
              </a:ext>
            </a:extLst>
          </p:cNvPr>
          <p:cNvSpPr>
            <a:spLocks noGrp="1" noChangeArrowheads="1"/>
          </p:cNvSpPr>
          <p:nvPr>
            <p:ph type="title"/>
          </p:nvPr>
        </p:nvSpPr>
        <p:spPr/>
        <p:txBody>
          <a:bodyPr/>
          <a:lstStyle/>
          <a:p>
            <a:endParaRPr lang="zh-CN" altLang="en-US"/>
          </a:p>
        </p:txBody>
      </p:sp>
      <p:sp>
        <p:nvSpPr>
          <p:cNvPr id="1018883" name="Rectangle 3">
            <a:extLst>
              <a:ext uri="{FF2B5EF4-FFF2-40B4-BE49-F238E27FC236}">
                <a16:creationId xmlns:a16="http://schemas.microsoft.com/office/drawing/2014/main" id="{652BA728-C619-48B1-8FB3-A4B9B15F28D7}"/>
              </a:ext>
            </a:extLst>
          </p:cNvPr>
          <p:cNvSpPr>
            <a:spLocks noGrp="1" noChangeArrowheads="1"/>
          </p:cNvSpPr>
          <p:nvPr>
            <p:ph type="body" idx="1"/>
          </p:nvPr>
        </p:nvSpPr>
        <p:spPr/>
        <p:txBody>
          <a:bodyPr/>
          <a:lstStyle/>
          <a:p>
            <a:endParaRPr lang="zh-CN" altLang="en-US"/>
          </a:p>
        </p:txBody>
      </p:sp>
      <p:sp>
        <p:nvSpPr>
          <p:cNvPr id="1018884" name="Rectangle 4">
            <a:extLst>
              <a:ext uri="{FF2B5EF4-FFF2-40B4-BE49-F238E27FC236}">
                <a16:creationId xmlns:a16="http://schemas.microsoft.com/office/drawing/2014/main" id="{F0BE5291-69E1-4F8E-8DC1-B2AFD01F8941}"/>
              </a:ext>
            </a:extLst>
          </p:cNvPr>
          <p:cNvSpPr>
            <a:spLocks noChangeArrowheads="1"/>
          </p:cNvSpPr>
          <p:nvPr/>
        </p:nvSpPr>
        <p:spPr bwMode="auto">
          <a:xfrm>
            <a:off x="1458913" y="2590800"/>
            <a:ext cx="6237287" cy="1143000"/>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pPr>
            <a:r>
              <a:rPr kumimoji="0" lang="zh-CN" altLang="en-US" sz="6000" b="1">
                <a:solidFill>
                  <a:srgbClr val="FF6600"/>
                </a:solidFill>
                <a:latin typeface="Arial" panose="020B0604020202020204" pitchFamily="34" charset="0"/>
                <a:ea typeface="华文新魏" panose="02010800040101010101" pitchFamily="2" charset="-122"/>
              </a:rPr>
              <a:t>谢谢大家！</a:t>
            </a:r>
          </a:p>
        </p:txBody>
      </p:sp>
    </p:spTree>
  </p:cSld>
  <p:clrMapOvr>
    <a:masterClrMapping/>
  </p:clrMapOvr>
  <mc:AlternateContent xmlns:mc="http://schemas.openxmlformats.org/markup-compatibility/2006" xmlns:p14="http://schemas.microsoft.com/office/powerpoint/2010/main">
    <mc:Choice Requires="p14">
      <p:transition spd="slow" p14:dur="2000" advTm="2177"/>
    </mc:Choice>
    <mc:Fallback xmlns="">
      <p:transition spd="slow" advTm="2177"/>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20.3|3|3.4"/>
</p:tagLst>
</file>

<file path=ppt/tags/tag2.xml><?xml version="1.0" encoding="utf-8"?>
<p:tagLst xmlns:a="http://schemas.openxmlformats.org/drawingml/2006/main" xmlns:r="http://schemas.openxmlformats.org/officeDocument/2006/relationships" xmlns:p="http://schemas.openxmlformats.org/presentationml/2006/main">
  <p:tag name="TIMING" val="|2.8|2.8|26.5|1.3|14.9"/>
</p:tagLst>
</file>

<file path=ppt/tags/tag3.xml><?xml version="1.0" encoding="utf-8"?>
<p:tagLst xmlns:a="http://schemas.openxmlformats.org/drawingml/2006/main" xmlns:r="http://schemas.openxmlformats.org/officeDocument/2006/relationships" xmlns:p="http://schemas.openxmlformats.org/presentationml/2006/main">
  <p:tag name="TIMING" val="|10.7"/>
</p:tagLst>
</file>

<file path=ppt/tags/tag4.xml><?xml version="1.0" encoding="utf-8"?>
<p:tagLst xmlns:a="http://schemas.openxmlformats.org/drawingml/2006/main" xmlns:r="http://schemas.openxmlformats.org/officeDocument/2006/relationships" xmlns:p="http://schemas.openxmlformats.org/presentationml/2006/main">
  <p:tag name="TIMING" val="|38.3|1"/>
</p:tagLst>
</file>

<file path=ppt/tags/tag5.xml><?xml version="1.0" encoding="utf-8"?>
<p:tagLst xmlns:a="http://schemas.openxmlformats.org/drawingml/2006/main" xmlns:r="http://schemas.openxmlformats.org/officeDocument/2006/relationships" xmlns:p="http://schemas.openxmlformats.org/presentationml/2006/main">
  <p:tag name="TIMING" val="|4.4|16.5|5.9|2.9|6.7|7.6|1.3|3.7|6"/>
</p:tagLst>
</file>

<file path=ppt/tags/tag6.xml><?xml version="1.0" encoding="utf-8"?>
<p:tagLst xmlns:a="http://schemas.openxmlformats.org/drawingml/2006/main" xmlns:r="http://schemas.openxmlformats.org/officeDocument/2006/relationships" xmlns:p="http://schemas.openxmlformats.org/presentationml/2006/main">
  <p:tag name="TIMING" val="|1.9|6.7|2.5|1.6|4.6"/>
</p:tagLst>
</file>

<file path=ppt/tags/tag7.xml><?xml version="1.0" encoding="utf-8"?>
<p:tagLst xmlns:a="http://schemas.openxmlformats.org/drawingml/2006/main" xmlns:r="http://schemas.openxmlformats.org/officeDocument/2006/relationships" xmlns:p="http://schemas.openxmlformats.org/presentationml/2006/main">
  <p:tag name="TIMING" val="|6.1|37"/>
</p:tagLst>
</file>

<file path=ppt/tags/tag8.xml><?xml version="1.0" encoding="utf-8"?>
<p:tagLst xmlns:a="http://schemas.openxmlformats.org/drawingml/2006/main" xmlns:r="http://schemas.openxmlformats.org/officeDocument/2006/relationships" xmlns:p="http://schemas.openxmlformats.org/presentationml/2006/main">
  <p:tag name="TIMING" val="|12.2|3.3"/>
</p:tagLst>
</file>

<file path=ppt/tags/tag9.xml><?xml version="1.0" encoding="utf-8"?>
<p:tagLst xmlns:a="http://schemas.openxmlformats.org/drawingml/2006/main" xmlns:r="http://schemas.openxmlformats.org/officeDocument/2006/relationships" xmlns:p="http://schemas.openxmlformats.org/presentationml/2006/main">
  <p:tag name="TIMING" val="|6.3|21"/>
</p:tagLst>
</file>

<file path=ppt/tags/tag10.xml><?xml version="1.0" encoding="utf-8"?>
<p:tagLst xmlns:a="http://schemas.openxmlformats.org/drawingml/2006/main" xmlns:r="http://schemas.openxmlformats.org/officeDocument/2006/relationships" xmlns:p="http://schemas.openxmlformats.org/presentationml/2006/main">
  <p:tag name="TIMING" val="|1.4"/>
</p:tagLst>
</file>

<file path=ppt/tags/tag11.xml><?xml version="1.0" encoding="utf-8"?>
<p:tagLst xmlns:a="http://schemas.openxmlformats.org/drawingml/2006/main" xmlns:r="http://schemas.openxmlformats.org/officeDocument/2006/relationships" xmlns:p="http://schemas.openxmlformats.org/presentationml/2006/main">
  <p:tag name="TIMING" val="|46.3|12.3|4.4|2.5"/>
</p:tagLst>
</file>

<file path=ppt/tags/tag12.xml><?xml version="1.0" encoding="utf-8"?>
<p:tagLst xmlns:a="http://schemas.openxmlformats.org/drawingml/2006/main" xmlns:r="http://schemas.openxmlformats.org/officeDocument/2006/relationships" xmlns:p="http://schemas.openxmlformats.org/presentationml/2006/main">
  <p:tag name="TIMING" val="|16.1"/>
</p:tagLst>
</file>

<file path=ppt/tags/tag13.xml><?xml version="1.0" encoding="utf-8"?>
<p:tagLst xmlns:a="http://schemas.openxmlformats.org/drawingml/2006/main" xmlns:r="http://schemas.openxmlformats.org/officeDocument/2006/relationships" xmlns:p="http://schemas.openxmlformats.org/presentationml/2006/main">
  <p:tag name="TIMING" val="|71.1"/>
</p:tagLst>
</file>

<file path=ppt/tags/tag14.xml><?xml version="1.0" encoding="utf-8"?>
<p:tagLst xmlns:a="http://schemas.openxmlformats.org/drawingml/2006/main" xmlns:r="http://schemas.openxmlformats.org/officeDocument/2006/relationships" xmlns:p="http://schemas.openxmlformats.org/presentationml/2006/main">
  <p:tag name="TIMING" val="|18.6|2"/>
</p:tagLst>
</file>

<file path=ppt/tags/tag15.xml><?xml version="1.0" encoding="utf-8"?>
<p:tagLst xmlns:a="http://schemas.openxmlformats.org/drawingml/2006/main" xmlns:r="http://schemas.openxmlformats.org/officeDocument/2006/relationships" xmlns:p="http://schemas.openxmlformats.org/presentationml/2006/main">
  <p:tag name="TIMING" val="|4|3.3|32.5"/>
</p:tagLst>
</file>

<file path=ppt/tags/tag16.xml><?xml version="1.0" encoding="utf-8"?>
<p:tagLst xmlns:a="http://schemas.openxmlformats.org/drawingml/2006/main" xmlns:r="http://schemas.openxmlformats.org/officeDocument/2006/relationships" xmlns:p="http://schemas.openxmlformats.org/presentationml/2006/main">
  <p:tag name="TIMING" val="|2.2|10|18.7|28.7|12.3|9.8|4|10.7|8.9"/>
</p:tagLst>
</file>

<file path=ppt/tags/tag17.xml><?xml version="1.0" encoding="utf-8"?>
<p:tagLst xmlns:a="http://schemas.openxmlformats.org/drawingml/2006/main" xmlns:r="http://schemas.openxmlformats.org/officeDocument/2006/relationships" xmlns:p="http://schemas.openxmlformats.org/presentationml/2006/main">
  <p:tag name="TIMING" val="|32.6|22.4|15.5|11.2|15.9"/>
</p:tagLst>
</file>

<file path=ppt/tags/tag18.xml><?xml version="1.0" encoding="utf-8"?>
<p:tagLst xmlns:a="http://schemas.openxmlformats.org/drawingml/2006/main" xmlns:r="http://schemas.openxmlformats.org/officeDocument/2006/relationships" xmlns:p="http://schemas.openxmlformats.org/presentationml/2006/main">
  <p:tag name="TIMING" val="|11.5|2.9|53.8|3.3"/>
</p:tagLst>
</file>

<file path=ppt/tags/tag19.xml><?xml version="1.0" encoding="utf-8"?>
<p:tagLst xmlns:a="http://schemas.openxmlformats.org/drawingml/2006/main" xmlns:r="http://schemas.openxmlformats.org/officeDocument/2006/relationships" xmlns:p="http://schemas.openxmlformats.org/presentationml/2006/main">
  <p:tag name="TIMING" val="|2.1|8|5.8|10.9|5.7"/>
</p:tagLst>
</file>

<file path=ppt/tags/tag20.xml><?xml version="1.0" encoding="utf-8"?>
<p:tagLst xmlns:a="http://schemas.openxmlformats.org/drawingml/2006/main" xmlns:r="http://schemas.openxmlformats.org/officeDocument/2006/relationships" xmlns:p="http://schemas.openxmlformats.org/presentationml/2006/main">
  <p:tag name="TIMING" val="|6.1"/>
</p:tagLst>
</file>

<file path=ppt/tags/tag21.xml><?xml version="1.0" encoding="utf-8"?>
<p:tagLst xmlns:a="http://schemas.openxmlformats.org/drawingml/2006/main" xmlns:r="http://schemas.openxmlformats.org/officeDocument/2006/relationships" xmlns:p="http://schemas.openxmlformats.org/presentationml/2006/main">
  <p:tag name="TIMING" val="|6.9|30.5"/>
</p:tagLst>
</file>

<file path=ppt/tags/tag22.xml><?xml version="1.0" encoding="utf-8"?>
<p:tagLst xmlns:a="http://schemas.openxmlformats.org/drawingml/2006/main" xmlns:r="http://schemas.openxmlformats.org/officeDocument/2006/relationships" xmlns:p="http://schemas.openxmlformats.org/presentationml/2006/main">
  <p:tag name="TIMING" val="|14.5|2.4|3.9|1.9|3.3|1.6|2.5|12.5|1.7"/>
</p:tagLst>
</file>

<file path=ppt/tags/tag23.xml><?xml version="1.0" encoding="utf-8"?>
<p:tagLst xmlns:a="http://schemas.openxmlformats.org/drawingml/2006/main" xmlns:r="http://schemas.openxmlformats.org/officeDocument/2006/relationships" xmlns:p="http://schemas.openxmlformats.org/presentationml/2006/main">
  <p:tag name="TIMING" val="|10.5|6.5|10.9|7.4|9.5"/>
</p:tagLst>
</file>

<file path=ppt/theme/theme1.xml><?xml version="1.0" encoding="utf-8"?>
<a:theme xmlns:a="http://schemas.openxmlformats.org/drawingml/2006/main" name="cdb2004165l">
  <a:themeElements>
    <a:clrScheme name="cdb2004165l 3">
      <a:dk1>
        <a:srgbClr val="000000"/>
      </a:dk1>
      <a:lt1>
        <a:srgbClr val="FFFFFF"/>
      </a:lt1>
      <a:dk2>
        <a:srgbClr val="37399B"/>
      </a:dk2>
      <a:lt2>
        <a:srgbClr val="C0C0C0"/>
      </a:lt2>
      <a:accent1>
        <a:srgbClr val="699DE9"/>
      </a:accent1>
      <a:accent2>
        <a:srgbClr val="EFB049"/>
      </a:accent2>
      <a:accent3>
        <a:srgbClr val="FFFFFF"/>
      </a:accent3>
      <a:accent4>
        <a:srgbClr val="000000"/>
      </a:accent4>
      <a:accent5>
        <a:srgbClr val="B9CCF2"/>
      </a:accent5>
      <a:accent6>
        <a:srgbClr val="D99F41"/>
      </a:accent6>
      <a:hlink>
        <a:srgbClr val="7476DC"/>
      </a:hlink>
      <a:folHlink>
        <a:srgbClr val="9AC664"/>
      </a:folHlink>
    </a:clrScheme>
    <a:fontScheme name="cdb2004165l">
      <a:majorFont>
        <a:latin typeface="Arial"/>
        <a:ea typeface="幼圆"/>
        <a:cs typeface=""/>
      </a:majorFont>
      <a:minorFont>
        <a:latin typeface="Arial"/>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18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18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lnDef>
  </a:objectDefaults>
  <a:extraClrSchemeLst>
    <a:extraClrScheme>
      <a:clrScheme name="cdb2004165l 1">
        <a:dk1>
          <a:srgbClr val="000000"/>
        </a:dk1>
        <a:lt1>
          <a:srgbClr val="FFFFFF"/>
        </a:lt1>
        <a:dk2>
          <a:srgbClr val="000066"/>
        </a:dk2>
        <a:lt2>
          <a:srgbClr val="969696"/>
        </a:lt2>
        <a:accent1>
          <a:srgbClr val="6F4EE6"/>
        </a:accent1>
        <a:accent2>
          <a:srgbClr val="69BFF9"/>
        </a:accent2>
        <a:accent3>
          <a:srgbClr val="FFFFFF"/>
        </a:accent3>
        <a:accent4>
          <a:srgbClr val="000000"/>
        </a:accent4>
        <a:accent5>
          <a:srgbClr val="BBB2F0"/>
        </a:accent5>
        <a:accent6>
          <a:srgbClr val="5EADE2"/>
        </a:accent6>
        <a:hlink>
          <a:srgbClr val="D17FB6"/>
        </a:hlink>
        <a:folHlink>
          <a:srgbClr val="76B749"/>
        </a:folHlink>
      </a:clrScheme>
      <a:clrMap bg1="lt1" tx1="dk1" bg2="lt2" tx2="dk2" accent1="accent1" accent2="accent2" accent3="accent3" accent4="accent4" accent5="accent5" accent6="accent6" hlink="hlink" folHlink="folHlink"/>
    </a:extraClrScheme>
    <a:extraClrScheme>
      <a:clrScheme name="cdb2004165l 2">
        <a:dk1>
          <a:srgbClr val="000000"/>
        </a:dk1>
        <a:lt1>
          <a:srgbClr val="FFFFFF"/>
        </a:lt1>
        <a:dk2>
          <a:srgbClr val="165E86"/>
        </a:dk2>
        <a:lt2>
          <a:srgbClr val="969696"/>
        </a:lt2>
        <a:accent1>
          <a:srgbClr val="33C5A9"/>
        </a:accent1>
        <a:accent2>
          <a:srgbClr val="90DE88"/>
        </a:accent2>
        <a:accent3>
          <a:srgbClr val="FFFFFF"/>
        </a:accent3>
        <a:accent4>
          <a:srgbClr val="000000"/>
        </a:accent4>
        <a:accent5>
          <a:srgbClr val="ADDFD1"/>
        </a:accent5>
        <a:accent6>
          <a:srgbClr val="82C97B"/>
        </a:accent6>
        <a:hlink>
          <a:srgbClr val="7D96D3"/>
        </a:hlink>
        <a:folHlink>
          <a:srgbClr val="DEDB70"/>
        </a:folHlink>
      </a:clrScheme>
      <a:clrMap bg1="lt1" tx1="dk1" bg2="lt2" tx2="dk2" accent1="accent1" accent2="accent2" accent3="accent3" accent4="accent4" accent5="accent5" accent6="accent6" hlink="hlink" folHlink="folHlink"/>
    </a:extraClrScheme>
    <a:extraClrScheme>
      <a:clrScheme name="cdb2004165l 3">
        <a:dk1>
          <a:srgbClr val="000000"/>
        </a:dk1>
        <a:lt1>
          <a:srgbClr val="FFFFFF"/>
        </a:lt1>
        <a:dk2>
          <a:srgbClr val="37399B"/>
        </a:dk2>
        <a:lt2>
          <a:srgbClr val="C0C0C0"/>
        </a:lt2>
        <a:accent1>
          <a:srgbClr val="699DE9"/>
        </a:accent1>
        <a:accent2>
          <a:srgbClr val="EFB049"/>
        </a:accent2>
        <a:accent3>
          <a:srgbClr val="FFFFFF"/>
        </a:accent3>
        <a:accent4>
          <a:srgbClr val="000000"/>
        </a:accent4>
        <a:accent5>
          <a:srgbClr val="B9CCF2"/>
        </a:accent5>
        <a:accent6>
          <a:srgbClr val="D99F41"/>
        </a:accent6>
        <a:hlink>
          <a:srgbClr val="7476DC"/>
        </a:hlink>
        <a:folHlink>
          <a:srgbClr val="9AC66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13564</TotalTime>
  <Words>1963</Words>
  <Application>Microsoft Office PowerPoint</Application>
  <PresentationFormat>全屏显示(4:3)</PresentationFormat>
  <Paragraphs>326</Paragraphs>
  <Slides>30</Slides>
  <Notes>29</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30</vt:i4>
      </vt:variant>
    </vt:vector>
  </HeadingPairs>
  <TitlesOfParts>
    <vt:vector size="40" baseType="lpstr">
      <vt:lpstr>黑体</vt:lpstr>
      <vt:lpstr>楷体_GB2312</vt:lpstr>
      <vt:lpstr>隶书</vt:lpstr>
      <vt:lpstr>宋体</vt:lpstr>
      <vt:lpstr>Arial</vt:lpstr>
      <vt:lpstr>Tahoma</vt:lpstr>
      <vt:lpstr>Times New Roman</vt:lpstr>
      <vt:lpstr>Wingdings</vt:lpstr>
      <vt:lpstr>cdb2004165l</vt:lpstr>
      <vt:lpstr>公式</vt:lpstr>
      <vt:lpstr>四、第三范式</vt:lpstr>
      <vt:lpstr>四、第三范式</vt:lpstr>
      <vt:lpstr>四、第三范式</vt:lpstr>
      <vt:lpstr>四、第三范式</vt:lpstr>
      <vt:lpstr>四、第三范式</vt:lpstr>
      <vt:lpstr>四、第三范式</vt:lpstr>
      <vt:lpstr>四、第三范式</vt:lpstr>
      <vt:lpstr>四、第三范式</vt:lpstr>
      <vt:lpstr>四、第三范式</vt:lpstr>
      <vt:lpstr>四、第三范式</vt:lpstr>
      <vt:lpstr>PowerPoint 演示文稿</vt:lpstr>
      <vt:lpstr>PowerPoint 演示文稿</vt:lpstr>
      <vt:lpstr>PowerPoint 演示文稿</vt:lpstr>
      <vt:lpstr>五、鲍依斯-柯德范式</vt:lpstr>
      <vt:lpstr>五、鲍依斯-柯德范式</vt:lpstr>
      <vt:lpstr>五、鲍依斯-柯德范式</vt:lpstr>
      <vt:lpstr>五、鲍依斯-柯德范式</vt:lpstr>
      <vt:lpstr>五、BCNF</vt:lpstr>
      <vt:lpstr>PowerPoint 演示文稿</vt:lpstr>
      <vt:lpstr>六、关系模型的规范化设计过程</vt:lpstr>
      <vt:lpstr>六、关系模型的规范化设计过程</vt:lpstr>
      <vt:lpstr>PowerPoint 演示文稿</vt:lpstr>
      <vt:lpstr>PowerPoint 演示文稿</vt:lpstr>
      <vt:lpstr>PowerPoint 演示文稿</vt:lpstr>
      <vt:lpstr>PowerPoint 演示文稿</vt:lpstr>
      <vt:lpstr>PowerPoint 演示文稿</vt:lpstr>
      <vt:lpstr>PowerPoint 演示文稿</vt:lpstr>
      <vt:lpstr>小结</vt:lpstr>
      <vt:lpstr>小结</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乔淋漓的冷汗</dc:creator>
  <cp:lastModifiedBy>ma hongbin</cp:lastModifiedBy>
  <cp:revision>664</cp:revision>
  <cp:lastPrinted>2000-08-23T09:10:16Z</cp:lastPrinted>
  <dcterms:created xsi:type="dcterms:W3CDTF">1601-01-01T00:00:00Z</dcterms:created>
  <dcterms:modified xsi:type="dcterms:W3CDTF">2022-05-04T11:34:13Z</dcterms:modified>
</cp:coreProperties>
</file>