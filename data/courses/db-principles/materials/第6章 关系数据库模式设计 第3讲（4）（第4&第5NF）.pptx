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7" r:id="rId2"/>
    <p:sldId id="258" r:id="rId3"/>
    <p:sldId id="272" r:id="rId4"/>
    <p:sldId id="259" r:id="rId5"/>
    <p:sldId id="260" r:id="rId6"/>
    <p:sldId id="261" r:id="rId7"/>
    <p:sldId id="263" r:id="rId8"/>
    <p:sldId id="264" r:id="rId9"/>
    <p:sldId id="265" r:id="rId10"/>
    <p:sldId id="273" r:id="rId11"/>
    <p:sldId id="262" r:id="rId12"/>
    <p:sldId id="266" r:id="rId13"/>
    <p:sldId id="267" r:id="rId14"/>
    <p:sldId id="268" r:id="rId15"/>
    <p:sldId id="270" r:id="rId16"/>
    <p:sldId id="285" r:id="rId17"/>
    <p:sldId id="286" r:id="rId18"/>
    <p:sldId id="287" r:id="rId19"/>
    <p:sldId id="288" r:id="rId20"/>
    <p:sldId id="289" r:id="rId21"/>
    <p:sldId id="290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80" y="580"/>
      </p:cViewPr>
      <p:guideLst>
        <p:guide orient="horz" pos="212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947D4D-4A1E-4C7D-B65C-61EA06F0A46C}" type="doc">
      <dgm:prSet loTypeId="urn:microsoft.com/office/officeart/2005/8/layout/vList2#1" loCatId="list" qsTypeId="urn:microsoft.com/office/officeart/2005/8/quickstyle/simple1#1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9CE7C075-74E3-4D00-84F4-52373AB2B2B2}">
      <dgm:prSet custT="1"/>
      <dgm:spPr/>
      <dgm:t>
        <a:bodyPr/>
        <a:lstStyle/>
        <a:p>
          <a:r>
            <a:rPr lang="zh-CN" sz="2400" dirty="0"/>
            <a:t>1）不允许有非平凡且非函数依赖的多值依赖</a:t>
          </a:r>
          <a:endParaRPr lang="en-US" sz="2400" dirty="0"/>
        </a:p>
      </dgm:t>
    </dgm:pt>
    <dgm:pt modelId="{2397235A-4CF8-4A8D-A2AB-DAF1625FDA04}" type="parTrans" cxnId="{1C03E799-8C1D-40D4-A5EA-86C95DB27162}">
      <dgm:prSet/>
      <dgm:spPr/>
      <dgm:t>
        <a:bodyPr/>
        <a:lstStyle/>
        <a:p>
          <a:endParaRPr lang="en-US" sz="1400"/>
        </a:p>
      </dgm:t>
    </dgm:pt>
    <dgm:pt modelId="{3F9758DC-4C2E-476F-950D-B2680061316C}" type="sibTrans" cxnId="{1C03E799-8C1D-40D4-A5EA-86C95DB27162}">
      <dgm:prSet/>
      <dgm:spPr/>
      <dgm:t>
        <a:bodyPr/>
        <a:lstStyle/>
        <a:p>
          <a:endParaRPr lang="en-US" sz="1400"/>
        </a:p>
      </dgm:t>
    </dgm:pt>
    <dgm:pt modelId="{719D48EE-0AA4-453D-A688-35834E44D82C}">
      <dgm:prSet custT="1"/>
      <dgm:spPr/>
      <dgm:t>
        <a:bodyPr/>
        <a:lstStyle/>
        <a:p>
          <a:r>
            <a:rPr lang="zh-CN" sz="2400"/>
            <a:t>2）允许的非平凡多值依赖是函数依赖</a:t>
          </a:r>
          <a:endParaRPr lang="en-US" sz="2400"/>
        </a:p>
      </dgm:t>
    </dgm:pt>
    <dgm:pt modelId="{7FF7BBCA-730B-4E2F-AA41-3659B4BB25EB}" type="parTrans" cxnId="{71B8F116-A8A2-418F-BAF8-F0270457A263}">
      <dgm:prSet/>
      <dgm:spPr/>
      <dgm:t>
        <a:bodyPr/>
        <a:lstStyle/>
        <a:p>
          <a:endParaRPr lang="en-US" sz="1400"/>
        </a:p>
      </dgm:t>
    </dgm:pt>
    <dgm:pt modelId="{14462542-3D14-4311-971E-32CC6618DAF6}" type="sibTrans" cxnId="{71B8F116-A8A2-418F-BAF8-F0270457A263}">
      <dgm:prSet/>
      <dgm:spPr/>
      <dgm:t>
        <a:bodyPr/>
        <a:lstStyle/>
        <a:p>
          <a:endParaRPr lang="en-US" sz="1400"/>
        </a:p>
      </dgm:t>
    </dgm:pt>
    <dgm:pt modelId="{1184590C-06DB-4B07-9A45-250BE0BE203B}">
      <dgm:prSet custT="1"/>
      <dgm:spPr/>
      <dgm:t>
        <a:bodyPr/>
        <a:lstStyle/>
        <a:p>
          <a:r>
            <a:rPr lang="zh-CN" sz="2400" dirty="0"/>
            <a:t>3）平凡的多值依赖属于第四范式</a:t>
          </a:r>
          <a:endParaRPr lang="en-US" sz="2400" dirty="0"/>
        </a:p>
      </dgm:t>
    </dgm:pt>
    <dgm:pt modelId="{1EC1CDCB-8F4B-4938-B70F-74619BEACB90}" type="parTrans" cxnId="{B1DC5D08-4BE6-4BFF-A0CF-F6D8AD738702}">
      <dgm:prSet/>
      <dgm:spPr/>
      <dgm:t>
        <a:bodyPr/>
        <a:lstStyle/>
        <a:p>
          <a:endParaRPr lang="en-US" sz="1400"/>
        </a:p>
      </dgm:t>
    </dgm:pt>
    <dgm:pt modelId="{D3F2AD3B-DD07-4878-8FA1-2BD79D0067FE}" type="sibTrans" cxnId="{B1DC5D08-4BE6-4BFF-A0CF-F6D8AD738702}">
      <dgm:prSet/>
      <dgm:spPr/>
      <dgm:t>
        <a:bodyPr/>
        <a:lstStyle/>
        <a:p>
          <a:endParaRPr lang="en-US" sz="1400"/>
        </a:p>
      </dgm:t>
    </dgm:pt>
    <dgm:pt modelId="{DBDF9057-49C9-4E4F-8C88-8CE8DE8DB630}" type="pres">
      <dgm:prSet presAssocID="{7E947D4D-4A1E-4C7D-B65C-61EA06F0A46C}" presName="linear" presStyleCnt="0">
        <dgm:presLayoutVars>
          <dgm:animLvl val="lvl"/>
          <dgm:resizeHandles val="exact"/>
        </dgm:presLayoutVars>
      </dgm:prSet>
      <dgm:spPr/>
    </dgm:pt>
    <dgm:pt modelId="{7A32B1E0-D802-483E-9CA5-3DBDB97AED2C}" type="pres">
      <dgm:prSet presAssocID="{9CE7C075-74E3-4D00-84F4-52373AB2B2B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4A219AB-1965-4639-9198-90E6F9A47868}" type="pres">
      <dgm:prSet presAssocID="{3F9758DC-4C2E-476F-950D-B2680061316C}" presName="spacer" presStyleCnt="0"/>
      <dgm:spPr/>
    </dgm:pt>
    <dgm:pt modelId="{8607BCAD-2BB9-45AE-9EE8-A4F757D25AA4}" type="pres">
      <dgm:prSet presAssocID="{719D48EE-0AA4-453D-A688-35834E44D82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594645F-F10D-4A01-B9DA-EB1F7FA5595C}" type="pres">
      <dgm:prSet presAssocID="{14462542-3D14-4311-971E-32CC6618DAF6}" presName="spacer" presStyleCnt="0"/>
      <dgm:spPr/>
    </dgm:pt>
    <dgm:pt modelId="{72AF8CBB-104B-464F-895B-61773427B5B5}" type="pres">
      <dgm:prSet presAssocID="{1184590C-06DB-4B07-9A45-250BE0BE203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1DC5D08-4BE6-4BFF-A0CF-F6D8AD738702}" srcId="{7E947D4D-4A1E-4C7D-B65C-61EA06F0A46C}" destId="{1184590C-06DB-4B07-9A45-250BE0BE203B}" srcOrd="2" destOrd="0" parTransId="{1EC1CDCB-8F4B-4938-B70F-74619BEACB90}" sibTransId="{D3F2AD3B-DD07-4878-8FA1-2BD79D0067FE}"/>
    <dgm:cxn modelId="{71B8F116-A8A2-418F-BAF8-F0270457A263}" srcId="{7E947D4D-4A1E-4C7D-B65C-61EA06F0A46C}" destId="{719D48EE-0AA4-453D-A688-35834E44D82C}" srcOrd="1" destOrd="0" parTransId="{7FF7BBCA-730B-4E2F-AA41-3659B4BB25EB}" sibTransId="{14462542-3D14-4311-971E-32CC6618DAF6}"/>
    <dgm:cxn modelId="{2781AB75-1131-4CD5-90CD-F63CED8A0754}" type="presOf" srcId="{1184590C-06DB-4B07-9A45-250BE0BE203B}" destId="{72AF8CBB-104B-464F-895B-61773427B5B5}" srcOrd="0" destOrd="0" presId="urn:microsoft.com/office/officeart/2005/8/layout/vList2#1"/>
    <dgm:cxn modelId="{1ACD6680-E4D5-44AC-AA2C-334C752557BB}" type="presOf" srcId="{7E947D4D-4A1E-4C7D-B65C-61EA06F0A46C}" destId="{DBDF9057-49C9-4E4F-8C88-8CE8DE8DB630}" srcOrd="0" destOrd="0" presId="urn:microsoft.com/office/officeart/2005/8/layout/vList2#1"/>
    <dgm:cxn modelId="{06B4EB8D-61AF-4B93-8515-B429F06EC4B1}" type="presOf" srcId="{719D48EE-0AA4-453D-A688-35834E44D82C}" destId="{8607BCAD-2BB9-45AE-9EE8-A4F757D25AA4}" srcOrd="0" destOrd="0" presId="urn:microsoft.com/office/officeart/2005/8/layout/vList2#1"/>
    <dgm:cxn modelId="{1C03E799-8C1D-40D4-A5EA-86C95DB27162}" srcId="{7E947D4D-4A1E-4C7D-B65C-61EA06F0A46C}" destId="{9CE7C075-74E3-4D00-84F4-52373AB2B2B2}" srcOrd="0" destOrd="0" parTransId="{2397235A-4CF8-4A8D-A2AB-DAF1625FDA04}" sibTransId="{3F9758DC-4C2E-476F-950D-B2680061316C}"/>
    <dgm:cxn modelId="{61CB0FE4-E315-4E06-BDA3-8B403589C6B8}" type="presOf" srcId="{9CE7C075-74E3-4D00-84F4-52373AB2B2B2}" destId="{7A32B1E0-D802-483E-9CA5-3DBDB97AED2C}" srcOrd="0" destOrd="0" presId="urn:microsoft.com/office/officeart/2005/8/layout/vList2#1"/>
    <dgm:cxn modelId="{BA85C285-BD07-4D31-B14D-32589367D7C9}" type="presParOf" srcId="{DBDF9057-49C9-4E4F-8C88-8CE8DE8DB630}" destId="{7A32B1E0-D802-483E-9CA5-3DBDB97AED2C}" srcOrd="0" destOrd="0" presId="urn:microsoft.com/office/officeart/2005/8/layout/vList2#1"/>
    <dgm:cxn modelId="{E363E995-00D6-4CFA-983E-9D22D6A65B8F}" type="presParOf" srcId="{DBDF9057-49C9-4E4F-8C88-8CE8DE8DB630}" destId="{E4A219AB-1965-4639-9198-90E6F9A47868}" srcOrd="1" destOrd="0" presId="urn:microsoft.com/office/officeart/2005/8/layout/vList2#1"/>
    <dgm:cxn modelId="{6018C39D-D39A-4C09-8868-46155C61C1DB}" type="presParOf" srcId="{DBDF9057-49C9-4E4F-8C88-8CE8DE8DB630}" destId="{8607BCAD-2BB9-45AE-9EE8-A4F757D25AA4}" srcOrd="2" destOrd="0" presId="urn:microsoft.com/office/officeart/2005/8/layout/vList2#1"/>
    <dgm:cxn modelId="{5DCC13F8-1E44-41C5-88A6-C752249608BB}" type="presParOf" srcId="{DBDF9057-49C9-4E4F-8C88-8CE8DE8DB630}" destId="{C594645F-F10D-4A01-B9DA-EB1F7FA5595C}" srcOrd="3" destOrd="0" presId="urn:microsoft.com/office/officeart/2005/8/layout/vList2#1"/>
    <dgm:cxn modelId="{C4635A00-0746-41FB-BB93-17A7AA867C09}" type="presParOf" srcId="{DBDF9057-49C9-4E4F-8C88-8CE8DE8DB630}" destId="{72AF8CBB-104B-464F-895B-61773427B5B5}" srcOrd="4" destOrd="0" presId="urn:microsoft.com/office/officeart/2005/8/layout/vList2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32B1E0-D802-483E-9CA5-3DBDB97AED2C}">
      <dsp:nvSpPr>
        <dsp:cNvPr id="0" name=""/>
        <dsp:cNvSpPr/>
      </dsp:nvSpPr>
      <dsp:spPr>
        <a:xfrm>
          <a:off x="0" y="552716"/>
          <a:ext cx="5367528" cy="12928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400" kern="1200" dirty="0"/>
            <a:t>1）不允许有非平凡且非函数依赖的多值依赖</a:t>
          </a:r>
          <a:endParaRPr lang="en-US" sz="2400" kern="1200" dirty="0"/>
        </a:p>
      </dsp:txBody>
      <dsp:txXfrm>
        <a:off x="63112" y="615828"/>
        <a:ext cx="5241304" cy="1166626"/>
      </dsp:txXfrm>
    </dsp:sp>
    <dsp:sp modelId="{8607BCAD-2BB9-45AE-9EE8-A4F757D25AA4}">
      <dsp:nvSpPr>
        <dsp:cNvPr id="0" name=""/>
        <dsp:cNvSpPr/>
      </dsp:nvSpPr>
      <dsp:spPr>
        <a:xfrm>
          <a:off x="0" y="2032766"/>
          <a:ext cx="5367528" cy="12928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400" kern="1200"/>
            <a:t>2）允许的非平凡多值依赖是函数依赖</a:t>
          </a:r>
          <a:endParaRPr lang="en-US" sz="2400" kern="1200"/>
        </a:p>
      </dsp:txBody>
      <dsp:txXfrm>
        <a:off x="63112" y="2095878"/>
        <a:ext cx="5241304" cy="1166626"/>
      </dsp:txXfrm>
    </dsp:sp>
    <dsp:sp modelId="{72AF8CBB-104B-464F-895B-61773427B5B5}">
      <dsp:nvSpPr>
        <dsp:cNvPr id="0" name=""/>
        <dsp:cNvSpPr/>
      </dsp:nvSpPr>
      <dsp:spPr>
        <a:xfrm>
          <a:off x="0" y="3512817"/>
          <a:ext cx="5367528" cy="129285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400" kern="1200" dirty="0"/>
            <a:t>3）平凡的多值依赖属于第四范式</a:t>
          </a:r>
          <a:endParaRPr lang="en-US" sz="2400" kern="1200" dirty="0"/>
        </a:p>
      </dsp:txBody>
      <dsp:txXfrm>
        <a:off x="63112" y="3575929"/>
        <a:ext cx="5241304" cy="11666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#1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2020-11-23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2020-11-23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2020-11-23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2020-11-23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2020-11-23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2020-11-23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2020-11-23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2020-11-23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2020-11-23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2020-11-23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2020-11-23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2020-11-23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2020-11-23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2020-11-23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kern="12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第四范式</a:t>
            </a:r>
            <a:r>
              <a:rPr lang="en-US" altLang="zh-CN" sz="4000" kern="12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&amp;</a:t>
            </a:r>
            <a:r>
              <a:rPr lang="zh-CN" altLang="en-US" sz="4000" kern="12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第五范式</a:t>
            </a:r>
            <a:endParaRPr lang="en-US" altLang="zh-CN" sz="4000" kern="1200" dirty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7" name="Graphic 16" descr="跳水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19" name="Graphic 18" descr="跳水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Freeform 4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4" name="Freeform 4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6" name="Freeform 4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zh-CN" altLang="en-US" sz="4000">
                <a:solidFill>
                  <a:srgbClr val="FFFFFF"/>
                </a:solidFill>
              </a:rPr>
              <a:t>多值依赖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r>
              <a:rPr lang="zh-CN" altLang="en-US" sz="2400" dirty="0"/>
              <a:t>多值依赖定义：第四范式需要掌握的一个内容。</a:t>
            </a:r>
            <a:endParaRPr lang="en-US" altLang="zh-CN" sz="2400" dirty="0"/>
          </a:p>
          <a:p>
            <a:r>
              <a:rPr lang="zh-CN" altLang="en-US" sz="2400" dirty="0"/>
              <a:t>它说的就是设R(U)是一个属性集U上的一个关系模式， X、 Y和Z是U的子集，并且Z＝U－X－Y。</a:t>
            </a:r>
            <a:endParaRPr lang="en-US" altLang="zh-CN" sz="2400" dirty="0"/>
          </a:p>
          <a:p>
            <a:r>
              <a:rPr lang="zh-CN" altLang="en-US" sz="2400" dirty="0"/>
              <a:t>关系模式R(U)中多值依赖 X→→Y成立，当且仅当对R(U)的任一关系r，给定的一对（x，z）值，有一组Y的值，这组值仅仅决定于x值而与z值无关。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22293" y="638144"/>
            <a:ext cx="4953934" cy="1676603"/>
          </a:xfrm>
        </p:spPr>
        <p:txBody>
          <a:bodyPr>
            <a:normAutofit/>
          </a:bodyPr>
          <a:lstStyle/>
          <a:p>
            <a:r>
              <a:rPr lang="zh-CN" altLang="en-US" sz="4000"/>
              <a:t>判定方法</a:t>
            </a:r>
          </a:p>
        </p:txBody>
      </p:sp>
      <p:sp>
        <p:nvSpPr>
          <p:cNvPr id="20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93138" y="559407"/>
            <a:ext cx="5109725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t="2937" r="3" b="3"/>
          <a:stretch>
            <a:fillRect/>
          </a:stretch>
        </p:blipFill>
        <p:spPr>
          <a:xfrm>
            <a:off x="656844" y="722376"/>
            <a:ext cx="4782312" cy="5413248"/>
          </a:xfrm>
          <a:prstGeom prst="rect">
            <a:avLst/>
          </a:prstGeom>
          <a:effectLst/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22295" y="2438401"/>
            <a:ext cx="4953932" cy="3779520"/>
          </a:xfrm>
        </p:spPr>
        <p:txBody>
          <a:bodyPr>
            <a:normAutofit/>
          </a:bodyPr>
          <a:lstStyle/>
          <a:p>
            <a:endParaRPr lang="zh-CN" altLang="en-US" sz="2000"/>
          </a:p>
          <a:p>
            <a:r>
              <a:rPr lang="zh-CN" altLang="en-US" sz="2000"/>
              <a:t>判定方法：对于任意关系中，如果存在两个元组（就是行），记为A,B，如果他们的某一属性X的值相等，那么我们交换它们另外的属性Y的值后，得到的新的两个元组，在表中是可以在原来的表中找到与它们相匹配的元组的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Freeform 4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4" name="Freeform 4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6" name="Freeform 4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zh-CN" altLang="en-US" sz="4000">
                <a:solidFill>
                  <a:srgbClr val="FFFFFF"/>
                </a:solidFill>
              </a:rPr>
              <a:t>平凡多值依赖和非平凡的多值依赖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500" dirty="0"/>
              <a:t>该表中的码为（C,T,B）我们可以找到第一和第四行，它们的属性X=物理是相同的，当我们交换Y=教员属性后得到（物理，王军，普通物理学）和（物理，李勇，普通 物理学），与原来的表相比，是一毛一样的。我们也可以交换第三行和第四行，得到（物理，王军，物理习题集）和（物理，李勇，普通物理学），与原来表相比，我们还是能找到与它们相匹配的元组的。</a:t>
            </a:r>
          </a:p>
          <a:p>
            <a:pPr>
              <a:lnSpc>
                <a:spcPct val="120000"/>
              </a:lnSpc>
            </a:pPr>
            <a:endParaRPr lang="zh-CN" altLang="en-US" sz="1500" dirty="0"/>
          </a:p>
          <a:p>
            <a:pPr>
              <a:lnSpc>
                <a:spcPct val="120000"/>
              </a:lnSpc>
            </a:pPr>
            <a:r>
              <a:rPr lang="zh-CN" altLang="en-US" sz="1500" dirty="0"/>
              <a:t>平凡多值依赖和非平凡的多值依赖：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若X→→Y，而Z＝φ，则称X→→Y为平凡的多值依赖否则称X→→Y为非平凡的多值依赖。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zh-CN" altLang="en-US" sz="4000">
                <a:solidFill>
                  <a:srgbClr val="FFFFFF"/>
                </a:solidFill>
                <a:sym typeface="+mn-ea"/>
              </a:rPr>
              <a:t>多值依赖与函数依赖的区别：</a:t>
            </a:r>
            <a:endParaRPr lang="zh-CN" altLang="en-US" sz="4000">
              <a:solidFill>
                <a:srgbClr val="FFFFFF"/>
              </a:solidFill>
            </a:endParaRPr>
          </a:p>
        </p:txBody>
      </p:sp>
      <p:sp>
        <p:nvSpPr>
          <p:cNvPr id="16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21862" y="1719618"/>
            <a:ext cx="5948831" cy="4334629"/>
          </a:xfrm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dirty="0">
                <a:solidFill>
                  <a:srgbClr val="FEFFFF"/>
                </a:solidFill>
              </a:rPr>
              <a:t>1）若函数依赖X→Y在R（U）上成立，则对于任何Y' 属于Y均有X→Y' 成立</a:t>
            </a:r>
          </a:p>
          <a:p>
            <a:pPr>
              <a:lnSpc>
                <a:spcPct val="120000"/>
              </a:lnSpc>
            </a:pPr>
            <a:r>
              <a:rPr lang="zh-CN" altLang="en-US" sz="1800" dirty="0">
                <a:solidFill>
                  <a:srgbClr val="FEFFFF"/>
                </a:solidFill>
              </a:rPr>
              <a:t>2）多值依赖X→→Y若在R(U)上成立，不能断言对于任何Y' 属于Y有X→→Y' 成立，因为多值依赖中，其实就是一对一组，一个老师可能交多门课，所以不同老师可能有教相同的课，所以不能推出X→→Y' 成立。我们可以看出，如果把一组改为一个，实际上就是函数依赖，所以所函数依赖是多值依赖的特例，多值依赖不一定是函数依赖，但函数依赖一定是多值依赖。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/>
          <p:cNvGrpSpPr>
            <a:grpSpLocks noGrp="1" noUngrp="1" noRot="1" noChangeAspect="1" noMove="1" noResize="1"/>
          </p:cNvGrpSpPr>
          <p:nvPr/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/>
            <p:cNvSpPr/>
            <p:nvPr/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zh-CN" altLang="en-US" sz="3600">
                <a:solidFill>
                  <a:schemeClr val="tx2"/>
                </a:solidFill>
                <a:sym typeface="+mn-ea"/>
              </a:rPr>
              <a:t>多值依赖性质：</a:t>
            </a:r>
            <a:endParaRPr lang="zh-CN" altLang="en-US" sz="3600">
              <a:solidFill>
                <a:schemeClr val="tx2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endParaRPr lang="zh-CN" altLang="en-US" sz="1800">
              <a:solidFill>
                <a:schemeClr val="tx2"/>
              </a:solidFill>
            </a:endParaRPr>
          </a:p>
          <a:p>
            <a:r>
              <a:rPr lang="zh-CN" altLang="en-US" sz="1800">
                <a:solidFill>
                  <a:schemeClr val="tx2"/>
                </a:solidFill>
              </a:rPr>
              <a:t>（1）多值依赖具有对称性</a:t>
            </a:r>
          </a:p>
          <a:p>
            <a:r>
              <a:rPr lang="zh-CN" altLang="en-US" sz="1800">
                <a:solidFill>
                  <a:schemeClr val="tx2"/>
                </a:solidFill>
              </a:rPr>
              <a:t>若X→→Y，则X→→Z，其中Z＝U－X－Y</a:t>
            </a:r>
          </a:p>
          <a:p>
            <a:r>
              <a:rPr lang="zh-CN" altLang="en-US" sz="1800">
                <a:solidFill>
                  <a:schemeClr val="tx2"/>
                </a:solidFill>
              </a:rPr>
              <a:t>（2）多值依赖具有传递性</a:t>
            </a:r>
          </a:p>
          <a:p>
            <a:r>
              <a:rPr lang="zh-CN" altLang="en-US" sz="1800">
                <a:solidFill>
                  <a:schemeClr val="tx2"/>
                </a:solidFill>
              </a:rPr>
              <a:t>若X→→Y，Y→→Z， 则X→→Z –Y</a:t>
            </a:r>
          </a:p>
          <a:p>
            <a:r>
              <a:rPr lang="zh-CN" altLang="en-US" sz="1800">
                <a:solidFill>
                  <a:schemeClr val="tx2"/>
                </a:solidFill>
              </a:rPr>
              <a:t>（3）函数依赖是多值依赖的特殊情况。</a:t>
            </a:r>
          </a:p>
          <a:p>
            <a:r>
              <a:rPr lang="zh-CN" altLang="en-US" sz="1800">
                <a:solidFill>
                  <a:schemeClr val="tx2"/>
                </a:solidFill>
              </a:rPr>
              <a:t>若X→Y，则X→→Y。</a:t>
            </a:r>
          </a:p>
          <a:p>
            <a:r>
              <a:rPr lang="zh-CN" altLang="en-US" sz="1800">
                <a:solidFill>
                  <a:schemeClr val="tx2"/>
                </a:solidFill>
              </a:rPr>
              <a:t>（4）若X→→Y，X→→Z，则X→→YU Z。</a:t>
            </a:r>
          </a:p>
          <a:p>
            <a:r>
              <a:rPr lang="zh-CN" altLang="en-US" sz="1800">
                <a:solidFill>
                  <a:schemeClr val="tx2"/>
                </a:solidFill>
              </a:rPr>
              <a:t>（5）若X→→Y，X→→Z，则X→→Y∩Z。</a:t>
            </a:r>
          </a:p>
          <a:p>
            <a:r>
              <a:rPr lang="zh-CN" altLang="en-US" sz="1800">
                <a:solidFill>
                  <a:schemeClr val="tx2"/>
                </a:solidFill>
              </a:rPr>
              <a:t>（6）若X→→Y，X→→Z，则X→→Y-Z，X→→Z -Y。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4526280"/>
            <a:ext cx="4449464" cy="2331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83374" y="702944"/>
            <a:ext cx="5369325" cy="55869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6805" y="1345958"/>
            <a:ext cx="4193196" cy="4166085"/>
          </a:xfrm>
        </p:spPr>
        <p:txBody>
          <a:bodyPr>
            <a:normAutofit/>
          </a:bodyPr>
          <a:lstStyle/>
          <a:p>
            <a:r>
              <a:rPr lang="zh-CN" altLang="en-US"/>
              <a:t>第四范式：</a:t>
            </a:r>
            <a:endParaRPr lang="zh-CN" altLang="en-US" dirty="0"/>
          </a:p>
        </p:txBody>
      </p:sp>
      <p:grpSp>
        <p:nvGrpSpPr>
          <p:cNvPr id="15" name="Group 14"/>
          <p:cNvGrpSpPr>
            <a:grpSpLocks noGrp="1" noUngrp="1" noRot="1" noChangeAspect="1" noMove="1" noResize="1"/>
          </p:cNvGrpSpPr>
          <p:nvPr/>
        </p:nvGrpSpPr>
        <p:grpSpPr>
          <a:xfrm>
            <a:off x="54864" y="3048506"/>
            <a:ext cx="630289" cy="765242"/>
            <a:chOff x="45711" y="3048506"/>
            <a:chExt cx="630289" cy="765242"/>
          </a:xfrm>
        </p:grpSpPr>
        <p:sp>
          <p:nvSpPr>
            <p:cNvPr id="16" name="Rectangle 2"/>
            <p:cNvSpPr/>
            <p:nvPr/>
          </p:nvSpPr>
          <p:spPr>
            <a:xfrm>
              <a:off x="614166" y="3048506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59"/>
            <p:cNvSpPr/>
            <p:nvPr/>
          </p:nvSpPr>
          <p:spPr>
            <a:xfrm>
              <a:off x="614166" y="3225010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62"/>
            <p:cNvSpPr/>
            <p:nvPr/>
          </p:nvSpPr>
          <p:spPr>
            <a:xfrm>
              <a:off x="614166" y="3401514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64"/>
            <p:cNvSpPr/>
            <p:nvPr/>
          </p:nvSpPr>
          <p:spPr>
            <a:xfrm>
              <a:off x="614166" y="357801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/>
            <p:cNvSpPr/>
            <p:nvPr/>
          </p:nvSpPr>
          <p:spPr>
            <a:xfrm>
              <a:off x="614166" y="375452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"/>
            <p:cNvSpPr/>
            <p:nvPr/>
          </p:nvSpPr>
          <p:spPr>
            <a:xfrm>
              <a:off x="472053" y="3048506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59"/>
            <p:cNvSpPr/>
            <p:nvPr/>
          </p:nvSpPr>
          <p:spPr>
            <a:xfrm>
              <a:off x="472053" y="3225010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2"/>
            <p:cNvSpPr/>
            <p:nvPr/>
          </p:nvSpPr>
          <p:spPr>
            <a:xfrm>
              <a:off x="472053" y="3401514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4"/>
            <p:cNvSpPr/>
            <p:nvPr/>
          </p:nvSpPr>
          <p:spPr>
            <a:xfrm>
              <a:off x="472053" y="357801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6"/>
            <p:cNvSpPr/>
            <p:nvPr/>
          </p:nvSpPr>
          <p:spPr>
            <a:xfrm>
              <a:off x="472053" y="375452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"/>
            <p:cNvSpPr/>
            <p:nvPr/>
          </p:nvSpPr>
          <p:spPr>
            <a:xfrm>
              <a:off x="329939" y="3048506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59"/>
            <p:cNvSpPr/>
            <p:nvPr/>
          </p:nvSpPr>
          <p:spPr>
            <a:xfrm>
              <a:off x="329939" y="3225010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2"/>
            <p:cNvSpPr/>
            <p:nvPr/>
          </p:nvSpPr>
          <p:spPr>
            <a:xfrm>
              <a:off x="329939" y="3401514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/>
            <p:cNvSpPr/>
            <p:nvPr/>
          </p:nvSpPr>
          <p:spPr>
            <a:xfrm>
              <a:off x="329939" y="357801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/>
            <p:cNvSpPr/>
            <p:nvPr/>
          </p:nvSpPr>
          <p:spPr>
            <a:xfrm>
              <a:off x="329939" y="375452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2"/>
            <p:cNvSpPr/>
            <p:nvPr/>
          </p:nvSpPr>
          <p:spPr>
            <a:xfrm>
              <a:off x="187825" y="3048506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59"/>
            <p:cNvSpPr/>
            <p:nvPr/>
          </p:nvSpPr>
          <p:spPr>
            <a:xfrm>
              <a:off x="187825" y="3225010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2"/>
            <p:cNvSpPr/>
            <p:nvPr/>
          </p:nvSpPr>
          <p:spPr>
            <a:xfrm>
              <a:off x="187825" y="3401514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4"/>
            <p:cNvSpPr/>
            <p:nvPr/>
          </p:nvSpPr>
          <p:spPr>
            <a:xfrm>
              <a:off x="187825" y="357801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6"/>
            <p:cNvSpPr/>
            <p:nvPr/>
          </p:nvSpPr>
          <p:spPr>
            <a:xfrm>
              <a:off x="187825" y="375452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2"/>
            <p:cNvSpPr/>
            <p:nvPr/>
          </p:nvSpPr>
          <p:spPr>
            <a:xfrm>
              <a:off x="45711" y="3048506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59"/>
            <p:cNvSpPr/>
            <p:nvPr/>
          </p:nvSpPr>
          <p:spPr>
            <a:xfrm>
              <a:off x="45711" y="3225010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2"/>
            <p:cNvSpPr/>
            <p:nvPr/>
          </p:nvSpPr>
          <p:spPr>
            <a:xfrm>
              <a:off x="45711" y="3401514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64"/>
            <p:cNvSpPr/>
            <p:nvPr/>
          </p:nvSpPr>
          <p:spPr>
            <a:xfrm>
              <a:off x="45711" y="357801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66"/>
            <p:cNvSpPr/>
            <p:nvPr/>
          </p:nvSpPr>
          <p:spPr>
            <a:xfrm>
              <a:off x="45711" y="375452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内容占位符 2"/>
          <p:cNvGraphicFramePr>
            <a:graphicFrameLocks noGrp="1"/>
          </p:cNvGraphicFramePr>
          <p:nvPr>
            <p:ph idx="1"/>
          </p:nvPr>
        </p:nvGraphicFramePr>
        <p:xfrm>
          <a:off x="6227064" y="749808"/>
          <a:ext cx="5367528" cy="5358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3467" y="1698171"/>
            <a:ext cx="3962061" cy="4516360"/>
          </a:xfrm>
        </p:spPr>
        <p:txBody>
          <a:bodyPr anchor="t">
            <a:normAutofit/>
          </a:bodyPr>
          <a:lstStyle/>
          <a:p>
            <a:r>
              <a:rPr lang="zh-CN" altLang="en-US" sz="3600"/>
              <a:t>规范为第四范式的方法</a:t>
            </a:r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700000">
            <a:off x="415435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>
            <a:off x="0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700000">
            <a:off x="10739327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700000">
            <a:off x="10653800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70020" y="1698170"/>
            <a:ext cx="6478513" cy="451636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dirty="0"/>
              <a:t>上面的图表（C,T,B）,如果改成属于第四范式，就要分为：</a:t>
            </a:r>
          </a:p>
          <a:p>
            <a:pPr>
              <a:lnSpc>
                <a:spcPct val="120000"/>
              </a:lnSpc>
            </a:pPr>
            <a:endParaRPr lang="zh-CN" altLang="en-US" sz="1800" dirty="0"/>
          </a:p>
          <a:p>
            <a:pPr>
              <a:lnSpc>
                <a:spcPct val="120000"/>
              </a:lnSpc>
            </a:pPr>
            <a:r>
              <a:rPr lang="zh-CN" altLang="en-US" sz="1800" dirty="0"/>
              <a:t>CT(C, T) ∈ 4NF</a:t>
            </a:r>
          </a:p>
          <a:p>
            <a:pPr>
              <a:lnSpc>
                <a:spcPct val="120000"/>
              </a:lnSpc>
            </a:pPr>
            <a:r>
              <a:rPr lang="zh-CN" altLang="en-US" sz="1800" dirty="0"/>
              <a:t>CB(C, B) ∈ 4NF</a:t>
            </a:r>
          </a:p>
          <a:p>
            <a:pPr>
              <a:lnSpc>
                <a:spcPct val="120000"/>
              </a:lnSpc>
            </a:pPr>
            <a:r>
              <a:rPr lang="zh-CN" altLang="en-US" sz="1800" dirty="0"/>
              <a:t>其中， C→→T， C→→B是平凡多值依赖。</a:t>
            </a:r>
          </a:p>
          <a:p>
            <a:pPr>
              <a:lnSpc>
                <a:spcPct val="120000"/>
              </a:lnSpc>
            </a:pPr>
            <a:endParaRPr lang="zh-CN" altLang="en-US" sz="1800" dirty="0"/>
          </a:p>
          <a:p>
            <a:pPr>
              <a:lnSpc>
                <a:spcPct val="120000"/>
              </a:lnSpc>
            </a:pPr>
            <a:r>
              <a:rPr lang="zh-CN" altLang="en-US" sz="1800" dirty="0"/>
              <a:t>总结：</a:t>
            </a:r>
          </a:p>
          <a:p>
            <a:pPr>
              <a:lnSpc>
                <a:spcPct val="120000"/>
              </a:lnSpc>
            </a:pPr>
            <a:r>
              <a:rPr lang="zh-CN" altLang="en-US" sz="1800" dirty="0"/>
              <a:t>目的：尽量消除插入、删除异常，修改复杂，数据冗余</a:t>
            </a:r>
          </a:p>
        </p:txBody>
      </p:sp>
      <p:sp>
        <p:nvSpPr>
          <p:cNvPr id="18" name="Isosceles Tri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115423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Isosceles Tri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167297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Freeform 4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4" name="Freeform 4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6" name="Freeform 4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zh-CN" altLang="en-US" sz="4000">
                <a:solidFill>
                  <a:srgbClr val="FFFFFF"/>
                </a:solidFill>
              </a:rPr>
              <a:t>连接依赖</a:t>
            </a:r>
            <a:r>
              <a:rPr lang="zh-CN" altLang="en-US" sz="4000">
                <a:solidFill>
                  <a:srgbClr val="FFFFFF"/>
                </a:solidFill>
                <a:sym typeface="+mn-ea"/>
              </a:rPr>
              <a:t>基本概念</a:t>
            </a:r>
            <a:endParaRPr lang="zh-CN" altLang="en-US" sz="4000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r>
              <a:rPr lang="zh-CN" altLang="en-US" sz="2400" dirty="0"/>
              <a:t>连接依赖：设关系模式R、Ri的属性集是U、Ui，UiU(1≤i≤n)。</a:t>
            </a:r>
            <a:endParaRPr lang="en-US" altLang="zh-CN" sz="2400" dirty="0"/>
          </a:p>
          <a:p>
            <a:r>
              <a:rPr lang="zh-CN" altLang="en-US" sz="2400" dirty="0"/>
              <a:t>若R每个容许的实例r均满足r=∏U1(r)∞...∞∏Un(r)则称R满足连接依赖，记作∞(R1,...,Rn)。</a:t>
            </a:r>
            <a:endParaRPr lang="en-US" altLang="zh-CN" sz="2400" dirty="0"/>
          </a:p>
          <a:p>
            <a:r>
              <a:rPr lang="zh-CN" altLang="en-US" sz="2400" dirty="0"/>
              <a:t>若其中某个Ui=U，则称连接依赖是平凡连接依赖。 多值依赖也是连接依赖。</a:t>
            </a:r>
          </a:p>
          <a:p>
            <a:endParaRPr lang="zh-CN" altLang="en-US" sz="2400" dirty="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Freeform 4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4" name="Freeform 4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6" name="Freeform 4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zh-CN" altLang="en-US" sz="4000">
                <a:solidFill>
                  <a:srgbClr val="FFFFFF"/>
                </a:solidFill>
              </a:rPr>
              <a:t>第五范式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/>
              <a:t>第五范式：如果关系模式R中的每一个连接依赖均由R的候选码所隐含，则称此关系模式符合第五范式。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下面关系表是否符合第5范式？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设关系模式SPJ（SNO,PNO,JNO），其中SNO表示供应者号，PNO表示零件号，JNO表示项目号。</a:t>
            </a: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zh-CN" altLang="en-US" sz="2000" dirty="0"/>
              <a:t>设有关系SPJ。如果将SPJ模式分解为SP、PJ和JS，并进行SP⋈PJ及SP⋈PJ⋈JS的自然连接，其操作数据及连接结果如图(注:“⋈”符号为连接符)。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anchor="ctr">
            <a:normAutofit/>
          </a:bodyPr>
          <a:lstStyle/>
          <a:p>
            <a:r>
              <a:rPr lang="zh-CN" altLang="en-US" sz="4000"/>
              <a:t>示例</a:t>
            </a:r>
          </a:p>
        </p:txBody>
      </p:sp>
      <p:sp>
        <p:nvSpPr>
          <p:cNvPr id="20" name="Content Placeholder 9"/>
          <p:cNvSpPr>
            <a:spLocks noGrp="1"/>
          </p:cNvSpPr>
          <p:nvPr>
            <p:ph idx="1"/>
          </p:nvPr>
        </p:nvSpPr>
        <p:spPr>
          <a:xfrm>
            <a:off x="6190909" y="552906"/>
            <a:ext cx="5159825" cy="1674905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  <p:graphicFrame>
        <p:nvGraphicFramePr>
          <p:cNvPr id="8" name="内容占位符 4"/>
          <p:cNvGraphicFramePr/>
          <p:nvPr/>
        </p:nvGraphicFramePr>
        <p:xfrm>
          <a:off x="990996" y="2405149"/>
          <a:ext cx="10203911" cy="389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1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2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0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900"/>
                        <a:t>SPJ</a:t>
                      </a:r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900"/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900"/>
                    </a:p>
                  </a:txBody>
                  <a:tcPr marL="147704" marR="147704" marT="73852" marB="7385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900"/>
                        <a:t>供应商代码(SNO)</a:t>
                      </a:r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900">
                          <a:sym typeface="+mn-ea"/>
                        </a:rPr>
                        <a:t>零件代码(PNO)</a:t>
                      </a:r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900">
                          <a:sym typeface="+mn-ea"/>
                        </a:rPr>
                        <a:t>项目代码JNO(PNO)</a:t>
                      </a:r>
                    </a:p>
                  </a:txBody>
                  <a:tcPr marL="147704" marR="147704" marT="73852" marB="7385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900"/>
                        <a:t>S1</a:t>
                      </a:r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900">
                          <a:sym typeface="+mn-ea"/>
                        </a:rPr>
                        <a:t>P1</a:t>
                      </a:r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900">
                          <a:sym typeface="+mn-ea"/>
                        </a:rPr>
                        <a:t>J2</a:t>
                      </a:r>
                    </a:p>
                  </a:txBody>
                  <a:tcPr marL="147704" marR="147704" marT="73852" marB="7385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900"/>
                        <a:t>S2</a:t>
                      </a:r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900">
                          <a:sym typeface="+mn-ea"/>
                        </a:rPr>
                        <a:t>P1</a:t>
                      </a:r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900">
                          <a:sym typeface="+mn-ea"/>
                        </a:rPr>
                        <a:t>J1</a:t>
                      </a:r>
                    </a:p>
                  </a:txBody>
                  <a:tcPr marL="147704" marR="147704" marT="73852" marB="7385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900"/>
                        <a:t>S1</a:t>
                      </a:r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900">
                          <a:sym typeface="+mn-ea"/>
                        </a:rPr>
                        <a:t>P1</a:t>
                      </a:r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900">
                          <a:sym typeface="+mn-ea"/>
                        </a:rPr>
                        <a:t>J1</a:t>
                      </a:r>
                    </a:p>
                  </a:txBody>
                  <a:tcPr marL="147704" marR="147704" marT="73852" marB="7385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9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900"/>
                        <a:t>S1</a:t>
                      </a:r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900">
                          <a:sym typeface="+mn-ea"/>
                        </a:rPr>
                        <a:t>P2</a:t>
                      </a:r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900">
                          <a:sym typeface="+mn-ea"/>
                        </a:rPr>
                        <a:t>J1</a:t>
                      </a:r>
                    </a:p>
                  </a:txBody>
                  <a:tcPr marL="147704" marR="147704" marT="73852" marB="7385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557189"/>
            <a:ext cx="10515599" cy="12962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范式分析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2046851"/>
            <a:ext cx="10515599" cy="72891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altLang="zh-CN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将上表变成如下表，加两个“供应商代码</a:t>
            </a:r>
            <a:r>
              <a:rPr lang="en-US" altLang="zh-CN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(SNO)”</a:t>
            </a:r>
            <a:r>
              <a:rPr lang="zh-CN" alt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是为了便于分析</a:t>
            </a: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838200" y="3200547"/>
          <a:ext cx="10515600" cy="2879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4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3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7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9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SPJ</a:t>
                      </a:r>
                    </a:p>
                  </a:txBody>
                  <a:tcPr marL="109055" marR="109055" marT="54527" marB="545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100"/>
                    </a:p>
                  </a:txBody>
                  <a:tcPr marL="109055" marR="109055" marT="54527" marB="545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100"/>
                    </a:p>
                  </a:txBody>
                  <a:tcPr marL="109055" marR="109055" marT="54527" marB="545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100"/>
                    </a:p>
                  </a:txBody>
                  <a:tcPr marL="109055" marR="109055" marT="54527" marB="545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供应商代码(SNO)</a:t>
                      </a:r>
                    </a:p>
                  </a:txBody>
                  <a:tcPr marL="109055" marR="109055" marT="54527" marB="545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>
                          <a:sym typeface="+mn-ea"/>
                        </a:rPr>
                        <a:t>零件代码(PNO)</a:t>
                      </a:r>
                    </a:p>
                  </a:txBody>
                  <a:tcPr marL="109055" marR="109055" marT="54527" marB="545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>
                          <a:sym typeface="+mn-ea"/>
                        </a:rPr>
                        <a:t>项目代码JNO(PNO)</a:t>
                      </a:r>
                    </a:p>
                  </a:txBody>
                  <a:tcPr marL="109055" marR="109055" marT="54527" marB="545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供应商代码(SNO)</a:t>
                      </a:r>
                    </a:p>
                  </a:txBody>
                  <a:tcPr marL="109055" marR="109055" marT="54527" marB="545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S1</a:t>
                      </a:r>
                    </a:p>
                  </a:txBody>
                  <a:tcPr marL="109055" marR="109055" marT="54527" marB="545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>
                          <a:sym typeface="+mn-ea"/>
                        </a:rPr>
                        <a:t>P1</a:t>
                      </a:r>
                    </a:p>
                  </a:txBody>
                  <a:tcPr marL="109055" marR="109055" marT="54527" marB="545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>
                          <a:sym typeface="+mn-ea"/>
                        </a:rPr>
                        <a:t>J2</a:t>
                      </a:r>
                    </a:p>
                  </a:txBody>
                  <a:tcPr marL="109055" marR="109055" marT="54527" marB="545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S1</a:t>
                      </a:r>
                    </a:p>
                  </a:txBody>
                  <a:tcPr marL="109055" marR="109055" marT="54527" marB="545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S2</a:t>
                      </a:r>
                    </a:p>
                  </a:txBody>
                  <a:tcPr marL="109055" marR="109055" marT="54527" marB="545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>
                          <a:sym typeface="+mn-ea"/>
                        </a:rPr>
                        <a:t>P1</a:t>
                      </a:r>
                    </a:p>
                  </a:txBody>
                  <a:tcPr marL="109055" marR="109055" marT="54527" marB="545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>
                          <a:sym typeface="+mn-ea"/>
                        </a:rPr>
                        <a:t>J1</a:t>
                      </a:r>
                    </a:p>
                  </a:txBody>
                  <a:tcPr marL="109055" marR="109055" marT="54527" marB="545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S2</a:t>
                      </a:r>
                    </a:p>
                  </a:txBody>
                  <a:tcPr marL="109055" marR="109055" marT="54527" marB="545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S1</a:t>
                      </a:r>
                    </a:p>
                  </a:txBody>
                  <a:tcPr marL="109055" marR="109055" marT="54527" marB="545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>
                          <a:sym typeface="+mn-ea"/>
                        </a:rPr>
                        <a:t>P1</a:t>
                      </a:r>
                    </a:p>
                  </a:txBody>
                  <a:tcPr marL="109055" marR="109055" marT="54527" marB="545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>
                          <a:sym typeface="+mn-ea"/>
                        </a:rPr>
                        <a:t>J1</a:t>
                      </a:r>
                    </a:p>
                  </a:txBody>
                  <a:tcPr marL="109055" marR="109055" marT="54527" marB="545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S1</a:t>
                      </a:r>
                    </a:p>
                  </a:txBody>
                  <a:tcPr marL="109055" marR="109055" marT="54527" marB="545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S1</a:t>
                      </a:r>
                    </a:p>
                  </a:txBody>
                  <a:tcPr marL="109055" marR="109055" marT="54527" marB="545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>
                          <a:sym typeface="+mn-ea"/>
                        </a:rPr>
                        <a:t>P2</a:t>
                      </a:r>
                    </a:p>
                  </a:txBody>
                  <a:tcPr marL="109055" marR="109055" marT="54527" marB="545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>
                          <a:sym typeface="+mn-ea"/>
                        </a:rPr>
                        <a:t>J1</a:t>
                      </a:r>
                    </a:p>
                  </a:txBody>
                  <a:tcPr marL="109055" marR="109055" marT="54527" marB="5452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S1</a:t>
                      </a:r>
                    </a:p>
                  </a:txBody>
                  <a:tcPr marL="109055" marR="109055" marT="54527" marB="545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>
            <a:grpSpLocks noGrp="1" noUngrp="1" noRot="1" noChangeAspec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863" y="366639"/>
            <a:ext cx="11090274" cy="67544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sz="4200"/>
              <a:t>关系模式分解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0863" y="1111187"/>
            <a:ext cx="11090274" cy="643253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altLang="en-US" sz="4000">
                <a:solidFill>
                  <a:schemeClr val="tx1">
                    <a:alpha val="60000"/>
                  </a:schemeClr>
                </a:solidFill>
              </a:rPr>
              <a:t>将 </a:t>
            </a:r>
            <a:r>
              <a:rPr lang="en-US" altLang="zh-CN" sz="4000">
                <a:solidFill>
                  <a:schemeClr val="tx1">
                    <a:alpha val="60000"/>
                  </a:schemeClr>
                </a:solidFill>
              </a:rPr>
              <a:t>SPJ</a:t>
            </a:r>
            <a:r>
              <a:rPr lang="zh-CN" altLang="en-US" sz="4000">
                <a:solidFill>
                  <a:schemeClr val="tx1">
                    <a:alpha val="60000"/>
                  </a:schemeClr>
                </a:solidFill>
              </a:rPr>
              <a:t>模式分解为</a:t>
            </a:r>
            <a:r>
              <a:rPr lang="en-US" altLang="zh-CN" sz="4000">
                <a:solidFill>
                  <a:schemeClr val="tx1">
                    <a:alpha val="60000"/>
                  </a:schemeClr>
                </a:solidFill>
              </a:rPr>
              <a:t>SP</a:t>
            </a:r>
            <a:r>
              <a:rPr lang="zh-CN" altLang="en-US" sz="4000">
                <a:solidFill>
                  <a:schemeClr val="tx1">
                    <a:alpha val="60000"/>
                  </a:schemeClr>
                </a:solidFill>
              </a:rPr>
              <a:t>、</a:t>
            </a:r>
            <a:r>
              <a:rPr lang="en-US" altLang="zh-CN" sz="4000">
                <a:solidFill>
                  <a:schemeClr val="tx1">
                    <a:alpha val="60000"/>
                  </a:schemeClr>
                </a:solidFill>
              </a:rPr>
              <a:t>PJ</a:t>
            </a:r>
            <a:r>
              <a:rPr lang="zh-CN" altLang="en-US" sz="4000">
                <a:solidFill>
                  <a:schemeClr val="tx1">
                    <a:alpha val="60000"/>
                  </a:schemeClr>
                </a:solidFill>
              </a:rPr>
              <a:t>和</a:t>
            </a:r>
            <a:r>
              <a:rPr lang="en-US" altLang="zh-CN" sz="4000">
                <a:solidFill>
                  <a:schemeClr val="tx1">
                    <a:alpha val="60000"/>
                  </a:schemeClr>
                </a:solidFill>
              </a:rPr>
              <a:t>JS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t="1963" r="1" b="2158"/>
          <a:stretch>
            <a:fillRect/>
          </a:stretch>
        </p:blipFill>
        <p:spPr>
          <a:xfrm>
            <a:off x="550863" y="2133601"/>
            <a:ext cx="11090274" cy="41736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zh-CN" altLang="en-US" sz="3200"/>
              <a:t>分解三个表</a:t>
            </a:r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500"/>
              <a:t>得到如下结果，如下是3个表，这里为了保持共性，用一个表表示。</a:t>
            </a:r>
            <a:endParaRPr lang="en-US" altLang="zh-CN" sz="1500"/>
          </a:p>
          <a:p>
            <a:pPr>
              <a:lnSpc>
                <a:spcPct val="120000"/>
              </a:lnSpc>
            </a:pPr>
            <a:r>
              <a:rPr lang="zh-CN" altLang="en-US" sz="1500"/>
              <a:t>上例中，因为它仅有的候选码(SNO,PNO,JNO)肯定不是它的三个投影SP、PJ、JS自然连接的公共属性，所以 SPJ ∉ 5NF（“∉”为不属于符号）</a:t>
            </a:r>
          </a:p>
          <a:p>
            <a:pPr>
              <a:lnSpc>
                <a:spcPct val="120000"/>
              </a:lnSpc>
            </a:pPr>
            <a:endParaRPr lang="zh-CN" altLang="en-US" sz="1500"/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557784" y="2995622"/>
          <a:ext cx="11164827" cy="2960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6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1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962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900" dirty="0">
                          <a:solidFill>
                            <a:srgbClr val="FF0000"/>
                          </a:solidFill>
                        </a:rPr>
                        <a:t>SP</a:t>
                      </a:r>
                      <a:endParaRPr lang="zh-CN" altLang="en-US" sz="1900" dirty="0">
                        <a:solidFill>
                          <a:srgbClr val="FF0000"/>
                        </a:solidFill>
                      </a:endParaRPr>
                    </a:p>
                  </a:txBody>
                  <a:tcPr marL="96128" marR="96128" marT="48064" marB="48064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900" dirty="0">
                          <a:solidFill>
                            <a:srgbClr val="FFFF00"/>
                          </a:solidFill>
                        </a:rPr>
                        <a:t>JS</a:t>
                      </a:r>
                      <a:endParaRPr lang="zh-CN" altLang="en-US" sz="1900" dirty="0">
                        <a:solidFill>
                          <a:srgbClr val="FFFF00"/>
                        </a:solidFill>
                      </a:endParaRPr>
                    </a:p>
                  </a:txBody>
                  <a:tcPr marL="96128" marR="96128" marT="48064" marB="48064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供应商代码(SNO)</a:t>
                      </a:r>
                    </a:p>
                  </a:txBody>
                  <a:tcPr marL="96128" marR="96128" marT="48064" marB="480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>
                          <a:sym typeface="+mn-ea"/>
                        </a:rPr>
                        <a:t>零件代码(PNO)</a:t>
                      </a:r>
                    </a:p>
                  </a:txBody>
                  <a:tcPr marL="96128" marR="96128" marT="48064" marB="480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>
                          <a:sym typeface="+mn-ea"/>
                        </a:rPr>
                        <a:t>项目代码JNO(PNO)</a:t>
                      </a:r>
                    </a:p>
                  </a:txBody>
                  <a:tcPr marL="96128" marR="96128" marT="48064" marB="480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供应商代码(SNO)</a:t>
                      </a:r>
                    </a:p>
                  </a:txBody>
                  <a:tcPr marL="96128" marR="96128" marT="48064" marB="480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S1</a:t>
                      </a:r>
                    </a:p>
                  </a:txBody>
                  <a:tcPr marL="96128" marR="96128" marT="48064" marB="480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>
                          <a:sym typeface="+mn-ea"/>
                        </a:rPr>
                        <a:t>P1</a:t>
                      </a:r>
                    </a:p>
                  </a:txBody>
                  <a:tcPr marL="96128" marR="96128" marT="48064" marB="480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>
                          <a:sym typeface="+mn-ea"/>
                        </a:rPr>
                        <a:t>J2</a:t>
                      </a:r>
                    </a:p>
                  </a:txBody>
                  <a:tcPr marL="96128" marR="96128" marT="48064" marB="480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S1</a:t>
                      </a:r>
                    </a:p>
                  </a:txBody>
                  <a:tcPr marL="96128" marR="96128" marT="48064" marB="4806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S2</a:t>
                      </a:r>
                    </a:p>
                  </a:txBody>
                  <a:tcPr marL="96128" marR="96128" marT="48064" marB="480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>
                          <a:sym typeface="+mn-ea"/>
                        </a:rPr>
                        <a:t>P1</a:t>
                      </a:r>
                    </a:p>
                  </a:txBody>
                  <a:tcPr marL="96128" marR="96128" marT="48064" marB="480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>
                          <a:sym typeface="+mn-ea"/>
                        </a:rPr>
                        <a:t>J1</a:t>
                      </a:r>
                    </a:p>
                  </a:txBody>
                  <a:tcPr marL="96128" marR="96128" marT="48064" marB="480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S2</a:t>
                      </a:r>
                    </a:p>
                  </a:txBody>
                  <a:tcPr marL="96128" marR="96128" marT="48064" marB="4806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S1</a:t>
                      </a:r>
                    </a:p>
                  </a:txBody>
                  <a:tcPr marL="96128" marR="96128" marT="48064" marB="480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>
                          <a:sym typeface="+mn-ea"/>
                        </a:rPr>
                        <a:t>P1</a:t>
                      </a:r>
                    </a:p>
                  </a:txBody>
                  <a:tcPr marL="96128" marR="96128" marT="48064" marB="480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>
                          <a:sym typeface="+mn-ea"/>
                        </a:rPr>
                        <a:t>J1</a:t>
                      </a:r>
                    </a:p>
                  </a:txBody>
                  <a:tcPr marL="96128" marR="96128" marT="48064" marB="480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S1</a:t>
                      </a:r>
                    </a:p>
                  </a:txBody>
                  <a:tcPr marL="96128" marR="96128" marT="48064" marB="4806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S1</a:t>
                      </a:r>
                    </a:p>
                  </a:txBody>
                  <a:tcPr marL="96128" marR="96128" marT="48064" marB="480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>
                          <a:sym typeface="+mn-ea"/>
                        </a:rPr>
                        <a:t>P2</a:t>
                      </a:r>
                    </a:p>
                  </a:txBody>
                  <a:tcPr marL="96128" marR="96128" marT="48064" marB="480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>
                          <a:sym typeface="+mn-ea"/>
                        </a:rPr>
                        <a:t>J1</a:t>
                      </a:r>
                    </a:p>
                  </a:txBody>
                  <a:tcPr marL="96128" marR="96128" marT="48064" marB="4806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S1</a:t>
                      </a:r>
                    </a:p>
                  </a:txBody>
                  <a:tcPr marL="96128" marR="96128" marT="48064" marB="4806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96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900"/>
                    </a:p>
                  </a:txBody>
                  <a:tcPr marL="96128" marR="96128" marT="48064" marB="48064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900" dirty="0">
                          <a:solidFill>
                            <a:srgbClr val="00B050"/>
                          </a:solidFill>
                          <a:sym typeface="+mn-ea"/>
                        </a:rPr>
                        <a:t>PJ</a:t>
                      </a:r>
                      <a:endParaRPr lang="zh-CN" altLang="en-US" sz="1900" dirty="0">
                        <a:solidFill>
                          <a:srgbClr val="00B050"/>
                        </a:solidFill>
                        <a:sym typeface="+mn-ea"/>
                      </a:endParaRPr>
                    </a:p>
                  </a:txBody>
                  <a:tcPr marL="96128" marR="96128" marT="48064" marB="48064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900" dirty="0"/>
                    </a:p>
                  </a:txBody>
                  <a:tcPr marL="96128" marR="96128" marT="48064" marB="4806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9" name="Group 11"/>
          <p:cNvGrpSpPr>
            <a:grpSpLocks noGrp="1" noUngrp="1" noRot="1" noChangeAspect="1" noMove="1" noResize="1"/>
          </p:cNvGrpSpPr>
          <p:nvPr/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/>
            <p:cNvSpPr/>
            <p:nvPr/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endParaRPr lang="zh-CN" altLang="en-US" sz="3600">
              <a:solidFill>
                <a:schemeClr val="tx2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zh-CN" altLang="en-US" sz="1800" dirty="0">
                <a:solidFill>
                  <a:schemeClr val="tx2"/>
                </a:solidFill>
              </a:rPr>
              <a:t>关于第五范式和连接依赖，看定义都很抽象，也没找到一些更明确的资料，不过个人感觉就是3个以上的关系决定一条数据就算是连接依赖了吧。也暂时只能就这么理解了。</a:t>
            </a:r>
            <a:endParaRPr lang="en-US" altLang="zh-CN" sz="1800" dirty="0">
              <a:solidFill>
                <a:schemeClr val="tx2"/>
              </a:solidFill>
            </a:endParaRPr>
          </a:p>
          <a:p>
            <a:r>
              <a:rPr lang="zh-CN" altLang="en-US" sz="1800" dirty="0">
                <a:solidFill>
                  <a:schemeClr val="tx2"/>
                </a:solidFill>
              </a:rPr>
              <a:t>这种依赖比多值依赖更麻烦吧，一对多还只是两个字段的关系，这里确数据到3个以上的字段的依赖关系，形成一个依赖的连接，我也只能用我的理解去靠近语义的理解，这样也方便自己的记忆。(((X→Y)→Z)→...n),这是我用自己理解的方式定义的一个公式。相比于X→→Y，“→→”符合代表依赖的数量，而连接依赖代表依赖的维度，二位以上的关系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6C5FA50-8D52-4617-AF91-5C7B1C835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53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3496" y="618681"/>
            <a:ext cx="2613872" cy="47945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>
                <a:solidFill>
                  <a:srgbClr val="FFFFFF"/>
                </a:solidFill>
              </a:rPr>
              <a:t>示例一</a:t>
            </a:r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E223798C-12AD-4B0C-A50C-D676347D6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3354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6740" r="9574"/>
          <a:stretch/>
        </p:blipFill>
        <p:spPr>
          <a:xfrm>
            <a:off x="976251" y="942538"/>
            <a:ext cx="7163222" cy="4808332"/>
          </a:xfrm>
          <a:prstGeom prst="rect">
            <a:avLst/>
          </a:prstGeom>
          <a:effectLst/>
        </p:spPr>
      </p:pic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6A84AF-6F58-471A-BF1F-10D8C0351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662"/>
            <a:ext cx="3785513" cy="3728853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5200"/>
              <a:t>E-R</a:t>
            </a:r>
            <a:r>
              <a:rPr lang="en-US" sz="5200"/>
              <a:t>图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076" r="1" b="1"/>
          <a:stretch/>
        </p:blipFill>
        <p:spPr>
          <a:xfrm>
            <a:off x="5009505" y="10"/>
            <a:ext cx="7182495" cy="685799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DA1A2E9-63FE-408D-A803-8E306ECAB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7522" y="450222"/>
            <a:ext cx="3902420" cy="4235636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00127" y="932688"/>
            <a:ext cx="3361677" cy="32735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>
                <a:solidFill>
                  <a:srgbClr val="FFFFFF"/>
                </a:solidFill>
                <a:sym typeface="+mn-ea"/>
              </a:rPr>
              <a:t>示例二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E9F90C-C163-435B-9A68-D15C92D1C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7521" y="4843002"/>
            <a:ext cx="2391411" cy="1564776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7174" b="1"/>
          <a:stretch/>
        </p:blipFill>
        <p:spPr>
          <a:xfrm>
            <a:off x="466344" y="450221"/>
            <a:ext cx="7205515" cy="595755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A882A9F-F4E9-4E23-8F0B-20B5DF42E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4594" y="4843002"/>
            <a:ext cx="1351062" cy="1568472"/>
          </a:xfrm>
          <a:prstGeom prst="rect">
            <a:avLst/>
          </a:prstGeom>
          <a:solidFill>
            <a:srgbClr val="7DA1CA"/>
          </a:solidFill>
          <a:ln w="25400">
            <a:solidFill>
              <a:srgbClr val="7DA1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6A84AF-6F58-471A-BF1F-10D8C0351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662"/>
            <a:ext cx="3785513" cy="3728853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5200"/>
              <a:t>E-R</a:t>
            </a:r>
            <a:r>
              <a:rPr lang="en-US" sz="5200"/>
              <a:t>图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19094" b="-1"/>
          <a:stretch/>
        </p:blipFill>
        <p:spPr>
          <a:xfrm>
            <a:off x="5009505" y="10"/>
            <a:ext cx="7182495" cy="685799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>
            <a:extLst>
              <a:ext uri="{FF2B5EF4-FFF2-40B4-BE49-F238E27FC236}">
                <a16:creationId xmlns:a16="http://schemas.microsoft.com/office/drawing/2014/main" id="{16C5FA50-8D52-4617-AF91-5C7B1C835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69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3496" y="618681"/>
            <a:ext cx="2613872" cy="47945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>
                <a:solidFill>
                  <a:srgbClr val="FFFFFF"/>
                </a:solidFill>
                <a:sym typeface="+mn-ea"/>
              </a:rPr>
              <a:t>示例三</a:t>
            </a: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E223798C-12AD-4B0C-A50C-D676347D6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3354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9869" b="-1"/>
          <a:stretch/>
        </p:blipFill>
        <p:spPr>
          <a:xfrm>
            <a:off x="976251" y="942538"/>
            <a:ext cx="7163222" cy="4808332"/>
          </a:xfrm>
          <a:prstGeom prst="rect">
            <a:avLst/>
          </a:prstGeom>
          <a:effectLst/>
        </p:spPr>
      </p:pic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10650BA-D090-4A23-98E3-B48BBAEA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269151-77F9-4B79-AE43-9EA438FEDB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188" r="26847" b="-2"/>
          <a:stretch/>
        </p:blipFill>
        <p:spPr>
          <a:xfrm>
            <a:off x="-9527" y="3725"/>
            <a:ext cx="5846165" cy="685054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FB939B9-73CE-4644-87BB-72AEBF00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9527" y="-6558"/>
            <a:ext cx="6254832" cy="6874766"/>
            <a:chOff x="-9149" y="3725"/>
            <a:chExt cx="6254832" cy="688720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5F2A0CF-7879-4629-AC2B-4069D77A3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8645"/>
              <a:ext cx="5933139" cy="6387893"/>
            </a:xfrm>
            <a:custGeom>
              <a:avLst/>
              <a:gdLst>
                <a:gd name="connsiteX0" fmla="*/ 5852909 w 5933139"/>
                <a:gd name="connsiteY0" fmla="*/ 2469528 h 6335678"/>
                <a:gd name="connsiteX1" fmla="*/ 5830799 w 5933139"/>
                <a:gd name="connsiteY1" fmla="*/ 2394015 h 6335678"/>
                <a:gd name="connsiteX2" fmla="*/ 5805878 w 5933139"/>
                <a:gd name="connsiteY2" fmla="*/ 2319439 h 6335678"/>
                <a:gd name="connsiteX3" fmla="*/ 5778708 w 5933139"/>
                <a:gd name="connsiteY3" fmla="*/ 2245800 h 6335678"/>
                <a:gd name="connsiteX4" fmla="*/ 5652978 w 5933139"/>
                <a:gd name="connsiteY4" fmla="*/ 1959675 h 6335678"/>
                <a:gd name="connsiteX5" fmla="*/ 5327691 w 5933139"/>
                <a:gd name="connsiteY5" fmla="*/ 1432958 h 6335678"/>
                <a:gd name="connsiteX6" fmla="*/ 4921458 w 5933139"/>
                <a:gd name="connsiteY6" fmla="*/ 973322 h 6335678"/>
                <a:gd name="connsiteX7" fmla="*/ 4450018 w 5933139"/>
                <a:gd name="connsiteY7" fmla="*/ 586764 h 6335678"/>
                <a:gd name="connsiteX8" fmla="*/ 4193311 w 5933139"/>
                <a:gd name="connsiteY8" fmla="*/ 423558 h 6335678"/>
                <a:gd name="connsiteX9" fmla="*/ 3924237 w 5933139"/>
                <a:gd name="connsiteY9" fmla="*/ 281901 h 6335678"/>
                <a:gd name="connsiteX10" fmla="*/ 3352175 w 5933139"/>
                <a:gd name="connsiteY10" fmla="*/ 75786 h 6335678"/>
                <a:gd name="connsiteX11" fmla="*/ 3051997 w 5933139"/>
                <a:gd name="connsiteY11" fmla="*/ 19011 h 6335678"/>
                <a:gd name="connsiteX12" fmla="*/ 2745823 w 5933139"/>
                <a:gd name="connsiteY12" fmla="*/ 86 h 6335678"/>
                <a:gd name="connsiteX13" fmla="*/ 2141720 w 5933139"/>
                <a:gd name="connsiteY13" fmla="*/ 55550 h 6335678"/>
                <a:gd name="connsiteX14" fmla="*/ 1551295 w 5933139"/>
                <a:gd name="connsiteY14" fmla="*/ 216319 h 6335678"/>
                <a:gd name="connsiteX15" fmla="*/ 1001718 w 5933139"/>
                <a:gd name="connsiteY15" fmla="*/ 498134 h 6335678"/>
                <a:gd name="connsiteX16" fmla="*/ 754755 w 5933139"/>
                <a:gd name="connsiteY16" fmla="*/ 685886 h 6335678"/>
                <a:gd name="connsiteX17" fmla="*/ 533462 w 5933139"/>
                <a:gd name="connsiteY17" fmla="*/ 903056 h 6335678"/>
                <a:gd name="connsiteX18" fmla="*/ 0 w 5933139"/>
                <a:gd name="connsiteY18" fmla="*/ 1646568 h 6335678"/>
                <a:gd name="connsiteX19" fmla="*/ 0 w 5933139"/>
                <a:gd name="connsiteY19" fmla="*/ 4709059 h 6335678"/>
                <a:gd name="connsiteX20" fmla="*/ 120671 w 5933139"/>
                <a:gd name="connsiteY20" fmla="*/ 4907491 h 6335678"/>
                <a:gd name="connsiteX21" fmla="*/ 507979 w 5933139"/>
                <a:gd name="connsiteY21" fmla="*/ 5384178 h 6335678"/>
                <a:gd name="connsiteX22" fmla="*/ 972112 w 5933139"/>
                <a:gd name="connsiteY22" fmla="*/ 5778607 h 6335678"/>
                <a:gd name="connsiteX23" fmla="*/ 1229943 w 5933139"/>
                <a:gd name="connsiteY23" fmla="*/ 5939939 h 6335678"/>
                <a:gd name="connsiteX24" fmla="*/ 1502389 w 5933139"/>
                <a:gd name="connsiteY24" fmla="*/ 6073913 h 6335678"/>
                <a:gd name="connsiteX25" fmla="*/ 2673870 w 5933139"/>
                <a:gd name="connsiteY25" fmla="*/ 6333993 h 6335678"/>
                <a:gd name="connsiteX26" fmla="*/ 2749196 w 5933139"/>
                <a:gd name="connsiteY26" fmla="*/ 6335679 h 6335678"/>
                <a:gd name="connsiteX27" fmla="*/ 2787983 w 5933139"/>
                <a:gd name="connsiteY27" fmla="*/ 6335492 h 6335678"/>
                <a:gd name="connsiteX28" fmla="*/ 2826770 w 5933139"/>
                <a:gd name="connsiteY28" fmla="*/ 6334368 h 6335678"/>
                <a:gd name="connsiteX29" fmla="*/ 2981918 w 5933139"/>
                <a:gd name="connsiteY29" fmla="*/ 6319939 h 6335678"/>
                <a:gd name="connsiteX30" fmla="*/ 3285282 w 5933139"/>
                <a:gd name="connsiteY30" fmla="*/ 6241803 h 6335678"/>
                <a:gd name="connsiteX31" fmla="*/ 3566347 w 5933139"/>
                <a:gd name="connsiteY31" fmla="*/ 6104831 h 6335678"/>
                <a:gd name="connsiteX32" fmla="*/ 3818369 w 5933139"/>
                <a:gd name="connsiteY32" fmla="*/ 5926823 h 6335678"/>
                <a:gd name="connsiteX33" fmla="*/ 4044908 w 5933139"/>
                <a:gd name="connsiteY33" fmla="*/ 5726329 h 6335678"/>
                <a:gd name="connsiteX34" fmla="*/ 4151151 w 5933139"/>
                <a:gd name="connsiteY34" fmla="*/ 5622147 h 6335678"/>
                <a:gd name="connsiteX35" fmla="*/ 4253834 w 5933139"/>
                <a:gd name="connsiteY35" fmla="*/ 5516841 h 6335678"/>
                <a:gd name="connsiteX36" fmla="*/ 4452453 w 5933139"/>
                <a:gd name="connsiteY36" fmla="*/ 5306979 h 6335678"/>
                <a:gd name="connsiteX37" fmla="*/ 4548578 w 5933139"/>
                <a:gd name="connsiteY37" fmla="*/ 5202797 h 6335678"/>
                <a:gd name="connsiteX38" fmla="*/ 4596546 w 5933139"/>
                <a:gd name="connsiteY38" fmla="*/ 5151456 h 6335678"/>
                <a:gd name="connsiteX39" fmla="*/ 4643016 w 5933139"/>
                <a:gd name="connsiteY39" fmla="*/ 5103300 h 6335678"/>
                <a:gd name="connsiteX40" fmla="*/ 4739515 w 5933139"/>
                <a:gd name="connsiteY40" fmla="*/ 5013172 h 6335678"/>
                <a:gd name="connsiteX41" fmla="*/ 4842198 w 5933139"/>
                <a:gd name="connsiteY41" fmla="*/ 4930164 h 6335678"/>
                <a:gd name="connsiteX42" fmla="*/ 5071360 w 5933139"/>
                <a:gd name="connsiteY42" fmla="*/ 4780449 h 6335678"/>
                <a:gd name="connsiteX43" fmla="*/ 5332001 w 5933139"/>
                <a:gd name="connsiteY43" fmla="*/ 4615932 h 6335678"/>
                <a:gd name="connsiteX44" fmla="*/ 5397396 w 5933139"/>
                <a:gd name="connsiteY44" fmla="*/ 4563655 h 6335678"/>
                <a:gd name="connsiteX45" fmla="*/ 5459417 w 5933139"/>
                <a:gd name="connsiteY45" fmla="*/ 4505380 h 6335678"/>
                <a:gd name="connsiteX46" fmla="*/ 5567159 w 5933139"/>
                <a:gd name="connsiteY46" fmla="*/ 4374029 h 6335678"/>
                <a:gd name="connsiteX47" fmla="*/ 5651292 w 5933139"/>
                <a:gd name="connsiteY47" fmla="*/ 4231810 h 6335678"/>
                <a:gd name="connsiteX48" fmla="*/ 5716686 w 5933139"/>
                <a:gd name="connsiteY48" fmla="*/ 4085655 h 6335678"/>
                <a:gd name="connsiteX49" fmla="*/ 5820681 w 5933139"/>
                <a:gd name="connsiteY49" fmla="*/ 3791848 h 6335678"/>
                <a:gd name="connsiteX50" fmla="*/ 5898629 w 5933139"/>
                <a:gd name="connsiteY50" fmla="*/ 3487922 h 6335678"/>
                <a:gd name="connsiteX51" fmla="*/ 5932170 w 5933139"/>
                <a:gd name="connsiteY51" fmla="*/ 3174066 h 6335678"/>
                <a:gd name="connsiteX52" fmla="*/ 5872209 w 5933139"/>
                <a:gd name="connsiteY52" fmla="*/ 2545978 h 6335678"/>
                <a:gd name="connsiteX53" fmla="*/ 5852909 w 5933139"/>
                <a:gd name="connsiteY53" fmla="*/ 2469528 h 6335678"/>
                <a:gd name="connsiteX54" fmla="*/ 5507386 w 5933139"/>
                <a:gd name="connsiteY54" fmla="*/ 3724580 h 6335678"/>
                <a:gd name="connsiteX55" fmla="*/ 5453609 w 5933139"/>
                <a:gd name="connsiteY55" fmla="*/ 3989906 h 6335678"/>
                <a:gd name="connsiteX56" fmla="*/ 5344181 w 5933139"/>
                <a:gd name="connsiteY56" fmla="*/ 4220380 h 6335678"/>
                <a:gd name="connsiteX57" fmla="*/ 5171419 w 5933139"/>
                <a:gd name="connsiteY57" fmla="*/ 4388644 h 6335678"/>
                <a:gd name="connsiteX58" fmla="*/ 5057868 w 5933139"/>
                <a:gd name="connsiteY58" fmla="*/ 4453851 h 6335678"/>
                <a:gd name="connsiteX59" fmla="*/ 4930265 w 5933139"/>
                <a:gd name="connsiteY59" fmla="*/ 4516810 h 6335678"/>
                <a:gd name="connsiteX60" fmla="*/ 4660067 w 5933139"/>
                <a:gd name="connsiteY60" fmla="*/ 4664276 h 6335678"/>
                <a:gd name="connsiteX61" fmla="*/ 4408794 w 5933139"/>
                <a:gd name="connsiteY61" fmla="*/ 4857836 h 6335678"/>
                <a:gd name="connsiteX62" fmla="*/ 4352207 w 5933139"/>
                <a:gd name="connsiteY62" fmla="*/ 4911988 h 6335678"/>
                <a:gd name="connsiteX63" fmla="*/ 4299366 w 5933139"/>
                <a:gd name="connsiteY63" fmla="*/ 4965390 h 6335678"/>
                <a:gd name="connsiteX64" fmla="*/ 4197621 w 5933139"/>
                <a:gd name="connsiteY64" fmla="*/ 5074257 h 6335678"/>
                <a:gd name="connsiteX65" fmla="*/ 4008744 w 5933139"/>
                <a:gd name="connsiteY65" fmla="*/ 5297985 h 6335678"/>
                <a:gd name="connsiteX66" fmla="*/ 3917304 w 5933139"/>
                <a:gd name="connsiteY66" fmla="*/ 5409100 h 6335678"/>
                <a:gd name="connsiteX67" fmla="*/ 3826052 w 5933139"/>
                <a:gd name="connsiteY67" fmla="*/ 5518153 h 6335678"/>
                <a:gd name="connsiteX68" fmla="*/ 3637925 w 5933139"/>
                <a:gd name="connsiteY68" fmla="*/ 5725017 h 6335678"/>
                <a:gd name="connsiteX69" fmla="*/ 3433497 w 5933139"/>
                <a:gd name="connsiteY69" fmla="*/ 5906586 h 6335678"/>
                <a:gd name="connsiteX70" fmla="*/ 3204522 w 5933139"/>
                <a:gd name="connsiteY70" fmla="*/ 6046744 h 6335678"/>
                <a:gd name="connsiteX71" fmla="*/ 2950439 w 5933139"/>
                <a:gd name="connsiteY71" fmla="*/ 6129190 h 6335678"/>
                <a:gd name="connsiteX72" fmla="*/ 2816839 w 5933139"/>
                <a:gd name="connsiteY72" fmla="*/ 6146428 h 6335678"/>
                <a:gd name="connsiteX73" fmla="*/ 2749009 w 5933139"/>
                <a:gd name="connsiteY73" fmla="*/ 6149051 h 6335678"/>
                <a:gd name="connsiteX74" fmla="*/ 2678930 w 5933139"/>
                <a:gd name="connsiteY74" fmla="*/ 6148677 h 6335678"/>
                <a:gd name="connsiteX75" fmla="*/ 2125793 w 5933139"/>
                <a:gd name="connsiteY75" fmla="*/ 6065481 h 6335678"/>
                <a:gd name="connsiteX76" fmla="*/ 1610506 w 5933139"/>
                <a:gd name="connsiteY76" fmla="*/ 5851310 h 6335678"/>
                <a:gd name="connsiteX77" fmla="*/ 1373099 w 5933139"/>
                <a:gd name="connsiteY77" fmla="*/ 5706279 h 6335678"/>
                <a:gd name="connsiteX78" fmla="*/ 1315949 w 5933139"/>
                <a:gd name="connsiteY78" fmla="*/ 5666743 h 6335678"/>
                <a:gd name="connsiteX79" fmla="*/ 1259923 w 5933139"/>
                <a:gd name="connsiteY79" fmla="*/ 5625894 h 6335678"/>
                <a:gd name="connsiteX80" fmla="*/ 1204647 w 5933139"/>
                <a:gd name="connsiteY80" fmla="*/ 5583922 h 6335678"/>
                <a:gd name="connsiteX81" fmla="*/ 1150308 w 5933139"/>
                <a:gd name="connsiteY81" fmla="*/ 5540826 h 6335678"/>
                <a:gd name="connsiteX82" fmla="*/ 751569 w 5933139"/>
                <a:gd name="connsiteY82" fmla="*/ 5158015 h 6335678"/>
                <a:gd name="connsiteX83" fmla="*/ 663315 w 5933139"/>
                <a:gd name="connsiteY83" fmla="*/ 5052146 h 6335678"/>
                <a:gd name="connsiteX84" fmla="*/ 580869 w 5933139"/>
                <a:gd name="connsiteY84" fmla="*/ 4942718 h 6335678"/>
                <a:gd name="connsiteX85" fmla="*/ 432279 w 5933139"/>
                <a:gd name="connsiteY85" fmla="*/ 4713369 h 6335678"/>
                <a:gd name="connsiteX86" fmla="*/ 205553 w 5933139"/>
                <a:gd name="connsiteY86" fmla="*/ 4219443 h 6335678"/>
                <a:gd name="connsiteX87" fmla="*/ 79448 w 5933139"/>
                <a:gd name="connsiteY87" fmla="*/ 3693850 h 6335678"/>
                <a:gd name="connsiteX88" fmla="*/ 53590 w 5933139"/>
                <a:gd name="connsiteY88" fmla="*/ 3425339 h 6335678"/>
                <a:gd name="connsiteX89" fmla="*/ 49655 w 5933139"/>
                <a:gd name="connsiteY89" fmla="*/ 3155890 h 6335678"/>
                <a:gd name="connsiteX90" fmla="*/ 67830 w 5933139"/>
                <a:gd name="connsiteY90" fmla="*/ 2886817 h 6335678"/>
                <a:gd name="connsiteX91" fmla="*/ 108679 w 5933139"/>
                <a:gd name="connsiteY91" fmla="*/ 2619992 h 6335678"/>
                <a:gd name="connsiteX92" fmla="*/ 263077 w 5933139"/>
                <a:gd name="connsiteY92" fmla="*/ 2101520 h 6335678"/>
                <a:gd name="connsiteX93" fmla="*/ 837575 w 5933139"/>
                <a:gd name="connsiteY93" fmla="*/ 1186370 h 6335678"/>
                <a:gd name="connsiteX94" fmla="*/ 1031698 w 5933139"/>
                <a:gd name="connsiteY94" fmla="*/ 996932 h 6335678"/>
                <a:gd name="connsiteX95" fmla="*/ 1236688 w 5933139"/>
                <a:gd name="connsiteY95" fmla="*/ 819298 h 6335678"/>
                <a:gd name="connsiteX96" fmla="*/ 1687143 w 5933139"/>
                <a:gd name="connsiteY96" fmla="*/ 511438 h 6335678"/>
                <a:gd name="connsiteX97" fmla="*/ 2196246 w 5933139"/>
                <a:gd name="connsiteY97" fmla="*/ 300639 h 6335678"/>
                <a:gd name="connsiteX98" fmla="*/ 2745823 w 5933139"/>
                <a:gd name="connsiteY98" fmla="*/ 229248 h 6335678"/>
                <a:gd name="connsiteX99" fmla="*/ 3019206 w 5933139"/>
                <a:gd name="connsiteY99" fmla="*/ 252108 h 6335678"/>
                <a:gd name="connsiteX100" fmla="*/ 3288092 w 5933139"/>
                <a:gd name="connsiteY100" fmla="*/ 313006 h 6335678"/>
                <a:gd name="connsiteX101" fmla="*/ 3548172 w 5933139"/>
                <a:gd name="connsiteY101" fmla="*/ 407069 h 6335678"/>
                <a:gd name="connsiteX102" fmla="*/ 3611505 w 5933139"/>
                <a:gd name="connsiteY102" fmla="*/ 435176 h 6335678"/>
                <a:gd name="connsiteX103" fmla="*/ 3674089 w 5933139"/>
                <a:gd name="connsiteY103" fmla="*/ 464968 h 6335678"/>
                <a:gd name="connsiteX104" fmla="*/ 3735736 w 5933139"/>
                <a:gd name="connsiteY104" fmla="*/ 496823 h 6335678"/>
                <a:gd name="connsiteX105" fmla="*/ 3796634 w 5933139"/>
                <a:gd name="connsiteY105" fmla="*/ 530176 h 6335678"/>
                <a:gd name="connsiteX106" fmla="*/ 4251585 w 5933139"/>
                <a:gd name="connsiteY106" fmla="*/ 847405 h 6335678"/>
                <a:gd name="connsiteX107" fmla="*/ 4644515 w 5933139"/>
                <a:gd name="connsiteY107" fmla="*/ 1236775 h 6335678"/>
                <a:gd name="connsiteX108" fmla="*/ 4816527 w 5933139"/>
                <a:gd name="connsiteY108" fmla="*/ 1451883 h 6335678"/>
                <a:gd name="connsiteX109" fmla="*/ 4970738 w 5933139"/>
                <a:gd name="connsiteY109" fmla="*/ 1678610 h 6335678"/>
                <a:gd name="connsiteX110" fmla="*/ 5223885 w 5933139"/>
                <a:gd name="connsiteY110" fmla="*/ 2159232 h 6335678"/>
                <a:gd name="connsiteX111" fmla="*/ 5395709 w 5933139"/>
                <a:gd name="connsiteY111" fmla="*/ 2666087 h 6335678"/>
                <a:gd name="connsiteX112" fmla="*/ 5458855 w 5933139"/>
                <a:gd name="connsiteY112" fmla="*/ 2924292 h 6335678"/>
                <a:gd name="connsiteX113" fmla="*/ 5499142 w 5933139"/>
                <a:gd name="connsiteY113" fmla="*/ 3186995 h 6335678"/>
                <a:gd name="connsiteX114" fmla="*/ 5516755 w 5933139"/>
                <a:gd name="connsiteY114" fmla="*/ 3454007 h 6335678"/>
                <a:gd name="connsiteX115" fmla="*/ 5507386 w 5933139"/>
                <a:gd name="connsiteY115" fmla="*/ 3724580 h 63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5933139" h="6335678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7E50BFD-51AC-4ACE-820C-A285E6672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41478"/>
              <a:ext cx="5953893" cy="6434152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317011 w 5953893"/>
                <a:gd name="connsiteY8" fmla="*/ 3797009 h 6434152"/>
                <a:gd name="connsiteX9" fmla="*/ 5176478 w 5953893"/>
                <a:gd name="connsiteY9" fmla="*/ 4100747 h 6434152"/>
                <a:gd name="connsiteX10" fmla="*/ 4942257 w 5953893"/>
                <a:gd name="connsiteY10" fmla="*/ 4250274 h 6434152"/>
                <a:gd name="connsiteX11" fmla="*/ 4216171 w 5953893"/>
                <a:gd name="connsiteY11" fmla="*/ 4773243 h 6434152"/>
                <a:gd name="connsiteX12" fmla="*/ 3905125 w 5953893"/>
                <a:gd name="connsiteY12" fmla="*/ 5105837 h 6434152"/>
                <a:gd name="connsiteX13" fmla="*/ 3308329 w 5953893"/>
                <a:gd name="connsiteY13" fmla="*/ 5682022 h 6434152"/>
                <a:gd name="connsiteX14" fmla="*/ 2739452 w 5953893"/>
                <a:gd name="connsiteY14" fmla="*/ 5870898 h 6434152"/>
                <a:gd name="connsiteX15" fmla="*/ 1647419 w 5953893"/>
                <a:gd name="connsiteY15" fmla="*/ 5625809 h 6434152"/>
                <a:gd name="connsiteX16" fmla="*/ 781175 w 5953893"/>
                <a:gd name="connsiteY16" fmla="*/ 4960620 h 6434152"/>
                <a:gd name="connsiteX17" fmla="*/ 312545 w 5953893"/>
                <a:gd name="connsiteY17" fmla="*/ 4165205 h 6434152"/>
                <a:gd name="connsiteX18" fmla="*/ 142032 w 5953893"/>
                <a:gd name="connsiteY18" fmla="*/ 3217451 h 6434152"/>
                <a:gd name="connsiteX19" fmla="*/ 347210 w 5953893"/>
                <a:gd name="connsiteY19" fmla="*/ 2181444 h 6434152"/>
                <a:gd name="connsiteX20" fmla="*/ 906155 w 5953893"/>
                <a:gd name="connsiteY20" fmla="*/ 1337497 h 6434152"/>
                <a:gd name="connsiteX21" fmla="*/ 2739265 w 5953893"/>
                <a:gd name="connsiteY21" fmla="*/ 563818 h 6434152"/>
                <a:gd name="connsiteX22" fmla="*/ 3849849 w 5953893"/>
                <a:gd name="connsiteY22" fmla="*/ 881796 h 6434152"/>
                <a:gd name="connsiteX23" fmla="*/ 4834515 w 5953893"/>
                <a:gd name="connsiteY23" fmla="*/ 1742419 h 6434152"/>
                <a:gd name="connsiteX24" fmla="*/ 5325256 w 5953893"/>
                <a:gd name="connsiteY24" fmla="*/ 2742076 h 6434152"/>
                <a:gd name="connsiteX25" fmla="*/ 5317011 w 5953893"/>
                <a:gd name="connsiteY25" fmla="*/ 3797009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0394888-C50F-41C1-92D4-0E2B4315A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1462"/>
              <a:ext cx="5953893" cy="6444167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208520 w 5953893"/>
                <a:gd name="connsiteY8" fmla="*/ 3766654 h 6434152"/>
                <a:gd name="connsiteX9" fmla="*/ 5094782 w 5953893"/>
                <a:gd name="connsiteY9" fmla="*/ 4022985 h 6434152"/>
                <a:gd name="connsiteX10" fmla="*/ 4888855 w 5953893"/>
                <a:gd name="connsiteY10" fmla="*/ 4150777 h 6434152"/>
                <a:gd name="connsiteX11" fmla="*/ 4135411 w 5953893"/>
                <a:gd name="connsiteY11" fmla="*/ 4694170 h 6434152"/>
                <a:gd name="connsiteX12" fmla="*/ 3821555 w 5953893"/>
                <a:gd name="connsiteY12" fmla="*/ 5029762 h 6434152"/>
                <a:gd name="connsiteX13" fmla="*/ 2739265 w 5953893"/>
                <a:gd name="connsiteY13" fmla="*/ 5758097 h 6434152"/>
                <a:gd name="connsiteX14" fmla="*/ 1695575 w 5953893"/>
                <a:gd name="connsiteY14" fmla="*/ 5523876 h 6434152"/>
                <a:gd name="connsiteX15" fmla="*/ 866619 w 5953893"/>
                <a:gd name="connsiteY15" fmla="*/ 4887356 h 6434152"/>
                <a:gd name="connsiteX16" fmla="*/ 417851 w 5953893"/>
                <a:gd name="connsiteY16" fmla="*/ 4125481 h 6434152"/>
                <a:gd name="connsiteX17" fmla="*/ 254645 w 5953893"/>
                <a:gd name="connsiteY17" fmla="*/ 3217264 h 6434152"/>
                <a:gd name="connsiteX18" fmla="*/ 451204 w 5953893"/>
                <a:gd name="connsiteY18" fmla="*/ 2224540 h 6434152"/>
                <a:gd name="connsiteX19" fmla="*/ 986540 w 5953893"/>
                <a:gd name="connsiteY19" fmla="*/ 1416383 h 6434152"/>
                <a:gd name="connsiteX20" fmla="*/ 2739452 w 5953893"/>
                <a:gd name="connsiteY20" fmla="*/ 676244 h 6434152"/>
                <a:gd name="connsiteX21" fmla="*/ 3794947 w 5953893"/>
                <a:gd name="connsiteY21" fmla="*/ 979795 h 6434152"/>
                <a:gd name="connsiteX22" fmla="*/ 4744762 w 5953893"/>
                <a:gd name="connsiteY22" fmla="*/ 1810250 h 6434152"/>
                <a:gd name="connsiteX23" fmla="*/ 5215827 w 5953893"/>
                <a:gd name="connsiteY23" fmla="*/ 2768871 h 6434152"/>
                <a:gd name="connsiteX24" fmla="*/ 5208520 w 5953893"/>
                <a:gd name="connsiteY24" fmla="*/ 3766654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F22C906F-48B7-4ABF-B36E-0C0A056A5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3725"/>
              <a:ext cx="5855313" cy="6880645"/>
            </a:xfrm>
            <a:custGeom>
              <a:avLst/>
              <a:gdLst>
                <a:gd name="connsiteX0" fmla="*/ 5855313 w 5855313"/>
                <a:gd name="connsiteY0" fmla="*/ 4717843 h 6880645"/>
                <a:gd name="connsiteX1" fmla="*/ 5855313 w 5855313"/>
                <a:gd name="connsiteY1" fmla="*/ 6880645 h 6880645"/>
                <a:gd name="connsiteX2" fmla="*/ 0 w 5855313"/>
                <a:gd name="connsiteY2" fmla="*/ 6880645 h 6880645"/>
                <a:gd name="connsiteX3" fmla="*/ 0 w 5855313"/>
                <a:gd name="connsiteY3" fmla="*/ 5268859 h 6880645"/>
                <a:gd name="connsiteX4" fmla="*/ 36130 w 5855313"/>
                <a:gd name="connsiteY4" fmla="*/ 5327430 h 6880645"/>
                <a:gd name="connsiteX5" fmla="*/ 2782721 w 5855313"/>
                <a:gd name="connsiteY5" fmla="*/ 6765687 h 6880645"/>
                <a:gd name="connsiteX6" fmla="*/ 5834702 w 5855313"/>
                <a:gd name="connsiteY6" fmla="*/ 4773305 h 6880645"/>
                <a:gd name="connsiteX7" fmla="*/ 9148 w 5855313"/>
                <a:gd name="connsiteY7" fmla="*/ 0 h 6880645"/>
                <a:gd name="connsiteX8" fmla="*/ 5855312 w 5855313"/>
                <a:gd name="connsiteY8" fmla="*/ 0 h 6880645"/>
                <a:gd name="connsiteX9" fmla="*/ 5855312 w 5855313"/>
                <a:gd name="connsiteY9" fmla="*/ 96759 h 6880645"/>
                <a:gd name="connsiteX10" fmla="*/ 5855313 w 5855313"/>
                <a:gd name="connsiteY10" fmla="*/ 96759 h 6880645"/>
                <a:gd name="connsiteX11" fmla="*/ 5855313 w 5855313"/>
                <a:gd name="connsiteY11" fmla="*/ 2289203 h 6880645"/>
                <a:gd name="connsiteX12" fmla="*/ 5834702 w 5855313"/>
                <a:gd name="connsiteY12" fmla="*/ 2233742 h 6880645"/>
                <a:gd name="connsiteX13" fmla="*/ 2782721 w 5855313"/>
                <a:gd name="connsiteY13" fmla="*/ 241359 h 6880645"/>
                <a:gd name="connsiteX14" fmla="*/ 36130 w 5855313"/>
                <a:gd name="connsiteY14" fmla="*/ 1679616 h 6880645"/>
                <a:gd name="connsiteX15" fmla="*/ 0 w 5855313"/>
                <a:gd name="connsiteY15" fmla="*/ 1738187 h 6880645"/>
                <a:gd name="connsiteX16" fmla="*/ 0 w 5855313"/>
                <a:gd name="connsiteY16" fmla="*/ 96759 h 6880645"/>
                <a:gd name="connsiteX17" fmla="*/ 9148 w 5855313"/>
                <a:gd name="connsiteY17" fmla="*/ 96759 h 688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5313" h="6880645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ABE2AA-A788-450F-94A8-AED4B698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6370"/>
              <a:ext cx="6254832" cy="6864558"/>
            </a:xfrm>
            <a:custGeom>
              <a:avLst/>
              <a:gdLst>
                <a:gd name="connsiteX0" fmla="*/ 2766060 w 6254832"/>
                <a:gd name="connsiteY0" fmla="*/ 0 h 6864558"/>
                <a:gd name="connsiteX1" fmla="*/ 0 w 6254832"/>
                <a:gd name="connsiteY1" fmla="*/ 1340683 h 6864558"/>
                <a:gd name="connsiteX2" fmla="*/ 0 w 6254832"/>
                <a:gd name="connsiteY2" fmla="*/ 2201306 h 6864558"/>
                <a:gd name="connsiteX3" fmla="*/ 1312 w 6254832"/>
                <a:gd name="connsiteY3" fmla="*/ 2197746 h 6864558"/>
                <a:gd name="connsiteX4" fmla="*/ 612723 w 6254832"/>
                <a:gd name="connsiteY4" fmla="*/ 1201649 h 6864558"/>
                <a:gd name="connsiteX5" fmla="*/ 1571344 w 6254832"/>
                <a:gd name="connsiteY5" fmla="*/ 483245 h 6864558"/>
                <a:gd name="connsiteX6" fmla="*/ 1641235 w 6254832"/>
                <a:gd name="connsiteY6" fmla="*/ 452328 h 6864558"/>
                <a:gd name="connsiteX7" fmla="*/ 1711502 w 6254832"/>
                <a:gd name="connsiteY7" fmla="*/ 422348 h 6864558"/>
                <a:gd name="connsiteX8" fmla="*/ 1783080 w 6254832"/>
                <a:gd name="connsiteY8" fmla="*/ 395178 h 6864558"/>
                <a:gd name="connsiteX9" fmla="*/ 1855220 w 6254832"/>
                <a:gd name="connsiteY9" fmla="*/ 369133 h 6864558"/>
                <a:gd name="connsiteX10" fmla="*/ 1928297 w 6254832"/>
                <a:gd name="connsiteY10" fmla="*/ 345711 h 6864558"/>
                <a:gd name="connsiteX11" fmla="*/ 2001749 w 6254832"/>
                <a:gd name="connsiteY11" fmla="*/ 323600 h 6864558"/>
                <a:gd name="connsiteX12" fmla="*/ 2076138 w 6254832"/>
                <a:gd name="connsiteY12" fmla="*/ 304300 h 6864558"/>
                <a:gd name="connsiteX13" fmla="*/ 2113426 w 6254832"/>
                <a:gd name="connsiteY13" fmla="*/ 294744 h 6864558"/>
                <a:gd name="connsiteX14" fmla="*/ 2132163 w 6254832"/>
                <a:gd name="connsiteY14" fmla="*/ 290060 h 6864558"/>
                <a:gd name="connsiteX15" fmla="*/ 2151089 w 6254832"/>
                <a:gd name="connsiteY15" fmla="*/ 286312 h 6864558"/>
                <a:gd name="connsiteX16" fmla="*/ 2763249 w 6254832"/>
                <a:gd name="connsiteY16" fmla="*/ 218482 h 6864558"/>
                <a:gd name="connsiteX17" fmla="*/ 3372225 w 6254832"/>
                <a:gd name="connsiteY17" fmla="*/ 301302 h 6864558"/>
                <a:gd name="connsiteX18" fmla="*/ 3663596 w 6254832"/>
                <a:gd name="connsiteY18" fmla="*/ 398364 h 6864558"/>
                <a:gd name="connsiteX19" fmla="*/ 3941663 w 6254832"/>
                <a:gd name="connsiteY19" fmla="*/ 526717 h 6864558"/>
                <a:gd name="connsiteX20" fmla="*/ 4204366 w 6254832"/>
                <a:gd name="connsiteY20" fmla="*/ 681678 h 6864558"/>
                <a:gd name="connsiteX21" fmla="*/ 4450018 w 6254832"/>
                <a:gd name="connsiteY21" fmla="*/ 860061 h 6864558"/>
                <a:gd name="connsiteX22" fmla="*/ 4678992 w 6254832"/>
                <a:gd name="connsiteY22" fmla="*/ 1057181 h 6864558"/>
                <a:gd name="connsiteX23" fmla="*/ 4889791 w 6254832"/>
                <a:gd name="connsiteY23" fmla="*/ 1271166 h 6864558"/>
                <a:gd name="connsiteX24" fmla="*/ 5083164 w 6254832"/>
                <a:gd name="connsiteY24" fmla="*/ 1498642 h 6864558"/>
                <a:gd name="connsiteX25" fmla="*/ 5257987 w 6254832"/>
                <a:gd name="connsiteY25" fmla="*/ 1738484 h 6864558"/>
                <a:gd name="connsiteX26" fmla="*/ 5413510 w 6254832"/>
                <a:gd name="connsiteY26" fmla="*/ 1989195 h 6864558"/>
                <a:gd name="connsiteX27" fmla="*/ 5548609 w 6254832"/>
                <a:gd name="connsiteY27" fmla="*/ 2249462 h 6864558"/>
                <a:gd name="connsiteX28" fmla="*/ 5747791 w 6254832"/>
                <a:gd name="connsiteY28" fmla="*/ 2795666 h 6864558"/>
                <a:gd name="connsiteX29" fmla="*/ 5806814 w 6254832"/>
                <a:gd name="connsiteY29" fmla="*/ 3078980 h 6864558"/>
                <a:gd name="connsiteX30" fmla="*/ 5816933 w 6254832"/>
                <a:gd name="connsiteY30" fmla="*/ 3150558 h 6864558"/>
                <a:gd name="connsiteX31" fmla="*/ 5825178 w 6254832"/>
                <a:gd name="connsiteY31" fmla="*/ 3222323 h 6864558"/>
                <a:gd name="connsiteX32" fmla="*/ 5831923 w 6254832"/>
                <a:gd name="connsiteY32" fmla="*/ 3294276 h 6864558"/>
                <a:gd name="connsiteX33" fmla="*/ 5836233 w 6254832"/>
                <a:gd name="connsiteY33" fmla="*/ 3366416 h 6864558"/>
                <a:gd name="connsiteX34" fmla="*/ 5833047 w 6254832"/>
                <a:gd name="connsiteY34" fmla="*/ 3655726 h 6864558"/>
                <a:gd name="connsiteX35" fmla="*/ 5827426 w 6254832"/>
                <a:gd name="connsiteY35" fmla="*/ 3728054 h 6864558"/>
                <a:gd name="connsiteX36" fmla="*/ 5819556 w 6254832"/>
                <a:gd name="connsiteY36" fmla="*/ 3800194 h 6864558"/>
                <a:gd name="connsiteX37" fmla="*/ 5809063 w 6254832"/>
                <a:gd name="connsiteY37" fmla="*/ 3872147 h 6864558"/>
                <a:gd name="connsiteX38" fmla="*/ 5796696 w 6254832"/>
                <a:gd name="connsiteY38" fmla="*/ 3943912 h 6864558"/>
                <a:gd name="connsiteX39" fmla="*/ 5725305 w 6254832"/>
                <a:gd name="connsiteY39" fmla="*/ 4225165 h 6864558"/>
                <a:gd name="connsiteX40" fmla="*/ 5605384 w 6254832"/>
                <a:gd name="connsiteY40" fmla="*/ 4478312 h 6864558"/>
                <a:gd name="connsiteX41" fmla="*/ 5412573 w 6254832"/>
                <a:gd name="connsiteY41" fmla="*/ 4677306 h 6864558"/>
                <a:gd name="connsiteX42" fmla="*/ 5155867 w 6254832"/>
                <a:gd name="connsiteY42" fmla="*/ 4834703 h 6864558"/>
                <a:gd name="connsiteX43" fmla="*/ 4645452 w 6254832"/>
                <a:gd name="connsiteY43" fmla="*/ 5207396 h 6864558"/>
                <a:gd name="connsiteX44" fmla="*/ 4536211 w 6254832"/>
                <a:gd name="connsiteY44" fmla="*/ 5319072 h 6864558"/>
                <a:gd name="connsiteX45" fmla="*/ 4430343 w 6254832"/>
                <a:gd name="connsiteY45" fmla="*/ 5432061 h 6864558"/>
                <a:gd name="connsiteX46" fmla="*/ 4220668 w 6254832"/>
                <a:gd name="connsiteY46" fmla="*/ 5657663 h 6864558"/>
                <a:gd name="connsiteX47" fmla="*/ 4115174 w 6254832"/>
                <a:gd name="connsiteY47" fmla="*/ 5768777 h 6864558"/>
                <a:gd name="connsiteX48" fmla="*/ 4007245 w 6254832"/>
                <a:gd name="connsiteY48" fmla="*/ 5876707 h 6864558"/>
                <a:gd name="connsiteX49" fmla="*/ 3781081 w 6254832"/>
                <a:gd name="connsiteY49" fmla="*/ 6078887 h 6864558"/>
                <a:gd name="connsiteX50" fmla="*/ 3534493 w 6254832"/>
                <a:gd name="connsiteY50" fmla="*/ 6249775 h 6864558"/>
                <a:gd name="connsiteX51" fmla="*/ 3265232 w 6254832"/>
                <a:gd name="connsiteY51" fmla="*/ 6373068 h 6864558"/>
                <a:gd name="connsiteX52" fmla="*/ 3194779 w 6254832"/>
                <a:gd name="connsiteY52" fmla="*/ 6394804 h 6864558"/>
                <a:gd name="connsiteX53" fmla="*/ 3123575 w 6254832"/>
                <a:gd name="connsiteY53" fmla="*/ 6412792 h 6864558"/>
                <a:gd name="connsiteX54" fmla="*/ 3051435 w 6254832"/>
                <a:gd name="connsiteY54" fmla="*/ 6426471 h 6864558"/>
                <a:gd name="connsiteX55" fmla="*/ 2978733 w 6254832"/>
                <a:gd name="connsiteY55" fmla="*/ 6436214 h 6864558"/>
                <a:gd name="connsiteX56" fmla="*/ 2905656 w 6254832"/>
                <a:gd name="connsiteY56" fmla="*/ 6442211 h 6864558"/>
                <a:gd name="connsiteX57" fmla="*/ 2832204 w 6254832"/>
                <a:gd name="connsiteY57" fmla="*/ 6444459 h 6864558"/>
                <a:gd name="connsiteX58" fmla="*/ 2758565 w 6254832"/>
                <a:gd name="connsiteY58" fmla="*/ 6443335 h 6864558"/>
                <a:gd name="connsiteX59" fmla="*/ 2683239 w 6254832"/>
                <a:gd name="connsiteY59" fmla="*/ 6438463 h 6864558"/>
                <a:gd name="connsiteX60" fmla="*/ 2091503 w 6254832"/>
                <a:gd name="connsiteY60" fmla="*/ 6343275 h 6864558"/>
                <a:gd name="connsiteX61" fmla="*/ 1948347 w 6254832"/>
                <a:gd name="connsiteY61" fmla="*/ 6301490 h 6864558"/>
                <a:gd name="connsiteX62" fmla="*/ 1807626 w 6254832"/>
                <a:gd name="connsiteY62" fmla="*/ 6252585 h 6864558"/>
                <a:gd name="connsiteX63" fmla="*/ 1738297 w 6254832"/>
                <a:gd name="connsiteY63" fmla="*/ 6225790 h 6864558"/>
                <a:gd name="connsiteX64" fmla="*/ 1669529 w 6254832"/>
                <a:gd name="connsiteY64" fmla="*/ 6197684 h 6864558"/>
                <a:gd name="connsiteX65" fmla="*/ 1635239 w 6254832"/>
                <a:gd name="connsiteY65" fmla="*/ 6183630 h 6864558"/>
                <a:gd name="connsiteX66" fmla="*/ 1601699 w 6254832"/>
                <a:gd name="connsiteY66" fmla="*/ 6167891 h 6864558"/>
                <a:gd name="connsiteX67" fmla="*/ 1534618 w 6254832"/>
                <a:gd name="connsiteY67" fmla="*/ 6136411 h 6864558"/>
                <a:gd name="connsiteX68" fmla="*/ 592299 w 6254832"/>
                <a:gd name="connsiteY68" fmla="*/ 5443116 h 6864558"/>
                <a:gd name="connsiteX69" fmla="*/ 0 w 6254832"/>
                <a:gd name="connsiteY69" fmla="*/ 4496675 h 6864558"/>
                <a:gd name="connsiteX70" fmla="*/ 0 w 6254832"/>
                <a:gd name="connsiteY70" fmla="*/ 5523875 h 6864558"/>
                <a:gd name="connsiteX71" fmla="*/ 2766060 w 6254832"/>
                <a:gd name="connsiteY71" fmla="*/ 6864559 h 6864558"/>
                <a:gd name="connsiteX72" fmla="*/ 6254833 w 6254832"/>
                <a:gd name="connsiteY72" fmla="*/ 3432373 h 6864558"/>
                <a:gd name="connsiteX73" fmla="*/ 2766060 w 6254832"/>
                <a:gd name="connsiteY73" fmla="*/ 0 h 686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6254832" h="6864558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76FC4081-2DFB-4EFD-8968-E55EA305B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 anchor="b">
            <a:normAutofit/>
          </a:bodyPr>
          <a:lstStyle/>
          <a:p>
            <a:endParaRPr lang="zh-CN" altLang="en-US" sz="3600">
              <a:solidFill>
                <a:schemeClr val="tx2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C167BF-02C0-46A1-9755-27709ED52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15756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altLang="zh-CN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Thank</a:t>
            </a:r>
            <a:endParaRPr lang="zh-CN" altLang="en-US" sz="48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3353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83bc548-2ded-4b8d-8d9b-935dd29f48fd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83bc548-2ded-4b8d-8d9b-935dd29f48fd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1361</Words>
  <Application>Microsoft Office PowerPoint</Application>
  <PresentationFormat>宽屏</PresentationFormat>
  <Paragraphs>125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微软雅黑</vt:lpstr>
      <vt:lpstr>Arial</vt:lpstr>
      <vt:lpstr>Arial Rounded MT Bold</vt:lpstr>
      <vt:lpstr>Calibri</vt:lpstr>
      <vt:lpstr>Office 主题​​</vt:lpstr>
      <vt:lpstr>第四范式&amp;第五范式</vt:lpstr>
      <vt:lpstr>多值依赖</vt:lpstr>
      <vt:lpstr>判定方法</vt:lpstr>
      <vt:lpstr>平凡多值依赖和非平凡的多值依赖</vt:lpstr>
      <vt:lpstr>多值依赖与函数依赖的区别：</vt:lpstr>
      <vt:lpstr>多值依赖性质：</vt:lpstr>
      <vt:lpstr>第四范式：</vt:lpstr>
      <vt:lpstr>规范为第四范式的方法</vt:lpstr>
      <vt:lpstr>连接依赖基本概念</vt:lpstr>
      <vt:lpstr>第五范式</vt:lpstr>
      <vt:lpstr>示例</vt:lpstr>
      <vt:lpstr>范式分析</vt:lpstr>
      <vt:lpstr>关系模式分解</vt:lpstr>
      <vt:lpstr>分解三个表</vt:lpstr>
      <vt:lpstr>PowerPoint 演示文稿</vt:lpstr>
      <vt:lpstr>示例一</vt:lpstr>
      <vt:lpstr>E-R图</vt:lpstr>
      <vt:lpstr>示例二</vt:lpstr>
      <vt:lpstr>E-R图</vt:lpstr>
      <vt:lpstr>示例三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第四范式&amp;第五范式</dc:title>
  <dc:creator>乔 淋漓的冷汗</dc:creator>
  <cp:lastModifiedBy>乔 淋漓的冷汗</cp:lastModifiedBy>
  <cp:revision>1</cp:revision>
  <dcterms:created xsi:type="dcterms:W3CDTF">2020-11-22T16:55:02Z</dcterms:created>
  <dcterms:modified xsi:type="dcterms:W3CDTF">2020-11-22T16:57:35Z</dcterms:modified>
</cp:coreProperties>
</file>