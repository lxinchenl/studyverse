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1"/>
    <p:sldMasterId id="2147483693" r:id="rId2"/>
  </p:sldMasterIdLst>
  <p:notesMasterIdLst>
    <p:notesMasterId r:id="rId48"/>
  </p:notesMasterIdLst>
  <p:handoutMasterIdLst>
    <p:handoutMasterId r:id="rId49"/>
  </p:handoutMasterIdLst>
  <p:sldIdLst>
    <p:sldId id="531" r:id="rId3"/>
    <p:sldId id="751" r:id="rId4"/>
    <p:sldId id="697" r:id="rId5"/>
    <p:sldId id="664" r:id="rId6"/>
    <p:sldId id="696" r:id="rId7"/>
    <p:sldId id="685" r:id="rId8"/>
    <p:sldId id="693" r:id="rId9"/>
    <p:sldId id="688" r:id="rId10"/>
    <p:sldId id="706" r:id="rId11"/>
    <p:sldId id="689" r:id="rId12"/>
    <p:sldId id="691" r:id="rId13"/>
    <p:sldId id="692" r:id="rId14"/>
    <p:sldId id="759" r:id="rId15"/>
    <p:sldId id="690" r:id="rId16"/>
    <p:sldId id="699" r:id="rId17"/>
    <p:sldId id="700" r:id="rId18"/>
    <p:sldId id="698" r:id="rId19"/>
    <p:sldId id="705" r:id="rId20"/>
    <p:sldId id="707" r:id="rId21"/>
    <p:sldId id="701" r:id="rId22"/>
    <p:sldId id="702" r:id="rId23"/>
    <p:sldId id="703" r:id="rId24"/>
    <p:sldId id="704" r:id="rId25"/>
    <p:sldId id="708" r:id="rId26"/>
    <p:sldId id="709" r:id="rId27"/>
    <p:sldId id="760" r:id="rId28"/>
    <p:sldId id="752" r:id="rId29"/>
    <p:sldId id="774" r:id="rId30"/>
    <p:sldId id="710" r:id="rId31"/>
    <p:sldId id="711" r:id="rId32"/>
    <p:sldId id="761" r:id="rId33"/>
    <p:sldId id="712" r:id="rId34"/>
    <p:sldId id="713" r:id="rId35"/>
    <p:sldId id="714" r:id="rId36"/>
    <p:sldId id="753" r:id="rId37"/>
    <p:sldId id="715" r:id="rId38"/>
    <p:sldId id="754" r:id="rId39"/>
    <p:sldId id="772" r:id="rId40"/>
    <p:sldId id="716" r:id="rId41"/>
    <p:sldId id="720" r:id="rId42"/>
    <p:sldId id="725" r:id="rId43"/>
    <p:sldId id="726" r:id="rId44"/>
    <p:sldId id="730" r:id="rId45"/>
    <p:sldId id="731" r:id="rId46"/>
    <p:sldId id="756" r:id="rId47"/>
  </p:sldIdLst>
  <p:sldSz cx="9144000" cy="6858000" type="screen4x3"/>
  <p:notesSz cx="6662738" cy="983297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 uri="{2D200454-40CA-4A62-9FC3-DE9A4176ACB9}">
      <p15:notesGuideLst xmlns:p15="http://schemas.microsoft.com/office/powerpoint/2012/main">
        <p15:guide id="1" orient="horz" pos="3097">
          <p15:clr>
            <a:srgbClr val="A4A3A4"/>
          </p15:clr>
        </p15:guide>
        <p15:guide id="2" pos="209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00"/>
    <a:srgbClr val="7602AA"/>
    <a:srgbClr val="800080"/>
    <a:srgbClr val="660066"/>
    <a:srgbClr val="0000FF"/>
    <a:srgbClr val="B2B2B2"/>
    <a:srgbClr val="CC0000"/>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9" autoAdjust="0"/>
    <p:restoredTop sz="94569" autoAdjust="0"/>
  </p:normalViewPr>
  <p:slideViewPr>
    <p:cSldViewPr>
      <p:cViewPr varScale="1">
        <p:scale>
          <a:sx n="132" d="100"/>
          <a:sy n="132" d="100"/>
        </p:scale>
        <p:origin x="864" y="68"/>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742"/>
    </p:cViewPr>
  </p:sorterViewPr>
  <p:notesViewPr>
    <p:cSldViewPr>
      <p:cViewPr varScale="1">
        <p:scale>
          <a:sx n="51" d="100"/>
          <a:sy n="51" d="100"/>
        </p:scale>
        <p:origin x="-2148" y="-90"/>
      </p:cViewPr>
      <p:guideLst>
        <p:guide orient="horz" pos="3097"/>
        <p:guide pos="209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descr="Large confetti">
            <a:extLst>
              <a:ext uri="{FF2B5EF4-FFF2-40B4-BE49-F238E27FC236}">
                <a16:creationId xmlns:a16="http://schemas.microsoft.com/office/drawing/2014/main" id="{EA5C050E-0A9C-4D20-A058-0C02D6B28550}"/>
              </a:ext>
            </a:extLst>
          </p:cNvPr>
          <p:cNvSpPr>
            <a:spLocks noGrp="1" noChangeArrowheads="1"/>
          </p:cNvSpPr>
          <p:nvPr>
            <p:ph type="hdr" sz="quarter"/>
          </p:nvPr>
        </p:nvSpPr>
        <p:spPr bwMode="auto">
          <a:xfrm>
            <a:off x="0" y="0"/>
            <a:ext cx="2895600" cy="457200"/>
          </a:xfrm>
          <a:prstGeom prst="rect">
            <a:avLst/>
          </a:prstGeom>
          <a:noFill/>
          <a:ln w="12700" cap="sq">
            <a:noFill/>
            <a:miter lim="800000"/>
            <a:headEnd type="none" w="sm" len="sm"/>
            <a:tailEnd type="none" w="sm" len="sm"/>
          </a:ln>
          <a:effectLst/>
        </p:spPr>
        <p:txBody>
          <a:bodyPr vert="horz" wrap="none" lIns="91440" tIns="45720" rIns="91440" bIns="45720" numCol="1" anchor="ctr" anchorCtr="0" compatLnSpc="1">
            <a:prstTxWarp prst="textNoShape">
              <a:avLst/>
            </a:prstTxWarp>
          </a:bodyPr>
          <a:lstStyle>
            <a:lvl1pPr>
              <a:defRPr kumimoji="1" sz="1200" smtClean="0">
                <a:solidFill>
                  <a:schemeClr val="tx2"/>
                </a:solidFill>
                <a:latin typeface="Times New Roman" pitchFamily="18" charset="0"/>
                <a:ea typeface="宋体" pitchFamily="2" charset="-122"/>
              </a:defRPr>
            </a:lvl1pPr>
          </a:lstStyle>
          <a:p>
            <a:pPr>
              <a:defRPr/>
            </a:pPr>
            <a:endParaRPr lang="zh-CN" altLang="en-US"/>
          </a:p>
        </p:txBody>
      </p:sp>
      <p:sp>
        <p:nvSpPr>
          <p:cNvPr id="107523" name="Rectangle 3" descr="Large confetti">
            <a:extLst>
              <a:ext uri="{FF2B5EF4-FFF2-40B4-BE49-F238E27FC236}">
                <a16:creationId xmlns:a16="http://schemas.microsoft.com/office/drawing/2014/main" id="{E5BB2AE3-1779-4695-9A5D-1154E146AE5D}"/>
              </a:ext>
            </a:extLst>
          </p:cNvPr>
          <p:cNvSpPr>
            <a:spLocks noGrp="1" noChangeArrowheads="1"/>
          </p:cNvSpPr>
          <p:nvPr>
            <p:ph type="dt" sz="quarter" idx="1"/>
          </p:nvPr>
        </p:nvSpPr>
        <p:spPr bwMode="auto">
          <a:xfrm>
            <a:off x="3810000" y="0"/>
            <a:ext cx="2819400" cy="457200"/>
          </a:xfrm>
          <a:prstGeom prst="rect">
            <a:avLst/>
          </a:prstGeom>
          <a:noFill/>
          <a:ln w="12700" cap="sq">
            <a:noFill/>
            <a:miter lim="800000"/>
            <a:headEnd type="none" w="sm" len="sm"/>
            <a:tailEnd type="none" w="sm" len="sm"/>
          </a:ln>
          <a:effectLst/>
        </p:spPr>
        <p:txBody>
          <a:bodyPr vert="horz" wrap="none" lIns="91440" tIns="45720" rIns="91440" bIns="45720" numCol="1" anchor="ctr" anchorCtr="0" compatLnSpc="1">
            <a:prstTxWarp prst="textNoShape">
              <a:avLst/>
            </a:prstTxWarp>
          </a:bodyPr>
          <a:lstStyle>
            <a:lvl1pPr algn="r">
              <a:defRPr kumimoji="1" sz="1200" smtClean="0">
                <a:solidFill>
                  <a:schemeClr val="tx2"/>
                </a:solidFill>
                <a:latin typeface="Times New Roman" pitchFamily="18" charset="0"/>
                <a:ea typeface="宋体" pitchFamily="2" charset="-122"/>
              </a:defRPr>
            </a:lvl1pPr>
          </a:lstStyle>
          <a:p>
            <a:pPr>
              <a:defRPr/>
            </a:pPr>
            <a:endParaRPr lang="en-US" altLang="zh-CN"/>
          </a:p>
        </p:txBody>
      </p:sp>
      <p:sp>
        <p:nvSpPr>
          <p:cNvPr id="107524" name="Rectangle 4" descr="Large confetti">
            <a:extLst>
              <a:ext uri="{FF2B5EF4-FFF2-40B4-BE49-F238E27FC236}">
                <a16:creationId xmlns:a16="http://schemas.microsoft.com/office/drawing/2014/main" id="{1518B007-C36C-4801-AB38-50EAB2F917B6}"/>
              </a:ext>
            </a:extLst>
          </p:cNvPr>
          <p:cNvSpPr>
            <a:spLocks noGrp="1" noChangeArrowheads="1"/>
          </p:cNvSpPr>
          <p:nvPr>
            <p:ph type="ftr" sz="quarter" idx="2"/>
          </p:nvPr>
        </p:nvSpPr>
        <p:spPr bwMode="auto">
          <a:xfrm>
            <a:off x="0" y="9372600"/>
            <a:ext cx="28956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defRPr kumimoji="1" sz="1200" smtClean="0">
                <a:solidFill>
                  <a:schemeClr val="tx2"/>
                </a:solidFill>
                <a:latin typeface="Times New Roman" pitchFamily="18" charset="0"/>
                <a:ea typeface="宋体" pitchFamily="2" charset="-122"/>
              </a:defRPr>
            </a:lvl1pPr>
          </a:lstStyle>
          <a:p>
            <a:pPr>
              <a:defRPr/>
            </a:pPr>
            <a:endParaRPr lang="en-US" altLang="zh-CN"/>
          </a:p>
        </p:txBody>
      </p:sp>
      <p:sp>
        <p:nvSpPr>
          <p:cNvPr id="107525" name="Rectangle 5" descr="Large confetti">
            <a:extLst>
              <a:ext uri="{FF2B5EF4-FFF2-40B4-BE49-F238E27FC236}">
                <a16:creationId xmlns:a16="http://schemas.microsoft.com/office/drawing/2014/main" id="{66C7C230-741C-4CA3-A8F2-BB62888A36CB}"/>
              </a:ext>
            </a:extLst>
          </p:cNvPr>
          <p:cNvSpPr>
            <a:spLocks noGrp="1" noChangeArrowheads="1"/>
          </p:cNvSpPr>
          <p:nvPr>
            <p:ph type="sldNum" sz="quarter" idx="3"/>
          </p:nvPr>
        </p:nvSpPr>
        <p:spPr bwMode="auto">
          <a:xfrm>
            <a:off x="3810000" y="9372600"/>
            <a:ext cx="28194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a:defRPr kumimoji="1" sz="1200">
                <a:solidFill>
                  <a:schemeClr val="tx2"/>
                </a:solidFill>
                <a:latin typeface="Times New Roman" panose="02020603050405020304" pitchFamily="18" charset="0"/>
                <a:ea typeface="宋体" panose="02010600030101010101" pitchFamily="2" charset="-122"/>
              </a:defRPr>
            </a:lvl1pPr>
          </a:lstStyle>
          <a:p>
            <a:fld id="{9B38BF82-65C9-4DA7-8975-B3C3AEDB5392}"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7074" name="Rectangle 2">
            <a:extLst>
              <a:ext uri="{FF2B5EF4-FFF2-40B4-BE49-F238E27FC236}">
                <a16:creationId xmlns:a16="http://schemas.microsoft.com/office/drawing/2014/main" id="{81C18B69-0789-46DE-A190-F813A11ADEB0}"/>
              </a:ext>
            </a:extLst>
          </p:cNvPr>
          <p:cNvSpPr>
            <a:spLocks noGrp="1" noChangeArrowheads="1"/>
          </p:cNvSpPr>
          <p:nvPr>
            <p:ph type="hdr" sz="quarter"/>
          </p:nvPr>
        </p:nvSpPr>
        <p:spPr bwMode="auto">
          <a:xfrm>
            <a:off x="0" y="0"/>
            <a:ext cx="2887663" cy="492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200" smtClean="0">
                <a:latin typeface="Times New Roman" pitchFamily="18" charset="0"/>
                <a:ea typeface="宋体" pitchFamily="2" charset="-122"/>
              </a:defRPr>
            </a:lvl1pPr>
          </a:lstStyle>
          <a:p>
            <a:pPr>
              <a:defRPr/>
            </a:pPr>
            <a:endParaRPr lang="zh-CN" altLang="en-US"/>
          </a:p>
        </p:txBody>
      </p:sp>
      <p:sp>
        <p:nvSpPr>
          <p:cNvPr id="387075" name="Rectangle 3">
            <a:extLst>
              <a:ext uri="{FF2B5EF4-FFF2-40B4-BE49-F238E27FC236}">
                <a16:creationId xmlns:a16="http://schemas.microsoft.com/office/drawing/2014/main" id="{EF099D26-8531-4A03-923A-0620CA69B534}"/>
              </a:ext>
            </a:extLst>
          </p:cNvPr>
          <p:cNvSpPr>
            <a:spLocks noGrp="1" noChangeArrowheads="1"/>
          </p:cNvSpPr>
          <p:nvPr>
            <p:ph type="dt" idx="1"/>
          </p:nvPr>
        </p:nvSpPr>
        <p:spPr bwMode="auto">
          <a:xfrm>
            <a:off x="3773488" y="0"/>
            <a:ext cx="2887662" cy="492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200" smtClean="0">
                <a:latin typeface="Times New Roman" pitchFamily="18" charset="0"/>
                <a:ea typeface="宋体" pitchFamily="2" charset="-122"/>
              </a:defRPr>
            </a:lvl1pPr>
          </a:lstStyle>
          <a:p>
            <a:pPr>
              <a:defRPr/>
            </a:pPr>
            <a:endParaRPr lang="en-US" altLang="zh-CN"/>
          </a:p>
        </p:txBody>
      </p:sp>
      <p:sp>
        <p:nvSpPr>
          <p:cNvPr id="98308" name="Rectangle 4">
            <a:extLst>
              <a:ext uri="{FF2B5EF4-FFF2-40B4-BE49-F238E27FC236}">
                <a16:creationId xmlns:a16="http://schemas.microsoft.com/office/drawing/2014/main" id="{91680B2B-B0F8-4885-848E-2F46A594432F}"/>
              </a:ext>
            </a:extLst>
          </p:cNvPr>
          <p:cNvSpPr>
            <a:spLocks noGrp="1" noRot="1" noChangeAspect="1" noChangeArrowheads="1" noTextEdit="1"/>
          </p:cNvSpPr>
          <p:nvPr>
            <p:ph type="sldImg" idx="2"/>
          </p:nvPr>
        </p:nvSpPr>
        <p:spPr bwMode="auto">
          <a:xfrm>
            <a:off x="874713" y="738188"/>
            <a:ext cx="4914900" cy="36861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7077" name="Rectangle 5">
            <a:extLst>
              <a:ext uri="{FF2B5EF4-FFF2-40B4-BE49-F238E27FC236}">
                <a16:creationId xmlns:a16="http://schemas.microsoft.com/office/drawing/2014/main" id="{9F8DD360-975C-4CEA-81CA-B92302A5C8C2}"/>
              </a:ext>
            </a:extLst>
          </p:cNvPr>
          <p:cNvSpPr>
            <a:spLocks noGrp="1" noChangeArrowheads="1"/>
          </p:cNvSpPr>
          <p:nvPr>
            <p:ph type="body" sz="quarter" idx="3"/>
          </p:nvPr>
        </p:nvSpPr>
        <p:spPr bwMode="auto">
          <a:xfrm>
            <a:off x="666750" y="4670425"/>
            <a:ext cx="5329238" cy="44243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87078" name="Rectangle 6">
            <a:extLst>
              <a:ext uri="{FF2B5EF4-FFF2-40B4-BE49-F238E27FC236}">
                <a16:creationId xmlns:a16="http://schemas.microsoft.com/office/drawing/2014/main" id="{5649A96F-C444-4246-A09E-F02D5A2B7986}"/>
              </a:ext>
            </a:extLst>
          </p:cNvPr>
          <p:cNvSpPr>
            <a:spLocks noGrp="1" noChangeArrowheads="1"/>
          </p:cNvSpPr>
          <p:nvPr>
            <p:ph type="ftr" sz="quarter" idx="4"/>
          </p:nvPr>
        </p:nvSpPr>
        <p:spPr bwMode="auto">
          <a:xfrm>
            <a:off x="0" y="9339263"/>
            <a:ext cx="2887663"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1" sz="1200" smtClean="0">
                <a:latin typeface="Times New Roman" pitchFamily="18" charset="0"/>
                <a:ea typeface="宋体" pitchFamily="2" charset="-122"/>
              </a:defRPr>
            </a:lvl1pPr>
          </a:lstStyle>
          <a:p>
            <a:pPr>
              <a:defRPr/>
            </a:pPr>
            <a:endParaRPr lang="en-US" altLang="zh-CN"/>
          </a:p>
        </p:txBody>
      </p:sp>
      <p:sp>
        <p:nvSpPr>
          <p:cNvPr id="387079" name="Rectangle 7">
            <a:extLst>
              <a:ext uri="{FF2B5EF4-FFF2-40B4-BE49-F238E27FC236}">
                <a16:creationId xmlns:a16="http://schemas.microsoft.com/office/drawing/2014/main" id="{338B7315-BF6D-4868-AC65-816B39565C4B}"/>
              </a:ext>
            </a:extLst>
          </p:cNvPr>
          <p:cNvSpPr>
            <a:spLocks noGrp="1" noChangeArrowheads="1"/>
          </p:cNvSpPr>
          <p:nvPr>
            <p:ph type="sldNum" sz="quarter" idx="5"/>
          </p:nvPr>
        </p:nvSpPr>
        <p:spPr bwMode="auto">
          <a:xfrm>
            <a:off x="3773488" y="9339263"/>
            <a:ext cx="2887662"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1" sz="1200">
                <a:latin typeface="Times New Roman" panose="02020603050405020304" pitchFamily="18" charset="0"/>
                <a:ea typeface="宋体" panose="02010600030101010101" pitchFamily="2" charset="-122"/>
              </a:defRPr>
            </a:lvl1pPr>
          </a:lstStyle>
          <a:p>
            <a:fld id="{7B7F2B76-FEDB-4D50-A6A1-7C5A72613517}"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9B25B9DC-34D6-465B-ACB6-7EF0C6ACA63C}"/>
              </a:ext>
            </a:extLst>
          </p:cNvPr>
          <p:cNvGrpSpPr>
            <a:grpSpLocks/>
          </p:cNvGrpSpPr>
          <p:nvPr/>
        </p:nvGrpSpPr>
        <p:grpSpPr bwMode="auto">
          <a:xfrm>
            <a:off x="0" y="2232025"/>
            <a:ext cx="9009063" cy="1052513"/>
            <a:chOff x="0" y="1536"/>
            <a:chExt cx="5675" cy="663"/>
          </a:xfrm>
        </p:grpSpPr>
        <p:grpSp>
          <p:nvGrpSpPr>
            <p:cNvPr id="5" name="Group 3">
              <a:extLst>
                <a:ext uri="{FF2B5EF4-FFF2-40B4-BE49-F238E27FC236}">
                  <a16:creationId xmlns:a16="http://schemas.microsoft.com/office/drawing/2014/main" id="{BFADD1B4-9964-4EC9-B382-54B328D33A26}"/>
                </a:ext>
              </a:extLst>
            </p:cNvPr>
            <p:cNvGrpSpPr>
              <a:grpSpLocks/>
            </p:cNvGrpSpPr>
            <p:nvPr/>
          </p:nvGrpSpPr>
          <p:grpSpPr bwMode="auto">
            <a:xfrm>
              <a:off x="185" y="1604"/>
              <a:ext cx="449" cy="299"/>
              <a:chOff x="720" y="336"/>
              <a:chExt cx="624" cy="432"/>
            </a:xfrm>
          </p:grpSpPr>
          <p:sp>
            <p:nvSpPr>
              <p:cNvPr id="12" name="Rectangle 4">
                <a:extLst>
                  <a:ext uri="{FF2B5EF4-FFF2-40B4-BE49-F238E27FC236}">
                    <a16:creationId xmlns:a16="http://schemas.microsoft.com/office/drawing/2014/main" id="{57CBD01D-2CDE-44B4-A676-42CB64FE4339}"/>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zh-CN" altLang="en-US">
                  <a:latin typeface="Arial" charset="0"/>
                </a:endParaRPr>
              </a:p>
            </p:txBody>
          </p:sp>
          <p:sp>
            <p:nvSpPr>
              <p:cNvPr id="13" name="Rectangle 5">
                <a:extLst>
                  <a:ext uri="{FF2B5EF4-FFF2-40B4-BE49-F238E27FC236}">
                    <a16:creationId xmlns:a16="http://schemas.microsoft.com/office/drawing/2014/main" id="{7CFD323A-45F3-4EA4-B634-2D40A356A2B1}"/>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zh-CN" altLang="en-US">
                  <a:latin typeface="Arial" charset="0"/>
                </a:endParaRPr>
              </a:p>
            </p:txBody>
          </p:sp>
        </p:grpSp>
        <p:grpSp>
          <p:nvGrpSpPr>
            <p:cNvPr id="6" name="Group 6">
              <a:extLst>
                <a:ext uri="{FF2B5EF4-FFF2-40B4-BE49-F238E27FC236}">
                  <a16:creationId xmlns:a16="http://schemas.microsoft.com/office/drawing/2014/main" id="{A9C7C3CD-7A22-4DF4-86B4-18729BD6A025}"/>
                </a:ext>
              </a:extLst>
            </p:cNvPr>
            <p:cNvGrpSpPr>
              <a:grpSpLocks/>
            </p:cNvGrpSpPr>
            <p:nvPr/>
          </p:nvGrpSpPr>
          <p:grpSpPr bwMode="auto">
            <a:xfrm>
              <a:off x="263" y="1870"/>
              <a:ext cx="466" cy="299"/>
              <a:chOff x="912" y="2640"/>
              <a:chExt cx="672" cy="432"/>
            </a:xfrm>
          </p:grpSpPr>
          <p:sp>
            <p:nvSpPr>
              <p:cNvPr id="10" name="Rectangle 7">
                <a:extLst>
                  <a:ext uri="{FF2B5EF4-FFF2-40B4-BE49-F238E27FC236}">
                    <a16:creationId xmlns:a16="http://schemas.microsoft.com/office/drawing/2014/main" id="{7E6948CC-675E-44CF-9B5E-9AC96552A86E}"/>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zh-CN" altLang="en-US">
                  <a:latin typeface="Arial" charset="0"/>
                </a:endParaRPr>
              </a:p>
            </p:txBody>
          </p:sp>
          <p:sp>
            <p:nvSpPr>
              <p:cNvPr id="11" name="Rectangle 8">
                <a:extLst>
                  <a:ext uri="{FF2B5EF4-FFF2-40B4-BE49-F238E27FC236}">
                    <a16:creationId xmlns:a16="http://schemas.microsoft.com/office/drawing/2014/main" id="{603C72CE-613F-4146-9BBD-832CC7A98B98}"/>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zh-CN" altLang="en-US">
                  <a:latin typeface="Arial" charset="0"/>
                </a:endParaRPr>
              </a:p>
            </p:txBody>
          </p:sp>
        </p:grpSp>
        <p:sp>
          <p:nvSpPr>
            <p:cNvPr id="7" name="Rectangle 9">
              <a:extLst>
                <a:ext uri="{FF2B5EF4-FFF2-40B4-BE49-F238E27FC236}">
                  <a16:creationId xmlns:a16="http://schemas.microsoft.com/office/drawing/2014/main" id="{0767B22D-EFCA-416B-89AF-26545D2EF04B}"/>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zh-CN" altLang="en-US">
                <a:latin typeface="Arial" charset="0"/>
              </a:endParaRPr>
            </a:p>
          </p:txBody>
        </p:sp>
        <p:sp>
          <p:nvSpPr>
            <p:cNvPr id="8" name="Rectangle 10">
              <a:extLst>
                <a:ext uri="{FF2B5EF4-FFF2-40B4-BE49-F238E27FC236}">
                  <a16:creationId xmlns:a16="http://schemas.microsoft.com/office/drawing/2014/main" id="{B5A06851-0495-467B-8343-A98F4467B63F}"/>
                </a:ext>
              </a:extLst>
            </p:cNvPr>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zh-CN" altLang="en-US">
                <a:latin typeface="Arial" charset="0"/>
              </a:endParaRPr>
            </a:p>
          </p:txBody>
        </p:sp>
        <p:sp>
          <p:nvSpPr>
            <p:cNvPr id="9" name="Rectangle 11">
              <a:extLst>
                <a:ext uri="{FF2B5EF4-FFF2-40B4-BE49-F238E27FC236}">
                  <a16:creationId xmlns:a16="http://schemas.microsoft.com/office/drawing/2014/main" id="{17CEE720-5736-4264-86DB-7156E9D5ABE1}"/>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zh-CN" altLang="en-US">
                <a:latin typeface="Arial" charset="0"/>
              </a:endParaRPr>
            </a:p>
          </p:txBody>
        </p:sp>
      </p:grpSp>
      <p:sp>
        <p:nvSpPr>
          <p:cNvPr id="752652" name="Rectangle 12"/>
          <p:cNvSpPr>
            <a:spLocks noGrp="1" noChangeArrowheads="1"/>
          </p:cNvSpPr>
          <p:nvPr>
            <p:ph type="ctrTitle"/>
          </p:nvPr>
        </p:nvSpPr>
        <p:spPr>
          <a:xfrm>
            <a:off x="827088" y="1052513"/>
            <a:ext cx="8137525" cy="1462087"/>
          </a:xfrm>
        </p:spPr>
        <p:txBody>
          <a:bodyPr/>
          <a:lstStyle>
            <a:lvl1pPr algn="ctr">
              <a:defRPr sz="4800">
                <a:ea typeface="隶书" pitchFamily="49" charset="-122"/>
              </a:defRPr>
            </a:lvl1pPr>
          </a:lstStyle>
          <a:p>
            <a:r>
              <a:rPr lang="zh-CN" altLang="en-US"/>
              <a:t>单击此处编辑母版标题样式</a:t>
            </a:r>
          </a:p>
        </p:txBody>
      </p:sp>
      <p:sp>
        <p:nvSpPr>
          <p:cNvPr id="752653" name="Rectangle 13"/>
          <p:cNvSpPr>
            <a:spLocks noGrp="1" noChangeArrowheads="1"/>
          </p:cNvSpPr>
          <p:nvPr>
            <p:ph type="subTitle" idx="1"/>
          </p:nvPr>
        </p:nvSpPr>
        <p:spPr>
          <a:xfrm>
            <a:off x="1371600" y="3716338"/>
            <a:ext cx="6400800" cy="1752600"/>
          </a:xfrm>
        </p:spPr>
        <p:txBody>
          <a:bodyPr/>
          <a:lstStyle>
            <a:lvl1pPr marL="0" indent="0" algn="ctr">
              <a:defRPr/>
            </a:lvl1pPr>
          </a:lstStyle>
          <a:p>
            <a:r>
              <a:rPr lang="zh-CN" altLang="en-US"/>
              <a:t>单击此处编辑母版副标题样式</a:t>
            </a:r>
          </a:p>
        </p:txBody>
      </p:sp>
      <p:sp>
        <p:nvSpPr>
          <p:cNvPr id="14" name="Rectangle 14">
            <a:extLst>
              <a:ext uri="{FF2B5EF4-FFF2-40B4-BE49-F238E27FC236}">
                <a16:creationId xmlns:a16="http://schemas.microsoft.com/office/drawing/2014/main" id="{F40F219B-5133-444A-B203-C9B14E93672B}"/>
              </a:ext>
            </a:extLst>
          </p:cNvPr>
          <p:cNvSpPr>
            <a:spLocks noGrp="1" noChangeArrowheads="1"/>
          </p:cNvSpPr>
          <p:nvPr>
            <p:ph type="dt" sz="half" idx="10"/>
          </p:nvPr>
        </p:nvSpPr>
        <p:spPr>
          <a:xfrm>
            <a:off x="990600" y="6248400"/>
            <a:ext cx="1905000" cy="457200"/>
          </a:xfrm>
        </p:spPr>
        <p:txBody>
          <a:bodyPr/>
          <a:lstStyle>
            <a:lvl1pPr>
              <a:defRPr smtClean="0">
                <a:solidFill>
                  <a:schemeClr val="bg2"/>
                </a:solidFill>
              </a:defRPr>
            </a:lvl1pPr>
          </a:lstStyle>
          <a:p>
            <a:pPr>
              <a:defRPr/>
            </a:pPr>
            <a:endParaRPr lang="en-US" altLang="zh-CN"/>
          </a:p>
        </p:txBody>
      </p:sp>
      <p:sp>
        <p:nvSpPr>
          <p:cNvPr id="15" name="Rectangle 15">
            <a:extLst>
              <a:ext uri="{FF2B5EF4-FFF2-40B4-BE49-F238E27FC236}">
                <a16:creationId xmlns:a16="http://schemas.microsoft.com/office/drawing/2014/main" id="{08866A07-CA1F-4ACF-B9F4-837BEBCBB09C}"/>
              </a:ext>
            </a:extLst>
          </p:cNvPr>
          <p:cNvSpPr>
            <a:spLocks noGrp="1" noChangeArrowheads="1"/>
          </p:cNvSpPr>
          <p:nvPr>
            <p:ph type="ftr" sz="quarter" idx="11"/>
          </p:nvPr>
        </p:nvSpPr>
        <p:spPr>
          <a:xfrm>
            <a:off x="3429000" y="6248400"/>
            <a:ext cx="2895600" cy="457200"/>
          </a:xfrm>
        </p:spPr>
        <p:txBody>
          <a:bodyPr/>
          <a:lstStyle>
            <a:lvl1pPr>
              <a:defRPr smtClean="0">
                <a:solidFill>
                  <a:schemeClr val="bg2"/>
                </a:solidFill>
              </a:defRPr>
            </a:lvl1pPr>
          </a:lstStyle>
          <a:p>
            <a:pPr>
              <a:defRPr/>
            </a:pPr>
            <a:endParaRPr lang="en-US" altLang="zh-CN"/>
          </a:p>
        </p:txBody>
      </p:sp>
      <p:sp>
        <p:nvSpPr>
          <p:cNvPr id="16" name="Rectangle 16">
            <a:extLst>
              <a:ext uri="{FF2B5EF4-FFF2-40B4-BE49-F238E27FC236}">
                <a16:creationId xmlns:a16="http://schemas.microsoft.com/office/drawing/2014/main" id="{3A0F621F-8804-49CE-B9F3-06C278EC6C3D}"/>
              </a:ext>
            </a:extLst>
          </p:cNvPr>
          <p:cNvSpPr>
            <a:spLocks noGrp="1" noChangeArrowheads="1"/>
          </p:cNvSpPr>
          <p:nvPr>
            <p:ph type="sldNum" sz="quarter" idx="12"/>
          </p:nvPr>
        </p:nvSpPr>
        <p:spPr>
          <a:xfrm>
            <a:off x="6858000" y="6248400"/>
            <a:ext cx="1905000" cy="457200"/>
          </a:xfrm>
        </p:spPr>
        <p:txBody>
          <a:bodyPr/>
          <a:lstStyle>
            <a:lvl1pPr>
              <a:defRPr smtClean="0">
                <a:solidFill>
                  <a:schemeClr val="bg2"/>
                </a:solidFill>
              </a:defRPr>
            </a:lvl1pPr>
          </a:lstStyle>
          <a:p>
            <a:pPr>
              <a:defRPr/>
            </a:pPr>
            <a:endParaRPr lang="en-US" altLang="zh-CN"/>
          </a:p>
        </p:txBody>
      </p:sp>
    </p:spTree>
    <p:extLst>
      <p:ext uri="{BB962C8B-B14F-4D97-AF65-F5344CB8AC3E}">
        <p14:creationId xmlns:p14="http://schemas.microsoft.com/office/powerpoint/2010/main" val="190200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FBDDE7AC-0429-4205-8205-253D797DB84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1449BF2D-014E-4573-B206-8180ADE89D9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375F832B-BF70-4897-BCF9-CF5EA77B27F1}"/>
              </a:ext>
            </a:extLst>
          </p:cNvPr>
          <p:cNvSpPr>
            <a:spLocks noGrp="1" noChangeArrowheads="1"/>
          </p:cNvSpPr>
          <p:nvPr>
            <p:ph type="sldNum"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414348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a:extLst>
              <a:ext uri="{FF2B5EF4-FFF2-40B4-BE49-F238E27FC236}">
                <a16:creationId xmlns:a16="http://schemas.microsoft.com/office/drawing/2014/main" id="{7898B9D1-C849-49F1-B154-0B735240E7A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AD1B60B8-E546-4C13-8880-D7D70869C14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160610B-E31D-4568-9905-5B83611F8224}"/>
              </a:ext>
            </a:extLst>
          </p:cNvPr>
          <p:cNvSpPr>
            <a:spLocks noGrp="1" noChangeArrowheads="1"/>
          </p:cNvSpPr>
          <p:nvPr>
            <p:ph type="sldNum"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007619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9537" cy="5338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3125" y="1258888"/>
            <a:ext cx="3921125" cy="5338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a:extLst>
              <a:ext uri="{FF2B5EF4-FFF2-40B4-BE49-F238E27FC236}">
                <a16:creationId xmlns:a16="http://schemas.microsoft.com/office/drawing/2014/main" id="{B6C48163-6FC1-4112-A976-DF7554B9337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06786B5C-DC05-421D-AF7E-4484D52F045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EDD70269-81D7-4A09-A8F3-7A31AAE9B4D7}"/>
              </a:ext>
            </a:extLst>
          </p:cNvPr>
          <p:cNvSpPr>
            <a:spLocks noGrp="1" noChangeArrowheads="1"/>
          </p:cNvSpPr>
          <p:nvPr>
            <p:ph type="sldNum"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947023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a:extLst>
              <a:ext uri="{FF2B5EF4-FFF2-40B4-BE49-F238E27FC236}">
                <a16:creationId xmlns:a16="http://schemas.microsoft.com/office/drawing/2014/main" id="{E8C72081-A9F3-43F2-813C-B4D92054699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4AA7C366-9192-4D7C-9F9E-1A00A3FAD34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0C203A52-689B-4B32-AFF3-81AA2293A0EA}"/>
              </a:ext>
            </a:extLst>
          </p:cNvPr>
          <p:cNvSpPr>
            <a:spLocks noGrp="1" noChangeArrowheads="1"/>
          </p:cNvSpPr>
          <p:nvPr>
            <p:ph type="sldNum"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085458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a:extLst>
              <a:ext uri="{FF2B5EF4-FFF2-40B4-BE49-F238E27FC236}">
                <a16:creationId xmlns:a16="http://schemas.microsoft.com/office/drawing/2014/main" id="{3AFF6987-D05E-44F7-AAD7-CF6DA035624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AB39D53D-4BBD-4020-BB42-CFDCBA52AFF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F2D3507D-27E3-4116-A894-B90ED806EAA3}"/>
              </a:ext>
            </a:extLst>
          </p:cNvPr>
          <p:cNvSpPr>
            <a:spLocks noGrp="1" noChangeArrowheads="1"/>
          </p:cNvSpPr>
          <p:nvPr>
            <p:ph type="sldNum"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802406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C56F691D-FC84-41E2-8AAF-CA13924655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246550F0-6D6A-4996-A66A-2268B405A62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6ED8CA96-8402-42FA-B2DB-452AEC6D9A5D}"/>
              </a:ext>
            </a:extLst>
          </p:cNvPr>
          <p:cNvSpPr>
            <a:spLocks noGrp="1" noChangeArrowheads="1"/>
          </p:cNvSpPr>
          <p:nvPr>
            <p:ph type="sldNum"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870161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D7EC4C98-9F70-4EBD-B9AF-3416640B8AE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A08DE200-5DA9-4CCF-B52B-9AB35DF08E3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3A23DEEA-10F1-4CA1-939E-2185EF9F5F1D}"/>
              </a:ext>
            </a:extLst>
          </p:cNvPr>
          <p:cNvSpPr>
            <a:spLocks noGrp="1" noChangeArrowheads="1"/>
          </p:cNvSpPr>
          <p:nvPr>
            <p:ph type="sldNum"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493694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a:extLst>
              <a:ext uri="{FF2B5EF4-FFF2-40B4-BE49-F238E27FC236}">
                <a16:creationId xmlns:a16="http://schemas.microsoft.com/office/drawing/2014/main" id="{B44973BA-6499-4D65-88B4-F236BCCB94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BE74BBE9-06DB-4C08-9C70-1A53F82AAD8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8D28ABC4-192F-4CF0-AA06-134AD8E94800}"/>
              </a:ext>
            </a:extLst>
          </p:cNvPr>
          <p:cNvSpPr>
            <a:spLocks noGrp="1" noChangeArrowheads="1"/>
          </p:cNvSpPr>
          <p:nvPr>
            <p:ph type="sldNum"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83147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D6CC5AAF-5E12-4F8C-8621-AFCAB3110C6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E8DC9024-F820-45D5-9386-DEC64BA16CD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ED8F8D44-1EAA-4C51-85EB-AF7B51C6230C}"/>
              </a:ext>
            </a:extLst>
          </p:cNvPr>
          <p:cNvSpPr>
            <a:spLocks noGrp="1" noChangeArrowheads="1"/>
          </p:cNvSpPr>
          <p:nvPr>
            <p:ph type="sldNum"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796747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1175" y="214313"/>
            <a:ext cx="2082800" cy="63833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214313"/>
            <a:ext cx="6097587" cy="63833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a:extLst>
              <a:ext uri="{FF2B5EF4-FFF2-40B4-BE49-F238E27FC236}">
                <a16:creationId xmlns:a16="http://schemas.microsoft.com/office/drawing/2014/main" id="{8F00C846-C80F-4806-A6F6-963BBE02641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DD97634D-55CA-42A5-815A-06AE1C6293D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E50A98F6-1728-44A7-86DD-8EDB8B674B6D}"/>
              </a:ext>
            </a:extLst>
          </p:cNvPr>
          <p:cNvSpPr>
            <a:spLocks noGrp="1" noChangeArrowheads="1"/>
          </p:cNvSpPr>
          <p:nvPr>
            <p:ph type="sldNum"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994396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D995B126-29E2-47EB-B6BB-D8D38FA447B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BA81B32-80B5-466F-A8DC-BEC3FD8E944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AEC91E6-1B03-4117-B8F5-79DD57208C8F}"/>
              </a:ext>
            </a:extLst>
          </p:cNvPr>
          <p:cNvSpPr>
            <a:spLocks noGrp="1" noChangeArrowheads="1"/>
          </p:cNvSpPr>
          <p:nvPr>
            <p:ph type="sldNum" sz="quarter" idx="12"/>
          </p:nvPr>
        </p:nvSpPr>
        <p:spPr>
          <a:ln/>
        </p:spPr>
        <p:txBody>
          <a:bodyPr/>
          <a:lstStyle>
            <a:lvl1pPr>
              <a:defRPr/>
            </a:lvl1pPr>
          </a:lstStyle>
          <a:p>
            <a:fld id="{11967814-B2E2-4637-8543-18D2BCEF85DE}" type="slidenum">
              <a:rPr lang="zh-CN" altLang="en-US"/>
              <a:pPr/>
              <a:t>‹#›</a:t>
            </a:fld>
            <a:endParaRPr lang="en-US" altLang="zh-CN"/>
          </a:p>
        </p:txBody>
      </p:sp>
    </p:spTree>
    <p:extLst>
      <p:ext uri="{BB962C8B-B14F-4D97-AF65-F5344CB8AC3E}">
        <p14:creationId xmlns:p14="http://schemas.microsoft.com/office/powerpoint/2010/main" val="1563496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AFA64D6-9129-4D8A-9900-97E0AEE53D4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1A4DCD7-B9A5-49C6-9857-FCD53CCDC6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A7E427D-9D66-4E3A-B51B-E71916CC2CC0}"/>
              </a:ext>
            </a:extLst>
          </p:cNvPr>
          <p:cNvSpPr>
            <a:spLocks noGrp="1" noChangeArrowheads="1"/>
          </p:cNvSpPr>
          <p:nvPr>
            <p:ph type="sldNum" sz="quarter" idx="12"/>
          </p:nvPr>
        </p:nvSpPr>
        <p:spPr>
          <a:ln/>
        </p:spPr>
        <p:txBody>
          <a:bodyPr/>
          <a:lstStyle>
            <a:lvl1pPr>
              <a:defRPr/>
            </a:lvl1pPr>
          </a:lstStyle>
          <a:p>
            <a:fld id="{E8F66145-CE8C-4979-83A2-722747DD3220}" type="slidenum">
              <a:rPr lang="zh-CN" altLang="en-US"/>
              <a:pPr/>
              <a:t>‹#›</a:t>
            </a:fld>
            <a:endParaRPr lang="en-US" altLang="zh-CN"/>
          </a:p>
        </p:txBody>
      </p:sp>
    </p:spTree>
    <p:extLst>
      <p:ext uri="{BB962C8B-B14F-4D97-AF65-F5344CB8AC3E}">
        <p14:creationId xmlns:p14="http://schemas.microsoft.com/office/powerpoint/2010/main" val="1778941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165685BF-2EBE-4970-BFB1-A24C40712D2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21B49BE-906A-4514-BBCA-917E78F42A8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717B439-0FC7-43E0-8E20-710DF4A23332}"/>
              </a:ext>
            </a:extLst>
          </p:cNvPr>
          <p:cNvSpPr>
            <a:spLocks noGrp="1" noChangeArrowheads="1"/>
          </p:cNvSpPr>
          <p:nvPr>
            <p:ph type="sldNum" sz="quarter" idx="12"/>
          </p:nvPr>
        </p:nvSpPr>
        <p:spPr>
          <a:ln/>
        </p:spPr>
        <p:txBody>
          <a:bodyPr/>
          <a:lstStyle>
            <a:lvl1pPr>
              <a:defRPr/>
            </a:lvl1pPr>
          </a:lstStyle>
          <a:p>
            <a:fld id="{EEA786A2-2104-44D1-AC2D-DDC105A56B59}" type="slidenum">
              <a:rPr lang="zh-CN" altLang="en-US"/>
              <a:pPr/>
              <a:t>‹#›</a:t>
            </a:fld>
            <a:endParaRPr lang="en-US" altLang="zh-CN"/>
          </a:p>
        </p:txBody>
      </p:sp>
    </p:spTree>
    <p:extLst>
      <p:ext uri="{BB962C8B-B14F-4D97-AF65-F5344CB8AC3E}">
        <p14:creationId xmlns:p14="http://schemas.microsoft.com/office/powerpoint/2010/main" val="3640307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BD71C55E-CFCE-40D9-A256-00827FC7384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BDF70BE-1C52-4814-818D-44AE765569C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C461FD6-9B81-4FF6-9A4B-1ED8E84F32F6}"/>
              </a:ext>
            </a:extLst>
          </p:cNvPr>
          <p:cNvSpPr>
            <a:spLocks noGrp="1" noChangeArrowheads="1"/>
          </p:cNvSpPr>
          <p:nvPr>
            <p:ph type="sldNum" sz="quarter" idx="12"/>
          </p:nvPr>
        </p:nvSpPr>
        <p:spPr>
          <a:ln/>
        </p:spPr>
        <p:txBody>
          <a:bodyPr/>
          <a:lstStyle>
            <a:lvl1pPr>
              <a:defRPr/>
            </a:lvl1pPr>
          </a:lstStyle>
          <a:p>
            <a:fld id="{1EF9FFE5-7FD7-4199-8689-D518713A23F9}" type="slidenum">
              <a:rPr lang="zh-CN" altLang="en-US"/>
              <a:pPr/>
              <a:t>‹#›</a:t>
            </a:fld>
            <a:endParaRPr lang="en-US" altLang="zh-CN"/>
          </a:p>
        </p:txBody>
      </p:sp>
    </p:spTree>
    <p:extLst>
      <p:ext uri="{BB962C8B-B14F-4D97-AF65-F5344CB8AC3E}">
        <p14:creationId xmlns:p14="http://schemas.microsoft.com/office/powerpoint/2010/main" val="1082017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93BB4018-67DE-4386-B6F9-D6B2FC39B15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54A10DCB-C572-406E-A894-7484D45F86B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2537963C-76FA-44C7-B3CB-F4906DF33784}"/>
              </a:ext>
            </a:extLst>
          </p:cNvPr>
          <p:cNvSpPr>
            <a:spLocks noGrp="1" noChangeArrowheads="1"/>
          </p:cNvSpPr>
          <p:nvPr>
            <p:ph type="sldNum" sz="quarter" idx="12"/>
          </p:nvPr>
        </p:nvSpPr>
        <p:spPr>
          <a:ln/>
        </p:spPr>
        <p:txBody>
          <a:bodyPr/>
          <a:lstStyle>
            <a:lvl1pPr>
              <a:defRPr/>
            </a:lvl1pPr>
          </a:lstStyle>
          <a:p>
            <a:fld id="{D856D175-D3C2-4CB6-8F79-6A28634837C9}" type="slidenum">
              <a:rPr lang="zh-CN" altLang="en-US"/>
              <a:pPr/>
              <a:t>‹#›</a:t>
            </a:fld>
            <a:endParaRPr lang="en-US" altLang="zh-CN"/>
          </a:p>
        </p:txBody>
      </p:sp>
    </p:spTree>
    <p:extLst>
      <p:ext uri="{BB962C8B-B14F-4D97-AF65-F5344CB8AC3E}">
        <p14:creationId xmlns:p14="http://schemas.microsoft.com/office/powerpoint/2010/main" val="42662813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DACB9F9C-4292-4EBE-9340-2915A0119BC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FA7CF174-E7E8-49FA-A2EE-F237C3ADCD3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38A09369-AFBF-439A-825E-E93C8C9FE774}"/>
              </a:ext>
            </a:extLst>
          </p:cNvPr>
          <p:cNvSpPr>
            <a:spLocks noGrp="1" noChangeArrowheads="1"/>
          </p:cNvSpPr>
          <p:nvPr>
            <p:ph type="sldNum" sz="quarter" idx="12"/>
          </p:nvPr>
        </p:nvSpPr>
        <p:spPr>
          <a:ln/>
        </p:spPr>
        <p:txBody>
          <a:bodyPr/>
          <a:lstStyle>
            <a:lvl1pPr>
              <a:defRPr/>
            </a:lvl1pPr>
          </a:lstStyle>
          <a:p>
            <a:fld id="{A60F23D6-6222-4E45-8BE3-95B9762DDCAB}" type="slidenum">
              <a:rPr lang="zh-CN" altLang="en-US"/>
              <a:pPr/>
              <a:t>‹#›</a:t>
            </a:fld>
            <a:endParaRPr lang="en-US" altLang="zh-CN"/>
          </a:p>
        </p:txBody>
      </p:sp>
    </p:spTree>
    <p:extLst>
      <p:ext uri="{BB962C8B-B14F-4D97-AF65-F5344CB8AC3E}">
        <p14:creationId xmlns:p14="http://schemas.microsoft.com/office/powerpoint/2010/main" val="709719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BE16F5A-0C50-40B2-9006-28F00443A6D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C2B9C1AA-1956-4FFB-B65F-6D41987A68B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1B1EE76E-7E00-43E9-9C1C-CE1E03B2B3E0}"/>
              </a:ext>
            </a:extLst>
          </p:cNvPr>
          <p:cNvSpPr>
            <a:spLocks noGrp="1" noChangeArrowheads="1"/>
          </p:cNvSpPr>
          <p:nvPr>
            <p:ph type="sldNum" sz="quarter" idx="12"/>
          </p:nvPr>
        </p:nvSpPr>
        <p:spPr>
          <a:ln/>
        </p:spPr>
        <p:txBody>
          <a:bodyPr/>
          <a:lstStyle>
            <a:lvl1pPr>
              <a:defRPr/>
            </a:lvl1pPr>
          </a:lstStyle>
          <a:p>
            <a:fld id="{926EBC6C-A86F-4225-A075-A8FE71CA7F17}" type="slidenum">
              <a:rPr lang="zh-CN" altLang="en-US"/>
              <a:pPr/>
              <a:t>‹#›</a:t>
            </a:fld>
            <a:endParaRPr lang="en-US" altLang="zh-CN"/>
          </a:p>
        </p:txBody>
      </p:sp>
    </p:spTree>
    <p:extLst>
      <p:ext uri="{BB962C8B-B14F-4D97-AF65-F5344CB8AC3E}">
        <p14:creationId xmlns:p14="http://schemas.microsoft.com/office/powerpoint/2010/main" val="18750289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2AF4A5D-B87B-44C8-8788-726997E2592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6E55983-CAC8-46B9-93F4-B8C309F1152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5870E9D-E6A7-4576-9EB0-7318DCE6BC7C}"/>
              </a:ext>
            </a:extLst>
          </p:cNvPr>
          <p:cNvSpPr>
            <a:spLocks noGrp="1" noChangeArrowheads="1"/>
          </p:cNvSpPr>
          <p:nvPr>
            <p:ph type="sldNum" sz="quarter" idx="12"/>
          </p:nvPr>
        </p:nvSpPr>
        <p:spPr>
          <a:ln/>
        </p:spPr>
        <p:txBody>
          <a:bodyPr/>
          <a:lstStyle>
            <a:lvl1pPr>
              <a:defRPr/>
            </a:lvl1pPr>
          </a:lstStyle>
          <a:p>
            <a:fld id="{DE80EB7E-A48D-4F16-B203-AA5B4058A80A}" type="slidenum">
              <a:rPr lang="zh-CN" altLang="en-US"/>
              <a:pPr/>
              <a:t>‹#›</a:t>
            </a:fld>
            <a:endParaRPr lang="en-US" altLang="zh-CN"/>
          </a:p>
        </p:txBody>
      </p:sp>
    </p:spTree>
    <p:extLst>
      <p:ext uri="{BB962C8B-B14F-4D97-AF65-F5344CB8AC3E}">
        <p14:creationId xmlns:p14="http://schemas.microsoft.com/office/powerpoint/2010/main" val="955985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46CA909E-9E75-41E5-8E1C-C764F535639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D52F45D-B0EB-4F09-911A-13A991FA5DF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880DBC1-95AA-433C-B29D-E36D63CB737C}"/>
              </a:ext>
            </a:extLst>
          </p:cNvPr>
          <p:cNvSpPr>
            <a:spLocks noGrp="1" noChangeArrowheads="1"/>
          </p:cNvSpPr>
          <p:nvPr>
            <p:ph type="sldNum" sz="quarter" idx="12"/>
          </p:nvPr>
        </p:nvSpPr>
        <p:spPr>
          <a:ln/>
        </p:spPr>
        <p:txBody>
          <a:bodyPr/>
          <a:lstStyle>
            <a:lvl1pPr>
              <a:defRPr/>
            </a:lvl1pPr>
          </a:lstStyle>
          <a:p>
            <a:fld id="{F0C2D620-5E23-4D9F-A44A-7F6154BA66E3}" type="slidenum">
              <a:rPr lang="zh-CN" altLang="en-US"/>
              <a:pPr/>
              <a:t>‹#›</a:t>
            </a:fld>
            <a:endParaRPr lang="en-US" altLang="zh-CN"/>
          </a:p>
        </p:txBody>
      </p:sp>
    </p:spTree>
    <p:extLst>
      <p:ext uri="{BB962C8B-B14F-4D97-AF65-F5344CB8AC3E}">
        <p14:creationId xmlns:p14="http://schemas.microsoft.com/office/powerpoint/2010/main" val="21775835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33C9F204-4E52-4431-80F7-515B18FBC06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BC204F7-5BA7-4D46-9931-5B538773EB4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A00BD84-C766-4E0F-A78C-762782958F6A}"/>
              </a:ext>
            </a:extLst>
          </p:cNvPr>
          <p:cNvSpPr>
            <a:spLocks noGrp="1" noChangeArrowheads="1"/>
          </p:cNvSpPr>
          <p:nvPr>
            <p:ph type="sldNum" sz="quarter" idx="12"/>
          </p:nvPr>
        </p:nvSpPr>
        <p:spPr>
          <a:ln/>
        </p:spPr>
        <p:txBody>
          <a:bodyPr/>
          <a:lstStyle>
            <a:lvl1pPr>
              <a:defRPr/>
            </a:lvl1pPr>
          </a:lstStyle>
          <a:p>
            <a:fld id="{9354239E-E55C-4924-8713-475095D7A612}" type="slidenum">
              <a:rPr lang="zh-CN" altLang="en-US"/>
              <a:pPr/>
              <a:t>‹#›</a:t>
            </a:fld>
            <a:endParaRPr lang="en-US" altLang="zh-CN"/>
          </a:p>
        </p:txBody>
      </p:sp>
    </p:spTree>
    <p:extLst>
      <p:ext uri="{BB962C8B-B14F-4D97-AF65-F5344CB8AC3E}">
        <p14:creationId xmlns:p14="http://schemas.microsoft.com/office/powerpoint/2010/main" val="21946237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1D79DAD1-3B0F-4BA9-8B44-49367EE1BA2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EE9C2A2-B96D-43FB-8B38-A3EDB38AA51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AFFD007-C353-4F40-9158-971CF4BF65D2}"/>
              </a:ext>
            </a:extLst>
          </p:cNvPr>
          <p:cNvSpPr>
            <a:spLocks noGrp="1" noChangeArrowheads="1"/>
          </p:cNvSpPr>
          <p:nvPr>
            <p:ph type="sldNum" sz="quarter" idx="12"/>
          </p:nvPr>
        </p:nvSpPr>
        <p:spPr>
          <a:ln/>
        </p:spPr>
        <p:txBody>
          <a:bodyPr/>
          <a:lstStyle>
            <a:lvl1pPr>
              <a:defRPr/>
            </a:lvl1pPr>
          </a:lstStyle>
          <a:p>
            <a:fld id="{37AE8E23-1DB5-4A8B-B00E-7297B3DD41C2}" type="slidenum">
              <a:rPr lang="zh-CN" altLang="en-US"/>
              <a:pPr/>
              <a:t>‹#›</a:t>
            </a:fld>
            <a:endParaRPr lang="en-US" altLang="zh-CN"/>
          </a:p>
        </p:txBody>
      </p:sp>
    </p:spTree>
    <p:extLst>
      <p:ext uri="{BB962C8B-B14F-4D97-AF65-F5344CB8AC3E}">
        <p14:creationId xmlns:p14="http://schemas.microsoft.com/office/powerpoint/2010/main" val="2826175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1618" name="Rectangle 2">
            <a:extLst>
              <a:ext uri="{FF2B5EF4-FFF2-40B4-BE49-F238E27FC236}">
                <a16:creationId xmlns:a16="http://schemas.microsoft.com/office/drawing/2014/main" id="{0C75B114-95B7-4B15-80C4-9120E71EB38F}"/>
              </a:ext>
            </a:extLst>
          </p:cNvPr>
          <p:cNvSpPr>
            <a:spLocks noChangeArrowheads="1"/>
          </p:cNvSpPr>
          <p:nvPr/>
        </p:nvSpPr>
        <p:spPr bwMode="ltGray">
          <a:xfrm>
            <a:off x="417513" y="252413"/>
            <a:ext cx="438150" cy="474662"/>
          </a:xfrm>
          <a:prstGeom prst="rect">
            <a:avLst/>
          </a:prstGeom>
          <a:solidFill>
            <a:schemeClr val="accent2"/>
          </a:solidFill>
          <a:ln w="9525">
            <a:noFill/>
            <a:miter lim="800000"/>
            <a:headEnd/>
            <a:tailEnd/>
          </a:ln>
          <a:effectLst/>
        </p:spPr>
        <p:txBody>
          <a:bodyPr wrap="none" anchor="ctr"/>
          <a:lstStyle/>
          <a:p>
            <a:pPr algn="ctr">
              <a:defRPr/>
            </a:pPr>
            <a:endParaRPr kumimoji="1" lang="zh-CN" altLang="en-US" sz="2400">
              <a:latin typeface="Tahoma" pitchFamily="34" charset="0"/>
              <a:ea typeface="宋体" pitchFamily="2" charset="-122"/>
            </a:endParaRPr>
          </a:p>
        </p:txBody>
      </p:sp>
      <p:sp>
        <p:nvSpPr>
          <p:cNvPr id="751619" name="Rectangle 3">
            <a:extLst>
              <a:ext uri="{FF2B5EF4-FFF2-40B4-BE49-F238E27FC236}">
                <a16:creationId xmlns:a16="http://schemas.microsoft.com/office/drawing/2014/main" id="{0F2C78C9-14FC-45DE-96D5-86093366234B}"/>
              </a:ext>
            </a:extLst>
          </p:cNvPr>
          <p:cNvSpPr>
            <a:spLocks noChangeArrowheads="1"/>
          </p:cNvSpPr>
          <p:nvPr/>
        </p:nvSpPr>
        <p:spPr bwMode="ltGray">
          <a:xfrm>
            <a:off x="800100" y="252413"/>
            <a:ext cx="328613" cy="47466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kumimoji="1" lang="zh-CN" altLang="en-US" sz="2400">
              <a:latin typeface="Tahoma" pitchFamily="34" charset="0"/>
              <a:ea typeface="宋体" pitchFamily="2" charset="-122"/>
            </a:endParaRPr>
          </a:p>
        </p:txBody>
      </p:sp>
      <p:sp>
        <p:nvSpPr>
          <p:cNvPr id="751620" name="Rectangle 4">
            <a:extLst>
              <a:ext uri="{FF2B5EF4-FFF2-40B4-BE49-F238E27FC236}">
                <a16:creationId xmlns:a16="http://schemas.microsoft.com/office/drawing/2014/main" id="{05583F37-FEEE-4345-831F-E8EC4B563309}"/>
              </a:ext>
            </a:extLst>
          </p:cNvPr>
          <p:cNvSpPr>
            <a:spLocks noChangeArrowheads="1"/>
          </p:cNvSpPr>
          <p:nvPr/>
        </p:nvSpPr>
        <p:spPr bwMode="ltGray">
          <a:xfrm>
            <a:off x="541338" y="674688"/>
            <a:ext cx="422275" cy="474662"/>
          </a:xfrm>
          <a:prstGeom prst="rect">
            <a:avLst/>
          </a:prstGeom>
          <a:solidFill>
            <a:schemeClr val="folHlink"/>
          </a:solidFill>
          <a:ln w="9525">
            <a:noFill/>
            <a:miter lim="800000"/>
            <a:headEnd/>
            <a:tailEnd/>
          </a:ln>
          <a:effectLst/>
        </p:spPr>
        <p:txBody>
          <a:bodyPr wrap="none" anchor="ctr"/>
          <a:lstStyle/>
          <a:p>
            <a:pPr algn="ctr">
              <a:defRPr/>
            </a:pPr>
            <a:endParaRPr kumimoji="1" lang="zh-CN" altLang="en-US" sz="2400">
              <a:latin typeface="Tahoma" pitchFamily="34" charset="0"/>
              <a:ea typeface="宋体" pitchFamily="2" charset="-122"/>
            </a:endParaRPr>
          </a:p>
        </p:txBody>
      </p:sp>
      <p:sp>
        <p:nvSpPr>
          <p:cNvPr id="751621" name="Rectangle 5">
            <a:extLst>
              <a:ext uri="{FF2B5EF4-FFF2-40B4-BE49-F238E27FC236}">
                <a16:creationId xmlns:a16="http://schemas.microsoft.com/office/drawing/2014/main" id="{9DA40094-621E-4096-9A30-233C7AF4E503}"/>
              </a:ext>
            </a:extLst>
          </p:cNvPr>
          <p:cNvSpPr>
            <a:spLocks noChangeArrowheads="1"/>
          </p:cNvSpPr>
          <p:nvPr/>
        </p:nvSpPr>
        <p:spPr bwMode="ltGray">
          <a:xfrm>
            <a:off x="911225" y="674688"/>
            <a:ext cx="368300" cy="47466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kumimoji="1" lang="zh-CN" altLang="en-US" sz="2400">
              <a:latin typeface="Tahoma" pitchFamily="34" charset="0"/>
              <a:ea typeface="宋体" pitchFamily="2" charset="-122"/>
            </a:endParaRPr>
          </a:p>
        </p:txBody>
      </p:sp>
      <p:sp>
        <p:nvSpPr>
          <p:cNvPr id="751622" name="Rectangle 6">
            <a:extLst>
              <a:ext uri="{FF2B5EF4-FFF2-40B4-BE49-F238E27FC236}">
                <a16:creationId xmlns:a16="http://schemas.microsoft.com/office/drawing/2014/main" id="{5520AA00-4F1D-4CFB-8F84-79C538ED6366}"/>
              </a:ext>
            </a:extLst>
          </p:cNvPr>
          <p:cNvSpPr>
            <a:spLocks noChangeArrowheads="1"/>
          </p:cNvSpPr>
          <p:nvPr/>
        </p:nvSpPr>
        <p:spPr bwMode="ltGray">
          <a:xfrm>
            <a:off x="127000" y="601663"/>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kumimoji="1" lang="zh-CN" altLang="en-US" sz="2400">
              <a:latin typeface="Tahoma" pitchFamily="34" charset="0"/>
              <a:ea typeface="宋体" pitchFamily="2" charset="-122"/>
            </a:endParaRPr>
          </a:p>
        </p:txBody>
      </p:sp>
      <p:sp>
        <p:nvSpPr>
          <p:cNvPr id="751623" name="Rectangle 7">
            <a:extLst>
              <a:ext uri="{FF2B5EF4-FFF2-40B4-BE49-F238E27FC236}">
                <a16:creationId xmlns:a16="http://schemas.microsoft.com/office/drawing/2014/main" id="{1B8F1EFF-7995-4A78-8315-B5CC0FBE3EE7}"/>
              </a:ext>
            </a:extLst>
          </p:cNvPr>
          <p:cNvSpPr>
            <a:spLocks noChangeArrowheads="1"/>
          </p:cNvSpPr>
          <p:nvPr/>
        </p:nvSpPr>
        <p:spPr bwMode="gray">
          <a:xfrm>
            <a:off x="762000" y="144463"/>
            <a:ext cx="31750" cy="1052512"/>
          </a:xfrm>
          <a:prstGeom prst="rect">
            <a:avLst/>
          </a:prstGeom>
          <a:solidFill>
            <a:schemeClr val="bg2"/>
          </a:solidFill>
          <a:ln w="9525">
            <a:noFill/>
            <a:miter lim="800000"/>
            <a:headEnd/>
            <a:tailEnd/>
          </a:ln>
          <a:effectLst/>
        </p:spPr>
        <p:txBody>
          <a:bodyPr wrap="none" anchor="ctr"/>
          <a:lstStyle/>
          <a:p>
            <a:pPr algn="ctr">
              <a:defRPr/>
            </a:pPr>
            <a:endParaRPr kumimoji="1" lang="zh-CN" altLang="en-US" sz="2400">
              <a:latin typeface="Tahoma" pitchFamily="34" charset="0"/>
              <a:ea typeface="宋体" pitchFamily="2" charset="-122"/>
            </a:endParaRPr>
          </a:p>
        </p:txBody>
      </p:sp>
      <p:sp>
        <p:nvSpPr>
          <p:cNvPr id="751624" name="Rectangle 8">
            <a:extLst>
              <a:ext uri="{FF2B5EF4-FFF2-40B4-BE49-F238E27FC236}">
                <a16:creationId xmlns:a16="http://schemas.microsoft.com/office/drawing/2014/main" id="{3520C3CB-7022-4483-9277-B3D63139D7F5}"/>
              </a:ext>
            </a:extLst>
          </p:cNvPr>
          <p:cNvSpPr>
            <a:spLocks noChangeArrowheads="1"/>
          </p:cNvSpPr>
          <p:nvPr/>
        </p:nvSpPr>
        <p:spPr bwMode="gray">
          <a:xfrm>
            <a:off x="442913" y="935038"/>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kumimoji="1" lang="zh-CN" altLang="en-US" sz="2400">
              <a:latin typeface="Tahoma" pitchFamily="34" charset="0"/>
              <a:ea typeface="宋体" pitchFamily="2" charset="-122"/>
            </a:endParaRPr>
          </a:p>
        </p:txBody>
      </p:sp>
      <p:sp>
        <p:nvSpPr>
          <p:cNvPr id="751625" name="Rectangle 9">
            <a:extLst>
              <a:ext uri="{FF2B5EF4-FFF2-40B4-BE49-F238E27FC236}">
                <a16:creationId xmlns:a16="http://schemas.microsoft.com/office/drawing/2014/main" id="{98EA0657-03BB-42F1-8DC1-84846E6F53F3}"/>
              </a:ext>
            </a:extLst>
          </p:cNvPr>
          <p:cNvSpPr>
            <a:spLocks noGrp="1" noChangeArrowheads="1"/>
          </p:cNvSpPr>
          <p:nvPr>
            <p:ph type="title"/>
          </p:nvPr>
        </p:nvSpPr>
        <p:spPr bwMode="auto">
          <a:xfrm>
            <a:off x="1150938" y="214313"/>
            <a:ext cx="7793037" cy="6223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751626" name="Rectangle 10">
            <a:extLst>
              <a:ext uri="{FF2B5EF4-FFF2-40B4-BE49-F238E27FC236}">
                <a16:creationId xmlns:a16="http://schemas.microsoft.com/office/drawing/2014/main" id="{B967D130-1D26-41E7-9B6D-51DED0979AAA}"/>
              </a:ext>
            </a:extLst>
          </p:cNvPr>
          <p:cNvSpPr>
            <a:spLocks noGrp="1" noChangeArrowheads="1"/>
          </p:cNvSpPr>
          <p:nvPr>
            <p:ph type="body" idx="1"/>
          </p:nvPr>
        </p:nvSpPr>
        <p:spPr bwMode="auto">
          <a:xfrm>
            <a:off x="611188" y="1258888"/>
            <a:ext cx="7993062" cy="53387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51627" name="Rectangle 11">
            <a:extLst>
              <a:ext uri="{FF2B5EF4-FFF2-40B4-BE49-F238E27FC236}">
                <a16:creationId xmlns:a16="http://schemas.microsoft.com/office/drawing/2014/main" id="{784C9DCD-83B2-47F3-AC1C-2928A06EA808}"/>
              </a:ext>
            </a:extLst>
          </p:cNvPr>
          <p:cNvSpPr>
            <a:spLocks noGrp="1" noChangeArrowheads="1"/>
          </p:cNvSpPr>
          <p:nvPr>
            <p:ph type="dt" sz="half" idx="2"/>
          </p:nvPr>
        </p:nvSpPr>
        <p:spPr bwMode="auto">
          <a:xfrm>
            <a:off x="11620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atin typeface="+mn-lt"/>
                <a:ea typeface="宋体" pitchFamily="2" charset="-122"/>
              </a:defRPr>
            </a:lvl1pPr>
          </a:lstStyle>
          <a:p>
            <a:pPr>
              <a:defRPr/>
            </a:pPr>
            <a:endParaRPr lang="en-US" altLang="zh-CN"/>
          </a:p>
        </p:txBody>
      </p:sp>
      <p:sp>
        <p:nvSpPr>
          <p:cNvPr id="751628" name="Rectangle 12">
            <a:extLst>
              <a:ext uri="{FF2B5EF4-FFF2-40B4-BE49-F238E27FC236}">
                <a16:creationId xmlns:a16="http://schemas.microsoft.com/office/drawing/2014/main" id="{25B27D18-E7C4-4182-B9BF-952E830614A0}"/>
              </a:ext>
            </a:extLst>
          </p:cNvPr>
          <p:cNvSpPr>
            <a:spLocks noGrp="1" noChangeArrowheads="1"/>
          </p:cNvSpPr>
          <p:nvPr>
            <p:ph type="ftr" sz="quarter" idx="3"/>
          </p:nvPr>
        </p:nvSpPr>
        <p:spPr bwMode="auto">
          <a:xfrm>
            <a:off x="36576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atin typeface="+mn-lt"/>
                <a:ea typeface="宋体" pitchFamily="2" charset="-122"/>
              </a:defRPr>
            </a:lvl1pPr>
          </a:lstStyle>
          <a:p>
            <a:pPr>
              <a:defRPr/>
            </a:pPr>
            <a:endParaRPr lang="en-US" altLang="zh-CN"/>
          </a:p>
        </p:txBody>
      </p:sp>
      <p:sp>
        <p:nvSpPr>
          <p:cNvPr id="751629" name="Rectangle 13">
            <a:extLst>
              <a:ext uri="{FF2B5EF4-FFF2-40B4-BE49-F238E27FC236}">
                <a16:creationId xmlns:a16="http://schemas.microsoft.com/office/drawing/2014/main" id="{468B158C-801E-42B5-93A7-EE4618D8C1FB}"/>
              </a:ext>
            </a:extLst>
          </p:cNvPr>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smtClean="0">
                <a:latin typeface="+mn-lt"/>
                <a:ea typeface="宋体" pitchFamily="2" charset="-122"/>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737" r:id="rId1"/>
    <p:sldLayoutId id="2147483725" r:id="rId2"/>
    <p:sldLayoutId id="2147483724" r:id="rId3"/>
    <p:sldLayoutId id="2147483723" r:id="rId4"/>
    <p:sldLayoutId id="2147483722" r:id="rId5"/>
    <p:sldLayoutId id="2147483721" r:id="rId6"/>
    <p:sldLayoutId id="2147483720" r:id="rId7"/>
    <p:sldLayoutId id="2147483719" r:id="rId8"/>
    <p:sldLayoutId id="2147483718" r:id="rId9"/>
    <p:sldLayoutId id="2147483717" r:id="rId10"/>
    <p:sldLayoutId id="214748371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1626">
                                            <p:txEl>
                                              <p:pRg st="0" end="0"/>
                                            </p:txEl>
                                          </p:spTgt>
                                        </p:tgtEl>
                                        <p:attrNameLst>
                                          <p:attrName>style.visibility</p:attrName>
                                        </p:attrNameLst>
                                      </p:cBhvr>
                                      <p:to>
                                        <p:strVal val="visible"/>
                                      </p:to>
                                    </p:set>
                                    <p:animEffect transition="in" filter="wipe(left)">
                                      <p:cBhvr>
                                        <p:cTn id="7" dur="1000"/>
                                        <p:tgtEl>
                                          <p:spTgt spid="7516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1626">
                                            <p:txEl>
                                              <p:pRg st="1" end="1"/>
                                            </p:txEl>
                                          </p:spTgt>
                                        </p:tgtEl>
                                        <p:attrNameLst>
                                          <p:attrName>style.visibility</p:attrName>
                                        </p:attrNameLst>
                                      </p:cBhvr>
                                      <p:to>
                                        <p:strVal val="visible"/>
                                      </p:to>
                                    </p:set>
                                    <p:animEffect transition="in" filter="wipe(left)">
                                      <p:cBhvr>
                                        <p:cTn id="12" dur="1000"/>
                                        <p:tgtEl>
                                          <p:spTgt spid="751626">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751626">
                                            <p:txEl>
                                              <p:pRg st="2" end="2"/>
                                            </p:txEl>
                                          </p:spTgt>
                                        </p:tgtEl>
                                        <p:attrNameLst>
                                          <p:attrName>style.visibility</p:attrName>
                                        </p:attrNameLst>
                                      </p:cBhvr>
                                      <p:to>
                                        <p:strVal val="visible"/>
                                      </p:to>
                                    </p:set>
                                    <p:animEffect transition="in" filter="wipe(left)">
                                      <p:cBhvr>
                                        <p:cTn id="15" dur="1000"/>
                                        <p:tgtEl>
                                          <p:spTgt spid="751626">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51626">
                                            <p:txEl>
                                              <p:pRg st="3" end="3"/>
                                            </p:txEl>
                                          </p:spTgt>
                                        </p:tgtEl>
                                        <p:attrNameLst>
                                          <p:attrName>style.visibility</p:attrName>
                                        </p:attrNameLst>
                                      </p:cBhvr>
                                      <p:to>
                                        <p:strVal val="visible"/>
                                      </p:to>
                                    </p:set>
                                    <p:animEffect transition="in" filter="wipe(left)">
                                      <p:cBhvr>
                                        <p:cTn id="18" dur="1000"/>
                                        <p:tgtEl>
                                          <p:spTgt spid="751626">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51626">
                                            <p:txEl>
                                              <p:pRg st="4" end="4"/>
                                            </p:txEl>
                                          </p:spTgt>
                                        </p:tgtEl>
                                        <p:attrNameLst>
                                          <p:attrName>style.visibility</p:attrName>
                                        </p:attrNameLst>
                                      </p:cBhvr>
                                      <p:to>
                                        <p:strVal val="visible"/>
                                      </p:to>
                                    </p:set>
                                    <p:animEffect transition="in" filter="wipe(left)">
                                      <p:cBhvr>
                                        <p:cTn id="21" dur="1000"/>
                                        <p:tgtEl>
                                          <p:spTgt spid="7516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1626" grpId="0" build="p">
        <p:tmplLst>
          <p:tmpl lvl="1">
            <p:tnLst>
              <p:par>
                <p:cTn presetID="22" presetClass="entr" presetSubtype="8" fill="hold" nodeType="clickEffect">
                  <p:stCondLst>
                    <p:cond delay="0"/>
                  </p:stCondLst>
                  <p:childTnLst>
                    <p:set>
                      <p:cBhvr>
                        <p:cTn dur="1" fill="hold">
                          <p:stCondLst>
                            <p:cond delay="0"/>
                          </p:stCondLst>
                        </p:cTn>
                        <p:tgtEl>
                          <p:spTgt spid="751626"/>
                        </p:tgtEl>
                        <p:attrNameLst>
                          <p:attrName>style.visibility</p:attrName>
                        </p:attrNameLst>
                      </p:cBhvr>
                      <p:to>
                        <p:strVal val="visible"/>
                      </p:to>
                    </p:set>
                    <p:animEffect transition="in" filter="wipe(left)">
                      <p:cBhvr>
                        <p:cTn dur="1000"/>
                        <p:tgtEl>
                          <p:spTgt spid="751626"/>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751626"/>
                        </p:tgtEl>
                        <p:attrNameLst>
                          <p:attrName>style.visibility</p:attrName>
                        </p:attrNameLst>
                      </p:cBhvr>
                      <p:to>
                        <p:strVal val="visible"/>
                      </p:to>
                    </p:set>
                    <p:animEffect transition="in" filter="wipe(left)">
                      <p:cBhvr>
                        <p:cTn dur="1000"/>
                        <p:tgtEl>
                          <p:spTgt spid="751626"/>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751626"/>
                        </p:tgtEl>
                        <p:attrNameLst>
                          <p:attrName>style.visibility</p:attrName>
                        </p:attrNameLst>
                      </p:cBhvr>
                      <p:to>
                        <p:strVal val="visible"/>
                      </p:to>
                    </p:set>
                    <p:animEffect transition="in" filter="wipe(left)">
                      <p:cBhvr>
                        <p:cTn dur="1000"/>
                        <p:tgtEl>
                          <p:spTgt spid="751626"/>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751626"/>
                        </p:tgtEl>
                        <p:attrNameLst>
                          <p:attrName>style.visibility</p:attrName>
                        </p:attrNameLst>
                      </p:cBhvr>
                      <p:to>
                        <p:strVal val="visible"/>
                      </p:to>
                    </p:set>
                    <p:animEffect transition="in" filter="wipe(left)">
                      <p:cBhvr>
                        <p:cTn dur="1000"/>
                        <p:tgtEl>
                          <p:spTgt spid="751626"/>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751626"/>
                        </p:tgtEl>
                        <p:attrNameLst>
                          <p:attrName>style.visibility</p:attrName>
                        </p:attrNameLst>
                      </p:cBhvr>
                      <p:to>
                        <p:strVal val="visible"/>
                      </p:to>
                    </p:set>
                    <p:animEffect transition="in" filter="wipe(left)">
                      <p:cBhvr>
                        <p:cTn dur="1000"/>
                        <p:tgtEl>
                          <p:spTgt spid="751626"/>
                        </p:tgtEl>
                      </p:cBhvr>
                    </p:animEffect>
                  </p:childTnLst>
                </p:cTn>
              </p:par>
            </p:tnLst>
          </p:tmpl>
        </p:tmplLst>
      </p:bldP>
    </p:bldLst>
  </p:timing>
  <p:txStyles>
    <p:titleStyle>
      <a:lvl1pPr algn="l" rtl="0" eaLnBrk="0" fontAlgn="base" hangingPunct="0">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2pPr>
      <a:lvl3pPr algn="l" rtl="0" eaLnBrk="0" fontAlgn="base" hangingPunct="0">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3pPr>
      <a:lvl4pPr algn="l" rtl="0" eaLnBrk="0" fontAlgn="base" hangingPunct="0">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4pPr>
      <a:lvl5pPr algn="l" rtl="0" eaLnBrk="0" fontAlgn="base" hangingPunct="0">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5pPr>
      <a:lvl6pPr marL="457200" algn="l" rtl="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6pPr>
      <a:lvl7pPr marL="914400" algn="l" rtl="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7pPr>
      <a:lvl8pPr marL="1371600" algn="l" rtl="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8pPr>
      <a:lvl9pPr marL="1828800" algn="l" rtl="0" fontAlgn="base">
        <a:spcBef>
          <a:spcPct val="0"/>
        </a:spcBef>
        <a:spcAft>
          <a:spcPct val="0"/>
        </a:spcAft>
        <a:defRPr sz="3600" b="1">
          <a:solidFill>
            <a:schemeClr val="tx2"/>
          </a:solidFill>
          <a:effectLst>
            <a:outerShdw blurRad="38100" dist="38100" dir="2700000" algn="tl">
              <a:srgbClr val="C0C0C0"/>
            </a:outerShdw>
          </a:effectLst>
          <a:latin typeface="Tahoma" pitchFamily="34" charset="0"/>
          <a:ea typeface="幼圆" pitchFamily="49" charset="-122"/>
        </a:defRPr>
      </a:lvl9pPr>
    </p:titleStyle>
    <p:bodyStyle>
      <a:lvl1pPr marL="342900" indent="-342900" algn="l" rtl="0" eaLnBrk="0" fontAlgn="base" hangingPunct="0">
        <a:lnSpc>
          <a:spcPct val="120000"/>
        </a:lnSpc>
        <a:spcBef>
          <a:spcPct val="20000"/>
        </a:spcBef>
        <a:spcAft>
          <a:spcPct val="0"/>
        </a:spcAft>
        <a:buClr>
          <a:schemeClr val="folHlink"/>
        </a:buClr>
        <a:buSzPct val="60000"/>
        <a:buFont typeface="Wingdings" panose="05000000000000000000" pitchFamily="2" charset="2"/>
        <a:buChar char="•"/>
        <a:defRPr sz="2800" b="1">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lnSpc>
          <a:spcPct val="120000"/>
        </a:lnSpc>
        <a:spcBef>
          <a:spcPct val="20000"/>
        </a:spcBef>
        <a:spcAft>
          <a:spcPct val="0"/>
        </a:spcAft>
        <a:buClr>
          <a:schemeClr val="hlink"/>
        </a:buClr>
        <a:buSzPct val="55000"/>
        <a:buFont typeface="Wingdings" panose="05000000000000000000" pitchFamily="2" charset="2"/>
        <a:buChar char="n"/>
        <a:defRPr sz="2800" b="1">
          <a:solidFill>
            <a:schemeClr val="tx1"/>
          </a:solidFill>
          <a:effectLst>
            <a:outerShdw blurRad="38100" dist="38100" dir="2700000" algn="tl">
              <a:srgbClr val="C0C0C0"/>
            </a:outerShdw>
          </a:effectLst>
          <a:latin typeface="+mn-lt"/>
          <a:ea typeface="+mn-ea"/>
        </a:defRPr>
      </a:lvl2pPr>
      <a:lvl3pPr marL="1143000" indent="-228600" algn="l" rtl="0" eaLnBrk="0" fontAlgn="base" hangingPunct="0">
        <a:lnSpc>
          <a:spcPct val="120000"/>
        </a:lnSpc>
        <a:spcBef>
          <a:spcPct val="20000"/>
        </a:spcBef>
        <a:spcAft>
          <a:spcPct val="0"/>
        </a:spcAft>
        <a:buClr>
          <a:schemeClr val="folHlink"/>
        </a:buClr>
        <a:buSzPct val="50000"/>
        <a:buFont typeface="Wingdings" panose="05000000000000000000" pitchFamily="2" charset="2"/>
        <a:buChar char="n"/>
        <a:defRPr sz="2400" b="1">
          <a:solidFill>
            <a:schemeClr val="tx1"/>
          </a:solidFill>
          <a:effectLst>
            <a:outerShdw blurRad="38100" dist="38100" dir="2700000" algn="tl">
              <a:srgbClr val="C0C0C0"/>
            </a:outerShdw>
          </a:effectLst>
          <a:latin typeface="+mn-lt"/>
          <a:ea typeface="+mn-ea"/>
        </a:defRPr>
      </a:lvl3pPr>
      <a:lvl4pPr marL="1600200" indent="-228600" algn="l" rtl="0" eaLnBrk="0" fontAlgn="base" hangingPunct="0">
        <a:lnSpc>
          <a:spcPct val="120000"/>
        </a:lnSpc>
        <a:spcBef>
          <a:spcPct val="20000"/>
        </a:spcBef>
        <a:spcAft>
          <a:spcPct val="0"/>
        </a:spcAft>
        <a:buClr>
          <a:schemeClr val="accent2"/>
        </a:buClr>
        <a:buSzPct val="55000"/>
        <a:buFont typeface="Wingdings" panose="05000000000000000000" pitchFamily="2" charset="2"/>
        <a:buChar char="n"/>
        <a:defRPr sz="2000" b="1">
          <a:solidFill>
            <a:schemeClr val="tx1"/>
          </a:solidFill>
          <a:effectLst>
            <a:outerShdw blurRad="38100" dist="38100" dir="2700000" algn="tl">
              <a:srgbClr val="C0C0C0"/>
            </a:outerShdw>
          </a:effectLst>
          <a:latin typeface="+mn-lt"/>
          <a:ea typeface="+mn-ea"/>
        </a:defRPr>
      </a:lvl4pPr>
      <a:lvl5pPr marL="2057400" indent="-228600" algn="l" rtl="0" eaLnBrk="0" fontAlgn="base" hangingPunct="0">
        <a:lnSpc>
          <a:spcPct val="120000"/>
        </a:lnSpc>
        <a:spcBef>
          <a:spcPct val="20000"/>
        </a:spcBef>
        <a:spcAft>
          <a:spcPct val="0"/>
        </a:spcAft>
        <a:buClr>
          <a:schemeClr val="accent1"/>
        </a:buClr>
        <a:buSzPct val="50000"/>
        <a:buFont typeface="Wingdings" panose="05000000000000000000" pitchFamily="2" charset="2"/>
        <a:buChar char="n"/>
        <a:defRPr sz="2000" b="1">
          <a:solidFill>
            <a:schemeClr val="tx1"/>
          </a:solidFill>
          <a:effectLst>
            <a:outerShdw blurRad="38100" dist="38100" dir="2700000" algn="tl">
              <a:srgbClr val="C0C0C0"/>
            </a:outerShdw>
          </a:effectLst>
          <a:latin typeface="+mn-lt"/>
          <a:ea typeface="+mn-ea"/>
        </a:defRPr>
      </a:lvl5pPr>
      <a:lvl6pPr marL="2514600" indent="-228600" algn="l" rtl="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mn-lt"/>
          <a:ea typeface="+mn-ea"/>
        </a:defRPr>
      </a:lvl6pPr>
      <a:lvl7pPr marL="2971800" indent="-228600" algn="l" rtl="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mn-lt"/>
          <a:ea typeface="+mn-ea"/>
        </a:defRPr>
      </a:lvl7pPr>
      <a:lvl8pPr marL="3429000" indent="-228600" algn="l" rtl="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mn-lt"/>
          <a:ea typeface="+mn-ea"/>
        </a:defRPr>
      </a:lvl8pPr>
      <a:lvl9pPr marL="3886200" indent="-228600" algn="l" rtl="0" fontAlgn="base">
        <a:lnSpc>
          <a:spcPct val="120000"/>
        </a:lnSpc>
        <a:spcBef>
          <a:spcPct val="20000"/>
        </a:spcBef>
        <a:spcAft>
          <a:spcPct val="0"/>
        </a:spcAft>
        <a:buClr>
          <a:schemeClr val="accent1"/>
        </a:buClr>
        <a:buSzPct val="50000"/>
        <a:buFont typeface="Wingdings" pitchFamily="2" charset="2"/>
        <a:buChar char="n"/>
        <a:defRPr sz="2000" b="1">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3EE6895-42AA-4A02-B9BC-12F37E5CD3F3}"/>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220C2F4E-5B60-4B09-B015-39DC3C57B20C}"/>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83364" name="Rectangle 4">
            <a:extLst>
              <a:ext uri="{FF2B5EF4-FFF2-40B4-BE49-F238E27FC236}">
                <a16:creationId xmlns:a16="http://schemas.microsoft.com/office/drawing/2014/main" id="{58ED22B9-1DC5-4427-8AD7-6287C218437E}"/>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400" smtClean="0">
                <a:latin typeface="Times New Roman" pitchFamily="18" charset="0"/>
                <a:ea typeface="+mn-ea"/>
              </a:defRPr>
            </a:lvl1pPr>
          </a:lstStyle>
          <a:p>
            <a:pPr>
              <a:defRPr/>
            </a:pPr>
            <a:endParaRPr lang="en-US" altLang="zh-CN"/>
          </a:p>
        </p:txBody>
      </p:sp>
      <p:sp>
        <p:nvSpPr>
          <p:cNvPr id="783365" name="Rectangle 5">
            <a:extLst>
              <a:ext uri="{FF2B5EF4-FFF2-40B4-BE49-F238E27FC236}">
                <a16:creationId xmlns:a16="http://schemas.microsoft.com/office/drawing/2014/main" id="{3E2C32BD-9ACD-43AC-B079-27F0A401F851}"/>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kumimoji="1" sz="1400" smtClean="0">
                <a:latin typeface="Times New Roman" pitchFamily="18" charset="0"/>
                <a:ea typeface="+mn-ea"/>
              </a:defRPr>
            </a:lvl1pPr>
          </a:lstStyle>
          <a:p>
            <a:pPr>
              <a:defRPr/>
            </a:pPr>
            <a:endParaRPr lang="en-US" altLang="zh-CN"/>
          </a:p>
        </p:txBody>
      </p:sp>
      <p:sp>
        <p:nvSpPr>
          <p:cNvPr id="783366" name="Rectangle 6">
            <a:extLst>
              <a:ext uri="{FF2B5EF4-FFF2-40B4-BE49-F238E27FC236}">
                <a16:creationId xmlns:a16="http://schemas.microsoft.com/office/drawing/2014/main" id="{2EC89728-2920-4CB7-814E-851D8EF8C25D}"/>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400">
                <a:latin typeface="Times New Roman" panose="02020603050405020304" pitchFamily="18" charset="0"/>
                <a:ea typeface="宋体" panose="02010600030101010101" pitchFamily="2" charset="-122"/>
              </a:defRPr>
            </a:lvl1pPr>
          </a:lstStyle>
          <a:p>
            <a:fld id="{4FCDD7C7-E526-4765-8C27-94922364C3A8}"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736" r:id="rId1"/>
    <p:sldLayoutId id="2147483735" r:id="rId2"/>
    <p:sldLayoutId id="2147483734" r:id="rId3"/>
    <p:sldLayoutId id="2147483733" r:id="rId4"/>
    <p:sldLayoutId id="2147483732" r:id="rId5"/>
    <p:sldLayoutId id="2147483731" r:id="rId6"/>
    <p:sldLayoutId id="2147483730" r:id="rId7"/>
    <p:sldLayoutId id="2147483729" r:id="rId8"/>
    <p:sldLayoutId id="2147483728" r:id="rId9"/>
    <p:sldLayoutId id="2147483727" r:id="rId10"/>
    <p:sldLayoutId id="2147483726"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baike.baidu.com/item/Oracle%E6%95%B0%E6%8D%AE%E5%BA%93"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8.xml"/><Relationship Id="rId1" Type="http://schemas.openxmlformats.org/officeDocument/2006/relationships/tags" Target="../tags/tag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8.xml"/><Relationship Id="rId1" Type="http://schemas.openxmlformats.org/officeDocument/2006/relationships/tags" Target="../tags/tag1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0077" name="Rectangle 13">
            <a:extLst>
              <a:ext uri="{FF2B5EF4-FFF2-40B4-BE49-F238E27FC236}">
                <a16:creationId xmlns:a16="http://schemas.microsoft.com/office/drawing/2014/main" id="{8C07B7E7-6B89-46DF-A479-13A3EAA89F68}"/>
              </a:ext>
            </a:extLst>
          </p:cNvPr>
          <p:cNvSpPr>
            <a:spLocks noChangeArrowheads="1"/>
          </p:cNvSpPr>
          <p:nvPr/>
        </p:nvSpPr>
        <p:spPr bwMode="auto">
          <a:xfrm>
            <a:off x="107950" y="80963"/>
            <a:ext cx="3959225" cy="574675"/>
          </a:xfrm>
          <a:prstGeom prst="rect">
            <a:avLst/>
          </a:prstGeom>
          <a:gradFill rotWithShape="1">
            <a:gsLst>
              <a:gs pos="0">
                <a:srgbClr val="C0C0C0"/>
              </a:gs>
              <a:gs pos="100000">
                <a:srgbClr val="C0C0C0">
                  <a:gamma/>
                  <a:tint val="0"/>
                  <a:invGamma/>
                </a:srgbClr>
              </a:gs>
            </a:gsLst>
            <a:path path="shape">
              <a:fillToRect l="50000" t="50000" r="50000" b="50000"/>
            </a:path>
          </a:gradFill>
          <a:ln w="9525">
            <a:noFill/>
            <a:miter lim="800000"/>
            <a:headEnd/>
            <a:tailEnd/>
          </a:ln>
          <a:effectLst/>
        </p:spPr>
        <p:txBody>
          <a:bodyPr tIns="76176" bIns="72000" anchor="ctr" anchorCtr="1">
            <a:spAutoFit/>
          </a:bodyPr>
          <a:lstStyle/>
          <a:p>
            <a:pPr algn="ctr">
              <a:defRPr/>
            </a:pPr>
            <a:r>
              <a:rPr lang="zh-CN" altLang="en-US" sz="2800" b="1">
                <a:solidFill>
                  <a:srgbClr val="993300"/>
                </a:solidFill>
                <a:effectLst>
                  <a:outerShdw blurRad="38100" dist="38100" dir="2700000" algn="tl">
                    <a:srgbClr val="000000"/>
                  </a:outerShdw>
                </a:effectLst>
                <a:latin typeface="Arial" charset="0"/>
                <a:ea typeface="隶书" pitchFamily="49" charset="-122"/>
              </a:rPr>
              <a:t>数据库系统原理及应用</a:t>
            </a:r>
            <a:endParaRPr kumimoji="1" lang="zh-CN" altLang="en-US" sz="3000" b="1">
              <a:solidFill>
                <a:srgbClr val="000000"/>
              </a:solidFill>
              <a:effectLst>
                <a:outerShdw blurRad="38100" dist="38100" dir="2700000" algn="tl">
                  <a:srgbClr val="FFFFFF"/>
                </a:outerShdw>
              </a:effectLst>
              <a:latin typeface="Times New Roman" pitchFamily="18" charset="0"/>
            </a:endParaRPr>
          </a:p>
        </p:txBody>
      </p:sp>
      <p:sp>
        <p:nvSpPr>
          <p:cNvPr id="600078" name="Rectangle 14">
            <a:extLst>
              <a:ext uri="{FF2B5EF4-FFF2-40B4-BE49-F238E27FC236}">
                <a16:creationId xmlns:a16="http://schemas.microsoft.com/office/drawing/2014/main" id="{34981F47-F554-4000-AB70-713C27171765}"/>
              </a:ext>
            </a:extLst>
          </p:cNvPr>
          <p:cNvSpPr>
            <a:spLocks noGrp="1" noChangeArrowheads="1"/>
          </p:cNvSpPr>
          <p:nvPr>
            <p:ph type="ctrTitle"/>
          </p:nvPr>
        </p:nvSpPr>
        <p:spPr>
          <a:xfrm>
            <a:off x="827088" y="2327275"/>
            <a:ext cx="8137525" cy="1462088"/>
          </a:xfrm>
        </p:spPr>
        <p:txBody>
          <a:bodyPr/>
          <a:lstStyle/>
          <a:p>
            <a:pPr eaLnBrk="1" hangingPunct="1"/>
            <a:r>
              <a:rPr lang="zh-CN" altLang="en-US" sz="4000"/>
              <a:t>第</a:t>
            </a:r>
            <a:r>
              <a:rPr lang="en-US" altLang="zh-CN" sz="4000"/>
              <a:t>7</a:t>
            </a:r>
            <a:r>
              <a:rPr lang="zh-CN" altLang="en-US" sz="4000"/>
              <a:t>章  </a:t>
            </a:r>
            <a:r>
              <a:rPr lang="en-US" altLang="zh-CN" sz="4000"/>
              <a:t>Transact-SQL</a:t>
            </a:r>
            <a:r>
              <a:rPr lang="zh-CN" altLang="en-US" sz="4000"/>
              <a:t>与存储过程</a:t>
            </a:r>
            <a:br>
              <a:rPr lang="zh-CN" altLang="en-US" sz="4000"/>
            </a:br>
            <a:r>
              <a:rPr lang="zh-CN" altLang="en-US" sz="4000"/>
              <a:t>（第一讲）</a:t>
            </a:r>
            <a:r>
              <a:rPr lang="en-US" altLang="zh-CN" sz="4400"/>
              <a:t> </a:t>
            </a:r>
          </a:p>
        </p:txBody>
      </p:sp>
      <p:pic>
        <p:nvPicPr>
          <p:cNvPr id="4100" name="Picture 15" descr="BS02064_">
            <a:extLst>
              <a:ext uri="{FF2B5EF4-FFF2-40B4-BE49-F238E27FC236}">
                <a16:creationId xmlns:a16="http://schemas.microsoft.com/office/drawing/2014/main" id="{BB9F2010-B7DF-46AA-9012-8556FFEECF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24288"/>
            <a:ext cx="3048000" cy="303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3479"/>
    </mc:Choice>
    <mc:Fallback xmlns="">
      <p:transition spd="slow" advTm="347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600078"/>
                                        </p:tgtEl>
                                        <p:attrNameLst>
                                          <p:attrName>style.visibility</p:attrName>
                                        </p:attrNameLst>
                                      </p:cBhvr>
                                      <p:to>
                                        <p:strVal val="visible"/>
                                      </p:to>
                                    </p:set>
                                    <p:animEffect transition="in" filter="plus(in)">
                                      <p:cBhvr>
                                        <p:cTn id="7" dur="500"/>
                                        <p:tgtEl>
                                          <p:spTgt spid="60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07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8" name="Rectangle 6">
            <a:extLst>
              <a:ext uri="{FF2B5EF4-FFF2-40B4-BE49-F238E27FC236}">
                <a16:creationId xmlns:a16="http://schemas.microsoft.com/office/drawing/2014/main" id="{007BB31E-8774-4308-8EDB-765C8A9F9D34}"/>
              </a:ext>
            </a:extLst>
          </p:cNvPr>
          <p:cNvSpPr>
            <a:spLocks noChangeArrowheads="1"/>
          </p:cNvSpPr>
          <p:nvPr/>
        </p:nvSpPr>
        <p:spPr bwMode="auto">
          <a:xfrm>
            <a:off x="811213"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ctr" eaLnBrk="1" hangingPunct="1"/>
            <a:r>
              <a:rPr lang="zh-CN" altLang="en-US" sz="3600" b="1">
                <a:solidFill>
                  <a:schemeClr val="tx2"/>
                </a:solidFill>
                <a:latin typeface="Tahoma" panose="020B0604030504040204" pitchFamily="34" charset="0"/>
                <a:ea typeface="幼圆" panose="02010509060101010101" pitchFamily="49" charset="-122"/>
              </a:rPr>
              <a:t>主要内容</a:t>
            </a:r>
          </a:p>
        </p:txBody>
      </p:sp>
      <p:sp>
        <p:nvSpPr>
          <p:cNvPr id="822279" name="Rectangle 7">
            <a:extLst>
              <a:ext uri="{FF2B5EF4-FFF2-40B4-BE49-F238E27FC236}">
                <a16:creationId xmlns:a16="http://schemas.microsoft.com/office/drawing/2014/main" id="{533C69F3-CEE0-4BF6-9568-399088B8C7FD}"/>
              </a:ext>
            </a:extLst>
          </p:cNvPr>
          <p:cNvSpPr>
            <a:spLocks noChangeArrowheads="1"/>
          </p:cNvSpPr>
          <p:nvPr/>
        </p:nvSpPr>
        <p:spPr bwMode="auto">
          <a:xfrm>
            <a:off x="611188" y="1171575"/>
            <a:ext cx="7993062"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sz="2800" b="1">
                <a:latin typeface="黑体" panose="02010609060101010101" pitchFamily="49" charset="-122"/>
                <a:ea typeface="黑体" panose="02010609060101010101" pitchFamily="49" charset="-122"/>
              </a:rPr>
              <a:t>7.1 </a:t>
            </a:r>
            <a:r>
              <a:rPr lang="zh-CN" altLang="en-US" sz="2800" b="1">
                <a:latin typeface="黑体" panose="02010609060101010101" pitchFamily="49" charset="-122"/>
                <a:ea typeface="黑体" panose="02010609060101010101" pitchFamily="49" charset="-122"/>
              </a:rPr>
              <a:t>脚本、批处理与注释符</a:t>
            </a:r>
          </a:p>
          <a:p>
            <a:pPr eaLnBrk="1" hangingPunct="1">
              <a:lnSpc>
                <a:spcPct val="120000"/>
              </a:lnSpc>
              <a:spcBef>
                <a:spcPct val="20000"/>
              </a:spcBef>
              <a:buClr>
                <a:schemeClr val="folHlink"/>
              </a:buClr>
              <a:buSzPct val="60000"/>
              <a:buFont typeface="Wingdings" panose="05000000000000000000" pitchFamily="2" charset="2"/>
              <a:buNone/>
            </a:pPr>
            <a:r>
              <a:rPr lang="en-US" altLang="zh-CN" sz="2800" b="1">
                <a:latin typeface="黑体" panose="02010609060101010101" pitchFamily="49" charset="-122"/>
                <a:ea typeface="黑体" panose="02010609060101010101" pitchFamily="49" charset="-122"/>
              </a:rPr>
              <a:t>    7.2 Transact-SQL</a:t>
            </a:r>
            <a:r>
              <a:rPr lang="zh-CN" altLang="en-US" sz="2800" b="1">
                <a:latin typeface="黑体" panose="02010609060101010101" pitchFamily="49" charset="-122"/>
                <a:ea typeface="黑体" panose="02010609060101010101" pitchFamily="49" charset="-122"/>
              </a:rPr>
              <a:t>的语言要素</a:t>
            </a:r>
          </a:p>
          <a:p>
            <a:pPr eaLnBrk="1" hangingPunct="1">
              <a:lnSpc>
                <a:spcPct val="120000"/>
              </a:lnSpc>
              <a:spcBef>
                <a:spcPct val="20000"/>
              </a:spcBef>
              <a:buClr>
                <a:schemeClr val="folHlink"/>
              </a:buClr>
              <a:buSzPct val="60000"/>
              <a:buFont typeface="Wingdings" panose="05000000000000000000" pitchFamily="2" charset="2"/>
              <a:buNone/>
            </a:pPr>
            <a:r>
              <a:rPr lang="en-US" altLang="zh-CN" sz="2800" b="1">
                <a:latin typeface="黑体" panose="02010609060101010101" pitchFamily="49" charset="-122"/>
                <a:ea typeface="黑体" panose="02010609060101010101" pitchFamily="49" charset="-122"/>
              </a:rPr>
              <a:t>    7.3 Transact-SQL</a:t>
            </a:r>
            <a:r>
              <a:rPr lang="zh-CN" altLang="en-US" sz="2800" b="1">
                <a:latin typeface="黑体" panose="02010609060101010101" pitchFamily="49" charset="-122"/>
                <a:ea typeface="黑体" panose="02010609060101010101" pitchFamily="49" charset="-122"/>
              </a:rPr>
              <a:t>流程控制语句 </a:t>
            </a:r>
          </a:p>
          <a:p>
            <a:pPr eaLnBrk="1" hangingPunct="1">
              <a:lnSpc>
                <a:spcPct val="120000"/>
              </a:lnSpc>
              <a:spcBef>
                <a:spcPct val="20000"/>
              </a:spcBef>
              <a:buClr>
                <a:schemeClr val="folHlink"/>
              </a:buClr>
              <a:buSzPct val="60000"/>
              <a:buFont typeface="Wingdings" panose="05000000000000000000" pitchFamily="2" charset="2"/>
              <a:buNone/>
            </a:pPr>
            <a:r>
              <a:rPr lang="en-US" altLang="zh-CN" sz="2800" b="1">
                <a:latin typeface="黑体" panose="02010609060101010101" pitchFamily="49" charset="-122"/>
                <a:ea typeface="黑体" panose="02010609060101010101" pitchFamily="49" charset="-122"/>
              </a:rPr>
              <a:t>    7.4 </a:t>
            </a:r>
            <a:r>
              <a:rPr lang="zh-CN" altLang="en-US" sz="2800" b="1">
                <a:latin typeface="黑体" panose="02010609060101010101" pitchFamily="49" charset="-122"/>
                <a:ea typeface="黑体" panose="02010609060101010101" pitchFamily="49" charset="-122"/>
              </a:rPr>
              <a:t>基于</a:t>
            </a:r>
            <a:r>
              <a:rPr lang="en-US" altLang="zh-CN" sz="2800" b="1">
                <a:latin typeface="黑体" panose="02010609060101010101" pitchFamily="49" charset="-122"/>
                <a:ea typeface="黑体" panose="02010609060101010101" pitchFamily="49" charset="-122"/>
              </a:rPr>
              <a:t>Transact-SQL</a:t>
            </a:r>
            <a:r>
              <a:rPr lang="zh-CN" altLang="en-US" sz="2800" b="1">
                <a:latin typeface="黑体" panose="02010609060101010101" pitchFamily="49" charset="-122"/>
                <a:ea typeface="黑体" panose="02010609060101010101" pitchFamily="49" charset="-122"/>
              </a:rPr>
              <a:t>的数据库创建与管理应用 </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solidFill>
                  <a:srgbClr val="660033"/>
                </a:solidFill>
                <a:latin typeface="黑体" panose="02010609060101010101" pitchFamily="49" charset="-122"/>
                <a:ea typeface="黑体" panose="02010609060101010101" pitchFamily="49" charset="-122"/>
              </a:rPr>
              <a:t>    </a:t>
            </a:r>
            <a:endParaRPr lang="zh-CN" altLang="en-US" sz="2800" b="1">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5957"/>
    </mc:Choice>
    <mc:Fallback xmlns="">
      <p:transition spd="slow" advTm="5957"/>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2386" name="Rectangle 2">
            <a:extLst>
              <a:ext uri="{FF2B5EF4-FFF2-40B4-BE49-F238E27FC236}">
                <a16:creationId xmlns:a16="http://schemas.microsoft.com/office/drawing/2014/main" id="{EF2D50BE-3564-4112-A49C-6AB1361FEE46}"/>
              </a:ext>
            </a:extLst>
          </p:cNvPr>
          <p:cNvSpPr>
            <a:spLocks noGrp="1" noChangeArrowheads="1"/>
          </p:cNvSpPr>
          <p:nvPr>
            <p:ph type="ctrTitle"/>
          </p:nvPr>
        </p:nvSpPr>
        <p:spPr>
          <a:xfrm>
            <a:off x="827088" y="1535113"/>
            <a:ext cx="8137525" cy="1462087"/>
          </a:xfrm>
        </p:spPr>
        <p:txBody>
          <a:bodyPr/>
          <a:lstStyle/>
          <a:p>
            <a:pPr eaLnBrk="1" hangingPunct="1">
              <a:defRPr/>
            </a:pPr>
            <a:r>
              <a:rPr lang="en-US" altLang="zh-CN"/>
              <a:t>7.0</a:t>
            </a:r>
            <a:r>
              <a:rPr lang="zh-CN" altLang="en-US"/>
              <a:t>  认识</a:t>
            </a:r>
            <a:r>
              <a:rPr lang="en-US" altLang="zh-CN"/>
              <a:t>Transact-SQL</a:t>
            </a:r>
            <a:r>
              <a:rPr lang="zh-CN" altLang="en-US"/>
              <a:t>语言</a:t>
            </a:r>
          </a:p>
        </p:txBody>
      </p:sp>
      <p:sp>
        <p:nvSpPr>
          <p:cNvPr id="912387" name="Rectangle 3">
            <a:extLst>
              <a:ext uri="{FF2B5EF4-FFF2-40B4-BE49-F238E27FC236}">
                <a16:creationId xmlns:a16="http://schemas.microsoft.com/office/drawing/2014/main" id="{F35FFFFF-130C-401F-9197-C8983FB1B106}"/>
              </a:ext>
            </a:extLst>
          </p:cNvPr>
          <p:cNvSpPr>
            <a:spLocks noChangeArrowheads="1"/>
          </p:cNvSpPr>
          <p:nvPr/>
        </p:nvSpPr>
        <p:spPr bwMode="auto">
          <a:xfrm>
            <a:off x="71438" y="80963"/>
            <a:ext cx="4860925" cy="574675"/>
          </a:xfrm>
          <a:prstGeom prst="rect">
            <a:avLst/>
          </a:prstGeom>
          <a:gradFill rotWithShape="1">
            <a:gsLst>
              <a:gs pos="0">
                <a:srgbClr val="C0C0C0"/>
              </a:gs>
              <a:gs pos="100000">
                <a:srgbClr val="C0C0C0">
                  <a:gamma/>
                  <a:tint val="0"/>
                  <a:invGamma/>
                </a:srgbClr>
              </a:gs>
            </a:gsLst>
            <a:path path="shape">
              <a:fillToRect l="50000" t="50000" r="50000" b="50000"/>
            </a:path>
          </a:gradFill>
          <a:ln w="9525">
            <a:noFill/>
            <a:miter lim="800000"/>
            <a:headEnd/>
            <a:tailEnd/>
          </a:ln>
          <a:effectLst/>
        </p:spPr>
        <p:txBody>
          <a:bodyPr tIns="76176" bIns="72000" anchor="ctr" anchorCtr="1">
            <a:spAutoFit/>
          </a:bodyPr>
          <a:lstStyle/>
          <a:p>
            <a:pPr>
              <a:defRPr/>
            </a:pPr>
            <a:r>
              <a:rPr lang="zh-CN" altLang="en-US" sz="2400" b="1">
                <a:solidFill>
                  <a:srgbClr val="993300"/>
                </a:solidFill>
                <a:effectLst>
                  <a:outerShdw blurRad="38100" dist="38100" dir="2700000" algn="tl">
                    <a:srgbClr val="000000"/>
                  </a:outerShdw>
                </a:effectLst>
                <a:latin typeface="Arial" charset="0"/>
                <a:ea typeface="隶书" pitchFamily="49" charset="-122"/>
              </a:rPr>
              <a:t>第</a:t>
            </a:r>
            <a:r>
              <a:rPr lang="en-US" altLang="zh-CN" sz="2400" b="1">
                <a:solidFill>
                  <a:srgbClr val="993300"/>
                </a:solidFill>
                <a:effectLst>
                  <a:outerShdw blurRad="38100" dist="38100" dir="2700000" algn="tl">
                    <a:srgbClr val="000000"/>
                  </a:outerShdw>
                </a:effectLst>
                <a:latin typeface="Arial" charset="0"/>
                <a:ea typeface="隶书" pitchFamily="49" charset="-122"/>
              </a:rPr>
              <a:t>7</a:t>
            </a:r>
            <a:r>
              <a:rPr lang="zh-CN" altLang="en-US" sz="2400" b="1">
                <a:solidFill>
                  <a:srgbClr val="993300"/>
                </a:solidFill>
                <a:effectLst>
                  <a:outerShdw blurRad="38100" dist="38100" dir="2700000" algn="tl">
                    <a:srgbClr val="000000"/>
                  </a:outerShdw>
                </a:effectLst>
                <a:latin typeface="Arial" charset="0"/>
                <a:ea typeface="隶书" pitchFamily="49" charset="-122"/>
              </a:rPr>
              <a:t>章</a:t>
            </a:r>
            <a:r>
              <a:rPr lang="zh-CN" altLang="en-US" sz="2400" b="1">
                <a:solidFill>
                  <a:schemeClr val="tx2"/>
                </a:solidFill>
                <a:effectLst>
                  <a:outerShdw blurRad="38100" dist="38100" dir="2700000" algn="tl">
                    <a:srgbClr val="000000"/>
                  </a:outerShdw>
                </a:effectLst>
                <a:latin typeface="Arial" charset="0"/>
              </a:rPr>
              <a:t>  </a:t>
            </a:r>
            <a:r>
              <a:rPr lang="en-US" altLang="zh-CN" sz="2400" b="1">
                <a:solidFill>
                  <a:srgbClr val="993300"/>
                </a:solidFill>
                <a:effectLst>
                  <a:outerShdw blurRad="38100" dist="38100" dir="2700000" algn="tl">
                    <a:srgbClr val="000000"/>
                  </a:outerShdw>
                </a:effectLst>
                <a:latin typeface="Arial" charset="0"/>
                <a:ea typeface="隶书" pitchFamily="49" charset="-122"/>
              </a:rPr>
              <a:t>Transact-SQL</a:t>
            </a:r>
            <a:r>
              <a:rPr lang="zh-CN" altLang="en-US" sz="2400" b="1">
                <a:solidFill>
                  <a:srgbClr val="993300"/>
                </a:solidFill>
                <a:effectLst>
                  <a:outerShdw blurRad="38100" dist="38100" dir="2700000" algn="tl">
                    <a:srgbClr val="000000"/>
                  </a:outerShdw>
                </a:effectLst>
                <a:latin typeface="Arial" charset="0"/>
                <a:ea typeface="隶书" pitchFamily="49" charset="-122"/>
              </a:rPr>
              <a:t>与存储过程</a:t>
            </a:r>
            <a:r>
              <a:rPr lang="zh-CN" altLang="en-US" sz="2800" b="1">
                <a:solidFill>
                  <a:srgbClr val="993300"/>
                </a:solidFill>
                <a:effectLst>
                  <a:outerShdw blurRad="38100" dist="38100" dir="2700000" algn="tl">
                    <a:srgbClr val="000000"/>
                  </a:outerShdw>
                </a:effectLst>
                <a:latin typeface="Arial" charset="0"/>
                <a:ea typeface="隶书" pitchFamily="49" charset="-122"/>
              </a:rPr>
              <a:t> </a:t>
            </a:r>
          </a:p>
        </p:txBody>
      </p:sp>
    </p:spTree>
  </p:cSld>
  <p:clrMapOvr>
    <a:masterClrMapping/>
  </p:clrMapOvr>
  <p:transition advTm="1707"/>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912386"/>
                                        </p:tgtEl>
                                        <p:attrNameLst>
                                          <p:attrName>style.visibility</p:attrName>
                                        </p:attrNameLst>
                                      </p:cBhvr>
                                      <p:to>
                                        <p:strVal val="visible"/>
                                      </p:to>
                                    </p:set>
                                    <p:animEffect transition="in" filter="plus(in)">
                                      <p:cBhvr>
                                        <p:cTn id="7" dur="500"/>
                                        <p:tgtEl>
                                          <p:spTgt spid="912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38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4" name="Rectangle 6">
            <a:extLst>
              <a:ext uri="{FF2B5EF4-FFF2-40B4-BE49-F238E27FC236}">
                <a16:creationId xmlns:a16="http://schemas.microsoft.com/office/drawing/2014/main" id="{93967C5B-4910-45CF-B719-51540E8FEDF9}"/>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一、</a:t>
            </a:r>
            <a:r>
              <a:rPr lang="en-US" altLang="zh-CN" sz="3600" b="1">
                <a:solidFill>
                  <a:schemeClr val="tx2"/>
                </a:solidFill>
                <a:effectLst>
                  <a:outerShdw blurRad="38100" dist="38100" dir="2700000" algn="tl">
                    <a:srgbClr val="C0C0C0"/>
                  </a:outerShdw>
                </a:effectLst>
                <a:latin typeface="Tahoma" pitchFamily="34" charset="0"/>
                <a:ea typeface="幼圆" pitchFamily="49" charset="-122"/>
              </a:rPr>
              <a:t>SQL</a:t>
            </a: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与</a:t>
            </a:r>
            <a:r>
              <a:rPr lang="en-US" altLang="zh-CN" sz="3600" b="1">
                <a:solidFill>
                  <a:schemeClr val="tx2"/>
                </a:solidFill>
                <a:effectLst>
                  <a:outerShdw blurRad="38100" dist="38100" dir="2700000" algn="tl">
                    <a:srgbClr val="C0C0C0"/>
                  </a:outerShdw>
                </a:effectLst>
                <a:latin typeface="Tahoma" pitchFamily="34" charset="0"/>
                <a:ea typeface="幼圆" pitchFamily="49" charset="-122"/>
              </a:rPr>
              <a:t>Transact-SQL</a:t>
            </a:r>
            <a:endParaRPr lang="zh-CN" altLang="en-US" sz="3600" b="1">
              <a:solidFill>
                <a:schemeClr val="tx2"/>
              </a:solidFill>
              <a:effectLst>
                <a:outerShdw blurRad="38100" dist="38100" dir="2700000" algn="tl">
                  <a:srgbClr val="C0C0C0"/>
                </a:outerShdw>
              </a:effectLst>
              <a:latin typeface="Tahoma" pitchFamily="34" charset="0"/>
              <a:ea typeface="幼圆" pitchFamily="49" charset="-122"/>
            </a:endParaRPr>
          </a:p>
        </p:txBody>
      </p:sp>
      <p:sp>
        <p:nvSpPr>
          <p:cNvPr id="877577" name="Rectangle 9">
            <a:extLst>
              <a:ext uri="{FF2B5EF4-FFF2-40B4-BE49-F238E27FC236}">
                <a16:creationId xmlns:a16="http://schemas.microsoft.com/office/drawing/2014/main" id="{C9CD5B1E-09CE-4D83-B045-02C2FF621417}"/>
              </a:ext>
            </a:extLst>
          </p:cNvPr>
          <p:cNvSpPr>
            <a:spLocks noChangeArrowheads="1"/>
          </p:cNvSpPr>
          <p:nvPr/>
        </p:nvSpPr>
        <p:spPr bwMode="auto">
          <a:xfrm>
            <a:off x="611188" y="1171575"/>
            <a:ext cx="7993062"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55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Transact-SQL </a:t>
            </a:r>
            <a:r>
              <a:rPr lang="zh-CN" altLang="en-US" sz="2800" b="1">
                <a:latin typeface="Tahoma" panose="020B0604030504040204" pitchFamily="34" charset="0"/>
              </a:rPr>
              <a:t>（以下简称</a:t>
            </a:r>
            <a:r>
              <a:rPr lang="en-US" altLang="zh-CN" sz="2800" b="1">
                <a:latin typeface="Tahoma" panose="020B0604030504040204" pitchFamily="34" charset="0"/>
              </a:rPr>
              <a:t>T-SQL</a:t>
            </a:r>
            <a:r>
              <a:rPr lang="zh-CN" altLang="en-US" sz="2800" b="1">
                <a:latin typeface="Tahoma" panose="020B0604030504040204" pitchFamily="34" charset="0"/>
              </a:rPr>
              <a:t>）语言是</a:t>
            </a:r>
            <a:r>
              <a:rPr lang="en-US" altLang="zh-CN" sz="2800" b="1">
                <a:latin typeface="Tahoma" panose="020B0604030504040204" pitchFamily="34" charset="0"/>
              </a:rPr>
              <a:t>Microsoft</a:t>
            </a:r>
            <a:r>
              <a:rPr lang="zh-CN" altLang="en-US" sz="2800" b="1">
                <a:latin typeface="Tahoma" panose="020B0604030504040204" pitchFamily="34" charset="0"/>
              </a:rPr>
              <a:t>公司在</a:t>
            </a:r>
            <a:r>
              <a:rPr lang="en-US" altLang="zh-CN" sz="2800" b="1">
                <a:latin typeface="Tahoma" panose="020B0604030504040204" pitchFamily="34" charset="0"/>
              </a:rPr>
              <a:t>SQL Server</a:t>
            </a:r>
            <a:r>
              <a:rPr lang="zh-CN" altLang="en-US" sz="2800" b="1">
                <a:latin typeface="Tahoma" panose="020B0604030504040204" pitchFamily="34" charset="0"/>
              </a:rPr>
              <a:t>中对标准</a:t>
            </a:r>
            <a:r>
              <a:rPr lang="en-US" altLang="zh-CN" sz="2800" b="1">
                <a:latin typeface="Tahoma" panose="020B0604030504040204" pitchFamily="34" charset="0"/>
              </a:rPr>
              <a:t>SQL</a:t>
            </a:r>
            <a:r>
              <a:rPr lang="zh-CN" altLang="en-US" sz="2800" b="1">
                <a:latin typeface="Tahoma" panose="020B0604030504040204" pitchFamily="34" charset="0"/>
              </a:rPr>
              <a:t>语言的扩展。</a:t>
            </a:r>
            <a:endParaRPr lang="en-US" altLang="zh-CN" sz="2800" b="1">
              <a:latin typeface="Tahom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6221"/>
    </mc:Choice>
    <mc:Fallback xmlns="">
      <p:transition spd="slow" advTm="622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a:extLst>
              <a:ext uri="{FF2B5EF4-FFF2-40B4-BE49-F238E27FC236}">
                <a16:creationId xmlns:a16="http://schemas.microsoft.com/office/drawing/2014/main" id="{A8EE20F2-D331-46EA-AAFE-686712207716}"/>
              </a:ext>
            </a:extLst>
          </p:cNvPr>
          <p:cNvSpPr>
            <a:spLocks noChangeArrowheads="1"/>
          </p:cNvSpPr>
          <p:nvPr/>
        </p:nvSpPr>
        <p:spPr bwMode="auto">
          <a:xfrm>
            <a:off x="71438" y="71438"/>
            <a:ext cx="8748712" cy="1557337"/>
          </a:xfrm>
          <a:prstGeom prst="rect">
            <a:avLst/>
          </a:prstGeom>
          <a:solidFill>
            <a:schemeClr val="bg1"/>
          </a:solidFill>
          <a:ln w="12700" cap="sq">
            <a:solidFill>
              <a:schemeClr val="bg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ctr" eaLnBrk="1" hangingPunct="1"/>
            <a:endParaRPr lang="zh-CN" altLang="en-US"/>
          </a:p>
        </p:txBody>
      </p:sp>
      <p:sp>
        <p:nvSpPr>
          <p:cNvPr id="911365" name="Rectangle 5">
            <a:extLst>
              <a:ext uri="{FF2B5EF4-FFF2-40B4-BE49-F238E27FC236}">
                <a16:creationId xmlns:a16="http://schemas.microsoft.com/office/drawing/2014/main" id="{AD6C30D9-65AD-4846-867F-192EF2037FFC}"/>
              </a:ext>
            </a:extLst>
          </p:cNvPr>
          <p:cNvSpPr>
            <a:spLocks noChangeArrowheads="1"/>
          </p:cNvSpPr>
          <p:nvPr/>
        </p:nvSpPr>
        <p:spPr bwMode="auto">
          <a:xfrm>
            <a:off x="496888" y="765175"/>
            <a:ext cx="8208962" cy="5330825"/>
          </a:xfrm>
          <a:prstGeom prst="rect">
            <a:avLst/>
          </a:prstGeom>
          <a:noFill/>
          <a:ln w="9525">
            <a:solidFill>
              <a:srgbClr val="00CC00"/>
            </a:solidFill>
            <a:miter lim="800000"/>
            <a:headEnd/>
            <a:tailEnd/>
          </a:ln>
          <a:effectLst>
            <a:outerShdw dist="17961" dir="2700000" algn="ctr" rotWithShape="0">
              <a:srgbClr val="808080"/>
            </a:outerShdw>
          </a:effectLst>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30000"/>
              </a:lnSpc>
              <a:buClr>
                <a:schemeClr val="folHlink"/>
              </a:buClr>
              <a:buSzPct val="60000"/>
              <a:buFont typeface="Wingdings" panose="05000000000000000000" pitchFamily="2" charset="2"/>
              <a:buNone/>
            </a:pPr>
            <a:r>
              <a:rPr lang="zh-CN" altLang="en-US" sz="2800" b="1" dirty="0">
                <a:latin typeface="Tahoma" panose="020B0604030504040204" pitchFamily="34" charset="0"/>
                <a:ea typeface="黑体" panose="02010609060101010101" pitchFamily="49" charset="-122"/>
              </a:rPr>
              <a:t> </a:t>
            </a:r>
            <a:endParaRPr lang="zh-CN" altLang="en-US" sz="2400" b="1" dirty="0">
              <a:latin typeface="Tahoma" panose="020B0604030504040204" pitchFamily="34" charset="0"/>
              <a:ea typeface="黑体" panose="02010609060101010101" pitchFamily="49" charset="-122"/>
            </a:endParaRPr>
          </a:p>
          <a:p>
            <a:pPr eaLnBrk="1" hangingPunct="1">
              <a:lnSpc>
                <a:spcPct val="170000"/>
              </a:lnSpc>
              <a:buClr>
                <a:schemeClr val="folHlink"/>
              </a:buClr>
              <a:buSzPct val="60000"/>
              <a:buFont typeface="Wingdings" panose="05000000000000000000" pitchFamily="2" charset="2"/>
              <a:buNone/>
            </a:pPr>
            <a:r>
              <a:rPr lang="zh-CN" altLang="en-US" sz="2400" b="1" dirty="0">
                <a:latin typeface="Tahoma" panose="020B0604030504040204" pitchFamily="34" charset="0"/>
                <a:ea typeface="黑体" panose="02010609060101010101" pitchFamily="49" charset="-122"/>
              </a:rPr>
              <a:t>          </a:t>
            </a:r>
            <a:r>
              <a:rPr lang="zh-CN" altLang="en-US" sz="2800" b="1" dirty="0">
                <a:solidFill>
                  <a:srgbClr val="660033"/>
                </a:solidFill>
                <a:latin typeface="Tahoma" panose="020B0604030504040204" pitchFamily="34" charset="0"/>
                <a:ea typeface="华文新魏" panose="02010800040101010101" pitchFamily="2" charset="-122"/>
              </a:rPr>
              <a:t>为了</a:t>
            </a:r>
            <a:r>
              <a:rPr lang="zh-CN" altLang="en-US" sz="2800" b="1" dirty="0">
                <a:latin typeface="Tahoma" panose="020B0604030504040204" pitchFamily="34" charset="0"/>
                <a:ea typeface="黑体" panose="02010609060101010101" pitchFamily="49" charset="-122"/>
              </a:rPr>
              <a:t>提高</a:t>
            </a:r>
            <a:r>
              <a:rPr lang="en-US" altLang="zh-CN" sz="2800" b="1" dirty="0">
                <a:latin typeface="Tahoma" panose="020B0604030504040204" pitchFamily="34" charset="0"/>
                <a:ea typeface="黑体" panose="02010609060101010101" pitchFamily="49" charset="-122"/>
              </a:rPr>
              <a:t>SQL</a:t>
            </a:r>
            <a:r>
              <a:rPr lang="zh-CN" altLang="en-US" sz="2800" b="1" dirty="0">
                <a:latin typeface="Tahoma" panose="020B0604030504040204" pitchFamily="34" charset="0"/>
                <a:ea typeface="黑体" panose="02010609060101010101" pitchFamily="49" charset="-122"/>
              </a:rPr>
              <a:t>的</a:t>
            </a:r>
            <a:r>
              <a:rPr lang="zh-CN" altLang="en-US" sz="2800" b="1" dirty="0">
                <a:solidFill>
                  <a:srgbClr val="0000FF"/>
                </a:solidFill>
                <a:latin typeface="Tahoma" panose="020B0604030504040204" pitchFamily="34" charset="0"/>
                <a:ea typeface="黑体" panose="02010609060101010101" pitchFamily="49" charset="-122"/>
              </a:rPr>
              <a:t>数据处理功能</a:t>
            </a:r>
            <a:r>
              <a:rPr lang="zh-CN" altLang="en-US" sz="2800" b="1" dirty="0">
                <a:latin typeface="Tahoma" panose="020B0604030504040204" pitchFamily="34" charset="0"/>
                <a:ea typeface="黑体" panose="02010609060101010101" pitchFamily="49" charset="-122"/>
              </a:rPr>
              <a:t>，增加更加灵活的</a:t>
            </a:r>
            <a:r>
              <a:rPr lang="zh-CN" altLang="en-US" sz="2800" b="1" dirty="0">
                <a:solidFill>
                  <a:srgbClr val="0000FF"/>
                </a:solidFill>
                <a:latin typeface="Tahoma" panose="020B0604030504040204" pitchFamily="34" charset="0"/>
                <a:ea typeface="黑体" panose="02010609060101010101" pitchFamily="49" charset="-122"/>
              </a:rPr>
              <a:t>控制功能</a:t>
            </a:r>
            <a:r>
              <a:rPr lang="zh-CN" altLang="en-US" sz="2800" b="1" dirty="0">
                <a:latin typeface="Tahoma" panose="020B0604030504040204" pitchFamily="34" charset="0"/>
                <a:ea typeface="黑体" panose="02010609060101010101" pitchFamily="49" charset="-122"/>
              </a:rPr>
              <a:t>，实现应用程序与</a:t>
            </a:r>
            <a:r>
              <a:rPr lang="en-US" altLang="zh-CN" sz="2800" b="1" dirty="0">
                <a:latin typeface="Tahoma" panose="020B0604030504040204" pitchFamily="34" charset="0"/>
                <a:ea typeface="黑体" panose="02010609060101010101" pitchFamily="49" charset="-122"/>
              </a:rPr>
              <a:t>SQL Server</a:t>
            </a:r>
            <a:r>
              <a:rPr lang="zh-CN" altLang="en-US" sz="2800" b="1" dirty="0">
                <a:latin typeface="Tahoma" panose="020B0604030504040204" pitchFamily="34" charset="0"/>
                <a:ea typeface="黑体" panose="02010609060101010101" pitchFamily="49" charset="-122"/>
              </a:rPr>
              <a:t>服务器的</a:t>
            </a:r>
            <a:r>
              <a:rPr lang="zh-CN" altLang="en-US" sz="2800" b="1" dirty="0">
                <a:solidFill>
                  <a:srgbClr val="0000FF"/>
                </a:solidFill>
                <a:latin typeface="Tahoma" panose="020B0604030504040204" pitchFamily="34" charset="0"/>
                <a:ea typeface="黑体" panose="02010609060101010101" pitchFamily="49" charset="-122"/>
              </a:rPr>
              <a:t>通信</a:t>
            </a:r>
            <a:r>
              <a:rPr lang="en-US" altLang="zh-CN" sz="2800" b="1" dirty="0">
                <a:latin typeface="Tahoma" panose="020B0604030504040204" pitchFamily="34" charset="0"/>
                <a:ea typeface="黑体" panose="02010609060101010101" pitchFamily="49" charset="-122"/>
              </a:rPr>
              <a:t>,</a:t>
            </a:r>
            <a:r>
              <a:rPr lang="zh-CN" altLang="en-US" sz="2800" b="1" dirty="0">
                <a:latin typeface="Tahoma" panose="020B0604030504040204" pitchFamily="34" charset="0"/>
                <a:ea typeface="黑体" panose="02010609060101010101" pitchFamily="49" charset="-122"/>
              </a:rPr>
              <a:t> </a:t>
            </a:r>
            <a:r>
              <a:rPr lang="en-US" altLang="zh-CN" sz="2800" b="1" dirty="0">
                <a:latin typeface="Tahoma" panose="020B0604030504040204" pitchFamily="34" charset="0"/>
                <a:ea typeface="黑体" panose="02010609060101010101" pitchFamily="49" charset="-122"/>
              </a:rPr>
              <a:t>SQL Server </a:t>
            </a:r>
            <a:r>
              <a:rPr lang="zh-CN" altLang="en-US" sz="2800" b="1" dirty="0">
                <a:latin typeface="Tahoma" panose="020B0604030504040204" pitchFamily="34" charset="0"/>
                <a:ea typeface="黑体" panose="02010609060101010101" pitchFamily="49" charset="-122"/>
              </a:rPr>
              <a:t>通过对</a:t>
            </a:r>
            <a:r>
              <a:rPr lang="en-US" altLang="zh-CN" sz="2800" b="1" dirty="0">
                <a:latin typeface="Tahoma" panose="020B0604030504040204" pitchFamily="34" charset="0"/>
                <a:ea typeface="黑体" panose="02010609060101010101" pitchFamily="49" charset="-122"/>
              </a:rPr>
              <a:t>SQL</a:t>
            </a:r>
            <a:r>
              <a:rPr lang="zh-CN" altLang="en-US" sz="2800" b="1" dirty="0">
                <a:latin typeface="Tahoma" panose="020B0604030504040204" pitchFamily="34" charset="0"/>
                <a:ea typeface="黑体" panose="02010609060101010101" pitchFamily="49" charset="-122"/>
              </a:rPr>
              <a:t>的扩展，提供了</a:t>
            </a:r>
            <a:r>
              <a:rPr lang="en-US" altLang="zh-CN" sz="2800" b="1" dirty="0">
                <a:latin typeface="Tahoma" panose="020B0604030504040204" pitchFamily="34" charset="0"/>
                <a:ea typeface="黑体" panose="02010609060101010101" pitchFamily="49" charset="-122"/>
              </a:rPr>
              <a:t>Transact-SQL</a:t>
            </a:r>
            <a:r>
              <a:rPr lang="zh-CN" altLang="en-US" sz="2800" b="1" dirty="0">
                <a:latin typeface="Tahoma" panose="020B0604030504040204" pitchFamily="34" charset="0"/>
                <a:ea typeface="黑体" panose="02010609060101010101" pitchFamily="49" charset="-122"/>
              </a:rPr>
              <a:t>语言。</a:t>
            </a:r>
            <a:endParaRPr lang="en-US" altLang="zh-CN" sz="2800" b="1" dirty="0">
              <a:latin typeface="Tahoma" panose="020B0604030504040204" pitchFamily="34" charset="0"/>
              <a:ea typeface="黑体" panose="02010609060101010101" pitchFamily="49" charset="-122"/>
            </a:endParaRPr>
          </a:p>
          <a:p>
            <a:pPr eaLnBrk="1" hangingPunct="1">
              <a:lnSpc>
                <a:spcPct val="170000"/>
              </a:lnSpc>
              <a:buClr>
                <a:schemeClr val="folHlink"/>
              </a:buClr>
              <a:buSzPct val="60000"/>
            </a:pPr>
            <a:r>
              <a:rPr lang="en-US" altLang="zh-CN" sz="2800" b="1" dirty="0">
                <a:latin typeface="Tahoma" panose="020B0604030504040204" pitchFamily="34" charset="0"/>
                <a:ea typeface="黑体" panose="02010609060101010101" pitchFamily="49" charset="-122"/>
              </a:rPr>
              <a:t>           PL/SQL</a:t>
            </a:r>
            <a:r>
              <a:rPr lang="zh-CN" altLang="en-US" sz="2800" b="1" dirty="0">
                <a:latin typeface="Tahoma" panose="020B0604030504040204" pitchFamily="34" charset="0"/>
                <a:ea typeface="黑体" panose="02010609060101010101" pitchFamily="49" charset="-122"/>
              </a:rPr>
              <a:t>也是一种程序语言，叫做过程化</a:t>
            </a:r>
            <a:r>
              <a:rPr lang="en-US" altLang="zh-CN" sz="2800" b="1" dirty="0">
                <a:latin typeface="Tahoma" panose="020B0604030504040204" pitchFamily="34" charset="0"/>
                <a:ea typeface="黑体" panose="02010609060101010101" pitchFamily="49" charset="-122"/>
              </a:rPr>
              <a:t>SQL</a:t>
            </a:r>
            <a:r>
              <a:rPr lang="zh-CN" altLang="en-US" sz="2800" b="1" dirty="0">
                <a:latin typeface="Tahoma" panose="020B0604030504040204" pitchFamily="34" charset="0"/>
                <a:ea typeface="黑体" panose="02010609060101010101" pitchFamily="49" charset="-122"/>
              </a:rPr>
              <a:t>语言（</a:t>
            </a:r>
            <a:r>
              <a:rPr lang="en-US" altLang="zh-CN" sz="2800" b="1" dirty="0">
                <a:latin typeface="Tahoma" panose="020B0604030504040204" pitchFamily="34" charset="0"/>
                <a:ea typeface="黑体" panose="02010609060101010101" pitchFamily="49" charset="-122"/>
              </a:rPr>
              <a:t>Procedural Language/SQL</a:t>
            </a:r>
            <a:r>
              <a:rPr lang="zh-CN" altLang="en-US" sz="2800" b="1" dirty="0">
                <a:latin typeface="Tahoma" panose="020B0604030504040204" pitchFamily="34" charset="0"/>
                <a:ea typeface="黑体" panose="02010609060101010101" pitchFamily="49" charset="-122"/>
              </a:rPr>
              <a:t>），是</a:t>
            </a:r>
            <a:r>
              <a:rPr lang="en-US" altLang="zh-CN" sz="2800" b="1" dirty="0">
                <a:latin typeface="Tahoma" panose="020B0604030504040204" pitchFamily="34" charset="0"/>
                <a:ea typeface="黑体" panose="02010609060101010101" pitchFamily="49" charset="-122"/>
                <a:hlinkClick r:id="rId2">
                  <a:extLst>
                    <a:ext uri="{A12FA001-AC4F-418D-AE19-62706E023703}">
                      <ahyp:hlinkClr xmlns:ahyp="http://schemas.microsoft.com/office/drawing/2018/hyperlinkcolor" val="tx"/>
                    </a:ext>
                  </a:extLst>
                </a:hlinkClick>
              </a:rPr>
              <a:t>Oracle</a:t>
            </a:r>
            <a:r>
              <a:rPr lang="zh-CN" altLang="en-US" sz="2800" b="1" dirty="0">
                <a:latin typeface="Tahoma" panose="020B0604030504040204" pitchFamily="34" charset="0"/>
                <a:ea typeface="黑体" panose="02010609060101010101" pitchFamily="49" charset="-122"/>
                <a:hlinkClick r:id="rId2">
                  <a:extLst>
                    <a:ext uri="{A12FA001-AC4F-418D-AE19-62706E023703}">
                      <ahyp:hlinkClr xmlns:ahyp="http://schemas.microsoft.com/office/drawing/2018/hyperlinkcolor" val="tx"/>
                    </a:ext>
                  </a:extLst>
                </a:hlinkClick>
              </a:rPr>
              <a:t>数据库</a:t>
            </a:r>
            <a:r>
              <a:rPr lang="zh-CN" altLang="en-US" sz="2800" b="1" dirty="0">
                <a:latin typeface="Tahoma" panose="020B0604030504040204" pitchFamily="34" charset="0"/>
                <a:ea typeface="黑体" panose="02010609060101010101" pitchFamily="49" charset="-122"/>
              </a:rPr>
              <a:t>对</a:t>
            </a:r>
            <a:r>
              <a:rPr lang="en-US" altLang="zh-CN" sz="2800" b="1" dirty="0">
                <a:latin typeface="Tahoma" panose="020B0604030504040204" pitchFamily="34" charset="0"/>
                <a:ea typeface="黑体" panose="02010609060101010101" pitchFamily="49" charset="-122"/>
              </a:rPr>
              <a:t>SQL</a:t>
            </a:r>
            <a:r>
              <a:rPr lang="zh-CN" altLang="en-US" sz="2800" b="1" dirty="0">
                <a:latin typeface="Tahoma" panose="020B0604030504040204" pitchFamily="34" charset="0"/>
                <a:ea typeface="黑体" panose="02010609060101010101" pitchFamily="49" charset="-122"/>
              </a:rPr>
              <a:t>语句的扩展。</a:t>
            </a:r>
            <a:endParaRPr lang="en-US" altLang="zh-CN" sz="2800" b="1" dirty="0">
              <a:latin typeface="Tahoma" panose="020B0604030504040204" pitchFamily="34" charset="0"/>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1818"/>
    </mc:Choice>
    <mc:Fallback xmlns="">
      <p:transition spd="slow" advTm="2181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911365">
                                            <p:txEl>
                                              <p:pRg st="1" end="1"/>
                                            </p:txEl>
                                          </p:spTgt>
                                        </p:tgtEl>
                                        <p:attrNameLst>
                                          <p:attrName>style.visibility</p:attrName>
                                        </p:attrNameLst>
                                      </p:cBhvr>
                                      <p:to>
                                        <p:strVal val="visible"/>
                                      </p:to>
                                    </p:set>
                                    <p:animEffect transition="in" filter="wipe(up)">
                                      <p:cBhvr>
                                        <p:cTn id="7" dur="500"/>
                                        <p:tgtEl>
                                          <p:spTgt spid="911365">
                                            <p:txEl>
                                              <p:pRg st="1" end="1"/>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11365">
                                            <p:txEl>
                                              <p:pRg st="2" end="2"/>
                                            </p:txEl>
                                          </p:spTgt>
                                        </p:tgtEl>
                                        <p:attrNameLst>
                                          <p:attrName>style.visibility</p:attrName>
                                        </p:attrNameLst>
                                      </p:cBhvr>
                                      <p:to>
                                        <p:strVal val="visible"/>
                                      </p:to>
                                    </p:set>
                                    <p:animEffect transition="in" filter="wipe(up)">
                                      <p:cBhvr>
                                        <p:cTn id="11" dur="500"/>
                                        <p:tgtEl>
                                          <p:spTgt spid="91136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100" name="Rectangle 4">
            <a:extLst>
              <a:ext uri="{FF2B5EF4-FFF2-40B4-BE49-F238E27FC236}">
                <a16:creationId xmlns:a16="http://schemas.microsoft.com/office/drawing/2014/main" id="{007F9FC7-336F-4B5F-A67F-58429F0EC13E}"/>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二、</a:t>
            </a:r>
            <a:r>
              <a:rPr lang="en-US" altLang="zh-CN" sz="3600" b="1">
                <a:solidFill>
                  <a:schemeClr val="tx2"/>
                </a:solidFill>
                <a:effectLst>
                  <a:outerShdw blurRad="38100" dist="38100" dir="2700000" algn="tl">
                    <a:srgbClr val="C0C0C0"/>
                  </a:outerShdw>
                </a:effectLst>
                <a:latin typeface="Tahoma" pitchFamily="34" charset="0"/>
                <a:ea typeface="幼圆" pitchFamily="49" charset="-122"/>
              </a:rPr>
              <a:t>Transact-SQL</a:t>
            </a: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的基本性能</a:t>
            </a:r>
          </a:p>
        </p:txBody>
      </p:sp>
      <p:sp>
        <p:nvSpPr>
          <p:cNvPr id="900101" name="Rectangle 5">
            <a:extLst>
              <a:ext uri="{FF2B5EF4-FFF2-40B4-BE49-F238E27FC236}">
                <a16:creationId xmlns:a16="http://schemas.microsoft.com/office/drawing/2014/main" id="{71479C4C-2441-4287-BCD3-248F41DB21CF}"/>
              </a:ext>
            </a:extLst>
          </p:cNvPr>
          <p:cNvSpPr>
            <a:spLocks noChangeArrowheads="1"/>
          </p:cNvSpPr>
          <p:nvPr/>
        </p:nvSpPr>
        <p:spPr bwMode="auto">
          <a:xfrm>
            <a:off x="611188" y="1171575"/>
            <a:ext cx="7993062" cy="5327650"/>
          </a:xfrm>
          <a:prstGeom prst="rect">
            <a:avLst/>
          </a:prstGeom>
          <a:noFill/>
          <a:ln>
            <a:noFill/>
          </a:ln>
          <a:effectLst>
            <a:outerShdw dist="12700" dir="54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45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T-SQL</a:t>
            </a:r>
            <a:r>
              <a:rPr lang="zh-CN" altLang="en-US" sz="2800" b="1">
                <a:solidFill>
                  <a:srgbClr val="FF0000"/>
                </a:solidFill>
                <a:latin typeface="Tahoma" panose="020B0604030504040204" pitchFamily="34" charset="0"/>
              </a:rPr>
              <a:t>（不仅）</a:t>
            </a:r>
            <a:r>
              <a:rPr lang="zh-CN" altLang="en-US" sz="2800" b="1">
                <a:latin typeface="Tahoma" panose="020B0604030504040204" pitchFamily="34" charset="0"/>
              </a:rPr>
              <a:t>具有</a:t>
            </a:r>
            <a:r>
              <a:rPr lang="en-US" altLang="zh-CN" sz="2800" b="1">
                <a:latin typeface="Tahoma" panose="020B0604030504040204" pitchFamily="34" charset="0"/>
              </a:rPr>
              <a:t>SQL</a:t>
            </a:r>
            <a:r>
              <a:rPr lang="zh-CN" altLang="en-US" sz="2800" b="1">
                <a:latin typeface="Tahoma" panose="020B0604030504040204" pitchFamily="34" charset="0"/>
              </a:rPr>
              <a:t>的主要特点。</a:t>
            </a:r>
            <a:r>
              <a:rPr lang="en-US" altLang="zh-CN" sz="2800" b="1">
                <a:latin typeface="Tahoma" panose="020B0604030504040204" pitchFamily="34" charset="0"/>
              </a:rPr>
              <a:t>T-SQL</a:t>
            </a:r>
            <a:r>
              <a:rPr lang="zh-CN" altLang="en-US" sz="2800" b="1">
                <a:solidFill>
                  <a:srgbClr val="FF0000"/>
                </a:solidFill>
                <a:latin typeface="Tahoma" panose="020B0604030504040204" pitchFamily="34" charset="0"/>
              </a:rPr>
              <a:t>（而且）</a:t>
            </a:r>
            <a:r>
              <a:rPr lang="zh-CN" altLang="en-US" sz="2800" b="1">
                <a:latin typeface="Tahoma" panose="020B0604030504040204" pitchFamily="34" charset="0"/>
              </a:rPr>
              <a:t>增加了变量、运算符、函数、流程控制和注释等</a:t>
            </a:r>
            <a:r>
              <a:rPr lang="zh-CN" altLang="en-US" sz="2800" b="1">
                <a:solidFill>
                  <a:srgbClr val="0000FF"/>
                </a:solidFill>
                <a:latin typeface="Tahoma" panose="020B0604030504040204" pitchFamily="34" charset="0"/>
              </a:rPr>
              <a:t>（一般的程序）</a:t>
            </a:r>
            <a:r>
              <a:rPr lang="zh-CN" altLang="en-US" sz="2800" b="1">
                <a:latin typeface="Tahoma" panose="020B0604030504040204" pitchFamily="34" charset="0"/>
              </a:rPr>
              <a:t>语言元素。</a:t>
            </a:r>
          </a:p>
          <a:p>
            <a:pPr eaLnBrk="1" hangingPunct="1">
              <a:lnSpc>
                <a:spcPct val="145000"/>
              </a:lnSpc>
            </a:pPr>
            <a:r>
              <a:rPr lang="zh-CN" altLang="en-US" sz="2800" b="1">
                <a:latin typeface="Tahoma" panose="020B0604030504040204" pitchFamily="34" charset="0"/>
              </a:rPr>
              <a:t>      </a:t>
            </a:r>
            <a:r>
              <a:rPr lang="en-US" altLang="zh-CN" sz="2800" b="1">
                <a:latin typeface="Tahoma" panose="020B0604030504040204" pitchFamily="34" charset="0"/>
              </a:rPr>
              <a:t>T-SQL</a:t>
            </a:r>
            <a:r>
              <a:rPr lang="zh-CN" altLang="en-US" sz="2800" b="1">
                <a:solidFill>
                  <a:srgbClr val="FF0000"/>
                </a:solidFill>
                <a:latin typeface="Tahoma" panose="020B0604030504040204" pitchFamily="34" charset="0"/>
              </a:rPr>
              <a:t>（除了）</a:t>
            </a:r>
            <a:r>
              <a:rPr lang="zh-CN" altLang="en-US" sz="2800" b="1">
                <a:latin typeface="Tahoma" panose="020B0604030504040204" pitchFamily="34" charset="0"/>
              </a:rPr>
              <a:t>提供强大的数据处理功能。可以</a:t>
            </a:r>
            <a:r>
              <a:rPr lang="zh-CN" altLang="en-US" sz="2800" b="1">
                <a:solidFill>
                  <a:srgbClr val="FF0000"/>
                </a:solidFill>
                <a:latin typeface="Tahoma" panose="020B0604030504040204" pitchFamily="34" charset="0"/>
              </a:rPr>
              <a:t>（特别是）</a:t>
            </a:r>
            <a:r>
              <a:rPr lang="zh-CN" altLang="en-US" sz="2800" b="1">
                <a:latin typeface="Tahoma" panose="020B0604030504040204" pitchFamily="34" charset="0"/>
              </a:rPr>
              <a:t>在</a:t>
            </a:r>
            <a:r>
              <a:rPr lang="en-US" altLang="zh-CN" sz="2800" b="1">
                <a:latin typeface="Tahoma" panose="020B0604030504040204" pitchFamily="34" charset="0"/>
              </a:rPr>
              <a:t>C/S</a:t>
            </a:r>
            <a:r>
              <a:rPr lang="zh-CN" altLang="en-US" sz="2800" b="1">
                <a:latin typeface="Tahoma" panose="020B0604030504040204" pitchFamily="34" charset="0"/>
              </a:rPr>
              <a:t>结构和</a:t>
            </a:r>
            <a:r>
              <a:rPr lang="en-US" altLang="zh-CN" sz="2800" b="1">
                <a:latin typeface="Tahoma" panose="020B0604030504040204" pitchFamily="34" charset="0"/>
              </a:rPr>
              <a:t>B/S</a:t>
            </a:r>
            <a:r>
              <a:rPr lang="zh-CN" altLang="en-US" sz="2800" b="1">
                <a:latin typeface="Tahoma" panose="020B0604030504040204" pitchFamily="34" charset="0"/>
              </a:rPr>
              <a:t>结构的</a:t>
            </a:r>
            <a:r>
              <a:rPr lang="en-US" altLang="zh-CN" sz="2800" b="1">
                <a:latin typeface="Tahoma" panose="020B0604030504040204" pitchFamily="34" charset="0"/>
              </a:rPr>
              <a:t>Web</a:t>
            </a:r>
            <a:r>
              <a:rPr lang="zh-CN" altLang="en-US" sz="2800" b="1">
                <a:latin typeface="Tahoma" panose="020B0604030504040204" pitchFamily="34" charset="0"/>
              </a:rPr>
              <a:t>应用程序环境下，通过向服务器发送</a:t>
            </a:r>
            <a:r>
              <a:rPr lang="en-US" altLang="zh-CN" sz="2800" b="1">
                <a:latin typeface="Tahoma" panose="020B0604030504040204" pitchFamily="34" charset="0"/>
              </a:rPr>
              <a:t>T-SQL</a:t>
            </a:r>
            <a:r>
              <a:rPr lang="zh-CN" altLang="en-US" sz="2800" b="1">
                <a:latin typeface="Tahoma" panose="020B0604030504040204" pitchFamily="34" charset="0"/>
              </a:rPr>
              <a:t>语句，实现了应用程序与</a:t>
            </a:r>
            <a:r>
              <a:rPr lang="en-US" altLang="zh-CN" sz="2800" b="1">
                <a:latin typeface="Tahoma" panose="020B0604030504040204" pitchFamily="34" charset="0"/>
              </a:rPr>
              <a:t>SQL Server</a:t>
            </a:r>
            <a:r>
              <a:rPr lang="zh-CN" altLang="en-US" sz="2800" b="1">
                <a:latin typeface="Tahoma" panose="020B0604030504040204" pitchFamily="34" charset="0"/>
              </a:rPr>
              <a:t>服务器的通信。 </a:t>
            </a:r>
            <a:endParaRPr lang="en-US" altLang="zh-CN" sz="2800" b="1">
              <a:latin typeface="Tahom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21492"/>
    </mc:Choice>
    <mc:Fallback xmlns="">
      <p:transition spd="slow" advTm="21492"/>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8290" name="Rectangle 2">
            <a:extLst>
              <a:ext uri="{FF2B5EF4-FFF2-40B4-BE49-F238E27FC236}">
                <a16:creationId xmlns:a16="http://schemas.microsoft.com/office/drawing/2014/main" id="{1F0D543C-E860-4F48-A565-C07B34AA4E91}"/>
              </a:ext>
            </a:extLst>
          </p:cNvPr>
          <p:cNvSpPr>
            <a:spLocks noGrp="1" noChangeArrowheads="1"/>
          </p:cNvSpPr>
          <p:nvPr>
            <p:ph type="ctrTitle"/>
          </p:nvPr>
        </p:nvSpPr>
        <p:spPr>
          <a:xfrm>
            <a:off x="827088" y="1535113"/>
            <a:ext cx="8137525" cy="1462087"/>
          </a:xfrm>
        </p:spPr>
        <p:txBody>
          <a:bodyPr/>
          <a:lstStyle/>
          <a:p>
            <a:pPr eaLnBrk="1" hangingPunct="1">
              <a:defRPr/>
            </a:pPr>
            <a:r>
              <a:rPr lang="en-US" altLang="zh-CN"/>
              <a:t>7.1</a:t>
            </a:r>
            <a:r>
              <a:rPr lang="zh-CN" altLang="en-US"/>
              <a:t>  脚本、批处理与注释符 </a:t>
            </a:r>
          </a:p>
        </p:txBody>
      </p:sp>
      <p:sp>
        <p:nvSpPr>
          <p:cNvPr id="908291" name="Rectangle 3">
            <a:extLst>
              <a:ext uri="{FF2B5EF4-FFF2-40B4-BE49-F238E27FC236}">
                <a16:creationId xmlns:a16="http://schemas.microsoft.com/office/drawing/2014/main" id="{1FD50DBC-09E0-4024-A589-091722F3A92A}"/>
              </a:ext>
            </a:extLst>
          </p:cNvPr>
          <p:cNvSpPr>
            <a:spLocks noChangeArrowheads="1"/>
          </p:cNvSpPr>
          <p:nvPr/>
        </p:nvSpPr>
        <p:spPr bwMode="auto">
          <a:xfrm>
            <a:off x="71438" y="80963"/>
            <a:ext cx="4860925" cy="574675"/>
          </a:xfrm>
          <a:prstGeom prst="rect">
            <a:avLst/>
          </a:prstGeom>
          <a:gradFill rotWithShape="1">
            <a:gsLst>
              <a:gs pos="0">
                <a:srgbClr val="C0C0C0"/>
              </a:gs>
              <a:gs pos="100000">
                <a:srgbClr val="C0C0C0">
                  <a:gamma/>
                  <a:tint val="0"/>
                  <a:invGamma/>
                </a:srgbClr>
              </a:gs>
            </a:gsLst>
            <a:path path="shape">
              <a:fillToRect l="50000" t="50000" r="50000" b="50000"/>
            </a:path>
          </a:gradFill>
          <a:ln w="9525">
            <a:noFill/>
            <a:miter lim="800000"/>
            <a:headEnd/>
            <a:tailEnd/>
          </a:ln>
          <a:effectLst/>
        </p:spPr>
        <p:txBody>
          <a:bodyPr tIns="76176" bIns="72000" anchor="ctr" anchorCtr="1">
            <a:spAutoFit/>
          </a:bodyPr>
          <a:lstStyle/>
          <a:p>
            <a:pPr>
              <a:defRPr/>
            </a:pPr>
            <a:r>
              <a:rPr lang="zh-CN" altLang="en-US" sz="2400" b="1">
                <a:solidFill>
                  <a:srgbClr val="993300"/>
                </a:solidFill>
                <a:effectLst>
                  <a:outerShdw blurRad="38100" dist="38100" dir="2700000" algn="tl">
                    <a:srgbClr val="000000"/>
                  </a:outerShdw>
                </a:effectLst>
                <a:latin typeface="Arial" charset="0"/>
                <a:ea typeface="隶书" pitchFamily="49" charset="-122"/>
              </a:rPr>
              <a:t>第</a:t>
            </a:r>
            <a:r>
              <a:rPr lang="en-US" altLang="zh-CN" sz="2400" b="1">
                <a:solidFill>
                  <a:srgbClr val="993300"/>
                </a:solidFill>
                <a:effectLst>
                  <a:outerShdw blurRad="38100" dist="38100" dir="2700000" algn="tl">
                    <a:srgbClr val="000000"/>
                  </a:outerShdw>
                </a:effectLst>
                <a:latin typeface="Arial" charset="0"/>
                <a:ea typeface="隶书" pitchFamily="49" charset="-122"/>
              </a:rPr>
              <a:t>7</a:t>
            </a:r>
            <a:r>
              <a:rPr lang="zh-CN" altLang="en-US" sz="2400" b="1">
                <a:solidFill>
                  <a:srgbClr val="993300"/>
                </a:solidFill>
                <a:effectLst>
                  <a:outerShdw blurRad="38100" dist="38100" dir="2700000" algn="tl">
                    <a:srgbClr val="000000"/>
                  </a:outerShdw>
                </a:effectLst>
                <a:latin typeface="Arial" charset="0"/>
                <a:ea typeface="隶书" pitchFamily="49" charset="-122"/>
              </a:rPr>
              <a:t>章</a:t>
            </a:r>
            <a:r>
              <a:rPr lang="zh-CN" altLang="en-US" sz="2400" b="1">
                <a:solidFill>
                  <a:schemeClr val="tx2"/>
                </a:solidFill>
                <a:effectLst>
                  <a:outerShdw blurRad="38100" dist="38100" dir="2700000" algn="tl">
                    <a:srgbClr val="000000"/>
                  </a:outerShdw>
                </a:effectLst>
                <a:latin typeface="Arial" charset="0"/>
              </a:rPr>
              <a:t>  </a:t>
            </a:r>
            <a:r>
              <a:rPr lang="en-US" altLang="zh-CN" sz="2400" b="1">
                <a:solidFill>
                  <a:srgbClr val="993300"/>
                </a:solidFill>
                <a:effectLst>
                  <a:outerShdw blurRad="38100" dist="38100" dir="2700000" algn="tl">
                    <a:srgbClr val="000000"/>
                  </a:outerShdw>
                </a:effectLst>
                <a:latin typeface="Arial" charset="0"/>
                <a:ea typeface="隶书" pitchFamily="49" charset="-122"/>
              </a:rPr>
              <a:t>Transact-SQL</a:t>
            </a:r>
            <a:r>
              <a:rPr lang="zh-CN" altLang="en-US" sz="2400" b="1">
                <a:solidFill>
                  <a:srgbClr val="993300"/>
                </a:solidFill>
                <a:effectLst>
                  <a:outerShdw blurRad="38100" dist="38100" dir="2700000" algn="tl">
                    <a:srgbClr val="000000"/>
                  </a:outerShdw>
                </a:effectLst>
                <a:latin typeface="Arial" charset="0"/>
                <a:ea typeface="隶书" pitchFamily="49" charset="-122"/>
              </a:rPr>
              <a:t>与存储过程</a:t>
            </a:r>
            <a:r>
              <a:rPr lang="zh-CN" altLang="en-US" sz="2800" b="1">
                <a:solidFill>
                  <a:srgbClr val="993300"/>
                </a:solidFill>
                <a:effectLst>
                  <a:outerShdw blurRad="38100" dist="38100" dir="2700000" algn="tl">
                    <a:srgbClr val="000000"/>
                  </a:outerShdw>
                </a:effectLst>
                <a:latin typeface="Arial" charset="0"/>
                <a:ea typeface="隶书" pitchFamily="49" charset="-122"/>
              </a:rPr>
              <a:t> </a:t>
            </a:r>
          </a:p>
        </p:txBody>
      </p:sp>
    </p:spTree>
  </p:cSld>
  <p:clrMapOvr>
    <a:masterClrMapping/>
  </p:clrMapOvr>
  <p:transition advTm="3269"/>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908290"/>
                                        </p:tgtEl>
                                        <p:attrNameLst>
                                          <p:attrName>style.visibility</p:attrName>
                                        </p:attrNameLst>
                                      </p:cBhvr>
                                      <p:to>
                                        <p:strVal val="visible"/>
                                      </p:to>
                                    </p:set>
                                    <p:animEffect transition="in" filter="plus(in)">
                                      <p:cBhvr>
                                        <p:cTn id="7" dur="500"/>
                                        <p:tgtEl>
                                          <p:spTgt spid="908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829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2" name="Rectangle 4">
            <a:extLst>
              <a:ext uri="{FF2B5EF4-FFF2-40B4-BE49-F238E27FC236}">
                <a16:creationId xmlns:a16="http://schemas.microsoft.com/office/drawing/2014/main" id="{AF367AC0-C9C4-434D-B25C-2C752FFC4F03}"/>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一、脚本</a:t>
            </a:r>
          </a:p>
        </p:txBody>
      </p:sp>
      <p:sp>
        <p:nvSpPr>
          <p:cNvPr id="903173" name="Rectangle 5">
            <a:extLst>
              <a:ext uri="{FF2B5EF4-FFF2-40B4-BE49-F238E27FC236}">
                <a16:creationId xmlns:a16="http://schemas.microsoft.com/office/drawing/2014/main" id="{349BB34C-0C91-4C0E-B1AC-9B3E884B80A7}"/>
              </a:ext>
            </a:extLst>
          </p:cNvPr>
          <p:cNvSpPr>
            <a:spLocks noChangeArrowheads="1"/>
          </p:cNvSpPr>
          <p:nvPr/>
        </p:nvSpPr>
        <p:spPr bwMode="auto">
          <a:xfrm>
            <a:off x="611188" y="1171575"/>
            <a:ext cx="7993062"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60000"/>
              </a:lnSpc>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rPr>
              <a:t>       </a:t>
            </a:r>
            <a:r>
              <a:rPr lang="en-US" altLang="zh-CN" sz="3000" b="1">
                <a:solidFill>
                  <a:srgbClr val="660033"/>
                </a:solidFill>
                <a:latin typeface="Tahoma" panose="020B0604030504040204" pitchFamily="34" charset="0"/>
                <a:ea typeface="华文新魏" panose="02010800040101010101" pitchFamily="2" charset="-122"/>
              </a:rPr>
              <a:t>1</a:t>
            </a:r>
            <a:r>
              <a:rPr lang="zh-CN" altLang="en-US" sz="3000" b="1">
                <a:solidFill>
                  <a:srgbClr val="660033"/>
                </a:solidFill>
                <a:latin typeface="Tahoma" panose="020B0604030504040204" pitchFamily="34" charset="0"/>
                <a:ea typeface="华文新魏" panose="02010800040101010101" pitchFamily="2" charset="-122"/>
              </a:rPr>
              <a:t>、脚本的概念</a:t>
            </a:r>
          </a:p>
          <a:p>
            <a:pPr eaLnBrk="1" hangingPunct="1">
              <a:lnSpc>
                <a:spcPct val="13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zh-CN" altLang="en-US" sz="2700" b="1">
                <a:latin typeface="Tahoma" panose="020B0604030504040204" pitchFamily="34" charset="0"/>
              </a:rPr>
              <a:t>脚本是一种以</a:t>
            </a:r>
            <a:r>
              <a:rPr lang="zh-CN" altLang="en-US" sz="2700" b="1">
                <a:solidFill>
                  <a:srgbClr val="0000FF"/>
                </a:solidFill>
                <a:latin typeface="Tahoma" panose="020B0604030504040204" pitchFamily="34" charset="0"/>
              </a:rPr>
              <a:t>纯文本</a:t>
            </a:r>
            <a:r>
              <a:rPr lang="zh-CN" altLang="en-US" sz="2700" b="1">
                <a:latin typeface="Tahoma" panose="020B0604030504040204" pitchFamily="34" charset="0"/>
              </a:rPr>
              <a:t>保存的，由一条一条的文字命令组成的</a:t>
            </a:r>
            <a:r>
              <a:rPr lang="zh-CN" altLang="en-US" sz="2700" b="1">
                <a:solidFill>
                  <a:srgbClr val="0000FF"/>
                </a:solidFill>
                <a:latin typeface="Tahoma" panose="020B0604030504040204" pitchFamily="34" charset="0"/>
              </a:rPr>
              <a:t>程序</a:t>
            </a:r>
            <a:r>
              <a:rPr lang="zh-CN" altLang="en-US" sz="2700" b="1">
                <a:latin typeface="Tahoma" panose="020B0604030504040204" pitchFamily="34" charset="0"/>
              </a:rPr>
              <a:t> </a:t>
            </a:r>
            <a:r>
              <a:rPr lang="en-US" altLang="zh-CN" sz="2700" b="1">
                <a:latin typeface="Tahoma" panose="020B0604030504040204" pitchFamily="34" charset="0"/>
              </a:rPr>
              <a:t>{</a:t>
            </a:r>
            <a:r>
              <a:rPr lang="zh-CN" altLang="en-US" sz="2700" b="1">
                <a:latin typeface="Tahoma" panose="020B0604030504040204" pitchFamily="34" charset="0"/>
              </a:rPr>
              <a:t>所以，脚本（程序）可以用记事本打开查看和编辑</a:t>
            </a:r>
            <a:r>
              <a:rPr lang="en-US" altLang="zh-CN" sz="2700" b="1">
                <a:latin typeface="Tahoma" panose="020B0604030504040204" pitchFamily="34" charset="0"/>
              </a:rPr>
              <a:t>}</a:t>
            </a:r>
            <a:r>
              <a:rPr lang="zh-CN" altLang="en-US" sz="2700" b="1">
                <a:latin typeface="Tahoma" panose="020B0604030504040204" pitchFamily="34" charset="0"/>
              </a:rPr>
              <a:t> 。</a:t>
            </a:r>
          </a:p>
          <a:p>
            <a:pPr eaLnBrk="1" hangingPunct="1">
              <a:lnSpc>
                <a:spcPct val="130000"/>
              </a:lnSpc>
              <a:buClr>
                <a:schemeClr val="folHlink"/>
              </a:buClr>
              <a:buSzPct val="60000"/>
              <a:buFont typeface="Wingdings" panose="05000000000000000000" pitchFamily="2" charset="2"/>
              <a:buNone/>
            </a:pPr>
            <a:endParaRPr lang="zh-CN" altLang="en-US" sz="2700" b="1">
              <a:latin typeface="Tahoma" panose="020B0604030504040204" pitchFamily="34" charset="0"/>
            </a:endParaRPr>
          </a:p>
          <a:p>
            <a:pPr eaLnBrk="1" hangingPunct="1">
              <a:lnSpc>
                <a:spcPct val="130000"/>
              </a:lnSpc>
              <a:buClr>
                <a:schemeClr val="folHlink"/>
              </a:buClr>
              <a:buSzPct val="60000"/>
              <a:buFont typeface="Wingdings" panose="05000000000000000000" pitchFamily="2" charset="2"/>
              <a:buNone/>
            </a:pPr>
            <a:r>
              <a:rPr lang="zh-CN" altLang="en-US" sz="2700" b="1">
                <a:latin typeface="Tahoma" panose="020B060403050404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advTm="13297"/>
    </mc:Choice>
    <mc:Fallback xmlns="">
      <p:transition spd="slow" advTm="1329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4" name="Rectangle 4">
            <a:extLst>
              <a:ext uri="{FF2B5EF4-FFF2-40B4-BE49-F238E27FC236}">
                <a16:creationId xmlns:a16="http://schemas.microsoft.com/office/drawing/2014/main" id="{82F16007-A6C9-4F14-B182-5C19397C9141}"/>
              </a:ext>
            </a:extLst>
          </p:cNvPr>
          <p:cNvSpPr>
            <a:spLocks noChangeArrowheads="1"/>
          </p:cNvSpPr>
          <p:nvPr/>
        </p:nvSpPr>
        <p:spPr bwMode="auto">
          <a:xfrm>
            <a:off x="1150938" y="214313"/>
            <a:ext cx="7793037" cy="622300"/>
          </a:xfrm>
          <a:prstGeom prst="rect">
            <a:avLst/>
          </a:prstGeom>
          <a:noFill/>
          <a:ln>
            <a:noFill/>
          </a:ln>
          <a:effectLst>
            <a:outerShdw dist="12700" dir="54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一、脚本</a:t>
            </a:r>
          </a:p>
        </p:txBody>
      </p:sp>
      <p:sp>
        <p:nvSpPr>
          <p:cNvPr id="921605" name="Rectangle 5">
            <a:extLst>
              <a:ext uri="{FF2B5EF4-FFF2-40B4-BE49-F238E27FC236}">
                <a16:creationId xmlns:a16="http://schemas.microsoft.com/office/drawing/2014/main" id="{89CDB49B-7B36-4A28-BA7A-CB526226F742}"/>
              </a:ext>
            </a:extLst>
          </p:cNvPr>
          <p:cNvSpPr>
            <a:spLocks noChangeArrowheads="1"/>
          </p:cNvSpPr>
          <p:nvPr/>
        </p:nvSpPr>
        <p:spPr bwMode="auto">
          <a:xfrm>
            <a:off x="611188" y="1171575"/>
            <a:ext cx="7993062" cy="5327650"/>
          </a:xfrm>
          <a:prstGeom prst="rect">
            <a:avLst/>
          </a:prstGeom>
          <a:noFill/>
          <a:ln>
            <a:noFill/>
          </a:ln>
          <a:effectLst>
            <a:outerShdw dist="12700" dir="54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6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3000" b="1">
                <a:solidFill>
                  <a:srgbClr val="660033"/>
                </a:solidFill>
                <a:latin typeface="Tahoma" panose="020B0604030504040204" pitchFamily="34" charset="0"/>
                <a:ea typeface="华文新魏" panose="02010800040101010101" pitchFamily="2" charset="-122"/>
              </a:rPr>
              <a:t>2</a:t>
            </a:r>
            <a:r>
              <a:rPr lang="zh-CN" altLang="en-US" sz="3000" b="1">
                <a:solidFill>
                  <a:srgbClr val="660033"/>
                </a:solidFill>
                <a:latin typeface="Tahoma" panose="020B0604030504040204" pitchFamily="34" charset="0"/>
                <a:ea typeface="华文新魏" panose="02010800040101010101" pitchFamily="2" charset="-122"/>
              </a:rPr>
              <a:t>、脚本的执行</a:t>
            </a:r>
          </a:p>
          <a:p>
            <a:pPr eaLnBrk="1" hangingPunct="1">
              <a:lnSpc>
                <a:spcPct val="125000"/>
              </a:lnSpc>
            </a:pPr>
            <a:r>
              <a:rPr lang="zh-CN" altLang="en-US" sz="2700" b="1">
                <a:latin typeface="Tahoma" panose="020B0604030504040204" pitchFamily="34" charset="0"/>
              </a:rPr>
              <a:t>       脚本程序的执行实质上就是，由系统的一个解释器将其中的文字命令逐条地翻译成机器可识别的指令，并执行之。</a:t>
            </a:r>
          </a:p>
          <a:p>
            <a:pPr eaLnBrk="1" hangingPunct="1">
              <a:lnSpc>
                <a:spcPct val="125000"/>
              </a:lnSpc>
            </a:pPr>
            <a:r>
              <a:rPr lang="zh-CN" altLang="en-US" sz="2700" b="1">
                <a:latin typeface="Tahoma" panose="020B0604030504040204" pitchFamily="34" charset="0"/>
              </a:rPr>
              <a:t>       在</a:t>
            </a:r>
            <a:r>
              <a:rPr lang="en-US" altLang="zh-CN" sz="2700" b="1">
                <a:latin typeface="Tahoma" panose="020B0604030504040204" pitchFamily="34" charset="0"/>
              </a:rPr>
              <a:t>SQL Server</a:t>
            </a:r>
            <a:r>
              <a:rPr lang="zh-CN" altLang="en-US" sz="2700" b="1">
                <a:latin typeface="Tahoma" panose="020B0604030504040204" pitchFamily="34" charset="0"/>
              </a:rPr>
              <a:t>环境中，脚本可以在查询分析器中被执行。</a:t>
            </a:r>
          </a:p>
        </p:txBody>
      </p:sp>
    </p:spTree>
  </p:cSld>
  <p:clrMapOvr>
    <a:masterClrMapping/>
  </p:clrMapOvr>
  <mc:AlternateContent xmlns:mc="http://schemas.openxmlformats.org/markup-compatibility/2006" xmlns:p14="http://schemas.microsoft.com/office/powerpoint/2010/main">
    <mc:Choice Requires="p14">
      <p:transition spd="slow" p14:dur="2000" advTm="20367"/>
    </mc:Choice>
    <mc:Fallback xmlns="">
      <p:transition spd="slow" advTm="2036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6" name="Rectangle 4">
            <a:extLst>
              <a:ext uri="{FF2B5EF4-FFF2-40B4-BE49-F238E27FC236}">
                <a16:creationId xmlns:a16="http://schemas.microsoft.com/office/drawing/2014/main" id="{826F10AC-2B09-4659-8E11-EAB4A8413851}"/>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一、脚本</a:t>
            </a:r>
          </a:p>
        </p:txBody>
      </p:sp>
      <p:sp>
        <p:nvSpPr>
          <p:cNvPr id="904197" name="Rectangle 5">
            <a:extLst>
              <a:ext uri="{FF2B5EF4-FFF2-40B4-BE49-F238E27FC236}">
                <a16:creationId xmlns:a16="http://schemas.microsoft.com/office/drawing/2014/main" id="{6023D0D2-1EF4-41D3-99F4-99D9AA139E49}"/>
              </a:ext>
            </a:extLst>
          </p:cNvPr>
          <p:cNvSpPr>
            <a:spLocks noChangeArrowheads="1"/>
          </p:cNvSpPr>
          <p:nvPr/>
        </p:nvSpPr>
        <p:spPr bwMode="auto">
          <a:xfrm>
            <a:off x="611188" y="1171575"/>
            <a:ext cx="7993062" cy="5327650"/>
          </a:xfrm>
          <a:prstGeom prst="rect">
            <a:avLst/>
          </a:prstGeom>
          <a:noFill/>
          <a:ln>
            <a:noFill/>
          </a:ln>
          <a:effectLst>
            <a:outerShdw dist="12700" dir="54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6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3000" b="1">
                <a:solidFill>
                  <a:srgbClr val="660033"/>
                </a:solidFill>
                <a:latin typeface="Tahoma" panose="020B0604030504040204" pitchFamily="34" charset="0"/>
                <a:ea typeface="华文新魏" panose="02010800040101010101" pitchFamily="2" charset="-122"/>
              </a:rPr>
              <a:t>3</a:t>
            </a:r>
            <a:r>
              <a:rPr lang="zh-CN" altLang="en-US" sz="3000" b="1">
                <a:solidFill>
                  <a:srgbClr val="660033"/>
                </a:solidFill>
                <a:latin typeface="Tahoma" panose="020B0604030504040204" pitchFamily="34" charset="0"/>
                <a:ea typeface="华文新魏" panose="02010800040101010101" pitchFamily="2" charset="-122"/>
              </a:rPr>
              <a:t>、脚本（程序）的功用</a:t>
            </a:r>
          </a:p>
          <a:p>
            <a:pPr eaLnBrk="1" hangingPunct="1">
              <a:lnSpc>
                <a:spcPct val="140000"/>
              </a:lnSpc>
              <a:buClr>
                <a:schemeClr val="folHlink"/>
              </a:buClr>
              <a:buSzPct val="60000"/>
              <a:buFont typeface="Wingdings" panose="05000000000000000000" pitchFamily="2" charset="2"/>
              <a:buNone/>
            </a:pPr>
            <a:r>
              <a:rPr lang="zh-CN" altLang="en-US" sz="2800" b="1">
                <a:latin typeface="Tahoma" panose="020B0604030504040204" pitchFamily="34" charset="0"/>
              </a:rPr>
              <a:t>       脚本能够将一个个的</a:t>
            </a:r>
            <a:r>
              <a:rPr lang="en-US" altLang="zh-CN" sz="2800" b="1">
                <a:latin typeface="Tahoma" panose="020B0604030504040204" pitchFamily="34" charset="0"/>
              </a:rPr>
              <a:t>T-SQL</a:t>
            </a:r>
            <a:r>
              <a:rPr lang="zh-CN" altLang="en-US" sz="2800" b="1">
                <a:latin typeface="Tahoma" panose="020B0604030504040204" pitchFamily="34" charset="0"/>
              </a:rPr>
              <a:t>命令组织起来，去实现一个</a:t>
            </a:r>
            <a:r>
              <a:rPr lang="zh-CN" altLang="en-US" sz="2800" b="1">
                <a:solidFill>
                  <a:srgbClr val="0000FF"/>
                </a:solidFill>
                <a:latin typeface="Tahoma" panose="020B0604030504040204" pitchFamily="34" charset="0"/>
              </a:rPr>
              <a:t>完整的功能目标</a:t>
            </a:r>
            <a:r>
              <a:rPr lang="zh-CN" altLang="en-US" sz="2800" b="1">
                <a:latin typeface="Tahoma" panose="020B0604030504040204" pitchFamily="34" charset="0"/>
              </a:rPr>
              <a:t>。</a:t>
            </a:r>
          </a:p>
          <a:p>
            <a:pPr eaLnBrk="1" hangingPunct="1">
              <a:lnSpc>
                <a:spcPct val="140000"/>
              </a:lnSpc>
              <a:buClr>
                <a:schemeClr val="folHlink"/>
              </a:buClr>
              <a:buSzPct val="60000"/>
              <a:buFont typeface="Wingdings" panose="05000000000000000000" pitchFamily="2" charset="2"/>
              <a:buNone/>
            </a:pPr>
            <a:r>
              <a:rPr lang="zh-CN" altLang="en-US" sz="2800" b="1">
                <a:latin typeface="Tahoma" panose="020B0604030504040204" pitchFamily="34" charset="0"/>
              </a:rPr>
              <a:t>       脚本程序中可以使用</a:t>
            </a:r>
            <a:r>
              <a:rPr lang="en-US" altLang="zh-CN" sz="2800" b="1">
                <a:latin typeface="Tahoma" panose="020B0604030504040204" pitchFamily="34" charset="0"/>
              </a:rPr>
              <a:t>T-SQL</a:t>
            </a:r>
            <a:r>
              <a:rPr lang="zh-CN" altLang="en-US" sz="2800" b="1">
                <a:latin typeface="Tahoma" panose="020B0604030504040204" pitchFamily="34" charset="0"/>
              </a:rPr>
              <a:t>语言的变量、分支、循环等控制语句，从而可以实现一些</a:t>
            </a:r>
            <a:r>
              <a:rPr lang="zh-CN" altLang="en-US" sz="2800" b="1">
                <a:solidFill>
                  <a:srgbClr val="0000FF"/>
                </a:solidFill>
                <a:latin typeface="Tahoma" panose="020B0604030504040204" pitchFamily="34" charset="0"/>
              </a:rPr>
              <a:t>复杂的任务</a:t>
            </a:r>
            <a:r>
              <a:rPr lang="zh-CN" altLang="en-US" sz="2800" b="1">
                <a:latin typeface="Tahoma" panose="020B0604030504040204" pitchFamily="34" charset="0"/>
              </a:rPr>
              <a:t>。</a:t>
            </a:r>
          </a:p>
          <a:p>
            <a:pPr eaLnBrk="1" hangingPunct="1">
              <a:lnSpc>
                <a:spcPct val="14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advTm="13237"/>
    </mc:Choice>
    <mc:Fallback xmlns="">
      <p:transition spd="slow" advTm="1323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4" name="Rectangle 4">
            <a:extLst>
              <a:ext uri="{FF2B5EF4-FFF2-40B4-BE49-F238E27FC236}">
                <a16:creationId xmlns:a16="http://schemas.microsoft.com/office/drawing/2014/main" id="{FB3836C3-47A8-4613-B164-7A0203FB104E}"/>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二、批处理</a:t>
            </a:r>
          </a:p>
        </p:txBody>
      </p:sp>
      <p:sp>
        <p:nvSpPr>
          <p:cNvPr id="906245" name="Rectangle 5">
            <a:extLst>
              <a:ext uri="{FF2B5EF4-FFF2-40B4-BE49-F238E27FC236}">
                <a16:creationId xmlns:a16="http://schemas.microsoft.com/office/drawing/2014/main" id="{E53BAE65-ECE0-4985-A33F-224D1C55BA4F}"/>
              </a:ext>
            </a:extLst>
          </p:cNvPr>
          <p:cNvSpPr>
            <a:spLocks noChangeArrowheads="1"/>
          </p:cNvSpPr>
          <p:nvPr/>
        </p:nvSpPr>
        <p:spPr bwMode="auto">
          <a:xfrm>
            <a:off x="611188" y="1171575"/>
            <a:ext cx="7993062"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6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3000" b="1">
                <a:solidFill>
                  <a:srgbClr val="660033"/>
                </a:solidFill>
                <a:latin typeface="Tahoma" panose="020B0604030504040204" pitchFamily="34" charset="0"/>
                <a:ea typeface="华文新魏" panose="02010800040101010101" pitchFamily="2" charset="-122"/>
              </a:rPr>
              <a:t>1</a:t>
            </a:r>
            <a:r>
              <a:rPr lang="zh-CN" altLang="en-US" sz="3000" b="1">
                <a:solidFill>
                  <a:srgbClr val="660033"/>
                </a:solidFill>
                <a:latin typeface="Tahoma" panose="020B0604030504040204" pitchFamily="34" charset="0"/>
                <a:ea typeface="华文新魏" panose="02010800040101010101" pitchFamily="2" charset="-122"/>
              </a:rPr>
              <a:t>、批处理概念</a:t>
            </a:r>
          </a:p>
          <a:p>
            <a:pPr eaLnBrk="1" hangingPunct="1">
              <a:lnSpc>
                <a:spcPct val="135000"/>
              </a:lnSpc>
              <a:buClr>
                <a:schemeClr val="folHlink"/>
              </a:buClr>
              <a:buSzPct val="60000"/>
              <a:buFont typeface="Wingdings" panose="05000000000000000000" pitchFamily="2" charset="2"/>
              <a:buNone/>
            </a:pPr>
            <a:r>
              <a:rPr lang="zh-CN" altLang="en-US" sz="2800" b="1">
                <a:latin typeface="Tahoma" panose="020B0604030504040204" pitchFamily="34" charset="0"/>
              </a:rPr>
              <a:t>       批处理是一起提交给</a:t>
            </a:r>
            <a:r>
              <a:rPr lang="en-US" altLang="zh-CN" sz="2800" b="1">
                <a:latin typeface="Tahoma" panose="020B0604030504040204" pitchFamily="34" charset="0"/>
              </a:rPr>
              <a:t>SQL Server</a:t>
            </a:r>
            <a:r>
              <a:rPr lang="zh-CN" altLang="en-US" sz="2800" b="1">
                <a:latin typeface="Tahoma" panose="020B0604030504040204" pitchFamily="34" charset="0"/>
              </a:rPr>
              <a:t>执行的一个或多个</a:t>
            </a:r>
            <a:r>
              <a:rPr lang="en-US" altLang="zh-CN" sz="2800" b="1">
                <a:latin typeface="Tahoma" panose="020B0604030504040204" pitchFamily="34" charset="0"/>
              </a:rPr>
              <a:t>T-SQL</a:t>
            </a:r>
            <a:r>
              <a:rPr lang="zh-CN" altLang="en-US" sz="2800" b="1">
                <a:latin typeface="Tahoma" panose="020B0604030504040204" pitchFamily="34" charset="0"/>
              </a:rPr>
              <a:t>语句的集合。一个</a:t>
            </a:r>
            <a:r>
              <a:rPr lang="en-US" altLang="zh-CN" sz="2800" b="1">
                <a:latin typeface="Tahoma" panose="020B0604030504040204" pitchFamily="34" charset="0"/>
              </a:rPr>
              <a:t>GO</a:t>
            </a:r>
            <a:r>
              <a:rPr lang="zh-CN" altLang="en-US" sz="2800" b="1">
                <a:latin typeface="Tahoma" panose="020B0604030504040204" pitchFamily="34" charset="0"/>
              </a:rPr>
              <a:t>语句表示一个批处理的结束。</a:t>
            </a:r>
          </a:p>
        </p:txBody>
      </p:sp>
      <p:sp>
        <p:nvSpPr>
          <p:cNvPr id="906246" name="Text Box 6">
            <a:extLst>
              <a:ext uri="{FF2B5EF4-FFF2-40B4-BE49-F238E27FC236}">
                <a16:creationId xmlns:a16="http://schemas.microsoft.com/office/drawing/2014/main" id="{F00AE416-A66A-46CA-94D2-B1C76205AB7D}"/>
              </a:ext>
            </a:extLst>
          </p:cNvPr>
          <p:cNvSpPr txBox="1">
            <a:spLocks noChangeArrowheads="1"/>
          </p:cNvSpPr>
          <p:nvPr/>
        </p:nvSpPr>
        <p:spPr bwMode="auto">
          <a:xfrm>
            <a:off x="3132138" y="3500438"/>
            <a:ext cx="3232150" cy="2616200"/>
          </a:xfrm>
          <a:prstGeom prst="rect">
            <a:avLst/>
          </a:prstGeom>
          <a:solidFill>
            <a:srgbClr val="00FF99"/>
          </a:solidFill>
          <a:ln w="9525">
            <a:solidFill>
              <a:srgbClr val="FF3300"/>
            </a:solidFill>
            <a:miter lim="800000"/>
            <a:headEnd/>
            <a:tailEnd/>
          </a:ln>
        </p:spPr>
        <p:txBody>
          <a:bodyPr>
            <a:spAutoFit/>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25000"/>
              </a:lnSpc>
            </a:pPr>
            <a:r>
              <a:rPr lang="en-US" altLang="zh-CN" sz="2200">
                <a:latin typeface="黑体" panose="02010609060101010101" pitchFamily="49" charset="-122"/>
                <a:ea typeface="黑体" panose="02010609060101010101" pitchFamily="49" charset="-122"/>
              </a:rPr>
              <a:t>  T-SQL </a:t>
            </a:r>
            <a:r>
              <a:rPr lang="zh-CN" altLang="en-US" sz="2200">
                <a:latin typeface="黑体" panose="02010609060101010101" pitchFamily="49" charset="-122"/>
                <a:ea typeface="黑体" panose="02010609060101010101" pitchFamily="49" charset="-122"/>
              </a:rPr>
              <a:t>语句 </a:t>
            </a:r>
            <a:r>
              <a:rPr lang="en-US" altLang="zh-CN" sz="2200">
                <a:latin typeface="黑体" panose="02010609060101010101" pitchFamily="49" charset="-122"/>
                <a:ea typeface="黑体" panose="02010609060101010101" pitchFamily="49" charset="-122"/>
              </a:rPr>
              <a:t>1</a:t>
            </a:r>
          </a:p>
          <a:p>
            <a:pPr eaLnBrk="1" hangingPunct="1">
              <a:lnSpc>
                <a:spcPct val="125000"/>
              </a:lnSpc>
            </a:pPr>
            <a:r>
              <a:rPr lang="en-US" altLang="zh-CN" sz="2200">
                <a:latin typeface="黑体" panose="02010609060101010101" pitchFamily="49" charset="-122"/>
                <a:ea typeface="黑体" panose="02010609060101010101" pitchFamily="49" charset="-122"/>
              </a:rPr>
              <a:t>  T-SQL </a:t>
            </a:r>
            <a:r>
              <a:rPr lang="zh-CN" altLang="en-US" sz="2200">
                <a:latin typeface="黑体" panose="02010609060101010101" pitchFamily="49" charset="-122"/>
                <a:ea typeface="黑体" panose="02010609060101010101" pitchFamily="49" charset="-122"/>
              </a:rPr>
              <a:t>语句 </a:t>
            </a:r>
            <a:r>
              <a:rPr lang="en-US" altLang="zh-CN" sz="2200">
                <a:latin typeface="黑体" panose="02010609060101010101" pitchFamily="49" charset="-122"/>
                <a:ea typeface="黑体" panose="02010609060101010101" pitchFamily="49" charset="-122"/>
              </a:rPr>
              <a:t>2</a:t>
            </a:r>
          </a:p>
          <a:p>
            <a:pPr eaLnBrk="1" hangingPunct="1">
              <a:lnSpc>
                <a:spcPct val="125000"/>
              </a:lnSpc>
            </a:pPr>
            <a:r>
              <a:rPr lang="en-US" altLang="zh-CN" sz="2200">
                <a:latin typeface="黑体" panose="02010609060101010101" pitchFamily="49" charset="-122"/>
                <a:ea typeface="黑体" panose="02010609060101010101" pitchFamily="49" charset="-122"/>
              </a:rPr>
              <a:t>  T-SQL </a:t>
            </a:r>
            <a:r>
              <a:rPr lang="zh-CN" altLang="en-US" sz="2200">
                <a:latin typeface="黑体" panose="02010609060101010101" pitchFamily="49" charset="-122"/>
                <a:ea typeface="黑体" panose="02010609060101010101" pitchFamily="49" charset="-122"/>
              </a:rPr>
              <a:t>语句 </a:t>
            </a:r>
            <a:r>
              <a:rPr lang="en-US" altLang="zh-CN" sz="2200">
                <a:latin typeface="黑体" panose="02010609060101010101" pitchFamily="49" charset="-122"/>
                <a:ea typeface="黑体" panose="02010609060101010101" pitchFamily="49" charset="-122"/>
              </a:rPr>
              <a:t>3</a:t>
            </a:r>
          </a:p>
          <a:p>
            <a:pPr eaLnBrk="1" hangingPunct="1">
              <a:lnSpc>
                <a:spcPct val="125000"/>
              </a:lnSpc>
            </a:pPr>
            <a:r>
              <a:rPr lang="en-US" altLang="zh-CN" sz="2200">
                <a:latin typeface="黑体" panose="02010609060101010101" pitchFamily="49" charset="-122"/>
                <a:ea typeface="黑体" panose="02010609060101010101" pitchFamily="49" charset="-122"/>
              </a:rPr>
              <a:t>    </a:t>
            </a:r>
            <a:r>
              <a:rPr lang="en-US" altLang="zh-CN" sz="2200">
                <a:ea typeface="黑体" panose="02010609060101010101" pitchFamily="49" charset="-122"/>
              </a:rPr>
              <a:t>…</a:t>
            </a:r>
            <a:endParaRPr lang="en-US" altLang="zh-CN" sz="2200">
              <a:latin typeface="黑体" panose="02010609060101010101" pitchFamily="49" charset="-122"/>
              <a:ea typeface="黑体" panose="02010609060101010101" pitchFamily="49" charset="-122"/>
            </a:endParaRPr>
          </a:p>
          <a:p>
            <a:pPr eaLnBrk="1" hangingPunct="1">
              <a:lnSpc>
                <a:spcPct val="125000"/>
              </a:lnSpc>
            </a:pPr>
            <a:r>
              <a:rPr lang="en-US" altLang="zh-CN" sz="2200">
                <a:latin typeface="黑体" panose="02010609060101010101" pitchFamily="49" charset="-122"/>
                <a:ea typeface="黑体" panose="02010609060101010101" pitchFamily="49" charset="-122"/>
              </a:rPr>
              <a:t>  T-SQL </a:t>
            </a:r>
            <a:r>
              <a:rPr lang="zh-CN" altLang="en-US" sz="2200">
                <a:latin typeface="黑体" panose="02010609060101010101" pitchFamily="49" charset="-122"/>
                <a:ea typeface="黑体" panose="02010609060101010101" pitchFamily="49" charset="-122"/>
              </a:rPr>
              <a:t>语句 </a:t>
            </a:r>
            <a:r>
              <a:rPr lang="en-US" altLang="zh-CN" sz="2200">
                <a:latin typeface="黑体" panose="02010609060101010101" pitchFamily="49" charset="-122"/>
                <a:ea typeface="黑体" panose="02010609060101010101" pitchFamily="49" charset="-122"/>
              </a:rPr>
              <a:t>n</a:t>
            </a:r>
          </a:p>
          <a:p>
            <a:pPr eaLnBrk="1" hangingPunct="1">
              <a:lnSpc>
                <a:spcPct val="125000"/>
              </a:lnSpc>
            </a:pPr>
            <a:r>
              <a:rPr lang="en-US" altLang="zh-CN" sz="2200">
                <a:latin typeface="黑体" panose="02010609060101010101" pitchFamily="49" charset="-122"/>
                <a:ea typeface="黑体" panose="02010609060101010101" pitchFamily="49" charset="-122"/>
              </a:rPr>
              <a:t>  GO </a:t>
            </a:r>
          </a:p>
        </p:txBody>
      </p:sp>
    </p:spTree>
  </p:cSld>
  <p:clrMapOvr>
    <a:masterClrMapping/>
  </p:clrMapOvr>
  <mc:AlternateContent xmlns:mc="http://schemas.openxmlformats.org/markup-compatibility/2006" xmlns:p14="http://schemas.microsoft.com/office/powerpoint/2010/main">
    <mc:Choice Requires="p14">
      <p:transition spd="slow" p14:dur="2000" advTm="11241"/>
    </mc:Choice>
    <mc:Fallback xmlns="">
      <p:transition spd="slow" advTm="11241"/>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06246"/>
                                        </p:tgtEl>
                                        <p:attrNameLst>
                                          <p:attrName>style.visibility</p:attrName>
                                        </p:attrNameLst>
                                      </p:cBhvr>
                                      <p:to>
                                        <p:strVal val="visible"/>
                                      </p:to>
                                    </p:set>
                                    <p:animEffect transition="in" filter="wipe(up)">
                                      <p:cBhvr>
                                        <p:cTn id="7" dur="2000"/>
                                        <p:tgtEl>
                                          <p:spTgt spid="906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624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9" name="Rectangle 5">
            <a:extLst>
              <a:ext uri="{FF2B5EF4-FFF2-40B4-BE49-F238E27FC236}">
                <a16:creationId xmlns:a16="http://schemas.microsoft.com/office/drawing/2014/main" id="{6CBEB18B-21B4-4DA7-BE4B-BA19B8D4786F}"/>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二、批处理</a:t>
            </a:r>
          </a:p>
        </p:txBody>
      </p:sp>
      <p:sp>
        <p:nvSpPr>
          <p:cNvPr id="907270" name="Rectangle 6">
            <a:extLst>
              <a:ext uri="{FF2B5EF4-FFF2-40B4-BE49-F238E27FC236}">
                <a16:creationId xmlns:a16="http://schemas.microsoft.com/office/drawing/2014/main" id="{EB6EAF24-BB10-4F64-B690-9535AE443BE6}"/>
              </a:ext>
            </a:extLst>
          </p:cNvPr>
          <p:cNvSpPr>
            <a:spLocks noChangeArrowheads="1"/>
          </p:cNvSpPr>
          <p:nvPr/>
        </p:nvSpPr>
        <p:spPr bwMode="auto">
          <a:xfrm>
            <a:off x="323850" y="1171575"/>
            <a:ext cx="8280400"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6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3000" b="1">
                <a:solidFill>
                  <a:srgbClr val="660033"/>
                </a:solidFill>
                <a:latin typeface="Tahoma" panose="020B0604030504040204" pitchFamily="34" charset="0"/>
                <a:ea typeface="华文新魏" panose="02010800040101010101" pitchFamily="2" charset="-122"/>
              </a:rPr>
              <a:t>2</a:t>
            </a:r>
            <a:r>
              <a:rPr lang="zh-CN" altLang="en-US" sz="3000" b="1">
                <a:solidFill>
                  <a:srgbClr val="660033"/>
                </a:solidFill>
                <a:latin typeface="Tahoma" panose="020B0604030504040204" pitchFamily="34" charset="0"/>
                <a:ea typeface="华文新魏" panose="02010800040101010101" pitchFamily="2" charset="-122"/>
              </a:rPr>
              <a:t>、批处理的执行</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当批处理被提交到</a:t>
            </a:r>
            <a:r>
              <a:rPr lang="en-US" altLang="zh-CN" sz="2800" b="1">
                <a:latin typeface="Tahoma" panose="020B0604030504040204" pitchFamily="34" charset="0"/>
              </a:rPr>
              <a:t>SQL Server</a:t>
            </a:r>
            <a:r>
              <a:rPr lang="zh-CN" altLang="en-US" sz="2800" b="1">
                <a:latin typeface="Tahoma" panose="020B0604030504040204" pitchFamily="34" charset="0"/>
              </a:rPr>
              <a:t>中时，它会被编译并创建一个</a:t>
            </a:r>
            <a:r>
              <a:rPr lang="zh-CN" altLang="en-US" sz="2800" b="1">
                <a:solidFill>
                  <a:srgbClr val="0000FF"/>
                </a:solidFill>
                <a:latin typeface="Tahoma" panose="020B0604030504040204" pitchFamily="34" charset="0"/>
              </a:rPr>
              <a:t>执行计划（可执行单元）</a:t>
            </a:r>
            <a:r>
              <a:rPr lang="zh-CN" altLang="en-US" sz="2800" b="1">
                <a:latin typeface="Tahoma" panose="020B0604030504040204" pitchFamily="34" charset="0"/>
              </a:rPr>
              <a:t>：</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1</a:t>
            </a:r>
            <a:r>
              <a:rPr lang="zh-CN" altLang="en-US" sz="2800" b="1">
                <a:latin typeface="Tahoma" panose="020B0604030504040204" pitchFamily="34" charset="0"/>
              </a:rPr>
              <a:t>）如果在编译时出现语法错误，则执行计划不被创建，批处理中没有语句被执行。</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2</a:t>
            </a:r>
            <a:r>
              <a:rPr lang="zh-CN" altLang="en-US" sz="2800" b="1">
                <a:latin typeface="Tahoma" panose="020B0604030504040204" pitchFamily="34" charset="0"/>
              </a:rPr>
              <a:t>）如果在创建执行计划之后发生运行时错误，批处理的执行就停止，但对遇到运行时错误的语句之前执行的语句不受影响。 </a:t>
            </a:r>
          </a:p>
          <a:p>
            <a:pPr eaLnBrk="1" hangingPunct="1">
              <a:lnSpc>
                <a:spcPct val="14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advTm="28249"/>
    </mc:Choice>
    <mc:Fallback xmlns="">
      <p:transition spd="slow" advTm="28249"/>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9" name="Rectangle 5">
            <a:extLst>
              <a:ext uri="{FF2B5EF4-FFF2-40B4-BE49-F238E27FC236}">
                <a16:creationId xmlns:a16="http://schemas.microsoft.com/office/drawing/2014/main" id="{E31F349C-D5CF-4202-BB4D-4E2CD30D98FA}"/>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二、批处理</a:t>
            </a:r>
          </a:p>
        </p:txBody>
      </p:sp>
      <p:sp>
        <p:nvSpPr>
          <p:cNvPr id="907270" name="Rectangle 6">
            <a:extLst>
              <a:ext uri="{FF2B5EF4-FFF2-40B4-BE49-F238E27FC236}">
                <a16:creationId xmlns:a16="http://schemas.microsoft.com/office/drawing/2014/main" id="{C1546A5B-873A-450B-8FF9-313671A4D0C7}"/>
              </a:ext>
            </a:extLst>
          </p:cNvPr>
          <p:cNvSpPr>
            <a:spLocks noChangeArrowheads="1"/>
          </p:cNvSpPr>
          <p:nvPr/>
        </p:nvSpPr>
        <p:spPr bwMode="auto">
          <a:xfrm>
            <a:off x="323850" y="1171575"/>
            <a:ext cx="8280400" cy="182562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6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3000" b="1">
                <a:solidFill>
                  <a:srgbClr val="660033"/>
                </a:solidFill>
                <a:latin typeface="Tahoma" panose="020B0604030504040204" pitchFamily="34" charset="0"/>
                <a:ea typeface="华文新魏" panose="02010800040101010101" pitchFamily="2" charset="-122"/>
              </a:rPr>
              <a:t>3</a:t>
            </a:r>
            <a:r>
              <a:rPr lang="zh-CN" altLang="en-US" sz="3000" b="1">
                <a:solidFill>
                  <a:srgbClr val="660033"/>
                </a:solidFill>
                <a:latin typeface="Tahoma" panose="020B0604030504040204" pitchFamily="34" charset="0"/>
                <a:ea typeface="华文新魏" panose="02010800040101010101" pitchFamily="2" charset="-122"/>
              </a:rPr>
              <a:t>、批处理的功用</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批处理可以提高语句的执行效率。</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a:t>
            </a:r>
          </a:p>
          <a:p>
            <a:pPr eaLnBrk="1" hangingPunct="1">
              <a:lnSpc>
                <a:spcPct val="120000"/>
              </a:lnSpc>
              <a:spcBef>
                <a:spcPct val="20000"/>
              </a:spcBef>
              <a:buClr>
                <a:schemeClr val="folHlink"/>
              </a:buClr>
              <a:buSzPct val="60000"/>
              <a:buFont typeface="Wingdings" panose="05000000000000000000" pitchFamily="2" charset="2"/>
              <a:buNone/>
            </a:pPr>
            <a:endParaRPr lang="zh-CN" altLang="en-US" sz="2800" b="1">
              <a:latin typeface="Tahoma" panose="020B0604030504040204" pitchFamily="34" charset="0"/>
            </a:endParaRPr>
          </a:p>
        </p:txBody>
      </p:sp>
      <p:sp>
        <p:nvSpPr>
          <p:cNvPr id="142340" name="Rectangle 4">
            <a:extLst>
              <a:ext uri="{FF2B5EF4-FFF2-40B4-BE49-F238E27FC236}">
                <a16:creationId xmlns:a16="http://schemas.microsoft.com/office/drawing/2014/main" id="{8532D139-B96C-46FC-ABD5-019259774116}"/>
              </a:ext>
            </a:extLst>
          </p:cNvPr>
          <p:cNvSpPr>
            <a:spLocks noChangeArrowheads="1"/>
          </p:cNvSpPr>
          <p:nvPr/>
        </p:nvSpPr>
        <p:spPr bwMode="auto">
          <a:xfrm>
            <a:off x="684213" y="3213100"/>
            <a:ext cx="7632700" cy="1630363"/>
          </a:xfrm>
          <a:prstGeom prst="rect">
            <a:avLst/>
          </a:prstGeom>
          <a:gradFill rotWithShape="1">
            <a:gsLst>
              <a:gs pos="0">
                <a:srgbClr val="CCECFF"/>
              </a:gs>
              <a:gs pos="50000">
                <a:schemeClr val="bg1"/>
              </a:gs>
              <a:gs pos="100000">
                <a:srgbClr val="CCECFF"/>
              </a:gs>
            </a:gsLst>
            <a:lin ang="5400000" scaled="1"/>
          </a:gradFill>
          <a:ln>
            <a:noFill/>
          </a:ln>
          <a:effectLst>
            <a:outerShdw dist="17961" dir="2700000" algn="ctr" rotWithShape="0">
              <a:schemeClr val="tx1"/>
            </a:outerShdw>
          </a:effectLst>
          <a:extLst>
            <a:ext uri="{91240B29-F687-4F45-9708-019B960494DF}">
              <a14:hiddenLine xmlns:a14="http://schemas.microsoft.com/office/drawing/2010/main" w="38100" cap="sq">
                <a:solidFill>
                  <a:srgbClr val="7602AA"/>
                </a:solidFill>
                <a:miter lim="800000"/>
                <a:headEnd type="none" w="sm" len="sm"/>
                <a:tailEnd type="none" w="sm" len="sm"/>
              </a14:hiddenLine>
            </a:ext>
          </a:extLst>
        </p:spPr>
        <p:txBody>
          <a:bodyPr>
            <a:spAutoFit/>
          </a:bodyPr>
          <a:lstStyle/>
          <a:p>
            <a:pPr>
              <a:lnSpc>
                <a:spcPct val="120000"/>
              </a:lnSpc>
              <a:spcBef>
                <a:spcPct val="20000"/>
              </a:spcBef>
              <a:buClr>
                <a:schemeClr val="folHlink"/>
              </a:buClr>
              <a:buSzPct val="60000"/>
              <a:buFont typeface="Wingdings" panose="05000000000000000000" pitchFamily="2" charset="2"/>
              <a:buNone/>
            </a:pPr>
            <a:r>
              <a:rPr lang="zh-CN" altLang="en-US" sz="2800" b="1"/>
              <a:t>      一般是将一些逻辑相关的业务操作语句，放置在同一个批处理中，这由业务需求和代码编写者决定。</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349"/>
    </mc:Choice>
    <mc:Fallback xmlns="">
      <p:transition spd="slow" advTm="11349"/>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2340"/>
                                        </p:tgtEl>
                                        <p:attrNameLst>
                                          <p:attrName>style.visibility</p:attrName>
                                        </p:attrNameLst>
                                      </p:cBhvr>
                                      <p:to>
                                        <p:strVal val="visible"/>
                                      </p:to>
                                    </p:set>
                                    <p:animEffect transition="in" filter="wipe(left)">
                                      <p:cBhvr>
                                        <p:cTn id="7" dur="500"/>
                                        <p:tgtEl>
                                          <p:spTgt spid="142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21" name="Rectangle 5">
            <a:extLst>
              <a:ext uri="{FF2B5EF4-FFF2-40B4-BE49-F238E27FC236}">
                <a16:creationId xmlns:a16="http://schemas.microsoft.com/office/drawing/2014/main" id="{4C66233F-2DCB-40C7-A371-0546FF4424E2}"/>
              </a:ext>
            </a:extLst>
          </p:cNvPr>
          <p:cNvSpPr>
            <a:spLocks noChangeArrowheads="1"/>
          </p:cNvSpPr>
          <p:nvPr/>
        </p:nvSpPr>
        <p:spPr bwMode="auto">
          <a:xfrm>
            <a:off x="611188" y="1171575"/>
            <a:ext cx="7993062"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6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3000" b="1">
                <a:solidFill>
                  <a:srgbClr val="660033"/>
                </a:solidFill>
                <a:latin typeface="Tahoma" panose="020B0604030504040204" pitchFamily="34" charset="0"/>
                <a:ea typeface="华文新魏" panose="02010800040101010101" pitchFamily="2" charset="-122"/>
              </a:rPr>
              <a:t>4</a:t>
            </a:r>
            <a:r>
              <a:rPr lang="zh-CN" altLang="en-US" sz="3000" b="1">
                <a:solidFill>
                  <a:srgbClr val="660033"/>
                </a:solidFill>
                <a:latin typeface="Tahoma" panose="020B0604030504040204" pitchFamily="34" charset="0"/>
                <a:ea typeface="华文新魏" panose="02010800040101010101" pitchFamily="2" charset="-122"/>
              </a:rPr>
              <a:t>、脚本（程序）与批处理的关系</a:t>
            </a:r>
          </a:p>
          <a:p>
            <a:pPr eaLnBrk="1" hangingPunct="1">
              <a:lnSpc>
                <a:spcPct val="140000"/>
              </a:lnSpc>
              <a:buClr>
                <a:schemeClr val="folHlink"/>
              </a:buClr>
              <a:buSzPct val="60000"/>
              <a:buFont typeface="Wingdings" panose="05000000000000000000" pitchFamily="2" charset="2"/>
              <a:buNone/>
            </a:pPr>
            <a:r>
              <a:rPr lang="zh-CN" altLang="en-US" sz="2800" b="1">
                <a:latin typeface="Tahoma" panose="020B0604030504040204" pitchFamily="34" charset="0"/>
              </a:rPr>
              <a:t>       脚本是批处理的存在方式，将一个或多个批处理组织到一起就可形成一个脚本。</a:t>
            </a:r>
          </a:p>
          <a:p>
            <a:pPr eaLnBrk="1" hangingPunct="1">
              <a:lnSpc>
                <a:spcPct val="140000"/>
              </a:lnSpc>
              <a:buClr>
                <a:schemeClr val="folHlink"/>
              </a:buClr>
              <a:buSzPct val="60000"/>
              <a:buFont typeface="Wingdings" panose="05000000000000000000" pitchFamily="2" charset="2"/>
              <a:buNone/>
            </a:pPr>
            <a:r>
              <a:rPr lang="zh-CN" altLang="en-US" sz="2800" b="1">
                <a:latin typeface="Tahoma" panose="020B0604030504040204" pitchFamily="34" charset="0"/>
              </a:rPr>
              <a:t>       通过组织一系列的</a:t>
            </a:r>
            <a:r>
              <a:rPr lang="en-US" altLang="zh-CN" sz="2800" b="1">
                <a:latin typeface="Tahoma" panose="020B0604030504040204" pitchFamily="34" charset="0"/>
              </a:rPr>
              <a:t>T-SQL</a:t>
            </a:r>
            <a:r>
              <a:rPr lang="zh-CN" altLang="en-US" sz="2800" b="1">
                <a:latin typeface="Tahoma" panose="020B0604030504040204" pitchFamily="34" charset="0"/>
              </a:rPr>
              <a:t>命令并把它们编成脚本，就会减低数据库管理的复杂性。</a:t>
            </a:r>
          </a:p>
          <a:p>
            <a:pPr eaLnBrk="1" hangingPunct="1">
              <a:lnSpc>
                <a:spcPct val="14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p>
          <a:p>
            <a:pPr eaLnBrk="1" hangingPunct="1">
              <a:lnSpc>
                <a:spcPct val="14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p>
        </p:txBody>
      </p:sp>
      <p:sp>
        <p:nvSpPr>
          <p:cNvPr id="907269" name="Rectangle 5">
            <a:extLst>
              <a:ext uri="{FF2B5EF4-FFF2-40B4-BE49-F238E27FC236}">
                <a16:creationId xmlns:a16="http://schemas.microsoft.com/office/drawing/2014/main" id="{F37B052E-6F5A-49FD-9056-D808717CDA56}"/>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二、批处理</a:t>
            </a:r>
          </a:p>
        </p:txBody>
      </p:sp>
    </p:spTree>
  </p:cSld>
  <p:clrMapOvr>
    <a:masterClrMapping/>
  </p:clrMapOvr>
  <mc:AlternateContent xmlns:mc="http://schemas.openxmlformats.org/markup-compatibility/2006" xmlns:p14="http://schemas.microsoft.com/office/powerpoint/2010/main">
    <mc:Choice Requires="p14">
      <p:transition spd="slow" p14:dur="2000" advTm="23460"/>
    </mc:Choice>
    <mc:Fallback xmlns="">
      <p:transition spd="slow" advTm="2346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6" name="Rectangle 4">
            <a:extLst>
              <a:ext uri="{FF2B5EF4-FFF2-40B4-BE49-F238E27FC236}">
                <a16:creationId xmlns:a16="http://schemas.microsoft.com/office/drawing/2014/main" id="{8EF58AAF-B4A3-4018-9A68-251EE4DC707E}"/>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三、注释</a:t>
            </a:r>
          </a:p>
        </p:txBody>
      </p:sp>
      <p:sp>
        <p:nvSpPr>
          <p:cNvPr id="914437" name="Rectangle 5">
            <a:extLst>
              <a:ext uri="{FF2B5EF4-FFF2-40B4-BE49-F238E27FC236}">
                <a16:creationId xmlns:a16="http://schemas.microsoft.com/office/drawing/2014/main" id="{D98BC6C1-2E27-4B72-931E-0C77A006E9DF}"/>
              </a:ext>
            </a:extLst>
          </p:cNvPr>
          <p:cNvSpPr>
            <a:spLocks noChangeArrowheads="1"/>
          </p:cNvSpPr>
          <p:nvPr/>
        </p:nvSpPr>
        <p:spPr bwMode="auto">
          <a:xfrm>
            <a:off x="468313" y="1171575"/>
            <a:ext cx="8280400" cy="5327650"/>
          </a:xfrm>
          <a:prstGeom prst="rect">
            <a:avLst/>
          </a:prstGeom>
          <a:noFill/>
          <a:ln>
            <a:noFill/>
          </a:ln>
          <a:effectLst>
            <a:outerShdw dist="12700" dir="54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solidFill>
                  <a:srgbClr val="660033"/>
                </a:solidFill>
                <a:latin typeface="黑体" panose="02010609060101010101" pitchFamily="49" charset="-122"/>
                <a:ea typeface="黑体" panose="02010609060101010101" pitchFamily="49" charset="-122"/>
              </a:rPr>
              <a:t>1</a:t>
            </a:r>
            <a:r>
              <a:rPr lang="zh-CN" altLang="en-US" sz="2800" b="1">
                <a:solidFill>
                  <a:srgbClr val="660033"/>
                </a:solidFill>
                <a:latin typeface="黑体" panose="02010609060101010101" pitchFamily="49" charset="-122"/>
                <a:ea typeface="黑体" panose="02010609060101010101" pitchFamily="49" charset="-122"/>
              </a:rPr>
              <a:t>、行内注释</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格式为：</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 </a:t>
            </a:r>
            <a:r>
              <a:rPr lang="zh-CN" altLang="en-US" sz="2800" b="1">
                <a:latin typeface="Tahoma" panose="020B0604030504040204" pitchFamily="34" charset="0"/>
              </a:rPr>
              <a:t>注释文本</a:t>
            </a:r>
          </a:p>
          <a:p>
            <a:pPr eaLnBrk="1" hangingPunct="1">
              <a:lnSpc>
                <a:spcPct val="120000"/>
              </a:lnSpc>
              <a:spcBef>
                <a:spcPct val="20000"/>
              </a:spcBef>
              <a:buClr>
                <a:schemeClr val="folHlink"/>
              </a:buClr>
              <a:buSzPct val="60000"/>
              <a:buFont typeface="Wingdings" panose="05000000000000000000" pitchFamily="2" charset="2"/>
              <a:buNone/>
            </a:pPr>
            <a:endParaRPr lang="zh-CN" altLang="en-US" sz="2000" b="1">
              <a:latin typeface="Tahoma" panose="020B0604030504040204" pitchFamily="34" charset="0"/>
            </a:endParaRP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solidFill>
                  <a:srgbClr val="0000FF"/>
                </a:solidFill>
                <a:latin typeface="Tahoma" panose="020B0604030504040204" pitchFamily="34" charset="0"/>
              </a:rPr>
              <a:t>说明：</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1</a:t>
            </a:r>
            <a:r>
              <a:rPr lang="zh-CN" altLang="en-US" sz="2800" b="1">
                <a:latin typeface="Tahoma" panose="020B0604030504040204" pitchFamily="34" charset="0"/>
              </a:rPr>
              <a:t>）从双连字符</a:t>
            </a:r>
            <a:r>
              <a:rPr lang="zh-CN" altLang="en-US" sz="2800" b="1"/>
              <a:t>“</a:t>
            </a:r>
            <a:r>
              <a:rPr lang="en-US" altLang="zh-CN" sz="2800" b="1">
                <a:latin typeface="Tahoma" panose="020B0604030504040204" pitchFamily="34" charset="0"/>
              </a:rPr>
              <a:t>--</a:t>
            </a:r>
            <a:r>
              <a:rPr lang="en-US" altLang="zh-CN" sz="2800" b="1"/>
              <a:t>”</a:t>
            </a:r>
            <a:r>
              <a:rPr lang="zh-CN" altLang="en-US" sz="2800" b="1">
                <a:latin typeface="Tahoma" panose="020B0604030504040204" pitchFamily="34" charset="0"/>
              </a:rPr>
              <a:t>开始到行尾均为注释。 </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2</a:t>
            </a:r>
            <a:r>
              <a:rPr lang="zh-CN" altLang="en-US" sz="2800" b="1">
                <a:latin typeface="Tahoma" panose="020B0604030504040204" pitchFamily="34" charset="0"/>
              </a:rPr>
              <a:t>）注释可以单独位于一行；也可以和执行代码同在一行，后者最好有几个</a:t>
            </a:r>
            <a:r>
              <a:rPr lang="zh-CN" altLang="en-US" sz="2800" b="1"/>
              <a:t>“</a:t>
            </a:r>
            <a:r>
              <a:rPr lang="zh-CN" altLang="en-US" sz="2800" b="1">
                <a:latin typeface="Tahoma" panose="020B0604030504040204" pitchFamily="34" charset="0"/>
              </a:rPr>
              <a:t>空白</a:t>
            </a:r>
            <a:r>
              <a:rPr lang="zh-CN" altLang="en-US" sz="2800" b="1"/>
              <a:t>”</a:t>
            </a:r>
            <a:r>
              <a:rPr lang="zh-CN" altLang="en-US" sz="2800" b="1">
                <a:latin typeface="Tahoma" panose="020B0604030504040204" pitchFamily="34" charset="0"/>
              </a:rPr>
              <a:t>字符相隔。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6501"/>
    </mc:Choice>
    <mc:Fallback xmlns="">
      <p:transition spd="slow" advTm="2650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14437">
                                            <p:txEl>
                                              <p:pRg st="5" end="5"/>
                                            </p:txEl>
                                          </p:spTgt>
                                        </p:tgtEl>
                                        <p:attrNameLst>
                                          <p:attrName>style.visibility</p:attrName>
                                        </p:attrNameLst>
                                      </p:cBhvr>
                                      <p:to>
                                        <p:strVal val="visible"/>
                                      </p:to>
                                    </p:set>
                                    <p:animEffect transition="in" filter="wipe(left)">
                                      <p:cBhvr>
                                        <p:cTn id="7" dur="500"/>
                                        <p:tgtEl>
                                          <p:spTgt spid="914437">
                                            <p:txEl>
                                              <p:pRg st="5" end="5"/>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14437">
                                            <p:txEl>
                                              <p:pRg st="6" end="6"/>
                                            </p:txEl>
                                          </p:spTgt>
                                        </p:tgtEl>
                                        <p:attrNameLst>
                                          <p:attrName>style.visibility</p:attrName>
                                        </p:attrNameLst>
                                      </p:cBhvr>
                                      <p:to>
                                        <p:strVal val="visible"/>
                                      </p:to>
                                    </p:set>
                                    <p:animEffect transition="in" filter="wipe(left)">
                                      <p:cBhvr>
                                        <p:cTn id="11" dur="500"/>
                                        <p:tgtEl>
                                          <p:spTgt spid="914437">
                                            <p:txEl>
                                              <p:pRg st="6" end="6"/>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914437">
                                            <p:txEl>
                                              <p:pRg st="7" end="7"/>
                                            </p:txEl>
                                          </p:spTgt>
                                        </p:tgtEl>
                                        <p:attrNameLst>
                                          <p:attrName>style.visibility</p:attrName>
                                        </p:attrNameLst>
                                      </p:cBhvr>
                                      <p:to>
                                        <p:strVal val="visible"/>
                                      </p:to>
                                    </p:set>
                                    <p:animEffect transition="in" filter="wipe(left)">
                                      <p:cBhvr>
                                        <p:cTn id="16" dur="500"/>
                                        <p:tgtEl>
                                          <p:spTgt spid="91443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60" name="Rectangle 4">
            <a:extLst>
              <a:ext uri="{FF2B5EF4-FFF2-40B4-BE49-F238E27FC236}">
                <a16:creationId xmlns:a16="http://schemas.microsoft.com/office/drawing/2014/main" id="{63EFA2AF-58E5-435E-BE37-C8F97ABDD8C6}"/>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三、注释</a:t>
            </a:r>
          </a:p>
        </p:txBody>
      </p:sp>
      <p:sp>
        <p:nvSpPr>
          <p:cNvPr id="915461" name="Rectangle 5">
            <a:extLst>
              <a:ext uri="{FF2B5EF4-FFF2-40B4-BE49-F238E27FC236}">
                <a16:creationId xmlns:a16="http://schemas.microsoft.com/office/drawing/2014/main" id="{9B9F5C1D-72AE-440F-BDBA-646707C4D9FC}"/>
              </a:ext>
            </a:extLst>
          </p:cNvPr>
          <p:cNvSpPr>
            <a:spLocks noChangeArrowheads="1"/>
          </p:cNvSpPr>
          <p:nvPr/>
        </p:nvSpPr>
        <p:spPr bwMode="auto">
          <a:xfrm>
            <a:off x="468313" y="1171575"/>
            <a:ext cx="8280400"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solidFill>
                  <a:srgbClr val="660033"/>
                </a:solidFill>
                <a:latin typeface="黑体" panose="02010609060101010101" pitchFamily="49" charset="-122"/>
                <a:ea typeface="黑体" panose="02010609060101010101" pitchFamily="49" charset="-122"/>
              </a:rPr>
              <a:t>2</a:t>
            </a:r>
            <a:r>
              <a:rPr lang="zh-CN" altLang="en-US" sz="2800" b="1">
                <a:solidFill>
                  <a:srgbClr val="660033"/>
                </a:solidFill>
                <a:latin typeface="黑体" panose="02010609060101010101" pitchFamily="49" charset="-122"/>
                <a:ea typeface="黑体" panose="02010609060101010101" pitchFamily="49" charset="-122"/>
              </a:rPr>
              <a:t>、块注释</a:t>
            </a:r>
          </a:p>
          <a:p>
            <a:pPr eaLnBrk="1" hangingPunct="1">
              <a:lnSpc>
                <a:spcPct val="120000"/>
              </a:lnSpc>
              <a:buClr>
                <a:schemeClr val="folHlink"/>
              </a:buClr>
              <a:buSzPct val="60000"/>
              <a:buFont typeface="Wingdings" panose="05000000000000000000" pitchFamily="2" charset="2"/>
              <a:buNone/>
            </a:pPr>
            <a:r>
              <a:rPr lang="zh-CN" altLang="en-US" sz="2800" b="1">
                <a:latin typeface="黑体" panose="02010609060101010101" pitchFamily="49" charset="-122"/>
                <a:ea typeface="黑体" panose="02010609060101010101" pitchFamily="49" charset="-122"/>
              </a:rPr>
              <a:t>    </a:t>
            </a:r>
            <a:r>
              <a:rPr lang="zh-CN" altLang="en-US" sz="2800" b="1">
                <a:latin typeface="Tahoma" panose="020B0604030504040204" pitchFamily="34" charset="0"/>
              </a:rPr>
              <a:t>格式为：</a:t>
            </a:r>
          </a:p>
          <a:p>
            <a:pPr eaLnBrk="1" hangingPunct="1">
              <a:lnSpc>
                <a:spcPct val="12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 </a:t>
            </a:r>
            <a:r>
              <a:rPr lang="zh-CN" altLang="en-US" sz="2800" b="1">
                <a:latin typeface="Tahoma" panose="020B0604030504040204" pitchFamily="34" charset="0"/>
              </a:rPr>
              <a:t>注释文本 *</a:t>
            </a:r>
            <a:r>
              <a:rPr lang="en-US" altLang="zh-CN" sz="2800" b="1">
                <a:latin typeface="Tahoma" panose="020B0604030504040204" pitchFamily="34" charset="0"/>
              </a:rPr>
              <a:t>/</a:t>
            </a:r>
          </a:p>
          <a:p>
            <a:pPr eaLnBrk="1" hangingPunct="1">
              <a:lnSpc>
                <a:spcPct val="120000"/>
              </a:lnSpc>
              <a:buClr>
                <a:schemeClr val="folHlink"/>
              </a:buClr>
              <a:buSzPct val="60000"/>
              <a:buFont typeface="Wingdings" panose="05000000000000000000" pitchFamily="2" charset="2"/>
              <a:buNone/>
            </a:pPr>
            <a:r>
              <a:rPr lang="zh-CN" altLang="en-US" sz="2800" b="1">
                <a:latin typeface="Tahoma" panose="020B0604030504040204" pitchFamily="34" charset="0"/>
              </a:rPr>
              <a:t>或</a:t>
            </a:r>
          </a:p>
          <a:p>
            <a:pPr eaLnBrk="1" hangingPunct="1">
              <a:lnSpc>
                <a:spcPct val="12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 </a:t>
            </a:r>
            <a:r>
              <a:rPr lang="zh-CN" altLang="en-US" sz="2800" b="1">
                <a:latin typeface="Tahoma" panose="020B0604030504040204" pitchFamily="34" charset="0"/>
              </a:rPr>
              <a:t>注释文本</a:t>
            </a:r>
          </a:p>
          <a:p>
            <a:pPr eaLnBrk="1" hangingPunct="1">
              <a:lnSpc>
                <a:spcPct val="12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a:t>
            </a:r>
          </a:p>
          <a:p>
            <a:pPr eaLnBrk="1" hangingPunct="1">
              <a:lnSpc>
                <a:spcPct val="120000"/>
              </a:lnSpc>
              <a:spcBef>
                <a:spcPct val="20000"/>
              </a:spcBef>
              <a:buClr>
                <a:schemeClr val="folHlink"/>
              </a:buClr>
              <a:buSzPct val="60000"/>
              <a:buFont typeface="Wingdings" panose="05000000000000000000" pitchFamily="2" charset="2"/>
              <a:buNone/>
            </a:pPr>
            <a:endParaRPr lang="zh-CN" altLang="en-US" sz="1000" b="1">
              <a:latin typeface="Tahoma" panose="020B0604030504040204" pitchFamily="34" charset="0"/>
            </a:endParaRP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solidFill>
                  <a:srgbClr val="0000FF"/>
                </a:solidFill>
                <a:latin typeface="Tahoma" panose="020B0604030504040204" pitchFamily="34" charset="0"/>
              </a:rPr>
              <a:t>说明</a:t>
            </a:r>
            <a:r>
              <a:rPr lang="zh-CN" altLang="en-US" sz="2800" b="1">
                <a:solidFill>
                  <a:srgbClr val="006666"/>
                </a:solidFill>
                <a:latin typeface="Tahoma" panose="020B0604030504040204" pitchFamily="34" charset="0"/>
              </a:rPr>
              <a:t>：</a:t>
            </a:r>
            <a:r>
              <a:rPr lang="zh-CN" altLang="en-US" sz="2800" b="1">
                <a:latin typeface="Tahoma" panose="020B0604030504040204" pitchFamily="34" charset="0"/>
              </a:rPr>
              <a:t> </a:t>
            </a:r>
            <a:r>
              <a:rPr lang="zh-CN" altLang="en-US" sz="2600" b="1">
                <a:latin typeface="Tahoma" panose="020B0604030504040204" pitchFamily="34" charset="0"/>
              </a:rPr>
              <a:t>块注释可以单独位于一行；也可以和执行代码同在一行，后者最好有几个</a:t>
            </a:r>
            <a:r>
              <a:rPr lang="zh-CN" altLang="en-US" sz="2600" b="1"/>
              <a:t>“</a:t>
            </a:r>
            <a:r>
              <a:rPr lang="zh-CN" altLang="en-US" sz="2600" b="1">
                <a:latin typeface="Tahoma" panose="020B0604030504040204" pitchFamily="34" charset="0"/>
              </a:rPr>
              <a:t>空白</a:t>
            </a:r>
            <a:r>
              <a:rPr lang="zh-CN" altLang="en-US" sz="2600" b="1"/>
              <a:t>”</a:t>
            </a:r>
            <a:r>
              <a:rPr lang="zh-CN" altLang="en-US" sz="2600" b="1">
                <a:latin typeface="Tahoma" panose="020B0604030504040204" pitchFamily="34" charset="0"/>
              </a:rPr>
              <a:t>字符相隔。</a:t>
            </a:r>
            <a:r>
              <a:rPr lang="zh-CN" altLang="en-US" sz="2800" b="1">
                <a:latin typeface="Tahoma" panose="020B060403050404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advTm="14458"/>
    </mc:Choice>
    <mc:Fallback xmlns="">
      <p:transition spd="slow" advTm="14458"/>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3" name="Rectangle 5">
            <a:extLst>
              <a:ext uri="{FF2B5EF4-FFF2-40B4-BE49-F238E27FC236}">
                <a16:creationId xmlns:a16="http://schemas.microsoft.com/office/drawing/2014/main" id="{B48CBA35-EA58-46F8-A609-B754836D3E2E}"/>
              </a:ext>
            </a:extLst>
          </p:cNvPr>
          <p:cNvSpPr>
            <a:spLocks noChangeArrowheads="1"/>
          </p:cNvSpPr>
          <p:nvPr/>
        </p:nvSpPr>
        <p:spPr bwMode="auto">
          <a:xfrm>
            <a:off x="468313" y="692150"/>
            <a:ext cx="8280400" cy="5327650"/>
          </a:xfrm>
          <a:prstGeom prst="rect">
            <a:avLst/>
          </a:prstGeom>
          <a:noFill/>
          <a:ln>
            <a:noFill/>
          </a:ln>
          <a:effectLst>
            <a:outerShdw dist="12700" dir="54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10000"/>
              </a:lnSpc>
              <a:spcAft>
                <a:spcPct val="20000"/>
              </a:spcAft>
              <a:buClr>
                <a:schemeClr val="folHlink"/>
              </a:buClr>
              <a:buSzPct val="60000"/>
              <a:buFont typeface="Wingdings" panose="05000000000000000000" pitchFamily="2" charset="2"/>
              <a:buNone/>
            </a:pPr>
            <a:r>
              <a:rPr lang="zh-CN" altLang="en-US" sz="2600" b="1">
                <a:solidFill>
                  <a:srgbClr val="660033"/>
                </a:solidFill>
                <a:latin typeface="黑体" panose="02010609060101010101" pitchFamily="49" charset="-122"/>
                <a:ea typeface="黑体" panose="02010609060101010101" pitchFamily="49" charset="-122"/>
              </a:rPr>
              <a:t>例</a:t>
            </a:r>
            <a:r>
              <a:rPr lang="en-US" altLang="zh-CN" sz="2600" b="1">
                <a:solidFill>
                  <a:srgbClr val="660033"/>
                </a:solidFill>
                <a:latin typeface="黑体" panose="02010609060101010101" pitchFamily="49" charset="-122"/>
                <a:ea typeface="黑体" panose="02010609060101010101" pitchFamily="49" charset="-122"/>
              </a:rPr>
              <a:t>1.</a:t>
            </a:r>
            <a:r>
              <a:rPr lang="zh-CN" altLang="en-US" sz="2600" b="1">
                <a:latin typeface="黑体" panose="02010609060101010101" pitchFamily="49" charset="-122"/>
                <a:ea typeface="黑体" panose="02010609060101010101" pitchFamily="49" charset="-122"/>
              </a:rPr>
              <a:t> 具有</a:t>
            </a:r>
            <a:r>
              <a:rPr lang="en-US" altLang="zh-CN" sz="2400" b="1">
                <a:latin typeface="黑体" panose="02010609060101010101" pitchFamily="49" charset="-122"/>
                <a:ea typeface="黑体" panose="02010609060101010101" pitchFamily="49" charset="-122"/>
              </a:rPr>
              <a:t>3</a:t>
            </a:r>
            <a:r>
              <a:rPr lang="zh-CN" altLang="en-US" sz="2400" b="1">
                <a:latin typeface="黑体" panose="02010609060101010101" pitchFamily="49" charset="-122"/>
                <a:ea typeface="黑体" panose="02010609060101010101" pitchFamily="49" charset="-122"/>
              </a:rPr>
              <a:t>个批处理和使用了两种类型注释的脚本的例子。</a:t>
            </a:r>
          </a:p>
          <a:p>
            <a:pPr eaLnBrk="1" hangingPunct="1">
              <a:lnSpc>
                <a:spcPct val="110000"/>
              </a:lnSpc>
              <a:buClr>
                <a:schemeClr val="folHlink"/>
              </a:buClr>
              <a:buSzPct val="60000"/>
              <a:buFont typeface="Wingdings" panose="05000000000000000000" pitchFamily="2" charset="2"/>
              <a:buNone/>
            </a:pPr>
            <a:r>
              <a:rPr lang="zh-CN" altLang="en-US" sz="2400" b="1">
                <a:solidFill>
                  <a:srgbClr val="0000FF"/>
                </a:solidFill>
                <a:latin typeface="黑体" panose="02010609060101010101" pitchFamily="49" charset="-122"/>
                <a:ea typeface="黑体" panose="02010609060101010101" pitchFamily="49" charset="-122"/>
              </a:rPr>
              <a:t>    程序清单：</a:t>
            </a:r>
          </a:p>
          <a:p>
            <a:pPr eaLnBrk="1" hangingPunct="1">
              <a:lnSpc>
                <a:spcPct val="110000"/>
              </a:lnSpc>
              <a:buClr>
                <a:schemeClr val="folHlink"/>
              </a:buClr>
              <a:buSzPct val="60000"/>
              <a:buFont typeface="Wingdings" panose="05000000000000000000" pitchFamily="2" charset="2"/>
              <a:buNone/>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USE test   --</a:t>
            </a:r>
            <a:r>
              <a:rPr lang="zh-CN" altLang="en-US" sz="2400" b="1">
                <a:latin typeface="黑体" panose="02010609060101010101" pitchFamily="49" charset="-122"/>
                <a:ea typeface="黑体" panose="02010609060101010101" pitchFamily="49" charset="-122"/>
              </a:rPr>
              <a:t>打开</a:t>
            </a:r>
            <a:r>
              <a:rPr lang="en-US" altLang="zh-CN" sz="2400" b="1">
                <a:latin typeface="黑体" panose="02010609060101010101" pitchFamily="49" charset="-122"/>
                <a:ea typeface="黑体" panose="02010609060101010101" pitchFamily="49" charset="-122"/>
              </a:rPr>
              <a:t>test</a:t>
            </a:r>
            <a:r>
              <a:rPr lang="zh-CN" altLang="en-US" sz="2400" b="1">
                <a:latin typeface="黑体" panose="02010609060101010101" pitchFamily="49" charset="-122"/>
                <a:ea typeface="黑体" panose="02010609060101010101" pitchFamily="49" charset="-122"/>
              </a:rPr>
              <a:t>数据库</a:t>
            </a:r>
          </a:p>
          <a:p>
            <a:pPr eaLnBrk="1" hangingPunct="1">
              <a:lnSpc>
                <a:spcPct val="110000"/>
              </a:lnSpc>
              <a:buClr>
                <a:schemeClr val="folHlink"/>
              </a:buClr>
              <a:buSzPct val="60000"/>
              <a:buFont typeface="Wingdings" panose="05000000000000000000" pitchFamily="2" charset="2"/>
              <a:buNone/>
            </a:pPr>
            <a:r>
              <a:rPr lang="zh-CN" altLang="en-US" sz="2400" b="1">
                <a:solidFill>
                  <a:srgbClr val="0000FF"/>
                </a:solidFill>
                <a:latin typeface="黑体" panose="02010609060101010101" pitchFamily="49" charset="-122"/>
                <a:ea typeface="黑体" panose="02010609060101010101" pitchFamily="49" charset="-122"/>
              </a:rPr>
              <a:t>    </a:t>
            </a:r>
            <a:r>
              <a:rPr lang="en-US" altLang="zh-CN" sz="2400" b="1">
                <a:solidFill>
                  <a:srgbClr val="0000FF"/>
                </a:solidFill>
                <a:latin typeface="黑体" panose="02010609060101010101" pitchFamily="49" charset="-122"/>
                <a:ea typeface="黑体" panose="02010609060101010101" pitchFamily="49" charset="-122"/>
              </a:rPr>
              <a:t>GO</a:t>
            </a:r>
          </a:p>
          <a:p>
            <a:pPr eaLnBrk="1" hangingPunct="1">
              <a:lnSpc>
                <a:spcPct val="110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 </a:t>
            </a:r>
            <a:r>
              <a:rPr lang="zh-CN" altLang="en-US" sz="2400" b="1">
                <a:latin typeface="黑体" panose="02010609060101010101" pitchFamily="49" charset="-122"/>
                <a:ea typeface="黑体" panose="02010609060101010101" pitchFamily="49" charset="-122"/>
              </a:rPr>
              <a:t>多行（行内）注释的第一行</a:t>
            </a:r>
          </a:p>
          <a:p>
            <a:pPr eaLnBrk="1" hangingPunct="1">
              <a:lnSpc>
                <a:spcPct val="110000"/>
              </a:lnSpc>
              <a:buClr>
                <a:schemeClr val="folHlink"/>
              </a:buClr>
              <a:buSzPct val="60000"/>
              <a:buFont typeface="Wingdings" panose="05000000000000000000" pitchFamily="2" charset="2"/>
              <a:buNone/>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 </a:t>
            </a:r>
            <a:r>
              <a:rPr lang="zh-CN" altLang="en-US" sz="2400" b="1">
                <a:latin typeface="黑体" panose="02010609060101010101" pitchFamily="49" charset="-122"/>
                <a:ea typeface="黑体" panose="02010609060101010101" pitchFamily="49" charset="-122"/>
              </a:rPr>
              <a:t>多行（行内）注释的第二行</a:t>
            </a:r>
          </a:p>
          <a:p>
            <a:pPr eaLnBrk="1" hangingPunct="1">
              <a:lnSpc>
                <a:spcPct val="110000"/>
              </a:lnSpc>
              <a:buClr>
                <a:schemeClr val="folHlink"/>
              </a:buClr>
              <a:buSzPct val="60000"/>
              <a:buFont typeface="Wingdings" panose="05000000000000000000" pitchFamily="2" charset="2"/>
              <a:buNone/>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SELECT  *  FROM  S</a:t>
            </a:r>
          </a:p>
          <a:p>
            <a:pPr eaLnBrk="1" hangingPunct="1">
              <a:lnSpc>
                <a:spcPct val="110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a:t>
            </a:r>
            <a:r>
              <a:rPr lang="en-US" altLang="zh-CN" sz="2400" b="1">
                <a:solidFill>
                  <a:srgbClr val="0000FF"/>
                </a:solidFill>
                <a:latin typeface="黑体" panose="02010609060101010101" pitchFamily="49" charset="-122"/>
                <a:ea typeface="黑体" panose="02010609060101010101" pitchFamily="49" charset="-122"/>
              </a:rPr>
              <a:t>GO</a:t>
            </a:r>
          </a:p>
          <a:p>
            <a:pPr eaLnBrk="1" hangingPunct="1">
              <a:lnSpc>
                <a:spcPct val="110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 </a:t>
            </a:r>
            <a:r>
              <a:rPr lang="zh-CN" altLang="en-US" sz="2400" b="1">
                <a:latin typeface="黑体" panose="02010609060101010101" pitchFamily="49" charset="-122"/>
                <a:ea typeface="黑体" panose="02010609060101010101" pitchFamily="49" charset="-122"/>
              </a:rPr>
              <a:t>（块）注释语句的第一行</a:t>
            </a:r>
            <a:r>
              <a:rPr lang="en-US" altLang="zh-CN" sz="2400" b="1">
                <a:latin typeface="黑体" panose="02010609060101010101" pitchFamily="49" charset="-122"/>
                <a:ea typeface="黑体" panose="02010609060101010101" pitchFamily="49" charset="-122"/>
              </a:rPr>
              <a:t>.</a:t>
            </a:r>
          </a:p>
          <a:p>
            <a:pPr eaLnBrk="1" hangingPunct="1">
              <a:lnSpc>
                <a:spcPct val="110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a:t>
            </a:r>
            <a:r>
              <a:rPr lang="zh-CN" altLang="en-US" sz="2400" b="1">
                <a:latin typeface="黑体" panose="02010609060101010101" pitchFamily="49" charset="-122"/>
                <a:ea typeface="黑体" panose="02010609060101010101" pitchFamily="49" charset="-122"/>
              </a:rPr>
              <a:t>（块）注释语句的第二行</a:t>
            </a:r>
            <a:r>
              <a:rPr lang="en-US" altLang="zh-CN" sz="2400" b="1">
                <a:latin typeface="黑体" panose="02010609060101010101" pitchFamily="49" charset="-122"/>
                <a:ea typeface="黑体" panose="02010609060101010101" pitchFamily="49" charset="-122"/>
              </a:rPr>
              <a:t>. */</a:t>
            </a:r>
          </a:p>
          <a:p>
            <a:pPr eaLnBrk="1" hangingPunct="1">
              <a:lnSpc>
                <a:spcPct val="110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SELECT  *  FROM  SC</a:t>
            </a:r>
          </a:p>
          <a:p>
            <a:pPr eaLnBrk="1" hangingPunct="1">
              <a:lnSpc>
                <a:spcPct val="110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a:t>
            </a:r>
            <a:r>
              <a:rPr lang="en-US" altLang="zh-CN" sz="2400" b="1">
                <a:solidFill>
                  <a:srgbClr val="0000FF"/>
                </a:solidFill>
                <a:latin typeface="黑体" panose="02010609060101010101" pitchFamily="49" charset="-122"/>
                <a:ea typeface="黑体" panose="02010609060101010101" pitchFamily="49" charset="-122"/>
              </a:rPr>
              <a:t>GO</a:t>
            </a:r>
            <a:r>
              <a:rPr lang="en-US" altLang="zh-CN" sz="2400" b="1">
                <a:latin typeface="黑体" panose="02010609060101010101" pitchFamily="49" charset="-122"/>
                <a:ea typeface="黑体" panose="02010609060101010101" pitchFamily="49" charset="-122"/>
              </a:rPr>
              <a:t>        -- </a:t>
            </a:r>
            <a:r>
              <a:rPr lang="zh-CN" altLang="en-US" sz="2400" b="1">
                <a:latin typeface="黑体" panose="02010609060101010101" pitchFamily="49" charset="-122"/>
                <a:ea typeface="黑体" panose="02010609060101010101" pitchFamily="49" charset="-122"/>
              </a:rPr>
              <a:t>在</a:t>
            </a:r>
            <a:r>
              <a:rPr lang="en-US" altLang="zh-CN" sz="2400" b="1">
                <a:latin typeface="黑体" panose="02010609060101010101" pitchFamily="49" charset="-122"/>
                <a:ea typeface="黑体" panose="02010609060101010101" pitchFamily="49" charset="-122"/>
              </a:rPr>
              <a:t>T-SQL</a:t>
            </a:r>
            <a:r>
              <a:rPr lang="zh-CN" altLang="en-US" sz="2400" b="1">
                <a:latin typeface="黑体" panose="02010609060101010101" pitchFamily="49" charset="-122"/>
                <a:ea typeface="黑体" panose="02010609060101010101" pitchFamily="49" charset="-122"/>
              </a:rPr>
              <a:t>语言调试过程中使用注释语句  </a:t>
            </a:r>
          </a:p>
        </p:txBody>
      </p:sp>
    </p:spTree>
  </p:cSld>
  <p:clrMapOvr>
    <a:masterClrMapping/>
  </p:clrMapOvr>
  <mc:AlternateContent xmlns:mc="http://schemas.openxmlformats.org/markup-compatibility/2006" xmlns:p14="http://schemas.microsoft.com/office/powerpoint/2010/main">
    <mc:Choice Requires="p14">
      <p:transition spd="slow" p14:dur="2000" advTm="15956"/>
    </mc:Choice>
    <mc:Fallback xmlns="">
      <p:transition spd="slow" advTm="15956"/>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0578" name="Rectangle 2">
            <a:extLst>
              <a:ext uri="{FF2B5EF4-FFF2-40B4-BE49-F238E27FC236}">
                <a16:creationId xmlns:a16="http://schemas.microsoft.com/office/drawing/2014/main" id="{AB47A732-959D-4E9E-BB3B-66FB8CA32278}"/>
              </a:ext>
            </a:extLst>
          </p:cNvPr>
          <p:cNvSpPr>
            <a:spLocks noGrp="1" noChangeArrowheads="1"/>
          </p:cNvSpPr>
          <p:nvPr>
            <p:ph type="ctrTitle"/>
          </p:nvPr>
        </p:nvSpPr>
        <p:spPr>
          <a:xfrm>
            <a:off x="827088" y="1535113"/>
            <a:ext cx="8137525" cy="1462087"/>
          </a:xfrm>
        </p:spPr>
        <p:txBody>
          <a:bodyPr/>
          <a:lstStyle/>
          <a:p>
            <a:pPr eaLnBrk="1" hangingPunct="1">
              <a:defRPr/>
            </a:pPr>
            <a:r>
              <a:rPr lang="en-US" altLang="zh-CN" sz="4400"/>
              <a:t>7.2</a:t>
            </a:r>
            <a:r>
              <a:rPr lang="zh-CN" altLang="en-US" sz="4400"/>
              <a:t>  </a:t>
            </a:r>
            <a:r>
              <a:rPr lang="en-US" altLang="zh-CN" sz="4400"/>
              <a:t>Transact-SQL</a:t>
            </a:r>
            <a:r>
              <a:rPr lang="zh-CN" altLang="en-US" sz="4400"/>
              <a:t>的语言要素 </a:t>
            </a:r>
          </a:p>
        </p:txBody>
      </p:sp>
      <p:sp>
        <p:nvSpPr>
          <p:cNvPr id="920579" name="Rectangle 3">
            <a:extLst>
              <a:ext uri="{FF2B5EF4-FFF2-40B4-BE49-F238E27FC236}">
                <a16:creationId xmlns:a16="http://schemas.microsoft.com/office/drawing/2014/main" id="{299E88CE-3120-4ABF-826E-CA1FC2311AA7}"/>
              </a:ext>
            </a:extLst>
          </p:cNvPr>
          <p:cNvSpPr>
            <a:spLocks noChangeArrowheads="1"/>
          </p:cNvSpPr>
          <p:nvPr/>
        </p:nvSpPr>
        <p:spPr bwMode="auto">
          <a:xfrm>
            <a:off x="71438" y="80963"/>
            <a:ext cx="4860925" cy="574675"/>
          </a:xfrm>
          <a:prstGeom prst="rect">
            <a:avLst/>
          </a:prstGeom>
          <a:gradFill rotWithShape="1">
            <a:gsLst>
              <a:gs pos="0">
                <a:srgbClr val="C0C0C0"/>
              </a:gs>
              <a:gs pos="100000">
                <a:srgbClr val="C0C0C0">
                  <a:gamma/>
                  <a:tint val="0"/>
                  <a:invGamma/>
                </a:srgbClr>
              </a:gs>
            </a:gsLst>
            <a:path path="shape">
              <a:fillToRect l="50000" t="50000" r="50000" b="50000"/>
            </a:path>
          </a:gradFill>
          <a:ln w="9525">
            <a:noFill/>
            <a:miter lim="800000"/>
            <a:headEnd/>
            <a:tailEnd/>
          </a:ln>
          <a:effectLst/>
        </p:spPr>
        <p:txBody>
          <a:bodyPr tIns="76176" bIns="72000" anchor="ctr" anchorCtr="1">
            <a:spAutoFit/>
          </a:bodyPr>
          <a:lstStyle/>
          <a:p>
            <a:pPr>
              <a:defRPr/>
            </a:pPr>
            <a:r>
              <a:rPr lang="zh-CN" altLang="en-US" sz="2400" b="1">
                <a:solidFill>
                  <a:srgbClr val="993300"/>
                </a:solidFill>
                <a:effectLst>
                  <a:outerShdw blurRad="38100" dist="38100" dir="2700000" algn="tl">
                    <a:srgbClr val="000000"/>
                  </a:outerShdw>
                </a:effectLst>
                <a:latin typeface="Arial" charset="0"/>
                <a:ea typeface="隶书" pitchFamily="49" charset="-122"/>
              </a:rPr>
              <a:t>第</a:t>
            </a:r>
            <a:r>
              <a:rPr lang="en-US" altLang="zh-CN" sz="2400" b="1">
                <a:solidFill>
                  <a:srgbClr val="993300"/>
                </a:solidFill>
                <a:effectLst>
                  <a:outerShdw blurRad="38100" dist="38100" dir="2700000" algn="tl">
                    <a:srgbClr val="000000"/>
                  </a:outerShdw>
                </a:effectLst>
                <a:latin typeface="Arial" charset="0"/>
                <a:ea typeface="隶书" pitchFamily="49" charset="-122"/>
              </a:rPr>
              <a:t>7</a:t>
            </a:r>
            <a:r>
              <a:rPr lang="zh-CN" altLang="en-US" sz="2400" b="1">
                <a:solidFill>
                  <a:srgbClr val="993300"/>
                </a:solidFill>
                <a:effectLst>
                  <a:outerShdw blurRad="38100" dist="38100" dir="2700000" algn="tl">
                    <a:srgbClr val="000000"/>
                  </a:outerShdw>
                </a:effectLst>
                <a:latin typeface="Arial" charset="0"/>
                <a:ea typeface="隶书" pitchFamily="49" charset="-122"/>
              </a:rPr>
              <a:t>章</a:t>
            </a:r>
            <a:r>
              <a:rPr lang="zh-CN" altLang="en-US" sz="2400" b="1">
                <a:solidFill>
                  <a:schemeClr val="tx2"/>
                </a:solidFill>
                <a:effectLst>
                  <a:outerShdw blurRad="38100" dist="38100" dir="2700000" algn="tl">
                    <a:srgbClr val="000000"/>
                  </a:outerShdw>
                </a:effectLst>
                <a:latin typeface="Arial" charset="0"/>
              </a:rPr>
              <a:t>  </a:t>
            </a:r>
            <a:r>
              <a:rPr lang="en-US" altLang="zh-CN" sz="2400" b="1">
                <a:solidFill>
                  <a:srgbClr val="993300"/>
                </a:solidFill>
                <a:effectLst>
                  <a:outerShdw blurRad="38100" dist="38100" dir="2700000" algn="tl">
                    <a:srgbClr val="000000"/>
                  </a:outerShdw>
                </a:effectLst>
                <a:latin typeface="Arial" charset="0"/>
                <a:ea typeface="隶书" pitchFamily="49" charset="-122"/>
              </a:rPr>
              <a:t>Transact-SQL</a:t>
            </a:r>
            <a:r>
              <a:rPr lang="zh-CN" altLang="en-US" sz="2400" b="1">
                <a:solidFill>
                  <a:srgbClr val="993300"/>
                </a:solidFill>
                <a:effectLst>
                  <a:outerShdw blurRad="38100" dist="38100" dir="2700000" algn="tl">
                    <a:srgbClr val="000000"/>
                  </a:outerShdw>
                </a:effectLst>
                <a:latin typeface="Arial" charset="0"/>
                <a:ea typeface="隶书" pitchFamily="49" charset="-122"/>
              </a:rPr>
              <a:t>与存储过程</a:t>
            </a:r>
            <a:r>
              <a:rPr lang="zh-CN" altLang="en-US" sz="2800" b="1">
                <a:solidFill>
                  <a:srgbClr val="993300"/>
                </a:solidFill>
                <a:effectLst>
                  <a:outerShdw blurRad="38100" dist="38100" dir="2700000" algn="tl">
                    <a:srgbClr val="000000"/>
                  </a:outerShdw>
                </a:effectLst>
                <a:latin typeface="Arial" charset="0"/>
                <a:ea typeface="隶书" pitchFamily="49" charset="-122"/>
              </a:rPr>
              <a:t> </a:t>
            </a:r>
          </a:p>
        </p:txBody>
      </p:sp>
    </p:spTree>
  </p:cSld>
  <p:clrMapOvr>
    <a:masterClrMapping/>
  </p:clrMapOvr>
  <p:transition advTm="4206"/>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3" presetClass="entr" presetSubtype="16" fill="hold" grpId="0" nodeType="afterEffect">
                                  <p:stCondLst>
                                    <p:cond delay="0"/>
                                  </p:stCondLst>
                                  <p:childTnLst>
                                    <p:set>
                                      <p:cBhvr>
                                        <p:cTn id="6" dur="1" fill="hold">
                                          <p:stCondLst>
                                            <p:cond delay="0"/>
                                          </p:stCondLst>
                                        </p:cTn>
                                        <p:tgtEl>
                                          <p:spTgt spid="920578"/>
                                        </p:tgtEl>
                                        <p:attrNameLst>
                                          <p:attrName>style.visibility</p:attrName>
                                        </p:attrNameLst>
                                      </p:cBhvr>
                                      <p:to>
                                        <p:strVal val="visible"/>
                                      </p:to>
                                    </p:set>
                                    <p:animEffect transition="in" filter="plus(in)">
                                      <p:cBhvr>
                                        <p:cTn id="7" dur="500"/>
                                        <p:tgtEl>
                                          <p:spTgt spid="920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057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347E93DD-AA70-49E3-AEA4-492475345EC0}"/>
              </a:ext>
            </a:extLst>
          </p:cNvPr>
          <p:cNvSpPr>
            <a:spLocks noChangeArrowheads="1"/>
          </p:cNvSpPr>
          <p:nvPr/>
        </p:nvSpPr>
        <p:spPr bwMode="auto">
          <a:xfrm>
            <a:off x="71438" y="71438"/>
            <a:ext cx="8748712" cy="1557337"/>
          </a:xfrm>
          <a:prstGeom prst="rect">
            <a:avLst/>
          </a:prstGeom>
          <a:solidFill>
            <a:schemeClr val="bg1"/>
          </a:solidFill>
          <a:ln w="12700" cap="sq">
            <a:solidFill>
              <a:schemeClr val="bg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ctr" eaLnBrk="1" hangingPunct="1"/>
            <a:endParaRPr lang="zh-CN" altLang="en-US"/>
          </a:p>
        </p:txBody>
      </p:sp>
      <p:sp>
        <p:nvSpPr>
          <p:cNvPr id="922629" name="Text Box 5">
            <a:extLst>
              <a:ext uri="{FF2B5EF4-FFF2-40B4-BE49-F238E27FC236}">
                <a16:creationId xmlns:a16="http://schemas.microsoft.com/office/drawing/2014/main" id="{51FC1282-DBFA-409C-B5A5-EB2D2A5D7362}"/>
              </a:ext>
            </a:extLst>
          </p:cNvPr>
          <p:cNvSpPr txBox="1">
            <a:spLocks noChangeArrowheads="1"/>
          </p:cNvSpPr>
          <p:nvPr/>
        </p:nvSpPr>
        <p:spPr bwMode="auto">
          <a:xfrm>
            <a:off x="581025" y="927100"/>
            <a:ext cx="8142288" cy="4672013"/>
          </a:xfrm>
          <a:prstGeom prst="rect">
            <a:avLst/>
          </a:prstGeom>
          <a:noFill/>
          <a:ln w="19050">
            <a:solidFill>
              <a:schemeClr val="folHlink"/>
            </a:solidFill>
            <a:miter lim="800000"/>
            <a:headEnd type="none" w="sm" len="lg"/>
            <a:tailEnd type="none" w="sm" len="lg"/>
          </a:ln>
          <a:effectLst/>
        </p:spPr>
        <p:txBody>
          <a:bodyPr>
            <a:spAutoFit/>
          </a:bodyPr>
          <a:lstStyle/>
          <a:p>
            <a:pPr>
              <a:lnSpc>
                <a:spcPct val="170000"/>
              </a:lnSpc>
              <a:defRPr/>
            </a:pPr>
            <a:r>
              <a:rPr lang="en-US" altLang="zh-CN" b="1">
                <a:latin typeface="Arial" charset="0"/>
              </a:rPr>
              <a:t>             </a:t>
            </a:r>
          </a:p>
          <a:p>
            <a:pPr>
              <a:lnSpc>
                <a:spcPct val="170000"/>
              </a:lnSpc>
              <a:defRPr/>
            </a:pPr>
            <a:r>
              <a:rPr lang="en-US" altLang="zh-CN" b="1">
                <a:latin typeface="Arial" charset="0"/>
              </a:rPr>
              <a:t>                   </a:t>
            </a:r>
            <a:r>
              <a:rPr lang="en-US" altLang="zh-CN" sz="3200" b="1">
                <a:latin typeface="黑体" pitchFamily="2" charset="-122"/>
                <a:ea typeface="黑体" pitchFamily="2" charset="-122"/>
              </a:rPr>
              <a:t>T-SQL</a:t>
            </a:r>
            <a:r>
              <a:rPr lang="zh-CN" altLang="en-US" sz="3200" b="1">
                <a:latin typeface="黑体" pitchFamily="2" charset="-122"/>
                <a:ea typeface="黑体" pitchFamily="2" charset="-122"/>
              </a:rPr>
              <a:t>语言是标准</a:t>
            </a:r>
            <a:r>
              <a:rPr lang="en-US" altLang="zh-CN" sz="3200" b="1">
                <a:latin typeface="黑体" pitchFamily="2" charset="-122"/>
                <a:ea typeface="黑体" pitchFamily="2" charset="-122"/>
              </a:rPr>
              <a:t>SQL</a:t>
            </a:r>
            <a:r>
              <a:rPr lang="zh-CN" altLang="en-US" sz="3200" b="1">
                <a:latin typeface="黑体" pitchFamily="2" charset="-122"/>
                <a:ea typeface="黑体" pitchFamily="2" charset="-122"/>
              </a:rPr>
              <a:t>语言的扩展。</a:t>
            </a:r>
          </a:p>
          <a:p>
            <a:pPr>
              <a:lnSpc>
                <a:spcPct val="170000"/>
              </a:lnSpc>
              <a:defRPr/>
            </a:pPr>
            <a:r>
              <a:rPr lang="zh-CN" altLang="en-US" sz="3200" b="1">
                <a:latin typeface="黑体" pitchFamily="2" charset="-122"/>
                <a:ea typeface="黑体" pitchFamily="2" charset="-122"/>
              </a:rPr>
              <a:t>      由于</a:t>
            </a:r>
            <a:r>
              <a:rPr lang="en-US" altLang="zh-CN" sz="3200" b="1">
                <a:latin typeface="黑体" pitchFamily="2" charset="-122"/>
                <a:ea typeface="黑体" pitchFamily="2" charset="-122"/>
              </a:rPr>
              <a:t>T-SQL</a:t>
            </a:r>
            <a:r>
              <a:rPr lang="zh-CN" altLang="en-US" sz="3200" b="1">
                <a:latin typeface="黑体" pitchFamily="2" charset="-122"/>
                <a:ea typeface="黑体" pitchFamily="2" charset="-122"/>
              </a:rPr>
              <a:t>语言具有其它语言的共同</a:t>
            </a:r>
          </a:p>
          <a:p>
            <a:pPr>
              <a:lnSpc>
                <a:spcPct val="170000"/>
              </a:lnSpc>
              <a:defRPr/>
            </a:pPr>
            <a:r>
              <a:rPr lang="zh-CN" altLang="en-US" sz="3200" b="1">
                <a:latin typeface="黑体" pitchFamily="2" charset="-122"/>
                <a:ea typeface="黑体" pitchFamily="2" charset="-122"/>
              </a:rPr>
              <a:t>  特征，所以下面仅介绍</a:t>
            </a:r>
            <a:r>
              <a:rPr lang="en-US" altLang="zh-CN" sz="3200" b="1">
                <a:latin typeface="黑体" pitchFamily="2" charset="-122"/>
                <a:ea typeface="黑体" pitchFamily="2" charset="-122"/>
              </a:rPr>
              <a:t>T-SQL</a:t>
            </a:r>
            <a:r>
              <a:rPr lang="zh-CN" altLang="en-US" sz="3200" b="1">
                <a:latin typeface="黑体" pitchFamily="2" charset="-122"/>
                <a:ea typeface="黑体" pitchFamily="2" charset="-122"/>
              </a:rPr>
              <a:t>有别于其它</a:t>
            </a:r>
          </a:p>
          <a:p>
            <a:pPr>
              <a:lnSpc>
                <a:spcPct val="170000"/>
              </a:lnSpc>
              <a:defRPr/>
            </a:pPr>
            <a:r>
              <a:rPr lang="zh-CN" altLang="en-US" sz="3200" b="1">
                <a:latin typeface="黑体" pitchFamily="2" charset="-122"/>
                <a:ea typeface="黑体" pitchFamily="2" charset="-122"/>
              </a:rPr>
              <a:t>  语言的部分内容。</a:t>
            </a:r>
            <a:r>
              <a:rPr lang="zh-CN" altLang="en-US" sz="3200">
                <a:latin typeface="黑体" pitchFamily="2" charset="-122"/>
                <a:ea typeface="黑体" pitchFamily="2" charset="-122"/>
              </a:rPr>
              <a:t> </a:t>
            </a:r>
            <a:endParaRPr lang="zh-CN" altLang="en-US" sz="3200" b="1">
              <a:effectLst>
                <a:outerShdw blurRad="38100" dist="38100" dir="2700000" algn="tl">
                  <a:srgbClr val="C0C0C0"/>
                </a:outerShdw>
              </a:effectLst>
              <a:latin typeface="黑体" pitchFamily="2" charset="-122"/>
              <a:ea typeface="黑体" pitchFamily="2" charset="-122"/>
            </a:endParaRPr>
          </a:p>
          <a:p>
            <a:pPr>
              <a:lnSpc>
                <a:spcPct val="160000"/>
              </a:lnSpc>
              <a:spcAft>
                <a:spcPct val="20000"/>
              </a:spcAft>
              <a:defRPr/>
            </a:pPr>
            <a:endParaRPr lang="zh-CN" altLang="en-US" sz="3200" b="1">
              <a:effectLst>
                <a:outerShdw blurRad="38100" dist="38100" dir="2700000" algn="tl">
                  <a:srgbClr val="C0C0C0"/>
                </a:outerShdw>
              </a:effectLst>
              <a:latin typeface="黑体" pitchFamily="2" charset="-122"/>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3451"/>
    </mc:Choice>
    <mc:Fallback xmlns="">
      <p:transition spd="slow" advTm="1345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484" name="Rectangle 4">
            <a:extLst>
              <a:ext uri="{FF2B5EF4-FFF2-40B4-BE49-F238E27FC236}">
                <a16:creationId xmlns:a16="http://schemas.microsoft.com/office/drawing/2014/main" id="{8F6DD966-EFA6-45B3-82F9-B060097E5727}"/>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一、常量 </a:t>
            </a:r>
          </a:p>
        </p:txBody>
      </p:sp>
      <p:sp>
        <p:nvSpPr>
          <p:cNvPr id="916485" name="Rectangle 5">
            <a:extLst>
              <a:ext uri="{FF2B5EF4-FFF2-40B4-BE49-F238E27FC236}">
                <a16:creationId xmlns:a16="http://schemas.microsoft.com/office/drawing/2014/main" id="{0DD52E49-D32E-42AD-9D64-13A89FFE28AB}"/>
              </a:ext>
            </a:extLst>
          </p:cNvPr>
          <p:cNvSpPr>
            <a:spLocks noChangeArrowheads="1"/>
          </p:cNvSpPr>
          <p:nvPr/>
        </p:nvSpPr>
        <p:spPr bwMode="auto">
          <a:xfrm>
            <a:off x="323850" y="1171575"/>
            <a:ext cx="8424863"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2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a:solidFill>
                  <a:srgbClr val="660033"/>
                </a:solidFill>
                <a:latin typeface="黑体" panose="02010609060101010101" pitchFamily="49" charset="-122"/>
                <a:ea typeface="黑体" panose="02010609060101010101" pitchFamily="49" charset="-122"/>
              </a:rPr>
              <a:t>1</a:t>
            </a:r>
            <a:r>
              <a:rPr lang="zh-CN" altLang="en-US" sz="2800">
                <a:solidFill>
                  <a:srgbClr val="660033"/>
                </a:solidFill>
                <a:latin typeface="黑体" panose="02010609060101010101" pitchFamily="49" charset="-122"/>
                <a:ea typeface="黑体" panose="02010609060101010101" pitchFamily="49" charset="-122"/>
              </a:rPr>
              <a:t>、字符串常量</a:t>
            </a:r>
            <a:r>
              <a:rPr lang="zh-CN" altLang="en-US" sz="2800" b="1">
                <a:latin typeface="Tahoma" panose="020B0604030504040204" pitchFamily="34" charset="0"/>
              </a:rPr>
              <a:t> </a:t>
            </a:r>
            <a:endParaRPr lang="zh-CN" altLang="en-US" sz="2800">
              <a:solidFill>
                <a:srgbClr val="660033"/>
              </a:solidFill>
              <a:latin typeface="黑体" panose="02010609060101010101" pitchFamily="49" charset="-122"/>
              <a:ea typeface="黑体" panose="02010609060101010101" pitchFamily="49" charset="-122"/>
            </a:endParaRPr>
          </a:p>
          <a:p>
            <a:pPr eaLnBrk="1" hangingPunct="1">
              <a:lnSpc>
                <a:spcPct val="120000"/>
              </a:lnSpc>
              <a:buClr>
                <a:schemeClr val="folHlink"/>
              </a:buClr>
              <a:buSzPct val="60000"/>
              <a:buFont typeface="Wingdings" panose="05000000000000000000" pitchFamily="2" charset="2"/>
              <a:buNone/>
            </a:pPr>
            <a:r>
              <a:rPr lang="zh-CN" altLang="en-US" sz="2800" b="1">
                <a:latin typeface="Tahoma" panose="020B0604030504040204" pitchFamily="34" charset="0"/>
              </a:rPr>
              <a:t>         字符串常量由字母、数字和符号组成，并包含在一对</a:t>
            </a:r>
            <a:r>
              <a:rPr lang="zh-CN" altLang="en-US" sz="2800" b="1">
                <a:solidFill>
                  <a:srgbClr val="0000FF"/>
                </a:solidFill>
                <a:latin typeface="Tahoma" panose="020B0604030504040204" pitchFamily="34" charset="0"/>
              </a:rPr>
              <a:t>单引号</a:t>
            </a:r>
            <a:r>
              <a:rPr lang="zh-CN" altLang="en-US" sz="2800" b="1">
                <a:latin typeface="Tahoma" panose="020B0604030504040204" pitchFamily="34" charset="0"/>
              </a:rPr>
              <a:t>内。 </a:t>
            </a:r>
          </a:p>
          <a:p>
            <a:pPr eaLnBrk="1" hangingPunct="1">
              <a:lnSpc>
                <a:spcPct val="12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a:solidFill>
                  <a:srgbClr val="660033"/>
                </a:solidFill>
                <a:latin typeface="黑体" panose="02010609060101010101" pitchFamily="49" charset="-122"/>
                <a:ea typeface="黑体" panose="02010609060101010101" pitchFamily="49" charset="-122"/>
              </a:rPr>
              <a:t>2</a:t>
            </a:r>
            <a:r>
              <a:rPr lang="zh-CN" altLang="en-US" sz="2800">
                <a:solidFill>
                  <a:srgbClr val="660033"/>
                </a:solidFill>
                <a:latin typeface="黑体" panose="02010609060101010101" pitchFamily="49" charset="-122"/>
                <a:ea typeface="黑体" panose="02010609060101010101" pitchFamily="49" charset="-122"/>
              </a:rPr>
              <a:t>、</a:t>
            </a:r>
            <a:r>
              <a:rPr lang="zh-CN" altLang="pt-BR" sz="2800">
                <a:solidFill>
                  <a:srgbClr val="660033"/>
                </a:solidFill>
                <a:latin typeface="黑体" panose="02010609060101010101" pitchFamily="49" charset="-122"/>
                <a:ea typeface="黑体" panose="02010609060101010101" pitchFamily="49" charset="-122"/>
              </a:rPr>
              <a:t>数值常量</a:t>
            </a:r>
            <a:endParaRPr lang="zh-CN" altLang="en-US" sz="2800">
              <a:solidFill>
                <a:srgbClr val="660033"/>
              </a:solidFill>
              <a:latin typeface="黑体" panose="02010609060101010101" pitchFamily="49" charset="-122"/>
              <a:ea typeface="黑体" panose="02010609060101010101" pitchFamily="49" charset="-122"/>
            </a:endParaRPr>
          </a:p>
          <a:p>
            <a:pPr eaLnBrk="1" hangingPunct="1">
              <a:lnSpc>
                <a:spcPct val="12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zh-CN" altLang="pt-BR" sz="2800" b="1">
                <a:latin typeface="Tahoma" panose="020B0604030504040204" pitchFamily="34" charset="0"/>
              </a:rPr>
              <a:t>数值常量分为二进制常量、</a:t>
            </a:r>
            <a:r>
              <a:rPr lang="pt-BR" altLang="zh-CN" sz="2800" b="1">
                <a:latin typeface="Tahoma" panose="020B0604030504040204" pitchFamily="34" charset="0"/>
              </a:rPr>
              <a:t>bit</a:t>
            </a:r>
            <a:r>
              <a:rPr lang="zh-CN" altLang="pt-BR" sz="2800" b="1">
                <a:latin typeface="Tahoma" panose="020B0604030504040204" pitchFamily="34" charset="0"/>
              </a:rPr>
              <a:t>常量、</a:t>
            </a:r>
            <a:r>
              <a:rPr lang="pt-BR" altLang="zh-CN" sz="2800" b="1">
                <a:latin typeface="Tahoma" panose="020B0604030504040204" pitchFamily="34" charset="0"/>
              </a:rPr>
              <a:t>int</a:t>
            </a:r>
            <a:r>
              <a:rPr lang="zh-CN" altLang="pt-BR" sz="2800" b="1">
                <a:latin typeface="Tahoma" panose="020B0604030504040204" pitchFamily="34" charset="0"/>
              </a:rPr>
              <a:t>常量、</a:t>
            </a:r>
            <a:r>
              <a:rPr lang="pt-BR" altLang="zh-CN" sz="2800" b="1">
                <a:latin typeface="Tahoma" panose="020B0604030504040204" pitchFamily="34" charset="0"/>
              </a:rPr>
              <a:t>decimal</a:t>
            </a:r>
            <a:r>
              <a:rPr lang="zh-CN" altLang="pt-BR" sz="2800" b="1">
                <a:latin typeface="Tahoma" panose="020B0604030504040204" pitchFamily="34" charset="0"/>
              </a:rPr>
              <a:t>常量、</a:t>
            </a:r>
            <a:r>
              <a:rPr lang="pt-BR" altLang="zh-CN" sz="2800" b="1">
                <a:latin typeface="Tahoma" panose="020B0604030504040204" pitchFamily="34" charset="0"/>
              </a:rPr>
              <a:t>float</a:t>
            </a:r>
            <a:r>
              <a:rPr lang="zh-CN" altLang="pt-BR" sz="2800" b="1">
                <a:latin typeface="Tahoma" panose="020B0604030504040204" pitchFamily="34" charset="0"/>
              </a:rPr>
              <a:t>常量、</a:t>
            </a:r>
            <a:r>
              <a:rPr lang="pt-BR" altLang="zh-CN" sz="2800" b="1">
                <a:latin typeface="Tahoma" panose="020B0604030504040204" pitchFamily="34" charset="0"/>
              </a:rPr>
              <a:t>real</a:t>
            </a:r>
            <a:r>
              <a:rPr lang="zh-CN" altLang="pt-BR" sz="2800" b="1">
                <a:latin typeface="Tahoma" panose="020B0604030504040204" pitchFamily="34" charset="0"/>
              </a:rPr>
              <a:t>常量、</a:t>
            </a:r>
            <a:r>
              <a:rPr lang="pt-BR" altLang="zh-CN" sz="2800" b="1">
                <a:latin typeface="Tahoma" panose="020B0604030504040204" pitchFamily="34" charset="0"/>
              </a:rPr>
              <a:t>money</a:t>
            </a:r>
            <a:r>
              <a:rPr lang="zh-CN" altLang="pt-BR" sz="2800" b="1">
                <a:latin typeface="Tahoma" panose="020B0604030504040204" pitchFamily="34" charset="0"/>
              </a:rPr>
              <a:t>常量等。</a:t>
            </a:r>
          </a:p>
          <a:p>
            <a:pPr eaLnBrk="1" hangingPunct="1">
              <a:lnSpc>
                <a:spcPct val="120000"/>
              </a:lnSpc>
              <a:buClr>
                <a:schemeClr val="folHlink"/>
              </a:buClr>
              <a:buSzPct val="60000"/>
              <a:buFont typeface="Wingdings" panose="05000000000000000000" pitchFamily="2" charset="2"/>
              <a:buNone/>
            </a:pPr>
            <a:r>
              <a:rPr lang="zh-CN" altLang="pt-BR" sz="2800" b="1">
                <a:latin typeface="Tahoma" panose="020B0604030504040204" pitchFamily="34" charset="0"/>
              </a:rPr>
              <a:t>         </a:t>
            </a:r>
            <a:r>
              <a:rPr lang="pt-BR" altLang="zh-CN" sz="2800">
                <a:solidFill>
                  <a:srgbClr val="660033"/>
                </a:solidFill>
                <a:latin typeface="黑体" panose="02010609060101010101" pitchFamily="49" charset="-122"/>
                <a:ea typeface="黑体" panose="02010609060101010101" pitchFamily="49" charset="-122"/>
              </a:rPr>
              <a:t>3</a:t>
            </a:r>
            <a:r>
              <a:rPr lang="zh-CN" altLang="pt-BR" sz="2800">
                <a:solidFill>
                  <a:srgbClr val="660033"/>
                </a:solidFill>
                <a:latin typeface="黑体" panose="02010609060101010101" pitchFamily="49" charset="-122"/>
                <a:ea typeface="黑体" panose="02010609060101010101" pitchFamily="49" charset="-122"/>
              </a:rPr>
              <a:t>、日期时间常量</a:t>
            </a:r>
            <a:r>
              <a:rPr lang="zh-CN" altLang="pt-BR" sz="2800" b="1">
                <a:latin typeface="Tahoma" panose="020B0604030504040204" pitchFamily="34" charset="0"/>
              </a:rPr>
              <a:t>  </a:t>
            </a:r>
            <a:endParaRPr lang="zh-CN" altLang="en-US" sz="2800" b="1">
              <a:latin typeface="Tahoma" panose="020B0604030504040204" pitchFamily="34" charset="0"/>
            </a:endParaRPr>
          </a:p>
          <a:p>
            <a:pPr eaLnBrk="1" hangingPunct="1">
              <a:lnSpc>
                <a:spcPct val="120000"/>
              </a:lnSpc>
              <a:buClr>
                <a:schemeClr val="folHlink"/>
              </a:buClr>
              <a:buSzPct val="60000"/>
              <a:buFont typeface="Wingdings" panose="05000000000000000000" pitchFamily="2" charset="2"/>
              <a:buNone/>
            </a:pPr>
            <a:r>
              <a:rPr lang="zh-CN" altLang="pt-BR" sz="2800" b="1">
                <a:latin typeface="Tahoma" panose="020B0604030504040204" pitchFamily="34" charset="0"/>
              </a:rPr>
              <a:t>        日期时间常量包含在一对</a:t>
            </a:r>
            <a:r>
              <a:rPr lang="zh-CN" altLang="pt-BR" sz="2800" b="1">
                <a:solidFill>
                  <a:srgbClr val="0000FF"/>
                </a:solidFill>
                <a:latin typeface="Tahoma" panose="020B0604030504040204" pitchFamily="34" charset="0"/>
              </a:rPr>
              <a:t>单引号</a:t>
            </a:r>
            <a:r>
              <a:rPr lang="zh-CN" altLang="pt-BR" sz="2800" b="1">
                <a:latin typeface="Tahoma" panose="020B0604030504040204" pitchFamily="34" charset="0"/>
              </a:rPr>
              <a:t>中，可以只包含日期、制包含时间，或日期时间都包含。 </a:t>
            </a:r>
            <a:endParaRPr lang="zh-CN" altLang="en-US" sz="2800" b="1">
              <a:latin typeface="Tahom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32461"/>
    </mc:Choice>
    <mc:Fallback xmlns="">
      <p:transition spd="slow" advTm="3246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8" name="Rectangle 4">
            <a:extLst>
              <a:ext uri="{FF2B5EF4-FFF2-40B4-BE49-F238E27FC236}">
                <a16:creationId xmlns:a16="http://schemas.microsoft.com/office/drawing/2014/main" id="{ACEAF2D5-CCE1-4362-B342-D87CF23AC522}"/>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二、变量 </a:t>
            </a:r>
          </a:p>
        </p:txBody>
      </p:sp>
      <p:sp>
        <p:nvSpPr>
          <p:cNvPr id="917509" name="Rectangle 5">
            <a:extLst>
              <a:ext uri="{FF2B5EF4-FFF2-40B4-BE49-F238E27FC236}">
                <a16:creationId xmlns:a16="http://schemas.microsoft.com/office/drawing/2014/main" id="{57A0E6E6-6309-4D83-B4A3-B9AB00515A8F}"/>
              </a:ext>
            </a:extLst>
          </p:cNvPr>
          <p:cNvSpPr>
            <a:spLocks noChangeArrowheads="1"/>
          </p:cNvSpPr>
          <p:nvPr/>
        </p:nvSpPr>
        <p:spPr bwMode="auto">
          <a:xfrm>
            <a:off x="323850" y="1171575"/>
            <a:ext cx="8424863"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a:solidFill>
                  <a:srgbClr val="660033"/>
                </a:solidFill>
                <a:latin typeface="黑体" panose="02010609060101010101" pitchFamily="49" charset="-122"/>
                <a:ea typeface="黑体" panose="02010609060101010101" pitchFamily="49" charset="-122"/>
              </a:rPr>
              <a:t>1</a:t>
            </a:r>
            <a:r>
              <a:rPr lang="zh-CN" altLang="en-US" sz="2800">
                <a:solidFill>
                  <a:srgbClr val="660033"/>
                </a:solidFill>
                <a:latin typeface="黑体" panose="02010609060101010101" pitchFamily="49" charset="-122"/>
                <a:ea typeface="黑体" panose="02010609060101010101" pitchFamily="49" charset="-122"/>
              </a:rPr>
              <a:t>、局部变量</a:t>
            </a:r>
            <a:r>
              <a:rPr lang="zh-CN" altLang="en-US" sz="2800" b="1">
                <a:latin typeface="Tahoma" panose="020B0604030504040204" pitchFamily="34" charset="0"/>
              </a:rPr>
              <a:t> </a:t>
            </a:r>
            <a:endParaRPr lang="zh-CN" altLang="en-US" sz="2800">
              <a:solidFill>
                <a:srgbClr val="660033"/>
              </a:solidFill>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pt-BR" altLang="zh-CN" sz="2800" b="1">
                <a:latin typeface="Tahoma" panose="020B0604030504040204" pitchFamily="34" charset="0"/>
              </a:rPr>
              <a:t>         SQL</a:t>
            </a:r>
            <a:r>
              <a:rPr lang="zh-CN" altLang="pt-BR" sz="2800" b="1">
                <a:latin typeface="Tahoma" panose="020B0604030504040204" pitchFamily="34" charset="0"/>
              </a:rPr>
              <a:t>的局部变量是</a:t>
            </a:r>
            <a:r>
              <a:rPr lang="pt-BR" altLang="zh-CN" sz="2800" b="1">
                <a:latin typeface="Tahoma" panose="020B0604030504040204" pitchFamily="34" charset="0"/>
              </a:rPr>
              <a:t>T-SQL</a:t>
            </a:r>
            <a:r>
              <a:rPr lang="zh-CN" altLang="pt-BR" sz="2800" b="1">
                <a:latin typeface="Tahoma" panose="020B0604030504040204" pitchFamily="34" charset="0"/>
              </a:rPr>
              <a:t>批处理和脚本中可以保存数据值的对象。</a:t>
            </a:r>
            <a:r>
              <a:rPr lang="zh-CN" altLang="en-US" sz="2800" b="1">
                <a:latin typeface="Tahoma" panose="020B0604030504040204" pitchFamily="34" charset="0"/>
              </a:rPr>
              <a:t>其名称以</a:t>
            </a:r>
            <a:r>
              <a:rPr lang="en-US" altLang="zh-CN" sz="2800" b="1">
                <a:solidFill>
                  <a:srgbClr val="0000FF"/>
                </a:solidFill>
                <a:latin typeface="Tahoma" panose="020B0604030504040204" pitchFamily="34" charset="0"/>
              </a:rPr>
              <a:t>@</a:t>
            </a:r>
            <a:r>
              <a:rPr lang="zh-CN" altLang="en-US" sz="2800" b="1">
                <a:latin typeface="Tahoma" panose="020B0604030504040204" pitchFamily="34" charset="0"/>
              </a:rPr>
              <a:t>开始。</a:t>
            </a:r>
          </a:p>
        </p:txBody>
      </p:sp>
    </p:spTree>
  </p:cSld>
  <p:clrMapOvr>
    <a:masterClrMapping/>
  </p:clrMapOvr>
  <mc:AlternateContent xmlns:mc="http://schemas.openxmlformats.org/markup-compatibility/2006" xmlns:p14="http://schemas.microsoft.com/office/powerpoint/2010/main">
    <mc:Choice Requires="p14">
      <p:transition spd="slow" p14:dur="2000" advTm="15640"/>
    </mc:Choice>
    <mc:Fallback xmlns="">
      <p:transition spd="slow" advTm="1564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2" name="Rectangle 4">
            <a:extLst>
              <a:ext uri="{FF2B5EF4-FFF2-40B4-BE49-F238E27FC236}">
                <a16:creationId xmlns:a16="http://schemas.microsoft.com/office/drawing/2014/main" id="{5C4F3C4D-3B54-43C0-94AF-EEBACB74B487}"/>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二、变量 </a:t>
            </a:r>
          </a:p>
        </p:txBody>
      </p:sp>
      <p:sp>
        <p:nvSpPr>
          <p:cNvPr id="918533" name="Rectangle 5">
            <a:extLst>
              <a:ext uri="{FF2B5EF4-FFF2-40B4-BE49-F238E27FC236}">
                <a16:creationId xmlns:a16="http://schemas.microsoft.com/office/drawing/2014/main" id="{E966C471-654D-4EF1-9AA5-7B8637ECDAAA}"/>
              </a:ext>
            </a:extLst>
          </p:cNvPr>
          <p:cNvSpPr>
            <a:spLocks noChangeArrowheads="1"/>
          </p:cNvSpPr>
          <p:nvPr/>
        </p:nvSpPr>
        <p:spPr bwMode="auto">
          <a:xfrm>
            <a:off x="323850" y="1171575"/>
            <a:ext cx="8424863" cy="8890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a:solidFill>
                  <a:srgbClr val="660033"/>
                </a:solidFill>
                <a:latin typeface="黑体" panose="02010609060101010101" pitchFamily="49" charset="-122"/>
                <a:ea typeface="黑体" panose="02010609060101010101" pitchFamily="49" charset="-122"/>
              </a:rPr>
              <a:t>1</a:t>
            </a:r>
            <a:r>
              <a:rPr lang="zh-CN" altLang="en-US" sz="2800">
                <a:solidFill>
                  <a:srgbClr val="660033"/>
                </a:solidFill>
                <a:latin typeface="黑体" panose="02010609060101010101" pitchFamily="49" charset="-122"/>
                <a:ea typeface="黑体" panose="02010609060101010101" pitchFamily="49" charset="-122"/>
              </a:rPr>
              <a:t>）局部变量的定义</a:t>
            </a:r>
            <a:r>
              <a:rPr lang="zh-CN" altLang="en-US" sz="2800" b="1">
                <a:latin typeface="Tahoma" panose="020B0604030504040204" pitchFamily="34" charset="0"/>
              </a:rPr>
              <a:t> </a:t>
            </a:r>
          </a:p>
        </p:txBody>
      </p:sp>
      <p:sp>
        <p:nvSpPr>
          <p:cNvPr id="918534" name="Rectangle 6">
            <a:extLst>
              <a:ext uri="{FF2B5EF4-FFF2-40B4-BE49-F238E27FC236}">
                <a16:creationId xmlns:a16="http://schemas.microsoft.com/office/drawing/2014/main" id="{925A96A1-DA23-4068-8D60-84C9E43DC77E}"/>
              </a:ext>
            </a:extLst>
          </p:cNvPr>
          <p:cNvSpPr>
            <a:spLocks noChangeArrowheads="1"/>
          </p:cNvSpPr>
          <p:nvPr/>
        </p:nvSpPr>
        <p:spPr bwMode="auto">
          <a:xfrm>
            <a:off x="611188" y="1989138"/>
            <a:ext cx="7920037" cy="1584325"/>
          </a:xfrm>
          <a:prstGeom prst="rect">
            <a:avLst/>
          </a:prstGeom>
          <a:gradFill rotWithShape="1">
            <a:gsLst>
              <a:gs pos="0">
                <a:srgbClr val="C5ECFF"/>
              </a:gs>
              <a:gs pos="50000">
                <a:srgbClr val="FFFFFF"/>
              </a:gs>
              <a:gs pos="100000">
                <a:srgbClr val="C5ECFF"/>
              </a:gs>
            </a:gsLst>
            <a:lin ang="5400000" scaled="1"/>
          </a:gradFill>
          <a:ln w="9525">
            <a:solidFill>
              <a:srgbClr val="006666"/>
            </a:solidFill>
            <a:miter lim="800000"/>
            <a:headEnd/>
            <a:tailEnd/>
          </a:ln>
          <a:effectLst>
            <a:outerShdw dist="17961" dir="2700000" algn="ctr" rotWithShape="0">
              <a:schemeClr val="tx1"/>
            </a:outerShdw>
          </a:effec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en-US" altLang="zh-CN" sz="2800" b="1">
                <a:latin typeface="Tahoma" panose="020B0604030504040204" pitchFamily="34" charset="0"/>
              </a:rPr>
              <a:t>DECLARE @&lt;</a:t>
            </a:r>
            <a:r>
              <a:rPr lang="zh-CN" altLang="en-US" sz="2800" b="1">
                <a:latin typeface="Tahoma" panose="020B0604030504040204" pitchFamily="34" charset="0"/>
              </a:rPr>
              <a:t>变量名</a:t>
            </a:r>
            <a:r>
              <a:rPr lang="en-US" altLang="zh-CN" sz="2800" b="1">
                <a:latin typeface="Tahoma" panose="020B0604030504040204" pitchFamily="34" charset="0"/>
              </a:rPr>
              <a:t>&gt; &lt;</a:t>
            </a:r>
            <a:r>
              <a:rPr lang="zh-CN" altLang="en-US" sz="2800" b="1">
                <a:latin typeface="Tahoma" panose="020B0604030504040204" pitchFamily="34" charset="0"/>
              </a:rPr>
              <a:t>变量类型</a:t>
            </a:r>
            <a:r>
              <a:rPr lang="en-US" altLang="zh-CN" sz="2800" b="1">
                <a:latin typeface="Tahoma" panose="020B0604030504040204" pitchFamily="34" charset="0"/>
              </a:rPr>
              <a:t>&gt; </a:t>
            </a:r>
          </a:p>
          <a:p>
            <a:pPr eaLnBrk="1" hangingPunct="1">
              <a:lnSpc>
                <a:spcPct val="150000"/>
              </a:lnSpc>
              <a:buClr>
                <a:schemeClr val="folHlink"/>
              </a:buClr>
              <a:buSzPct val="60000"/>
              <a:buFont typeface="Wingdings" panose="05000000000000000000" pitchFamily="2" charset="2"/>
              <a:buNone/>
            </a:pPr>
            <a:r>
              <a:rPr lang="en-US" altLang="zh-CN" sz="2800" b="1">
                <a:latin typeface="Tahoma" panose="020B0604030504040204" pitchFamily="34" charset="0"/>
              </a:rPr>
              <a:t>                 [,@&lt;</a:t>
            </a:r>
            <a:r>
              <a:rPr lang="zh-CN" altLang="en-US" sz="2800" b="1">
                <a:latin typeface="Tahoma" panose="020B0604030504040204" pitchFamily="34" charset="0"/>
              </a:rPr>
              <a:t>变量名</a:t>
            </a:r>
            <a:r>
              <a:rPr lang="en-US" altLang="zh-CN" sz="2800" b="1">
                <a:latin typeface="Tahoma" panose="020B0604030504040204" pitchFamily="34" charset="0"/>
              </a:rPr>
              <a:t>&gt; &lt;</a:t>
            </a:r>
            <a:r>
              <a:rPr lang="zh-CN" altLang="en-US" sz="2800" b="1">
                <a:latin typeface="Tahoma" panose="020B0604030504040204" pitchFamily="34" charset="0"/>
              </a:rPr>
              <a:t>变量类型</a:t>
            </a:r>
            <a:r>
              <a:rPr lang="en-US" altLang="zh-CN" sz="2800" b="1">
                <a:latin typeface="Tahoma" panose="020B0604030504040204" pitchFamily="34" charset="0"/>
              </a:rPr>
              <a:t>&gt; [, </a:t>
            </a:r>
            <a:r>
              <a:rPr lang="en-US" altLang="zh-CN" sz="2800" b="1"/>
              <a:t>…</a:t>
            </a:r>
            <a:r>
              <a:rPr lang="en-US" altLang="zh-CN" sz="2800" b="1">
                <a:latin typeface="Tahoma" panose="020B0604030504040204" pitchFamily="34" charset="0"/>
              </a:rPr>
              <a:t> ]] </a:t>
            </a:r>
            <a:endParaRPr lang="zh-CN" altLang="en-US" sz="2800" b="1">
              <a:latin typeface="Tahoma" panose="020B0604030504040204" pitchFamily="34" charset="0"/>
            </a:endParaRPr>
          </a:p>
        </p:txBody>
      </p:sp>
      <p:sp>
        <p:nvSpPr>
          <p:cNvPr id="918535" name="Rectangle 7">
            <a:extLst>
              <a:ext uri="{FF2B5EF4-FFF2-40B4-BE49-F238E27FC236}">
                <a16:creationId xmlns:a16="http://schemas.microsoft.com/office/drawing/2014/main" id="{D8FD6FB2-095E-4B72-B4F4-2ABC85AB0C5B}"/>
              </a:ext>
            </a:extLst>
          </p:cNvPr>
          <p:cNvSpPr>
            <a:spLocks noChangeArrowheads="1"/>
          </p:cNvSpPr>
          <p:nvPr/>
        </p:nvSpPr>
        <p:spPr bwMode="auto">
          <a:xfrm>
            <a:off x="323850" y="3357563"/>
            <a:ext cx="8424863" cy="280828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solidFill>
                  <a:srgbClr val="0000FF"/>
                </a:solidFill>
                <a:latin typeface="Tahoma" panose="020B0604030504040204" pitchFamily="34" charset="0"/>
              </a:rPr>
              <a:t>其中：</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zh-CN" altLang="en-US" sz="2700" b="1">
                <a:latin typeface="Tahoma" panose="020B0604030504040204" pitchFamily="34" charset="0"/>
              </a:rPr>
              <a:t>① 变量类型可以是用户定义的数据类型，也可以由系统提供的数据的数据类型。</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700" b="1">
                <a:latin typeface="Tahoma" panose="020B0604030504040204" pitchFamily="34" charset="0"/>
              </a:rPr>
              <a:t>          ② 局部变量在声明后但未赋值前，其值为</a:t>
            </a:r>
            <a:r>
              <a:rPr lang="en-US" altLang="zh-CN" sz="2700" b="1">
                <a:latin typeface="Tahoma" panose="020B0604030504040204" pitchFamily="34" charset="0"/>
              </a:rPr>
              <a:t>NULL</a:t>
            </a:r>
            <a:r>
              <a:rPr lang="zh-CN" altLang="en-US" sz="2700" b="1">
                <a:latin typeface="Tahoma" panose="020B060403050404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slow" p14:dur="2000" advTm="34832"/>
    </mc:Choice>
    <mc:Fallback xmlns="">
      <p:transition spd="slow" advTm="34832"/>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6" name="Rectangle 4">
            <a:extLst>
              <a:ext uri="{FF2B5EF4-FFF2-40B4-BE49-F238E27FC236}">
                <a16:creationId xmlns:a16="http://schemas.microsoft.com/office/drawing/2014/main" id="{7FCEF90B-0F00-4B32-A17D-EC392A2912F1}"/>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二、变量 </a:t>
            </a:r>
          </a:p>
        </p:txBody>
      </p:sp>
      <p:sp>
        <p:nvSpPr>
          <p:cNvPr id="919557" name="Rectangle 5">
            <a:extLst>
              <a:ext uri="{FF2B5EF4-FFF2-40B4-BE49-F238E27FC236}">
                <a16:creationId xmlns:a16="http://schemas.microsoft.com/office/drawing/2014/main" id="{14931ED1-D1CE-4E47-B0B1-9A2C6609CDC4}"/>
              </a:ext>
            </a:extLst>
          </p:cNvPr>
          <p:cNvSpPr>
            <a:spLocks noChangeArrowheads="1"/>
          </p:cNvSpPr>
          <p:nvPr/>
        </p:nvSpPr>
        <p:spPr bwMode="auto">
          <a:xfrm>
            <a:off x="323850" y="1171575"/>
            <a:ext cx="8424863" cy="8890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a:solidFill>
                  <a:srgbClr val="660033"/>
                </a:solidFill>
                <a:latin typeface="黑体" panose="02010609060101010101" pitchFamily="49" charset="-122"/>
                <a:ea typeface="黑体" panose="02010609060101010101" pitchFamily="49" charset="-122"/>
              </a:rPr>
              <a:t>2</a:t>
            </a:r>
            <a:r>
              <a:rPr lang="zh-CN" altLang="en-US" sz="2800">
                <a:solidFill>
                  <a:srgbClr val="660033"/>
                </a:solidFill>
                <a:latin typeface="黑体" panose="02010609060101010101" pitchFamily="49" charset="-122"/>
                <a:ea typeface="黑体" panose="02010609060101010101" pitchFamily="49" charset="-122"/>
              </a:rPr>
              <a:t>）局部变量的赋值方法</a:t>
            </a:r>
            <a:r>
              <a:rPr lang="zh-CN" altLang="en-US" sz="2800" b="1">
                <a:latin typeface="Tahoma" panose="020B0604030504040204" pitchFamily="34" charset="0"/>
              </a:rPr>
              <a:t> </a:t>
            </a:r>
          </a:p>
        </p:txBody>
      </p:sp>
      <p:sp>
        <p:nvSpPr>
          <p:cNvPr id="919558" name="Rectangle 6">
            <a:extLst>
              <a:ext uri="{FF2B5EF4-FFF2-40B4-BE49-F238E27FC236}">
                <a16:creationId xmlns:a16="http://schemas.microsoft.com/office/drawing/2014/main" id="{61658085-17A9-4F98-8EA6-FE39C23BD031}"/>
              </a:ext>
            </a:extLst>
          </p:cNvPr>
          <p:cNvSpPr>
            <a:spLocks noChangeArrowheads="1"/>
          </p:cNvSpPr>
          <p:nvPr/>
        </p:nvSpPr>
        <p:spPr bwMode="auto">
          <a:xfrm>
            <a:off x="250825" y="1989138"/>
            <a:ext cx="8713788" cy="2376487"/>
          </a:xfrm>
          <a:prstGeom prst="rect">
            <a:avLst/>
          </a:prstGeom>
          <a:gradFill rotWithShape="1">
            <a:gsLst>
              <a:gs pos="0">
                <a:srgbClr val="C5ECFF"/>
              </a:gs>
              <a:gs pos="50000">
                <a:srgbClr val="FFFFFF"/>
              </a:gs>
              <a:gs pos="100000">
                <a:srgbClr val="C5ECFF"/>
              </a:gs>
            </a:gsLst>
            <a:lin ang="5400000" scaled="1"/>
          </a:gradFill>
          <a:ln w="9525">
            <a:solidFill>
              <a:srgbClr val="006666"/>
            </a:solidFill>
            <a:miter lim="800000"/>
            <a:headEnd/>
            <a:tailEnd/>
          </a:ln>
          <a:effectLst>
            <a:outerShdw dist="17961" dir="2700000" algn="ctr" rotWithShape="0">
              <a:schemeClr val="tx1"/>
            </a:outerShdw>
          </a:effec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20000"/>
              </a:lnSpc>
              <a:buClr>
                <a:schemeClr val="folHlink"/>
              </a:buClr>
              <a:buSzPct val="60000"/>
              <a:buFont typeface="Wingdings" panose="05000000000000000000" pitchFamily="2" charset="2"/>
              <a:buNone/>
            </a:pPr>
            <a:r>
              <a:rPr lang="en-US" altLang="zh-CN" sz="2800" b="1">
                <a:latin typeface="Tahoma" panose="020B0604030504040204" pitchFamily="34" charset="0"/>
              </a:rPr>
              <a:t>    SET  @&lt;</a:t>
            </a:r>
            <a:r>
              <a:rPr lang="zh-CN" altLang="en-US" sz="2800" b="1">
                <a:latin typeface="Tahoma" panose="020B0604030504040204" pitchFamily="34" charset="0"/>
              </a:rPr>
              <a:t>变量名</a:t>
            </a:r>
            <a:r>
              <a:rPr lang="en-US" altLang="zh-CN" sz="2800" b="1">
                <a:latin typeface="Tahoma" panose="020B0604030504040204" pitchFamily="34" charset="0"/>
              </a:rPr>
              <a:t>=</a:t>
            </a:r>
            <a:r>
              <a:rPr lang="zh-CN" altLang="en-US" sz="2800" b="1">
                <a:latin typeface="Tahoma" panose="020B0604030504040204" pitchFamily="34" charset="0"/>
              </a:rPr>
              <a:t>表达式</a:t>
            </a:r>
            <a:r>
              <a:rPr lang="en-US" altLang="zh-CN" sz="2800" b="1">
                <a:latin typeface="Tahoma" panose="020B0604030504040204" pitchFamily="34" charset="0"/>
              </a:rPr>
              <a:t>&gt;</a:t>
            </a:r>
          </a:p>
          <a:p>
            <a:pPr eaLnBrk="1" hangingPunct="1">
              <a:buClr>
                <a:schemeClr val="folHlink"/>
              </a:buClr>
              <a:buSzPct val="60000"/>
              <a:buFont typeface="Wingdings" panose="05000000000000000000" pitchFamily="2" charset="2"/>
              <a:buNone/>
            </a:pPr>
            <a:r>
              <a:rPr lang="zh-CN" altLang="en-US" sz="2800" b="1">
                <a:latin typeface="Tahoma" panose="020B0604030504040204" pitchFamily="34" charset="0"/>
              </a:rPr>
              <a:t>或</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SELECT  @&lt;</a:t>
            </a:r>
            <a:r>
              <a:rPr lang="zh-CN" altLang="en-US" sz="2800" b="1">
                <a:latin typeface="Tahoma" panose="020B0604030504040204" pitchFamily="34" charset="0"/>
              </a:rPr>
              <a:t>变量名</a:t>
            </a:r>
            <a:r>
              <a:rPr lang="en-US" altLang="zh-CN" sz="2800" b="1">
                <a:latin typeface="Tahoma" panose="020B0604030504040204" pitchFamily="34" charset="0"/>
              </a:rPr>
              <a:t>=</a:t>
            </a:r>
            <a:r>
              <a:rPr lang="zh-CN" altLang="en-US" sz="2800" b="1">
                <a:latin typeface="Tahoma" panose="020B0604030504040204" pitchFamily="34" charset="0"/>
              </a:rPr>
              <a:t>表达式</a:t>
            </a:r>
            <a:r>
              <a:rPr lang="en-US" altLang="zh-CN" sz="2800" b="1">
                <a:latin typeface="Tahoma" panose="020B0604030504040204" pitchFamily="34" charset="0"/>
              </a:rPr>
              <a:t>&gt; &lt;</a:t>
            </a:r>
            <a:r>
              <a:rPr lang="zh-CN" altLang="en-US" sz="2800" b="1">
                <a:latin typeface="Tahoma" panose="020B0604030504040204" pitchFamily="34" charset="0"/>
              </a:rPr>
              <a:t>变量类型</a:t>
            </a:r>
            <a:r>
              <a:rPr lang="en-US" altLang="zh-CN" sz="2800" b="1">
                <a:latin typeface="Tahoma" panose="020B0604030504040204" pitchFamily="34" charset="0"/>
              </a:rPr>
              <a:t>&gt; [, </a:t>
            </a:r>
            <a:r>
              <a:rPr lang="en-US" altLang="zh-CN" sz="2800" b="1"/>
              <a:t>…</a:t>
            </a:r>
            <a:r>
              <a:rPr lang="en-US" altLang="zh-CN" sz="2800" b="1">
                <a:latin typeface="Tahoma" panose="020B0604030504040204" pitchFamily="34" charset="0"/>
              </a:rPr>
              <a:t> ]</a:t>
            </a:r>
          </a:p>
          <a:p>
            <a:pPr eaLnBrk="1" hangingPunct="1">
              <a:lnSpc>
                <a:spcPct val="120000"/>
              </a:lnSpc>
              <a:spcBef>
                <a:spcPct val="20000"/>
              </a:spcBef>
              <a:buClr>
                <a:schemeClr val="folHlink"/>
              </a:buClr>
              <a:buSzPct val="60000"/>
              <a:buFont typeface="Wingdings" panose="05000000000000000000" pitchFamily="2" charset="2"/>
              <a:buNone/>
            </a:pPr>
            <a:r>
              <a:rPr lang="en-US" altLang="zh-CN" sz="2800" b="1">
                <a:latin typeface="Tahoma" panose="020B0604030504040204" pitchFamily="34" charset="0"/>
              </a:rPr>
              <a:t>    FROM  &lt;</a:t>
            </a:r>
            <a:r>
              <a:rPr lang="zh-CN" altLang="en-US" sz="2800" b="1">
                <a:latin typeface="Tahoma" panose="020B0604030504040204" pitchFamily="34" charset="0"/>
              </a:rPr>
              <a:t>表名</a:t>
            </a:r>
            <a:r>
              <a:rPr lang="en-US" altLang="zh-CN" sz="2800" b="1">
                <a:latin typeface="Tahoma" panose="020B0604030504040204" pitchFamily="34" charset="0"/>
              </a:rPr>
              <a:t>&gt; [WHERE &lt;</a:t>
            </a:r>
            <a:r>
              <a:rPr lang="zh-CN" altLang="en-US" sz="2800" b="1">
                <a:latin typeface="Tahoma" panose="020B0604030504040204" pitchFamily="34" charset="0"/>
              </a:rPr>
              <a:t>条件语句</a:t>
            </a:r>
            <a:r>
              <a:rPr lang="en-US" altLang="zh-CN" sz="2800" b="1">
                <a:latin typeface="Tahoma" panose="020B0604030504040204" pitchFamily="34" charset="0"/>
              </a:rPr>
              <a:t>&gt;] </a:t>
            </a:r>
            <a:endParaRPr lang="zh-CN" altLang="en-US" sz="2800" b="1">
              <a:latin typeface="Tahoma" panose="020B0604030504040204" pitchFamily="34" charset="0"/>
            </a:endParaRPr>
          </a:p>
        </p:txBody>
      </p:sp>
      <p:sp>
        <p:nvSpPr>
          <p:cNvPr id="919559" name="Rectangle 7">
            <a:extLst>
              <a:ext uri="{FF2B5EF4-FFF2-40B4-BE49-F238E27FC236}">
                <a16:creationId xmlns:a16="http://schemas.microsoft.com/office/drawing/2014/main" id="{8D46A8D2-3E63-4F09-BCD1-5B52650A580B}"/>
              </a:ext>
            </a:extLst>
          </p:cNvPr>
          <p:cNvSpPr>
            <a:spLocks noChangeArrowheads="1"/>
          </p:cNvSpPr>
          <p:nvPr/>
        </p:nvSpPr>
        <p:spPr bwMode="auto">
          <a:xfrm>
            <a:off x="323850" y="4437063"/>
            <a:ext cx="8424863" cy="201612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15000"/>
              </a:lnSpc>
              <a:buClr>
                <a:schemeClr val="folHlink"/>
              </a:buClr>
              <a:buSzPct val="60000"/>
              <a:buFont typeface="Wingdings" panose="05000000000000000000" pitchFamily="2" charset="2"/>
              <a:buNone/>
            </a:pPr>
            <a:r>
              <a:rPr lang="zh-CN" altLang="en-US" sz="2600" b="1">
                <a:solidFill>
                  <a:srgbClr val="0000FF"/>
                </a:solidFill>
                <a:latin typeface="Tahoma" panose="020B0604030504040204" pitchFamily="34" charset="0"/>
                <a:ea typeface="黑体" panose="02010609060101010101" pitchFamily="49" charset="-122"/>
              </a:rPr>
              <a:t>说明：</a:t>
            </a:r>
          </a:p>
          <a:p>
            <a:pPr eaLnBrk="1" hangingPunct="1">
              <a:lnSpc>
                <a:spcPct val="110000"/>
              </a:lnSpc>
              <a:buClr>
                <a:schemeClr val="folHlink"/>
              </a:buClr>
              <a:buSzPct val="60000"/>
              <a:buFont typeface="Wingdings" panose="05000000000000000000" pitchFamily="2" charset="2"/>
              <a:buNone/>
            </a:pPr>
            <a:r>
              <a:rPr lang="zh-CN" altLang="en-US" sz="2600" b="1">
                <a:latin typeface="Tahoma" panose="020B0604030504040204" pitchFamily="34" charset="0"/>
              </a:rPr>
              <a:t>       当变量的值是确切值或者是其它变量时，使用</a:t>
            </a:r>
            <a:r>
              <a:rPr lang="en-US" altLang="zh-CN" sz="2600" b="1">
                <a:latin typeface="Tahoma" panose="020B0604030504040204" pitchFamily="34" charset="0"/>
              </a:rPr>
              <a:t>SET</a:t>
            </a:r>
            <a:r>
              <a:rPr lang="zh-CN" altLang="en-US" sz="2600" b="1">
                <a:latin typeface="Tahoma" panose="020B0604030504040204" pitchFamily="34" charset="0"/>
              </a:rPr>
              <a:t>语句赋值；当变量赋值基于一个查询时，使用</a:t>
            </a:r>
            <a:r>
              <a:rPr lang="en-US" altLang="zh-CN" sz="2600" b="1">
                <a:latin typeface="Tahoma" panose="020B0604030504040204" pitchFamily="34" charset="0"/>
              </a:rPr>
              <a:t>SELECT</a:t>
            </a:r>
            <a:r>
              <a:rPr lang="zh-CN" altLang="en-US" sz="2600" b="1">
                <a:latin typeface="Tahoma" panose="020B0604030504040204" pitchFamily="34" charset="0"/>
              </a:rPr>
              <a:t>语句赋值。</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2308"/>
    </mc:Choice>
    <mc:Fallback xmlns="">
      <p:transition spd="slow" advTm="32308"/>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9559"/>
                                        </p:tgtEl>
                                        <p:attrNameLst>
                                          <p:attrName>style.visibility</p:attrName>
                                        </p:attrNameLst>
                                      </p:cBhvr>
                                      <p:to>
                                        <p:strVal val="visible"/>
                                      </p:to>
                                    </p:set>
                                    <p:animEffect transition="in" filter="wipe(left)">
                                      <p:cBhvr>
                                        <p:cTn id="7" dur="500"/>
                                        <p:tgtEl>
                                          <p:spTgt spid="919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955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2" name="Rectangle 4">
            <a:extLst>
              <a:ext uri="{FF2B5EF4-FFF2-40B4-BE49-F238E27FC236}">
                <a16:creationId xmlns:a16="http://schemas.microsoft.com/office/drawing/2014/main" id="{BD147F04-A698-4C31-8CE3-9DC62203FD21}"/>
              </a:ext>
            </a:extLst>
          </p:cNvPr>
          <p:cNvSpPr>
            <a:spLocks noChangeArrowheads="1"/>
          </p:cNvSpPr>
          <p:nvPr/>
        </p:nvSpPr>
        <p:spPr bwMode="auto">
          <a:xfrm>
            <a:off x="468313" y="692150"/>
            <a:ext cx="8280400"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05000"/>
              </a:lnSpc>
              <a:buClr>
                <a:schemeClr val="folHlink"/>
              </a:buClr>
              <a:buSzPct val="60000"/>
              <a:buFont typeface="Wingdings" panose="05000000000000000000" pitchFamily="2" charset="2"/>
              <a:buNone/>
            </a:pPr>
            <a:r>
              <a:rPr lang="zh-CN" altLang="en-US" sz="2600" b="1">
                <a:solidFill>
                  <a:srgbClr val="660033"/>
                </a:solidFill>
                <a:latin typeface="黑体" panose="02010609060101010101" pitchFamily="49" charset="-122"/>
                <a:ea typeface="黑体" panose="02010609060101010101" pitchFamily="49" charset="-122"/>
              </a:rPr>
              <a:t>例</a:t>
            </a:r>
            <a:r>
              <a:rPr lang="en-US" altLang="zh-CN" sz="2600" b="1">
                <a:solidFill>
                  <a:srgbClr val="660033"/>
                </a:solidFill>
                <a:latin typeface="黑体" panose="02010609060101010101" pitchFamily="49" charset="-122"/>
                <a:ea typeface="黑体" panose="02010609060101010101" pitchFamily="49" charset="-122"/>
              </a:rPr>
              <a:t>2.</a:t>
            </a:r>
            <a:r>
              <a:rPr lang="en-US" altLang="zh-CN" sz="2600" b="1">
                <a:latin typeface="黑体" panose="02010609060101010101" pitchFamily="49" charset="-122"/>
                <a:ea typeface="黑体" panose="02010609060101010101" pitchFamily="49" charset="-122"/>
              </a:rPr>
              <a:t> </a:t>
            </a:r>
            <a:r>
              <a:rPr lang="zh-CN" altLang="en-US" sz="2600" b="1">
                <a:latin typeface="黑体" panose="02010609060101010101" pitchFamily="49" charset="-122"/>
                <a:ea typeface="黑体" panose="02010609060101010101" pitchFamily="49" charset="-122"/>
              </a:rPr>
              <a:t>查询学生关系表</a:t>
            </a:r>
            <a:r>
              <a:rPr lang="en-US" altLang="zh-CN" sz="2600" b="1">
                <a:latin typeface="黑体" panose="02010609060101010101" pitchFamily="49" charset="-122"/>
                <a:ea typeface="黑体" panose="02010609060101010101" pitchFamily="49" charset="-122"/>
              </a:rPr>
              <a:t>S</a:t>
            </a:r>
            <a:r>
              <a:rPr lang="zh-CN" altLang="en-US" sz="2600" b="1">
                <a:latin typeface="黑体" panose="02010609060101010101" pitchFamily="49" charset="-122"/>
                <a:ea typeface="黑体" panose="02010609060101010101" pitchFamily="49" charset="-122"/>
              </a:rPr>
              <a:t>中女同学的信息。</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USE JXGL              </a:t>
            </a:r>
            <a:r>
              <a:rPr lang="en-US" altLang="zh-CN" sz="2600" b="1">
                <a:solidFill>
                  <a:srgbClr val="006666"/>
                </a:solidFill>
                <a:latin typeface="楷体_GB2312" pitchFamily="49" charset="-122"/>
              </a:rPr>
              <a:t>--</a:t>
            </a:r>
            <a:r>
              <a:rPr lang="zh-CN" altLang="en-US" sz="2600" b="1">
                <a:solidFill>
                  <a:srgbClr val="006666"/>
                </a:solidFill>
                <a:latin typeface="楷体_GB2312" pitchFamily="49" charset="-122"/>
              </a:rPr>
              <a:t>打开</a:t>
            </a:r>
            <a:r>
              <a:rPr lang="en-US" altLang="zh-CN" sz="2600" b="1">
                <a:solidFill>
                  <a:srgbClr val="006666"/>
                </a:solidFill>
                <a:latin typeface="楷体_GB2312" pitchFamily="49" charset="-122"/>
              </a:rPr>
              <a:t>JXGL</a:t>
            </a:r>
            <a:r>
              <a:rPr lang="zh-CN" altLang="en-US" sz="2600" b="1">
                <a:solidFill>
                  <a:srgbClr val="006666"/>
                </a:solidFill>
                <a:latin typeface="楷体_GB2312" pitchFamily="49" charset="-122"/>
              </a:rPr>
              <a:t>数据库</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latin typeface="黑体" panose="02010609060101010101" pitchFamily="49" charset="-122"/>
                <a:ea typeface="黑体" panose="02010609060101010101" pitchFamily="49" charset="-122"/>
              </a:rPr>
              <a:t>GO</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DECLARE</a:t>
            </a:r>
            <a:r>
              <a:rPr lang="en-US" altLang="zh-CN" sz="2600" b="1">
                <a:latin typeface="黑体" panose="02010609060101010101" pitchFamily="49" charset="-122"/>
                <a:ea typeface="黑体" panose="02010609060101010101" pitchFamily="49" charset="-122"/>
              </a:rPr>
              <a:t> @sex CHAR(2)  </a:t>
            </a:r>
            <a:r>
              <a:rPr lang="en-US" altLang="zh-CN" sz="2600" b="1">
                <a:solidFill>
                  <a:srgbClr val="006666"/>
                </a:solidFill>
                <a:latin typeface="楷体_GB2312" pitchFamily="49" charset="-122"/>
              </a:rPr>
              <a:t>--</a:t>
            </a:r>
            <a:r>
              <a:rPr lang="zh-CN" altLang="en-US" sz="2600" b="1">
                <a:solidFill>
                  <a:srgbClr val="006666"/>
                </a:solidFill>
                <a:latin typeface="楷体_GB2312" pitchFamily="49" charset="-122"/>
              </a:rPr>
              <a:t>声明局部变量</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SET</a:t>
            </a:r>
            <a:r>
              <a:rPr lang="en-US" altLang="zh-CN" sz="2600" b="1">
                <a:latin typeface="黑体" panose="02010609060101010101" pitchFamily="49" charset="-122"/>
                <a:ea typeface="黑体" panose="02010609060101010101" pitchFamily="49" charset="-122"/>
              </a:rPr>
              <a:t> @sex = '</a:t>
            </a:r>
            <a:r>
              <a:rPr lang="zh-CN" altLang="en-US" sz="2600" b="1">
                <a:latin typeface="黑体" panose="02010609060101010101" pitchFamily="49" charset="-122"/>
                <a:ea typeface="黑体" panose="02010609060101010101" pitchFamily="49" charset="-122"/>
              </a:rPr>
              <a:t>女</a:t>
            </a:r>
            <a:r>
              <a:rPr lang="en-US" altLang="zh-CN" sz="2600" b="1">
                <a:latin typeface="黑体" panose="02010609060101010101" pitchFamily="49" charset="-122"/>
                <a:ea typeface="黑体" panose="02010609060101010101" pitchFamily="49" charset="-122"/>
              </a:rPr>
              <a:t>'</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6666"/>
                </a:solidFill>
                <a:latin typeface="楷体_GB2312" pitchFamily="49" charset="-122"/>
              </a:rPr>
              <a:t>--</a:t>
            </a:r>
            <a:r>
              <a:rPr lang="zh-CN" altLang="en-US" sz="2600" b="1">
                <a:solidFill>
                  <a:srgbClr val="006666"/>
                </a:solidFill>
                <a:latin typeface="楷体_GB2312" pitchFamily="49" charset="-122"/>
              </a:rPr>
              <a:t>根据局部变量值进行查询</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latin typeface="黑体" panose="02010609060101010101" pitchFamily="49" charset="-122"/>
                <a:ea typeface="黑体" panose="02010609060101010101" pitchFamily="49" charset="-122"/>
              </a:rPr>
              <a:t>SELECT </a:t>
            </a:r>
            <a:r>
              <a:rPr lang="en-US" altLang="zh-CN" sz="2500" b="1">
                <a:latin typeface="黑体" panose="02010609060101010101" pitchFamily="49" charset="-122"/>
                <a:ea typeface="黑体" panose="02010609060101010101" pitchFamily="49" charset="-122"/>
              </a:rPr>
              <a:t>S# AS </a:t>
            </a:r>
            <a:r>
              <a:rPr lang="zh-CN" altLang="en-US" sz="2500" b="1">
                <a:latin typeface="黑体" panose="02010609060101010101" pitchFamily="49" charset="-122"/>
                <a:ea typeface="黑体" panose="02010609060101010101" pitchFamily="49" charset="-122"/>
              </a:rPr>
              <a:t>学号</a:t>
            </a:r>
            <a:r>
              <a:rPr lang="en-US" altLang="zh-CN" sz="2500" b="1">
                <a:latin typeface="黑体" panose="02010609060101010101" pitchFamily="49" charset="-122"/>
                <a:ea typeface="黑体" panose="02010609060101010101" pitchFamily="49" charset="-122"/>
              </a:rPr>
              <a:t>, SNAME AS </a:t>
            </a:r>
            <a:r>
              <a:rPr lang="zh-CN" altLang="en-US" sz="2500" b="1">
                <a:latin typeface="黑体" panose="02010609060101010101" pitchFamily="49" charset="-122"/>
                <a:ea typeface="黑体" panose="02010609060101010101" pitchFamily="49" charset="-122"/>
              </a:rPr>
              <a:t>姓名</a:t>
            </a:r>
            <a:r>
              <a:rPr lang="en-US" altLang="zh-CN" sz="2500" b="1">
                <a:latin typeface="黑体" panose="02010609060101010101" pitchFamily="49" charset="-122"/>
                <a:ea typeface="黑体" panose="02010609060101010101" pitchFamily="49" charset="-122"/>
              </a:rPr>
              <a:t>,</a:t>
            </a:r>
          </a:p>
          <a:p>
            <a:pPr eaLnBrk="1" hangingPunct="1">
              <a:lnSpc>
                <a:spcPct val="105000"/>
              </a:lnSpc>
              <a:buClr>
                <a:schemeClr val="folHlink"/>
              </a:buClr>
              <a:buSzPct val="60000"/>
              <a:buFont typeface="Wingdings" panose="05000000000000000000" pitchFamily="2" charset="2"/>
              <a:buNone/>
            </a:pPr>
            <a:r>
              <a:rPr lang="en-US" altLang="zh-CN" sz="2500" b="1">
                <a:latin typeface="黑体" panose="02010609060101010101" pitchFamily="49" charset="-122"/>
                <a:ea typeface="黑体" panose="02010609060101010101" pitchFamily="49" charset="-122"/>
              </a:rPr>
              <a:t>           SBIRTHIN AS </a:t>
            </a:r>
            <a:r>
              <a:rPr lang="zh-CN" altLang="en-US" sz="2500" b="1">
                <a:latin typeface="黑体" panose="02010609060101010101" pitchFamily="49" charset="-122"/>
                <a:ea typeface="黑体" panose="02010609060101010101" pitchFamily="49" charset="-122"/>
              </a:rPr>
              <a:t>出生年月</a:t>
            </a:r>
            <a:r>
              <a:rPr lang="en-US" altLang="zh-CN" sz="2500" b="1">
                <a:latin typeface="黑体" panose="02010609060101010101" pitchFamily="49" charset="-122"/>
                <a:ea typeface="黑体" panose="02010609060101010101" pitchFamily="49" charset="-122"/>
              </a:rPr>
              <a:t>, PLACEOFB AS </a:t>
            </a:r>
            <a:r>
              <a:rPr lang="zh-CN" altLang="en-US" sz="2500" b="1">
                <a:latin typeface="黑体" panose="02010609060101010101" pitchFamily="49" charset="-122"/>
                <a:ea typeface="黑体" panose="02010609060101010101" pitchFamily="49" charset="-122"/>
              </a:rPr>
              <a:t>籍贯</a:t>
            </a:r>
            <a:r>
              <a:rPr lang="en-US" altLang="zh-CN" sz="2500" b="1">
                <a:latin typeface="黑体" panose="02010609060101010101" pitchFamily="49" charset="-122"/>
                <a:ea typeface="黑体" panose="02010609060101010101" pitchFamily="49" charset="-122"/>
              </a:rPr>
              <a:t>, </a:t>
            </a:r>
          </a:p>
          <a:p>
            <a:pPr eaLnBrk="1" hangingPunct="1">
              <a:lnSpc>
                <a:spcPct val="105000"/>
              </a:lnSpc>
              <a:buClr>
                <a:schemeClr val="folHlink"/>
              </a:buClr>
              <a:buSzPct val="60000"/>
              <a:buFont typeface="Wingdings" panose="05000000000000000000" pitchFamily="2" charset="2"/>
              <a:buNone/>
            </a:pPr>
            <a:r>
              <a:rPr lang="en-US" altLang="zh-CN" sz="2500" b="1">
                <a:latin typeface="黑体" panose="02010609060101010101" pitchFamily="49" charset="-122"/>
                <a:ea typeface="黑体" panose="02010609060101010101" pitchFamily="49" charset="-122"/>
              </a:rPr>
              <a:t>           SCODE# AS </a:t>
            </a:r>
            <a:r>
              <a:rPr lang="zh-CN" altLang="en-US" sz="2500" b="1">
                <a:latin typeface="黑体" panose="02010609060101010101" pitchFamily="49" charset="-122"/>
                <a:ea typeface="黑体" panose="02010609060101010101" pitchFamily="49" charset="-122"/>
              </a:rPr>
              <a:t>专业编号</a:t>
            </a:r>
            <a:r>
              <a:rPr lang="en-US" altLang="zh-CN" sz="2500" b="1">
                <a:latin typeface="黑体" panose="02010609060101010101" pitchFamily="49" charset="-122"/>
                <a:ea typeface="黑体" panose="02010609060101010101" pitchFamily="49" charset="-122"/>
              </a:rPr>
              <a:t>, CLASS AS </a:t>
            </a:r>
            <a:r>
              <a:rPr lang="zh-CN" altLang="en-US" sz="2500" b="1">
                <a:latin typeface="黑体" panose="02010609060101010101" pitchFamily="49" charset="-122"/>
                <a:ea typeface="黑体" panose="02010609060101010101" pitchFamily="49" charset="-122"/>
              </a:rPr>
              <a:t>班级</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latin typeface="黑体" panose="02010609060101010101" pitchFamily="49" charset="-122"/>
                <a:ea typeface="黑体" panose="02010609060101010101" pitchFamily="49" charset="-122"/>
              </a:rPr>
              <a:t>FROM   S</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WHERE  SSEX = @sex</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GO </a:t>
            </a:r>
            <a:endParaRPr lang="zh-CN" altLang="en-US" sz="2600" b="1">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7669"/>
    </mc:Choice>
    <mc:Fallback xmlns="">
      <p:transition spd="slow" advTm="17669"/>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6" name="Rectangle 4">
            <a:extLst>
              <a:ext uri="{FF2B5EF4-FFF2-40B4-BE49-F238E27FC236}">
                <a16:creationId xmlns:a16="http://schemas.microsoft.com/office/drawing/2014/main" id="{18FFD200-BCCB-4744-BE4E-52107856BFBA}"/>
              </a:ext>
            </a:extLst>
          </p:cNvPr>
          <p:cNvSpPr>
            <a:spLocks noChangeArrowheads="1"/>
          </p:cNvSpPr>
          <p:nvPr/>
        </p:nvSpPr>
        <p:spPr bwMode="auto">
          <a:xfrm>
            <a:off x="395288" y="404813"/>
            <a:ext cx="8280400" cy="719137"/>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05000"/>
              </a:lnSpc>
              <a:buClr>
                <a:schemeClr val="folHlink"/>
              </a:buClr>
              <a:buSzPct val="60000"/>
              <a:buFont typeface="Wingdings" panose="05000000000000000000" pitchFamily="2" charset="2"/>
              <a:buNone/>
            </a:pPr>
            <a:r>
              <a:rPr lang="zh-CN" altLang="en-US" sz="2600" b="1">
                <a:solidFill>
                  <a:srgbClr val="660033"/>
                </a:solidFill>
                <a:latin typeface="黑体" panose="02010609060101010101" pitchFamily="49" charset="-122"/>
                <a:ea typeface="黑体" panose="02010609060101010101" pitchFamily="49" charset="-122"/>
              </a:rPr>
              <a:t>例</a:t>
            </a:r>
            <a:r>
              <a:rPr lang="en-US" altLang="zh-CN" sz="2600" b="1">
                <a:solidFill>
                  <a:srgbClr val="660033"/>
                </a:solidFill>
                <a:latin typeface="黑体" panose="02010609060101010101" pitchFamily="49" charset="-122"/>
                <a:ea typeface="黑体" panose="02010609060101010101" pitchFamily="49" charset="-122"/>
              </a:rPr>
              <a:t>2.</a:t>
            </a:r>
            <a:r>
              <a:rPr lang="en-US" altLang="zh-CN" sz="2600" b="1">
                <a:latin typeface="黑体" panose="02010609060101010101" pitchFamily="49" charset="-122"/>
                <a:ea typeface="黑体" panose="02010609060101010101" pitchFamily="49" charset="-122"/>
              </a:rPr>
              <a:t> </a:t>
            </a:r>
            <a:r>
              <a:rPr lang="zh-CN" altLang="en-US" sz="2600" b="1">
                <a:latin typeface="黑体" panose="02010609060101010101" pitchFamily="49" charset="-122"/>
                <a:ea typeface="黑体" panose="02010609060101010101" pitchFamily="49" charset="-122"/>
              </a:rPr>
              <a:t>查询学生关系表</a:t>
            </a:r>
            <a:r>
              <a:rPr lang="en-US" altLang="zh-CN" sz="2600" b="1">
                <a:latin typeface="黑体" panose="02010609060101010101" pitchFamily="49" charset="-122"/>
                <a:ea typeface="黑体" panose="02010609060101010101" pitchFamily="49" charset="-122"/>
              </a:rPr>
              <a:t>S</a:t>
            </a:r>
            <a:r>
              <a:rPr lang="zh-CN" altLang="en-US" sz="2600" b="1">
                <a:latin typeface="黑体" panose="02010609060101010101" pitchFamily="49" charset="-122"/>
                <a:ea typeface="黑体" panose="02010609060101010101" pitchFamily="49" charset="-122"/>
              </a:rPr>
              <a:t>中女同学的信息。 </a:t>
            </a:r>
          </a:p>
        </p:txBody>
      </p:sp>
      <p:pic>
        <p:nvPicPr>
          <p:cNvPr id="29700" name="Picture 6">
            <a:extLst>
              <a:ext uri="{FF2B5EF4-FFF2-40B4-BE49-F238E27FC236}">
                <a16:creationId xmlns:a16="http://schemas.microsoft.com/office/drawing/2014/main" id="{4692D5AE-89E4-4BA2-9D9D-5672287AFE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122363"/>
            <a:ext cx="7775575" cy="524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4914"/>
    </mc:Choice>
    <mc:Fallback xmlns="">
      <p:transition spd="slow" advTm="1491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dissolve">
                                      <p:cBhvr>
                                        <p:cTn id="7"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2" name="Rectangle 4">
            <a:extLst>
              <a:ext uri="{FF2B5EF4-FFF2-40B4-BE49-F238E27FC236}">
                <a16:creationId xmlns:a16="http://schemas.microsoft.com/office/drawing/2014/main" id="{1C8B460A-7187-43D7-B53E-E38F94ACCA7F}"/>
              </a:ext>
            </a:extLst>
          </p:cNvPr>
          <p:cNvSpPr>
            <a:spLocks noChangeArrowheads="1"/>
          </p:cNvSpPr>
          <p:nvPr/>
        </p:nvSpPr>
        <p:spPr bwMode="auto">
          <a:xfrm>
            <a:off x="468313" y="692150"/>
            <a:ext cx="8280400"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05000"/>
              </a:lnSpc>
              <a:buClr>
                <a:schemeClr val="folHlink"/>
              </a:buClr>
              <a:buSzPct val="60000"/>
              <a:buFont typeface="Wingdings" panose="05000000000000000000" pitchFamily="2" charset="2"/>
              <a:buNone/>
            </a:pPr>
            <a:r>
              <a:rPr lang="zh-CN" altLang="en-US" sz="2600" b="1">
                <a:solidFill>
                  <a:srgbClr val="660033"/>
                </a:solidFill>
                <a:latin typeface="黑体" panose="02010609060101010101" pitchFamily="49" charset="-122"/>
                <a:ea typeface="黑体" panose="02010609060101010101" pitchFamily="49" charset="-122"/>
              </a:rPr>
              <a:t>例</a:t>
            </a:r>
            <a:r>
              <a:rPr lang="en-US" altLang="zh-CN" sz="2600" b="1">
                <a:solidFill>
                  <a:srgbClr val="660033"/>
                </a:solidFill>
                <a:latin typeface="黑体" panose="02010609060101010101" pitchFamily="49" charset="-122"/>
                <a:ea typeface="黑体" panose="02010609060101010101" pitchFamily="49" charset="-122"/>
              </a:rPr>
              <a:t>3.</a:t>
            </a:r>
            <a:r>
              <a:rPr lang="en-US" altLang="zh-CN" sz="2600" b="1">
                <a:latin typeface="黑体" panose="02010609060101010101" pitchFamily="49" charset="-122"/>
                <a:ea typeface="黑体" panose="02010609060101010101" pitchFamily="49" charset="-122"/>
              </a:rPr>
              <a:t> </a:t>
            </a:r>
            <a:r>
              <a:rPr lang="zh-CN" altLang="en-US" sz="2600" b="1">
                <a:latin typeface="黑体" panose="02010609060101010101" pitchFamily="49" charset="-122"/>
                <a:ea typeface="黑体" panose="02010609060101010101" pitchFamily="49" charset="-122"/>
              </a:rPr>
              <a:t>查询和“王丽丽”在同一个班的女同学的信息。</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USE JXGL              </a:t>
            </a:r>
            <a:r>
              <a:rPr lang="en-US" altLang="zh-CN" sz="2600" b="1">
                <a:solidFill>
                  <a:srgbClr val="006666"/>
                </a:solidFill>
                <a:latin typeface="楷体_GB2312" pitchFamily="49" charset="-122"/>
              </a:rPr>
              <a:t>--</a:t>
            </a:r>
            <a:r>
              <a:rPr lang="zh-CN" altLang="en-US" sz="2600" b="1">
                <a:solidFill>
                  <a:srgbClr val="006666"/>
                </a:solidFill>
                <a:latin typeface="楷体_GB2312" pitchFamily="49" charset="-122"/>
              </a:rPr>
              <a:t>打开</a:t>
            </a:r>
            <a:r>
              <a:rPr lang="en-US" altLang="zh-CN" sz="2600" b="1">
                <a:solidFill>
                  <a:srgbClr val="006666"/>
                </a:solidFill>
                <a:latin typeface="楷体_GB2312" pitchFamily="49" charset="-122"/>
              </a:rPr>
              <a:t>JXGL</a:t>
            </a:r>
            <a:r>
              <a:rPr lang="zh-CN" altLang="en-US" sz="2600" b="1">
                <a:solidFill>
                  <a:srgbClr val="006666"/>
                </a:solidFill>
                <a:latin typeface="楷体_GB2312" pitchFamily="49" charset="-122"/>
              </a:rPr>
              <a:t>数据库</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latin typeface="黑体" panose="02010609060101010101" pitchFamily="49" charset="-122"/>
                <a:ea typeface="黑体" panose="02010609060101010101" pitchFamily="49" charset="-122"/>
              </a:rPr>
              <a:t>GO</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DECLARE</a:t>
            </a:r>
            <a:r>
              <a:rPr lang="en-US" altLang="zh-CN" sz="2600" b="1">
                <a:latin typeface="黑体" panose="02010609060101010101" pitchFamily="49" charset="-122"/>
                <a:ea typeface="黑体" panose="02010609060101010101" pitchFamily="49" charset="-122"/>
              </a:rPr>
              <a:t> @sex CHAR(2)  </a:t>
            </a:r>
            <a:r>
              <a:rPr lang="en-US" altLang="zh-CN" sz="2600" b="1">
                <a:solidFill>
                  <a:srgbClr val="006666"/>
                </a:solidFill>
                <a:latin typeface="楷体_GB2312" pitchFamily="49" charset="-122"/>
              </a:rPr>
              <a:t>--</a:t>
            </a:r>
            <a:r>
              <a:rPr lang="zh-CN" altLang="en-US" sz="2600" b="1">
                <a:solidFill>
                  <a:srgbClr val="006666"/>
                </a:solidFill>
                <a:latin typeface="楷体_GB2312" pitchFamily="49" charset="-122"/>
              </a:rPr>
              <a:t>声明局部变量</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SET</a:t>
            </a:r>
            <a:r>
              <a:rPr lang="en-US" altLang="zh-CN" sz="2600" b="1">
                <a:latin typeface="黑体" panose="02010609060101010101" pitchFamily="49" charset="-122"/>
                <a:ea typeface="黑体" panose="02010609060101010101" pitchFamily="49" charset="-122"/>
              </a:rPr>
              <a:t> @sex = '</a:t>
            </a:r>
            <a:r>
              <a:rPr lang="zh-CN" altLang="en-US" sz="2600" b="1">
                <a:latin typeface="黑体" panose="02010609060101010101" pitchFamily="49" charset="-122"/>
                <a:ea typeface="黑体" panose="02010609060101010101" pitchFamily="49" charset="-122"/>
              </a:rPr>
              <a:t>女</a:t>
            </a:r>
            <a:r>
              <a:rPr lang="en-US" altLang="zh-CN" sz="2600" b="1">
                <a:latin typeface="黑体" panose="02010609060101010101" pitchFamily="49" charset="-122"/>
                <a:ea typeface="黑体" panose="02010609060101010101" pitchFamily="49" charset="-122"/>
              </a:rPr>
              <a:t>'</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6666"/>
                </a:solidFill>
                <a:latin typeface="楷体_GB2312" pitchFamily="49" charset="-122"/>
              </a:rPr>
              <a:t>--</a:t>
            </a:r>
            <a:r>
              <a:rPr lang="zh-CN" altLang="en-US" sz="2600" b="1">
                <a:solidFill>
                  <a:srgbClr val="006666"/>
                </a:solidFill>
                <a:latin typeface="楷体_GB2312" pitchFamily="49" charset="-122"/>
              </a:rPr>
              <a:t>根据局部变量值进行查询</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latin typeface="黑体" panose="02010609060101010101" pitchFamily="49" charset="-122"/>
                <a:ea typeface="黑体" panose="02010609060101010101" pitchFamily="49" charset="-122"/>
              </a:rPr>
              <a:t>SELECT </a:t>
            </a:r>
            <a:r>
              <a:rPr lang="en-US" altLang="zh-CN" sz="2500" b="1">
                <a:latin typeface="黑体" panose="02010609060101010101" pitchFamily="49" charset="-122"/>
                <a:ea typeface="黑体" panose="02010609060101010101" pitchFamily="49" charset="-122"/>
              </a:rPr>
              <a:t>S# AS </a:t>
            </a:r>
            <a:r>
              <a:rPr lang="zh-CN" altLang="en-US" sz="2500" b="1">
                <a:latin typeface="黑体" panose="02010609060101010101" pitchFamily="49" charset="-122"/>
                <a:ea typeface="黑体" panose="02010609060101010101" pitchFamily="49" charset="-122"/>
              </a:rPr>
              <a:t>学号</a:t>
            </a:r>
            <a:r>
              <a:rPr lang="en-US" altLang="zh-CN" sz="2500" b="1">
                <a:latin typeface="黑体" panose="02010609060101010101" pitchFamily="49" charset="-122"/>
                <a:ea typeface="黑体" panose="02010609060101010101" pitchFamily="49" charset="-122"/>
              </a:rPr>
              <a:t>, SNAME AS </a:t>
            </a:r>
            <a:r>
              <a:rPr lang="zh-CN" altLang="en-US" sz="2500" b="1">
                <a:latin typeface="黑体" panose="02010609060101010101" pitchFamily="49" charset="-122"/>
                <a:ea typeface="黑体" panose="02010609060101010101" pitchFamily="49" charset="-122"/>
              </a:rPr>
              <a:t>姓名</a:t>
            </a:r>
            <a:r>
              <a:rPr lang="en-US" altLang="zh-CN" sz="2500" b="1">
                <a:latin typeface="黑体" panose="02010609060101010101" pitchFamily="49" charset="-122"/>
                <a:ea typeface="黑体" panose="02010609060101010101" pitchFamily="49" charset="-122"/>
              </a:rPr>
              <a:t>,</a:t>
            </a:r>
          </a:p>
          <a:p>
            <a:pPr eaLnBrk="1" hangingPunct="1">
              <a:lnSpc>
                <a:spcPct val="105000"/>
              </a:lnSpc>
              <a:buClr>
                <a:schemeClr val="folHlink"/>
              </a:buClr>
              <a:buSzPct val="60000"/>
              <a:buFont typeface="Wingdings" panose="05000000000000000000" pitchFamily="2" charset="2"/>
              <a:buNone/>
            </a:pPr>
            <a:r>
              <a:rPr lang="en-US" altLang="zh-CN" sz="2500" b="1">
                <a:latin typeface="黑体" panose="02010609060101010101" pitchFamily="49" charset="-122"/>
                <a:ea typeface="黑体" panose="02010609060101010101" pitchFamily="49" charset="-122"/>
              </a:rPr>
              <a:t>           SBIRTHIN AS </a:t>
            </a:r>
            <a:r>
              <a:rPr lang="zh-CN" altLang="en-US" sz="2500" b="1">
                <a:latin typeface="黑体" panose="02010609060101010101" pitchFamily="49" charset="-122"/>
                <a:ea typeface="黑体" panose="02010609060101010101" pitchFamily="49" charset="-122"/>
              </a:rPr>
              <a:t>出生年月</a:t>
            </a:r>
            <a:r>
              <a:rPr lang="en-US" altLang="zh-CN" sz="2500" b="1">
                <a:latin typeface="黑体" panose="02010609060101010101" pitchFamily="49" charset="-122"/>
                <a:ea typeface="黑体" panose="02010609060101010101" pitchFamily="49" charset="-122"/>
              </a:rPr>
              <a:t>, PLACEOFB AS </a:t>
            </a:r>
            <a:r>
              <a:rPr lang="zh-CN" altLang="en-US" sz="2500" b="1">
                <a:latin typeface="黑体" panose="02010609060101010101" pitchFamily="49" charset="-122"/>
                <a:ea typeface="黑体" panose="02010609060101010101" pitchFamily="49" charset="-122"/>
              </a:rPr>
              <a:t>籍贯</a:t>
            </a:r>
            <a:r>
              <a:rPr lang="en-US" altLang="zh-CN" sz="2500" b="1">
                <a:latin typeface="黑体" panose="02010609060101010101" pitchFamily="49" charset="-122"/>
                <a:ea typeface="黑体" panose="02010609060101010101" pitchFamily="49" charset="-122"/>
              </a:rPr>
              <a:t>, </a:t>
            </a:r>
          </a:p>
          <a:p>
            <a:pPr eaLnBrk="1" hangingPunct="1">
              <a:lnSpc>
                <a:spcPct val="105000"/>
              </a:lnSpc>
              <a:buClr>
                <a:schemeClr val="folHlink"/>
              </a:buClr>
              <a:buSzPct val="60000"/>
              <a:buFont typeface="Wingdings" panose="05000000000000000000" pitchFamily="2" charset="2"/>
              <a:buNone/>
            </a:pPr>
            <a:r>
              <a:rPr lang="en-US" altLang="zh-CN" sz="2500" b="1">
                <a:latin typeface="黑体" panose="02010609060101010101" pitchFamily="49" charset="-122"/>
                <a:ea typeface="黑体" panose="02010609060101010101" pitchFamily="49" charset="-122"/>
              </a:rPr>
              <a:t>           SCODE# AS </a:t>
            </a:r>
            <a:r>
              <a:rPr lang="zh-CN" altLang="en-US" sz="2500" b="1">
                <a:latin typeface="黑体" panose="02010609060101010101" pitchFamily="49" charset="-122"/>
                <a:ea typeface="黑体" panose="02010609060101010101" pitchFamily="49" charset="-122"/>
              </a:rPr>
              <a:t>专业编号</a:t>
            </a:r>
            <a:r>
              <a:rPr lang="en-US" altLang="zh-CN" sz="2500" b="1">
                <a:latin typeface="黑体" panose="02010609060101010101" pitchFamily="49" charset="-122"/>
                <a:ea typeface="黑体" panose="02010609060101010101" pitchFamily="49" charset="-122"/>
              </a:rPr>
              <a:t>, CLASS AS </a:t>
            </a:r>
            <a:r>
              <a:rPr lang="zh-CN" altLang="en-US" sz="2500" b="1">
                <a:latin typeface="黑体" panose="02010609060101010101" pitchFamily="49" charset="-122"/>
                <a:ea typeface="黑体" panose="02010609060101010101" pitchFamily="49" charset="-122"/>
              </a:rPr>
              <a:t>班级</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latin typeface="黑体" panose="02010609060101010101" pitchFamily="49" charset="-122"/>
                <a:ea typeface="黑体" panose="02010609060101010101" pitchFamily="49" charset="-122"/>
              </a:rPr>
              <a:t>FROM   S</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WHERE  SSEX = @sex</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GO </a:t>
            </a:r>
            <a:endParaRPr lang="zh-CN" altLang="en-US" sz="2600" b="1">
              <a:latin typeface="黑体" panose="02010609060101010101" pitchFamily="49" charset="-122"/>
              <a:ea typeface="黑体" panose="02010609060101010101" pitchFamily="49" charset="-122"/>
            </a:endParaRPr>
          </a:p>
        </p:txBody>
      </p:sp>
      <p:sp>
        <p:nvSpPr>
          <p:cNvPr id="143363" name="WordArt 3">
            <a:extLst>
              <a:ext uri="{FF2B5EF4-FFF2-40B4-BE49-F238E27FC236}">
                <a16:creationId xmlns:a16="http://schemas.microsoft.com/office/drawing/2014/main" id="{29E02C30-7D23-484B-90CF-AB325DB555C5}"/>
              </a:ext>
            </a:extLst>
          </p:cNvPr>
          <p:cNvSpPr>
            <a:spLocks noChangeArrowheads="1" noChangeShapeType="1" noTextEdit="1"/>
          </p:cNvSpPr>
          <p:nvPr/>
        </p:nvSpPr>
        <p:spPr bwMode="auto">
          <a:xfrm>
            <a:off x="5867400" y="5229225"/>
            <a:ext cx="576263" cy="936625"/>
          </a:xfrm>
          <a:prstGeom prst="rect">
            <a:avLst/>
          </a:prstGeom>
          <a:extLst>
            <a:ext uri="{AF507438-7753-43E0-B8FC-AC1667EBCBE1}">
              <a14:hiddenEffects xmlns:a14="http://schemas.microsoft.com/office/drawing/2010/main">
                <a:effectLst/>
              </a14:hiddenEffects>
            </a:ext>
          </a:extLst>
        </p:spPr>
        <p:txBody>
          <a:bodyPr wrap="none" fromWordArt="1">
            <a:prstTxWarp prst="textCascadeUp">
              <a:avLst>
                <a:gd name="adj" fmla="val 44444"/>
              </a:avLst>
            </a:prstTxWarp>
            <a:scene3d>
              <a:camera prst="legacyPerspectiveFront">
                <a:rot lat="20519999" lon="1080000" rev="0"/>
              </a:camera>
              <a:lightRig rig="legacyHarsh2" dir="b"/>
            </a:scene3d>
            <a:sp3d extrusionH="430200" prstMaterial="legacyMatte">
              <a:extrusionClr>
                <a:srgbClr val="FF6600"/>
              </a:extrusionClr>
              <a:contourClr>
                <a:srgbClr val="FFE701"/>
              </a:contourClr>
            </a:sp3d>
          </a:bodyPr>
          <a:lstStyle/>
          <a:p>
            <a:pPr algn="ctr"/>
            <a:r>
              <a:rPr lang="zh-CN" altLang="en-US" sz="3600" kern="10">
                <a:ln w="9525" cap="sq">
                  <a:round/>
                  <a:headEnd type="none" w="sm" len="sm"/>
                  <a:tailEnd type="none" w="sm" len="sm"/>
                </a:ln>
                <a:gradFill rotWithShape="0">
                  <a:gsLst>
                    <a:gs pos="0">
                      <a:srgbClr val="FFE701"/>
                    </a:gs>
                    <a:gs pos="100000">
                      <a:srgbClr val="FE3E02"/>
                    </a:gs>
                  </a:gsLst>
                  <a:lin ang="5400000" scaled="1"/>
                </a:gradFill>
                <a:latin typeface="宋体" panose="02010600030101010101" pitchFamily="2" charset="-122"/>
                <a:ea typeface="宋体" panose="02010600030101010101" pitchFamily="2" charset="-122"/>
              </a:rPr>
              <a:t>？</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2689"/>
    </mc:Choice>
    <mc:Fallback xmlns="">
      <p:transition spd="slow" advTm="6268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23652">
                                            <p:txEl>
                                              <p:pRg st="1" end="1"/>
                                            </p:txEl>
                                          </p:spTgt>
                                        </p:tgtEl>
                                        <p:attrNameLst>
                                          <p:attrName>style.visibility</p:attrName>
                                        </p:attrNameLst>
                                      </p:cBhvr>
                                      <p:to>
                                        <p:strVal val="visible"/>
                                      </p:to>
                                    </p:set>
                                    <p:animEffect transition="in" filter="wipe(left)">
                                      <p:cBhvr>
                                        <p:cTn id="7" dur="500"/>
                                        <p:tgtEl>
                                          <p:spTgt spid="92365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6" presetClass="entr" presetSubtype="0" fill="hold" nodeType="clickEffect">
                                  <p:stCondLst>
                                    <p:cond delay="0"/>
                                  </p:stCondLst>
                                  <p:childTnLst>
                                    <p:set>
                                      <p:cBhvr>
                                        <p:cTn id="11" dur="1" fill="hold">
                                          <p:stCondLst>
                                            <p:cond delay="0"/>
                                          </p:stCondLst>
                                        </p:cTn>
                                        <p:tgtEl>
                                          <p:spTgt spid="143363"/>
                                        </p:tgtEl>
                                        <p:attrNameLst>
                                          <p:attrName>style.visibility</p:attrName>
                                        </p:attrNameLst>
                                      </p:cBhvr>
                                      <p:to>
                                        <p:strVal val="visible"/>
                                      </p:to>
                                    </p:set>
                                    <p:animEffect transition="in" filter="wipe(down)">
                                      <p:cBhvr>
                                        <p:cTn id="12" dur="580">
                                          <p:stCondLst>
                                            <p:cond delay="0"/>
                                          </p:stCondLst>
                                        </p:cTn>
                                        <p:tgtEl>
                                          <p:spTgt spid="143363"/>
                                        </p:tgtEl>
                                      </p:cBhvr>
                                    </p:animEffect>
                                    <p:anim calcmode="lin" valueType="num">
                                      <p:cBhvr>
                                        <p:cTn id="13" dur="1822" tmFilter="0,0; 0.14,0.36; 0.43,0.73; 0.71,0.91; 1.0,1.0">
                                          <p:stCondLst>
                                            <p:cond delay="0"/>
                                          </p:stCondLst>
                                        </p:cTn>
                                        <p:tgtEl>
                                          <p:spTgt spid="143363"/>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43363"/>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43363"/>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43363"/>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43363"/>
                                        </p:tgtEl>
                                        <p:attrNameLst>
                                          <p:attrName>ppt_y</p:attrName>
                                        </p:attrNameLst>
                                      </p:cBhvr>
                                      <p:tavLst>
                                        <p:tav tm="0" fmla="#ppt_y-sin(pi*$)/81">
                                          <p:val>
                                            <p:fltVal val="0"/>
                                          </p:val>
                                        </p:tav>
                                        <p:tav tm="100000">
                                          <p:val>
                                            <p:fltVal val="1"/>
                                          </p:val>
                                        </p:tav>
                                      </p:tavLst>
                                    </p:anim>
                                    <p:animScale>
                                      <p:cBhvr>
                                        <p:cTn id="18" dur="26">
                                          <p:stCondLst>
                                            <p:cond delay="650"/>
                                          </p:stCondLst>
                                        </p:cTn>
                                        <p:tgtEl>
                                          <p:spTgt spid="143363"/>
                                        </p:tgtEl>
                                      </p:cBhvr>
                                      <p:to x="100000" y="60000"/>
                                    </p:animScale>
                                    <p:animScale>
                                      <p:cBhvr>
                                        <p:cTn id="19" dur="166" decel="50000">
                                          <p:stCondLst>
                                            <p:cond delay="676"/>
                                          </p:stCondLst>
                                        </p:cTn>
                                        <p:tgtEl>
                                          <p:spTgt spid="143363"/>
                                        </p:tgtEl>
                                      </p:cBhvr>
                                      <p:to x="100000" y="100000"/>
                                    </p:animScale>
                                    <p:animScale>
                                      <p:cBhvr>
                                        <p:cTn id="20" dur="26">
                                          <p:stCondLst>
                                            <p:cond delay="1312"/>
                                          </p:stCondLst>
                                        </p:cTn>
                                        <p:tgtEl>
                                          <p:spTgt spid="143363"/>
                                        </p:tgtEl>
                                      </p:cBhvr>
                                      <p:to x="100000" y="80000"/>
                                    </p:animScale>
                                    <p:animScale>
                                      <p:cBhvr>
                                        <p:cTn id="21" dur="166" decel="50000">
                                          <p:stCondLst>
                                            <p:cond delay="1338"/>
                                          </p:stCondLst>
                                        </p:cTn>
                                        <p:tgtEl>
                                          <p:spTgt spid="143363"/>
                                        </p:tgtEl>
                                      </p:cBhvr>
                                      <p:to x="100000" y="100000"/>
                                    </p:animScale>
                                    <p:animScale>
                                      <p:cBhvr>
                                        <p:cTn id="22" dur="26">
                                          <p:stCondLst>
                                            <p:cond delay="1642"/>
                                          </p:stCondLst>
                                        </p:cTn>
                                        <p:tgtEl>
                                          <p:spTgt spid="143363"/>
                                        </p:tgtEl>
                                      </p:cBhvr>
                                      <p:to x="100000" y="90000"/>
                                    </p:animScale>
                                    <p:animScale>
                                      <p:cBhvr>
                                        <p:cTn id="23" dur="166" decel="50000">
                                          <p:stCondLst>
                                            <p:cond delay="1668"/>
                                          </p:stCondLst>
                                        </p:cTn>
                                        <p:tgtEl>
                                          <p:spTgt spid="143363"/>
                                        </p:tgtEl>
                                      </p:cBhvr>
                                      <p:to x="100000" y="100000"/>
                                    </p:animScale>
                                    <p:animScale>
                                      <p:cBhvr>
                                        <p:cTn id="24" dur="26">
                                          <p:stCondLst>
                                            <p:cond delay="1808"/>
                                          </p:stCondLst>
                                        </p:cTn>
                                        <p:tgtEl>
                                          <p:spTgt spid="143363"/>
                                        </p:tgtEl>
                                      </p:cBhvr>
                                      <p:to x="100000" y="95000"/>
                                    </p:animScale>
                                    <p:animScale>
                                      <p:cBhvr>
                                        <p:cTn id="25" dur="166" decel="50000">
                                          <p:stCondLst>
                                            <p:cond delay="1834"/>
                                          </p:stCondLst>
                                        </p:cTn>
                                        <p:tgtEl>
                                          <p:spTgt spid="14336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2" name="Rectangle 4">
            <a:extLst>
              <a:ext uri="{FF2B5EF4-FFF2-40B4-BE49-F238E27FC236}">
                <a16:creationId xmlns:a16="http://schemas.microsoft.com/office/drawing/2014/main" id="{147FBF5D-7CAF-409E-9E9E-F64114A739C8}"/>
              </a:ext>
            </a:extLst>
          </p:cNvPr>
          <p:cNvSpPr>
            <a:spLocks noChangeArrowheads="1"/>
          </p:cNvSpPr>
          <p:nvPr/>
        </p:nvSpPr>
        <p:spPr bwMode="auto">
          <a:xfrm>
            <a:off x="468313" y="549275"/>
            <a:ext cx="8424862" cy="59055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05000"/>
              </a:lnSpc>
              <a:buClr>
                <a:schemeClr val="folHlink"/>
              </a:buClr>
              <a:buSzPct val="60000"/>
              <a:buFont typeface="Wingdings" panose="05000000000000000000" pitchFamily="2" charset="2"/>
              <a:buNone/>
            </a:pPr>
            <a:r>
              <a:rPr lang="zh-CN" altLang="en-US" sz="2600" b="1">
                <a:solidFill>
                  <a:srgbClr val="660033"/>
                </a:solidFill>
                <a:latin typeface="黑体" panose="02010609060101010101" pitchFamily="49" charset="-122"/>
                <a:ea typeface="黑体" panose="02010609060101010101" pitchFamily="49" charset="-122"/>
              </a:rPr>
              <a:t>例</a:t>
            </a:r>
            <a:r>
              <a:rPr lang="en-US" altLang="zh-CN" sz="2600" b="1">
                <a:solidFill>
                  <a:srgbClr val="660033"/>
                </a:solidFill>
                <a:latin typeface="黑体" panose="02010609060101010101" pitchFamily="49" charset="-122"/>
                <a:ea typeface="黑体" panose="02010609060101010101" pitchFamily="49" charset="-122"/>
              </a:rPr>
              <a:t>3.</a:t>
            </a:r>
            <a:r>
              <a:rPr lang="en-US" altLang="zh-CN" sz="2600" b="1">
                <a:latin typeface="黑体" panose="02010609060101010101" pitchFamily="49" charset="-122"/>
                <a:ea typeface="黑体" panose="02010609060101010101" pitchFamily="49" charset="-122"/>
              </a:rPr>
              <a:t> </a:t>
            </a:r>
            <a:r>
              <a:rPr lang="zh-CN" altLang="en-US" sz="2600" b="1">
                <a:latin typeface="黑体" panose="02010609060101010101" pitchFamily="49" charset="-122"/>
                <a:ea typeface="黑体" panose="02010609060101010101" pitchFamily="49" charset="-122"/>
              </a:rPr>
              <a:t>查询和“王丽丽”在同一个班的女同学的信息。</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USE JXGL              </a:t>
            </a:r>
            <a:r>
              <a:rPr lang="en-US" altLang="zh-CN" sz="2400" b="1">
                <a:solidFill>
                  <a:srgbClr val="006666"/>
                </a:solidFill>
                <a:latin typeface="楷体_GB2312" pitchFamily="49" charset="-122"/>
              </a:rPr>
              <a:t>--</a:t>
            </a:r>
            <a:r>
              <a:rPr lang="zh-CN" altLang="en-US" sz="2400" b="1">
                <a:solidFill>
                  <a:srgbClr val="006666"/>
                </a:solidFill>
                <a:latin typeface="楷体_GB2312" pitchFamily="49" charset="-122"/>
              </a:rPr>
              <a:t>打开</a:t>
            </a:r>
            <a:r>
              <a:rPr lang="en-US" altLang="zh-CN" sz="2400" b="1">
                <a:solidFill>
                  <a:srgbClr val="006666"/>
                </a:solidFill>
                <a:latin typeface="楷体_GB2312" pitchFamily="49" charset="-122"/>
              </a:rPr>
              <a:t>JXGL</a:t>
            </a:r>
            <a:r>
              <a:rPr lang="zh-CN" altLang="en-US" sz="2400" b="1">
                <a:solidFill>
                  <a:srgbClr val="006666"/>
                </a:solidFill>
                <a:latin typeface="楷体_GB2312" pitchFamily="49" charset="-122"/>
              </a:rPr>
              <a:t>数据库</a:t>
            </a:r>
          </a:p>
          <a:p>
            <a:pPr eaLnBrk="1" hangingPunct="1">
              <a:lnSpc>
                <a:spcPct val="105000"/>
              </a:lnSpc>
              <a:buClr>
                <a:schemeClr val="folHlink"/>
              </a:buClr>
              <a:buSzPct val="60000"/>
              <a:buFont typeface="Wingdings" panose="05000000000000000000" pitchFamily="2" charset="2"/>
              <a:buNone/>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GO</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DECLARE @sex CHAR(2) </a:t>
            </a:r>
            <a:r>
              <a:rPr lang="en-US" altLang="zh-CN" sz="2400" b="1">
                <a:solidFill>
                  <a:srgbClr val="0000FF"/>
                </a:solidFill>
                <a:latin typeface="黑体" panose="02010609060101010101" pitchFamily="49" charset="-122"/>
                <a:ea typeface="黑体" panose="02010609060101010101" pitchFamily="49" charset="-122"/>
              </a:rPr>
              <a:t>,@classl CHAR(6)</a:t>
            </a:r>
            <a:r>
              <a:rPr lang="en-US" altLang="zh-CN" sz="2000" b="1">
                <a:solidFill>
                  <a:srgbClr val="006666"/>
                </a:solidFill>
                <a:latin typeface="楷体_GB2312" pitchFamily="49" charset="-122"/>
              </a:rPr>
              <a:t>- -</a:t>
            </a:r>
            <a:r>
              <a:rPr lang="zh-CN" altLang="en-US" sz="2000" b="1">
                <a:solidFill>
                  <a:srgbClr val="006666"/>
                </a:solidFill>
                <a:latin typeface="楷体_GB2312" pitchFamily="49" charset="-122"/>
              </a:rPr>
              <a:t>声明局部变量</a:t>
            </a:r>
          </a:p>
          <a:p>
            <a:pPr eaLnBrk="1" hangingPunct="1">
              <a:lnSpc>
                <a:spcPct val="105000"/>
              </a:lnSpc>
              <a:buClr>
                <a:schemeClr val="folHlink"/>
              </a:buClr>
              <a:buSzPct val="60000"/>
              <a:buFont typeface="Wingdings" panose="05000000000000000000" pitchFamily="2" charset="2"/>
              <a:buNone/>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SET @sex = '</a:t>
            </a:r>
            <a:r>
              <a:rPr lang="zh-CN" altLang="en-US" sz="2400" b="1">
                <a:latin typeface="黑体" panose="02010609060101010101" pitchFamily="49" charset="-122"/>
                <a:ea typeface="黑体" panose="02010609060101010101" pitchFamily="49" charset="-122"/>
              </a:rPr>
              <a:t>女</a:t>
            </a:r>
            <a:r>
              <a:rPr lang="en-US" altLang="zh-CN" sz="2400" b="1">
                <a:latin typeface="黑体" panose="02010609060101010101" pitchFamily="49" charset="-122"/>
                <a:ea typeface="黑体" panose="02010609060101010101" pitchFamily="49" charset="-122"/>
              </a:rPr>
              <a:t>‘</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a:t>
            </a:r>
            <a:r>
              <a:rPr lang="en-US" altLang="zh-CN" sz="2400" b="1">
                <a:solidFill>
                  <a:srgbClr val="0000FF"/>
                </a:solidFill>
                <a:latin typeface="黑体" panose="02010609060101010101" pitchFamily="49" charset="-122"/>
                <a:ea typeface="黑体" panose="02010609060101010101" pitchFamily="49" charset="-122"/>
              </a:rPr>
              <a:t>SELECT </a:t>
            </a:r>
            <a:r>
              <a:rPr lang="en-US" altLang="zh-CN" sz="2400" b="1">
                <a:solidFill>
                  <a:srgbClr val="0000FF"/>
                </a:solidFill>
              </a:rPr>
              <a:t>@classl</a:t>
            </a:r>
            <a:r>
              <a:rPr lang="en-US" altLang="zh-CN" sz="2400">
                <a:solidFill>
                  <a:srgbClr val="0000FF"/>
                </a:solidFill>
              </a:rPr>
              <a:t> =</a:t>
            </a:r>
            <a:r>
              <a:rPr lang="en-US" altLang="zh-CN" sz="2400" b="1">
                <a:solidFill>
                  <a:srgbClr val="0000FF"/>
                </a:solidFill>
                <a:latin typeface="黑体" panose="02010609060101010101" pitchFamily="49" charset="-122"/>
                <a:ea typeface="黑体" panose="02010609060101010101" pitchFamily="49" charset="-122"/>
              </a:rPr>
              <a:t>CLASS FROM S WHERE  SNAME=‘</a:t>
            </a:r>
            <a:r>
              <a:rPr lang="zh-CN" altLang="en-US" sz="2400" b="1">
                <a:solidFill>
                  <a:srgbClr val="0000FF"/>
                </a:solidFill>
                <a:latin typeface="黑体" panose="02010609060101010101" pitchFamily="49" charset="-122"/>
                <a:ea typeface="黑体" panose="02010609060101010101" pitchFamily="49" charset="-122"/>
              </a:rPr>
              <a:t>王丽丽</a:t>
            </a:r>
            <a:r>
              <a:rPr lang="en-US" altLang="zh-CN" sz="2400" b="1">
                <a:solidFill>
                  <a:srgbClr val="0000FF"/>
                </a:solidFill>
                <a:latin typeface="黑体" panose="02010609060101010101" pitchFamily="49" charset="-122"/>
                <a:ea typeface="黑体" panose="02010609060101010101" pitchFamily="49" charset="-122"/>
              </a:rPr>
              <a:t>’</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a:t>
            </a:r>
            <a:r>
              <a:rPr lang="en-US" altLang="zh-CN" sz="2400" b="1">
                <a:solidFill>
                  <a:srgbClr val="006666"/>
                </a:solidFill>
                <a:latin typeface="楷体_GB2312" pitchFamily="49" charset="-122"/>
              </a:rPr>
              <a:t>--</a:t>
            </a:r>
            <a:r>
              <a:rPr lang="zh-CN" altLang="en-US" sz="2400" b="1">
                <a:solidFill>
                  <a:srgbClr val="006666"/>
                </a:solidFill>
                <a:latin typeface="楷体_GB2312" pitchFamily="49" charset="-122"/>
              </a:rPr>
              <a:t>根据局部变量值进行查询</a:t>
            </a:r>
          </a:p>
          <a:p>
            <a:pPr eaLnBrk="1" hangingPunct="1">
              <a:lnSpc>
                <a:spcPct val="105000"/>
              </a:lnSpc>
              <a:buClr>
                <a:schemeClr val="folHlink"/>
              </a:buClr>
              <a:buSzPct val="60000"/>
              <a:buFont typeface="Wingdings" panose="05000000000000000000" pitchFamily="2" charset="2"/>
              <a:buNone/>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SELECT S# AS </a:t>
            </a:r>
            <a:r>
              <a:rPr lang="zh-CN" altLang="en-US" sz="2400" b="1">
                <a:latin typeface="黑体" panose="02010609060101010101" pitchFamily="49" charset="-122"/>
                <a:ea typeface="黑体" panose="02010609060101010101" pitchFamily="49" charset="-122"/>
              </a:rPr>
              <a:t>学号</a:t>
            </a:r>
            <a:r>
              <a:rPr lang="en-US" altLang="zh-CN" sz="2400" b="1">
                <a:latin typeface="黑体" panose="02010609060101010101" pitchFamily="49" charset="-122"/>
                <a:ea typeface="黑体" panose="02010609060101010101" pitchFamily="49" charset="-122"/>
              </a:rPr>
              <a:t>, SNAME AS </a:t>
            </a:r>
            <a:r>
              <a:rPr lang="zh-CN" altLang="en-US" sz="2400" b="1">
                <a:latin typeface="黑体" panose="02010609060101010101" pitchFamily="49" charset="-122"/>
                <a:ea typeface="黑体" panose="02010609060101010101" pitchFamily="49" charset="-122"/>
              </a:rPr>
              <a:t>姓名</a:t>
            </a:r>
            <a:r>
              <a:rPr lang="en-US" altLang="zh-CN" sz="2400" b="1">
                <a:latin typeface="黑体" panose="02010609060101010101" pitchFamily="49" charset="-122"/>
                <a:ea typeface="黑体" panose="02010609060101010101" pitchFamily="49" charset="-122"/>
              </a:rPr>
              <a:t>,</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SBIRTHIN AS </a:t>
            </a:r>
            <a:r>
              <a:rPr lang="zh-CN" altLang="en-US" sz="2400" b="1">
                <a:latin typeface="黑体" panose="02010609060101010101" pitchFamily="49" charset="-122"/>
                <a:ea typeface="黑体" panose="02010609060101010101" pitchFamily="49" charset="-122"/>
              </a:rPr>
              <a:t>出生年月</a:t>
            </a:r>
            <a:r>
              <a:rPr lang="en-US" altLang="zh-CN" sz="2400" b="1">
                <a:latin typeface="黑体" panose="02010609060101010101" pitchFamily="49" charset="-122"/>
                <a:ea typeface="黑体" panose="02010609060101010101" pitchFamily="49" charset="-122"/>
              </a:rPr>
              <a:t>, PLACEOFB AS </a:t>
            </a:r>
            <a:r>
              <a:rPr lang="zh-CN" altLang="en-US" sz="2400" b="1">
                <a:latin typeface="黑体" panose="02010609060101010101" pitchFamily="49" charset="-122"/>
                <a:ea typeface="黑体" panose="02010609060101010101" pitchFamily="49" charset="-122"/>
              </a:rPr>
              <a:t>籍贯</a:t>
            </a:r>
            <a:r>
              <a:rPr lang="en-US" altLang="zh-CN" sz="2400" b="1">
                <a:latin typeface="黑体" panose="02010609060101010101" pitchFamily="49" charset="-122"/>
                <a:ea typeface="黑体" panose="02010609060101010101" pitchFamily="49" charset="-122"/>
              </a:rPr>
              <a:t>, </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SCODE# AS </a:t>
            </a:r>
            <a:r>
              <a:rPr lang="zh-CN" altLang="en-US" sz="2400" b="1">
                <a:latin typeface="黑体" panose="02010609060101010101" pitchFamily="49" charset="-122"/>
                <a:ea typeface="黑体" panose="02010609060101010101" pitchFamily="49" charset="-122"/>
              </a:rPr>
              <a:t>专业编号</a:t>
            </a:r>
            <a:r>
              <a:rPr lang="en-US" altLang="zh-CN" sz="2400" b="1">
                <a:latin typeface="黑体" panose="02010609060101010101" pitchFamily="49" charset="-122"/>
                <a:ea typeface="黑体" panose="02010609060101010101" pitchFamily="49" charset="-122"/>
              </a:rPr>
              <a:t>, CLASS AS </a:t>
            </a:r>
            <a:r>
              <a:rPr lang="zh-CN" altLang="en-US" sz="2400" b="1">
                <a:latin typeface="黑体" panose="02010609060101010101" pitchFamily="49" charset="-122"/>
                <a:ea typeface="黑体" panose="02010609060101010101" pitchFamily="49" charset="-122"/>
              </a:rPr>
              <a:t>班级</a:t>
            </a:r>
          </a:p>
          <a:p>
            <a:pPr eaLnBrk="1" hangingPunct="1">
              <a:lnSpc>
                <a:spcPct val="105000"/>
              </a:lnSpc>
              <a:buClr>
                <a:schemeClr val="folHlink"/>
              </a:buClr>
              <a:buSzPct val="60000"/>
              <a:buFont typeface="Wingdings" panose="05000000000000000000" pitchFamily="2" charset="2"/>
              <a:buNone/>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FROM   S</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WHERE  SSEX = @sex </a:t>
            </a:r>
            <a:r>
              <a:rPr lang="en-US" altLang="zh-CN" sz="2400" b="1">
                <a:solidFill>
                  <a:srgbClr val="0000FF"/>
                </a:solidFill>
                <a:latin typeface="黑体" panose="02010609060101010101" pitchFamily="49" charset="-122"/>
                <a:ea typeface="黑体" panose="02010609060101010101" pitchFamily="49" charset="-122"/>
              </a:rPr>
              <a:t>AND CLASS=@classl</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GO </a:t>
            </a:r>
            <a:endParaRPr lang="zh-CN" altLang="en-US" sz="2400" b="1">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47472"/>
    </mc:Choice>
    <mc:Fallback xmlns="">
      <p:transition spd="slow" advTm="47472"/>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23652">
                                            <p:txEl>
                                              <p:pRg st="3" end="3"/>
                                            </p:txEl>
                                          </p:spTgt>
                                        </p:tgtEl>
                                        <p:attrNameLst>
                                          <p:attrName>style.visibility</p:attrName>
                                        </p:attrNameLst>
                                      </p:cBhvr>
                                      <p:to>
                                        <p:strVal val="visible"/>
                                      </p:to>
                                    </p:set>
                                    <p:animEffect transition="in" filter="dissolve">
                                      <p:cBhvr>
                                        <p:cTn id="7" dur="500"/>
                                        <p:tgtEl>
                                          <p:spTgt spid="923652">
                                            <p:txEl>
                                              <p:pRg st="3" end="3"/>
                                            </p:txEl>
                                          </p:spTgt>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923652">
                                            <p:txEl>
                                              <p:pRg st="4" end="4"/>
                                            </p:txEl>
                                          </p:spTgt>
                                        </p:tgtEl>
                                        <p:attrNameLst>
                                          <p:attrName>style.visibility</p:attrName>
                                        </p:attrNameLst>
                                      </p:cBhvr>
                                      <p:to>
                                        <p:strVal val="visible"/>
                                      </p:to>
                                    </p:set>
                                    <p:animEffect transition="in" filter="dissolve">
                                      <p:cBhvr>
                                        <p:cTn id="11" dur="500"/>
                                        <p:tgtEl>
                                          <p:spTgt spid="923652">
                                            <p:txEl>
                                              <p:pRg st="4" end="4"/>
                                            </p:txEl>
                                          </p:spTgt>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923652">
                                            <p:txEl>
                                              <p:pRg st="5" end="5"/>
                                            </p:txEl>
                                          </p:spTgt>
                                        </p:tgtEl>
                                        <p:attrNameLst>
                                          <p:attrName>style.visibility</p:attrName>
                                        </p:attrNameLst>
                                      </p:cBhvr>
                                      <p:to>
                                        <p:strVal val="visible"/>
                                      </p:to>
                                    </p:set>
                                    <p:animEffect transition="in" filter="dissolve">
                                      <p:cBhvr>
                                        <p:cTn id="15" dur="500"/>
                                        <p:tgtEl>
                                          <p:spTgt spid="923652">
                                            <p:txEl>
                                              <p:pRg st="5" end="5"/>
                                            </p:txEl>
                                          </p:spTgt>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923652">
                                            <p:txEl>
                                              <p:pRg st="6" end="6"/>
                                            </p:txEl>
                                          </p:spTgt>
                                        </p:tgtEl>
                                        <p:attrNameLst>
                                          <p:attrName>style.visibility</p:attrName>
                                        </p:attrNameLst>
                                      </p:cBhvr>
                                      <p:to>
                                        <p:strVal val="visible"/>
                                      </p:to>
                                    </p:set>
                                    <p:animEffect transition="in" filter="dissolve">
                                      <p:cBhvr>
                                        <p:cTn id="19" dur="500"/>
                                        <p:tgtEl>
                                          <p:spTgt spid="923652">
                                            <p:txEl>
                                              <p:pRg st="6" end="6"/>
                                            </p:txEl>
                                          </p:spTgt>
                                        </p:tgtEl>
                                      </p:cBhvr>
                                    </p:animEffect>
                                  </p:childTnLst>
                                </p:cTn>
                              </p:par>
                            </p:childTnLst>
                          </p:cTn>
                        </p:par>
                        <p:par>
                          <p:cTn id="20" fill="hold" nodeType="afterGroup">
                            <p:stCondLst>
                              <p:cond delay="2000"/>
                            </p:stCondLst>
                            <p:childTnLst>
                              <p:par>
                                <p:cTn id="21" presetID="9" presetClass="entr" presetSubtype="0" fill="hold" nodeType="afterEffect">
                                  <p:stCondLst>
                                    <p:cond delay="0"/>
                                  </p:stCondLst>
                                  <p:childTnLst>
                                    <p:set>
                                      <p:cBhvr>
                                        <p:cTn id="22" dur="1" fill="hold">
                                          <p:stCondLst>
                                            <p:cond delay="0"/>
                                          </p:stCondLst>
                                        </p:cTn>
                                        <p:tgtEl>
                                          <p:spTgt spid="923652">
                                            <p:txEl>
                                              <p:pRg st="7" end="7"/>
                                            </p:txEl>
                                          </p:spTgt>
                                        </p:tgtEl>
                                        <p:attrNameLst>
                                          <p:attrName>style.visibility</p:attrName>
                                        </p:attrNameLst>
                                      </p:cBhvr>
                                      <p:to>
                                        <p:strVal val="visible"/>
                                      </p:to>
                                    </p:set>
                                    <p:animEffect transition="in" filter="dissolve">
                                      <p:cBhvr>
                                        <p:cTn id="23" dur="500"/>
                                        <p:tgtEl>
                                          <p:spTgt spid="923652">
                                            <p:txEl>
                                              <p:pRg st="7" end="7"/>
                                            </p:txEl>
                                          </p:spTgt>
                                        </p:tgtEl>
                                      </p:cBhvr>
                                    </p:animEffect>
                                  </p:childTnLst>
                                </p:cTn>
                              </p:par>
                            </p:childTnLst>
                          </p:cTn>
                        </p:par>
                        <p:par>
                          <p:cTn id="24" fill="hold" nodeType="afterGroup">
                            <p:stCondLst>
                              <p:cond delay="2500"/>
                            </p:stCondLst>
                            <p:childTnLst>
                              <p:par>
                                <p:cTn id="25" presetID="9" presetClass="entr" presetSubtype="0" fill="hold" nodeType="afterEffect">
                                  <p:stCondLst>
                                    <p:cond delay="0"/>
                                  </p:stCondLst>
                                  <p:childTnLst>
                                    <p:set>
                                      <p:cBhvr>
                                        <p:cTn id="26" dur="1" fill="hold">
                                          <p:stCondLst>
                                            <p:cond delay="0"/>
                                          </p:stCondLst>
                                        </p:cTn>
                                        <p:tgtEl>
                                          <p:spTgt spid="923652">
                                            <p:txEl>
                                              <p:pRg st="8" end="8"/>
                                            </p:txEl>
                                          </p:spTgt>
                                        </p:tgtEl>
                                        <p:attrNameLst>
                                          <p:attrName>style.visibility</p:attrName>
                                        </p:attrNameLst>
                                      </p:cBhvr>
                                      <p:to>
                                        <p:strVal val="visible"/>
                                      </p:to>
                                    </p:set>
                                    <p:animEffect transition="in" filter="dissolve">
                                      <p:cBhvr>
                                        <p:cTn id="27" dur="500"/>
                                        <p:tgtEl>
                                          <p:spTgt spid="923652">
                                            <p:txEl>
                                              <p:pRg st="8" end="8"/>
                                            </p:txEl>
                                          </p:spTgt>
                                        </p:tgtEl>
                                      </p:cBhvr>
                                    </p:animEffect>
                                  </p:childTnLst>
                                </p:cTn>
                              </p:par>
                            </p:childTnLst>
                          </p:cTn>
                        </p:par>
                        <p:par>
                          <p:cTn id="28" fill="hold" nodeType="afterGroup">
                            <p:stCondLst>
                              <p:cond delay="3000"/>
                            </p:stCondLst>
                            <p:childTnLst>
                              <p:par>
                                <p:cTn id="29" presetID="9" presetClass="entr" presetSubtype="0" fill="hold" nodeType="afterEffect">
                                  <p:stCondLst>
                                    <p:cond delay="0"/>
                                  </p:stCondLst>
                                  <p:childTnLst>
                                    <p:set>
                                      <p:cBhvr>
                                        <p:cTn id="30" dur="1" fill="hold">
                                          <p:stCondLst>
                                            <p:cond delay="0"/>
                                          </p:stCondLst>
                                        </p:cTn>
                                        <p:tgtEl>
                                          <p:spTgt spid="923652">
                                            <p:txEl>
                                              <p:pRg st="9" end="9"/>
                                            </p:txEl>
                                          </p:spTgt>
                                        </p:tgtEl>
                                        <p:attrNameLst>
                                          <p:attrName>style.visibility</p:attrName>
                                        </p:attrNameLst>
                                      </p:cBhvr>
                                      <p:to>
                                        <p:strVal val="visible"/>
                                      </p:to>
                                    </p:set>
                                    <p:animEffect transition="in" filter="dissolve">
                                      <p:cBhvr>
                                        <p:cTn id="31" dur="500"/>
                                        <p:tgtEl>
                                          <p:spTgt spid="923652">
                                            <p:txEl>
                                              <p:pRg st="9" end="9"/>
                                            </p:txEl>
                                          </p:spTgt>
                                        </p:tgtEl>
                                      </p:cBhvr>
                                    </p:animEffect>
                                  </p:childTnLst>
                                </p:cTn>
                              </p:par>
                            </p:childTnLst>
                          </p:cTn>
                        </p:par>
                        <p:par>
                          <p:cTn id="32" fill="hold" nodeType="afterGroup">
                            <p:stCondLst>
                              <p:cond delay="3500"/>
                            </p:stCondLst>
                            <p:childTnLst>
                              <p:par>
                                <p:cTn id="33" presetID="9" presetClass="entr" presetSubtype="0" fill="hold" nodeType="afterEffect">
                                  <p:stCondLst>
                                    <p:cond delay="0"/>
                                  </p:stCondLst>
                                  <p:childTnLst>
                                    <p:set>
                                      <p:cBhvr>
                                        <p:cTn id="34" dur="1" fill="hold">
                                          <p:stCondLst>
                                            <p:cond delay="0"/>
                                          </p:stCondLst>
                                        </p:cTn>
                                        <p:tgtEl>
                                          <p:spTgt spid="923652">
                                            <p:txEl>
                                              <p:pRg st="10" end="10"/>
                                            </p:txEl>
                                          </p:spTgt>
                                        </p:tgtEl>
                                        <p:attrNameLst>
                                          <p:attrName>style.visibility</p:attrName>
                                        </p:attrNameLst>
                                      </p:cBhvr>
                                      <p:to>
                                        <p:strVal val="visible"/>
                                      </p:to>
                                    </p:set>
                                    <p:animEffect transition="in" filter="dissolve">
                                      <p:cBhvr>
                                        <p:cTn id="35" dur="500"/>
                                        <p:tgtEl>
                                          <p:spTgt spid="923652">
                                            <p:txEl>
                                              <p:pRg st="10" end="10"/>
                                            </p:txEl>
                                          </p:spTgt>
                                        </p:tgtEl>
                                      </p:cBhvr>
                                    </p:animEffect>
                                  </p:childTnLst>
                                </p:cTn>
                              </p:par>
                            </p:childTnLst>
                          </p:cTn>
                        </p:par>
                        <p:par>
                          <p:cTn id="36" fill="hold" nodeType="afterGroup">
                            <p:stCondLst>
                              <p:cond delay="4000"/>
                            </p:stCondLst>
                            <p:childTnLst>
                              <p:par>
                                <p:cTn id="37" presetID="9" presetClass="entr" presetSubtype="0" fill="hold" nodeType="afterEffect">
                                  <p:stCondLst>
                                    <p:cond delay="0"/>
                                  </p:stCondLst>
                                  <p:childTnLst>
                                    <p:set>
                                      <p:cBhvr>
                                        <p:cTn id="38" dur="1" fill="hold">
                                          <p:stCondLst>
                                            <p:cond delay="0"/>
                                          </p:stCondLst>
                                        </p:cTn>
                                        <p:tgtEl>
                                          <p:spTgt spid="923652">
                                            <p:txEl>
                                              <p:pRg st="11" end="11"/>
                                            </p:txEl>
                                          </p:spTgt>
                                        </p:tgtEl>
                                        <p:attrNameLst>
                                          <p:attrName>style.visibility</p:attrName>
                                        </p:attrNameLst>
                                      </p:cBhvr>
                                      <p:to>
                                        <p:strVal val="visible"/>
                                      </p:to>
                                    </p:set>
                                    <p:animEffect transition="in" filter="dissolve">
                                      <p:cBhvr>
                                        <p:cTn id="39" dur="500"/>
                                        <p:tgtEl>
                                          <p:spTgt spid="923652">
                                            <p:txEl>
                                              <p:pRg st="11" end="11"/>
                                            </p:txEl>
                                          </p:spTgt>
                                        </p:tgtEl>
                                      </p:cBhvr>
                                    </p:animEffect>
                                  </p:childTnLst>
                                </p:cTn>
                              </p:par>
                            </p:childTnLst>
                          </p:cTn>
                        </p:par>
                        <p:par>
                          <p:cTn id="40" fill="hold" nodeType="afterGroup">
                            <p:stCondLst>
                              <p:cond delay="4500"/>
                            </p:stCondLst>
                            <p:childTnLst>
                              <p:par>
                                <p:cTn id="41" presetID="9" presetClass="entr" presetSubtype="0" fill="hold" nodeType="afterEffect">
                                  <p:stCondLst>
                                    <p:cond delay="0"/>
                                  </p:stCondLst>
                                  <p:childTnLst>
                                    <p:set>
                                      <p:cBhvr>
                                        <p:cTn id="42" dur="1" fill="hold">
                                          <p:stCondLst>
                                            <p:cond delay="0"/>
                                          </p:stCondLst>
                                        </p:cTn>
                                        <p:tgtEl>
                                          <p:spTgt spid="923652">
                                            <p:txEl>
                                              <p:pRg st="12" end="12"/>
                                            </p:txEl>
                                          </p:spTgt>
                                        </p:tgtEl>
                                        <p:attrNameLst>
                                          <p:attrName>style.visibility</p:attrName>
                                        </p:attrNameLst>
                                      </p:cBhvr>
                                      <p:to>
                                        <p:strVal val="visible"/>
                                      </p:to>
                                    </p:set>
                                    <p:animEffect transition="in" filter="dissolve">
                                      <p:cBhvr>
                                        <p:cTn id="43" dur="500"/>
                                        <p:tgtEl>
                                          <p:spTgt spid="923652">
                                            <p:txEl>
                                              <p:pRg st="12" end="12"/>
                                            </p:txEl>
                                          </p:spTgt>
                                        </p:tgtEl>
                                      </p:cBhvr>
                                    </p:animEffect>
                                  </p:childTnLst>
                                </p:cTn>
                              </p:par>
                            </p:childTnLst>
                          </p:cTn>
                        </p:par>
                        <p:par>
                          <p:cTn id="44" fill="hold" nodeType="afterGroup">
                            <p:stCondLst>
                              <p:cond delay="5000"/>
                            </p:stCondLst>
                            <p:childTnLst>
                              <p:par>
                                <p:cTn id="45" presetID="9" presetClass="entr" presetSubtype="0" fill="hold" nodeType="afterEffect">
                                  <p:stCondLst>
                                    <p:cond delay="0"/>
                                  </p:stCondLst>
                                  <p:childTnLst>
                                    <p:set>
                                      <p:cBhvr>
                                        <p:cTn id="46" dur="1" fill="hold">
                                          <p:stCondLst>
                                            <p:cond delay="0"/>
                                          </p:stCondLst>
                                        </p:cTn>
                                        <p:tgtEl>
                                          <p:spTgt spid="923652">
                                            <p:txEl>
                                              <p:pRg st="13" end="13"/>
                                            </p:txEl>
                                          </p:spTgt>
                                        </p:tgtEl>
                                        <p:attrNameLst>
                                          <p:attrName>style.visibility</p:attrName>
                                        </p:attrNameLst>
                                      </p:cBhvr>
                                      <p:to>
                                        <p:strVal val="visible"/>
                                      </p:to>
                                    </p:set>
                                    <p:animEffect transition="in" filter="dissolve">
                                      <p:cBhvr>
                                        <p:cTn id="47" dur="500"/>
                                        <p:tgtEl>
                                          <p:spTgt spid="923652">
                                            <p:txEl>
                                              <p:pRg st="13" end="13"/>
                                            </p:txEl>
                                          </p:spTgt>
                                        </p:tgtEl>
                                      </p:cBhvr>
                                    </p:animEffect>
                                  </p:childTnLst>
                                </p:cTn>
                              </p:par>
                            </p:childTnLst>
                          </p:cTn>
                        </p:par>
                        <p:par>
                          <p:cTn id="48" fill="hold" nodeType="afterGroup">
                            <p:stCondLst>
                              <p:cond delay="5500"/>
                            </p:stCondLst>
                            <p:childTnLst>
                              <p:par>
                                <p:cTn id="49" presetID="9" presetClass="entr" presetSubtype="0" fill="hold" nodeType="afterEffect">
                                  <p:stCondLst>
                                    <p:cond delay="0"/>
                                  </p:stCondLst>
                                  <p:childTnLst>
                                    <p:set>
                                      <p:cBhvr>
                                        <p:cTn id="50" dur="1" fill="hold">
                                          <p:stCondLst>
                                            <p:cond delay="0"/>
                                          </p:stCondLst>
                                        </p:cTn>
                                        <p:tgtEl>
                                          <p:spTgt spid="923652">
                                            <p:txEl>
                                              <p:pRg st="14" end="14"/>
                                            </p:txEl>
                                          </p:spTgt>
                                        </p:tgtEl>
                                        <p:attrNameLst>
                                          <p:attrName>style.visibility</p:attrName>
                                        </p:attrNameLst>
                                      </p:cBhvr>
                                      <p:to>
                                        <p:strVal val="visible"/>
                                      </p:to>
                                    </p:set>
                                    <p:animEffect transition="in" filter="dissolve">
                                      <p:cBhvr>
                                        <p:cTn id="51" dur="500"/>
                                        <p:tgtEl>
                                          <p:spTgt spid="92365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012" name="Picture 4">
            <a:extLst>
              <a:ext uri="{FF2B5EF4-FFF2-40B4-BE49-F238E27FC236}">
                <a16:creationId xmlns:a16="http://schemas.microsoft.com/office/drawing/2014/main" id="{783FD14A-1469-4EFC-AE7A-D16AD05700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20784"/>
    </mc:Choice>
    <mc:Fallback xmlns="">
      <p:transition spd="slow" advTm="20784"/>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700" name="Rectangle 4">
            <a:extLst>
              <a:ext uri="{FF2B5EF4-FFF2-40B4-BE49-F238E27FC236}">
                <a16:creationId xmlns:a16="http://schemas.microsoft.com/office/drawing/2014/main" id="{F0860124-48AF-44E4-B1D2-49A520ED5A8F}"/>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dirty="0">
                <a:solidFill>
                  <a:schemeClr val="tx2"/>
                </a:solidFill>
                <a:effectLst>
                  <a:outerShdw blurRad="38100" dist="38100" dir="2700000" algn="tl">
                    <a:srgbClr val="C0C0C0"/>
                  </a:outerShdw>
                </a:effectLst>
                <a:latin typeface="Tahoma" pitchFamily="34" charset="0"/>
                <a:ea typeface="幼圆" pitchFamily="49" charset="-122"/>
              </a:rPr>
              <a:t>二、变量 </a:t>
            </a:r>
          </a:p>
        </p:txBody>
      </p:sp>
      <p:sp>
        <p:nvSpPr>
          <p:cNvPr id="925701" name="Rectangle 5">
            <a:extLst>
              <a:ext uri="{FF2B5EF4-FFF2-40B4-BE49-F238E27FC236}">
                <a16:creationId xmlns:a16="http://schemas.microsoft.com/office/drawing/2014/main" id="{75398C04-0F66-47FD-94EB-010E5C2CD18C}"/>
              </a:ext>
            </a:extLst>
          </p:cNvPr>
          <p:cNvSpPr>
            <a:spLocks noChangeArrowheads="1"/>
          </p:cNvSpPr>
          <p:nvPr/>
        </p:nvSpPr>
        <p:spPr bwMode="auto">
          <a:xfrm>
            <a:off x="323850" y="1171575"/>
            <a:ext cx="8424863"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en-US" altLang="zh-CN" sz="2800">
                <a:solidFill>
                  <a:srgbClr val="660033"/>
                </a:solidFill>
              </a:rPr>
              <a:t>         </a:t>
            </a:r>
            <a:r>
              <a:rPr lang="en-US" altLang="zh-CN" sz="2800">
                <a:solidFill>
                  <a:srgbClr val="660033"/>
                </a:solidFill>
                <a:latin typeface="黑体" panose="02010609060101010101" pitchFamily="49" charset="-122"/>
                <a:ea typeface="黑体" panose="02010609060101010101" pitchFamily="49" charset="-122"/>
              </a:rPr>
              <a:t>2</a:t>
            </a:r>
            <a:r>
              <a:rPr lang="zh-CN" altLang="en-US" sz="2800">
                <a:solidFill>
                  <a:srgbClr val="660033"/>
                </a:solidFill>
                <a:latin typeface="黑体" panose="02010609060101010101" pitchFamily="49" charset="-122"/>
                <a:ea typeface="黑体" panose="02010609060101010101" pitchFamily="49" charset="-122"/>
              </a:rPr>
              <a:t>、全局变量</a:t>
            </a:r>
            <a:endParaRPr lang="zh-CN" altLang="en-US" sz="2800" b="1">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zh-CN" altLang="en-US" sz="2800" b="1">
                <a:latin typeface="楷体_GB2312" pitchFamily="49" charset="-122"/>
              </a:rPr>
              <a:t>全局变量由</a:t>
            </a:r>
            <a:r>
              <a:rPr lang="en-US" altLang="zh-CN" sz="2800" b="1">
                <a:latin typeface="楷体_GB2312" pitchFamily="49" charset="-122"/>
              </a:rPr>
              <a:t>SQL Server</a:t>
            </a:r>
            <a:r>
              <a:rPr lang="zh-CN" altLang="en-US" sz="2800" b="1">
                <a:latin typeface="楷体_GB2312" pitchFamily="49" charset="-122"/>
              </a:rPr>
              <a:t>系统提供且预先声明，其名称以</a:t>
            </a:r>
            <a:r>
              <a:rPr lang="en-US" altLang="zh-CN" sz="2800" b="1">
                <a:solidFill>
                  <a:srgbClr val="0000FF"/>
                </a:solidFill>
                <a:latin typeface="楷体_GB2312" pitchFamily="49" charset="-122"/>
              </a:rPr>
              <a:t>@@</a:t>
            </a:r>
            <a:r>
              <a:rPr lang="zh-CN" altLang="en-US" sz="2800" b="1">
                <a:latin typeface="楷体_GB2312" pitchFamily="49" charset="-122"/>
              </a:rPr>
              <a:t>开始。在</a:t>
            </a:r>
            <a:r>
              <a:rPr lang="en-US" altLang="zh-CN" sz="2800" b="1">
                <a:latin typeface="楷体_GB2312" pitchFamily="49" charset="-122"/>
              </a:rPr>
              <a:t>SQLServer7.0</a:t>
            </a:r>
            <a:r>
              <a:rPr lang="zh-CN" altLang="en-US" sz="2800" b="1">
                <a:latin typeface="楷体_GB2312" pitchFamily="49" charset="-122"/>
              </a:rPr>
              <a:t>及以上版本中，</a:t>
            </a:r>
            <a:r>
              <a:rPr lang="en-US" altLang="zh-CN" sz="2800" b="1">
                <a:latin typeface="楷体_GB2312" pitchFamily="49" charset="-122"/>
              </a:rPr>
              <a:t>T-SQL</a:t>
            </a:r>
            <a:r>
              <a:rPr lang="zh-CN" altLang="en-US" sz="2800" b="1">
                <a:latin typeface="楷体_GB2312" pitchFamily="49" charset="-122"/>
              </a:rPr>
              <a:t>全局变量作为函数引用。</a:t>
            </a:r>
          </a:p>
          <a:p>
            <a:pPr lvl="1" eaLnBrk="1" hangingPunct="1">
              <a:lnSpc>
                <a:spcPct val="150000"/>
              </a:lnSpc>
              <a:buClr>
                <a:srgbClr val="0000FF"/>
              </a:buClr>
              <a:buFont typeface="Wingdings" panose="05000000000000000000" pitchFamily="2" charset="2"/>
              <a:buChar char="u"/>
            </a:pPr>
            <a:r>
              <a:rPr lang="zh-CN" altLang="en-US" sz="2800" b="1">
                <a:latin typeface="楷体_GB2312" pitchFamily="49" charset="-122"/>
              </a:rPr>
              <a:t> 用户不能定义全局变量，也不能通过</a:t>
            </a:r>
            <a:r>
              <a:rPr lang="en-US" altLang="zh-CN" sz="2800" b="1">
                <a:latin typeface="楷体_GB2312" pitchFamily="49" charset="-122"/>
              </a:rPr>
              <a:t>SET</a:t>
            </a:r>
            <a:r>
              <a:rPr lang="zh-CN" altLang="en-US" sz="2800" b="1">
                <a:latin typeface="楷体_GB2312" pitchFamily="49" charset="-122"/>
              </a:rPr>
              <a:t>语句为全局变量赋值。</a:t>
            </a:r>
          </a:p>
          <a:p>
            <a:pPr lvl="1" eaLnBrk="1" hangingPunct="1">
              <a:lnSpc>
                <a:spcPct val="150000"/>
              </a:lnSpc>
              <a:buClr>
                <a:srgbClr val="0000FF"/>
              </a:buClr>
              <a:buFont typeface="Wingdings" panose="05000000000000000000" pitchFamily="2" charset="2"/>
              <a:buChar char="u"/>
            </a:pPr>
            <a:r>
              <a:rPr lang="zh-CN" altLang="en-US" sz="2800" b="1">
                <a:latin typeface="楷体_GB2312" pitchFamily="49" charset="-122"/>
              </a:rPr>
              <a:t> 一般是将全局变量的值赋给局部变量。</a:t>
            </a:r>
            <a:r>
              <a:rPr lang="zh-CN" altLang="pt-BR" sz="2800" b="1">
                <a:latin typeface="楷体_GB2312" pitchFamily="49" charset="-122"/>
              </a:rPr>
              <a:t> </a:t>
            </a:r>
            <a:endParaRPr lang="zh-CN" altLang="en-US" sz="2800" b="1">
              <a:latin typeface="楷体_GB2312"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735"/>
    </mc:Choice>
    <mc:Fallback xmlns="">
      <p:transition spd="slow" advTm="3173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25701">
                                            <p:txEl>
                                              <p:pRg st="3" end="3"/>
                                            </p:txEl>
                                          </p:spTgt>
                                        </p:tgtEl>
                                        <p:attrNameLst>
                                          <p:attrName>style.visibility</p:attrName>
                                        </p:attrNameLst>
                                      </p:cBhvr>
                                      <p:to>
                                        <p:strVal val="visible"/>
                                      </p:to>
                                    </p:set>
                                    <p:animEffect transition="in" filter="wipe(left)">
                                      <p:cBhvr>
                                        <p:cTn id="7" dur="500"/>
                                        <p:tgtEl>
                                          <p:spTgt spid="925701">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25701">
                                            <p:txEl>
                                              <p:pRg st="4" end="4"/>
                                            </p:txEl>
                                          </p:spTgt>
                                        </p:tgtEl>
                                        <p:attrNameLst>
                                          <p:attrName>style.visibility</p:attrName>
                                        </p:attrNameLst>
                                      </p:cBhvr>
                                      <p:to>
                                        <p:strVal val="visible"/>
                                      </p:to>
                                    </p:set>
                                    <p:animEffect transition="in" filter="wipe(left)">
                                      <p:cBhvr>
                                        <p:cTn id="12" dur="500"/>
                                        <p:tgtEl>
                                          <p:spTgt spid="92570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4" name="Rectangle 4">
            <a:extLst>
              <a:ext uri="{FF2B5EF4-FFF2-40B4-BE49-F238E27FC236}">
                <a16:creationId xmlns:a16="http://schemas.microsoft.com/office/drawing/2014/main" id="{B1281191-D6EC-48DB-B72D-D0740B43C2F5}"/>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二、变量 </a:t>
            </a:r>
          </a:p>
        </p:txBody>
      </p:sp>
      <p:sp>
        <p:nvSpPr>
          <p:cNvPr id="31747" name="Rectangle 5" descr="Large confetti">
            <a:extLst>
              <a:ext uri="{FF2B5EF4-FFF2-40B4-BE49-F238E27FC236}">
                <a16:creationId xmlns:a16="http://schemas.microsoft.com/office/drawing/2014/main" id="{33AF3578-FA56-4B98-80E7-61C3C21AA64E}"/>
              </a:ext>
            </a:extLst>
          </p:cNvPr>
          <p:cNvSpPr>
            <a:spLocks noChangeArrowheads="1"/>
          </p:cNvSpPr>
          <p:nvPr/>
        </p:nvSpPr>
        <p:spPr bwMode="auto">
          <a:xfrm>
            <a:off x="2051050" y="981075"/>
            <a:ext cx="4448175" cy="4730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r>
              <a:rPr kumimoji="1" lang="zh-CN" altLang="en-US" sz="2500" b="1">
                <a:solidFill>
                  <a:srgbClr val="660033"/>
                </a:solidFill>
              </a:rPr>
              <a:t>表</a:t>
            </a:r>
            <a:r>
              <a:rPr kumimoji="1" lang="en-US" altLang="zh-CN" sz="2500" b="1">
                <a:solidFill>
                  <a:srgbClr val="660033"/>
                </a:solidFill>
              </a:rPr>
              <a:t>7.1   T-SQL</a:t>
            </a:r>
            <a:r>
              <a:rPr kumimoji="1" lang="zh-CN" altLang="en-US" sz="2500" b="1">
                <a:solidFill>
                  <a:srgbClr val="660033"/>
                </a:solidFill>
              </a:rPr>
              <a:t>常用的全局变量</a:t>
            </a:r>
            <a:r>
              <a:rPr kumimoji="1" lang="zh-CN" altLang="en-US" b="1"/>
              <a:t> </a:t>
            </a:r>
          </a:p>
        </p:txBody>
      </p:sp>
      <p:graphicFrame>
        <p:nvGraphicFramePr>
          <p:cNvPr id="926844" name="Group 124">
            <a:extLst>
              <a:ext uri="{FF2B5EF4-FFF2-40B4-BE49-F238E27FC236}">
                <a16:creationId xmlns:a16="http://schemas.microsoft.com/office/drawing/2014/main" id="{661DD21A-0A00-4AA8-B047-A37BAD87B631}"/>
              </a:ext>
            </a:extLst>
          </p:cNvPr>
          <p:cNvGraphicFramePr>
            <a:graphicFrameLocks noGrp="1"/>
          </p:cNvGraphicFramePr>
          <p:nvPr/>
        </p:nvGraphicFramePr>
        <p:xfrm>
          <a:off x="88900" y="1484313"/>
          <a:ext cx="8964613" cy="4608515"/>
        </p:xfrm>
        <a:graphic>
          <a:graphicData uri="http://schemas.openxmlformats.org/drawingml/2006/table">
            <a:tbl>
              <a:tblPr/>
              <a:tblGrid>
                <a:gridCol w="2763838">
                  <a:extLst>
                    <a:ext uri="{9D8B030D-6E8A-4147-A177-3AD203B41FA5}">
                      <a16:colId xmlns:a16="http://schemas.microsoft.com/office/drawing/2014/main" val="2544030327"/>
                    </a:ext>
                  </a:extLst>
                </a:gridCol>
                <a:gridCol w="6200775">
                  <a:extLst>
                    <a:ext uri="{9D8B030D-6E8A-4147-A177-3AD203B41FA5}">
                      <a16:colId xmlns:a16="http://schemas.microsoft.com/office/drawing/2014/main" val="2299041528"/>
                    </a:ext>
                  </a:extLst>
                </a:gridCol>
              </a:tblGrid>
              <a:tr h="614363">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名  称</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功能说明</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081641451"/>
                  </a:ext>
                </a:extLst>
              </a:tr>
              <a:tr h="431800">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@@ERROR</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返回上一条</a:t>
                      </a: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T-SQL</a:t>
                      </a: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语句执行后的错误号，如无错误则返回</a:t>
                      </a: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691144970"/>
                  </a:ext>
                </a:extLst>
              </a:tr>
              <a:tr h="433388">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@@ROWCOUNT</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返回上一条</a:t>
                      </a: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T-SQL</a:t>
                      </a: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语句影响的数据行数</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55631992"/>
                  </a:ext>
                </a:extLst>
              </a:tr>
              <a:tr h="698500">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rPr>
                        <a:t>@@IDENTITY</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返回最后插入的标识值，作为最后</a:t>
                      </a: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INSERT</a:t>
                      </a: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或者</a:t>
                      </a: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SELECT INTO</a:t>
                      </a: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语句的结果</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098252049"/>
                  </a:ext>
                </a:extLst>
              </a:tr>
              <a:tr h="700088">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@@FETCH_STATUS</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和</a:t>
                      </a: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FETCH</a:t>
                      </a: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配合使用。返回</a:t>
                      </a: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0</a:t>
                      </a: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表示</a:t>
                      </a: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FETCH</a:t>
                      </a: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有效，</a:t>
                      </a: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a:t>
                      </a: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表示超出结果集，</a:t>
                      </a: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-2</a:t>
                      </a: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表示不存在该行</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964970080"/>
                  </a:ext>
                </a:extLst>
              </a:tr>
              <a:tr h="433388">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@@TRANCOUNT</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返回活动事务的数量</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226763837"/>
                  </a:ext>
                </a:extLst>
              </a:tr>
              <a:tr h="431800">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@@CONNECTIONS</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返回当前服务器连接的数目</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254346418"/>
                  </a:ext>
                </a:extLst>
              </a:tr>
              <a:tr h="433388">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@@SERVICENAME</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返回正在运行</a:t>
                      </a: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SQL Server</a:t>
                      </a: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服务器所使用的登录表键名</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565201087"/>
                  </a:ext>
                </a:extLst>
              </a:tr>
              <a:tr h="431800">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@@SERVERNAME</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rgbClr val="393939"/>
                          </a:solidFill>
                          <a:effectLst/>
                          <a:latin typeface="Verdana" panose="020B0604030504040204" pitchFamily="34" charset="0"/>
                          <a:ea typeface="宋体" panose="02010600030101010101" pitchFamily="2" charset="-122"/>
                          <a:cs typeface="Times New Roman" panose="02020603050405020304" pitchFamily="18" charset="0"/>
                        </a:rPr>
                        <a:t>返回脚本正在运行的本地服务器的名字</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18561458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21348"/>
    </mc:Choice>
    <mc:Fallback xmlns="">
      <p:transition spd="slow" advTm="21348"/>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2" name="Rectangle 4">
            <a:extLst>
              <a:ext uri="{FF2B5EF4-FFF2-40B4-BE49-F238E27FC236}">
                <a16:creationId xmlns:a16="http://schemas.microsoft.com/office/drawing/2014/main" id="{DCB413EA-6691-480A-A7A6-3219D35F6B36}"/>
              </a:ext>
            </a:extLst>
          </p:cNvPr>
          <p:cNvSpPr>
            <a:spLocks noChangeArrowheads="1"/>
          </p:cNvSpPr>
          <p:nvPr/>
        </p:nvSpPr>
        <p:spPr bwMode="auto">
          <a:xfrm>
            <a:off x="468313" y="476250"/>
            <a:ext cx="8675687" cy="59055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05000"/>
              </a:lnSpc>
              <a:buClr>
                <a:schemeClr val="folHlink"/>
              </a:buClr>
              <a:buSzPct val="60000"/>
              <a:buFont typeface="Wingdings" panose="05000000000000000000" pitchFamily="2" charset="2"/>
              <a:buNone/>
            </a:pPr>
            <a:r>
              <a:rPr lang="zh-CN" altLang="en-US" sz="2600" b="1">
                <a:solidFill>
                  <a:srgbClr val="660033"/>
                </a:solidFill>
                <a:latin typeface="黑体" panose="02010609060101010101" pitchFamily="49" charset="-122"/>
                <a:ea typeface="黑体" panose="02010609060101010101" pitchFamily="49" charset="-122"/>
              </a:rPr>
              <a:t>例</a:t>
            </a:r>
            <a:r>
              <a:rPr lang="en-US" altLang="zh-CN" sz="2600" b="1">
                <a:solidFill>
                  <a:srgbClr val="660033"/>
                </a:solidFill>
                <a:latin typeface="黑体" panose="02010609060101010101" pitchFamily="49" charset="-122"/>
                <a:ea typeface="黑体" panose="02010609060101010101" pitchFamily="49" charset="-122"/>
              </a:rPr>
              <a:t>4.</a:t>
            </a:r>
            <a:r>
              <a:rPr lang="en-US" altLang="zh-CN" sz="2600" b="1">
                <a:latin typeface="黑体" panose="02010609060101010101" pitchFamily="49" charset="-122"/>
                <a:ea typeface="黑体" panose="02010609060101010101" pitchFamily="49" charset="-122"/>
              </a:rPr>
              <a:t> </a:t>
            </a:r>
            <a:r>
              <a:rPr lang="zh-CN" altLang="en-US" sz="2600" b="1">
                <a:latin typeface="黑体" panose="02010609060101010101" pitchFamily="49" charset="-122"/>
                <a:ea typeface="黑体" panose="02010609060101010101" pitchFamily="49" charset="-122"/>
              </a:rPr>
              <a:t>查询和“王丽丽”在同一个班的女同学的信息。</a:t>
            </a:r>
          </a:p>
          <a:p>
            <a:pPr eaLnBrk="1" hangingPunct="1">
              <a:lnSpc>
                <a:spcPct val="10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p>
          <a:p>
            <a:pPr eaLnBrk="1" hangingPunct="1">
              <a:lnSpc>
                <a:spcPct val="10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USE JXGL              </a:t>
            </a:r>
            <a:r>
              <a:rPr lang="en-US" altLang="zh-CN" sz="2400" b="1">
                <a:solidFill>
                  <a:srgbClr val="006666"/>
                </a:solidFill>
                <a:latin typeface="楷体_GB2312" pitchFamily="49" charset="-122"/>
              </a:rPr>
              <a:t>--</a:t>
            </a:r>
            <a:r>
              <a:rPr lang="zh-CN" altLang="en-US" sz="2400" b="1">
                <a:solidFill>
                  <a:srgbClr val="006666"/>
                </a:solidFill>
                <a:latin typeface="楷体_GB2312" pitchFamily="49" charset="-122"/>
              </a:rPr>
              <a:t>打开</a:t>
            </a:r>
            <a:r>
              <a:rPr lang="en-US" altLang="zh-CN" sz="2400" b="1">
                <a:solidFill>
                  <a:srgbClr val="006666"/>
                </a:solidFill>
                <a:latin typeface="楷体_GB2312" pitchFamily="49" charset="-122"/>
              </a:rPr>
              <a:t>JXGL</a:t>
            </a:r>
            <a:r>
              <a:rPr lang="zh-CN" altLang="en-US" sz="2400" b="1">
                <a:solidFill>
                  <a:srgbClr val="006666"/>
                </a:solidFill>
                <a:latin typeface="楷体_GB2312" pitchFamily="49" charset="-122"/>
              </a:rPr>
              <a:t>数据库</a:t>
            </a:r>
          </a:p>
          <a:p>
            <a:pPr eaLnBrk="1" hangingPunct="1">
              <a:lnSpc>
                <a:spcPct val="105000"/>
              </a:lnSpc>
              <a:buClr>
                <a:schemeClr val="folHlink"/>
              </a:buClr>
              <a:buSzPct val="60000"/>
              <a:buFont typeface="Wingdings" panose="05000000000000000000" pitchFamily="2" charset="2"/>
              <a:buNone/>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GO</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DECLARE @sex CHAR(2) ,@classl CHAR(6) </a:t>
            </a:r>
            <a:r>
              <a:rPr lang="en-US" altLang="zh-CN" sz="2000" b="1">
                <a:solidFill>
                  <a:srgbClr val="006666"/>
                </a:solidFill>
                <a:latin typeface="楷体_GB2312" pitchFamily="49" charset="-122"/>
              </a:rPr>
              <a:t>--</a:t>
            </a:r>
            <a:r>
              <a:rPr lang="zh-CN" altLang="en-US" sz="2000" b="1">
                <a:solidFill>
                  <a:srgbClr val="006666"/>
                </a:solidFill>
                <a:latin typeface="楷体_GB2312" pitchFamily="49" charset="-122"/>
              </a:rPr>
              <a:t>声明局部变量</a:t>
            </a:r>
          </a:p>
          <a:p>
            <a:pPr eaLnBrk="1" hangingPunct="1">
              <a:lnSpc>
                <a:spcPct val="105000"/>
              </a:lnSpc>
              <a:buClr>
                <a:schemeClr val="folHlink"/>
              </a:buClr>
              <a:buSzPct val="60000"/>
              <a:buFont typeface="Wingdings" panose="05000000000000000000" pitchFamily="2" charset="2"/>
              <a:buNone/>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SET @sex = '</a:t>
            </a:r>
            <a:r>
              <a:rPr lang="zh-CN" altLang="en-US" sz="2400" b="1">
                <a:latin typeface="黑体" panose="02010609060101010101" pitchFamily="49" charset="-122"/>
                <a:ea typeface="黑体" panose="02010609060101010101" pitchFamily="49" charset="-122"/>
              </a:rPr>
              <a:t>女</a:t>
            </a:r>
            <a:r>
              <a:rPr lang="en-US" altLang="zh-CN" sz="2400" b="1">
                <a:latin typeface="黑体" panose="02010609060101010101" pitchFamily="49" charset="-122"/>
                <a:ea typeface="黑体" panose="02010609060101010101" pitchFamily="49" charset="-122"/>
              </a:rPr>
              <a:t>‘</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SELECT </a:t>
            </a:r>
            <a:r>
              <a:rPr lang="en-US" altLang="zh-CN" sz="2400" b="1"/>
              <a:t>@classl</a:t>
            </a:r>
            <a:r>
              <a:rPr lang="en-US" altLang="zh-CN" sz="2400"/>
              <a:t> =</a:t>
            </a:r>
            <a:r>
              <a:rPr lang="en-US" altLang="zh-CN" sz="2400" b="1">
                <a:latin typeface="黑体" panose="02010609060101010101" pitchFamily="49" charset="-122"/>
                <a:ea typeface="黑体" panose="02010609060101010101" pitchFamily="49" charset="-122"/>
              </a:rPr>
              <a:t>CLASS FROM S WHERE SNAME=‘</a:t>
            </a:r>
            <a:r>
              <a:rPr lang="zh-CN" altLang="en-US" sz="2400" b="1">
                <a:latin typeface="黑体" panose="02010609060101010101" pitchFamily="49" charset="-122"/>
                <a:ea typeface="黑体" panose="02010609060101010101" pitchFamily="49" charset="-122"/>
              </a:rPr>
              <a:t>王丽丽</a:t>
            </a:r>
            <a:r>
              <a:rPr lang="en-US" altLang="zh-CN" sz="2400" b="1">
                <a:latin typeface="黑体" panose="02010609060101010101" pitchFamily="49" charset="-122"/>
                <a:ea typeface="黑体" panose="02010609060101010101" pitchFamily="49" charset="-122"/>
              </a:rPr>
              <a:t>’</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a:t>
            </a:r>
            <a:r>
              <a:rPr lang="en-US" altLang="zh-CN" sz="2400" b="1">
                <a:solidFill>
                  <a:srgbClr val="006666"/>
                </a:solidFill>
                <a:latin typeface="楷体_GB2312" pitchFamily="49" charset="-122"/>
              </a:rPr>
              <a:t>--</a:t>
            </a:r>
            <a:r>
              <a:rPr lang="zh-CN" altLang="en-US" sz="2400" b="1">
                <a:solidFill>
                  <a:srgbClr val="006666"/>
                </a:solidFill>
                <a:latin typeface="楷体_GB2312" pitchFamily="49" charset="-122"/>
              </a:rPr>
              <a:t>根据局部变量值进行查询</a:t>
            </a:r>
          </a:p>
          <a:p>
            <a:pPr eaLnBrk="1" hangingPunct="1">
              <a:lnSpc>
                <a:spcPct val="105000"/>
              </a:lnSpc>
              <a:buClr>
                <a:schemeClr val="folHlink"/>
              </a:buClr>
              <a:buSzPct val="60000"/>
              <a:buFont typeface="Wingdings" panose="05000000000000000000" pitchFamily="2" charset="2"/>
              <a:buNone/>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SELECT S# AS </a:t>
            </a:r>
            <a:r>
              <a:rPr lang="zh-CN" altLang="en-US" sz="2400" b="1">
                <a:latin typeface="黑体" panose="02010609060101010101" pitchFamily="49" charset="-122"/>
                <a:ea typeface="黑体" panose="02010609060101010101" pitchFamily="49" charset="-122"/>
              </a:rPr>
              <a:t>学号</a:t>
            </a:r>
            <a:r>
              <a:rPr lang="en-US" altLang="zh-CN" sz="2400" b="1">
                <a:latin typeface="黑体" panose="02010609060101010101" pitchFamily="49" charset="-122"/>
                <a:ea typeface="黑体" panose="02010609060101010101" pitchFamily="49" charset="-122"/>
              </a:rPr>
              <a:t>, SNAME AS </a:t>
            </a:r>
            <a:r>
              <a:rPr lang="zh-CN" altLang="en-US" sz="2400" b="1">
                <a:latin typeface="黑体" panose="02010609060101010101" pitchFamily="49" charset="-122"/>
                <a:ea typeface="黑体" panose="02010609060101010101" pitchFamily="49" charset="-122"/>
              </a:rPr>
              <a:t>姓名</a:t>
            </a:r>
            <a:r>
              <a:rPr lang="en-US" altLang="zh-CN" sz="2400" b="1">
                <a:latin typeface="黑体" panose="02010609060101010101" pitchFamily="49" charset="-122"/>
                <a:ea typeface="黑体" panose="02010609060101010101" pitchFamily="49" charset="-122"/>
              </a:rPr>
              <a:t>,</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SBIRTHIN AS </a:t>
            </a:r>
            <a:r>
              <a:rPr lang="zh-CN" altLang="en-US" sz="2400" b="1">
                <a:latin typeface="黑体" panose="02010609060101010101" pitchFamily="49" charset="-122"/>
                <a:ea typeface="黑体" panose="02010609060101010101" pitchFamily="49" charset="-122"/>
              </a:rPr>
              <a:t>出生年月</a:t>
            </a:r>
            <a:r>
              <a:rPr lang="en-US" altLang="zh-CN" sz="2400" b="1">
                <a:latin typeface="黑体" panose="02010609060101010101" pitchFamily="49" charset="-122"/>
                <a:ea typeface="黑体" panose="02010609060101010101" pitchFamily="49" charset="-122"/>
              </a:rPr>
              <a:t>, PLACEOFB AS </a:t>
            </a:r>
            <a:r>
              <a:rPr lang="zh-CN" altLang="en-US" sz="2400" b="1">
                <a:latin typeface="黑体" panose="02010609060101010101" pitchFamily="49" charset="-122"/>
                <a:ea typeface="黑体" panose="02010609060101010101" pitchFamily="49" charset="-122"/>
              </a:rPr>
              <a:t>籍贯</a:t>
            </a:r>
            <a:r>
              <a:rPr lang="en-US" altLang="zh-CN" sz="2400" b="1">
                <a:latin typeface="黑体" panose="02010609060101010101" pitchFamily="49" charset="-122"/>
                <a:ea typeface="黑体" panose="02010609060101010101" pitchFamily="49" charset="-122"/>
              </a:rPr>
              <a:t>, </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SCODE# AS </a:t>
            </a:r>
            <a:r>
              <a:rPr lang="zh-CN" altLang="en-US" sz="2400" b="1">
                <a:latin typeface="黑体" panose="02010609060101010101" pitchFamily="49" charset="-122"/>
                <a:ea typeface="黑体" panose="02010609060101010101" pitchFamily="49" charset="-122"/>
              </a:rPr>
              <a:t>专业编号</a:t>
            </a:r>
            <a:r>
              <a:rPr lang="en-US" altLang="zh-CN" sz="2400" b="1">
                <a:latin typeface="黑体" panose="02010609060101010101" pitchFamily="49" charset="-122"/>
                <a:ea typeface="黑体" panose="02010609060101010101" pitchFamily="49" charset="-122"/>
              </a:rPr>
              <a:t>, CLASS AS </a:t>
            </a:r>
            <a:r>
              <a:rPr lang="zh-CN" altLang="en-US" sz="2400" b="1">
                <a:latin typeface="黑体" panose="02010609060101010101" pitchFamily="49" charset="-122"/>
                <a:ea typeface="黑体" panose="02010609060101010101" pitchFamily="49" charset="-122"/>
              </a:rPr>
              <a:t>班级</a:t>
            </a:r>
          </a:p>
          <a:p>
            <a:pPr eaLnBrk="1" hangingPunct="1">
              <a:lnSpc>
                <a:spcPct val="105000"/>
              </a:lnSpc>
              <a:buClr>
                <a:schemeClr val="folHlink"/>
              </a:buClr>
              <a:buSzPct val="60000"/>
              <a:buFont typeface="Wingdings" panose="05000000000000000000" pitchFamily="2" charset="2"/>
              <a:buNone/>
            </a:pPr>
            <a:r>
              <a:rPr lang="zh-CN" altLang="en-US" sz="24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FROM   S</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WHERE  SSEX = @sex AND CLASS=@classl</a:t>
            </a:r>
          </a:p>
          <a:p>
            <a:pPr eaLnBrk="1" hangingPunct="1">
              <a:lnSpc>
                <a:spcPct val="105000"/>
              </a:lnSpc>
              <a:buClr>
                <a:schemeClr val="folHlink"/>
              </a:buClr>
              <a:buSzPct val="60000"/>
              <a:buFont typeface="Wingdings" panose="05000000000000000000" pitchFamily="2" charset="2"/>
              <a:buNone/>
            </a:pPr>
            <a:r>
              <a:rPr lang="en-US" altLang="zh-CN" sz="2400" b="1">
                <a:latin typeface="黑体" panose="02010609060101010101" pitchFamily="49" charset="-122"/>
                <a:ea typeface="黑体" panose="02010609060101010101" pitchFamily="49" charset="-122"/>
              </a:rPr>
              <a:t>   GO </a:t>
            </a:r>
            <a:endParaRPr lang="en-US" altLang="zh-CN" sz="2400" b="1">
              <a:solidFill>
                <a:srgbClr val="0000FF"/>
              </a:solidFill>
              <a:latin typeface="黑体" panose="02010609060101010101" pitchFamily="49" charset="-122"/>
              <a:ea typeface="黑体" panose="02010609060101010101" pitchFamily="49" charset="-122"/>
            </a:endParaRPr>
          </a:p>
        </p:txBody>
      </p:sp>
      <p:sp>
        <p:nvSpPr>
          <p:cNvPr id="144387" name="Rectangle 3">
            <a:extLst>
              <a:ext uri="{FF2B5EF4-FFF2-40B4-BE49-F238E27FC236}">
                <a16:creationId xmlns:a16="http://schemas.microsoft.com/office/drawing/2014/main" id="{F6FB4A96-229C-41EE-B4F6-01BB465137BF}"/>
              </a:ext>
            </a:extLst>
          </p:cNvPr>
          <p:cNvSpPr>
            <a:spLocks noChangeArrowheads="1"/>
          </p:cNvSpPr>
          <p:nvPr/>
        </p:nvSpPr>
        <p:spPr bwMode="auto">
          <a:xfrm>
            <a:off x="900113" y="6092825"/>
            <a:ext cx="2776537" cy="4762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wrap="none">
            <a:spAutoFit/>
          </a:bodyPr>
          <a:lstStyle/>
          <a:p>
            <a:pPr>
              <a:lnSpc>
                <a:spcPct val="105000"/>
              </a:lnSpc>
              <a:buClr>
                <a:schemeClr val="folHlink"/>
              </a:buClr>
              <a:buSzPct val="60000"/>
              <a:buFont typeface="Wingdings" panose="05000000000000000000" pitchFamily="2" charset="2"/>
              <a:buNone/>
            </a:pPr>
            <a:r>
              <a:rPr lang="en-US" altLang="zh-CN" sz="2400" b="1">
                <a:solidFill>
                  <a:srgbClr val="0000FF"/>
                </a:solidFill>
              </a:rPr>
              <a:t>PRINT  (@@error)</a:t>
            </a:r>
          </a:p>
        </p:txBody>
      </p:sp>
      <p:pic>
        <p:nvPicPr>
          <p:cNvPr id="144389" name="Picture 5">
            <a:extLst>
              <a:ext uri="{FF2B5EF4-FFF2-40B4-BE49-F238E27FC236}">
                <a16:creationId xmlns:a16="http://schemas.microsoft.com/office/drawing/2014/main" id="{A5FD7280-4A63-4B90-B910-CBC75823B6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538" y="3733800"/>
            <a:ext cx="4716462" cy="31242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674"/>
    </mc:Choice>
    <mc:Fallback xmlns="">
      <p:transition spd="slow" advTm="10674"/>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923652">
                                            <p:txEl>
                                              <p:pRg st="4" end="4"/>
                                            </p:txEl>
                                          </p:spTgt>
                                        </p:tgtEl>
                                        <p:attrNameLst>
                                          <p:attrName>style.visibility</p:attrName>
                                        </p:attrNameLst>
                                      </p:cBhvr>
                                      <p:to>
                                        <p:strVal val="visible"/>
                                      </p:to>
                                    </p:set>
                                    <p:animEffect transition="in" filter="dissolve">
                                      <p:cBhvr>
                                        <p:cTn id="7" dur="500"/>
                                        <p:tgtEl>
                                          <p:spTgt spid="923652">
                                            <p:txEl>
                                              <p:pRg st="4" end="4"/>
                                            </p:txEl>
                                          </p:spTgt>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923652">
                                            <p:txEl>
                                              <p:pRg st="5" end="5"/>
                                            </p:txEl>
                                          </p:spTgt>
                                        </p:tgtEl>
                                        <p:attrNameLst>
                                          <p:attrName>style.visibility</p:attrName>
                                        </p:attrNameLst>
                                      </p:cBhvr>
                                      <p:to>
                                        <p:strVal val="visible"/>
                                      </p:to>
                                    </p:set>
                                    <p:animEffect transition="in" filter="dissolve">
                                      <p:cBhvr>
                                        <p:cTn id="11" dur="500"/>
                                        <p:tgtEl>
                                          <p:spTgt spid="923652">
                                            <p:txEl>
                                              <p:pRg st="5" end="5"/>
                                            </p:txEl>
                                          </p:spTgt>
                                        </p:tgtEl>
                                      </p:cBhvr>
                                    </p:animEffect>
                                  </p:childTnLst>
                                </p:cTn>
                              </p:par>
                            </p:childTnLst>
                          </p:cTn>
                        </p:par>
                        <p:par>
                          <p:cTn id="12" fill="hold" nodeType="afterGroup">
                            <p:stCondLst>
                              <p:cond delay="1000"/>
                            </p:stCondLst>
                            <p:childTnLst>
                              <p:par>
                                <p:cTn id="13" presetID="9" presetClass="entr" presetSubtype="0" fill="hold" nodeType="afterEffect">
                                  <p:stCondLst>
                                    <p:cond delay="0"/>
                                  </p:stCondLst>
                                  <p:childTnLst>
                                    <p:set>
                                      <p:cBhvr>
                                        <p:cTn id="14" dur="1" fill="hold">
                                          <p:stCondLst>
                                            <p:cond delay="0"/>
                                          </p:stCondLst>
                                        </p:cTn>
                                        <p:tgtEl>
                                          <p:spTgt spid="923652">
                                            <p:txEl>
                                              <p:pRg st="6" end="6"/>
                                            </p:txEl>
                                          </p:spTgt>
                                        </p:tgtEl>
                                        <p:attrNameLst>
                                          <p:attrName>style.visibility</p:attrName>
                                        </p:attrNameLst>
                                      </p:cBhvr>
                                      <p:to>
                                        <p:strVal val="visible"/>
                                      </p:to>
                                    </p:set>
                                    <p:animEffect transition="in" filter="dissolve">
                                      <p:cBhvr>
                                        <p:cTn id="15" dur="500"/>
                                        <p:tgtEl>
                                          <p:spTgt spid="923652">
                                            <p:txEl>
                                              <p:pRg st="6" end="6"/>
                                            </p:txEl>
                                          </p:spTgt>
                                        </p:tgtEl>
                                      </p:cBhvr>
                                    </p:animEffect>
                                  </p:childTnLst>
                                </p:cTn>
                              </p:par>
                            </p:childTnLst>
                          </p:cTn>
                        </p:par>
                        <p:par>
                          <p:cTn id="16" fill="hold" nodeType="afterGroup">
                            <p:stCondLst>
                              <p:cond delay="1500"/>
                            </p:stCondLst>
                            <p:childTnLst>
                              <p:par>
                                <p:cTn id="17" presetID="9" presetClass="entr" presetSubtype="0" fill="hold" nodeType="afterEffect">
                                  <p:stCondLst>
                                    <p:cond delay="0"/>
                                  </p:stCondLst>
                                  <p:childTnLst>
                                    <p:set>
                                      <p:cBhvr>
                                        <p:cTn id="18" dur="1" fill="hold">
                                          <p:stCondLst>
                                            <p:cond delay="0"/>
                                          </p:stCondLst>
                                        </p:cTn>
                                        <p:tgtEl>
                                          <p:spTgt spid="923652">
                                            <p:txEl>
                                              <p:pRg st="7" end="7"/>
                                            </p:txEl>
                                          </p:spTgt>
                                        </p:tgtEl>
                                        <p:attrNameLst>
                                          <p:attrName>style.visibility</p:attrName>
                                        </p:attrNameLst>
                                      </p:cBhvr>
                                      <p:to>
                                        <p:strVal val="visible"/>
                                      </p:to>
                                    </p:set>
                                    <p:animEffect transition="in" filter="dissolve">
                                      <p:cBhvr>
                                        <p:cTn id="19" dur="500"/>
                                        <p:tgtEl>
                                          <p:spTgt spid="923652">
                                            <p:txEl>
                                              <p:pRg st="7" end="7"/>
                                            </p:txEl>
                                          </p:spTgt>
                                        </p:tgtEl>
                                      </p:cBhvr>
                                    </p:animEffect>
                                  </p:childTnLst>
                                </p:cTn>
                              </p:par>
                            </p:childTnLst>
                          </p:cTn>
                        </p:par>
                        <p:par>
                          <p:cTn id="20" fill="hold" nodeType="afterGroup">
                            <p:stCondLst>
                              <p:cond delay="2000"/>
                            </p:stCondLst>
                            <p:childTnLst>
                              <p:par>
                                <p:cTn id="21" presetID="9" presetClass="entr" presetSubtype="0" fill="hold" nodeType="afterEffect">
                                  <p:stCondLst>
                                    <p:cond delay="0"/>
                                  </p:stCondLst>
                                  <p:childTnLst>
                                    <p:set>
                                      <p:cBhvr>
                                        <p:cTn id="22" dur="1" fill="hold">
                                          <p:stCondLst>
                                            <p:cond delay="0"/>
                                          </p:stCondLst>
                                        </p:cTn>
                                        <p:tgtEl>
                                          <p:spTgt spid="923652">
                                            <p:txEl>
                                              <p:pRg st="8" end="8"/>
                                            </p:txEl>
                                          </p:spTgt>
                                        </p:tgtEl>
                                        <p:attrNameLst>
                                          <p:attrName>style.visibility</p:attrName>
                                        </p:attrNameLst>
                                      </p:cBhvr>
                                      <p:to>
                                        <p:strVal val="visible"/>
                                      </p:to>
                                    </p:set>
                                    <p:animEffect transition="in" filter="dissolve">
                                      <p:cBhvr>
                                        <p:cTn id="23" dur="500"/>
                                        <p:tgtEl>
                                          <p:spTgt spid="923652">
                                            <p:txEl>
                                              <p:pRg st="8" end="8"/>
                                            </p:txEl>
                                          </p:spTgt>
                                        </p:tgtEl>
                                      </p:cBhvr>
                                    </p:animEffect>
                                  </p:childTnLst>
                                </p:cTn>
                              </p:par>
                            </p:childTnLst>
                          </p:cTn>
                        </p:par>
                        <p:par>
                          <p:cTn id="24" fill="hold" nodeType="afterGroup">
                            <p:stCondLst>
                              <p:cond delay="2500"/>
                            </p:stCondLst>
                            <p:childTnLst>
                              <p:par>
                                <p:cTn id="25" presetID="9" presetClass="entr" presetSubtype="0" fill="hold" nodeType="afterEffect">
                                  <p:stCondLst>
                                    <p:cond delay="0"/>
                                  </p:stCondLst>
                                  <p:childTnLst>
                                    <p:set>
                                      <p:cBhvr>
                                        <p:cTn id="26" dur="1" fill="hold">
                                          <p:stCondLst>
                                            <p:cond delay="0"/>
                                          </p:stCondLst>
                                        </p:cTn>
                                        <p:tgtEl>
                                          <p:spTgt spid="923652">
                                            <p:txEl>
                                              <p:pRg st="9" end="9"/>
                                            </p:txEl>
                                          </p:spTgt>
                                        </p:tgtEl>
                                        <p:attrNameLst>
                                          <p:attrName>style.visibility</p:attrName>
                                        </p:attrNameLst>
                                      </p:cBhvr>
                                      <p:to>
                                        <p:strVal val="visible"/>
                                      </p:to>
                                    </p:set>
                                    <p:animEffect transition="in" filter="dissolve">
                                      <p:cBhvr>
                                        <p:cTn id="27" dur="500"/>
                                        <p:tgtEl>
                                          <p:spTgt spid="923652">
                                            <p:txEl>
                                              <p:pRg st="9" end="9"/>
                                            </p:txEl>
                                          </p:spTgt>
                                        </p:tgtEl>
                                      </p:cBhvr>
                                    </p:animEffect>
                                  </p:childTnLst>
                                </p:cTn>
                              </p:par>
                            </p:childTnLst>
                          </p:cTn>
                        </p:par>
                        <p:par>
                          <p:cTn id="28" fill="hold" nodeType="afterGroup">
                            <p:stCondLst>
                              <p:cond delay="3000"/>
                            </p:stCondLst>
                            <p:childTnLst>
                              <p:par>
                                <p:cTn id="29" presetID="9" presetClass="entr" presetSubtype="0" fill="hold" nodeType="afterEffect">
                                  <p:stCondLst>
                                    <p:cond delay="0"/>
                                  </p:stCondLst>
                                  <p:childTnLst>
                                    <p:set>
                                      <p:cBhvr>
                                        <p:cTn id="30" dur="1" fill="hold">
                                          <p:stCondLst>
                                            <p:cond delay="0"/>
                                          </p:stCondLst>
                                        </p:cTn>
                                        <p:tgtEl>
                                          <p:spTgt spid="923652">
                                            <p:txEl>
                                              <p:pRg st="10" end="10"/>
                                            </p:txEl>
                                          </p:spTgt>
                                        </p:tgtEl>
                                        <p:attrNameLst>
                                          <p:attrName>style.visibility</p:attrName>
                                        </p:attrNameLst>
                                      </p:cBhvr>
                                      <p:to>
                                        <p:strVal val="visible"/>
                                      </p:to>
                                    </p:set>
                                    <p:animEffect transition="in" filter="dissolve">
                                      <p:cBhvr>
                                        <p:cTn id="31" dur="500"/>
                                        <p:tgtEl>
                                          <p:spTgt spid="923652">
                                            <p:txEl>
                                              <p:pRg st="10" end="10"/>
                                            </p:txEl>
                                          </p:spTgt>
                                        </p:tgtEl>
                                      </p:cBhvr>
                                    </p:animEffect>
                                  </p:childTnLst>
                                </p:cTn>
                              </p:par>
                            </p:childTnLst>
                          </p:cTn>
                        </p:par>
                        <p:par>
                          <p:cTn id="32" fill="hold" nodeType="afterGroup">
                            <p:stCondLst>
                              <p:cond delay="3500"/>
                            </p:stCondLst>
                            <p:childTnLst>
                              <p:par>
                                <p:cTn id="33" presetID="9" presetClass="entr" presetSubtype="0" fill="hold" nodeType="afterEffect">
                                  <p:stCondLst>
                                    <p:cond delay="0"/>
                                  </p:stCondLst>
                                  <p:childTnLst>
                                    <p:set>
                                      <p:cBhvr>
                                        <p:cTn id="34" dur="1" fill="hold">
                                          <p:stCondLst>
                                            <p:cond delay="0"/>
                                          </p:stCondLst>
                                        </p:cTn>
                                        <p:tgtEl>
                                          <p:spTgt spid="923652">
                                            <p:txEl>
                                              <p:pRg st="11" end="11"/>
                                            </p:txEl>
                                          </p:spTgt>
                                        </p:tgtEl>
                                        <p:attrNameLst>
                                          <p:attrName>style.visibility</p:attrName>
                                        </p:attrNameLst>
                                      </p:cBhvr>
                                      <p:to>
                                        <p:strVal val="visible"/>
                                      </p:to>
                                    </p:set>
                                    <p:animEffect transition="in" filter="dissolve">
                                      <p:cBhvr>
                                        <p:cTn id="35" dur="500"/>
                                        <p:tgtEl>
                                          <p:spTgt spid="923652">
                                            <p:txEl>
                                              <p:pRg st="11" end="11"/>
                                            </p:txEl>
                                          </p:spTgt>
                                        </p:tgtEl>
                                      </p:cBhvr>
                                    </p:animEffect>
                                  </p:childTnLst>
                                </p:cTn>
                              </p:par>
                            </p:childTnLst>
                          </p:cTn>
                        </p:par>
                        <p:par>
                          <p:cTn id="36" fill="hold" nodeType="afterGroup">
                            <p:stCondLst>
                              <p:cond delay="4000"/>
                            </p:stCondLst>
                            <p:childTnLst>
                              <p:par>
                                <p:cTn id="37" presetID="9" presetClass="entr" presetSubtype="0" fill="hold" nodeType="afterEffect">
                                  <p:stCondLst>
                                    <p:cond delay="0"/>
                                  </p:stCondLst>
                                  <p:childTnLst>
                                    <p:set>
                                      <p:cBhvr>
                                        <p:cTn id="38" dur="1" fill="hold">
                                          <p:stCondLst>
                                            <p:cond delay="0"/>
                                          </p:stCondLst>
                                        </p:cTn>
                                        <p:tgtEl>
                                          <p:spTgt spid="923652">
                                            <p:txEl>
                                              <p:pRg st="12" end="12"/>
                                            </p:txEl>
                                          </p:spTgt>
                                        </p:tgtEl>
                                        <p:attrNameLst>
                                          <p:attrName>style.visibility</p:attrName>
                                        </p:attrNameLst>
                                      </p:cBhvr>
                                      <p:to>
                                        <p:strVal val="visible"/>
                                      </p:to>
                                    </p:set>
                                    <p:animEffect transition="in" filter="dissolve">
                                      <p:cBhvr>
                                        <p:cTn id="39" dur="500"/>
                                        <p:tgtEl>
                                          <p:spTgt spid="923652">
                                            <p:txEl>
                                              <p:pRg st="12" end="12"/>
                                            </p:txEl>
                                          </p:spTgt>
                                        </p:tgtEl>
                                      </p:cBhvr>
                                    </p:animEffect>
                                  </p:childTnLst>
                                </p:cTn>
                              </p:par>
                            </p:childTnLst>
                          </p:cTn>
                        </p:par>
                        <p:par>
                          <p:cTn id="40" fill="hold" nodeType="afterGroup">
                            <p:stCondLst>
                              <p:cond delay="4500"/>
                            </p:stCondLst>
                            <p:childTnLst>
                              <p:par>
                                <p:cTn id="41" presetID="9" presetClass="entr" presetSubtype="0" fill="hold" nodeType="afterEffect">
                                  <p:stCondLst>
                                    <p:cond delay="0"/>
                                  </p:stCondLst>
                                  <p:childTnLst>
                                    <p:set>
                                      <p:cBhvr>
                                        <p:cTn id="42" dur="1" fill="hold">
                                          <p:stCondLst>
                                            <p:cond delay="0"/>
                                          </p:stCondLst>
                                        </p:cTn>
                                        <p:tgtEl>
                                          <p:spTgt spid="923652">
                                            <p:txEl>
                                              <p:pRg st="13" end="13"/>
                                            </p:txEl>
                                          </p:spTgt>
                                        </p:tgtEl>
                                        <p:attrNameLst>
                                          <p:attrName>style.visibility</p:attrName>
                                        </p:attrNameLst>
                                      </p:cBhvr>
                                      <p:to>
                                        <p:strVal val="visible"/>
                                      </p:to>
                                    </p:set>
                                    <p:animEffect transition="in" filter="dissolve">
                                      <p:cBhvr>
                                        <p:cTn id="43" dur="500"/>
                                        <p:tgtEl>
                                          <p:spTgt spid="923652">
                                            <p:txEl>
                                              <p:pRg st="13" end="13"/>
                                            </p:txEl>
                                          </p:spTgt>
                                        </p:tgtEl>
                                      </p:cBhvr>
                                    </p:animEffect>
                                  </p:childTnLst>
                                </p:cTn>
                              </p:par>
                            </p:childTnLst>
                          </p:cTn>
                        </p:par>
                        <p:par>
                          <p:cTn id="44" fill="hold" nodeType="afterGroup">
                            <p:stCondLst>
                              <p:cond delay="5000"/>
                            </p:stCondLst>
                            <p:childTnLst>
                              <p:par>
                                <p:cTn id="45" presetID="9" presetClass="entr" presetSubtype="0" fill="hold" nodeType="afterEffect">
                                  <p:stCondLst>
                                    <p:cond delay="0"/>
                                  </p:stCondLst>
                                  <p:childTnLst>
                                    <p:set>
                                      <p:cBhvr>
                                        <p:cTn id="46" dur="1" fill="hold">
                                          <p:stCondLst>
                                            <p:cond delay="0"/>
                                          </p:stCondLst>
                                        </p:cTn>
                                        <p:tgtEl>
                                          <p:spTgt spid="923652">
                                            <p:txEl>
                                              <p:pRg st="14" end="14"/>
                                            </p:txEl>
                                          </p:spTgt>
                                        </p:tgtEl>
                                        <p:attrNameLst>
                                          <p:attrName>style.visibility</p:attrName>
                                        </p:attrNameLst>
                                      </p:cBhvr>
                                      <p:to>
                                        <p:strVal val="visible"/>
                                      </p:to>
                                    </p:set>
                                    <p:animEffect transition="in" filter="dissolve">
                                      <p:cBhvr>
                                        <p:cTn id="47" dur="500"/>
                                        <p:tgtEl>
                                          <p:spTgt spid="923652">
                                            <p:txEl>
                                              <p:pRg st="14" end="14"/>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44387"/>
                                        </p:tgtEl>
                                        <p:attrNameLst>
                                          <p:attrName>style.visibility</p:attrName>
                                        </p:attrNameLst>
                                      </p:cBhvr>
                                      <p:to>
                                        <p:strVal val="visible"/>
                                      </p:to>
                                    </p:set>
                                    <p:animEffect transition="in" filter="wipe(left)">
                                      <p:cBhvr>
                                        <p:cTn id="52" dur="500"/>
                                        <p:tgtEl>
                                          <p:spTgt spid="144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8" name="Rectangle 4">
            <a:extLst>
              <a:ext uri="{FF2B5EF4-FFF2-40B4-BE49-F238E27FC236}">
                <a16:creationId xmlns:a16="http://schemas.microsoft.com/office/drawing/2014/main" id="{B3916552-F2AE-43F2-A415-A5C62E51D493}"/>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dirty="0">
                <a:solidFill>
                  <a:schemeClr val="tx2"/>
                </a:solidFill>
                <a:effectLst>
                  <a:outerShdw blurRad="38100" dist="38100" dir="2700000" algn="tl">
                    <a:srgbClr val="C0C0C0"/>
                  </a:outerShdw>
                </a:effectLst>
                <a:latin typeface="Tahoma" pitchFamily="34" charset="0"/>
                <a:ea typeface="幼圆" pitchFamily="49" charset="-122"/>
              </a:rPr>
              <a:t>三、表达式与运算符 </a:t>
            </a:r>
          </a:p>
        </p:txBody>
      </p:sp>
      <p:sp>
        <p:nvSpPr>
          <p:cNvPr id="927749" name="Rectangle 5">
            <a:extLst>
              <a:ext uri="{FF2B5EF4-FFF2-40B4-BE49-F238E27FC236}">
                <a16:creationId xmlns:a16="http://schemas.microsoft.com/office/drawing/2014/main" id="{79F17338-86CB-4F5D-820E-490416DD3069}"/>
              </a:ext>
            </a:extLst>
          </p:cNvPr>
          <p:cNvSpPr>
            <a:spLocks noChangeArrowheads="1"/>
          </p:cNvSpPr>
          <p:nvPr/>
        </p:nvSpPr>
        <p:spPr bwMode="auto">
          <a:xfrm>
            <a:off x="323850" y="1171575"/>
            <a:ext cx="8424863"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dirty="0">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20000"/>
              </a:lnSpc>
              <a:buClr>
                <a:schemeClr val="folHlink"/>
              </a:buClr>
              <a:buSzPct val="60000"/>
              <a:buFont typeface="Wingdings" panose="05000000000000000000" pitchFamily="2" charset="2"/>
              <a:buNone/>
            </a:pPr>
            <a:r>
              <a:rPr lang="zh-CN" altLang="en-US" sz="2800" b="1" dirty="0">
                <a:effectLst>
                  <a:outerShdw blurRad="38100" dist="38100" dir="2700000" algn="tl">
                    <a:srgbClr val="C0C0C0"/>
                  </a:outerShdw>
                </a:effectLst>
                <a:latin typeface="Tahoma" panose="020B0604030504040204" pitchFamily="34" charset="0"/>
              </a:rPr>
              <a:t>         </a:t>
            </a:r>
            <a:r>
              <a:rPr lang="en-US" altLang="zh-CN" sz="2600" b="1" dirty="0">
                <a:solidFill>
                  <a:srgbClr val="660033"/>
                </a:solidFill>
                <a:latin typeface="黑体" panose="02010609060101010101" pitchFamily="49" charset="-122"/>
                <a:ea typeface="黑体" panose="02010609060101010101" pitchFamily="49" charset="-122"/>
              </a:rPr>
              <a:t>SQL Server 2005</a:t>
            </a:r>
            <a:r>
              <a:rPr lang="zh-CN" altLang="en-US" sz="2600" b="1" dirty="0">
                <a:solidFill>
                  <a:srgbClr val="660033"/>
                </a:solidFill>
                <a:latin typeface="黑体" panose="02010609060101010101" pitchFamily="49" charset="-122"/>
                <a:ea typeface="黑体" panose="02010609060101010101" pitchFamily="49" charset="-122"/>
              </a:rPr>
              <a:t>中，运算符主要有以下六大类：</a:t>
            </a:r>
          </a:p>
          <a:p>
            <a:pPr eaLnBrk="1" hangingPunct="1">
              <a:lnSpc>
                <a:spcPct val="120000"/>
              </a:lnSpc>
              <a:buClr>
                <a:schemeClr val="folHlink"/>
              </a:buClr>
              <a:buSzPct val="60000"/>
              <a:buFont typeface="Wingdings" panose="05000000000000000000" pitchFamily="2" charset="2"/>
              <a:buNone/>
            </a:pPr>
            <a:r>
              <a:rPr lang="zh-CN" altLang="en-US" sz="2800" b="1" dirty="0">
                <a:effectLst>
                  <a:outerShdw blurRad="38100" dist="38100" dir="2700000" algn="tl">
                    <a:srgbClr val="C0C0C0"/>
                  </a:outerShdw>
                </a:effectLst>
                <a:latin typeface="Tahoma" panose="020B0604030504040204" pitchFamily="34" charset="0"/>
              </a:rPr>
              <a:t>       </a:t>
            </a:r>
            <a:r>
              <a:rPr lang="zh-CN" altLang="en-US" sz="2800" b="1" dirty="0">
                <a:solidFill>
                  <a:srgbClr val="006666"/>
                </a:solidFill>
                <a:latin typeface="楷体_GB2312" pitchFamily="49" charset="-122"/>
              </a:rPr>
              <a:t>赋值运算符</a:t>
            </a:r>
          </a:p>
          <a:p>
            <a:pPr eaLnBrk="1" hangingPunct="1">
              <a:lnSpc>
                <a:spcPct val="120000"/>
              </a:lnSpc>
              <a:buClr>
                <a:schemeClr val="folHlink"/>
              </a:buClr>
              <a:buSzPct val="60000"/>
              <a:buFont typeface="Wingdings" panose="05000000000000000000" pitchFamily="2" charset="2"/>
              <a:buNone/>
            </a:pPr>
            <a:r>
              <a:rPr lang="zh-CN" altLang="en-US" sz="2800" b="1" dirty="0">
                <a:solidFill>
                  <a:srgbClr val="006666"/>
                </a:solidFill>
                <a:latin typeface="楷体_GB2312" pitchFamily="49" charset="-122"/>
              </a:rPr>
              <a:t>       算术运算符</a:t>
            </a:r>
          </a:p>
          <a:p>
            <a:pPr eaLnBrk="1" hangingPunct="1">
              <a:lnSpc>
                <a:spcPct val="120000"/>
              </a:lnSpc>
              <a:buClr>
                <a:schemeClr val="folHlink"/>
              </a:buClr>
              <a:buSzPct val="60000"/>
              <a:buFont typeface="Wingdings" panose="05000000000000000000" pitchFamily="2" charset="2"/>
              <a:buNone/>
            </a:pPr>
            <a:r>
              <a:rPr lang="zh-CN" altLang="en-US" sz="2800" b="1" dirty="0">
                <a:solidFill>
                  <a:srgbClr val="006666"/>
                </a:solidFill>
                <a:latin typeface="楷体_GB2312" pitchFamily="49" charset="-122"/>
              </a:rPr>
              <a:t>       位运算符</a:t>
            </a:r>
          </a:p>
          <a:p>
            <a:pPr eaLnBrk="1" hangingPunct="1">
              <a:lnSpc>
                <a:spcPct val="120000"/>
              </a:lnSpc>
              <a:buClr>
                <a:schemeClr val="folHlink"/>
              </a:buClr>
              <a:buSzPct val="60000"/>
              <a:buFont typeface="Wingdings" panose="05000000000000000000" pitchFamily="2" charset="2"/>
              <a:buNone/>
            </a:pPr>
            <a:r>
              <a:rPr lang="zh-CN" altLang="en-US" sz="2800" b="1" dirty="0">
                <a:solidFill>
                  <a:srgbClr val="006666"/>
                </a:solidFill>
                <a:latin typeface="楷体_GB2312" pitchFamily="49" charset="-122"/>
              </a:rPr>
              <a:t>       比较运算符</a:t>
            </a:r>
          </a:p>
          <a:p>
            <a:pPr eaLnBrk="1" hangingPunct="1">
              <a:lnSpc>
                <a:spcPct val="120000"/>
              </a:lnSpc>
              <a:buClr>
                <a:schemeClr val="folHlink"/>
              </a:buClr>
              <a:buSzPct val="60000"/>
              <a:buFont typeface="Wingdings" panose="05000000000000000000" pitchFamily="2" charset="2"/>
              <a:buNone/>
            </a:pPr>
            <a:r>
              <a:rPr lang="zh-CN" altLang="en-US" sz="2800" b="1" dirty="0">
                <a:solidFill>
                  <a:srgbClr val="006666"/>
                </a:solidFill>
                <a:latin typeface="楷体_GB2312" pitchFamily="49" charset="-122"/>
              </a:rPr>
              <a:t>       逻辑运算符</a:t>
            </a:r>
          </a:p>
          <a:p>
            <a:pPr eaLnBrk="1" hangingPunct="1">
              <a:lnSpc>
                <a:spcPct val="120000"/>
              </a:lnSpc>
              <a:buClr>
                <a:schemeClr val="folHlink"/>
              </a:buClr>
              <a:buSzPct val="60000"/>
              <a:buFont typeface="Wingdings" panose="05000000000000000000" pitchFamily="2" charset="2"/>
              <a:buNone/>
            </a:pPr>
            <a:r>
              <a:rPr lang="zh-CN" altLang="en-US" sz="2800" b="1" dirty="0">
                <a:solidFill>
                  <a:srgbClr val="006666"/>
                </a:solidFill>
                <a:latin typeface="楷体_GB2312" pitchFamily="49" charset="-122"/>
              </a:rPr>
              <a:t>       字符串串联运算符 </a:t>
            </a:r>
          </a:p>
        </p:txBody>
      </p:sp>
    </p:spTree>
  </p:cSld>
  <p:clrMapOvr>
    <a:masterClrMapping/>
  </p:clrMapOvr>
  <mc:AlternateContent xmlns:mc="http://schemas.openxmlformats.org/markup-compatibility/2006" xmlns:p14="http://schemas.microsoft.com/office/powerpoint/2010/main">
    <mc:Choice Requires="p14">
      <p:transition spd="slow" p14:dur="2000" advTm="7375"/>
    </mc:Choice>
    <mc:Fallback xmlns="">
      <p:transition spd="slow" advTm="7375"/>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2" name="Rectangle 4">
            <a:extLst>
              <a:ext uri="{FF2B5EF4-FFF2-40B4-BE49-F238E27FC236}">
                <a16:creationId xmlns:a16="http://schemas.microsoft.com/office/drawing/2014/main" id="{C9B79839-5365-43C0-9421-E963254D2F4E}"/>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三、表达式与运算符 </a:t>
            </a:r>
          </a:p>
        </p:txBody>
      </p:sp>
      <p:sp>
        <p:nvSpPr>
          <p:cNvPr id="928773" name="Rectangle 5" descr="Large confetti">
            <a:extLst>
              <a:ext uri="{FF2B5EF4-FFF2-40B4-BE49-F238E27FC236}">
                <a16:creationId xmlns:a16="http://schemas.microsoft.com/office/drawing/2014/main" id="{49E290A9-07C8-428E-89A8-D73789424F96}"/>
              </a:ext>
            </a:extLst>
          </p:cNvPr>
          <p:cNvSpPr>
            <a:spLocks noChangeArrowheads="1"/>
          </p:cNvSpPr>
          <p:nvPr/>
        </p:nvSpPr>
        <p:spPr bwMode="auto">
          <a:xfrm>
            <a:off x="2268538" y="981075"/>
            <a:ext cx="4448175" cy="4730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r>
              <a:rPr kumimoji="1" lang="zh-CN" altLang="en-US" sz="2500" b="1">
                <a:solidFill>
                  <a:srgbClr val="660033"/>
                </a:solidFill>
              </a:rPr>
              <a:t>表</a:t>
            </a:r>
            <a:r>
              <a:rPr kumimoji="1" lang="en-US" altLang="zh-CN" sz="2500" b="1">
                <a:solidFill>
                  <a:srgbClr val="660033"/>
                </a:solidFill>
              </a:rPr>
              <a:t>7.2   T-SQL</a:t>
            </a:r>
            <a:r>
              <a:rPr kumimoji="1" lang="zh-CN" altLang="en-US" sz="2500" b="1">
                <a:solidFill>
                  <a:srgbClr val="660033"/>
                </a:solidFill>
              </a:rPr>
              <a:t>的运算符优先级</a:t>
            </a:r>
            <a:r>
              <a:rPr kumimoji="1" lang="zh-CN" altLang="en-US"/>
              <a:t> </a:t>
            </a:r>
          </a:p>
        </p:txBody>
      </p:sp>
      <p:graphicFrame>
        <p:nvGraphicFramePr>
          <p:cNvPr id="928988" name="Group 220">
            <a:extLst>
              <a:ext uri="{FF2B5EF4-FFF2-40B4-BE49-F238E27FC236}">
                <a16:creationId xmlns:a16="http://schemas.microsoft.com/office/drawing/2014/main" id="{8260293C-DB97-4FBB-AB37-4563F91EBE5F}"/>
              </a:ext>
            </a:extLst>
          </p:cNvPr>
          <p:cNvGraphicFramePr>
            <a:graphicFrameLocks noGrp="1"/>
          </p:cNvGraphicFramePr>
          <p:nvPr/>
        </p:nvGraphicFramePr>
        <p:xfrm>
          <a:off x="395288" y="1412875"/>
          <a:ext cx="8353425" cy="5129532"/>
        </p:xfrm>
        <a:graphic>
          <a:graphicData uri="http://schemas.openxmlformats.org/drawingml/2006/table">
            <a:tbl>
              <a:tblPr/>
              <a:tblGrid>
                <a:gridCol w="1027112">
                  <a:extLst>
                    <a:ext uri="{9D8B030D-6E8A-4147-A177-3AD203B41FA5}">
                      <a16:colId xmlns:a16="http://schemas.microsoft.com/office/drawing/2014/main" val="3669814591"/>
                    </a:ext>
                  </a:extLst>
                </a:gridCol>
                <a:gridCol w="2628900">
                  <a:extLst>
                    <a:ext uri="{9D8B030D-6E8A-4147-A177-3AD203B41FA5}">
                      <a16:colId xmlns:a16="http://schemas.microsoft.com/office/drawing/2014/main" val="714606438"/>
                    </a:ext>
                  </a:extLst>
                </a:gridCol>
                <a:gridCol w="4697413">
                  <a:extLst>
                    <a:ext uri="{9D8B030D-6E8A-4147-A177-3AD203B41FA5}">
                      <a16:colId xmlns:a16="http://schemas.microsoft.com/office/drawing/2014/main" val="1133392427"/>
                    </a:ext>
                  </a:extLst>
                </a:gridCol>
              </a:tblGrid>
              <a:tr h="585788">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rgbClr val="006666"/>
                          </a:solidFill>
                          <a:effectLst/>
                          <a:latin typeface="Times New Roman" panose="02020603050405020304" pitchFamily="18" charset="0"/>
                          <a:ea typeface="黑体" panose="02010609060101010101" pitchFamily="49" charset="-122"/>
                          <a:cs typeface="Times New Roman" panose="02020603050405020304" pitchFamily="18" charset="0"/>
                        </a:rPr>
                        <a:t>优先级</a:t>
                      </a:r>
                      <a:endParaRPr kumimoji="1" lang="zh-CN" altLang="en-US" sz="1800" b="0" i="0" u="none" strike="noStrike" cap="none" normalizeH="0" baseline="0">
                        <a:ln>
                          <a:noFill/>
                        </a:ln>
                        <a:solidFill>
                          <a:srgbClr val="0066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rgbClr val="006666"/>
                          </a:solidFill>
                          <a:effectLst/>
                          <a:latin typeface="Times New Roman" panose="02020603050405020304" pitchFamily="18" charset="0"/>
                          <a:ea typeface="黑体" panose="02010609060101010101" pitchFamily="49" charset="-122"/>
                          <a:cs typeface="Times New Roman" panose="02020603050405020304" pitchFamily="18" charset="0"/>
                        </a:rPr>
                        <a:t>运算符类别</a:t>
                      </a:r>
                      <a:endParaRPr kumimoji="1" lang="zh-CN" altLang="en-US" sz="1800" b="0" i="0" u="none" strike="noStrike" cap="none" normalizeH="0" baseline="0">
                        <a:ln>
                          <a:noFill/>
                        </a:ln>
                        <a:solidFill>
                          <a:srgbClr val="0066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rgbClr val="006666"/>
                          </a:solidFill>
                          <a:effectLst/>
                          <a:latin typeface="Times New Roman" panose="02020603050405020304" pitchFamily="18" charset="0"/>
                          <a:ea typeface="黑体" panose="02010609060101010101" pitchFamily="49" charset="-122"/>
                          <a:cs typeface="Times New Roman" panose="02020603050405020304" pitchFamily="18" charset="0"/>
                        </a:rPr>
                        <a:t>功能说明</a:t>
                      </a:r>
                      <a:endParaRPr kumimoji="1" lang="zh-CN" altLang="en-US" sz="1800" b="0" i="0" u="none" strike="noStrike" cap="none" normalizeH="0" baseline="0">
                        <a:ln>
                          <a:noFill/>
                        </a:ln>
                        <a:solidFill>
                          <a:srgbClr val="006666"/>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376571632"/>
                  </a:ext>
                </a:extLst>
              </a:tr>
              <a:tr h="404813">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圆括号</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981913870"/>
                  </a:ext>
                </a:extLst>
              </a:tr>
              <a:tr h="406400">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正、负、位非运算符</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969745666"/>
                  </a:ext>
                </a:extLst>
              </a:tr>
              <a:tr h="406400">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乘、除、取模运算符</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54156898"/>
                  </a:ext>
                </a:extLst>
              </a:tr>
              <a:tr h="406400">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加与连接、减、</a:t>
                      </a: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位与运算符</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&amp;</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970962179"/>
                  </a:ext>
                </a:extLst>
              </a:tr>
              <a:tr h="404813">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比较运算符</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t>
                      </a: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&lt;&gt;</a:t>
                      </a: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!&gt;</a:t>
                      </a:r>
                      <a:r>
                        <a:rPr kumimoji="1"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!&lt;</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279250900"/>
                  </a:ext>
                </a:extLst>
              </a:tr>
              <a:tr h="406400">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6</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位异或、位或运算符</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265774213"/>
                  </a:ext>
                </a:extLst>
              </a:tr>
              <a:tr h="406400">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7</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逻辑非</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NOT</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730258960"/>
                  </a:ext>
                </a:extLst>
              </a:tr>
              <a:tr h="406400">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8</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逻辑与</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AND</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591338074"/>
                  </a:ext>
                </a:extLst>
              </a:tr>
              <a:tr h="655638">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逻辑或、</a:t>
                      </a: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查询逻辑运算符</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OR</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LIKE</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BETWEEN</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ANY</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SOME</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ALL</a:t>
                      </a:r>
                      <a:r>
                        <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EXISTS</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109321505"/>
                  </a:ext>
                </a:extLst>
              </a:tr>
              <a:tr h="406400">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10</a:t>
                      </a:r>
                      <a:endParaRPr kumimoji="1"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赋值</a:t>
                      </a:r>
                      <a:endParaRPr kumimoji="1"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eaLnBrk="0" hangingPunct="0">
                        <a:lnSpc>
                          <a:spcPct val="120000"/>
                        </a:lnSpc>
                        <a:spcBef>
                          <a:spcPct val="20000"/>
                        </a:spcBef>
                        <a:buClr>
                          <a:schemeClr val="folHlink"/>
                        </a:buClr>
                        <a:buSzPct val="60000"/>
                        <a:buFont typeface="Wingdings" panose="05000000000000000000" pitchFamily="2" charset="2"/>
                        <a:defRPr sz="2400" b="1">
                          <a:solidFill>
                            <a:schemeClr val="tx1"/>
                          </a:solidFill>
                          <a:latin typeface="Tahoma" panose="020B0604030504040204" pitchFamily="34" charset="0"/>
                          <a:ea typeface="楷体_GB2312" pitchFamily="49" charset="-122"/>
                        </a:defRPr>
                      </a:lvl1pPr>
                      <a:lvl2pPr marL="742950" indent="-285750" eaLnBrk="0" hangingPunct="0">
                        <a:lnSpc>
                          <a:spcPct val="120000"/>
                        </a:lnSpc>
                        <a:spcBef>
                          <a:spcPct val="20000"/>
                        </a:spcBef>
                        <a:buClr>
                          <a:schemeClr val="hlink"/>
                        </a:buClr>
                        <a:buSzPct val="55000"/>
                        <a:buFont typeface="Wingdings" panose="05000000000000000000" pitchFamily="2" charset="2"/>
                        <a:defRPr sz="2400" b="1">
                          <a:solidFill>
                            <a:schemeClr val="tx1"/>
                          </a:solidFill>
                          <a:latin typeface="Tahoma" panose="020B0604030504040204" pitchFamily="34" charset="0"/>
                          <a:ea typeface="楷体_GB2312" pitchFamily="49" charset="-122"/>
                        </a:defRPr>
                      </a:lvl2pPr>
                      <a:lvl3pPr marL="1143000" indent="-228600" eaLnBrk="0" hangingPunct="0">
                        <a:lnSpc>
                          <a:spcPct val="120000"/>
                        </a:lnSpc>
                        <a:spcBef>
                          <a:spcPct val="20000"/>
                        </a:spcBef>
                        <a:buClr>
                          <a:schemeClr val="folHlink"/>
                        </a:buClr>
                        <a:buSzPct val="50000"/>
                        <a:buFont typeface="Wingdings" panose="05000000000000000000" pitchFamily="2" charset="2"/>
                        <a:defRPr sz="2000" b="1">
                          <a:solidFill>
                            <a:schemeClr val="tx1"/>
                          </a:solidFill>
                          <a:latin typeface="Tahoma" panose="020B0604030504040204" pitchFamily="34" charset="0"/>
                          <a:ea typeface="楷体_GB2312" pitchFamily="49" charset="-122"/>
                        </a:defRPr>
                      </a:lvl3pPr>
                      <a:lvl4pPr marL="1600200" indent="-228600" eaLnBrk="0" hangingPunct="0">
                        <a:lnSpc>
                          <a:spcPct val="120000"/>
                        </a:lnSpc>
                        <a:spcBef>
                          <a:spcPct val="20000"/>
                        </a:spcBef>
                        <a:buClr>
                          <a:schemeClr val="accent2"/>
                        </a:buClr>
                        <a:buSzPct val="55000"/>
                        <a:buFont typeface="Wingdings" panose="05000000000000000000" pitchFamily="2" charset="2"/>
                        <a:defRPr b="1">
                          <a:solidFill>
                            <a:schemeClr val="tx1"/>
                          </a:solidFill>
                          <a:latin typeface="Tahoma" panose="020B0604030504040204" pitchFamily="34" charset="0"/>
                          <a:ea typeface="楷体_GB2312" pitchFamily="49" charset="-122"/>
                        </a:defRPr>
                      </a:lvl4pPr>
                      <a:lvl5pPr marL="2057400" indent="-228600" eaLnBrk="0" hangingPunct="0">
                        <a:lnSpc>
                          <a:spcPct val="120000"/>
                        </a:lnSpc>
                        <a:spcBef>
                          <a:spcPct val="20000"/>
                        </a:spcBef>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5pPr>
                      <a:lvl6pPr marL="25146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6pPr>
                      <a:lvl7pPr marL="29718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7pPr>
                      <a:lvl8pPr marL="34290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8pPr>
                      <a:lvl9pPr marL="3886200" indent="-228600" eaLnBrk="0" fontAlgn="base" hangingPunct="0">
                        <a:lnSpc>
                          <a:spcPct val="120000"/>
                        </a:lnSpc>
                        <a:spcBef>
                          <a:spcPct val="20000"/>
                        </a:spcBef>
                        <a:spcAft>
                          <a:spcPct val="0"/>
                        </a:spcAft>
                        <a:buClr>
                          <a:schemeClr val="accent1"/>
                        </a:buClr>
                        <a:buSzPct val="50000"/>
                        <a:buFont typeface="Wingdings" panose="05000000000000000000" pitchFamily="2" charset="2"/>
                        <a:defRPr b="1">
                          <a:solidFill>
                            <a:schemeClr val="tx1"/>
                          </a:solidFill>
                          <a:latin typeface="Tahoma" panose="020B0604030504040204" pitchFamily="34"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359470278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15502"/>
    </mc:Choice>
    <mc:Fallback xmlns="">
      <p:transition spd="slow" advTm="15502"/>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6" name="Rectangle 4">
            <a:extLst>
              <a:ext uri="{FF2B5EF4-FFF2-40B4-BE49-F238E27FC236}">
                <a16:creationId xmlns:a16="http://schemas.microsoft.com/office/drawing/2014/main" id="{FD2EE0C3-98F2-443B-BA1D-00441CAB5A46}"/>
              </a:ext>
            </a:extLst>
          </p:cNvPr>
          <p:cNvSpPr>
            <a:spLocks noChangeArrowheads="1"/>
          </p:cNvSpPr>
          <p:nvPr/>
        </p:nvSpPr>
        <p:spPr bwMode="auto">
          <a:xfrm>
            <a:off x="1150938" y="214313"/>
            <a:ext cx="7793037" cy="622300"/>
          </a:xfrm>
          <a:prstGeom prst="rect">
            <a:avLst/>
          </a:prstGeom>
          <a:noFill/>
          <a:ln w="9525">
            <a:noFill/>
            <a:miter lim="800000"/>
            <a:headEnd/>
            <a:tailEnd/>
          </a:ln>
          <a:effectLst/>
        </p:spPr>
        <p:txBody>
          <a:bodyPr anchor="b"/>
          <a:lstStyle/>
          <a:p>
            <a:pPr>
              <a:defRPr/>
            </a:pPr>
            <a:r>
              <a:rPr lang="zh-CN" altLang="en-US" sz="3600" b="1" dirty="0">
                <a:solidFill>
                  <a:schemeClr val="tx2"/>
                </a:solidFill>
                <a:effectLst>
                  <a:outerShdw blurRad="38100" dist="38100" dir="2700000" algn="tl">
                    <a:srgbClr val="C0C0C0"/>
                  </a:outerShdw>
                </a:effectLst>
                <a:latin typeface="Tahoma" pitchFamily="34" charset="0"/>
                <a:ea typeface="幼圆" pitchFamily="49" charset="-122"/>
              </a:rPr>
              <a:t>四、</a:t>
            </a:r>
            <a:r>
              <a:rPr lang="en-US" altLang="zh-CN" sz="3600" b="1" dirty="0">
                <a:solidFill>
                  <a:schemeClr val="tx2"/>
                </a:solidFill>
                <a:effectLst>
                  <a:outerShdw blurRad="38100" dist="38100" dir="2700000" algn="tl">
                    <a:srgbClr val="C0C0C0"/>
                  </a:outerShdw>
                </a:effectLst>
                <a:latin typeface="Tahoma" pitchFamily="34" charset="0"/>
                <a:ea typeface="幼圆" pitchFamily="49" charset="-122"/>
              </a:rPr>
              <a:t>Transact-SQL</a:t>
            </a:r>
            <a:r>
              <a:rPr lang="zh-CN" altLang="en-US" sz="3600" b="1" dirty="0">
                <a:solidFill>
                  <a:schemeClr val="tx2"/>
                </a:solidFill>
                <a:effectLst>
                  <a:outerShdw blurRad="38100" dist="38100" dir="2700000" algn="tl">
                    <a:srgbClr val="C0C0C0"/>
                  </a:outerShdw>
                </a:effectLst>
                <a:latin typeface="Tahoma" pitchFamily="34" charset="0"/>
                <a:ea typeface="幼圆" pitchFamily="49" charset="-122"/>
              </a:rPr>
              <a:t>函数 </a:t>
            </a:r>
          </a:p>
        </p:txBody>
      </p:sp>
      <p:sp>
        <p:nvSpPr>
          <p:cNvPr id="929797" name="Rectangle 5">
            <a:extLst>
              <a:ext uri="{FF2B5EF4-FFF2-40B4-BE49-F238E27FC236}">
                <a16:creationId xmlns:a16="http://schemas.microsoft.com/office/drawing/2014/main" id="{B5A8B4EE-5A02-4233-9B07-DFD4D8BB321D}"/>
              </a:ext>
            </a:extLst>
          </p:cNvPr>
          <p:cNvSpPr>
            <a:spLocks noChangeArrowheads="1"/>
          </p:cNvSpPr>
          <p:nvPr/>
        </p:nvSpPr>
        <p:spPr bwMode="auto">
          <a:xfrm>
            <a:off x="323850" y="1171575"/>
            <a:ext cx="8424863"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lvl="2" eaLnBrk="1" hangingPunct="1">
              <a:lnSpc>
                <a:spcPct val="150000"/>
              </a:lnSpc>
              <a:buClr>
                <a:schemeClr val="folHlink"/>
              </a:buClr>
              <a:buFont typeface="Wingdings" panose="05000000000000000000" pitchFamily="2" charset="2"/>
              <a:buChar char="u"/>
            </a:pPr>
            <a:r>
              <a:rPr lang="zh-CN" altLang="en-US" sz="2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800" b="1">
                <a:solidFill>
                  <a:srgbClr val="660033"/>
                </a:solidFill>
                <a:latin typeface="黑体" panose="02010609060101010101" pitchFamily="49" charset="-122"/>
                <a:ea typeface="黑体" panose="02010609060101010101" pitchFamily="49" charset="-122"/>
              </a:rPr>
              <a:t>系统函数</a:t>
            </a:r>
            <a:r>
              <a:rPr lang="zh-CN" altLang="en-US" sz="2800" b="1">
                <a:effectLst>
                  <a:outerShdw blurRad="38100" dist="38100" dir="2700000" algn="tl">
                    <a:srgbClr val="C0C0C0"/>
                  </a:outerShdw>
                </a:effectLst>
                <a:latin typeface="Tahoma" panose="020B0604030504040204" pitchFamily="34" charset="0"/>
              </a:rPr>
              <a:t> </a:t>
            </a:r>
            <a:endParaRPr lang="zh-CN" altLang="en-US" sz="2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25000"/>
              </a:lnSpc>
            </a:pPr>
            <a:r>
              <a:rPr lang="zh-CN" altLang="en-US" sz="2800" b="1">
                <a:latin typeface="Tahoma" panose="020B0604030504040204" pitchFamily="34" charset="0"/>
              </a:rPr>
              <a:t>          系统提供的函数称为内置函数，也称为系统函数。系统函数为用户方便、快捷地执行某些操作提供了帮助。 </a:t>
            </a:r>
          </a:p>
          <a:p>
            <a:pPr lvl="2" eaLnBrk="1" hangingPunct="1">
              <a:lnSpc>
                <a:spcPct val="150000"/>
              </a:lnSpc>
              <a:buClr>
                <a:schemeClr val="folHlink"/>
              </a:buClr>
              <a:buFont typeface="Wingdings" panose="05000000000000000000" pitchFamily="2" charset="2"/>
              <a:buChar char="u"/>
            </a:pPr>
            <a:r>
              <a:rPr lang="zh-CN" altLang="en-US" sz="2800" b="1">
                <a:solidFill>
                  <a:srgbClr val="660033"/>
                </a:solidFill>
                <a:latin typeface="黑体" panose="02010609060101010101" pitchFamily="49" charset="-122"/>
                <a:ea typeface="黑体" panose="02010609060101010101" pitchFamily="49" charset="-122"/>
              </a:rPr>
              <a:t> 用户自定义函数 </a:t>
            </a:r>
          </a:p>
          <a:p>
            <a:pPr eaLnBrk="1" hangingPunct="1">
              <a:lnSpc>
                <a:spcPct val="150000"/>
              </a:lnSpc>
              <a:buClr>
                <a:schemeClr val="folHlink"/>
              </a:buClr>
              <a:buSzPct val="60000"/>
              <a:buFont typeface="Wingdings" panose="05000000000000000000" pitchFamily="2" charset="2"/>
              <a:buNone/>
            </a:pPr>
            <a:r>
              <a:rPr lang="zh-CN" altLang="en-US" sz="2800" b="1">
                <a:latin typeface="Tahoma" panose="020B0604030504040204" pitchFamily="34" charset="0"/>
              </a:rPr>
              <a:t>         用户创建的函数称为用户自定义函数。</a:t>
            </a:r>
          </a:p>
          <a:p>
            <a:pPr eaLnBrk="1" hangingPunct="1">
              <a:lnSpc>
                <a:spcPct val="120000"/>
              </a:lnSpc>
              <a:spcBef>
                <a:spcPct val="40000"/>
              </a:spcBef>
              <a:buClr>
                <a:schemeClr val="folHlink"/>
              </a:buClr>
              <a:buSzPct val="60000"/>
              <a:buFont typeface="Wingdings" panose="05000000000000000000" pitchFamily="2" charset="2"/>
              <a:buNone/>
            </a:pPr>
            <a:r>
              <a:rPr lang="en-US" altLang="zh-CN" sz="2800" b="1">
                <a:latin typeface="Tahoma" panose="020B0604030504040204" pitchFamily="34" charset="0"/>
              </a:rPr>
              <a:t>         </a:t>
            </a:r>
            <a:endParaRPr lang="zh-CN" altLang="en-US" sz="2800" b="1">
              <a:latin typeface="Tahom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3030"/>
    </mc:Choice>
    <mc:Fallback xmlns="">
      <p:transition spd="slow" advTm="1303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6" name="Rectangle 4">
            <a:extLst>
              <a:ext uri="{FF2B5EF4-FFF2-40B4-BE49-F238E27FC236}">
                <a16:creationId xmlns:a16="http://schemas.microsoft.com/office/drawing/2014/main" id="{FB1EC52E-E445-4E3C-801C-7A4230319503}"/>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defRPr/>
            </a:pPr>
            <a:r>
              <a:rPr lang="zh-CN" altLang="en-US" sz="3600" b="1" dirty="0">
                <a:solidFill>
                  <a:schemeClr val="tx2"/>
                </a:solidFill>
                <a:effectLst>
                  <a:outerShdw blurRad="38100" dist="38100" dir="2700000" algn="tl">
                    <a:srgbClr val="C0C0C0"/>
                  </a:outerShdw>
                </a:effectLst>
                <a:latin typeface="Tahoma" pitchFamily="34" charset="0"/>
                <a:ea typeface="幼圆" pitchFamily="49" charset="-122"/>
              </a:rPr>
              <a:t>四、</a:t>
            </a:r>
            <a:r>
              <a:rPr lang="en-US" altLang="zh-CN" sz="3600" b="1" dirty="0">
                <a:solidFill>
                  <a:schemeClr val="tx2"/>
                </a:solidFill>
                <a:effectLst>
                  <a:outerShdw blurRad="38100" dist="38100" dir="2700000" algn="tl">
                    <a:srgbClr val="C0C0C0"/>
                  </a:outerShdw>
                </a:effectLst>
                <a:latin typeface="Tahoma" pitchFamily="34" charset="0"/>
                <a:ea typeface="幼圆" pitchFamily="49" charset="-122"/>
              </a:rPr>
              <a:t>Transact-SQL</a:t>
            </a:r>
            <a:r>
              <a:rPr lang="zh-CN" altLang="en-US" sz="3600" b="1" dirty="0">
                <a:solidFill>
                  <a:schemeClr val="tx2"/>
                </a:solidFill>
                <a:effectLst>
                  <a:outerShdw blurRad="38100" dist="38100" dir="2700000" algn="tl">
                    <a:srgbClr val="C0C0C0"/>
                  </a:outerShdw>
                </a:effectLst>
                <a:latin typeface="Tahoma" pitchFamily="34" charset="0"/>
                <a:ea typeface="幼圆" pitchFamily="49" charset="-122"/>
              </a:rPr>
              <a:t>函数 </a:t>
            </a:r>
          </a:p>
        </p:txBody>
      </p:sp>
      <p:sp>
        <p:nvSpPr>
          <p:cNvPr id="929797" name="Rectangle 5">
            <a:extLst>
              <a:ext uri="{FF2B5EF4-FFF2-40B4-BE49-F238E27FC236}">
                <a16:creationId xmlns:a16="http://schemas.microsoft.com/office/drawing/2014/main" id="{2EBAC553-A153-4D39-AD4D-07E17D881D38}"/>
              </a:ext>
            </a:extLst>
          </p:cNvPr>
          <p:cNvSpPr>
            <a:spLocks noChangeArrowheads="1"/>
          </p:cNvSpPr>
          <p:nvPr/>
        </p:nvSpPr>
        <p:spPr bwMode="auto">
          <a:xfrm>
            <a:off x="323850" y="1171575"/>
            <a:ext cx="8424863"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rPr>
              <a:t>          </a:t>
            </a:r>
            <a:r>
              <a:rPr lang="en-US" altLang="zh-CN" sz="2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2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rPr>
              <a:t>、系统函数</a:t>
            </a:r>
            <a:r>
              <a:rPr lang="zh-CN" altLang="en-US" sz="2800" b="1">
                <a:effectLst>
                  <a:outerShdw blurRad="38100" dist="38100" dir="2700000" algn="tl">
                    <a:srgbClr val="C0C0C0"/>
                  </a:outerShdw>
                </a:effectLst>
                <a:latin typeface="Tahoma" panose="020B0604030504040204" pitchFamily="34" charset="0"/>
              </a:rPr>
              <a:t> </a:t>
            </a:r>
            <a:endParaRPr lang="zh-CN" altLang="en-US" sz="2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1</a:t>
            </a:r>
            <a:r>
              <a:rPr lang="zh-CN" altLang="en-US" sz="2800" b="1">
                <a:latin typeface="Tahoma" panose="020B0604030504040204" pitchFamily="34" charset="0"/>
              </a:rPr>
              <a:t>）第</a:t>
            </a:r>
            <a:r>
              <a:rPr lang="en-US" altLang="zh-CN" sz="2800" b="1">
                <a:latin typeface="Tahoma" panose="020B0604030504040204" pitchFamily="34" charset="0"/>
              </a:rPr>
              <a:t>5</a:t>
            </a:r>
            <a:r>
              <a:rPr lang="zh-CN" altLang="en-US" sz="2800" b="1">
                <a:latin typeface="Tahoma" panose="020B0604030504040204" pitchFamily="34" charset="0"/>
              </a:rPr>
              <a:t>章介绍的各种函数</a:t>
            </a:r>
          </a:p>
          <a:p>
            <a:pPr eaLnBrk="1" hangingPunct="1">
              <a:lnSpc>
                <a:spcPct val="150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en-US" altLang="zh-CN" sz="2800" b="1">
                <a:latin typeface="Tahoma" panose="020B0604030504040204" pitchFamily="34" charset="0"/>
              </a:rPr>
              <a:t>2</a:t>
            </a:r>
            <a:r>
              <a:rPr lang="zh-CN" altLang="en-US" sz="2800" b="1">
                <a:latin typeface="Tahoma" panose="020B0604030504040204" pitchFamily="34" charset="0"/>
              </a:rPr>
              <a:t>）典型的数据类型转换函数：</a:t>
            </a:r>
          </a:p>
          <a:p>
            <a:pPr eaLnBrk="1" hangingPunct="1">
              <a:lnSpc>
                <a:spcPct val="120000"/>
              </a:lnSpc>
              <a:spcBef>
                <a:spcPct val="40000"/>
              </a:spcBef>
              <a:buClr>
                <a:schemeClr val="folHlink"/>
              </a:buClr>
              <a:buSzPct val="60000"/>
              <a:buFont typeface="Wingdings" panose="05000000000000000000" pitchFamily="2" charset="2"/>
              <a:buNone/>
            </a:pPr>
            <a:r>
              <a:rPr lang="en-US" altLang="zh-CN" sz="2800" b="1">
                <a:latin typeface="Tahoma" panose="020B0604030504040204" pitchFamily="34" charset="0"/>
              </a:rPr>
              <a:t>         </a:t>
            </a:r>
            <a:r>
              <a:rPr lang="en-US" altLang="zh-CN" sz="2800" b="1">
                <a:solidFill>
                  <a:srgbClr val="003366"/>
                </a:solidFill>
                <a:latin typeface="Tahoma" panose="020B0604030504040204" pitchFamily="34" charset="0"/>
              </a:rPr>
              <a:t>CAST</a:t>
            </a:r>
            <a:r>
              <a:rPr lang="zh-CN" altLang="en-US" sz="2800" b="1">
                <a:solidFill>
                  <a:srgbClr val="003366"/>
                </a:solidFill>
                <a:latin typeface="Tahoma" panose="020B0604030504040204" pitchFamily="34" charset="0"/>
              </a:rPr>
              <a:t>函数语句格式为：</a:t>
            </a:r>
          </a:p>
          <a:p>
            <a:pPr eaLnBrk="1" hangingPunct="1">
              <a:lnSpc>
                <a:spcPct val="120000"/>
              </a:lnSpc>
              <a:spcBef>
                <a:spcPct val="20000"/>
              </a:spcBef>
              <a:spcAft>
                <a:spcPct val="40000"/>
              </a:spcAft>
              <a:buClr>
                <a:schemeClr val="folHlink"/>
              </a:buClr>
              <a:buSzPct val="60000"/>
              <a:buFont typeface="Wingdings" panose="05000000000000000000" pitchFamily="2" charset="2"/>
              <a:buNone/>
            </a:pPr>
            <a:r>
              <a:rPr lang="en-US" altLang="zh-CN" sz="2800" b="1">
                <a:solidFill>
                  <a:srgbClr val="003366"/>
                </a:solidFill>
                <a:latin typeface="Tahoma" panose="020B0604030504040204" pitchFamily="34" charset="0"/>
              </a:rPr>
              <a:t>         CAST( expression AS data_type )</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zh-CN" altLang="en-US" sz="2600" b="1">
                <a:solidFill>
                  <a:srgbClr val="006666"/>
                </a:solidFill>
                <a:latin typeface="Tahoma" panose="020B0604030504040204" pitchFamily="34" charset="0"/>
                <a:ea typeface="黑体" panose="02010609060101010101" pitchFamily="49" charset="-122"/>
              </a:rPr>
              <a:t>功能：</a:t>
            </a:r>
            <a:r>
              <a:rPr lang="zh-CN" altLang="en-US" sz="2600" b="1">
                <a:latin typeface="Tahoma" panose="020B0604030504040204" pitchFamily="34" charset="0"/>
              </a:rPr>
              <a:t>将某种数据类型的表达式</a:t>
            </a:r>
            <a:r>
              <a:rPr lang="en-US" altLang="zh-CN" sz="2600" b="1">
                <a:latin typeface="Tahoma" panose="020B0604030504040204" pitchFamily="34" charset="0"/>
              </a:rPr>
              <a:t>expression</a:t>
            </a:r>
            <a:r>
              <a:rPr lang="zh-CN" altLang="en-US" sz="2600" b="1">
                <a:latin typeface="Tahoma" panose="020B0604030504040204" pitchFamily="34" charset="0"/>
              </a:rPr>
              <a:t>的值，显式地转换为另一种数据类型</a:t>
            </a:r>
            <a:r>
              <a:rPr lang="en-US" altLang="zh-CN" sz="2600" b="1">
                <a:latin typeface="Tahoma" panose="020B0604030504040204" pitchFamily="34" charset="0"/>
              </a:rPr>
              <a:t>data_type</a:t>
            </a:r>
            <a:r>
              <a:rPr lang="zh-CN" altLang="en-US" sz="2600" b="1">
                <a:latin typeface="Tahoma" panose="020B0604030504040204" pitchFamily="34" charset="0"/>
              </a:rPr>
              <a:t>值。</a:t>
            </a:r>
            <a:r>
              <a:rPr lang="zh-CN" altLang="en-US" sz="2800" b="1">
                <a:effectLst>
                  <a:outerShdw blurRad="38100" dist="38100" dir="2700000" algn="tl">
                    <a:srgbClr val="C0C0C0"/>
                  </a:outerShdw>
                </a:effectLst>
                <a:latin typeface="Tahoma" panose="020B0604030504040204" pitchFamily="34" charset="0"/>
              </a:rPr>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342"/>
    </mc:Choice>
    <mc:Fallback xmlns="">
      <p:transition spd="slow" advTm="3734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29797">
                                            <p:txEl>
                                              <p:pRg st="4" end="4"/>
                                            </p:txEl>
                                          </p:spTgt>
                                        </p:tgtEl>
                                        <p:attrNameLst>
                                          <p:attrName>style.visibility</p:attrName>
                                        </p:attrNameLst>
                                      </p:cBhvr>
                                      <p:to>
                                        <p:strVal val="visible"/>
                                      </p:to>
                                    </p:set>
                                    <p:animEffect transition="in" filter="wipe(left)">
                                      <p:cBhvr>
                                        <p:cTn id="7" dur="500"/>
                                        <p:tgtEl>
                                          <p:spTgt spid="929797">
                                            <p:txEl>
                                              <p:pRg st="4" end="4"/>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929797">
                                            <p:txEl>
                                              <p:pRg st="5" end="5"/>
                                            </p:txEl>
                                          </p:spTgt>
                                        </p:tgtEl>
                                        <p:attrNameLst>
                                          <p:attrName>style.visibility</p:attrName>
                                        </p:attrNameLst>
                                      </p:cBhvr>
                                      <p:to>
                                        <p:strVal val="visible"/>
                                      </p:to>
                                    </p:set>
                                    <p:animEffect transition="in" filter="wipe(left)">
                                      <p:cBhvr>
                                        <p:cTn id="10" dur="500"/>
                                        <p:tgtEl>
                                          <p:spTgt spid="929797">
                                            <p:txEl>
                                              <p:pRg st="5" end="5"/>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929797">
                                            <p:txEl>
                                              <p:pRg st="6" end="6"/>
                                            </p:txEl>
                                          </p:spTgt>
                                        </p:tgtEl>
                                        <p:attrNameLst>
                                          <p:attrName>style.visibility</p:attrName>
                                        </p:attrNameLst>
                                      </p:cBhvr>
                                      <p:to>
                                        <p:strVal val="visible"/>
                                      </p:to>
                                    </p:set>
                                    <p:animEffect transition="in" filter="wipe(left)">
                                      <p:cBhvr>
                                        <p:cTn id="13" dur="500"/>
                                        <p:tgtEl>
                                          <p:spTgt spid="92979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21" name="Rectangle 5">
            <a:extLst>
              <a:ext uri="{FF2B5EF4-FFF2-40B4-BE49-F238E27FC236}">
                <a16:creationId xmlns:a16="http://schemas.microsoft.com/office/drawing/2014/main" id="{2B02FD32-9119-4F29-8086-D6780336A152}"/>
              </a:ext>
            </a:extLst>
          </p:cNvPr>
          <p:cNvSpPr>
            <a:spLocks noChangeArrowheads="1"/>
          </p:cNvSpPr>
          <p:nvPr/>
        </p:nvSpPr>
        <p:spPr bwMode="auto">
          <a:xfrm>
            <a:off x="468313" y="476250"/>
            <a:ext cx="8280400"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10000"/>
              </a:lnSpc>
              <a:buClr>
                <a:schemeClr val="folHlink"/>
              </a:buClr>
              <a:buSzPct val="60000"/>
              <a:buFont typeface="Wingdings" panose="05000000000000000000" pitchFamily="2" charset="2"/>
              <a:buNone/>
            </a:pPr>
            <a:r>
              <a:rPr lang="zh-CN" altLang="en-US" sz="2600" b="1">
                <a:solidFill>
                  <a:srgbClr val="660033"/>
                </a:solidFill>
                <a:latin typeface="黑体" panose="02010609060101010101" pitchFamily="49" charset="-122"/>
                <a:ea typeface="黑体" panose="02010609060101010101" pitchFamily="49" charset="-122"/>
              </a:rPr>
              <a:t>例</a:t>
            </a:r>
            <a:r>
              <a:rPr lang="en-US" altLang="zh-CN" sz="2600" b="1">
                <a:solidFill>
                  <a:srgbClr val="660033"/>
                </a:solidFill>
                <a:latin typeface="黑体" panose="02010609060101010101" pitchFamily="49" charset="-122"/>
                <a:ea typeface="黑体" panose="02010609060101010101" pitchFamily="49" charset="-122"/>
              </a:rPr>
              <a:t>5.</a:t>
            </a:r>
            <a:r>
              <a:rPr lang="en-US" altLang="zh-CN" sz="2600" b="1">
                <a:latin typeface="黑体" panose="02010609060101010101" pitchFamily="49" charset="-122"/>
                <a:ea typeface="黑体" panose="02010609060101010101" pitchFamily="49" charset="-122"/>
              </a:rPr>
              <a:t> </a:t>
            </a:r>
            <a:r>
              <a:rPr lang="zh-CN" altLang="en-US" sz="2600" b="1">
                <a:latin typeface="黑体" panose="02010609060101010101" pitchFamily="49" charset="-122"/>
                <a:ea typeface="黑体" panose="02010609060101010101" pitchFamily="49" charset="-122"/>
              </a:rPr>
              <a:t>按学号分组查询每个学生的平均成绩，并按比如</a:t>
            </a:r>
          </a:p>
          <a:p>
            <a:pPr eaLnBrk="1" hangingPunct="1">
              <a:lnSpc>
                <a:spcPct val="110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zh-CN" altLang="en-US" sz="2600" b="1">
                <a:ea typeface="黑体" panose="02010609060101010101" pitchFamily="49" charset="-122"/>
              </a:rPr>
              <a:t>“</a:t>
            </a:r>
            <a:r>
              <a:rPr lang="en-US" altLang="zh-CN" sz="2600" b="1">
                <a:latin typeface="黑体" panose="02010609060101010101" pitchFamily="49" charset="-122"/>
                <a:ea typeface="黑体" panose="02010609060101010101" pitchFamily="49" charset="-122"/>
              </a:rPr>
              <a:t>200401001</a:t>
            </a:r>
            <a:r>
              <a:rPr lang="zh-CN" altLang="en-US" sz="2600" b="1">
                <a:latin typeface="黑体" panose="02010609060101010101" pitchFamily="49" charset="-122"/>
                <a:ea typeface="黑体" panose="02010609060101010101" pitchFamily="49" charset="-122"/>
              </a:rPr>
              <a:t>同学的平均成绩为</a:t>
            </a:r>
            <a:r>
              <a:rPr lang="en-US" altLang="zh-CN" sz="2600" b="1">
                <a:latin typeface="黑体" panose="02010609060101010101" pitchFamily="49" charset="-122"/>
                <a:ea typeface="黑体" panose="02010609060101010101" pitchFamily="49" charset="-122"/>
              </a:rPr>
              <a:t>88</a:t>
            </a:r>
            <a:r>
              <a:rPr lang="zh-CN" altLang="en-US" sz="2600" b="1">
                <a:latin typeface="黑体" panose="02010609060101010101" pitchFamily="49" charset="-122"/>
                <a:ea typeface="黑体" panose="02010609060101010101" pitchFamily="49" charset="-122"/>
              </a:rPr>
              <a:t>分</a:t>
            </a:r>
            <a:r>
              <a:rPr lang="zh-CN" altLang="en-US" sz="2600" b="1">
                <a:ea typeface="黑体" panose="02010609060101010101" pitchFamily="49" charset="-122"/>
              </a:rPr>
              <a:t>”</a:t>
            </a:r>
            <a:r>
              <a:rPr lang="zh-CN" altLang="en-US" sz="2600" b="1">
                <a:latin typeface="黑体" panose="02010609060101010101" pitchFamily="49" charset="-122"/>
                <a:ea typeface="黑体" panose="02010609060101010101" pitchFamily="49" charset="-122"/>
              </a:rPr>
              <a:t>的格式显示</a:t>
            </a:r>
          </a:p>
          <a:p>
            <a:pPr eaLnBrk="1" hangingPunct="1">
              <a:lnSpc>
                <a:spcPct val="110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每个学生的平均成绩。</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USE</a:t>
            </a:r>
            <a:r>
              <a:rPr lang="en-US" altLang="zh-CN" sz="2600" b="1">
                <a:latin typeface="黑体" panose="02010609060101010101" pitchFamily="49" charset="-122"/>
                <a:ea typeface="黑体" panose="02010609060101010101" pitchFamily="49" charset="-122"/>
              </a:rPr>
              <a:t>  JXGL              </a:t>
            </a:r>
            <a:r>
              <a:rPr lang="en-US" altLang="zh-CN" sz="2600" b="1">
                <a:solidFill>
                  <a:srgbClr val="006666"/>
                </a:solidFill>
                <a:latin typeface="楷体_GB2312" pitchFamily="49" charset="-122"/>
              </a:rPr>
              <a:t>--</a:t>
            </a:r>
            <a:r>
              <a:rPr lang="zh-CN" altLang="en-US" sz="2600" b="1">
                <a:solidFill>
                  <a:srgbClr val="006666"/>
                </a:solidFill>
                <a:latin typeface="楷体_GB2312" pitchFamily="49" charset="-122"/>
              </a:rPr>
              <a:t>打开</a:t>
            </a:r>
            <a:r>
              <a:rPr lang="en-US" altLang="zh-CN" sz="2600" b="1">
                <a:solidFill>
                  <a:srgbClr val="006666"/>
                </a:solidFill>
                <a:latin typeface="楷体_GB2312" pitchFamily="49" charset="-122"/>
              </a:rPr>
              <a:t>JXGL</a:t>
            </a:r>
            <a:r>
              <a:rPr lang="zh-CN" altLang="en-US" sz="2600" b="1">
                <a:solidFill>
                  <a:srgbClr val="006666"/>
                </a:solidFill>
                <a:latin typeface="楷体_GB2312" pitchFamily="49" charset="-122"/>
              </a:rPr>
              <a:t>数据库</a:t>
            </a:r>
          </a:p>
          <a:p>
            <a:pPr eaLnBrk="1" hangingPunct="1">
              <a:lnSpc>
                <a:spcPct val="120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latin typeface="黑体" panose="02010609060101010101" pitchFamily="49" charset="-122"/>
                <a:ea typeface="黑体" panose="02010609060101010101" pitchFamily="49" charset="-122"/>
              </a:rPr>
              <a:t>GO</a:t>
            </a:r>
          </a:p>
          <a:p>
            <a:pPr eaLnBrk="1" hangingPunct="1">
              <a:lnSpc>
                <a:spcPct val="120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SELECT</a:t>
            </a:r>
            <a:r>
              <a:rPr lang="en-US" altLang="zh-CN" sz="2600" b="1">
                <a:latin typeface="黑体" panose="02010609060101010101" pitchFamily="49" charset="-122"/>
                <a:ea typeface="黑体" panose="02010609060101010101" pitchFamily="49" charset="-122"/>
              </a:rPr>
              <a:t> </a:t>
            </a:r>
            <a:r>
              <a:rPr lang="en-US" altLang="zh-CN" sz="2500" b="1">
                <a:latin typeface="黑体" panose="02010609060101010101" pitchFamily="49" charset="-122"/>
                <a:ea typeface="黑体" panose="02010609060101010101" pitchFamily="49" charset="-122"/>
              </a:rPr>
              <a:t>S# </a:t>
            </a:r>
            <a:r>
              <a:rPr lang="en-US" altLang="zh-CN" sz="2500" b="1">
                <a:solidFill>
                  <a:srgbClr val="CC0000"/>
                </a:solidFill>
                <a:latin typeface="黑体" panose="02010609060101010101" pitchFamily="49" charset="-122"/>
                <a:ea typeface="黑体" panose="02010609060101010101" pitchFamily="49" charset="-122"/>
              </a:rPr>
              <a:t>AVG</a:t>
            </a:r>
            <a:r>
              <a:rPr lang="en-US" altLang="zh-CN" sz="2500" b="1">
                <a:latin typeface="黑体" panose="02010609060101010101" pitchFamily="49" charset="-122"/>
                <a:ea typeface="黑体" panose="02010609060101010101" pitchFamily="49" charset="-122"/>
              </a:rPr>
              <a:t>(GRADE) </a:t>
            </a:r>
          </a:p>
          <a:p>
            <a:pPr eaLnBrk="1" hangingPunct="1">
              <a:lnSpc>
                <a:spcPct val="120000"/>
              </a:lnSpc>
              <a:buClr>
                <a:schemeClr val="folHlink"/>
              </a:buClr>
              <a:buSzPct val="60000"/>
              <a:buFont typeface="Wingdings" panose="05000000000000000000" pitchFamily="2" charset="2"/>
              <a:buNone/>
            </a:pPr>
            <a:r>
              <a:rPr lang="en-US" altLang="zh-CN" sz="2500" b="1">
                <a:solidFill>
                  <a:srgbClr val="0000FF"/>
                </a:solidFill>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FROM</a:t>
            </a:r>
            <a:r>
              <a:rPr lang="en-US" altLang="zh-CN" sz="2600" b="1">
                <a:latin typeface="黑体" panose="02010609060101010101" pitchFamily="49" charset="-122"/>
                <a:ea typeface="黑体" panose="02010609060101010101" pitchFamily="49" charset="-122"/>
              </a:rPr>
              <a:t>  SC</a:t>
            </a:r>
          </a:p>
          <a:p>
            <a:pPr eaLnBrk="1" hangingPunct="1">
              <a:lnSpc>
                <a:spcPct val="120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GROUP BY</a:t>
            </a:r>
            <a:r>
              <a:rPr lang="en-US" altLang="zh-CN" sz="2600" b="1">
                <a:latin typeface="黑体" panose="02010609060101010101" pitchFamily="49" charset="-122"/>
                <a:ea typeface="黑体" panose="02010609060101010101" pitchFamily="49" charset="-122"/>
              </a:rPr>
              <a:t>  S#</a:t>
            </a:r>
          </a:p>
          <a:p>
            <a:pPr eaLnBrk="1" hangingPunct="1">
              <a:lnSpc>
                <a:spcPct val="120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GO </a:t>
            </a:r>
            <a:endParaRPr lang="zh-CN" altLang="en-US" sz="2600" b="1">
              <a:latin typeface="黑体" panose="02010609060101010101" pitchFamily="49" charset="-122"/>
              <a:ea typeface="黑体" panose="02010609060101010101"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6715"/>
    </mc:Choice>
    <mc:Fallback xmlns="">
      <p:transition spd="slow" advTm="3671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30821">
                                            <p:txEl>
                                              <p:pRg st="4" end="4"/>
                                            </p:txEl>
                                          </p:spTgt>
                                        </p:tgtEl>
                                        <p:attrNameLst>
                                          <p:attrName>style.visibility</p:attrName>
                                        </p:attrNameLst>
                                      </p:cBhvr>
                                      <p:to>
                                        <p:strVal val="visible"/>
                                      </p:to>
                                    </p:set>
                                    <p:animEffect transition="in" filter="wipe(left)">
                                      <p:cBhvr>
                                        <p:cTn id="7" dur="500"/>
                                        <p:tgtEl>
                                          <p:spTgt spid="930821">
                                            <p:txEl>
                                              <p:pRg st="4" end="4"/>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930821">
                                            <p:txEl>
                                              <p:pRg st="5" end="5"/>
                                            </p:txEl>
                                          </p:spTgt>
                                        </p:tgtEl>
                                        <p:attrNameLst>
                                          <p:attrName>style.visibility</p:attrName>
                                        </p:attrNameLst>
                                      </p:cBhvr>
                                      <p:to>
                                        <p:strVal val="visible"/>
                                      </p:to>
                                    </p:set>
                                    <p:animEffect transition="in" filter="wipe(left)">
                                      <p:cBhvr>
                                        <p:cTn id="10" dur="500"/>
                                        <p:tgtEl>
                                          <p:spTgt spid="930821">
                                            <p:txEl>
                                              <p:pRg st="5" end="5"/>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930821">
                                            <p:txEl>
                                              <p:pRg st="6" end="6"/>
                                            </p:txEl>
                                          </p:spTgt>
                                        </p:tgtEl>
                                        <p:attrNameLst>
                                          <p:attrName>style.visibility</p:attrName>
                                        </p:attrNameLst>
                                      </p:cBhvr>
                                      <p:to>
                                        <p:strVal val="visible"/>
                                      </p:to>
                                    </p:set>
                                    <p:animEffect transition="in" filter="wipe(left)">
                                      <p:cBhvr>
                                        <p:cTn id="13" dur="500"/>
                                        <p:tgtEl>
                                          <p:spTgt spid="930821">
                                            <p:txEl>
                                              <p:pRg st="6" end="6"/>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930821">
                                            <p:txEl>
                                              <p:pRg st="7" end="7"/>
                                            </p:txEl>
                                          </p:spTgt>
                                        </p:tgtEl>
                                        <p:attrNameLst>
                                          <p:attrName>style.visibility</p:attrName>
                                        </p:attrNameLst>
                                      </p:cBhvr>
                                      <p:to>
                                        <p:strVal val="visible"/>
                                      </p:to>
                                    </p:set>
                                    <p:animEffect transition="in" filter="wipe(left)">
                                      <p:cBhvr>
                                        <p:cTn id="16" dur="500"/>
                                        <p:tgtEl>
                                          <p:spTgt spid="930821">
                                            <p:txEl>
                                              <p:pRg st="7" end="7"/>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930821">
                                            <p:txEl>
                                              <p:pRg st="8" end="8"/>
                                            </p:txEl>
                                          </p:spTgt>
                                        </p:tgtEl>
                                        <p:attrNameLst>
                                          <p:attrName>style.visibility</p:attrName>
                                        </p:attrNameLst>
                                      </p:cBhvr>
                                      <p:to>
                                        <p:strVal val="visible"/>
                                      </p:to>
                                    </p:set>
                                    <p:animEffect transition="in" filter="wipe(left)">
                                      <p:cBhvr>
                                        <p:cTn id="19" dur="500"/>
                                        <p:tgtEl>
                                          <p:spTgt spid="930821">
                                            <p:txEl>
                                              <p:pRg st="8" end="8"/>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930821">
                                            <p:txEl>
                                              <p:pRg st="9" end="9"/>
                                            </p:txEl>
                                          </p:spTgt>
                                        </p:tgtEl>
                                        <p:attrNameLst>
                                          <p:attrName>style.visibility</p:attrName>
                                        </p:attrNameLst>
                                      </p:cBhvr>
                                      <p:to>
                                        <p:strVal val="visible"/>
                                      </p:to>
                                    </p:set>
                                    <p:animEffect transition="in" filter="wipe(left)">
                                      <p:cBhvr>
                                        <p:cTn id="22" dur="500"/>
                                        <p:tgtEl>
                                          <p:spTgt spid="93082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21" name="Rectangle 5">
            <a:extLst>
              <a:ext uri="{FF2B5EF4-FFF2-40B4-BE49-F238E27FC236}">
                <a16:creationId xmlns:a16="http://schemas.microsoft.com/office/drawing/2014/main" id="{98E7F7EC-94AE-4279-88EC-F53072FB705F}"/>
              </a:ext>
            </a:extLst>
          </p:cNvPr>
          <p:cNvSpPr>
            <a:spLocks noChangeArrowheads="1"/>
          </p:cNvSpPr>
          <p:nvPr/>
        </p:nvSpPr>
        <p:spPr bwMode="auto">
          <a:xfrm>
            <a:off x="468313" y="476250"/>
            <a:ext cx="8280400"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10000"/>
              </a:lnSpc>
              <a:buClr>
                <a:schemeClr val="folHlink"/>
              </a:buClr>
              <a:buSzPct val="60000"/>
              <a:buFont typeface="Wingdings" panose="05000000000000000000" pitchFamily="2" charset="2"/>
              <a:buNone/>
            </a:pPr>
            <a:r>
              <a:rPr lang="zh-CN" altLang="en-US" sz="2600" b="1">
                <a:solidFill>
                  <a:srgbClr val="660033"/>
                </a:solidFill>
                <a:latin typeface="黑体" panose="02010609060101010101" pitchFamily="49" charset="-122"/>
                <a:ea typeface="黑体" panose="02010609060101010101" pitchFamily="49" charset="-122"/>
              </a:rPr>
              <a:t>例</a:t>
            </a:r>
            <a:r>
              <a:rPr lang="en-US" altLang="zh-CN" sz="2600" b="1">
                <a:solidFill>
                  <a:srgbClr val="660033"/>
                </a:solidFill>
                <a:latin typeface="黑体" panose="02010609060101010101" pitchFamily="49" charset="-122"/>
                <a:ea typeface="黑体" panose="02010609060101010101" pitchFamily="49" charset="-122"/>
              </a:rPr>
              <a:t>5.</a:t>
            </a:r>
            <a:r>
              <a:rPr lang="en-US" altLang="zh-CN" sz="2600" b="1">
                <a:latin typeface="黑体" panose="02010609060101010101" pitchFamily="49" charset="-122"/>
                <a:ea typeface="黑体" panose="02010609060101010101" pitchFamily="49" charset="-122"/>
              </a:rPr>
              <a:t> </a:t>
            </a:r>
            <a:r>
              <a:rPr lang="zh-CN" altLang="en-US" sz="2600" b="1">
                <a:latin typeface="黑体" panose="02010609060101010101" pitchFamily="49" charset="-122"/>
                <a:ea typeface="黑体" panose="02010609060101010101" pitchFamily="49" charset="-122"/>
              </a:rPr>
              <a:t>按学号分组查询每个学生的平均成绩，并按比如</a:t>
            </a:r>
          </a:p>
          <a:p>
            <a:pPr eaLnBrk="1" hangingPunct="1">
              <a:lnSpc>
                <a:spcPct val="110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zh-CN" altLang="en-US" sz="2600" b="1">
                <a:ea typeface="黑体" panose="02010609060101010101" pitchFamily="49" charset="-122"/>
              </a:rPr>
              <a:t>“</a:t>
            </a:r>
            <a:r>
              <a:rPr lang="en-US" altLang="zh-CN" sz="2600" b="1">
                <a:latin typeface="黑体" panose="02010609060101010101" pitchFamily="49" charset="-122"/>
                <a:ea typeface="黑体" panose="02010609060101010101" pitchFamily="49" charset="-122"/>
              </a:rPr>
              <a:t>200401001</a:t>
            </a:r>
            <a:r>
              <a:rPr lang="zh-CN" altLang="en-US" sz="2600" b="1">
                <a:latin typeface="黑体" panose="02010609060101010101" pitchFamily="49" charset="-122"/>
                <a:ea typeface="黑体" panose="02010609060101010101" pitchFamily="49" charset="-122"/>
              </a:rPr>
              <a:t>同学的平均成绩为 </a:t>
            </a:r>
            <a:r>
              <a:rPr lang="en-US" altLang="zh-CN" sz="2600" b="1">
                <a:latin typeface="黑体" panose="02010609060101010101" pitchFamily="49" charset="-122"/>
                <a:ea typeface="黑体" panose="02010609060101010101" pitchFamily="49" charset="-122"/>
              </a:rPr>
              <a:t>88</a:t>
            </a:r>
            <a:r>
              <a:rPr lang="zh-CN" altLang="en-US" sz="2600" b="1">
                <a:latin typeface="黑体" panose="02010609060101010101" pitchFamily="49" charset="-122"/>
                <a:ea typeface="黑体" panose="02010609060101010101" pitchFamily="49" charset="-122"/>
              </a:rPr>
              <a:t>分</a:t>
            </a:r>
            <a:r>
              <a:rPr lang="zh-CN" altLang="en-US" sz="2600" b="1">
                <a:ea typeface="黑体" panose="02010609060101010101" pitchFamily="49" charset="-122"/>
              </a:rPr>
              <a:t>”</a:t>
            </a:r>
            <a:r>
              <a:rPr lang="zh-CN" altLang="en-US" sz="2600" b="1">
                <a:latin typeface="黑体" panose="02010609060101010101" pitchFamily="49" charset="-122"/>
                <a:ea typeface="黑体" panose="02010609060101010101" pitchFamily="49" charset="-122"/>
              </a:rPr>
              <a:t>的格式显示</a:t>
            </a:r>
          </a:p>
          <a:p>
            <a:pPr eaLnBrk="1" hangingPunct="1">
              <a:lnSpc>
                <a:spcPct val="110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每个学生的平均成绩。</a:t>
            </a:r>
          </a:p>
          <a:p>
            <a:pPr eaLnBrk="1" hangingPunct="1">
              <a:lnSpc>
                <a:spcPct val="120000"/>
              </a:lnSpc>
              <a:spcBef>
                <a:spcPct val="20000"/>
              </a:spcBef>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USE</a:t>
            </a:r>
            <a:r>
              <a:rPr lang="en-US" altLang="zh-CN" sz="2600" b="1">
                <a:latin typeface="黑体" panose="02010609060101010101" pitchFamily="49" charset="-122"/>
                <a:ea typeface="黑体" panose="02010609060101010101" pitchFamily="49" charset="-122"/>
              </a:rPr>
              <a:t>  JXGL              </a:t>
            </a:r>
            <a:r>
              <a:rPr lang="en-US" altLang="zh-CN" sz="2600" b="1">
                <a:solidFill>
                  <a:srgbClr val="006666"/>
                </a:solidFill>
                <a:latin typeface="楷体_GB2312" pitchFamily="49" charset="-122"/>
              </a:rPr>
              <a:t>--</a:t>
            </a:r>
            <a:r>
              <a:rPr lang="zh-CN" altLang="en-US" sz="2600" b="1">
                <a:solidFill>
                  <a:srgbClr val="006666"/>
                </a:solidFill>
                <a:latin typeface="楷体_GB2312" pitchFamily="49" charset="-122"/>
              </a:rPr>
              <a:t>打开</a:t>
            </a:r>
            <a:r>
              <a:rPr lang="en-US" altLang="zh-CN" sz="2600" b="1">
                <a:solidFill>
                  <a:srgbClr val="006666"/>
                </a:solidFill>
                <a:latin typeface="楷体_GB2312" pitchFamily="49" charset="-122"/>
              </a:rPr>
              <a:t>JXGL</a:t>
            </a:r>
            <a:r>
              <a:rPr lang="zh-CN" altLang="en-US" sz="2600" b="1">
                <a:solidFill>
                  <a:srgbClr val="006666"/>
                </a:solidFill>
                <a:latin typeface="楷体_GB2312" pitchFamily="49" charset="-122"/>
              </a:rPr>
              <a:t>数据库</a:t>
            </a:r>
          </a:p>
          <a:p>
            <a:pPr eaLnBrk="1" hangingPunct="1">
              <a:lnSpc>
                <a:spcPct val="120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a:t>
            </a:r>
            <a:r>
              <a:rPr lang="en-US" altLang="zh-CN" sz="2600" b="1">
                <a:latin typeface="黑体" panose="02010609060101010101" pitchFamily="49" charset="-122"/>
                <a:ea typeface="黑体" panose="02010609060101010101" pitchFamily="49" charset="-122"/>
              </a:rPr>
              <a:t>GO</a:t>
            </a:r>
          </a:p>
          <a:p>
            <a:pPr eaLnBrk="1" hangingPunct="1">
              <a:lnSpc>
                <a:spcPct val="120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SELECT</a:t>
            </a:r>
            <a:r>
              <a:rPr lang="en-US" altLang="zh-CN" sz="2600" b="1">
                <a:latin typeface="黑体" panose="02010609060101010101" pitchFamily="49" charset="-122"/>
                <a:ea typeface="黑体" panose="02010609060101010101" pitchFamily="49" charset="-122"/>
              </a:rPr>
              <a:t> </a:t>
            </a:r>
            <a:r>
              <a:rPr lang="en-US" altLang="zh-CN" sz="2500" b="1">
                <a:latin typeface="黑体" panose="02010609060101010101" pitchFamily="49" charset="-122"/>
                <a:ea typeface="黑体" panose="02010609060101010101" pitchFamily="49" charset="-122"/>
              </a:rPr>
              <a:t>S# + </a:t>
            </a:r>
            <a:r>
              <a:rPr lang="en-US" altLang="zh-CN" sz="2500" b="1">
                <a:ea typeface="黑体" panose="02010609060101010101" pitchFamily="49" charset="-122"/>
              </a:rPr>
              <a:t>‘</a:t>
            </a:r>
            <a:r>
              <a:rPr lang="zh-CN" altLang="en-US" sz="2500" b="1">
                <a:latin typeface="黑体" panose="02010609060101010101" pitchFamily="49" charset="-122"/>
                <a:ea typeface="黑体" panose="02010609060101010101" pitchFamily="49" charset="-122"/>
              </a:rPr>
              <a:t>同学的平均成绩为</a:t>
            </a:r>
            <a:r>
              <a:rPr lang="en-US" altLang="zh-CN" sz="2500" b="1">
                <a:ea typeface="黑体" panose="02010609060101010101" pitchFamily="49" charset="-122"/>
              </a:rPr>
              <a:t>‘</a:t>
            </a:r>
            <a:endParaRPr lang="en-US" altLang="zh-CN" sz="2500" b="1">
              <a:latin typeface="黑体" panose="02010609060101010101" pitchFamily="49" charset="-122"/>
              <a:ea typeface="黑体" panose="02010609060101010101" pitchFamily="49" charset="-122"/>
            </a:endParaRPr>
          </a:p>
          <a:p>
            <a:pPr eaLnBrk="1" hangingPunct="1">
              <a:lnSpc>
                <a:spcPct val="120000"/>
              </a:lnSpc>
              <a:buClr>
                <a:schemeClr val="folHlink"/>
              </a:buClr>
              <a:buSzPct val="60000"/>
              <a:buFont typeface="Wingdings" panose="05000000000000000000" pitchFamily="2" charset="2"/>
              <a:buNone/>
            </a:pPr>
            <a:r>
              <a:rPr lang="en-US" altLang="zh-CN" sz="2500" b="1">
                <a:latin typeface="黑体" panose="02010609060101010101" pitchFamily="49" charset="-122"/>
                <a:ea typeface="黑体" panose="02010609060101010101" pitchFamily="49" charset="-122"/>
              </a:rPr>
              <a:t> </a:t>
            </a:r>
            <a:r>
              <a:rPr lang="en-US" altLang="zh-CN" sz="2400" b="1">
                <a:latin typeface="黑体" panose="02010609060101010101" pitchFamily="49" charset="-122"/>
                <a:ea typeface="黑体" panose="02010609060101010101" pitchFamily="49" charset="-122"/>
              </a:rPr>
              <a:t>              </a:t>
            </a:r>
            <a:r>
              <a:rPr lang="en-US" altLang="zh-CN" sz="2500" b="1">
                <a:latin typeface="黑体" panose="02010609060101010101" pitchFamily="49" charset="-122"/>
                <a:ea typeface="黑体" panose="02010609060101010101" pitchFamily="49" charset="-122"/>
              </a:rPr>
              <a:t>+ </a:t>
            </a:r>
            <a:r>
              <a:rPr lang="en-US" altLang="zh-CN" sz="2500" b="1">
                <a:solidFill>
                  <a:srgbClr val="FF0000"/>
                </a:solidFill>
                <a:latin typeface="黑体" panose="02010609060101010101" pitchFamily="49" charset="-122"/>
                <a:ea typeface="黑体" panose="02010609060101010101" pitchFamily="49" charset="-122"/>
              </a:rPr>
              <a:t>CAST(</a:t>
            </a:r>
            <a:r>
              <a:rPr lang="en-US" altLang="zh-CN" sz="2500" b="1">
                <a:latin typeface="黑体" panose="02010609060101010101" pitchFamily="49" charset="-122"/>
                <a:ea typeface="黑体" panose="02010609060101010101" pitchFamily="49" charset="-122"/>
              </a:rPr>
              <a:t>AVG(GRADE) AS CHAR(2)</a:t>
            </a:r>
            <a:r>
              <a:rPr lang="en-US" altLang="zh-CN" sz="2500" b="1">
                <a:solidFill>
                  <a:srgbClr val="FF0000"/>
                </a:solidFill>
                <a:latin typeface="黑体" panose="02010609060101010101" pitchFamily="49" charset="-122"/>
                <a:ea typeface="黑体" panose="02010609060101010101" pitchFamily="49" charset="-122"/>
              </a:rPr>
              <a:t>)</a:t>
            </a:r>
            <a:r>
              <a:rPr lang="en-US" altLang="zh-CN" sz="2500" b="1">
                <a:latin typeface="黑体" panose="02010609060101010101" pitchFamily="49" charset="-122"/>
                <a:ea typeface="黑体" panose="02010609060101010101" pitchFamily="49" charset="-122"/>
              </a:rPr>
              <a:t> + '</a:t>
            </a:r>
            <a:r>
              <a:rPr lang="zh-CN" altLang="en-US" sz="2500" b="1">
                <a:latin typeface="黑体" panose="02010609060101010101" pitchFamily="49" charset="-122"/>
                <a:ea typeface="黑体" panose="02010609060101010101" pitchFamily="49" charset="-122"/>
              </a:rPr>
              <a:t>分</a:t>
            </a:r>
            <a:r>
              <a:rPr lang="en-US" altLang="zh-CN" sz="2500" b="1">
                <a:latin typeface="黑体" panose="02010609060101010101" pitchFamily="49" charset="-122"/>
                <a:ea typeface="黑体" panose="02010609060101010101" pitchFamily="49" charset="-122"/>
              </a:rPr>
              <a:t>'</a:t>
            </a:r>
          </a:p>
          <a:p>
            <a:pPr eaLnBrk="1" hangingPunct="1">
              <a:lnSpc>
                <a:spcPct val="120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FROM</a:t>
            </a:r>
            <a:r>
              <a:rPr lang="en-US" altLang="zh-CN" sz="2600" b="1">
                <a:latin typeface="黑体" panose="02010609060101010101" pitchFamily="49" charset="-122"/>
                <a:ea typeface="黑体" panose="02010609060101010101" pitchFamily="49" charset="-122"/>
              </a:rPr>
              <a:t>  SC</a:t>
            </a:r>
          </a:p>
          <a:p>
            <a:pPr eaLnBrk="1" hangingPunct="1">
              <a:lnSpc>
                <a:spcPct val="120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GROUP BY</a:t>
            </a:r>
            <a:r>
              <a:rPr lang="en-US" altLang="zh-CN" sz="2600" b="1">
                <a:latin typeface="黑体" panose="02010609060101010101" pitchFamily="49" charset="-122"/>
                <a:ea typeface="黑体" panose="02010609060101010101" pitchFamily="49" charset="-122"/>
              </a:rPr>
              <a:t>  S#</a:t>
            </a:r>
          </a:p>
          <a:p>
            <a:pPr eaLnBrk="1" hangingPunct="1">
              <a:lnSpc>
                <a:spcPct val="120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GO </a:t>
            </a:r>
            <a:endParaRPr lang="zh-CN" altLang="en-US" sz="2600" b="1">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79709"/>
    </mc:Choice>
    <mc:Fallback xmlns="">
      <p:transition spd="slow" advTm="79709"/>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30821">
                                            <p:txEl>
                                              <p:pRg st="6" end="6"/>
                                            </p:txEl>
                                          </p:spTgt>
                                        </p:tgtEl>
                                        <p:attrNameLst>
                                          <p:attrName>style.visibility</p:attrName>
                                        </p:attrNameLst>
                                      </p:cBhvr>
                                      <p:to>
                                        <p:strVal val="visible"/>
                                      </p:to>
                                    </p:set>
                                    <p:animEffect transition="in" filter="wipe(left)">
                                      <p:cBhvr>
                                        <p:cTn id="7" dur="500"/>
                                        <p:tgtEl>
                                          <p:spTgt spid="930821">
                                            <p:txEl>
                                              <p:pRg st="6" end="6"/>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930821">
                                            <p:txEl>
                                              <p:pRg st="7" end="7"/>
                                            </p:txEl>
                                          </p:spTgt>
                                        </p:tgtEl>
                                        <p:attrNameLst>
                                          <p:attrName>style.visibility</p:attrName>
                                        </p:attrNameLst>
                                      </p:cBhvr>
                                      <p:to>
                                        <p:strVal val="visible"/>
                                      </p:to>
                                    </p:set>
                                    <p:animEffect transition="in" filter="wipe(left)">
                                      <p:cBhvr>
                                        <p:cTn id="11" dur="500"/>
                                        <p:tgtEl>
                                          <p:spTgt spid="93082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4" name="Picture 4">
            <a:extLst>
              <a:ext uri="{FF2B5EF4-FFF2-40B4-BE49-F238E27FC236}">
                <a16:creationId xmlns:a16="http://schemas.microsoft.com/office/drawing/2014/main" id="{A4D591A6-7A27-40F7-8D5B-933BE88B81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3817"/>
    </mc:Choice>
    <mc:Fallback xmlns="">
      <p:transition spd="slow" advTm="3817"/>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4" name="Rectangle 4">
            <a:extLst>
              <a:ext uri="{FF2B5EF4-FFF2-40B4-BE49-F238E27FC236}">
                <a16:creationId xmlns:a16="http://schemas.microsoft.com/office/drawing/2014/main" id="{52162B71-AB63-40C0-A9D4-EE5DC759D116}"/>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r>
              <a:rPr lang="zh-CN" altLang="en-US" sz="3600" b="1">
                <a:solidFill>
                  <a:schemeClr val="tx2"/>
                </a:solidFill>
                <a:latin typeface="Tahoma" panose="020B0604030504040204" pitchFamily="34" charset="0"/>
                <a:ea typeface="幼圆" panose="02010509060101010101" pitchFamily="49" charset="-122"/>
              </a:rPr>
              <a:t>四、</a:t>
            </a:r>
            <a:r>
              <a:rPr lang="en-US" altLang="zh-CN" sz="3600" b="1">
                <a:solidFill>
                  <a:schemeClr val="tx2"/>
                </a:solidFill>
                <a:latin typeface="Tahoma" panose="020B0604030504040204" pitchFamily="34" charset="0"/>
                <a:ea typeface="幼圆" panose="02010509060101010101" pitchFamily="49" charset="-122"/>
              </a:rPr>
              <a:t>Transact-SQL</a:t>
            </a:r>
            <a:r>
              <a:rPr lang="zh-CN" altLang="en-US" sz="3600" b="1">
                <a:solidFill>
                  <a:schemeClr val="tx2"/>
                </a:solidFill>
                <a:latin typeface="Tahoma" panose="020B0604030504040204" pitchFamily="34" charset="0"/>
                <a:ea typeface="幼圆" panose="02010509060101010101" pitchFamily="49" charset="-122"/>
              </a:rPr>
              <a:t>函数 </a:t>
            </a:r>
          </a:p>
        </p:txBody>
      </p:sp>
      <p:sp>
        <p:nvSpPr>
          <p:cNvPr id="931845" name="Rectangle 5">
            <a:extLst>
              <a:ext uri="{FF2B5EF4-FFF2-40B4-BE49-F238E27FC236}">
                <a16:creationId xmlns:a16="http://schemas.microsoft.com/office/drawing/2014/main" id="{AFBD94B1-B435-4E0C-83EC-09EA8ADA5D36}"/>
              </a:ext>
            </a:extLst>
          </p:cNvPr>
          <p:cNvSpPr>
            <a:spLocks noChangeArrowheads="1"/>
          </p:cNvSpPr>
          <p:nvPr/>
        </p:nvSpPr>
        <p:spPr bwMode="auto">
          <a:xfrm>
            <a:off x="323850" y="1171575"/>
            <a:ext cx="8424863"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rPr>
              <a:t>          </a:t>
            </a:r>
            <a:r>
              <a:rPr lang="en-US" altLang="zh-CN" sz="2800" b="1">
                <a:solidFill>
                  <a:srgbClr val="660033"/>
                </a:solidFill>
                <a:latin typeface="黑体" panose="02010609060101010101" pitchFamily="49" charset="-122"/>
                <a:ea typeface="黑体" panose="02010609060101010101" pitchFamily="49" charset="-122"/>
              </a:rPr>
              <a:t>2</a:t>
            </a:r>
            <a:r>
              <a:rPr lang="zh-CN" altLang="en-US" sz="2800" b="1">
                <a:solidFill>
                  <a:srgbClr val="660033"/>
                </a:solidFill>
                <a:latin typeface="黑体" panose="02010609060101010101" pitchFamily="49" charset="-122"/>
                <a:ea typeface="黑体" panose="02010609060101010101" pitchFamily="49" charset="-122"/>
              </a:rPr>
              <a:t>、用户自定义函数</a:t>
            </a:r>
            <a:r>
              <a:rPr lang="zh-CN" altLang="en-US" sz="2800" b="1">
                <a:latin typeface="Tahoma" panose="020B0604030504040204" pitchFamily="34" charset="0"/>
              </a:rPr>
              <a:t> </a:t>
            </a:r>
            <a:endParaRPr lang="zh-CN" altLang="en-US" sz="2800" b="1">
              <a:solidFill>
                <a:srgbClr val="660033"/>
              </a:solidFill>
              <a:latin typeface="黑体" panose="02010609060101010101" pitchFamily="49" charset="-122"/>
              <a:ea typeface="黑体" panose="02010609060101010101" pitchFamily="49" charset="-122"/>
            </a:endParaRPr>
          </a:p>
          <a:p>
            <a:pPr eaLnBrk="1" hangingPunct="1">
              <a:lnSpc>
                <a:spcPct val="125000"/>
              </a:lnSpc>
              <a:buClr>
                <a:schemeClr val="folHlink"/>
              </a:buClr>
              <a:buSzPct val="60000"/>
              <a:buFont typeface="Wingdings" panose="05000000000000000000" pitchFamily="2" charset="2"/>
              <a:buNone/>
            </a:pPr>
            <a:r>
              <a:rPr lang="zh-CN" altLang="en-US" sz="2800" b="1">
                <a:latin typeface="Tahoma" panose="020B0604030504040204" pitchFamily="34" charset="0"/>
              </a:rPr>
              <a:t>         </a:t>
            </a:r>
            <a:r>
              <a:rPr lang="zh-CN" altLang="en-US" sz="2600" b="1">
                <a:solidFill>
                  <a:srgbClr val="00CCFF"/>
                </a:solidFill>
                <a:latin typeface="宋体" panose="02010600030101010101" pitchFamily="2" charset="-122"/>
                <a:ea typeface="宋体" panose="02010600030101010101" pitchFamily="2" charset="-122"/>
              </a:rPr>
              <a:t>◆</a:t>
            </a:r>
            <a:r>
              <a:rPr lang="zh-CN" altLang="en-US" sz="2600" b="1">
                <a:latin typeface="Tahoma" panose="020B0604030504040204" pitchFamily="34" charset="0"/>
              </a:rPr>
              <a:t>自定义函数是由一个或多个 </a:t>
            </a:r>
            <a:r>
              <a:rPr lang="en-US" altLang="zh-CN" sz="2600" b="1">
                <a:latin typeface="Tahoma" panose="020B0604030504040204" pitchFamily="34" charset="0"/>
              </a:rPr>
              <a:t>T-SQL</a:t>
            </a:r>
            <a:r>
              <a:rPr lang="zh-CN" altLang="en-US" sz="2600" b="1">
                <a:latin typeface="Tahoma" panose="020B0604030504040204" pitchFamily="34" charset="0"/>
              </a:rPr>
              <a:t>语句组成的子程序。</a:t>
            </a:r>
          </a:p>
          <a:p>
            <a:pPr eaLnBrk="1" hangingPunct="1">
              <a:lnSpc>
                <a:spcPct val="125000"/>
              </a:lnSpc>
              <a:buClr>
                <a:schemeClr val="folHlink"/>
              </a:buClr>
              <a:buSzPct val="60000"/>
              <a:buFont typeface="Wingdings" panose="05000000000000000000" pitchFamily="2" charset="2"/>
              <a:buNone/>
            </a:pPr>
            <a:r>
              <a:rPr lang="zh-CN" altLang="en-US" sz="2600" b="1">
                <a:solidFill>
                  <a:srgbClr val="00CCFF"/>
                </a:solidFill>
                <a:latin typeface="宋体" panose="02010600030101010101" pitchFamily="2" charset="-122"/>
                <a:ea typeface="宋体" panose="02010600030101010101" pitchFamily="2" charset="-122"/>
              </a:rPr>
              <a:t>     ◆</a:t>
            </a:r>
            <a:r>
              <a:rPr lang="zh-CN" altLang="en-US" sz="2600" b="1">
                <a:latin typeface="Tahoma" panose="020B0604030504040204" pitchFamily="34" charset="0"/>
              </a:rPr>
              <a:t>自定义函数的输入参数可以为零个或最多</a:t>
            </a:r>
            <a:r>
              <a:rPr lang="en-US" altLang="zh-CN" sz="2600" b="1">
                <a:latin typeface="Tahoma" panose="020B0604030504040204" pitchFamily="34" charset="0"/>
              </a:rPr>
              <a:t>1024 </a:t>
            </a:r>
            <a:r>
              <a:rPr lang="zh-CN" altLang="en-US" sz="2600" b="1">
                <a:latin typeface="Tahoma" panose="020B0604030504040204" pitchFamily="34" charset="0"/>
              </a:rPr>
              <a:t>个，输入的参数能够是除了时间戳、游标和表以外的其他变量。</a:t>
            </a:r>
          </a:p>
          <a:p>
            <a:pPr eaLnBrk="1" hangingPunct="1">
              <a:lnSpc>
                <a:spcPct val="125000"/>
              </a:lnSpc>
              <a:buClr>
                <a:schemeClr val="folHlink"/>
              </a:buClr>
              <a:buSzPct val="60000"/>
              <a:buFont typeface="Wingdings" panose="05000000000000000000" pitchFamily="2" charset="2"/>
              <a:buNone/>
            </a:pPr>
            <a:r>
              <a:rPr lang="zh-CN" altLang="en-US" sz="2600" b="1">
                <a:latin typeface="宋体" panose="02010600030101010101" pitchFamily="2" charset="-122"/>
                <a:ea typeface="宋体" panose="02010600030101010101" pitchFamily="2" charset="-122"/>
              </a:rPr>
              <a:t>     </a:t>
            </a:r>
            <a:r>
              <a:rPr lang="zh-CN" altLang="en-US" sz="2600" b="1">
                <a:solidFill>
                  <a:srgbClr val="00CCFF"/>
                </a:solidFill>
                <a:latin typeface="宋体" panose="02010600030101010101" pitchFamily="2" charset="-122"/>
                <a:ea typeface="宋体" panose="02010600030101010101" pitchFamily="2" charset="-122"/>
              </a:rPr>
              <a:t>◆</a:t>
            </a:r>
            <a:r>
              <a:rPr lang="zh-CN" altLang="en-US" sz="2600" b="1">
                <a:latin typeface="Tahoma" panose="020B0604030504040204" pitchFamily="34" charset="0"/>
              </a:rPr>
              <a:t>自定义函数可以像系统函数一样在</a:t>
            </a:r>
            <a:r>
              <a:rPr lang="zh-CN" altLang="en-US" sz="2600" b="1">
                <a:solidFill>
                  <a:srgbClr val="0000FF"/>
                </a:solidFill>
                <a:latin typeface="Tahoma" panose="020B0604030504040204" pitchFamily="34" charset="0"/>
              </a:rPr>
              <a:t>查询或存储过程</a:t>
            </a:r>
            <a:r>
              <a:rPr lang="zh-CN" altLang="en-US" sz="2600" b="1">
                <a:latin typeface="Tahoma" panose="020B0604030504040204" pitchFamily="34" charset="0"/>
              </a:rPr>
              <a:t>等程序段中使用，可以通过</a:t>
            </a:r>
            <a:r>
              <a:rPr lang="en-US" altLang="zh-CN" sz="2600" b="1">
                <a:solidFill>
                  <a:srgbClr val="0000FF"/>
                </a:solidFill>
                <a:latin typeface="Tahoma" panose="020B0604030504040204" pitchFamily="34" charset="0"/>
              </a:rPr>
              <a:t>EXECUTE </a:t>
            </a:r>
            <a:r>
              <a:rPr lang="zh-CN" altLang="en-US" sz="2600" b="1">
                <a:latin typeface="Tahoma" panose="020B0604030504040204" pitchFamily="34" charset="0"/>
              </a:rPr>
              <a:t>命令执行。</a:t>
            </a:r>
          </a:p>
          <a:p>
            <a:pPr eaLnBrk="1" hangingPunct="1">
              <a:lnSpc>
                <a:spcPct val="125000"/>
              </a:lnSpc>
              <a:buClr>
                <a:schemeClr val="folHlink"/>
              </a:buClr>
              <a:buSzPct val="60000"/>
              <a:buFont typeface="Wingdings" panose="05000000000000000000" pitchFamily="2" charset="2"/>
              <a:buNone/>
            </a:pPr>
            <a:r>
              <a:rPr lang="zh-CN" altLang="en-US" sz="2600" b="1">
                <a:solidFill>
                  <a:srgbClr val="00CCFF"/>
                </a:solidFill>
              </a:rPr>
              <a:t>         ◆</a:t>
            </a:r>
            <a:r>
              <a:rPr lang="zh-CN" altLang="en-US" sz="2600" b="1"/>
              <a:t>自定义函数可分为三类：</a:t>
            </a:r>
            <a:r>
              <a:rPr lang="zh-CN" altLang="en-US" sz="2600" b="1">
                <a:solidFill>
                  <a:srgbClr val="0000FF"/>
                </a:solidFill>
              </a:rPr>
              <a:t>标量函数、单语句表值函数和多语句表值函数</a:t>
            </a:r>
            <a:r>
              <a:rPr lang="zh-CN" altLang="en-US" sz="2600" b="1"/>
              <a:t>。</a:t>
            </a:r>
            <a:endParaRPr lang="zh-CN" altLang="en-US" sz="2600" b="1">
              <a:latin typeface="Tahoma" panose="020B060403050404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414"/>
    </mc:Choice>
    <mc:Fallback xmlns="">
      <p:transition spd="slow" advTm="37414"/>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31845">
                                            <p:txEl>
                                              <p:pRg st="2" end="2"/>
                                            </p:txEl>
                                          </p:spTgt>
                                        </p:tgtEl>
                                        <p:attrNameLst>
                                          <p:attrName>style.visibility</p:attrName>
                                        </p:attrNameLst>
                                      </p:cBhvr>
                                      <p:to>
                                        <p:strVal val="visible"/>
                                      </p:to>
                                    </p:set>
                                    <p:animEffect transition="in" filter="wipe(left)">
                                      <p:cBhvr>
                                        <p:cTn id="7" dur="500"/>
                                        <p:tgtEl>
                                          <p:spTgt spid="93184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31845">
                                            <p:txEl>
                                              <p:pRg st="3" end="3"/>
                                            </p:txEl>
                                          </p:spTgt>
                                        </p:tgtEl>
                                        <p:attrNameLst>
                                          <p:attrName>style.visibility</p:attrName>
                                        </p:attrNameLst>
                                      </p:cBhvr>
                                      <p:to>
                                        <p:strVal val="visible"/>
                                      </p:to>
                                    </p:set>
                                    <p:animEffect transition="in" filter="wipe(left)">
                                      <p:cBhvr>
                                        <p:cTn id="12" dur="500"/>
                                        <p:tgtEl>
                                          <p:spTgt spid="93184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31845">
                                            <p:txEl>
                                              <p:pRg st="4" end="4"/>
                                            </p:txEl>
                                          </p:spTgt>
                                        </p:tgtEl>
                                        <p:attrNameLst>
                                          <p:attrName>style.visibility</p:attrName>
                                        </p:attrNameLst>
                                      </p:cBhvr>
                                      <p:to>
                                        <p:strVal val="visible"/>
                                      </p:to>
                                    </p:set>
                                    <p:animEffect transition="in" filter="wipe(left)">
                                      <p:cBhvr>
                                        <p:cTn id="17" dur="500"/>
                                        <p:tgtEl>
                                          <p:spTgt spid="93184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31845">
                                            <p:txEl>
                                              <p:pRg st="5" end="5"/>
                                            </p:txEl>
                                          </p:spTgt>
                                        </p:tgtEl>
                                        <p:attrNameLst>
                                          <p:attrName>style.visibility</p:attrName>
                                        </p:attrNameLst>
                                      </p:cBhvr>
                                      <p:to>
                                        <p:strVal val="visible"/>
                                      </p:to>
                                    </p:set>
                                    <p:animEffect transition="in" filter="wipe(left)">
                                      <p:cBhvr>
                                        <p:cTn id="22" dur="500"/>
                                        <p:tgtEl>
                                          <p:spTgt spid="9318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40" name="Rectangle 4">
            <a:extLst>
              <a:ext uri="{FF2B5EF4-FFF2-40B4-BE49-F238E27FC236}">
                <a16:creationId xmlns:a16="http://schemas.microsoft.com/office/drawing/2014/main" id="{2CCDE7F7-2D4F-4F39-B624-6A7FAF541E3B}"/>
              </a:ext>
            </a:extLst>
          </p:cNvPr>
          <p:cNvSpPr>
            <a:spLocks noChangeArrowheads="1"/>
          </p:cNvSpPr>
          <p:nvPr/>
        </p:nvSpPr>
        <p:spPr bwMode="auto">
          <a:xfrm>
            <a:off x="1150938" y="214313"/>
            <a:ext cx="7793037" cy="622300"/>
          </a:xfrm>
          <a:prstGeom prst="rect">
            <a:avLst/>
          </a:prstGeom>
          <a:noFill/>
          <a:ln w="9525">
            <a:noFill/>
            <a:miter lim="800000"/>
            <a:headEnd/>
            <a:tailEnd/>
          </a:ln>
          <a:effectLst/>
        </p:spPr>
        <p:txBody>
          <a:bodyPr anchor="b"/>
          <a:lstStyle/>
          <a:p>
            <a:pPr>
              <a:defRPr/>
            </a:pP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四、</a:t>
            </a:r>
            <a:r>
              <a:rPr lang="en-US" altLang="zh-CN" sz="3600" b="1">
                <a:solidFill>
                  <a:schemeClr val="tx2"/>
                </a:solidFill>
                <a:effectLst>
                  <a:outerShdw blurRad="38100" dist="38100" dir="2700000" algn="tl">
                    <a:srgbClr val="C0C0C0"/>
                  </a:outerShdw>
                </a:effectLst>
                <a:latin typeface="Tahoma" pitchFamily="34" charset="0"/>
                <a:ea typeface="幼圆" pitchFamily="49" charset="-122"/>
              </a:rPr>
              <a:t>Transact-SQL</a:t>
            </a:r>
            <a:r>
              <a:rPr lang="zh-CN" altLang="en-US" sz="3600" b="1">
                <a:solidFill>
                  <a:schemeClr val="tx2"/>
                </a:solidFill>
                <a:effectLst>
                  <a:outerShdw blurRad="38100" dist="38100" dir="2700000" algn="tl">
                    <a:srgbClr val="C0C0C0"/>
                  </a:outerShdw>
                </a:effectLst>
                <a:latin typeface="Tahoma" pitchFamily="34" charset="0"/>
                <a:ea typeface="幼圆" pitchFamily="49" charset="-122"/>
              </a:rPr>
              <a:t>函数 </a:t>
            </a:r>
          </a:p>
        </p:txBody>
      </p:sp>
      <p:sp>
        <p:nvSpPr>
          <p:cNvPr id="935941" name="Rectangle 5">
            <a:extLst>
              <a:ext uri="{FF2B5EF4-FFF2-40B4-BE49-F238E27FC236}">
                <a16:creationId xmlns:a16="http://schemas.microsoft.com/office/drawing/2014/main" id="{096E449D-7286-458E-98D7-10B7D34E12ED}"/>
              </a:ext>
            </a:extLst>
          </p:cNvPr>
          <p:cNvSpPr>
            <a:spLocks noChangeArrowheads="1"/>
          </p:cNvSpPr>
          <p:nvPr/>
        </p:nvSpPr>
        <p:spPr bwMode="auto">
          <a:xfrm>
            <a:off x="323850" y="981075"/>
            <a:ext cx="8424863" cy="817563"/>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80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zh-CN" altLang="en-US" sz="2800" b="1">
                <a:solidFill>
                  <a:srgbClr val="800000"/>
                </a:solidFill>
                <a:latin typeface="Tahoma" panose="020B0604030504040204" pitchFamily="34" charset="0"/>
              </a:rPr>
              <a:t>        </a:t>
            </a:r>
            <a:r>
              <a:rPr lang="en-US" altLang="zh-CN" sz="2800" b="1">
                <a:solidFill>
                  <a:srgbClr val="800000"/>
                </a:solidFill>
                <a:latin typeface="Tahoma" panose="020B0604030504040204" pitchFamily="34" charset="0"/>
              </a:rPr>
              <a:t>1</a:t>
            </a:r>
            <a:r>
              <a:rPr lang="zh-CN" altLang="en-US" sz="2800" b="1">
                <a:solidFill>
                  <a:srgbClr val="800000"/>
                </a:solidFill>
                <a:latin typeface="Tahoma" panose="020B0604030504040204" pitchFamily="34" charset="0"/>
              </a:rPr>
              <a:t>）用</a:t>
            </a:r>
            <a:r>
              <a:rPr lang="en-US" altLang="zh-CN" sz="2800" b="1">
                <a:solidFill>
                  <a:srgbClr val="800000"/>
                </a:solidFill>
                <a:latin typeface="Tahoma" panose="020B0604030504040204" pitchFamily="34" charset="0"/>
              </a:rPr>
              <a:t>CREATE FUNCTION </a:t>
            </a:r>
            <a:r>
              <a:rPr lang="zh-CN" altLang="en-US" sz="2800" b="1">
                <a:solidFill>
                  <a:srgbClr val="800000"/>
                </a:solidFill>
                <a:latin typeface="Tahoma" panose="020B0604030504040204" pitchFamily="34" charset="0"/>
              </a:rPr>
              <a:t>语句创建标量函数</a:t>
            </a:r>
            <a:r>
              <a:rPr lang="zh-CN" altLang="en-US" sz="2800" b="1">
                <a:solidFill>
                  <a:srgbClr val="800000"/>
                </a:solidFill>
                <a:effectLst>
                  <a:outerShdw blurRad="38100" dist="38100" dir="2700000" algn="tl">
                    <a:srgbClr val="C0C0C0"/>
                  </a:outerShdw>
                </a:effectLst>
                <a:latin typeface="Tahoma" panose="020B0604030504040204" pitchFamily="34" charset="0"/>
              </a:rPr>
              <a:t> </a:t>
            </a:r>
            <a:endParaRPr lang="zh-CN" altLang="en-US" sz="2700" b="1">
              <a:solidFill>
                <a:srgbClr val="800000"/>
              </a:solidFill>
              <a:effectLst>
                <a:outerShdw blurRad="38100" dist="38100" dir="2700000" algn="tl">
                  <a:srgbClr val="C0C0C0"/>
                </a:outerShdw>
              </a:effectLst>
              <a:latin typeface="Tahoma" panose="020B0604030504040204" pitchFamily="34" charset="0"/>
            </a:endParaRPr>
          </a:p>
        </p:txBody>
      </p:sp>
      <p:sp>
        <p:nvSpPr>
          <p:cNvPr id="37892" name="Text Box 6">
            <a:extLst>
              <a:ext uri="{FF2B5EF4-FFF2-40B4-BE49-F238E27FC236}">
                <a16:creationId xmlns:a16="http://schemas.microsoft.com/office/drawing/2014/main" id="{6C98E902-F9C0-43A8-A7BB-10CA3D5C60D2}"/>
              </a:ext>
            </a:extLst>
          </p:cNvPr>
          <p:cNvSpPr txBox="1">
            <a:spLocks noChangeArrowheads="1"/>
          </p:cNvSpPr>
          <p:nvPr/>
        </p:nvSpPr>
        <p:spPr bwMode="auto">
          <a:xfrm>
            <a:off x="395288" y="1844675"/>
            <a:ext cx="8353425" cy="4206875"/>
          </a:xfrm>
          <a:prstGeom prst="rect">
            <a:avLst/>
          </a:prstGeom>
          <a:gradFill rotWithShape="1">
            <a:gsLst>
              <a:gs pos="0">
                <a:srgbClr val="C5ECFF"/>
              </a:gs>
              <a:gs pos="50000">
                <a:srgbClr val="FFFFFF"/>
              </a:gs>
              <a:gs pos="100000">
                <a:srgbClr val="C5ECFF"/>
              </a:gs>
            </a:gsLst>
            <a:lin ang="5400000" scaled="1"/>
          </a:gra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25000"/>
              </a:lnSpc>
            </a:pPr>
            <a:r>
              <a:rPr lang="en-US" altLang="zh-CN" sz="2400" b="1">
                <a:solidFill>
                  <a:srgbClr val="0000FF"/>
                </a:solidFill>
              </a:rPr>
              <a:t>CREATE FUNCTION</a:t>
            </a:r>
            <a:r>
              <a:rPr lang="en-US" altLang="zh-CN" sz="2400" b="1"/>
              <a:t> [ owner_name.] function_name</a:t>
            </a:r>
          </a:p>
          <a:p>
            <a:pPr eaLnBrk="1" hangingPunct="1">
              <a:lnSpc>
                <a:spcPct val="125000"/>
              </a:lnSpc>
            </a:pPr>
            <a:r>
              <a:rPr lang="en-US" altLang="zh-CN" sz="2400" b="1"/>
              <a:t>   ( [ { @parameter_name [AS]  </a:t>
            </a:r>
          </a:p>
          <a:p>
            <a:pPr eaLnBrk="1" hangingPunct="1">
              <a:lnSpc>
                <a:spcPct val="125000"/>
              </a:lnSpc>
            </a:pPr>
            <a:r>
              <a:rPr lang="en-US" altLang="zh-CN" sz="2400" b="1"/>
              <a:t>         scalar_parameter_data_type [ = default ] } [ , ...n] ] ) </a:t>
            </a:r>
          </a:p>
          <a:p>
            <a:pPr eaLnBrk="1" hangingPunct="1">
              <a:lnSpc>
                <a:spcPct val="125000"/>
              </a:lnSpc>
            </a:pPr>
            <a:r>
              <a:rPr lang="en-US" altLang="zh-CN" sz="2400" b="1"/>
              <a:t>      </a:t>
            </a:r>
            <a:r>
              <a:rPr lang="en-US" altLang="zh-CN" sz="2400" b="1">
                <a:solidFill>
                  <a:srgbClr val="0000FF"/>
                </a:solidFill>
              </a:rPr>
              <a:t>RETURNS</a:t>
            </a:r>
            <a:r>
              <a:rPr lang="en-US" altLang="zh-CN" sz="2400" b="1"/>
              <a:t> scalar_return_data_type</a:t>
            </a:r>
          </a:p>
          <a:p>
            <a:pPr eaLnBrk="1" hangingPunct="1">
              <a:lnSpc>
                <a:spcPct val="125000"/>
              </a:lnSpc>
            </a:pPr>
            <a:r>
              <a:rPr lang="en-US" altLang="zh-CN" sz="2400" b="1"/>
              <a:t>     [ AS ]</a:t>
            </a:r>
          </a:p>
          <a:p>
            <a:pPr eaLnBrk="1" hangingPunct="1">
              <a:lnSpc>
                <a:spcPct val="125000"/>
              </a:lnSpc>
            </a:pPr>
            <a:r>
              <a:rPr lang="en-US" altLang="zh-CN" sz="2400" b="1"/>
              <a:t>         </a:t>
            </a:r>
            <a:r>
              <a:rPr lang="en-US" altLang="zh-CN" sz="2400" b="1">
                <a:solidFill>
                  <a:srgbClr val="0000FF"/>
                </a:solidFill>
              </a:rPr>
              <a:t>BEGIN</a:t>
            </a:r>
          </a:p>
          <a:p>
            <a:pPr eaLnBrk="1" hangingPunct="1">
              <a:lnSpc>
                <a:spcPct val="125000"/>
              </a:lnSpc>
            </a:pPr>
            <a:r>
              <a:rPr lang="en-US" altLang="zh-CN" sz="2400" b="1"/>
              <a:t>               function_body </a:t>
            </a:r>
          </a:p>
          <a:p>
            <a:pPr eaLnBrk="1" hangingPunct="1">
              <a:lnSpc>
                <a:spcPct val="125000"/>
              </a:lnSpc>
            </a:pPr>
            <a:r>
              <a:rPr lang="en-US" altLang="zh-CN" sz="2400" b="1"/>
              <a:t>               RETURN scalar_expression</a:t>
            </a:r>
          </a:p>
          <a:p>
            <a:pPr eaLnBrk="1" hangingPunct="1">
              <a:lnSpc>
                <a:spcPct val="125000"/>
              </a:lnSpc>
            </a:pPr>
            <a:r>
              <a:rPr lang="en-US" altLang="zh-CN" sz="2400" b="1"/>
              <a:t>         </a:t>
            </a:r>
            <a:r>
              <a:rPr lang="en-US" altLang="zh-CN" sz="2400" b="1">
                <a:solidFill>
                  <a:srgbClr val="0000FF"/>
                </a:solidFill>
              </a:rPr>
              <a:t>END</a:t>
            </a:r>
            <a:r>
              <a:rPr lang="en-US" altLang="zh-CN" sz="2400" b="1"/>
              <a:t> </a:t>
            </a:r>
          </a:p>
        </p:txBody>
      </p:sp>
      <p:sp>
        <p:nvSpPr>
          <p:cNvPr id="37893" name="Rectangle 7" descr="Large confetti">
            <a:extLst>
              <a:ext uri="{FF2B5EF4-FFF2-40B4-BE49-F238E27FC236}">
                <a16:creationId xmlns:a16="http://schemas.microsoft.com/office/drawing/2014/main" id="{726B460F-3311-480B-AC1E-DCE23863967F}"/>
              </a:ext>
            </a:extLst>
          </p:cNvPr>
          <p:cNvSpPr>
            <a:spLocks noChangeArrowheads="1"/>
          </p:cNvSpPr>
          <p:nvPr/>
        </p:nvSpPr>
        <p:spPr bwMode="auto">
          <a:xfrm>
            <a:off x="468313" y="6170613"/>
            <a:ext cx="3633787" cy="427037"/>
          </a:xfrm>
          <a:prstGeom prst="rect">
            <a:avLst/>
          </a:prstGeom>
          <a:noFill/>
          <a:ln>
            <a:noFill/>
          </a:ln>
          <a:effectLst>
            <a:outerShdw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r>
              <a:rPr kumimoji="1" lang="zh-CN" altLang="en-US" sz="2200" b="1">
                <a:solidFill>
                  <a:srgbClr val="660066"/>
                </a:solidFill>
                <a:ea typeface="黑体" panose="02010609060101010101" pitchFamily="49" charset="-122"/>
              </a:rPr>
              <a:t>注：</a:t>
            </a:r>
            <a:r>
              <a:rPr kumimoji="1" lang="zh-CN" altLang="en-US" sz="2200" b="1">
                <a:solidFill>
                  <a:srgbClr val="003366"/>
                </a:solidFill>
              </a:rPr>
              <a:t>是在查询分析器中创建</a:t>
            </a:r>
            <a:r>
              <a:rPr kumimoji="1" lang="zh-CN" altLang="en-US" sz="2200" b="1"/>
              <a:t> </a:t>
            </a:r>
          </a:p>
        </p:txBody>
      </p:sp>
      <p:sp>
        <p:nvSpPr>
          <p:cNvPr id="37895" name="Rectangle 7">
            <a:extLst>
              <a:ext uri="{FF2B5EF4-FFF2-40B4-BE49-F238E27FC236}">
                <a16:creationId xmlns:a16="http://schemas.microsoft.com/office/drawing/2014/main" id="{A5435CC7-357C-4AFC-B8BF-C0D397A0EE99}"/>
              </a:ext>
            </a:extLst>
          </p:cNvPr>
          <p:cNvSpPr>
            <a:spLocks noChangeArrowheads="1"/>
          </p:cNvSpPr>
          <p:nvPr/>
        </p:nvSpPr>
        <p:spPr bwMode="auto">
          <a:xfrm>
            <a:off x="5724525" y="1916113"/>
            <a:ext cx="2447925" cy="433387"/>
          </a:xfrm>
          <a:prstGeom prst="rect">
            <a:avLst/>
          </a:prstGeom>
          <a:noFill/>
          <a:ln w="38100" cap="sq">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0000FF"/>
              </a:solidFill>
            </a:endParaRPr>
          </a:p>
        </p:txBody>
      </p:sp>
      <p:sp>
        <p:nvSpPr>
          <p:cNvPr id="37896" name="Rectangle 8">
            <a:extLst>
              <a:ext uri="{FF2B5EF4-FFF2-40B4-BE49-F238E27FC236}">
                <a16:creationId xmlns:a16="http://schemas.microsoft.com/office/drawing/2014/main" id="{5D099DF7-4F5F-4DA1-B616-1540C727B0CD}"/>
              </a:ext>
            </a:extLst>
          </p:cNvPr>
          <p:cNvSpPr>
            <a:spLocks noChangeArrowheads="1"/>
          </p:cNvSpPr>
          <p:nvPr/>
        </p:nvSpPr>
        <p:spPr bwMode="auto">
          <a:xfrm>
            <a:off x="1258888" y="2349500"/>
            <a:ext cx="2808287" cy="433388"/>
          </a:xfrm>
          <a:prstGeom prst="rect">
            <a:avLst/>
          </a:prstGeom>
          <a:noFill/>
          <a:ln w="38100" cap="sq">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0000FF"/>
              </a:solidFill>
            </a:endParaRPr>
          </a:p>
        </p:txBody>
      </p:sp>
      <p:sp>
        <p:nvSpPr>
          <p:cNvPr id="37899" name="Rectangle 11">
            <a:extLst>
              <a:ext uri="{FF2B5EF4-FFF2-40B4-BE49-F238E27FC236}">
                <a16:creationId xmlns:a16="http://schemas.microsoft.com/office/drawing/2014/main" id="{E7897091-E010-40A4-83C3-69BFC76FE1E4}"/>
              </a:ext>
            </a:extLst>
          </p:cNvPr>
          <p:cNvSpPr>
            <a:spLocks noChangeArrowheads="1"/>
          </p:cNvSpPr>
          <p:nvPr/>
        </p:nvSpPr>
        <p:spPr bwMode="auto">
          <a:xfrm>
            <a:off x="1692275" y="4651375"/>
            <a:ext cx="2232025" cy="433388"/>
          </a:xfrm>
          <a:prstGeom prst="rect">
            <a:avLst/>
          </a:prstGeom>
          <a:noFill/>
          <a:ln w="38100" cap="sq">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0000FF"/>
              </a:solidFill>
            </a:endParaRPr>
          </a:p>
        </p:txBody>
      </p:sp>
      <p:sp>
        <p:nvSpPr>
          <p:cNvPr id="937990" name="AutoShape 6">
            <a:extLst>
              <a:ext uri="{FF2B5EF4-FFF2-40B4-BE49-F238E27FC236}">
                <a16:creationId xmlns:a16="http://schemas.microsoft.com/office/drawing/2014/main" id="{AC2AA4A9-ABBF-4BEB-9EEE-C50E7E561369}"/>
              </a:ext>
            </a:extLst>
          </p:cNvPr>
          <p:cNvSpPr>
            <a:spLocks noChangeArrowheads="1"/>
          </p:cNvSpPr>
          <p:nvPr/>
        </p:nvSpPr>
        <p:spPr bwMode="auto">
          <a:xfrm>
            <a:off x="5364163" y="3789363"/>
            <a:ext cx="3240087" cy="1223962"/>
          </a:xfrm>
          <a:prstGeom prst="wedgeRoundRectCallout">
            <a:avLst>
              <a:gd name="adj1" fmla="val -91648"/>
              <a:gd name="adj2" fmla="val 35731"/>
              <a:gd name="adj3" fmla="val 16667"/>
            </a:avLst>
          </a:prstGeom>
          <a:solidFill>
            <a:srgbClr val="FFE1FF"/>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05000"/>
              </a:lnSpc>
            </a:pPr>
            <a:r>
              <a:rPr kumimoji="1" lang="zh-CN" altLang="en-US" sz="2200" b="1"/>
              <a:t>    函数体，位于</a:t>
            </a:r>
            <a:r>
              <a:rPr kumimoji="1" lang="en-US" altLang="zh-CN" sz="2200" b="1"/>
              <a:t>begin</a:t>
            </a:r>
            <a:r>
              <a:rPr kumimoji="1" lang="zh-CN" altLang="en-US" sz="2200" b="1"/>
              <a:t>和</a:t>
            </a:r>
            <a:r>
              <a:rPr kumimoji="1" lang="en-US" altLang="zh-CN" sz="2200" b="1"/>
              <a:t>end</a:t>
            </a:r>
            <a:r>
              <a:rPr kumimoji="1" lang="zh-CN" altLang="en-US" sz="2200" b="1"/>
              <a:t>之间的一系列 </a:t>
            </a:r>
            <a:r>
              <a:rPr kumimoji="1" lang="en-US" altLang="zh-CN" sz="2200" b="1"/>
              <a:t>Transact-SQL </a:t>
            </a:r>
            <a:r>
              <a:rPr kumimoji="1" lang="zh-CN" altLang="en-US" sz="2200" b="1"/>
              <a:t>语句</a:t>
            </a:r>
            <a:r>
              <a:rPr kumimoji="1" lang="zh-CN" altLang="en-US" sz="2200"/>
              <a:t> </a:t>
            </a:r>
          </a:p>
        </p:txBody>
      </p:sp>
      <p:sp>
        <p:nvSpPr>
          <p:cNvPr id="2" name="AutoShape 6">
            <a:extLst>
              <a:ext uri="{FF2B5EF4-FFF2-40B4-BE49-F238E27FC236}">
                <a16:creationId xmlns:a16="http://schemas.microsoft.com/office/drawing/2014/main" id="{F9BF77EF-9222-4B11-A3CA-AFDEC71FB9B6}"/>
              </a:ext>
            </a:extLst>
          </p:cNvPr>
          <p:cNvSpPr>
            <a:spLocks noChangeArrowheads="1"/>
          </p:cNvSpPr>
          <p:nvPr/>
        </p:nvSpPr>
        <p:spPr bwMode="auto">
          <a:xfrm>
            <a:off x="5903913" y="2708275"/>
            <a:ext cx="3060700" cy="1584325"/>
          </a:xfrm>
          <a:prstGeom prst="wedgeRoundRectCallout">
            <a:avLst>
              <a:gd name="adj1" fmla="val -16699"/>
              <a:gd name="adj2" fmla="val -74551"/>
              <a:gd name="adj3" fmla="val 16667"/>
            </a:avLst>
          </a:prstGeom>
          <a:solidFill>
            <a:srgbClr val="FFE1FF"/>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05000"/>
              </a:lnSpc>
            </a:pPr>
            <a:r>
              <a:rPr kumimoji="1" lang="zh-CN" altLang="en-US" sz="2200" b="1"/>
              <a:t>必须符合标识符的命名规则，并且对其所有者来说，该名称在数据库中必须唯一</a:t>
            </a:r>
            <a:r>
              <a:rPr kumimoji="1" lang="zh-CN" altLang="en-US"/>
              <a:t> 。</a:t>
            </a:r>
          </a:p>
        </p:txBody>
      </p:sp>
      <p:sp>
        <p:nvSpPr>
          <p:cNvPr id="3" name="AutoShape 6">
            <a:extLst>
              <a:ext uri="{FF2B5EF4-FFF2-40B4-BE49-F238E27FC236}">
                <a16:creationId xmlns:a16="http://schemas.microsoft.com/office/drawing/2014/main" id="{15CF6257-3B9C-44E0-942B-5EF85FE7066B}"/>
              </a:ext>
            </a:extLst>
          </p:cNvPr>
          <p:cNvSpPr>
            <a:spLocks noChangeArrowheads="1"/>
          </p:cNvSpPr>
          <p:nvPr/>
        </p:nvSpPr>
        <p:spPr bwMode="auto">
          <a:xfrm>
            <a:off x="179388" y="3213100"/>
            <a:ext cx="5327650" cy="3095625"/>
          </a:xfrm>
          <a:prstGeom prst="wedgeRoundRectCallout">
            <a:avLst>
              <a:gd name="adj1" fmla="val -16000"/>
              <a:gd name="adj2" fmla="val -62565"/>
              <a:gd name="adj3" fmla="val 16667"/>
            </a:avLst>
          </a:prstGeom>
          <a:solidFill>
            <a:srgbClr val="FFE1FF"/>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05000"/>
              </a:lnSpc>
            </a:pPr>
            <a:r>
              <a:rPr kumimoji="1" lang="zh-CN" altLang="en-US" sz="2200" b="1" dirty="0"/>
              <a:t>      每个函数的参数仅用于该函数本身。参数只能代替常量，不能用于代替表名、列名或其它数据库对象的名称。函数执行时每个已声明参数的值必须由用户指定，除非该参数的默认值已经定义。如果函数的参数有默认值，在调用该函数时必须指定</a:t>
            </a:r>
            <a:r>
              <a:rPr kumimoji="1" lang="en-US" altLang="zh-CN" sz="2200" b="1" dirty="0"/>
              <a:t>"default"</a:t>
            </a:r>
            <a:r>
              <a:rPr kumimoji="1" lang="zh-CN" altLang="en-US" sz="2200" b="1" dirty="0"/>
              <a:t>关键字才能获得默认值。</a:t>
            </a:r>
            <a:endParaRPr kumimoji="1" lang="zh-CN" altLang="en-US" sz="22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99203"/>
    </mc:Choice>
    <mc:Fallback xmlns="">
      <p:transition spd="slow" advTm="99203"/>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dissolve">
                                      <p:cBhvr>
                                        <p:cTn id="7" dur="500"/>
                                        <p:tgtEl>
                                          <p:spTgt spid="37892"/>
                                        </p:tgtEl>
                                      </p:cBhvr>
                                    </p:animEffect>
                                  </p:childTnLst>
                                </p:cTn>
                              </p:par>
                            </p:childTnLst>
                          </p:cTn>
                        </p:par>
                        <p:par>
                          <p:cTn id="8" fill="hold" nodeType="afterGroup">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7895"/>
                                        </p:tgtEl>
                                        <p:attrNameLst>
                                          <p:attrName>style.visibility</p:attrName>
                                        </p:attrNameLst>
                                      </p:cBhvr>
                                      <p:to>
                                        <p:strVal val="visible"/>
                                      </p:to>
                                    </p:set>
                                    <p:animEffect transition="in" filter="dissolve">
                                      <p:cBhvr>
                                        <p:cTn id="11" dur="500"/>
                                        <p:tgtEl>
                                          <p:spTgt spid="3789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ox(in)">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xit" presetSubtype="8" fill="hold" grpId="1" nodeType="clickEffect">
                                  <p:stCondLst>
                                    <p:cond delay="0"/>
                                  </p:stCondLst>
                                  <p:childTnLst>
                                    <p:animEffect transition="out" filter="wipe(left)">
                                      <p:cBhvr>
                                        <p:cTn id="20" dur="500"/>
                                        <p:tgtEl>
                                          <p:spTgt spid="37895"/>
                                        </p:tgtEl>
                                      </p:cBhvr>
                                    </p:animEffect>
                                    <p:set>
                                      <p:cBhvr>
                                        <p:cTn id="21" dur="1" fill="hold">
                                          <p:stCondLst>
                                            <p:cond delay="499"/>
                                          </p:stCondLst>
                                        </p:cTn>
                                        <p:tgtEl>
                                          <p:spTgt spid="37895"/>
                                        </p:tgtEl>
                                        <p:attrNameLst>
                                          <p:attrName>style.visibility</p:attrName>
                                        </p:attrNameLst>
                                      </p:cBhvr>
                                      <p:to>
                                        <p:strVal val="hidden"/>
                                      </p:to>
                                    </p:set>
                                  </p:childTnLst>
                                </p:cTn>
                              </p:par>
                              <p:par>
                                <p:cTn id="22" presetID="22" presetClass="exit" presetSubtype="8" fill="hold" grpId="1" nodeType="withEffect">
                                  <p:stCondLst>
                                    <p:cond delay="0"/>
                                  </p:stCondLst>
                                  <p:childTnLst>
                                    <p:animEffect transition="out" filter="wipe(left)">
                                      <p:cBhvr>
                                        <p:cTn id="23" dur="500"/>
                                        <p:tgtEl>
                                          <p:spTgt spid="2"/>
                                        </p:tgtEl>
                                      </p:cBhvr>
                                    </p:animEffect>
                                    <p:set>
                                      <p:cBhvr>
                                        <p:cTn id="24" dur="1" fill="hold">
                                          <p:stCondLst>
                                            <p:cond delay="499"/>
                                          </p:stCondLst>
                                        </p:cTn>
                                        <p:tgtEl>
                                          <p:spTgt spid="2"/>
                                        </p:tgtEl>
                                        <p:attrNameLst>
                                          <p:attrName>style.visibility</p:attrName>
                                        </p:attrNameLst>
                                      </p:cBhvr>
                                      <p:to>
                                        <p:strVal val="hidden"/>
                                      </p:to>
                                    </p:set>
                                  </p:childTnLst>
                                </p:cTn>
                              </p:par>
                            </p:childTnLst>
                          </p:cTn>
                        </p:par>
                        <p:par>
                          <p:cTn id="25" fill="hold" nodeType="afterGroup">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37896"/>
                                        </p:tgtEl>
                                        <p:attrNameLst>
                                          <p:attrName>style.visibility</p:attrName>
                                        </p:attrNameLst>
                                      </p:cBhvr>
                                      <p:to>
                                        <p:strVal val="visible"/>
                                      </p:to>
                                    </p:set>
                                    <p:animEffect transition="in" filter="dissolve">
                                      <p:cBhvr>
                                        <p:cTn id="28" dur="500"/>
                                        <p:tgtEl>
                                          <p:spTgt spid="37896"/>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ox(in)">
                                      <p:cBhvr>
                                        <p:cTn id="33" dur="500"/>
                                        <p:tgtEl>
                                          <p:spTgt spid="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xit" presetSubtype="8" fill="hold" grpId="1" nodeType="clickEffect">
                                  <p:stCondLst>
                                    <p:cond delay="0"/>
                                  </p:stCondLst>
                                  <p:childTnLst>
                                    <p:animEffect transition="out" filter="wipe(left)">
                                      <p:cBhvr>
                                        <p:cTn id="37" dur="500"/>
                                        <p:tgtEl>
                                          <p:spTgt spid="37896"/>
                                        </p:tgtEl>
                                      </p:cBhvr>
                                    </p:animEffect>
                                    <p:set>
                                      <p:cBhvr>
                                        <p:cTn id="38" dur="1" fill="hold">
                                          <p:stCondLst>
                                            <p:cond delay="499"/>
                                          </p:stCondLst>
                                        </p:cTn>
                                        <p:tgtEl>
                                          <p:spTgt spid="37896"/>
                                        </p:tgtEl>
                                        <p:attrNameLst>
                                          <p:attrName>style.visibility</p:attrName>
                                        </p:attrNameLst>
                                      </p:cBhvr>
                                      <p:to>
                                        <p:strVal val="hidden"/>
                                      </p:to>
                                    </p:set>
                                  </p:childTnLst>
                                </p:cTn>
                              </p:par>
                              <p:par>
                                <p:cTn id="39" presetID="22" presetClass="exit" presetSubtype="8" fill="hold" grpId="1" nodeType="withEffect">
                                  <p:stCondLst>
                                    <p:cond delay="0"/>
                                  </p:stCondLst>
                                  <p:childTnLst>
                                    <p:animEffect transition="out" filter="wipe(left)">
                                      <p:cBhvr>
                                        <p:cTn id="40" dur="500"/>
                                        <p:tgtEl>
                                          <p:spTgt spid="3"/>
                                        </p:tgtEl>
                                      </p:cBhvr>
                                    </p:animEffect>
                                    <p:set>
                                      <p:cBhvr>
                                        <p:cTn id="41" dur="1" fill="hold">
                                          <p:stCondLst>
                                            <p:cond delay="499"/>
                                          </p:stCondLst>
                                        </p:cTn>
                                        <p:tgtEl>
                                          <p:spTgt spid="3"/>
                                        </p:tgtEl>
                                        <p:attrNameLst>
                                          <p:attrName>style.visibility</p:attrName>
                                        </p:attrNameLst>
                                      </p:cBhvr>
                                      <p:to>
                                        <p:strVal val="hidden"/>
                                      </p:to>
                                    </p:set>
                                  </p:childTnLst>
                                </p:cTn>
                              </p:par>
                            </p:childTnLst>
                          </p:cTn>
                        </p:par>
                        <p:par>
                          <p:cTn id="42" fill="hold" nodeType="afterGroup">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37899"/>
                                        </p:tgtEl>
                                        <p:attrNameLst>
                                          <p:attrName>style.visibility</p:attrName>
                                        </p:attrNameLst>
                                      </p:cBhvr>
                                      <p:to>
                                        <p:strVal val="visible"/>
                                      </p:to>
                                    </p:set>
                                    <p:animEffect transition="in" filter="dissolve">
                                      <p:cBhvr>
                                        <p:cTn id="45" dur="500"/>
                                        <p:tgtEl>
                                          <p:spTgt spid="37899"/>
                                        </p:tgtEl>
                                      </p:cBhvr>
                                    </p:animEffect>
                                  </p:childTnLst>
                                </p:cTn>
                              </p:par>
                            </p:childTnLst>
                          </p:cTn>
                        </p:par>
                        <p:par>
                          <p:cTn id="46" fill="hold" nodeType="afterGroup">
                            <p:stCondLst>
                              <p:cond delay="1000"/>
                            </p:stCondLst>
                            <p:childTnLst>
                              <p:par>
                                <p:cTn id="47" presetID="4" presetClass="entr" presetSubtype="16" fill="hold" grpId="0" nodeType="afterEffect">
                                  <p:stCondLst>
                                    <p:cond delay="0"/>
                                  </p:stCondLst>
                                  <p:childTnLst>
                                    <p:set>
                                      <p:cBhvr>
                                        <p:cTn id="48" dur="1" fill="hold">
                                          <p:stCondLst>
                                            <p:cond delay="0"/>
                                          </p:stCondLst>
                                        </p:cTn>
                                        <p:tgtEl>
                                          <p:spTgt spid="937990"/>
                                        </p:tgtEl>
                                        <p:attrNameLst>
                                          <p:attrName>style.visibility</p:attrName>
                                        </p:attrNameLst>
                                      </p:cBhvr>
                                      <p:to>
                                        <p:strVal val="visible"/>
                                      </p:to>
                                    </p:set>
                                    <p:animEffect transition="in" filter="box(in)">
                                      <p:cBhvr>
                                        <p:cTn id="49" dur="500"/>
                                        <p:tgtEl>
                                          <p:spTgt spid="93799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xit" presetSubtype="8" fill="hold" grpId="1" nodeType="clickEffect">
                                  <p:stCondLst>
                                    <p:cond delay="0"/>
                                  </p:stCondLst>
                                  <p:childTnLst>
                                    <p:animEffect transition="out" filter="wipe(left)">
                                      <p:cBhvr>
                                        <p:cTn id="53" dur="500"/>
                                        <p:tgtEl>
                                          <p:spTgt spid="37899"/>
                                        </p:tgtEl>
                                      </p:cBhvr>
                                    </p:animEffect>
                                    <p:set>
                                      <p:cBhvr>
                                        <p:cTn id="54" dur="1" fill="hold">
                                          <p:stCondLst>
                                            <p:cond delay="499"/>
                                          </p:stCondLst>
                                        </p:cTn>
                                        <p:tgtEl>
                                          <p:spTgt spid="37899"/>
                                        </p:tgtEl>
                                        <p:attrNameLst>
                                          <p:attrName>style.visibility</p:attrName>
                                        </p:attrNameLst>
                                      </p:cBhvr>
                                      <p:to>
                                        <p:strVal val="hidden"/>
                                      </p:to>
                                    </p:set>
                                  </p:childTnLst>
                                </p:cTn>
                              </p:par>
                              <p:par>
                                <p:cTn id="55" presetID="22" presetClass="exit" presetSubtype="8" fill="hold" grpId="1" nodeType="withEffect">
                                  <p:stCondLst>
                                    <p:cond delay="0"/>
                                  </p:stCondLst>
                                  <p:childTnLst>
                                    <p:animEffect transition="out" filter="wipe(left)">
                                      <p:cBhvr>
                                        <p:cTn id="56" dur="500"/>
                                        <p:tgtEl>
                                          <p:spTgt spid="937990"/>
                                        </p:tgtEl>
                                      </p:cBhvr>
                                    </p:animEffect>
                                    <p:set>
                                      <p:cBhvr>
                                        <p:cTn id="57" dur="1" fill="hold">
                                          <p:stCondLst>
                                            <p:cond delay="499"/>
                                          </p:stCondLst>
                                        </p:cTn>
                                        <p:tgtEl>
                                          <p:spTgt spid="937990"/>
                                        </p:tgtEl>
                                        <p:attrNameLst>
                                          <p:attrName>style.visibility</p:attrName>
                                        </p:attrNameLst>
                                      </p:cBhvr>
                                      <p:to>
                                        <p:strVal val="hidden"/>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7893"/>
                                        </p:tgtEl>
                                        <p:attrNameLst>
                                          <p:attrName>style.visibility</p:attrName>
                                        </p:attrNameLst>
                                      </p:cBhvr>
                                      <p:to>
                                        <p:strVal val="visible"/>
                                      </p:to>
                                    </p:set>
                                    <p:animEffect transition="in" filter="wipe(left)">
                                      <p:cBhvr>
                                        <p:cTn id="62" dur="500"/>
                                        <p:tgtEl>
                                          <p:spTgt spid="37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nimBg="1"/>
      <p:bldP spid="37893" grpId="0"/>
      <p:bldP spid="37895" grpId="0" animBg="1"/>
      <p:bldP spid="37895" grpId="1" animBg="1"/>
      <p:bldP spid="37896" grpId="0" animBg="1"/>
      <p:bldP spid="37896" grpId="1" animBg="1"/>
      <p:bldP spid="37899" grpId="0" animBg="1"/>
      <p:bldP spid="37899" grpId="1" animBg="1"/>
      <p:bldP spid="937990" grpId="0" animBg="1"/>
      <p:bldP spid="937990" grpId="1" animBg="1"/>
      <p:bldP spid="2" grpId="0" animBg="1"/>
      <p:bldP spid="2" grpId="1" animBg="1"/>
      <p:bldP spid="3" grpId="0" animBg="1"/>
      <p:bldP spid="3" grpId="1"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60" name="Rectangle 4">
            <a:extLst>
              <a:ext uri="{FF2B5EF4-FFF2-40B4-BE49-F238E27FC236}">
                <a16:creationId xmlns:a16="http://schemas.microsoft.com/office/drawing/2014/main" id="{A2429E4F-3385-41B8-8E34-44FB1574DFD3}"/>
              </a:ext>
            </a:extLst>
          </p:cNvPr>
          <p:cNvSpPr>
            <a:spLocks noChangeArrowheads="1"/>
          </p:cNvSpPr>
          <p:nvPr/>
        </p:nvSpPr>
        <p:spPr bwMode="auto">
          <a:xfrm>
            <a:off x="395288" y="260350"/>
            <a:ext cx="8496300"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15000"/>
              </a:lnSpc>
              <a:buClr>
                <a:schemeClr val="folHlink"/>
              </a:buClr>
              <a:buSzPct val="60000"/>
              <a:buFont typeface="Wingdings" panose="05000000000000000000" pitchFamily="2" charset="2"/>
              <a:buNone/>
            </a:pPr>
            <a:r>
              <a:rPr lang="zh-CN" altLang="en-US" sz="2600" b="1">
                <a:solidFill>
                  <a:srgbClr val="660033"/>
                </a:solidFill>
                <a:latin typeface="黑体" panose="02010609060101010101" pitchFamily="49" charset="-122"/>
                <a:ea typeface="黑体" panose="02010609060101010101" pitchFamily="49" charset="-122"/>
              </a:rPr>
              <a:t>例</a:t>
            </a:r>
            <a:r>
              <a:rPr lang="en-US" altLang="zh-CN" sz="2600" b="1">
                <a:solidFill>
                  <a:srgbClr val="660033"/>
                </a:solidFill>
                <a:latin typeface="黑体" panose="02010609060101010101" pitchFamily="49" charset="-122"/>
                <a:ea typeface="黑体" panose="02010609060101010101" pitchFamily="49" charset="-122"/>
              </a:rPr>
              <a:t>6.</a:t>
            </a:r>
            <a:r>
              <a:rPr lang="en-US" altLang="zh-CN" sz="2600" b="1">
                <a:latin typeface="黑体" panose="02010609060101010101" pitchFamily="49" charset="-122"/>
                <a:ea typeface="黑体" panose="02010609060101010101" pitchFamily="49" charset="-122"/>
              </a:rPr>
              <a:t> </a:t>
            </a:r>
            <a:r>
              <a:rPr lang="zh-CN" altLang="en-US" sz="2600" b="1">
                <a:latin typeface="黑体" panose="02010609060101010101" pitchFamily="49" charset="-122"/>
                <a:ea typeface="黑体" panose="02010609060101010101" pitchFamily="49" charset="-122"/>
              </a:rPr>
              <a:t>创建一个返回今天是一周的第几天的用户自定义</a:t>
            </a:r>
          </a:p>
          <a:p>
            <a:pPr eaLnBrk="1" hangingPunct="1">
              <a:lnSpc>
                <a:spcPct val="115000"/>
              </a:lnSpc>
              <a:buClr>
                <a:schemeClr val="folHlink"/>
              </a:buClr>
              <a:buSzPct val="60000"/>
              <a:buFont typeface="Wingdings" panose="05000000000000000000" pitchFamily="2" charset="2"/>
              <a:buNone/>
            </a:pPr>
            <a:r>
              <a:rPr lang="zh-CN" altLang="en-US" sz="2600" b="1">
                <a:latin typeface="黑体" panose="02010609060101010101" pitchFamily="49" charset="-122"/>
                <a:ea typeface="黑体" panose="02010609060101010101" pitchFamily="49" charset="-122"/>
              </a:rPr>
              <a:t>      标量函数。</a:t>
            </a:r>
          </a:p>
          <a:p>
            <a:pPr eaLnBrk="1" hangingPunct="1">
              <a:lnSpc>
                <a:spcPct val="115000"/>
              </a:lnSpc>
              <a:buClr>
                <a:schemeClr val="folHlink"/>
              </a:buClr>
              <a:buSzPct val="60000"/>
              <a:buFont typeface="Wingdings" panose="05000000000000000000" pitchFamily="2" charset="2"/>
              <a:buNone/>
            </a:pPr>
            <a:r>
              <a:rPr lang="en-US" altLang="zh-CN" sz="2800" b="1">
                <a:latin typeface="Tahoma" panose="020B0604030504040204" pitchFamily="34" charset="0"/>
              </a:rPr>
              <a:t>      </a:t>
            </a:r>
            <a:r>
              <a:rPr lang="en-US" altLang="zh-CN" sz="2800" b="1">
                <a:solidFill>
                  <a:srgbClr val="0000FF"/>
                </a:solidFill>
                <a:latin typeface="Tahoma" panose="020B0604030504040204" pitchFamily="34" charset="0"/>
              </a:rPr>
              <a:t>create function</a:t>
            </a:r>
            <a:r>
              <a:rPr lang="en-US" altLang="zh-CN" sz="2800" b="1">
                <a:latin typeface="Tahoma" panose="020B0604030504040204" pitchFamily="34" charset="0"/>
              </a:rPr>
              <a:t> get_weekday</a:t>
            </a:r>
          </a:p>
          <a:p>
            <a:pPr eaLnBrk="1" hangingPunct="1">
              <a:lnSpc>
                <a:spcPct val="115000"/>
              </a:lnSpc>
              <a:buClr>
                <a:schemeClr val="folHlink"/>
              </a:buClr>
              <a:buSzPct val="60000"/>
              <a:buFont typeface="Wingdings" panose="05000000000000000000" pitchFamily="2" charset="2"/>
              <a:buNone/>
            </a:pPr>
            <a:r>
              <a:rPr lang="en-US" altLang="zh-CN" sz="2800" b="1">
                <a:latin typeface="Tahoma" panose="020B0604030504040204" pitchFamily="34" charset="0"/>
              </a:rPr>
              <a:t>         (@date datetime)</a:t>
            </a:r>
          </a:p>
          <a:p>
            <a:pPr eaLnBrk="1" hangingPunct="1">
              <a:lnSpc>
                <a:spcPct val="115000"/>
              </a:lnSpc>
              <a:buClr>
                <a:schemeClr val="folHlink"/>
              </a:buClr>
              <a:buSzPct val="60000"/>
              <a:buFont typeface="Wingdings" panose="05000000000000000000" pitchFamily="2" charset="2"/>
              <a:buNone/>
            </a:pPr>
            <a:r>
              <a:rPr lang="en-US" altLang="zh-CN" sz="2800" b="1">
                <a:latin typeface="Tahoma" panose="020B0604030504040204" pitchFamily="34" charset="0"/>
              </a:rPr>
              <a:t>         </a:t>
            </a:r>
            <a:r>
              <a:rPr lang="en-US" altLang="zh-CN" sz="2800" b="1">
                <a:solidFill>
                  <a:srgbClr val="0000FF"/>
                </a:solidFill>
                <a:latin typeface="Tahoma" panose="020B0604030504040204" pitchFamily="34" charset="0"/>
              </a:rPr>
              <a:t>returns</a:t>
            </a:r>
          </a:p>
          <a:p>
            <a:pPr eaLnBrk="1" hangingPunct="1">
              <a:lnSpc>
                <a:spcPct val="115000"/>
              </a:lnSpc>
              <a:buClr>
                <a:schemeClr val="folHlink"/>
              </a:buClr>
              <a:buSzPct val="60000"/>
              <a:buFont typeface="Wingdings" panose="05000000000000000000" pitchFamily="2" charset="2"/>
              <a:buNone/>
            </a:pPr>
            <a:r>
              <a:rPr lang="en-US" altLang="zh-CN" sz="2800" b="1">
                <a:latin typeface="Tahoma" panose="020B0604030504040204" pitchFamily="34" charset="0"/>
              </a:rPr>
              <a:t>         as</a:t>
            </a:r>
          </a:p>
          <a:p>
            <a:pPr eaLnBrk="1" hangingPunct="1">
              <a:lnSpc>
                <a:spcPct val="115000"/>
              </a:lnSpc>
              <a:buClr>
                <a:schemeClr val="folHlink"/>
              </a:buClr>
              <a:buSzPct val="60000"/>
              <a:buFont typeface="Wingdings" panose="05000000000000000000" pitchFamily="2" charset="2"/>
              <a:buNone/>
            </a:pPr>
            <a:r>
              <a:rPr lang="en-US" altLang="zh-CN" sz="2800" b="1">
                <a:latin typeface="Tahoma" panose="020B0604030504040204" pitchFamily="34" charset="0"/>
              </a:rPr>
              <a:t>            </a:t>
            </a:r>
            <a:r>
              <a:rPr lang="en-US" altLang="zh-CN" sz="2800" b="1">
                <a:solidFill>
                  <a:srgbClr val="0000FF"/>
                </a:solidFill>
                <a:latin typeface="Tahoma" panose="020B0604030504040204" pitchFamily="34" charset="0"/>
              </a:rPr>
              <a:t>begin</a:t>
            </a:r>
          </a:p>
          <a:p>
            <a:pPr eaLnBrk="1" hangingPunct="1">
              <a:lnSpc>
                <a:spcPct val="115000"/>
              </a:lnSpc>
              <a:buClr>
                <a:schemeClr val="folHlink"/>
              </a:buClr>
              <a:buSzPct val="60000"/>
              <a:buFont typeface="Wingdings" panose="05000000000000000000" pitchFamily="2" charset="2"/>
              <a:buNone/>
            </a:pPr>
            <a:r>
              <a:rPr lang="en-US" altLang="zh-CN" sz="2800" b="1">
                <a:latin typeface="Tahoma" panose="020B0604030504040204" pitchFamily="34" charset="0"/>
              </a:rPr>
              <a:t>               return datepart(weekday, @date)</a:t>
            </a:r>
          </a:p>
          <a:p>
            <a:pPr eaLnBrk="1" hangingPunct="1">
              <a:lnSpc>
                <a:spcPct val="115000"/>
              </a:lnSpc>
              <a:buClr>
                <a:schemeClr val="folHlink"/>
              </a:buClr>
              <a:buSzPct val="60000"/>
              <a:buFont typeface="Wingdings" panose="05000000000000000000" pitchFamily="2" charset="2"/>
              <a:buNone/>
            </a:pPr>
            <a:r>
              <a:rPr lang="en-US" altLang="zh-CN" sz="2800" b="1">
                <a:latin typeface="Tahoma" panose="020B0604030504040204" pitchFamily="34" charset="0"/>
              </a:rPr>
              <a:t>            </a:t>
            </a:r>
            <a:r>
              <a:rPr lang="en-US" altLang="zh-CN" sz="2800" b="1">
                <a:solidFill>
                  <a:srgbClr val="0000FF"/>
                </a:solidFill>
                <a:latin typeface="Tahoma" panose="020B0604030504040204" pitchFamily="34" charset="0"/>
              </a:rPr>
              <a:t>end</a:t>
            </a:r>
          </a:p>
          <a:p>
            <a:pPr eaLnBrk="1" hangingPunct="1">
              <a:lnSpc>
                <a:spcPct val="115000"/>
              </a:lnSpc>
              <a:buClr>
                <a:schemeClr val="folHlink"/>
              </a:buClr>
              <a:buSzPct val="60000"/>
              <a:buFont typeface="Wingdings" panose="05000000000000000000" pitchFamily="2" charset="2"/>
              <a:buNone/>
            </a:pPr>
            <a:r>
              <a:rPr lang="zh-CN" altLang="en-US" sz="2500" b="1">
                <a:solidFill>
                  <a:srgbClr val="660033"/>
                </a:solidFill>
                <a:latin typeface="Tahoma" panose="020B0604030504040204" pitchFamily="34" charset="0"/>
              </a:rPr>
              <a:t>执行语句：</a:t>
            </a:r>
          </a:p>
          <a:p>
            <a:pPr eaLnBrk="1" hangingPunct="1">
              <a:lnSpc>
                <a:spcPct val="115000"/>
              </a:lnSpc>
              <a:buClr>
                <a:schemeClr val="folHlink"/>
              </a:buClr>
              <a:buSzPct val="60000"/>
              <a:buFont typeface="Wingdings" panose="05000000000000000000" pitchFamily="2" charset="2"/>
              <a:buNone/>
            </a:pPr>
            <a:r>
              <a:rPr lang="en-US" altLang="zh-CN" sz="2000" b="1">
                <a:latin typeface="Tahoma" panose="020B0604030504040204" pitchFamily="34" charset="0"/>
              </a:rPr>
              <a:t>Select dbo.get_weekday(convert(datetime,'20110901',101))</a:t>
            </a:r>
          </a:p>
          <a:p>
            <a:pPr eaLnBrk="1" hangingPunct="1">
              <a:lnSpc>
                <a:spcPct val="115000"/>
              </a:lnSpc>
              <a:buClr>
                <a:schemeClr val="folHlink"/>
              </a:buClr>
              <a:buSzPct val="60000"/>
              <a:buFont typeface="Wingdings" panose="05000000000000000000" pitchFamily="2" charset="2"/>
              <a:buNone/>
            </a:pPr>
            <a:r>
              <a:rPr lang="zh-CN" altLang="en-US" sz="2500" b="1">
                <a:solidFill>
                  <a:srgbClr val="660033"/>
                </a:solidFill>
                <a:latin typeface="Tahoma" panose="020B0604030504040204" pitchFamily="34" charset="0"/>
              </a:rPr>
              <a:t>执行结果：</a:t>
            </a:r>
            <a:r>
              <a:rPr lang="zh-CN" altLang="en-US" sz="2800" b="1">
                <a:latin typeface="Tahoma" panose="020B0604030504040204" pitchFamily="34" charset="0"/>
              </a:rPr>
              <a:t> </a:t>
            </a:r>
            <a:r>
              <a:rPr lang="en-US" altLang="zh-CN" sz="2800" b="1">
                <a:latin typeface="Tahoma" panose="020B0604030504040204" pitchFamily="34" charset="0"/>
              </a:rPr>
              <a:t> </a:t>
            </a:r>
            <a:r>
              <a:rPr lang="zh-CN" altLang="en-US" sz="2600" b="1">
                <a:latin typeface="黑体" panose="02010609060101010101" pitchFamily="49" charset="-122"/>
                <a:ea typeface="黑体" panose="02010609060101010101" pitchFamily="49" charset="-122"/>
              </a:rPr>
              <a:t> </a:t>
            </a:r>
          </a:p>
        </p:txBody>
      </p:sp>
      <p:pic>
        <p:nvPicPr>
          <p:cNvPr id="46084" name="Picture 6" descr="SQL自定义函数学习（一）：创建标量函数">
            <a:extLst>
              <a:ext uri="{FF2B5EF4-FFF2-40B4-BE49-F238E27FC236}">
                <a16:creationId xmlns:a16="http://schemas.microsoft.com/office/drawing/2014/main" id="{E73C3255-0874-47FF-A296-C9C19F775F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5589588"/>
            <a:ext cx="2393950" cy="117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7" name="Rectangle 7">
            <a:extLst>
              <a:ext uri="{FF2B5EF4-FFF2-40B4-BE49-F238E27FC236}">
                <a16:creationId xmlns:a16="http://schemas.microsoft.com/office/drawing/2014/main" id="{AD58DB6F-530A-4889-AF47-27CBEB1C7A93}"/>
              </a:ext>
            </a:extLst>
          </p:cNvPr>
          <p:cNvSpPr>
            <a:spLocks noChangeArrowheads="1"/>
          </p:cNvSpPr>
          <p:nvPr/>
        </p:nvSpPr>
        <p:spPr bwMode="auto">
          <a:xfrm>
            <a:off x="2771775" y="2349500"/>
            <a:ext cx="720725" cy="4889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txBody>
          <a:bodyPr>
            <a:spAutoFit/>
          </a:bodyPr>
          <a:lstStyle/>
          <a:p>
            <a:r>
              <a:rPr lang="en-US" altLang="zh-CN" sz="2600" b="1">
                <a:latin typeface="Tahoma" panose="020B0604030504040204" pitchFamily="34" charset="0"/>
              </a:rPr>
              <a:t>int</a:t>
            </a:r>
            <a:endParaRPr lang="zh-CN" altLang="en-US" sz="2600" b="1">
              <a:latin typeface="Tahoma" panose="020B060403050404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3261"/>
    </mc:Choice>
    <mc:Fallback xmlns="">
      <p:transition spd="slow" advTm="53261"/>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41060">
                                            <p:txEl>
                                              <p:pRg st="3" end="3"/>
                                            </p:txEl>
                                          </p:spTgt>
                                        </p:tgtEl>
                                        <p:attrNameLst>
                                          <p:attrName>style.visibility</p:attrName>
                                        </p:attrNameLst>
                                      </p:cBhvr>
                                      <p:to>
                                        <p:strVal val="visible"/>
                                      </p:to>
                                    </p:set>
                                    <p:animEffect transition="in" filter="wipe(left)">
                                      <p:cBhvr>
                                        <p:cTn id="7" dur="500"/>
                                        <p:tgtEl>
                                          <p:spTgt spid="941060">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41060">
                                            <p:txEl>
                                              <p:pRg st="5" end="5"/>
                                            </p:txEl>
                                          </p:spTgt>
                                        </p:tgtEl>
                                        <p:attrNameLst>
                                          <p:attrName>style.visibility</p:attrName>
                                        </p:attrNameLst>
                                      </p:cBhvr>
                                      <p:to>
                                        <p:strVal val="visible"/>
                                      </p:to>
                                    </p:set>
                                    <p:animEffect transition="in" filter="wipe(left)">
                                      <p:cBhvr>
                                        <p:cTn id="12" dur="500"/>
                                        <p:tgtEl>
                                          <p:spTgt spid="941060">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41060">
                                            <p:txEl>
                                              <p:pRg st="6" end="6"/>
                                            </p:txEl>
                                          </p:spTgt>
                                        </p:tgtEl>
                                        <p:attrNameLst>
                                          <p:attrName>style.visibility</p:attrName>
                                        </p:attrNameLst>
                                      </p:cBhvr>
                                      <p:to>
                                        <p:strVal val="visible"/>
                                      </p:to>
                                    </p:set>
                                    <p:animEffect transition="in" filter="wipe(left)">
                                      <p:cBhvr>
                                        <p:cTn id="17" dur="500"/>
                                        <p:tgtEl>
                                          <p:spTgt spid="941060">
                                            <p:txEl>
                                              <p:pRg st="6" end="6"/>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941060">
                                            <p:txEl>
                                              <p:pRg st="7" end="7"/>
                                            </p:txEl>
                                          </p:spTgt>
                                        </p:tgtEl>
                                        <p:attrNameLst>
                                          <p:attrName>style.visibility</p:attrName>
                                        </p:attrNameLst>
                                      </p:cBhvr>
                                      <p:to>
                                        <p:strVal val="visible"/>
                                      </p:to>
                                    </p:set>
                                    <p:animEffect transition="in" filter="wipe(left)">
                                      <p:cBhvr>
                                        <p:cTn id="20" dur="500"/>
                                        <p:tgtEl>
                                          <p:spTgt spid="941060">
                                            <p:txEl>
                                              <p:pRg st="7" end="7"/>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941060">
                                            <p:txEl>
                                              <p:pRg st="9" end="9"/>
                                            </p:txEl>
                                          </p:spTgt>
                                        </p:tgtEl>
                                        <p:attrNameLst>
                                          <p:attrName>style.visibility</p:attrName>
                                        </p:attrNameLst>
                                      </p:cBhvr>
                                      <p:to>
                                        <p:strVal val="visible"/>
                                      </p:to>
                                    </p:set>
                                    <p:animEffect transition="in" filter="wipe(left)">
                                      <p:cBhvr>
                                        <p:cTn id="23" dur="500"/>
                                        <p:tgtEl>
                                          <p:spTgt spid="941060">
                                            <p:txEl>
                                              <p:pRg st="9" end="9"/>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6087"/>
                                        </p:tgtEl>
                                        <p:attrNameLst>
                                          <p:attrName>style.visibility</p:attrName>
                                        </p:attrNameLst>
                                      </p:cBhvr>
                                      <p:to>
                                        <p:strVal val="visible"/>
                                      </p:to>
                                    </p:set>
                                    <p:animEffect transition="in" filter="dissolve">
                                      <p:cBhvr>
                                        <p:cTn id="28" dur="500"/>
                                        <p:tgtEl>
                                          <p:spTgt spid="4608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941060">
                                            <p:txEl>
                                              <p:pRg st="4" end="4"/>
                                            </p:txEl>
                                          </p:spTgt>
                                        </p:tgtEl>
                                        <p:attrNameLst>
                                          <p:attrName>style.visibility</p:attrName>
                                        </p:attrNameLst>
                                      </p:cBhvr>
                                      <p:to>
                                        <p:strVal val="visible"/>
                                      </p:to>
                                    </p:set>
                                    <p:animEffect transition="in" filter="wipe(left)">
                                      <p:cBhvr>
                                        <p:cTn id="33" dur="500"/>
                                        <p:tgtEl>
                                          <p:spTgt spid="941060">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941060">
                                            <p:txEl>
                                              <p:pRg st="8" end="8"/>
                                            </p:txEl>
                                          </p:spTgt>
                                        </p:tgtEl>
                                        <p:attrNameLst>
                                          <p:attrName>style.visibility</p:attrName>
                                        </p:attrNameLst>
                                      </p:cBhvr>
                                      <p:to>
                                        <p:strVal val="visible"/>
                                      </p:to>
                                    </p:set>
                                    <p:animEffect transition="in" filter="wipe(left)">
                                      <p:cBhvr>
                                        <p:cTn id="38" dur="500"/>
                                        <p:tgtEl>
                                          <p:spTgt spid="941060">
                                            <p:txEl>
                                              <p:pRg st="8" end="8"/>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941060">
                                            <p:txEl>
                                              <p:pRg st="10" end="10"/>
                                            </p:txEl>
                                          </p:spTgt>
                                        </p:tgtEl>
                                        <p:attrNameLst>
                                          <p:attrName>style.visibility</p:attrName>
                                        </p:attrNameLst>
                                      </p:cBhvr>
                                      <p:to>
                                        <p:strVal val="visible"/>
                                      </p:to>
                                    </p:set>
                                    <p:animEffect transition="in" filter="wipe(left)">
                                      <p:cBhvr>
                                        <p:cTn id="43" dur="500"/>
                                        <p:tgtEl>
                                          <p:spTgt spid="941060">
                                            <p:txEl>
                                              <p:pRg st="10" end="1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941060">
                                            <p:txEl>
                                              <p:pRg st="11" end="11"/>
                                            </p:txEl>
                                          </p:spTgt>
                                        </p:tgtEl>
                                        <p:attrNameLst>
                                          <p:attrName>style.visibility</p:attrName>
                                        </p:attrNameLst>
                                      </p:cBhvr>
                                      <p:to>
                                        <p:strVal val="visible"/>
                                      </p:to>
                                    </p:set>
                                    <p:animEffect transition="in" filter="wipe(left)">
                                      <p:cBhvr>
                                        <p:cTn id="48" dur="500"/>
                                        <p:tgtEl>
                                          <p:spTgt spid="941060">
                                            <p:txEl>
                                              <p:pRg st="11" end="11"/>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941060">
                                            <p:txEl>
                                              <p:pRg st="12" end="12"/>
                                            </p:txEl>
                                          </p:spTgt>
                                        </p:tgtEl>
                                        <p:attrNameLst>
                                          <p:attrName>style.visibility</p:attrName>
                                        </p:attrNameLst>
                                      </p:cBhvr>
                                      <p:to>
                                        <p:strVal val="visible"/>
                                      </p:to>
                                    </p:set>
                                    <p:animEffect transition="in" filter="wipe(left)">
                                      <p:cBhvr>
                                        <p:cTn id="53" dur="500"/>
                                        <p:tgtEl>
                                          <p:spTgt spid="941060">
                                            <p:txEl>
                                              <p:pRg st="12" end="12"/>
                                            </p:txEl>
                                          </p:spTgt>
                                        </p:tgtEl>
                                      </p:cBhvr>
                                    </p:animEffect>
                                  </p:childTnLst>
                                </p:cTn>
                              </p:par>
                            </p:childTnLst>
                          </p:cTn>
                        </p:par>
                        <p:par>
                          <p:cTn id="54" fill="hold" nodeType="afterGroup">
                            <p:stCondLst>
                              <p:cond delay="500"/>
                            </p:stCondLst>
                            <p:childTnLst>
                              <p:par>
                                <p:cTn id="55" presetID="9" presetClass="entr" presetSubtype="0" fill="hold" nodeType="afterEffect">
                                  <p:stCondLst>
                                    <p:cond delay="0"/>
                                  </p:stCondLst>
                                  <p:childTnLst>
                                    <p:set>
                                      <p:cBhvr>
                                        <p:cTn id="56" dur="1" fill="hold">
                                          <p:stCondLst>
                                            <p:cond delay="0"/>
                                          </p:stCondLst>
                                        </p:cTn>
                                        <p:tgtEl>
                                          <p:spTgt spid="46084"/>
                                        </p:tgtEl>
                                        <p:attrNameLst>
                                          <p:attrName>style.visibility</p:attrName>
                                        </p:attrNameLst>
                                      </p:cBhvr>
                                      <p:to>
                                        <p:strVal val="visible"/>
                                      </p:to>
                                    </p:set>
                                    <p:animEffect transition="in" filter="dissolve">
                                      <p:cBhvr>
                                        <p:cTn id="57" dur="500"/>
                                        <p:tgtEl>
                                          <p:spTgt spid="46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5" name="Rectangle 5">
            <a:extLst>
              <a:ext uri="{FF2B5EF4-FFF2-40B4-BE49-F238E27FC236}">
                <a16:creationId xmlns:a16="http://schemas.microsoft.com/office/drawing/2014/main" id="{ED300290-98EF-4749-BB91-CF256E9D6F70}"/>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r>
              <a:rPr lang="zh-CN" altLang="en-US" sz="3600" b="1">
                <a:solidFill>
                  <a:schemeClr val="tx2"/>
                </a:solidFill>
                <a:latin typeface="Tahoma" panose="020B0604030504040204" pitchFamily="34" charset="0"/>
                <a:ea typeface="幼圆" panose="02010509060101010101" pitchFamily="49" charset="-122"/>
              </a:rPr>
              <a:t>四、</a:t>
            </a:r>
            <a:r>
              <a:rPr lang="en-US" altLang="zh-CN" sz="3600" b="1">
                <a:solidFill>
                  <a:schemeClr val="tx2"/>
                </a:solidFill>
                <a:latin typeface="Tahoma" panose="020B0604030504040204" pitchFamily="34" charset="0"/>
                <a:ea typeface="幼圆" panose="02010509060101010101" pitchFamily="49" charset="-122"/>
              </a:rPr>
              <a:t>Transact-SQL</a:t>
            </a:r>
            <a:r>
              <a:rPr lang="zh-CN" altLang="en-US" sz="3600" b="1">
                <a:solidFill>
                  <a:schemeClr val="tx2"/>
                </a:solidFill>
                <a:latin typeface="Tahoma" panose="020B0604030504040204" pitchFamily="34" charset="0"/>
                <a:ea typeface="幼圆" panose="02010509060101010101" pitchFamily="49" charset="-122"/>
              </a:rPr>
              <a:t>函数 </a:t>
            </a:r>
          </a:p>
        </p:txBody>
      </p:sp>
      <p:sp>
        <p:nvSpPr>
          <p:cNvPr id="942086" name="Rectangle 6">
            <a:extLst>
              <a:ext uri="{FF2B5EF4-FFF2-40B4-BE49-F238E27FC236}">
                <a16:creationId xmlns:a16="http://schemas.microsoft.com/office/drawing/2014/main" id="{FE992CF3-8D79-4533-8F0A-EC4F86A5AF7D}"/>
              </a:ext>
            </a:extLst>
          </p:cNvPr>
          <p:cNvSpPr>
            <a:spLocks noChangeArrowheads="1"/>
          </p:cNvSpPr>
          <p:nvPr/>
        </p:nvSpPr>
        <p:spPr bwMode="auto">
          <a:xfrm>
            <a:off x="323850" y="1125538"/>
            <a:ext cx="8785225" cy="817562"/>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rPr>
              <a:t> </a:t>
            </a:r>
            <a:r>
              <a:rPr lang="en-US" altLang="zh-CN" sz="2800" b="1">
                <a:solidFill>
                  <a:srgbClr val="800000"/>
                </a:solidFill>
                <a:latin typeface="Tahoma" panose="020B0604030504040204" pitchFamily="34" charset="0"/>
              </a:rPr>
              <a:t>2</a:t>
            </a:r>
            <a:r>
              <a:rPr lang="zh-CN" altLang="en-US" sz="2800" b="1">
                <a:solidFill>
                  <a:srgbClr val="800000"/>
                </a:solidFill>
                <a:latin typeface="Tahoma" panose="020B0604030504040204" pitchFamily="34" charset="0"/>
              </a:rPr>
              <a:t>）用</a:t>
            </a:r>
            <a:r>
              <a:rPr lang="en-US" altLang="zh-CN" sz="2800" b="1">
                <a:solidFill>
                  <a:srgbClr val="800000"/>
                </a:solidFill>
                <a:latin typeface="Tahoma" panose="020B0604030504040204" pitchFamily="34" charset="0"/>
              </a:rPr>
              <a:t>CREATE FUNCTION </a:t>
            </a:r>
            <a:r>
              <a:rPr lang="zh-CN" altLang="en-US" sz="2800" b="1">
                <a:solidFill>
                  <a:srgbClr val="800000"/>
                </a:solidFill>
                <a:latin typeface="Tahoma" panose="020B0604030504040204" pitchFamily="34" charset="0"/>
              </a:rPr>
              <a:t>语句创建单语句表值函数</a:t>
            </a:r>
            <a:r>
              <a:rPr kumimoji="1" lang="zh-CN" altLang="en-US" sz="2700">
                <a:solidFill>
                  <a:srgbClr val="006600"/>
                </a:solidFill>
                <a:latin typeface="Times New Roman" panose="02020603050405020304" pitchFamily="18" charset="0"/>
                <a:ea typeface="黑体" panose="02010609060101010101" pitchFamily="49" charset="-122"/>
              </a:rPr>
              <a:t> </a:t>
            </a:r>
          </a:p>
        </p:txBody>
      </p:sp>
      <p:sp>
        <p:nvSpPr>
          <p:cNvPr id="47108" name="Text Box 7">
            <a:extLst>
              <a:ext uri="{FF2B5EF4-FFF2-40B4-BE49-F238E27FC236}">
                <a16:creationId xmlns:a16="http://schemas.microsoft.com/office/drawing/2014/main" id="{D581249C-0633-4A04-ACBA-414CE367F135}"/>
              </a:ext>
            </a:extLst>
          </p:cNvPr>
          <p:cNvSpPr txBox="1">
            <a:spLocks noChangeArrowheads="1"/>
          </p:cNvSpPr>
          <p:nvPr/>
        </p:nvSpPr>
        <p:spPr bwMode="auto">
          <a:xfrm>
            <a:off x="468313" y="2101850"/>
            <a:ext cx="8281987" cy="3414713"/>
          </a:xfrm>
          <a:prstGeom prst="rect">
            <a:avLst/>
          </a:prstGeom>
          <a:gradFill rotWithShape="1">
            <a:gsLst>
              <a:gs pos="0">
                <a:srgbClr val="C5ECFF"/>
              </a:gs>
              <a:gs pos="50000">
                <a:srgbClr val="FFFFFF"/>
              </a:gs>
              <a:gs pos="100000">
                <a:srgbClr val="C5ECFF"/>
              </a:gs>
            </a:gsLst>
            <a:lin ang="5400000" scaled="1"/>
          </a:gra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30000"/>
              </a:lnSpc>
            </a:pPr>
            <a:r>
              <a:rPr lang="en-US" altLang="zh-CN" sz="2400" b="1" dirty="0">
                <a:solidFill>
                  <a:srgbClr val="0000FF"/>
                </a:solidFill>
              </a:rPr>
              <a:t>CREATE FUNCTION</a:t>
            </a:r>
            <a:r>
              <a:rPr lang="en-US" altLang="zh-CN" sz="2400" b="1" dirty="0"/>
              <a:t> [ </a:t>
            </a:r>
            <a:r>
              <a:rPr lang="en-US" altLang="zh-CN" sz="2400" b="1" dirty="0" err="1"/>
              <a:t>owner_name</a:t>
            </a:r>
            <a:r>
              <a:rPr lang="en-US" altLang="zh-CN" sz="2400" b="1" dirty="0"/>
              <a:t>.] </a:t>
            </a:r>
            <a:r>
              <a:rPr lang="en-US" altLang="zh-CN" sz="2400" b="1" dirty="0" err="1"/>
              <a:t>function_name</a:t>
            </a:r>
            <a:endParaRPr lang="en-US" altLang="zh-CN" sz="2400" b="1" dirty="0"/>
          </a:p>
          <a:p>
            <a:pPr eaLnBrk="1" hangingPunct="1">
              <a:lnSpc>
                <a:spcPct val="130000"/>
              </a:lnSpc>
            </a:pPr>
            <a:r>
              <a:rPr lang="en-US" altLang="zh-CN" sz="2400" b="1" dirty="0"/>
              <a:t>   </a:t>
            </a:r>
            <a:r>
              <a:rPr lang="pt-BR" altLang="zh-CN" sz="2400" b="1" dirty="0"/>
              <a:t>( [ { @parameter_name [AS]    </a:t>
            </a:r>
          </a:p>
          <a:p>
            <a:pPr eaLnBrk="1" hangingPunct="1">
              <a:lnSpc>
                <a:spcPct val="130000"/>
              </a:lnSpc>
            </a:pPr>
            <a:r>
              <a:rPr lang="pt-BR" altLang="zh-CN" sz="2400" b="1" dirty="0"/>
              <a:t>         scalar_parameter_data_type [ = default ] } [ , ...n] ] ) </a:t>
            </a:r>
            <a:endParaRPr lang="en-US" altLang="zh-CN" sz="2400" b="1" dirty="0"/>
          </a:p>
          <a:p>
            <a:pPr eaLnBrk="1" hangingPunct="1">
              <a:lnSpc>
                <a:spcPct val="130000"/>
              </a:lnSpc>
            </a:pPr>
            <a:r>
              <a:rPr lang="en-US" altLang="zh-CN" sz="2400" b="1" dirty="0"/>
              <a:t>     </a:t>
            </a:r>
            <a:r>
              <a:rPr lang="en-US" altLang="zh-CN" sz="2400" b="1" dirty="0">
                <a:solidFill>
                  <a:srgbClr val="0000FF"/>
                </a:solidFill>
              </a:rPr>
              <a:t>RETURNS</a:t>
            </a:r>
            <a:r>
              <a:rPr lang="en-US" altLang="zh-CN" sz="2400" b="1" dirty="0"/>
              <a:t>  TABLE</a:t>
            </a:r>
          </a:p>
          <a:p>
            <a:pPr eaLnBrk="1" hangingPunct="1">
              <a:lnSpc>
                <a:spcPct val="130000"/>
              </a:lnSpc>
            </a:pPr>
            <a:r>
              <a:rPr lang="en-US" altLang="zh-CN" sz="2400" b="1" dirty="0"/>
              <a:t>    [WITH { ENCRYPTION|SCHEMABINDING }]</a:t>
            </a:r>
          </a:p>
          <a:p>
            <a:pPr eaLnBrk="1" hangingPunct="1">
              <a:lnSpc>
                <a:spcPct val="130000"/>
              </a:lnSpc>
            </a:pPr>
            <a:r>
              <a:rPr lang="en-US" altLang="zh-CN" sz="2400" b="1" dirty="0"/>
              <a:t>    [ AS ]</a:t>
            </a:r>
          </a:p>
          <a:p>
            <a:pPr eaLnBrk="1" hangingPunct="1">
              <a:lnSpc>
                <a:spcPct val="130000"/>
              </a:lnSpc>
            </a:pPr>
            <a:r>
              <a:rPr lang="en-US" altLang="zh-CN" sz="2400" b="1" dirty="0"/>
              <a:t>     </a:t>
            </a:r>
            <a:r>
              <a:rPr lang="en-US" altLang="zh-CN" sz="2400" b="1" dirty="0">
                <a:solidFill>
                  <a:srgbClr val="0000FF"/>
                </a:solidFill>
              </a:rPr>
              <a:t>RETURN</a:t>
            </a:r>
            <a:r>
              <a:rPr lang="en-US" altLang="zh-CN" sz="2400" b="1" dirty="0"/>
              <a:t>  (select sentence) </a:t>
            </a:r>
          </a:p>
        </p:txBody>
      </p:sp>
      <p:sp>
        <p:nvSpPr>
          <p:cNvPr id="47109" name="Rectangle 8" descr="Large confetti">
            <a:extLst>
              <a:ext uri="{FF2B5EF4-FFF2-40B4-BE49-F238E27FC236}">
                <a16:creationId xmlns:a16="http://schemas.microsoft.com/office/drawing/2014/main" id="{C92B48B2-E2B0-4E23-BF10-D21154BF73DE}"/>
              </a:ext>
            </a:extLst>
          </p:cNvPr>
          <p:cNvSpPr>
            <a:spLocks noChangeArrowheads="1"/>
          </p:cNvSpPr>
          <p:nvPr/>
        </p:nvSpPr>
        <p:spPr bwMode="auto">
          <a:xfrm>
            <a:off x="684213" y="5949950"/>
            <a:ext cx="7534275" cy="427038"/>
          </a:xfrm>
          <a:prstGeom prst="rect">
            <a:avLst/>
          </a:prstGeom>
          <a:noFill/>
          <a:ln>
            <a:noFill/>
          </a:ln>
          <a:effectLst>
            <a:outerShdw dist="127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nchor="ctr">
            <a:spAutoFit/>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r>
              <a:rPr kumimoji="1" lang="zh-CN" altLang="en-US" sz="2200" b="1">
                <a:solidFill>
                  <a:srgbClr val="660033"/>
                </a:solidFill>
                <a:ea typeface="黑体" panose="02010609060101010101" pitchFamily="49" charset="-122"/>
              </a:rPr>
              <a:t>注：</a:t>
            </a:r>
            <a:r>
              <a:rPr kumimoji="1" lang="zh-CN" altLang="en-US" sz="2200" b="1">
                <a:solidFill>
                  <a:srgbClr val="006666"/>
                </a:solidFill>
              </a:rPr>
              <a:t>单语句表值函数用于返回一个</a:t>
            </a:r>
            <a:r>
              <a:rPr kumimoji="1" lang="en-US" altLang="zh-CN" sz="2200" b="1">
                <a:solidFill>
                  <a:srgbClr val="006666"/>
                </a:solidFill>
              </a:rPr>
              <a:t>Select</a:t>
            </a:r>
            <a:r>
              <a:rPr kumimoji="1" lang="zh-CN" altLang="en-US" sz="2200" b="1">
                <a:solidFill>
                  <a:srgbClr val="006666"/>
                </a:solidFill>
              </a:rPr>
              <a:t>语句查询结果的表</a:t>
            </a:r>
            <a:r>
              <a:rPr kumimoji="1" lang="zh-CN" altLang="en-US" b="1"/>
              <a:t> </a:t>
            </a:r>
          </a:p>
        </p:txBody>
      </p:sp>
      <p:sp>
        <p:nvSpPr>
          <p:cNvPr id="47112" name="Rectangle 8">
            <a:extLst>
              <a:ext uri="{FF2B5EF4-FFF2-40B4-BE49-F238E27FC236}">
                <a16:creationId xmlns:a16="http://schemas.microsoft.com/office/drawing/2014/main" id="{5A524BA4-7A12-4B62-8B8F-4329EA89F092}"/>
              </a:ext>
            </a:extLst>
          </p:cNvPr>
          <p:cNvSpPr>
            <a:spLocks noChangeArrowheads="1"/>
          </p:cNvSpPr>
          <p:nvPr/>
        </p:nvSpPr>
        <p:spPr bwMode="auto">
          <a:xfrm>
            <a:off x="2339975" y="5084763"/>
            <a:ext cx="2808288" cy="433387"/>
          </a:xfrm>
          <a:prstGeom prst="rect">
            <a:avLst/>
          </a:prstGeom>
          <a:noFill/>
          <a:ln w="38100" cap="sq">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0000FF"/>
              </a:solidFill>
            </a:endParaRPr>
          </a:p>
        </p:txBody>
      </p:sp>
      <p:sp>
        <p:nvSpPr>
          <p:cNvPr id="47113" name="Rectangle 9">
            <a:extLst>
              <a:ext uri="{FF2B5EF4-FFF2-40B4-BE49-F238E27FC236}">
                <a16:creationId xmlns:a16="http://schemas.microsoft.com/office/drawing/2014/main" id="{D962AFE4-3154-4FC0-8EC5-9606B2967166}"/>
              </a:ext>
            </a:extLst>
          </p:cNvPr>
          <p:cNvSpPr>
            <a:spLocks noChangeArrowheads="1"/>
          </p:cNvSpPr>
          <p:nvPr/>
        </p:nvSpPr>
        <p:spPr bwMode="auto">
          <a:xfrm>
            <a:off x="1979613" y="4076700"/>
            <a:ext cx="2087562" cy="433388"/>
          </a:xfrm>
          <a:prstGeom prst="rect">
            <a:avLst/>
          </a:prstGeom>
          <a:noFill/>
          <a:ln w="38100" cap="sq">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0000FF"/>
              </a:solidFill>
            </a:endParaRPr>
          </a:p>
        </p:txBody>
      </p:sp>
      <p:sp>
        <p:nvSpPr>
          <p:cNvPr id="943112" name="AutoShape 8">
            <a:extLst>
              <a:ext uri="{FF2B5EF4-FFF2-40B4-BE49-F238E27FC236}">
                <a16:creationId xmlns:a16="http://schemas.microsoft.com/office/drawing/2014/main" id="{3E887526-24B9-4346-843E-3F3CC6DB1ED4}"/>
              </a:ext>
            </a:extLst>
          </p:cNvPr>
          <p:cNvSpPr>
            <a:spLocks noChangeArrowheads="1"/>
          </p:cNvSpPr>
          <p:nvPr/>
        </p:nvSpPr>
        <p:spPr bwMode="auto">
          <a:xfrm>
            <a:off x="4716463" y="4865688"/>
            <a:ext cx="4402137" cy="1916112"/>
          </a:xfrm>
          <a:prstGeom prst="wedgeRoundRectCallout">
            <a:avLst>
              <a:gd name="adj1" fmla="val -79028"/>
              <a:gd name="adj2" fmla="val -68889"/>
              <a:gd name="adj3" fmla="val 16667"/>
            </a:avLst>
          </a:prstGeom>
          <a:solidFill>
            <a:srgbClr val="FFE1FF"/>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05000"/>
              </a:lnSpc>
            </a:pPr>
            <a:r>
              <a:rPr kumimoji="1" lang="zh-CN" altLang="en-US" sz="2000" b="1"/>
              <a:t>    用于指定</a:t>
            </a:r>
            <a:r>
              <a:rPr kumimoji="1" lang="en-US" altLang="zh-CN" sz="2000" b="1"/>
              <a:t>SQL Server</a:t>
            </a:r>
            <a:r>
              <a:rPr kumimoji="1" lang="zh-CN" altLang="en-US" sz="2000" b="1"/>
              <a:t>加密包含</a:t>
            </a:r>
            <a:r>
              <a:rPr kumimoji="1" lang="en-US" altLang="zh-CN" sz="2000" b="1"/>
              <a:t>CREATE FUNCTION</a:t>
            </a:r>
            <a:r>
              <a:rPr kumimoji="1" lang="zh-CN" altLang="en-US" sz="2000" b="1"/>
              <a:t>语句文本的系统表列，使用</a:t>
            </a:r>
            <a:r>
              <a:rPr kumimoji="1" lang="en-US" altLang="zh-CN" sz="2000" b="1"/>
              <a:t>ENCRYPTION</a:t>
            </a:r>
            <a:r>
              <a:rPr kumimoji="1" lang="zh-CN" altLang="en-US" sz="2000" b="1"/>
              <a:t>可以避免将函数作为</a:t>
            </a:r>
            <a:r>
              <a:rPr kumimoji="1" lang="en-US" altLang="zh-CN" sz="2000" b="1"/>
              <a:t>SQL Server</a:t>
            </a:r>
            <a:r>
              <a:rPr kumimoji="1" lang="zh-CN" altLang="en-US" sz="2000" b="1"/>
              <a:t>复制的一部分发布</a:t>
            </a:r>
            <a:r>
              <a:rPr kumimoji="1" lang="zh-CN" altLang="en-US" sz="2000"/>
              <a:t> 。</a:t>
            </a:r>
          </a:p>
        </p:txBody>
      </p:sp>
      <p:sp>
        <p:nvSpPr>
          <p:cNvPr id="47115" name="Rectangle 11">
            <a:extLst>
              <a:ext uri="{FF2B5EF4-FFF2-40B4-BE49-F238E27FC236}">
                <a16:creationId xmlns:a16="http://schemas.microsoft.com/office/drawing/2014/main" id="{CDE328D3-00B1-4AB0-9300-627EECA2A1CB}"/>
              </a:ext>
            </a:extLst>
          </p:cNvPr>
          <p:cNvSpPr>
            <a:spLocks noChangeArrowheads="1"/>
          </p:cNvSpPr>
          <p:nvPr/>
        </p:nvSpPr>
        <p:spPr bwMode="auto">
          <a:xfrm>
            <a:off x="4140200" y="4076700"/>
            <a:ext cx="2663825" cy="433388"/>
          </a:xfrm>
          <a:prstGeom prst="rect">
            <a:avLst/>
          </a:prstGeom>
          <a:noFill/>
          <a:ln w="38100" cap="sq">
            <a:solidFill>
              <a:srgbClr val="80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0000FF"/>
              </a:solidFill>
            </a:endParaRPr>
          </a:p>
        </p:txBody>
      </p:sp>
      <p:sp>
        <p:nvSpPr>
          <p:cNvPr id="944135" name="AutoShape 7">
            <a:extLst>
              <a:ext uri="{FF2B5EF4-FFF2-40B4-BE49-F238E27FC236}">
                <a16:creationId xmlns:a16="http://schemas.microsoft.com/office/drawing/2014/main" id="{533E91F2-B282-4240-B96F-D2FECECA79F9}"/>
              </a:ext>
            </a:extLst>
          </p:cNvPr>
          <p:cNvSpPr>
            <a:spLocks noChangeArrowheads="1"/>
          </p:cNvSpPr>
          <p:nvPr/>
        </p:nvSpPr>
        <p:spPr bwMode="auto">
          <a:xfrm>
            <a:off x="6300788" y="4865688"/>
            <a:ext cx="2817812" cy="1155700"/>
          </a:xfrm>
          <a:prstGeom prst="wedgeRoundRectCallout">
            <a:avLst>
              <a:gd name="adj1" fmla="val -53324"/>
              <a:gd name="adj2" fmla="val -79120"/>
              <a:gd name="adj3" fmla="val 16667"/>
            </a:avLst>
          </a:prstGeom>
          <a:solidFill>
            <a:srgbClr val="FFE1FF"/>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05000"/>
              </a:lnSpc>
            </a:pPr>
            <a:r>
              <a:rPr kumimoji="1" lang="zh-CN" altLang="en-US" sz="2000" b="1"/>
              <a:t>     用于指定将函数绑定到它所引用的数据库对象上。</a:t>
            </a:r>
            <a:r>
              <a:rPr kumimoji="1" lang="zh-CN" altLang="en-US" sz="2000"/>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972"/>
    </mc:Choice>
    <mc:Fallback xmlns="">
      <p:transition spd="slow" advTm="5097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108"/>
                                        </p:tgtEl>
                                        <p:attrNameLst>
                                          <p:attrName>style.visibility</p:attrName>
                                        </p:attrNameLst>
                                      </p:cBhvr>
                                      <p:to>
                                        <p:strVal val="visible"/>
                                      </p:to>
                                    </p:set>
                                    <p:animEffect transition="in" filter="dissolve">
                                      <p:cBhvr>
                                        <p:cTn id="7" dur="500"/>
                                        <p:tgtEl>
                                          <p:spTgt spid="471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112"/>
                                        </p:tgtEl>
                                        <p:attrNameLst>
                                          <p:attrName>style.visibility</p:attrName>
                                        </p:attrNameLst>
                                      </p:cBhvr>
                                      <p:to>
                                        <p:strVal val="visible"/>
                                      </p:to>
                                    </p:set>
                                    <p:animEffect transition="in" filter="dissolve">
                                      <p:cBhvr>
                                        <p:cTn id="12" dur="500"/>
                                        <p:tgtEl>
                                          <p:spTgt spid="47112"/>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7109"/>
                                        </p:tgtEl>
                                        <p:attrNameLst>
                                          <p:attrName>style.visibility</p:attrName>
                                        </p:attrNameLst>
                                      </p:cBhvr>
                                      <p:to>
                                        <p:strVal val="visible"/>
                                      </p:to>
                                    </p:set>
                                    <p:animEffect transition="in" filter="wipe(left)">
                                      <p:cBhvr>
                                        <p:cTn id="16" dur="500"/>
                                        <p:tgtEl>
                                          <p:spTgt spid="47109"/>
                                        </p:tgtEl>
                                      </p:cBhvr>
                                    </p:animEffect>
                                  </p:childTnLst>
                                </p:cTn>
                              </p:par>
                              <p:par>
                                <p:cTn id="17" presetID="22" presetClass="exit" presetSubtype="8" fill="hold" grpId="1" nodeType="withEffect">
                                  <p:stCondLst>
                                    <p:cond delay="0"/>
                                  </p:stCondLst>
                                  <p:childTnLst>
                                    <p:animEffect transition="out" filter="wipe(left)">
                                      <p:cBhvr>
                                        <p:cTn id="18" dur="500"/>
                                        <p:tgtEl>
                                          <p:spTgt spid="47112"/>
                                        </p:tgtEl>
                                      </p:cBhvr>
                                    </p:animEffect>
                                    <p:set>
                                      <p:cBhvr>
                                        <p:cTn id="19" dur="1" fill="hold">
                                          <p:stCondLst>
                                            <p:cond delay="499"/>
                                          </p:stCondLst>
                                        </p:cTn>
                                        <p:tgtEl>
                                          <p:spTgt spid="47112"/>
                                        </p:tgtEl>
                                        <p:attrNameLst>
                                          <p:attrName>style.visibility</p:attrName>
                                        </p:attrNameLst>
                                      </p:cBhvr>
                                      <p:to>
                                        <p:strVal val="hidden"/>
                                      </p:to>
                                    </p:set>
                                  </p:childTnLst>
                                </p:cTn>
                              </p:par>
                            </p:childTnLst>
                          </p:cTn>
                        </p:par>
                        <p:par>
                          <p:cTn id="20" fill="hold" nodeType="afterGroup">
                            <p:stCondLst>
                              <p:cond delay="1000"/>
                            </p:stCondLst>
                            <p:childTnLst>
                              <p:par>
                                <p:cTn id="21" presetID="9" presetClass="entr" presetSubtype="0" fill="hold" grpId="0" nodeType="afterEffect">
                                  <p:stCondLst>
                                    <p:cond delay="0"/>
                                  </p:stCondLst>
                                  <p:childTnLst>
                                    <p:set>
                                      <p:cBhvr>
                                        <p:cTn id="22" dur="1" fill="hold">
                                          <p:stCondLst>
                                            <p:cond delay="0"/>
                                          </p:stCondLst>
                                        </p:cTn>
                                        <p:tgtEl>
                                          <p:spTgt spid="47113"/>
                                        </p:tgtEl>
                                        <p:attrNameLst>
                                          <p:attrName>style.visibility</p:attrName>
                                        </p:attrNameLst>
                                      </p:cBhvr>
                                      <p:to>
                                        <p:strVal val="visible"/>
                                      </p:to>
                                    </p:set>
                                    <p:animEffect transition="in" filter="dissolve">
                                      <p:cBhvr>
                                        <p:cTn id="23" dur="500"/>
                                        <p:tgtEl>
                                          <p:spTgt spid="4711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943112"/>
                                        </p:tgtEl>
                                        <p:attrNameLst>
                                          <p:attrName>style.visibility</p:attrName>
                                        </p:attrNameLst>
                                      </p:cBhvr>
                                      <p:to>
                                        <p:strVal val="visible"/>
                                      </p:to>
                                    </p:set>
                                    <p:animEffect transition="in" filter="box(in)">
                                      <p:cBhvr>
                                        <p:cTn id="28" dur="500"/>
                                        <p:tgtEl>
                                          <p:spTgt spid="94311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xit" presetSubtype="8" fill="hold" grpId="1" nodeType="clickEffect">
                                  <p:stCondLst>
                                    <p:cond delay="0"/>
                                  </p:stCondLst>
                                  <p:childTnLst>
                                    <p:animEffect transition="out" filter="wipe(left)">
                                      <p:cBhvr>
                                        <p:cTn id="32" dur="500"/>
                                        <p:tgtEl>
                                          <p:spTgt spid="47113"/>
                                        </p:tgtEl>
                                      </p:cBhvr>
                                    </p:animEffect>
                                    <p:set>
                                      <p:cBhvr>
                                        <p:cTn id="33" dur="1" fill="hold">
                                          <p:stCondLst>
                                            <p:cond delay="499"/>
                                          </p:stCondLst>
                                        </p:cTn>
                                        <p:tgtEl>
                                          <p:spTgt spid="47113"/>
                                        </p:tgtEl>
                                        <p:attrNameLst>
                                          <p:attrName>style.visibility</p:attrName>
                                        </p:attrNameLst>
                                      </p:cBhvr>
                                      <p:to>
                                        <p:strVal val="hidden"/>
                                      </p:to>
                                    </p:set>
                                  </p:childTnLst>
                                </p:cTn>
                              </p:par>
                              <p:par>
                                <p:cTn id="34" presetID="22" presetClass="exit" presetSubtype="4" fill="hold" grpId="1" nodeType="withEffect">
                                  <p:stCondLst>
                                    <p:cond delay="0"/>
                                  </p:stCondLst>
                                  <p:childTnLst>
                                    <p:animEffect transition="out" filter="wipe(down)">
                                      <p:cBhvr>
                                        <p:cTn id="35" dur="500"/>
                                        <p:tgtEl>
                                          <p:spTgt spid="943112"/>
                                        </p:tgtEl>
                                      </p:cBhvr>
                                    </p:animEffect>
                                    <p:set>
                                      <p:cBhvr>
                                        <p:cTn id="36" dur="1" fill="hold">
                                          <p:stCondLst>
                                            <p:cond delay="499"/>
                                          </p:stCondLst>
                                        </p:cTn>
                                        <p:tgtEl>
                                          <p:spTgt spid="943112"/>
                                        </p:tgtEl>
                                        <p:attrNameLst>
                                          <p:attrName>style.visibility</p:attrName>
                                        </p:attrNameLst>
                                      </p:cBhvr>
                                      <p:to>
                                        <p:strVal val="hidden"/>
                                      </p:to>
                                    </p:set>
                                  </p:childTnLst>
                                </p:cTn>
                              </p:par>
                            </p:childTnLst>
                          </p:cTn>
                        </p:par>
                        <p:par>
                          <p:cTn id="37" fill="hold" nodeType="afterGroup">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47115"/>
                                        </p:tgtEl>
                                        <p:attrNameLst>
                                          <p:attrName>style.visibility</p:attrName>
                                        </p:attrNameLst>
                                      </p:cBhvr>
                                      <p:to>
                                        <p:strVal val="visible"/>
                                      </p:to>
                                    </p:set>
                                    <p:animEffect transition="in" filter="dissolve">
                                      <p:cBhvr>
                                        <p:cTn id="40" dur="500"/>
                                        <p:tgtEl>
                                          <p:spTgt spid="4711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944135"/>
                                        </p:tgtEl>
                                        <p:attrNameLst>
                                          <p:attrName>style.visibility</p:attrName>
                                        </p:attrNameLst>
                                      </p:cBhvr>
                                      <p:to>
                                        <p:strVal val="visible"/>
                                      </p:to>
                                    </p:set>
                                    <p:animEffect transition="in" filter="box(in)">
                                      <p:cBhvr>
                                        <p:cTn id="45" dur="500"/>
                                        <p:tgtEl>
                                          <p:spTgt spid="944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animBg="1"/>
      <p:bldP spid="47109" grpId="0"/>
      <p:bldP spid="47112" grpId="0" animBg="1"/>
      <p:bldP spid="47112" grpId="1" animBg="1"/>
      <p:bldP spid="47113" grpId="0" animBg="1"/>
      <p:bldP spid="47113" grpId="1" animBg="1"/>
      <p:bldP spid="943112" grpId="0" animBg="1"/>
      <p:bldP spid="943112" grpId="1" animBg="1"/>
      <p:bldP spid="47115" grpId="0" animBg="1"/>
      <p:bldP spid="94413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81" name="Rectangle 5">
            <a:extLst>
              <a:ext uri="{FF2B5EF4-FFF2-40B4-BE49-F238E27FC236}">
                <a16:creationId xmlns:a16="http://schemas.microsoft.com/office/drawing/2014/main" id="{35A0CF0F-86AA-4930-A68C-E536D66FD024}"/>
              </a:ext>
            </a:extLst>
          </p:cNvPr>
          <p:cNvSpPr>
            <a:spLocks noChangeArrowheads="1"/>
          </p:cNvSpPr>
          <p:nvPr/>
        </p:nvSpPr>
        <p:spPr bwMode="auto">
          <a:xfrm>
            <a:off x="395288" y="620713"/>
            <a:ext cx="8496300" cy="532765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latin typeface="黑体" panose="02010609060101010101" pitchFamily="49" charset="-122"/>
              <a:ea typeface="黑体" panose="02010609060101010101" pitchFamily="49" charset="-122"/>
            </a:endParaRPr>
          </a:p>
          <a:p>
            <a:pPr eaLnBrk="1" hangingPunct="1">
              <a:lnSpc>
                <a:spcPct val="120000"/>
              </a:lnSpc>
              <a:spcBef>
                <a:spcPct val="20000"/>
              </a:spcBef>
              <a:buClr>
                <a:schemeClr val="folHlink"/>
              </a:buClr>
              <a:buSzPct val="60000"/>
              <a:buFont typeface="Wingdings" panose="05000000000000000000" pitchFamily="2" charset="2"/>
              <a:buNone/>
            </a:pPr>
            <a:r>
              <a:rPr lang="zh-CN" altLang="en-US" sz="2600" b="1">
                <a:solidFill>
                  <a:srgbClr val="660033"/>
                </a:solidFill>
                <a:latin typeface="黑体" panose="02010609060101010101" pitchFamily="49" charset="-122"/>
                <a:ea typeface="黑体" panose="02010609060101010101" pitchFamily="49" charset="-122"/>
              </a:rPr>
              <a:t>例</a:t>
            </a:r>
            <a:r>
              <a:rPr lang="en-US" altLang="zh-CN" sz="2600" b="1">
                <a:solidFill>
                  <a:srgbClr val="660033"/>
                </a:solidFill>
                <a:latin typeface="黑体" panose="02010609060101010101" pitchFamily="49" charset="-122"/>
                <a:ea typeface="黑体" panose="02010609060101010101" pitchFamily="49" charset="-122"/>
              </a:rPr>
              <a:t>7.</a:t>
            </a:r>
            <a:r>
              <a:rPr lang="zh-CN" altLang="en-US" sz="2600" b="1">
                <a:latin typeface="黑体" panose="02010609060101010101" pitchFamily="49" charset="-122"/>
                <a:ea typeface="黑体" panose="02010609060101010101" pitchFamily="49" charset="-122"/>
              </a:rPr>
              <a:t> 创建一个自定义函数，用于返回某班的学生关系表。</a:t>
            </a:r>
          </a:p>
          <a:p>
            <a:pPr eaLnBrk="1" hangingPunct="1">
              <a:lnSpc>
                <a:spcPct val="12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USE  JXGL</a:t>
            </a:r>
          </a:p>
          <a:p>
            <a:pPr eaLnBrk="1" hangingPunct="1">
              <a:lnSpc>
                <a:spcPct val="12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GO</a:t>
            </a:r>
          </a:p>
          <a:p>
            <a:pPr eaLnBrk="1" hangingPunct="1">
              <a:lnSpc>
                <a:spcPct val="12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CREATE FUNCTION</a:t>
            </a:r>
            <a:r>
              <a:rPr lang="en-US" altLang="zh-CN" sz="2600" b="1">
                <a:latin typeface="黑体" panose="02010609060101010101" pitchFamily="49" charset="-122"/>
                <a:ea typeface="黑体" panose="02010609060101010101" pitchFamily="49" charset="-122"/>
              </a:rPr>
              <a:t> s_table</a:t>
            </a:r>
          </a:p>
          <a:p>
            <a:pPr eaLnBrk="1" hangingPunct="1">
              <a:lnSpc>
                <a:spcPct val="12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(@class1 VARCHAR(7))</a:t>
            </a:r>
          </a:p>
          <a:p>
            <a:pPr eaLnBrk="1" hangingPunct="1">
              <a:lnSpc>
                <a:spcPct val="12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RETURNS</a:t>
            </a:r>
            <a:r>
              <a:rPr lang="en-US" altLang="zh-CN" sz="2600" b="1">
                <a:latin typeface="黑体" panose="02010609060101010101" pitchFamily="49" charset="-122"/>
                <a:ea typeface="黑体" panose="02010609060101010101" pitchFamily="49" charset="-122"/>
              </a:rPr>
              <a:t> TABLE</a:t>
            </a:r>
          </a:p>
          <a:p>
            <a:pPr eaLnBrk="1" hangingPunct="1">
              <a:lnSpc>
                <a:spcPct val="12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AS</a:t>
            </a:r>
          </a:p>
          <a:p>
            <a:pPr eaLnBrk="1" hangingPunct="1">
              <a:lnSpc>
                <a:spcPct val="12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a:t>
            </a:r>
            <a:r>
              <a:rPr lang="en-US" altLang="zh-CN" sz="2600" b="1">
                <a:solidFill>
                  <a:srgbClr val="0000FF"/>
                </a:solidFill>
                <a:latin typeface="黑体" panose="02010609060101010101" pitchFamily="49" charset="-122"/>
                <a:ea typeface="黑体" panose="02010609060101010101" pitchFamily="49" charset="-122"/>
              </a:rPr>
              <a:t>RETURN</a:t>
            </a:r>
            <a:r>
              <a:rPr lang="en-US" altLang="zh-CN" sz="2600" b="1">
                <a:latin typeface="黑体" panose="02010609060101010101" pitchFamily="49" charset="-122"/>
                <a:ea typeface="黑体" panose="02010609060101010101" pitchFamily="49" charset="-122"/>
              </a:rPr>
              <a:t> (select * from S where CLASS=@class1)</a:t>
            </a:r>
          </a:p>
          <a:p>
            <a:pPr eaLnBrk="1" hangingPunct="1">
              <a:lnSpc>
                <a:spcPct val="125000"/>
              </a:lnSpc>
              <a:buClr>
                <a:schemeClr val="folHlink"/>
              </a:buClr>
              <a:buSzPct val="60000"/>
              <a:buFont typeface="Wingdings" panose="05000000000000000000" pitchFamily="2" charset="2"/>
              <a:buNone/>
            </a:pPr>
            <a:r>
              <a:rPr lang="en-US" altLang="zh-CN" sz="2600" b="1">
                <a:latin typeface="黑体" panose="02010609060101010101" pitchFamily="49" charset="-122"/>
                <a:ea typeface="黑体" panose="02010609060101010101" pitchFamily="49" charset="-122"/>
              </a:rPr>
              <a:t>   GO </a:t>
            </a:r>
            <a:endParaRPr lang="zh-CN" altLang="en-US" sz="2600" b="1">
              <a:latin typeface="黑体" panose="02010609060101010101" pitchFamily="49" charset="-122"/>
              <a:ea typeface="黑体" panose="02010609060101010101" pitchFamily="49" charset="-122"/>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4743"/>
    </mc:Choice>
    <mc:Fallback xmlns="">
      <p:transition spd="slow" advTm="34743"/>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46181">
                                            <p:txEl>
                                              <p:pRg st="2" end="2"/>
                                            </p:txEl>
                                          </p:spTgt>
                                        </p:tgtEl>
                                        <p:attrNameLst>
                                          <p:attrName>style.visibility</p:attrName>
                                        </p:attrNameLst>
                                      </p:cBhvr>
                                      <p:to>
                                        <p:strVal val="visible"/>
                                      </p:to>
                                    </p:set>
                                    <p:animEffect transition="in" filter="dissolve">
                                      <p:cBhvr>
                                        <p:cTn id="7" dur="500"/>
                                        <p:tgtEl>
                                          <p:spTgt spid="946181">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946181">
                                            <p:txEl>
                                              <p:pRg st="3" end="3"/>
                                            </p:txEl>
                                          </p:spTgt>
                                        </p:tgtEl>
                                        <p:attrNameLst>
                                          <p:attrName>style.visibility</p:attrName>
                                        </p:attrNameLst>
                                      </p:cBhvr>
                                      <p:to>
                                        <p:strVal val="visible"/>
                                      </p:to>
                                    </p:set>
                                    <p:animEffect transition="in" filter="dissolve">
                                      <p:cBhvr>
                                        <p:cTn id="10" dur="500"/>
                                        <p:tgtEl>
                                          <p:spTgt spid="946181">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946181">
                                            <p:txEl>
                                              <p:pRg st="4" end="4"/>
                                            </p:txEl>
                                          </p:spTgt>
                                        </p:tgtEl>
                                        <p:attrNameLst>
                                          <p:attrName>style.visibility</p:attrName>
                                        </p:attrNameLst>
                                      </p:cBhvr>
                                      <p:to>
                                        <p:strVal val="visible"/>
                                      </p:to>
                                    </p:set>
                                    <p:animEffect transition="in" filter="dissolve">
                                      <p:cBhvr>
                                        <p:cTn id="13" dur="500"/>
                                        <p:tgtEl>
                                          <p:spTgt spid="946181">
                                            <p:txEl>
                                              <p:pRg st="4" end="4"/>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946181">
                                            <p:txEl>
                                              <p:pRg st="6" end="6"/>
                                            </p:txEl>
                                          </p:spTgt>
                                        </p:tgtEl>
                                        <p:attrNameLst>
                                          <p:attrName>style.visibility</p:attrName>
                                        </p:attrNameLst>
                                      </p:cBhvr>
                                      <p:to>
                                        <p:strVal val="visible"/>
                                      </p:to>
                                    </p:set>
                                    <p:animEffect transition="in" filter="dissolve">
                                      <p:cBhvr>
                                        <p:cTn id="18" dur="500"/>
                                        <p:tgtEl>
                                          <p:spTgt spid="946181">
                                            <p:txEl>
                                              <p:pRg st="6" end="6"/>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946181">
                                            <p:txEl>
                                              <p:pRg st="5" end="5"/>
                                            </p:txEl>
                                          </p:spTgt>
                                        </p:tgtEl>
                                        <p:attrNameLst>
                                          <p:attrName>style.visibility</p:attrName>
                                        </p:attrNameLst>
                                      </p:cBhvr>
                                      <p:to>
                                        <p:strVal val="visible"/>
                                      </p:to>
                                    </p:set>
                                    <p:animEffect transition="in" filter="dissolve">
                                      <p:cBhvr>
                                        <p:cTn id="23" dur="500"/>
                                        <p:tgtEl>
                                          <p:spTgt spid="946181">
                                            <p:txEl>
                                              <p:pRg st="5" end="5"/>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946181">
                                            <p:txEl>
                                              <p:pRg st="7" end="7"/>
                                            </p:txEl>
                                          </p:spTgt>
                                        </p:tgtEl>
                                        <p:attrNameLst>
                                          <p:attrName>style.visibility</p:attrName>
                                        </p:attrNameLst>
                                      </p:cBhvr>
                                      <p:to>
                                        <p:strVal val="visible"/>
                                      </p:to>
                                    </p:set>
                                    <p:animEffect transition="in" filter="dissolve">
                                      <p:cBhvr>
                                        <p:cTn id="28" dur="500"/>
                                        <p:tgtEl>
                                          <p:spTgt spid="946181">
                                            <p:txEl>
                                              <p:pRg st="7" end="7"/>
                                            </p:txEl>
                                          </p:spTgt>
                                        </p:tgtEl>
                                      </p:cBhvr>
                                    </p:animEffect>
                                  </p:childTnLst>
                                </p:cTn>
                              </p:par>
                              <p:par>
                                <p:cTn id="29" presetID="9" presetClass="entr" presetSubtype="0" fill="hold" nodeType="withEffect">
                                  <p:stCondLst>
                                    <p:cond delay="0"/>
                                  </p:stCondLst>
                                  <p:childTnLst>
                                    <p:set>
                                      <p:cBhvr>
                                        <p:cTn id="30" dur="1" fill="hold">
                                          <p:stCondLst>
                                            <p:cond delay="0"/>
                                          </p:stCondLst>
                                        </p:cTn>
                                        <p:tgtEl>
                                          <p:spTgt spid="946181">
                                            <p:txEl>
                                              <p:pRg st="8" end="8"/>
                                            </p:txEl>
                                          </p:spTgt>
                                        </p:tgtEl>
                                        <p:attrNameLst>
                                          <p:attrName>style.visibility</p:attrName>
                                        </p:attrNameLst>
                                      </p:cBhvr>
                                      <p:to>
                                        <p:strVal val="visible"/>
                                      </p:to>
                                    </p:set>
                                    <p:animEffect transition="in" filter="dissolve">
                                      <p:cBhvr>
                                        <p:cTn id="31" dur="500"/>
                                        <p:tgtEl>
                                          <p:spTgt spid="946181">
                                            <p:txEl>
                                              <p:pRg st="8" end="8"/>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9" presetClass="entr" presetSubtype="0" fill="hold" nodeType="clickEffect">
                                  <p:stCondLst>
                                    <p:cond delay="0"/>
                                  </p:stCondLst>
                                  <p:childTnLst>
                                    <p:set>
                                      <p:cBhvr>
                                        <p:cTn id="35" dur="1" fill="hold">
                                          <p:stCondLst>
                                            <p:cond delay="0"/>
                                          </p:stCondLst>
                                        </p:cTn>
                                        <p:tgtEl>
                                          <p:spTgt spid="946181">
                                            <p:txEl>
                                              <p:pRg st="9" end="9"/>
                                            </p:txEl>
                                          </p:spTgt>
                                        </p:tgtEl>
                                        <p:attrNameLst>
                                          <p:attrName>style.visibility</p:attrName>
                                        </p:attrNameLst>
                                      </p:cBhvr>
                                      <p:to>
                                        <p:strVal val="visible"/>
                                      </p:to>
                                    </p:set>
                                    <p:animEffect transition="in" filter="dissolve">
                                      <p:cBhvr>
                                        <p:cTn id="36" dur="500"/>
                                        <p:tgtEl>
                                          <p:spTgt spid="94618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4" name="Rectangle 4">
            <a:extLst>
              <a:ext uri="{FF2B5EF4-FFF2-40B4-BE49-F238E27FC236}">
                <a16:creationId xmlns:a16="http://schemas.microsoft.com/office/drawing/2014/main" id="{343E9415-0AEF-4B3A-B367-3D8BA9D90BEE}"/>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r>
              <a:rPr lang="zh-CN" altLang="en-US" sz="3600" b="1">
                <a:solidFill>
                  <a:schemeClr val="tx2"/>
                </a:solidFill>
                <a:latin typeface="Tahoma" panose="020B0604030504040204" pitchFamily="34" charset="0"/>
                <a:ea typeface="幼圆" panose="02010509060101010101" pitchFamily="49" charset="-122"/>
              </a:rPr>
              <a:t>四、</a:t>
            </a:r>
            <a:r>
              <a:rPr lang="en-US" altLang="zh-CN" sz="3600" b="1">
                <a:solidFill>
                  <a:schemeClr val="tx2"/>
                </a:solidFill>
                <a:latin typeface="Tahoma" panose="020B0604030504040204" pitchFamily="34" charset="0"/>
                <a:ea typeface="幼圆" panose="02010509060101010101" pitchFamily="49" charset="-122"/>
              </a:rPr>
              <a:t>Transact-SQL</a:t>
            </a:r>
            <a:r>
              <a:rPr lang="zh-CN" altLang="en-US" sz="3600" b="1">
                <a:solidFill>
                  <a:schemeClr val="tx2"/>
                </a:solidFill>
                <a:latin typeface="Tahoma" panose="020B0604030504040204" pitchFamily="34" charset="0"/>
                <a:ea typeface="幼圆" panose="02010509060101010101" pitchFamily="49" charset="-122"/>
              </a:rPr>
              <a:t>函数 </a:t>
            </a:r>
          </a:p>
        </p:txBody>
      </p:sp>
      <p:sp>
        <p:nvSpPr>
          <p:cNvPr id="947205" name="Rectangle 5">
            <a:extLst>
              <a:ext uri="{FF2B5EF4-FFF2-40B4-BE49-F238E27FC236}">
                <a16:creationId xmlns:a16="http://schemas.microsoft.com/office/drawing/2014/main" id="{AFEFAB5E-A3E8-4C07-84B4-E440A9672EE6}"/>
              </a:ext>
            </a:extLst>
          </p:cNvPr>
          <p:cNvSpPr>
            <a:spLocks noChangeArrowheads="1"/>
          </p:cNvSpPr>
          <p:nvPr/>
        </p:nvSpPr>
        <p:spPr bwMode="auto">
          <a:xfrm>
            <a:off x="323850" y="1052513"/>
            <a:ext cx="8785225" cy="817562"/>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rPr>
              <a:t> </a:t>
            </a:r>
            <a:r>
              <a:rPr lang="en-US" altLang="zh-CN" sz="2800" b="1">
                <a:solidFill>
                  <a:srgbClr val="800000"/>
                </a:solidFill>
                <a:latin typeface="Tahoma" panose="020B0604030504040204" pitchFamily="34" charset="0"/>
              </a:rPr>
              <a:t>3</a:t>
            </a:r>
            <a:r>
              <a:rPr lang="zh-CN" altLang="en-US" sz="2800" b="1">
                <a:solidFill>
                  <a:srgbClr val="800000"/>
                </a:solidFill>
                <a:latin typeface="Tahoma" panose="020B0604030504040204" pitchFamily="34" charset="0"/>
              </a:rPr>
              <a:t>）用</a:t>
            </a:r>
            <a:r>
              <a:rPr lang="en-US" altLang="zh-CN" sz="2800" b="1">
                <a:solidFill>
                  <a:srgbClr val="800000"/>
                </a:solidFill>
                <a:latin typeface="Tahoma" panose="020B0604030504040204" pitchFamily="34" charset="0"/>
              </a:rPr>
              <a:t>CREATE FUNCTION </a:t>
            </a:r>
            <a:r>
              <a:rPr lang="zh-CN" altLang="en-US" sz="2800" b="1">
                <a:solidFill>
                  <a:srgbClr val="800000"/>
                </a:solidFill>
                <a:latin typeface="Tahoma" panose="020B0604030504040204" pitchFamily="34" charset="0"/>
              </a:rPr>
              <a:t>语句创建多语句表值函数</a:t>
            </a:r>
            <a:r>
              <a:rPr kumimoji="1" lang="zh-CN" altLang="en-US" sz="2700">
                <a:solidFill>
                  <a:srgbClr val="006600"/>
                </a:solidFill>
                <a:latin typeface="Times New Roman" panose="02020603050405020304" pitchFamily="18" charset="0"/>
                <a:ea typeface="黑体" panose="02010609060101010101" pitchFamily="49" charset="-122"/>
              </a:rPr>
              <a:t> </a:t>
            </a:r>
          </a:p>
        </p:txBody>
      </p:sp>
      <p:sp>
        <p:nvSpPr>
          <p:cNvPr id="52228" name="Text Box 6">
            <a:extLst>
              <a:ext uri="{FF2B5EF4-FFF2-40B4-BE49-F238E27FC236}">
                <a16:creationId xmlns:a16="http://schemas.microsoft.com/office/drawing/2014/main" id="{BAB8730C-9AC9-4419-B3CD-75506EECC860}"/>
              </a:ext>
            </a:extLst>
          </p:cNvPr>
          <p:cNvSpPr txBox="1">
            <a:spLocks noChangeArrowheads="1"/>
          </p:cNvSpPr>
          <p:nvPr/>
        </p:nvSpPr>
        <p:spPr bwMode="auto">
          <a:xfrm>
            <a:off x="468313" y="2019300"/>
            <a:ext cx="8353425" cy="4035425"/>
          </a:xfrm>
          <a:prstGeom prst="rect">
            <a:avLst/>
          </a:prstGeom>
          <a:gradFill rotWithShape="1">
            <a:gsLst>
              <a:gs pos="0">
                <a:srgbClr val="C5ECFF"/>
              </a:gs>
              <a:gs pos="50000">
                <a:srgbClr val="FFFFFF"/>
              </a:gs>
              <a:gs pos="100000">
                <a:srgbClr val="C5ECFF"/>
              </a:gs>
            </a:gsLst>
            <a:lin ang="5400000" scaled="1"/>
          </a:gra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20000"/>
              </a:lnSpc>
            </a:pPr>
            <a:r>
              <a:rPr lang="en-US" altLang="zh-CN" sz="2400" b="1" dirty="0">
                <a:solidFill>
                  <a:srgbClr val="0000FF"/>
                </a:solidFill>
              </a:rPr>
              <a:t>CREATE </a:t>
            </a:r>
            <a:r>
              <a:rPr lang="en-US" altLang="zh-CN" b="1" dirty="0">
                <a:solidFill>
                  <a:srgbClr val="0000FF"/>
                </a:solidFill>
              </a:rPr>
              <a:t> </a:t>
            </a:r>
            <a:r>
              <a:rPr lang="en-US" altLang="zh-CN" sz="2400" b="1" dirty="0">
                <a:solidFill>
                  <a:srgbClr val="0000FF"/>
                </a:solidFill>
              </a:rPr>
              <a:t>FUNCTION</a:t>
            </a:r>
            <a:r>
              <a:rPr lang="en-US" altLang="zh-CN" sz="2400" b="1" dirty="0"/>
              <a:t> [ </a:t>
            </a:r>
            <a:r>
              <a:rPr lang="en-US" altLang="zh-CN" sz="2400" b="1" dirty="0" err="1"/>
              <a:t>owner_name</a:t>
            </a:r>
            <a:r>
              <a:rPr lang="en-US" altLang="zh-CN" sz="2400" b="1" dirty="0"/>
              <a:t>.] </a:t>
            </a:r>
            <a:r>
              <a:rPr lang="en-US" altLang="zh-CN" sz="2400" b="1" dirty="0" err="1"/>
              <a:t>function_name</a:t>
            </a:r>
            <a:endParaRPr lang="en-US" altLang="zh-CN" sz="2400" b="1" dirty="0"/>
          </a:p>
          <a:p>
            <a:pPr eaLnBrk="1" hangingPunct="1">
              <a:lnSpc>
                <a:spcPct val="120000"/>
              </a:lnSpc>
            </a:pPr>
            <a:r>
              <a:rPr lang="en-US" altLang="zh-CN" sz="2400" b="1" dirty="0"/>
              <a:t>   </a:t>
            </a:r>
            <a:r>
              <a:rPr lang="pt-BR" altLang="zh-CN" sz="2400" b="1" dirty="0"/>
              <a:t>( [ { @parameter_name [AS]   </a:t>
            </a:r>
          </a:p>
          <a:p>
            <a:pPr eaLnBrk="1" hangingPunct="1">
              <a:lnSpc>
                <a:spcPct val="120000"/>
              </a:lnSpc>
            </a:pPr>
            <a:r>
              <a:rPr lang="pt-BR" altLang="zh-CN" sz="2400" b="1" dirty="0"/>
              <a:t>         scalar_parameter_data_type [ = default ] } [ , ...n] ] ) </a:t>
            </a:r>
          </a:p>
          <a:p>
            <a:pPr eaLnBrk="1" hangingPunct="1">
              <a:lnSpc>
                <a:spcPct val="120000"/>
              </a:lnSpc>
            </a:pPr>
            <a:r>
              <a:rPr lang="pt-BR" altLang="zh-CN" sz="2400" b="1" dirty="0"/>
              <a:t>     </a:t>
            </a:r>
            <a:r>
              <a:rPr lang="en-US" altLang="zh-CN" sz="2400" b="1" dirty="0">
                <a:solidFill>
                  <a:srgbClr val="0000FF"/>
                </a:solidFill>
              </a:rPr>
              <a:t>RETURNS</a:t>
            </a:r>
            <a:r>
              <a:rPr lang="en-US" altLang="zh-CN" sz="2400" b="1" dirty="0"/>
              <a:t>  </a:t>
            </a:r>
            <a:r>
              <a:rPr lang="pt-BR" altLang="zh-CN" sz="2400" b="1" dirty="0"/>
              <a:t>@local</a:t>
            </a:r>
            <a:r>
              <a:rPr lang="en-US" altLang="zh-CN" sz="2400" b="1" dirty="0"/>
              <a:t>_variable  TABLE</a:t>
            </a:r>
          </a:p>
          <a:p>
            <a:pPr eaLnBrk="1" hangingPunct="1">
              <a:lnSpc>
                <a:spcPct val="120000"/>
              </a:lnSpc>
            </a:pPr>
            <a:r>
              <a:rPr lang="en-US" altLang="zh-CN" sz="2400" b="1" dirty="0"/>
              <a:t>    [ AS ]</a:t>
            </a:r>
          </a:p>
          <a:p>
            <a:pPr eaLnBrk="1" hangingPunct="1">
              <a:lnSpc>
                <a:spcPct val="120000"/>
              </a:lnSpc>
            </a:pPr>
            <a:r>
              <a:rPr lang="en-US" altLang="zh-CN" sz="2400" b="1" dirty="0"/>
              <a:t>        </a:t>
            </a:r>
            <a:r>
              <a:rPr lang="en-US" altLang="zh-CN" sz="2400" b="1" dirty="0">
                <a:solidFill>
                  <a:srgbClr val="0000FF"/>
                </a:solidFill>
              </a:rPr>
              <a:t>BEGIN</a:t>
            </a:r>
          </a:p>
          <a:p>
            <a:pPr eaLnBrk="1" hangingPunct="1">
              <a:lnSpc>
                <a:spcPct val="120000"/>
              </a:lnSpc>
            </a:pPr>
            <a:r>
              <a:rPr lang="en-US" altLang="zh-CN" sz="2400" b="1" dirty="0"/>
              <a:t>              </a:t>
            </a:r>
            <a:r>
              <a:rPr lang="en-US" altLang="zh-CN" sz="2400" b="1" dirty="0" err="1"/>
              <a:t>function_body</a:t>
            </a:r>
            <a:endParaRPr lang="en-US" altLang="zh-CN" sz="2400" b="1" dirty="0"/>
          </a:p>
          <a:p>
            <a:pPr eaLnBrk="1" hangingPunct="1">
              <a:lnSpc>
                <a:spcPct val="120000"/>
              </a:lnSpc>
            </a:pPr>
            <a:r>
              <a:rPr lang="en-US" altLang="zh-CN" sz="2400" b="1" dirty="0"/>
              <a:t>              RETURN</a:t>
            </a:r>
          </a:p>
          <a:p>
            <a:pPr eaLnBrk="1" hangingPunct="1">
              <a:lnSpc>
                <a:spcPct val="120000"/>
              </a:lnSpc>
            </a:pPr>
            <a:r>
              <a:rPr lang="en-US" altLang="zh-CN" sz="2400" b="1" dirty="0"/>
              <a:t>        </a:t>
            </a:r>
            <a:r>
              <a:rPr lang="en-US" altLang="zh-CN" sz="2400" b="1" dirty="0">
                <a:solidFill>
                  <a:srgbClr val="0000FF"/>
                </a:solidFill>
              </a:rPr>
              <a:t>END </a:t>
            </a:r>
          </a:p>
        </p:txBody>
      </p:sp>
      <p:sp>
        <p:nvSpPr>
          <p:cNvPr id="52231" name="Rectangle 7">
            <a:extLst>
              <a:ext uri="{FF2B5EF4-FFF2-40B4-BE49-F238E27FC236}">
                <a16:creationId xmlns:a16="http://schemas.microsoft.com/office/drawing/2014/main" id="{E0B4428E-0CDF-4552-A2B9-818D062DC588}"/>
              </a:ext>
            </a:extLst>
          </p:cNvPr>
          <p:cNvSpPr>
            <a:spLocks noChangeArrowheads="1"/>
          </p:cNvSpPr>
          <p:nvPr/>
        </p:nvSpPr>
        <p:spPr bwMode="auto">
          <a:xfrm>
            <a:off x="2555875" y="3429000"/>
            <a:ext cx="2232025" cy="433388"/>
          </a:xfrm>
          <a:prstGeom prst="rect">
            <a:avLst/>
          </a:prstGeom>
          <a:noFill/>
          <a:ln w="38100" cap="sq">
            <a:solidFill>
              <a:srgbClr val="CC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CC0000"/>
              </a:solidFill>
            </a:endParaRPr>
          </a:p>
        </p:txBody>
      </p:sp>
      <p:sp>
        <p:nvSpPr>
          <p:cNvPr id="944135" name="AutoShape 7">
            <a:extLst>
              <a:ext uri="{FF2B5EF4-FFF2-40B4-BE49-F238E27FC236}">
                <a16:creationId xmlns:a16="http://schemas.microsoft.com/office/drawing/2014/main" id="{8813B6E6-1461-4707-87FC-044E0BCF90A2}"/>
              </a:ext>
            </a:extLst>
          </p:cNvPr>
          <p:cNvSpPr>
            <a:spLocks noChangeArrowheads="1"/>
          </p:cNvSpPr>
          <p:nvPr/>
        </p:nvSpPr>
        <p:spPr bwMode="auto">
          <a:xfrm>
            <a:off x="4643438" y="4292600"/>
            <a:ext cx="2817812" cy="1155700"/>
          </a:xfrm>
          <a:prstGeom prst="wedgeRoundRectCallout">
            <a:avLst>
              <a:gd name="adj1" fmla="val -53324"/>
              <a:gd name="adj2" fmla="val -79120"/>
              <a:gd name="adj3" fmla="val 16667"/>
            </a:avLst>
          </a:prstGeom>
          <a:solidFill>
            <a:srgbClr val="FFE1FF"/>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05000"/>
              </a:lnSpc>
            </a:pPr>
            <a:r>
              <a:rPr kumimoji="1" lang="zh-CN" altLang="en-US" sz="2000" b="1"/>
              <a:t>     为表变量，用于存储作为函数值返回的记录集。</a:t>
            </a:r>
            <a:r>
              <a:rPr kumimoji="1" lang="zh-CN" altLang="en-US" sz="2000"/>
              <a:t> </a:t>
            </a:r>
          </a:p>
        </p:txBody>
      </p:sp>
      <p:sp>
        <p:nvSpPr>
          <p:cNvPr id="52233" name="Rectangle 9">
            <a:extLst>
              <a:ext uri="{FF2B5EF4-FFF2-40B4-BE49-F238E27FC236}">
                <a16:creationId xmlns:a16="http://schemas.microsoft.com/office/drawing/2014/main" id="{BF38FA2C-97EF-44B6-BAF8-9C849525D9B8}"/>
              </a:ext>
            </a:extLst>
          </p:cNvPr>
          <p:cNvSpPr>
            <a:spLocks noChangeArrowheads="1"/>
          </p:cNvSpPr>
          <p:nvPr/>
        </p:nvSpPr>
        <p:spPr bwMode="auto">
          <a:xfrm>
            <a:off x="1692275" y="4724400"/>
            <a:ext cx="2232025" cy="433388"/>
          </a:xfrm>
          <a:prstGeom prst="rect">
            <a:avLst/>
          </a:prstGeom>
          <a:noFill/>
          <a:ln w="38100" cap="sq">
            <a:solidFill>
              <a:srgbClr val="CC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a:solidFill>
                <a:srgbClr val="0000FF"/>
              </a:solidFill>
            </a:endParaRPr>
          </a:p>
        </p:txBody>
      </p:sp>
      <p:sp>
        <p:nvSpPr>
          <p:cNvPr id="2" name="AutoShape 7">
            <a:extLst>
              <a:ext uri="{FF2B5EF4-FFF2-40B4-BE49-F238E27FC236}">
                <a16:creationId xmlns:a16="http://schemas.microsoft.com/office/drawing/2014/main" id="{34321657-AEBB-4262-AE54-FA45DA06ACAC}"/>
              </a:ext>
            </a:extLst>
          </p:cNvPr>
          <p:cNvSpPr>
            <a:spLocks noChangeArrowheads="1"/>
          </p:cNvSpPr>
          <p:nvPr/>
        </p:nvSpPr>
        <p:spPr bwMode="auto">
          <a:xfrm>
            <a:off x="4427538" y="4652963"/>
            <a:ext cx="2952750" cy="1155700"/>
          </a:xfrm>
          <a:prstGeom prst="wedgeRoundRectCallout">
            <a:avLst>
              <a:gd name="adj1" fmla="val -65213"/>
              <a:gd name="adj2" fmla="val -21977"/>
              <a:gd name="adj3" fmla="val 16667"/>
            </a:avLst>
          </a:prstGeom>
          <a:solidFill>
            <a:srgbClr val="FFE1FF"/>
          </a:solidFill>
          <a:ln w="9525">
            <a:solidFill>
              <a:schemeClr val="tx1"/>
            </a:solidFill>
            <a:miter lim="800000"/>
            <a:headEnd/>
            <a:tailEnd/>
          </a:ln>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05000"/>
              </a:lnSpc>
            </a:pPr>
            <a:r>
              <a:rPr kumimoji="1" lang="zh-CN" altLang="en-US" sz="2000" b="1" dirty="0"/>
              <a:t>     是一系列在表变量</a:t>
            </a:r>
            <a:r>
              <a:rPr kumimoji="1" lang="pt-BR" altLang="zh-CN" sz="2000" b="1" dirty="0"/>
              <a:t>@local</a:t>
            </a:r>
            <a:r>
              <a:rPr kumimoji="1" lang="en-US" altLang="zh-CN" sz="2000" b="1" dirty="0"/>
              <a:t>_variable </a:t>
            </a:r>
            <a:r>
              <a:rPr kumimoji="1" lang="zh-CN" altLang="en-US" sz="2000" b="1" dirty="0"/>
              <a:t>中插入记录行的</a:t>
            </a:r>
            <a:r>
              <a:rPr kumimoji="1" lang="en-US" altLang="zh-CN" sz="2000" b="1" dirty="0"/>
              <a:t>T-SQL</a:t>
            </a:r>
            <a:r>
              <a:rPr kumimoji="1" lang="zh-CN" altLang="en-US" sz="2000" b="1" dirty="0"/>
              <a:t>语句。</a:t>
            </a:r>
            <a:r>
              <a:rPr kumimoji="1" lang="zh-CN" altLang="en-US" sz="2000" dirty="0"/>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5030"/>
    </mc:Choice>
    <mc:Fallback xmlns="">
      <p:transition spd="slow" advTm="3503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2231"/>
                                        </p:tgtEl>
                                        <p:attrNameLst>
                                          <p:attrName>style.visibility</p:attrName>
                                        </p:attrNameLst>
                                      </p:cBhvr>
                                      <p:to>
                                        <p:strVal val="visible"/>
                                      </p:to>
                                    </p:set>
                                    <p:animEffect transition="in" filter="dissolve">
                                      <p:cBhvr>
                                        <p:cTn id="7" dur="500"/>
                                        <p:tgtEl>
                                          <p:spTgt spid="522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944135"/>
                                        </p:tgtEl>
                                        <p:attrNameLst>
                                          <p:attrName>style.visibility</p:attrName>
                                        </p:attrNameLst>
                                      </p:cBhvr>
                                      <p:to>
                                        <p:strVal val="visible"/>
                                      </p:to>
                                    </p:set>
                                    <p:animEffect transition="in" filter="box(in)">
                                      <p:cBhvr>
                                        <p:cTn id="12" dur="500"/>
                                        <p:tgtEl>
                                          <p:spTgt spid="9441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xit" presetSubtype="8" fill="hold" grpId="1" nodeType="clickEffect">
                                  <p:stCondLst>
                                    <p:cond delay="0"/>
                                  </p:stCondLst>
                                  <p:childTnLst>
                                    <p:animEffect transition="out" filter="wipe(left)">
                                      <p:cBhvr>
                                        <p:cTn id="16" dur="500"/>
                                        <p:tgtEl>
                                          <p:spTgt spid="52231"/>
                                        </p:tgtEl>
                                      </p:cBhvr>
                                    </p:animEffect>
                                    <p:set>
                                      <p:cBhvr>
                                        <p:cTn id="17" dur="1" fill="hold">
                                          <p:stCondLst>
                                            <p:cond delay="499"/>
                                          </p:stCondLst>
                                        </p:cTn>
                                        <p:tgtEl>
                                          <p:spTgt spid="52231"/>
                                        </p:tgtEl>
                                        <p:attrNameLst>
                                          <p:attrName>style.visibility</p:attrName>
                                        </p:attrNameLst>
                                      </p:cBhvr>
                                      <p:to>
                                        <p:strVal val="hidden"/>
                                      </p:to>
                                    </p:set>
                                  </p:childTnLst>
                                </p:cTn>
                              </p:par>
                              <p:par>
                                <p:cTn id="18" presetID="22" presetClass="exit" presetSubtype="4" fill="hold" grpId="1" nodeType="withEffect">
                                  <p:stCondLst>
                                    <p:cond delay="0"/>
                                  </p:stCondLst>
                                  <p:childTnLst>
                                    <p:animEffect transition="out" filter="wipe(down)">
                                      <p:cBhvr>
                                        <p:cTn id="19" dur="500"/>
                                        <p:tgtEl>
                                          <p:spTgt spid="944135"/>
                                        </p:tgtEl>
                                      </p:cBhvr>
                                    </p:animEffect>
                                    <p:set>
                                      <p:cBhvr>
                                        <p:cTn id="20" dur="1" fill="hold">
                                          <p:stCondLst>
                                            <p:cond delay="499"/>
                                          </p:stCondLst>
                                        </p:cTn>
                                        <p:tgtEl>
                                          <p:spTgt spid="944135"/>
                                        </p:tgtEl>
                                        <p:attrNameLst>
                                          <p:attrName>style.visibility</p:attrName>
                                        </p:attrNameLst>
                                      </p:cBhvr>
                                      <p:to>
                                        <p:strVal val="hidden"/>
                                      </p:to>
                                    </p:set>
                                  </p:childTnLst>
                                </p:cTn>
                              </p:par>
                            </p:childTnLst>
                          </p:cTn>
                        </p:par>
                        <p:par>
                          <p:cTn id="21" fill="hold" nodeType="afterGroup">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52233"/>
                                        </p:tgtEl>
                                        <p:attrNameLst>
                                          <p:attrName>style.visibility</p:attrName>
                                        </p:attrNameLst>
                                      </p:cBhvr>
                                      <p:to>
                                        <p:strVal val="visible"/>
                                      </p:to>
                                    </p:set>
                                    <p:animEffect transition="in" filter="dissolve">
                                      <p:cBhvr>
                                        <p:cTn id="24" dur="500"/>
                                        <p:tgtEl>
                                          <p:spTgt spid="5223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ox(in)">
                                      <p:cBhvr>
                                        <p:cTn id="2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1" grpId="0" animBg="1"/>
      <p:bldP spid="52231" grpId="1" animBg="1"/>
      <p:bldP spid="944135" grpId="0" animBg="1"/>
      <p:bldP spid="944135" grpId="1" animBg="1"/>
      <p:bldP spid="52233" grpId="0" animBg="1"/>
      <p:bldP spid="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4" name="Rectangle 4">
            <a:extLst>
              <a:ext uri="{FF2B5EF4-FFF2-40B4-BE49-F238E27FC236}">
                <a16:creationId xmlns:a16="http://schemas.microsoft.com/office/drawing/2014/main" id="{D8B09A9D-33F6-4CE8-B19A-6121DB283AA6}"/>
              </a:ext>
            </a:extLst>
          </p:cNvPr>
          <p:cNvSpPr>
            <a:spLocks noChangeArrowheads="1"/>
          </p:cNvSpPr>
          <p:nvPr/>
        </p:nvSpPr>
        <p:spPr bwMode="auto">
          <a:xfrm>
            <a:off x="1150938" y="214313"/>
            <a:ext cx="7793037" cy="622300"/>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r>
              <a:rPr lang="zh-CN" altLang="en-US" sz="3600" b="1">
                <a:solidFill>
                  <a:schemeClr val="tx2"/>
                </a:solidFill>
                <a:latin typeface="Tahoma" panose="020B0604030504040204" pitchFamily="34" charset="0"/>
                <a:ea typeface="幼圆" panose="02010509060101010101" pitchFamily="49" charset="-122"/>
              </a:rPr>
              <a:t>四、</a:t>
            </a:r>
            <a:r>
              <a:rPr lang="en-US" altLang="zh-CN" sz="3600" b="1">
                <a:solidFill>
                  <a:schemeClr val="tx2"/>
                </a:solidFill>
                <a:latin typeface="Tahoma" panose="020B0604030504040204" pitchFamily="34" charset="0"/>
                <a:ea typeface="幼圆" panose="02010509060101010101" pitchFamily="49" charset="-122"/>
              </a:rPr>
              <a:t>Transact-SQL</a:t>
            </a:r>
            <a:r>
              <a:rPr lang="zh-CN" altLang="en-US" sz="3600" b="1">
                <a:solidFill>
                  <a:schemeClr val="tx2"/>
                </a:solidFill>
                <a:latin typeface="Tahoma" panose="020B0604030504040204" pitchFamily="34" charset="0"/>
                <a:ea typeface="幼圆" panose="02010509060101010101" pitchFamily="49" charset="-122"/>
              </a:rPr>
              <a:t>函数 </a:t>
            </a:r>
          </a:p>
        </p:txBody>
      </p:sp>
      <p:sp>
        <p:nvSpPr>
          <p:cNvPr id="947205" name="Rectangle 5">
            <a:extLst>
              <a:ext uri="{FF2B5EF4-FFF2-40B4-BE49-F238E27FC236}">
                <a16:creationId xmlns:a16="http://schemas.microsoft.com/office/drawing/2014/main" id="{7D8FF093-C731-4080-B9A2-FEDC224B661F}"/>
              </a:ext>
            </a:extLst>
          </p:cNvPr>
          <p:cNvSpPr>
            <a:spLocks noChangeArrowheads="1"/>
          </p:cNvSpPr>
          <p:nvPr/>
        </p:nvSpPr>
        <p:spPr bwMode="auto">
          <a:xfrm>
            <a:off x="323850" y="1052513"/>
            <a:ext cx="8785225" cy="817562"/>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80000"/>
              </a:lnSpc>
              <a:buClr>
                <a:schemeClr val="folHlink"/>
              </a:buClr>
              <a:buSzPct val="60000"/>
              <a:buFont typeface="Wingdings" panose="05000000000000000000" pitchFamily="2" charset="2"/>
              <a:buNone/>
            </a:pPr>
            <a:endParaRPr lang="zh-CN" altLang="en-US" sz="800" b="1">
              <a:solidFill>
                <a:srgbClr val="660033"/>
              </a:solidFill>
              <a:effectLst>
                <a:outerShdw blurRad="38100" dist="38100" dir="2700000" algn="tl">
                  <a:srgbClr val="C0C0C0"/>
                </a:outerShdw>
              </a:effectLst>
              <a:latin typeface="黑体" panose="02010609060101010101" pitchFamily="49" charset="-122"/>
              <a:ea typeface="黑体" panose="02010609060101010101" pitchFamily="49" charset="-122"/>
            </a:endParaRPr>
          </a:p>
          <a:p>
            <a:pPr eaLnBrk="1" hangingPunct="1">
              <a:lnSpc>
                <a:spcPct val="150000"/>
              </a:lnSpc>
              <a:buClr>
                <a:schemeClr val="folHlink"/>
              </a:buClr>
              <a:buSzPct val="60000"/>
              <a:buFont typeface="Wingdings" panose="05000000000000000000" pitchFamily="2" charset="2"/>
              <a:buNone/>
            </a:pPr>
            <a:r>
              <a:rPr lang="zh-CN" altLang="en-US" sz="2800" b="1">
                <a:effectLst>
                  <a:outerShdw blurRad="38100" dist="38100" dir="2700000" algn="tl">
                    <a:srgbClr val="C0C0C0"/>
                  </a:outerShdw>
                </a:effectLst>
                <a:latin typeface="Tahoma" panose="020B0604030504040204" pitchFamily="34" charset="0"/>
              </a:rPr>
              <a:t> </a:t>
            </a:r>
            <a:r>
              <a:rPr lang="en-US" altLang="zh-CN" sz="2800" b="1">
                <a:solidFill>
                  <a:srgbClr val="800000"/>
                </a:solidFill>
                <a:latin typeface="Tahoma" panose="020B0604030504040204" pitchFamily="34" charset="0"/>
              </a:rPr>
              <a:t>3</a:t>
            </a:r>
            <a:r>
              <a:rPr lang="zh-CN" altLang="en-US" sz="2800" b="1">
                <a:solidFill>
                  <a:srgbClr val="800000"/>
                </a:solidFill>
                <a:latin typeface="Tahoma" panose="020B0604030504040204" pitchFamily="34" charset="0"/>
              </a:rPr>
              <a:t>）用</a:t>
            </a:r>
            <a:r>
              <a:rPr lang="en-US" altLang="zh-CN" sz="2800" b="1">
                <a:solidFill>
                  <a:srgbClr val="800000"/>
                </a:solidFill>
                <a:latin typeface="Tahoma" panose="020B0604030504040204" pitchFamily="34" charset="0"/>
              </a:rPr>
              <a:t>CREATE FUNCTION </a:t>
            </a:r>
            <a:r>
              <a:rPr lang="zh-CN" altLang="en-US" sz="2800" b="1">
                <a:solidFill>
                  <a:srgbClr val="800000"/>
                </a:solidFill>
                <a:latin typeface="Tahoma" panose="020B0604030504040204" pitchFamily="34" charset="0"/>
              </a:rPr>
              <a:t>语句创建多语句表值函数</a:t>
            </a:r>
            <a:r>
              <a:rPr kumimoji="1" lang="zh-CN" altLang="en-US" sz="2700">
                <a:solidFill>
                  <a:srgbClr val="006600"/>
                </a:solidFill>
                <a:latin typeface="Times New Roman" panose="02020603050405020304" pitchFamily="18" charset="0"/>
                <a:ea typeface="黑体" panose="02010609060101010101" pitchFamily="49" charset="-122"/>
              </a:rPr>
              <a:t> </a:t>
            </a:r>
          </a:p>
        </p:txBody>
      </p:sp>
      <p:sp>
        <p:nvSpPr>
          <p:cNvPr id="139269" name="Rectangle 7" descr="Large confetti">
            <a:extLst>
              <a:ext uri="{FF2B5EF4-FFF2-40B4-BE49-F238E27FC236}">
                <a16:creationId xmlns:a16="http://schemas.microsoft.com/office/drawing/2014/main" id="{AA0F106A-C8D9-47DA-A92C-0D8DF90FF466}"/>
              </a:ext>
            </a:extLst>
          </p:cNvPr>
          <p:cNvSpPr>
            <a:spLocks noChangeArrowheads="1"/>
          </p:cNvSpPr>
          <p:nvPr/>
        </p:nvSpPr>
        <p:spPr bwMode="auto">
          <a:xfrm>
            <a:off x="611188" y="1737949"/>
            <a:ext cx="8064500" cy="4375878"/>
          </a:xfrm>
          <a:prstGeom prst="rect">
            <a:avLst/>
          </a:prstGeom>
          <a:noFill/>
          <a:ln>
            <a:noFill/>
          </a:ln>
          <a:effectLst>
            <a:outerShdw dist="127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spAutoFit/>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lnSpc>
                <a:spcPct val="125000"/>
              </a:lnSpc>
              <a:buClr>
                <a:srgbClr val="0000FF"/>
              </a:buClr>
              <a:buFont typeface="Wingdings" panose="05000000000000000000" pitchFamily="2" charset="2"/>
              <a:buChar char="u"/>
            </a:pPr>
            <a:r>
              <a:rPr kumimoji="1" lang="zh-CN" altLang="en-US" sz="2500" b="1" dirty="0"/>
              <a:t> 多语句表值函数与单语句表值函数返回的是一个表（记录集）。</a:t>
            </a:r>
            <a:endParaRPr kumimoji="1" lang="en-US" altLang="zh-CN" sz="2500" b="1" dirty="0"/>
          </a:p>
          <a:p>
            <a:pPr eaLnBrk="1" hangingPunct="1">
              <a:lnSpc>
                <a:spcPct val="125000"/>
              </a:lnSpc>
              <a:buClr>
                <a:srgbClr val="0000FF"/>
              </a:buClr>
              <a:buFont typeface="Wingdings" panose="05000000000000000000" pitchFamily="2" charset="2"/>
              <a:buChar char="u"/>
            </a:pPr>
            <a:r>
              <a:rPr kumimoji="1" lang="zh-CN" altLang="en-US" sz="2500" b="1" dirty="0"/>
              <a:t>二者不同之处在于：单语句表值函数没有函数主体，返回的表是单个</a:t>
            </a:r>
            <a:r>
              <a:rPr kumimoji="1" lang="en-US" altLang="zh-CN" sz="2500" b="1" dirty="0"/>
              <a:t>SELECT</a:t>
            </a:r>
            <a:r>
              <a:rPr kumimoji="1" lang="zh-CN" altLang="en-US" sz="2500" b="1" dirty="0"/>
              <a:t>语句的结果集；而多语句表值函数在</a:t>
            </a:r>
            <a:r>
              <a:rPr kumimoji="1" lang="en-US" altLang="zh-CN" sz="2500" b="1" dirty="0"/>
              <a:t>BEGIN…END</a:t>
            </a:r>
            <a:r>
              <a:rPr kumimoji="1" lang="zh-CN" altLang="en-US" sz="2500" b="1" dirty="0"/>
              <a:t>块中定义的函数主体由</a:t>
            </a:r>
            <a:r>
              <a:rPr kumimoji="1" lang="en-US" altLang="zh-CN" sz="2500" b="1" dirty="0"/>
              <a:t>T-SQL</a:t>
            </a:r>
            <a:r>
              <a:rPr kumimoji="1" lang="zh-CN" altLang="en-US" sz="2500" b="1" dirty="0"/>
              <a:t>语句序列构成，这些语句可生成记录行插入至表</a:t>
            </a:r>
            <a:r>
              <a:rPr kumimoji="1" lang="zh-CN" altLang="en-US" sz="2400" b="1" dirty="0"/>
              <a:t>（</a:t>
            </a:r>
            <a:r>
              <a:rPr kumimoji="1" lang="pt-BR" altLang="zh-CN" sz="2400" b="1" dirty="0"/>
              <a:t>@local</a:t>
            </a:r>
            <a:r>
              <a:rPr kumimoji="1" lang="en-US" altLang="zh-CN" sz="2400" b="1" dirty="0"/>
              <a:t>_variable</a:t>
            </a:r>
            <a:r>
              <a:rPr kumimoji="1" lang="zh-CN" altLang="en-US" sz="2400" b="1" dirty="0"/>
              <a:t>）</a:t>
            </a:r>
            <a:r>
              <a:rPr kumimoji="1" lang="zh-CN" altLang="en-US" sz="2500" b="1" dirty="0"/>
              <a:t>中 ，最后返回表。</a:t>
            </a:r>
          </a:p>
          <a:p>
            <a:pPr eaLnBrk="1" hangingPunct="1">
              <a:lnSpc>
                <a:spcPct val="125000"/>
              </a:lnSpc>
              <a:buClr>
                <a:srgbClr val="0000FF"/>
              </a:buClr>
              <a:buFont typeface="Wingdings" panose="05000000000000000000" pitchFamily="2" charset="2"/>
              <a:buChar char="u"/>
            </a:pPr>
            <a:r>
              <a:rPr kumimoji="1" lang="zh-CN" altLang="en-US" sz="2500" b="1" dirty="0"/>
              <a:t> 多语句表值函数是标量函数和单语句表值函数的结合体。</a:t>
            </a:r>
            <a:endParaRPr kumimoji="1" lang="zh-CN" altLang="en-US" sz="2500" b="1" dirty="0">
              <a:solidFill>
                <a:srgbClr val="006666"/>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7192"/>
    </mc:Choice>
    <mc:Fallback xmlns="">
      <p:transition spd="slow" advTm="47192"/>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9269">
                                            <p:txEl>
                                              <p:pRg st="0" end="0"/>
                                            </p:txEl>
                                          </p:spTgt>
                                        </p:tgtEl>
                                        <p:attrNameLst>
                                          <p:attrName>style.visibility</p:attrName>
                                        </p:attrNameLst>
                                      </p:cBhvr>
                                      <p:to>
                                        <p:strVal val="visible"/>
                                      </p:to>
                                    </p:set>
                                    <p:animEffect transition="in" filter="wipe(left)">
                                      <p:cBhvr>
                                        <p:cTn id="7" dur="500"/>
                                        <p:tgtEl>
                                          <p:spTgt spid="139269">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39269">
                                            <p:txEl>
                                              <p:pRg st="1" end="1"/>
                                            </p:txEl>
                                          </p:spTgt>
                                        </p:tgtEl>
                                        <p:attrNameLst>
                                          <p:attrName>style.visibility</p:attrName>
                                        </p:attrNameLst>
                                      </p:cBhvr>
                                      <p:to>
                                        <p:strVal val="visible"/>
                                      </p:to>
                                    </p:set>
                                    <p:animEffect transition="in" filter="wipe(left)">
                                      <p:cBhvr>
                                        <p:cTn id="11" dur="500"/>
                                        <p:tgtEl>
                                          <p:spTgt spid="139269">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39269">
                                            <p:txEl>
                                              <p:pRg st="2" end="2"/>
                                            </p:txEl>
                                          </p:spTgt>
                                        </p:tgtEl>
                                        <p:attrNameLst>
                                          <p:attrName>style.visibility</p:attrName>
                                        </p:attrNameLst>
                                      </p:cBhvr>
                                      <p:to>
                                        <p:strVal val="visible"/>
                                      </p:to>
                                    </p:set>
                                    <p:animEffect transition="in" filter="wipe(left)">
                                      <p:cBhvr>
                                        <p:cTn id="16" dur="500"/>
                                        <p:tgtEl>
                                          <p:spTgt spid="13926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0.8"/>
</p:tagLst>
</file>

<file path=ppt/tags/tag2.xml><?xml version="1.0" encoding="utf-8"?>
<p:tagLst xmlns:a="http://schemas.openxmlformats.org/drawingml/2006/main" xmlns:r="http://schemas.openxmlformats.org/officeDocument/2006/relationships" xmlns:p="http://schemas.openxmlformats.org/presentationml/2006/main">
  <p:tag name="TIMING" val="|4.3|10"/>
</p:tagLst>
</file>

<file path=ppt/tags/tag3.xml><?xml version="1.0" encoding="utf-8"?>
<p:tagLst xmlns:a="http://schemas.openxmlformats.org/drawingml/2006/main" xmlns:r="http://schemas.openxmlformats.org/officeDocument/2006/relationships" xmlns:p="http://schemas.openxmlformats.org/presentationml/2006/main">
  <p:tag name="TIMING" val="|9.3"/>
</p:tagLst>
</file>

<file path=ppt/tags/tag4.xml><?xml version="1.0" encoding="utf-8"?>
<p:tagLst xmlns:a="http://schemas.openxmlformats.org/drawingml/2006/main" xmlns:r="http://schemas.openxmlformats.org/officeDocument/2006/relationships" xmlns:p="http://schemas.openxmlformats.org/presentationml/2006/main">
  <p:tag name="TIMING" val="|54.3"/>
</p:tagLst>
</file>

<file path=ppt/tags/tag5.xml><?xml version="1.0" encoding="utf-8"?>
<p:tagLst xmlns:a="http://schemas.openxmlformats.org/drawingml/2006/main" xmlns:r="http://schemas.openxmlformats.org/officeDocument/2006/relationships" xmlns:p="http://schemas.openxmlformats.org/presentationml/2006/main">
  <p:tag name="TIMING" val="|30|1"/>
</p:tagLst>
</file>

<file path=ppt/tags/tag6.xml><?xml version="1.0" encoding="utf-8"?>
<p:tagLst xmlns:a="http://schemas.openxmlformats.org/drawingml/2006/main" xmlns:r="http://schemas.openxmlformats.org/officeDocument/2006/relationships" xmlns:p="http://schemas.openxmlformats.org/presentationml/2006/main">
  <p:tag name="TIMING" val="|2.3"/>
</p:tagLst>
</file>

<file path=ppt/tags/tag7.xml><?xml version="1.0" encoding="utf-8"?>
<p:tagLst xmlns:a="http://schemas.openxmlformats.org/drawingml/2006/main" xmlns:r="http://schemas.openxmlformats.org/officeDocument/2006/relationships" xmlns:p="http://schemas.openxmlformats.org/presentationml/2006/main">
  <p:tag name="TIMING" val="|36.6"/>
</p:tagLst>
</file>

<file path=ppt/tags/tag8.xml><?xml version="1.0" encoding="utf-8"?>
<p:tagLst xmlns:a="http://schemas.openxmlformats.org/drawingml/2006/main" xmlns:r="http://schemas.openxmlformats.org/officeDocument/2006/relationships" xmlns:p="http://schemas.openxmlformats.org/presentationml/2006/main">
  <p:tag name="TIMING" val="|9.3"/>
</p:tagLst>
</file>

<file path=ppt/tags/tag9.xml><?xml version="1.0" encoding="utf-8"?>
<p:tagLst xmlns:a="http://schemas.openxmlformats.org/drawingml/2006/main" xmlns:r="http://schemas.openxmlformats.org/officeDocument/2006/relationships" xmlns:p="http://schemas.openxmlformats.org/presentationml/2006/main">
  <p:tag name="TIMING" val="|1.6|5.1|11.6|11"/>
</p:tagLst>
</file>

<file path=ppt/tags/tag10.xml><?xml version="1.0" encoding="utf-8"?>
<p:tagLst xmlns:a="http://schemas.openxmlformats.org/drawingml/2006/main" xmlns:r="http://schemas.openxmlformats.org/officeDocument/2006/relationships" xmlns:p="http://schemas.openxmlformats.org/presentationml/2006/main">
  <p:tag name="TIMING" val="|5.6|2.3|28.4|4.9|38.9|10.8|1"/>
</p:tagLst>
</file>

<file path=ppt/tags/tag11.xml><?xml version="1.0" encoding="utf-8"?>
<p:tagLst xmlns:a="http://schemas.openxmlformats.org/drawingml/2006/main" xmlns:r="http://schemas.openxmlformats.org/officeDocument/2006/relationships" xmlns:p="http://schemas.openxmlformats.org/presentationml/2006/main">
  <p:tag name="TIMING" val="|6.2|3.2|2.1|3.2|10.8|20.3|1|0.9|1"/>
</p:tagLst>
</file>

<file path=ppt/tags/tag12.xml><?xml version="1.0" encoding="utf-8"?>
<p:tagLst xmlns:a="http://schemas.openxmlformats.org/drawingml/2006/main" xmlns:r="http://schemas.openxmlformats.org/officeDocument/2006/relationships" xmlns:p="http://schemas.openxmlformats.org/presentationml/2006/main">
  <p:tag name="TIMING" val="|4.4|7.4|12.8|16.8|2.5"/>
</p:tagLst>
</file>

<file path=ppt/tags/tag13.xml><?xml version="1.0" encoding="utf-8"?>
<p:tagLst xmlns:a="http://schemas.openxmlformats.org/drawingml/2006/main" xmlns:r="http://schemas.openxmlformats.org/officeDocument/2006/relationships" xmlns:p="http://schemas.openxmlformats.org/presentationml/2006/main">
  <p:tag name="TIMING" val="|11.4|4.5|4.5|1.1|12"/>
</p:tagLst>
</file>

<file path=ppt/tags/tag14.xml><?xml version="1.0" encoding="utf-8"?>
<p:tagLst xmlns:a="http://schemas.openxmlformats.org/drawingml/2006/main" xmlns:r="http://schemas.openxmlformats.org/officeDocument/2006/relationships" xmlns:p="http://schemas.openxmlformats.org/presentationml/2006/main">
  <p:tag name="TIMING" val="|9.3|1.7|10.1|0.8"/>
</p:tagLst>
</file>

<file path=ppt/tags/tag15.xml><?xml version="1.0" encoding="utf-8"?>
<p:tagLst xmlns:a="http://schemas.openxmlformats.org/drawingml/2006/main" xmlns:r="http://schemas.openxmlformats.org/officeDocument/2006/relationships" xmlns:p="http://schemas.openxmlformats.org/presentationml/2006/main">
  <p:tag name="TIMING" val="|7.5"/>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ea typeface="楷体_GB2312" pitchFamily="49"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ea typeface="楷体_GB2312"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ea typeface="楷体_GB2312" pitchFamily="49"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ea typeface="楷体_GB2312" pitchFamily="49"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12239</TotalTime>
  <Words>3099</Words>
  <Application>Microsoft Office PowerPoint</Application>
  <PresentationFormat>全屏显示(4:3)</PresentationFormat>
  <Paragraphs>392</Paragraphs>
  <Slides>45</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45</vt:i4>
      </vt:variant>
    </vt:vector>
  </HeadingPairs>
  <TitlesOfParts>
    <vt:vector size="55" baseType="lpstr">
      <vt:lpstr>黑体</vt:lpstr>
      <vt:lpstr>楷体_GB2312</vt:lpstr>
      <vt:lpstr>宋体</vt:lpstr>
      <vt:lpstr>Arial</vt:lpstr>
      <vt:lpstr>Tahoma</vt:lpstr>
      <vt:lpstr>Times New Roman</vt:lpstr>
      <vt:lpstr>Verdana</vt:lpstr>
      <vt:lpstr>Wingdings</vt:lpstr>
      <vt:lpstr>Blends</vt:lpstr>
      <vt:lpstr>自定义设计方案</vt:lpstr>
      <vt:lpstr>第7章  Transact-SQL与存储过程 （第一讲） </vt:lpstr>
      <vt:lpstr>PowerPoint 演示文稿</vt:lpstr>
      <vt:lpstr>7.0  认识Transact-SQL语言</vt:lpstr>
      <vt:lpstr>PowerPoint 演示文稿</vt:lpstr>
      <vt:lpstr>PowerPoint 演示文稿</vt:lpstr>
      <vt:lpstr>PowerPoint 演示文稿</vt:lpstr>
      <vt:lpstr>7.1  脚本、批处理与注释符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7.2  Transact-SQL的语言要素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742</cp:revision>
  <cp:lastPrinted>2000-08-23T09:10:16Z</cp:lastPrinted>
  <dcterms:created xsi:type="dcterms:W3CDTF">1601-01-01T00:00:00Z</dcterms:created>
  <dcterms:modified xsi:type="dcterms:W3CDTF">2021-04-20T14:49:49Z</dcterms:modified>
</cp:coreProperties>
</file>