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  <p:sldMasterId id="2147483693" r:id="rId2"/>
  </p:sldMasterIdLst>
  <p:notesMasterIdLst>
    <p:notesMasterId r:id="rId31"/>
  </p:notesMasterIdLst>
  <p:handoutMasterIdLst>
    <p:handoutMasterId r:id="rId32"/>
  </p:handoutMasterIdLst>
  <p:sldIdLst>
    <p:sldId id="735" r:id="rId3"/>
    <p:sldId id="736" r:id="rId4"/>
    <p:sldId id="733" r:id="rId5"/>
    <p:sldId id="734" r:id="rId6"/>
    <p:sldId id="737" r:id="rId7"/>
    <p:sldId id="738" r:id="rId8"/>
    <p:sldId id="765" r:id="rId9"/>
    <p:sldId id="771" r:id="rId10"/>
    <p:sldId id="764" r:id="rId11"/>
    <p:sldId id="767" r:id="rId12"/>
    <p:sldId id="770" r:id="rId13"/>
    <p:sldId id="739" r:id="rId14"/>
    <p:sldId id="740" r:id="rId15"/>
    <p:sldId id="741" r:id="rId16"/>
    <p:sldId id="743" r:id="rId17"/>
    <p:sldId id="742" r:id="rId18"/>
    <p:sldId id="757" r:id="rId19"/>
    <p:sldId id="758" r:id="rId20"/>
    <p:sldId id="744" r:id="rId21"/>
    <p:sldId id="745" r:id="rId22"/>
    <p:sldId id="746" r:id="rId23"/>
    <p:sldId id="747" r:id="rId24"/>
    <p:sldId id="748" r:id="rId25"/>
    <p:sldId id="768" r:id="rId26"/>
    <p:sldId id="769" r:id="rId27"/>
    <p:sldId id="749" r:id="rId28"/>
    <p:sldId id="750" r:id="rId29"/>
    <p:sldId id="601" r:id="rId30"/>
  </p:sldIdLst>
  <p:sldSz cx="9144000" cy="6858000" type="screen4x3"/>
  <p:notesSz cx="6662738" cy="98329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97">
          <p15:clr>
            <a:srgbClr val="A4A3A4"/>
          </p15:clr>
        </p15:guide>
        <p15:guide id="2" pos="209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7602AA"/>
    <a:srgbClr val="800080"/>
    <a:srgbClr val="660066"/>
    <a:srgbClr val="0000FF"/>
    <a:srgbClr val="B2B2B2"/>
    <a:srgbClr val="CC0000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569" autoAdjust="0"/>
  </p:normalViewPr>
  <p:slideViewPr>
    <p:cSldViewPr>
      <p:cViewPr varScale="1">
        <p:scale>
          <a:sx n="131" d="100"/>
          <a:sy n="131" d="100"/>
        </p:scale>
        <p:origin x="884" y="80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42"/>
    </p:cViewPr>
  </p:sorterViewPr>
  <p:notesViewPr>
    <p:cSldViewPr>
      <p:cViewPr varScale="1">
        <p:scale>
          <a:sx n="51" d="100"/>
          <a:sy n="51" d="100"/>
        </p:scale>
        <p:origin x="-2148" y="-90"/>
      </p:cViewPr>
      <p:guideLst>
        <p:guide orient="horz" pos="3097"/>
        <p:guide pos="209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 descr="Large confetti">
            <a:extLst>
              <a:ext uri="{FF2B5EF4-FFF2-40B4-BE49-F238E27FC236}">
                <a16:creationId xmlns:a16="http://schemas.microsoft.com/office/drawing/2014/main" id="{EA5C050E-0A9C-4D20-A058-0C02D6B2855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1" sz="1200" smtClean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7523" name="Rectangle 3" descr="Large confetti">
            <a:extLst>
              <a:ext uri="{FF2B5EF4-FFF2-40B4-BE49-F238E27FC236}">
                <a16:creationId xmlns:a16="http://schemas.microsoft.com/office/drawing/2014/main" id="{E5BB2AE3-1779-4695-9A5D-1154E146AE5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1" sz="1200" smtClean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4" name="Rectangle 4" descr="Large confetti">
            <a:extLst>
              <a:ext uri="{FF2B5EF4-FFF2-40B4-BE49-F238E27FC236}">
                <a16:creationId xmlns:a16="http://schemas.microsoft.com/office/drawing/2014/main" id="{1518B007-C36C-4801-AB38-50EAB2F917B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 smtClean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5" name="Rectangle 5" descr="Large confetti">
            <a:extLst>
              <a:ext uri="{FF2B5EF4-FFF2-40B4-BE49-F238E27FC236}">
                <a16:creationId xmlns:a16="http://schemas.microsoft.com/office/drawing/2014/main" id="{66C7C230-741C-4CA3-A8F2-BB62888A36C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9B38BF82-65C9-4DA7-8975-B3C3AEDB539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>
            <a:extLst>
              <a:ext uri="{FF2B5EF4-FFF2-40B4-BE49-F238E27FC236}">
                <a16:creationId xmlns:a16="http://schemas.microsoft.com/office/drawing/2014/main" id="{81C18B69-0789-46DE-A190-F813A11ADEB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 smtClean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87075" name="Rectangle 3">
            <a:extLst>
              <a:ext uri="{FF2B5EF4-FFF2-40B4-BE49-F238E27FC236}">
                <a16:creationId xmlns:a16="http://schemas.microsoft.com/office/drawing/2014/main" id="{EF099D26-8531-4A03-923A-0620CA69B53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 smtClean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8308" name="Rectangle 4">
            <a:extLst>
              <a:ext uri="{FF2B5EF4-FFF2-40B4-BE49-F238E27FC236}">
                <a16:creationId xmlns:a16="http://schemas.microsoft.com/office/drawing/2014/main" id="{91680B2B-B0F8-4885-848E-2F46A594432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7077" name="Rectangle 5">
            <a:extLst>
              <a:ext uri="{FF2B5EF4-FFF2-40B4-BE49-F238E27FC236}">
                <a16:creationId xmlns:a16="http://schemas.microsoft.com/office/drawing/2014/main" id="{9F8DD360-975C-4CEA-81CA-B92302A5C8C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87078" name="Rectangle 6">
            <a:extLst>
              <a:ext uri="{FF2B5EF4-FFF2-40B4-BE49-F238E27FC236}">
                <a16:creationId xmlns:a16="http://schemas.microsoft.com/office/drawing/2014/main" id="{5649A96F-C444-4246-A09E-F02D5A2B798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 smtClean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7079" name="Rectangle 7">
            <a:extLst>
              <a:ext uri="{FF2B5EF4-FFF2-40B4-BE49-F238E27FC236}">
                <a16:creationId xmlns:a16="http://schemas.microsoft.com/office/drawing/2014/main" id="{338B7315-BF6D-4868-AC65-816B39565C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7B7F2B76-FEDB-4D50-A6A1-7C5A7261351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9B25B9DC-34D6-465B-ACB6-7EF0C6ACA63C}"/>
              </a:ext>
            </a:extLst>
          </p:cNvPr>
          <p:cNvGrpSpPr>
            <a:grpSpLocks/>
          </p:cNvGrpSpPr>
          <p:nvPr/>
        </p:nvGrpSpPr>
        <p:grpSpPr bwMode="auto">
          <a:xfrm>
            <a:off x="0" y="2232025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BFADD1B4-9964-4EC9-B382-54B328D33A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57CBD01D-2CDE-44B4-A676-42CB64FE43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7CFD323A-45F3-4EA4-B634-2D40A356A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A9C7C3CD-7A22-4DF4-86B4-18729BD6A0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7E6948CC-675E-44CF-9B5E-9AC96552A8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603C72CE-613F-4146-9BBD-832CC7A98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0767B22D-EFCA-416B-89AF-26545D2EF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B5A06851-0495-467B-8343-A98F4467B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17CEE720-5736-4264-86DB-7156E9D5ABE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</p:grpSp>
      <p:sp>
        <p:nvSpPr>
          <p:cNvPr id="7526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27088" y="1052513"/>
            <a:ext cx="8137525" cy="1462087"/>
          </a:xfrm>
        </p:spPr>
        <p:txBody>
          <a:bodyPr/>
          <a:lstStyle>
            <a:lvl1pPr algn="ctr">
              <a:defRPr sz="4800">
                <a:ea typeface="隶书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7526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16338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F40F219B-5133-444A-B203-C9B14E9367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08866A07-CA1F-4ACF-B9F4-837BEBCBB0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3A0F621F-8804-49CE-B9F3-06C278EC6C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2008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BDDE7AC-0429-4205-8205-253D797DB8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449BF2D-014E-4573-B206-8180ADE89D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75F832B-BF70-4897-BCF9-CF5EA77B27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4348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898B9D1-C849-49F1-B154-0B735240E7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D1B60B8-E546-4C13-8880-D7D70869C1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160610B-E31D-4568-9905-5B83611F82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7619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1188" y="1258888"/>
            <a:ext cx="3919537" cy="5338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3125" y="1258888"/>
            <a:ext cx="3921125" cy="5338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6C48163-6FC1-4112-A976-DF7554B933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6786B5C-DC05-421D-AF7E-4484D52F04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DD70269-81D7-4A09-A8F3-7A31AAE9B4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7023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E8C72081-A9F3-43F2-813C-B4D9205469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AA7C366-9192-4D7C-9F9E-1A00A3FAD3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0C203A52-689B-4B32-AFF3-81AA2293A0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5458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3AFF6987-D05E-44F7-AAD7-CF6DA03562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AB39D53D-4BBD-4020-BB42-CFDCBA52AF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2D3507D-27E3-4116-A894-B90ED806EA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2406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C56F691D-FC84-41E2-8AAF-CA13924655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246550F0-6D6A-4996-A66A-2268B405A6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6ED8CA96-8402-42FA-B2DB-452AEC6D9A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0161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7EC4C98-9F70-4EBD-B9AF-3416640B8A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08DE200-5DA9-4CCF-B52B-9AB35DF08E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A23DEEA-10F1-4CA1-939E-2185EF9F5F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3694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44973BA-6499-4D65-88B4-F236BCCB94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E74BBE9-06DB-4C08-9C70-1A53F82AAD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D28ABC4-192F-4CF0-AA06-134AD8E948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3147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6CC5AAF-5E12-4F8C-8621-AFCAB3110C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8DC9024-F820-45D5-9386-DEC64BA16C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D8F8D44-1EAA-4C51-85EB-AF7B51C623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6747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1175" y="214313"/>
            <a:ext cx="2082800" cy="63833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1188" y="214313"/>
            <a:ext cx="6097587" cy="63833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F00C846-C80F-4806-A6F6-963BBE0264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D97634D-55CA-42A5-815A-06AE1C6293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50A98F6-1728-44A7-86DD-8EDB8B674B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4396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995B126-29E2-47EB-B6BB-D8D38FA447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A81B32-80B5-466F-A8DC-BEC3FD8E94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AEC91E6-1B03-4117-B8F5-79DD57208C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967814-B2E2-4637-8543-18D2BCEF85D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96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FA64D6-9129-4D8A-9900-97E0AEE53D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A4DCD7-B9A5-49C6-9857-FCD53CCDC6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A7E427D-9D66-4E3A-B51B-E71916CC2C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F66145-CE8C-4979-83A2-722747DD322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8941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65685BF-2EBE-4970-BFB1-A24C40712D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21B49BE-906A-4514-BBCA-917E78F42A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717B439-0FC7-43E0-8E20-710DF4A233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A786A2-2104-44D1-AC2D-DDC105A56B5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0307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71C55E-CFCE-40D9-A256-00827FC738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DF70BE-1C52-4814-818D-44AE765569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461FD6-9B81-4FF6-9A4B-1ED8E84F32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F9FFE5-7FD7-4199-8689-D518713A23F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2017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3BB4018-67DE-4386-B6F9-D6B2FC39B1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4A10DCB-C572-406E-A894-7484D45F86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537963C-76FA-44C7-B3CB-F4906DF337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56D175-D3C2-4CB6-8F79-6A28634837C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6281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ACB9F9C-4292-4EBE-9340-2915A0119B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A7CF174-E7E8-49FA-A2EE-F237C3ADCD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8A09369-AFBF-439A-825E-E93C8C9FE7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0F23D6-6222-4E45-8BE3-95B9762DDCA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97195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BE16F5A-0C50-40B2-9006-28F00443A6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2B9C1AA-1956-4FFB-B65F-6D41987A68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B1EE76E-7E00-43E9-9C1C-CE1E03B2B3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6EBC6C-A86F-4225-A075-A8FE71CA7F1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5028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AF4A5D-B87B-44C8-8788-726997E259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E55983-CAC8-46B9-93F4-B8C309F115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870E9D-E6A7-4576-9EB0-7318DCE6BC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80EB7E-A48D-4F16-B203-AA5B4058A80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5985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CA909E-9E75-41E5-8E1C-C764F53563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52F45D-B0EB-4F09-911A-13A991FA5D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80DBC1-95AA-433C-B29D-E36D63CB73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C2D620-5E23-4D9F-A44A-7F6154BA66E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75835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3C9F204-4E52-4431-80F7-515B18FBC0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C204F7-5BA7-4D46-9931-5B538773EB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A00BD84-C766-4E0F-A78C-762782958F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54239E-E55C-4924-8713-475095D7A61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46237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D79DAD1-3B0F-4BA9-8B44-49367EE1BA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E9C2A2-B96D-43FB-8B38-A3EDB38AA5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AFFD007-C353-4F40-9158-971CF4BF65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AE8E23-1DB5-4A8B-B00E-7297B3DD41C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6175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18" name="Rectangle 2">
            <a:extLst>
              <a:ext uri="{FF2B5EF4-FFF2-40B4-BE49-F238E27FC236}">
                <a16:creationId xmlns:a16="http://schemas.microsoft.com/office/drawing/2014/main" id="{0C75B114-95B7-4B15-80C4-9120E71EB38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51619" name="Rectangle 3">
            <a:extLst>
              <a:ext uri="{FF2B5EF4-FFF2-40B4-BE49-F238E27FC236}">
                <a16:creationId xmlns:a16="http://schemas.microsoft.com/office/drawing/2014/main" id="{0F2C78C9-14FC-45DE-96D5-86093366234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51620" name="Rectangle 4">
            <a:extLst>
              <a:ext uri="{FF2B5EF4-FFF2-40B4-BE49-F238E27FC236}">
                <a16:creationId xmlns:a16="http://schemas.microsoft.com/office/drawing/2014/main" id="{05583F37-FEEE-4345-831F-E8EC4B56330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51621" name="Rectangle 5">
            <a:extLst>
              <a:ext uri="{FF2B5EF4-FFF2-40B4-BE49-F238E27FC236}">
                <a16:creationId xmlns:a16="http://schemas.microsoft.com/office/drawing/2014/main" id="{9DA40094-621E-4096-9A30-233C7AF4E50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51622" name="Rectangle 6">
            <a:extLst>
              <a:ext uri="{FF2B5EF4-FFF2-40B4-BE49-F238E27FC236}">
                <a16:creationId xmlns:a16="http://schemas.microsoft.com/office/drawing/2014/main" id="{5520AA00-4F1D-4CFB-8F84-79C538ED636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51623" name="Rectangle 7">
            <a:extLst>
              <a:ext uri="{FF2B5EF4-FFF2-40B4-BE49-F238E27FC236}">
                <a16:creationId xmlns:a16="http://schemas.microsoft.com/office/drawing/2014/main" id="{1B8F1EFF-7995-4A78-8315-B5CC0FBE3EE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51624" name="Rectangle 8">
            <a:extLst>
              <a:ext uri="{FF2B5EF4-FFF2-40B4-BE49-F238E27FC236}">
                <a16:creationId xmlns:a16="http://schemas.microsoft.com/office/drawing/2014/main" id="{3520C3CB-7022-4483-9277-B3D63139D7F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9350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51625" name="Rectangle 9">
            <a:extLst>
              <a:ext uri="{FF2B5EF4-FFF2-40B4-BE49-F238E27FC236}">
                <a16:creationId xmlns:a16="http://schemas.microsoft.com/office/drawing/2014/main" id="{98EA0657-03BB-42F1-8DC1-84846E6F53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51626" name="Rectangle 10">
            <a:extLst>
              <a:ext uri="{FF2B5EF4-FFF2-40B4-BE49-F238E27FC236}">
                <a16:creationId xmlns:a16="http://schemas.microsoft.com/office/drawing/2014/main" id="{B967D130-1D26-41E7-9B6D-51DED0979A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258888"/>
            <a:ext cx="7993062" cy="533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51627" name="Rectangle 11">
            <a:extLst>
              <a:ext uri="{FF2B5EF4-FFF2-40B4-BE49-F238E27FC236}">
                <a16:creationId xmlns:a16="http://schemas.microsoft.com/office/drawing/2014/main" id="{784C9DCD-83B2-47F3-AC1C-2928A06EA80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51628" name="Rectangle 12">
            <a:extLst>
              <a:ext uri="{FF2B5EF4-FFF2-40B4-BE49-F238E27FC236}">
                <a16:creationId xmlns:a16="http://schemas.microsoft.com/office/drawing/2014/main" id="{25B27D18-E7C4-4182-B9BF-952E830614A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51629" name="Rectangle 13">
            <a:extLst>
              <a:ext uri="{FF2B5EF4-FFF2-40B4-BE49-F238E27FC236}">
                <a16:creationId xmlns:a16="http://schemas.microsoft.com/office/drawing/2014/main" id="{468B158C-801E-42B5-93A7-EE4618D8C1F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25" r:id="rId2"/>
    <p:sldLayoutId id="2147483724" r:id="rId3"/>
    <p:sldLayoutId id="2147483723" r:id="rId4"/>
    <p:sldLayoutId id="2147483722" r:id="rId5"/>
    <p:sldLayoutId id="2147483721" r:id="rId6"/>
    <p:sldLayoutId id="2147483720" r:id="rId7"/>
    <p:sldLayoutId id="2147483719" r:id="rId8"/>
    <p:sldLayoutId id="2147483718" r:id="rId9"/>
    <p:sldLayoutId id="2147483717" r:id="rId10"/>
    <p:sldLayoutId id="2147483716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51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51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51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751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751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1626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16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75162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16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75162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16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75162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16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75162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16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7516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幼圆" pitchFamily="49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•"/>
        <a:defRPr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3EE6895-42AA-4A02-B9BC-12F37E5CD3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20C2F4E-5B60-4B09-B015-39DC3C57B2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83364" name="Rectangle 4">
            <a:extLst>
              <a:ext uri="{FF2B5EF4-FFF2-40B4-BE49-F238E27FC236}">
                <a16:creationId xmlns:a16="http://schemas.microsoft.com/office/drawing/2014/main" id="{58ED22B9-1DC5-4427-8AD7-6287C218437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400" smtClean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83365" name="Rectangle 5">
            <a:extLst>
              <a:ext uri="{FF2B5EF4-FFF2-40B4-BE49-F238E27FC236}">
                <a16:creationId xmlns:a16="http://schemas.microsoft.com/office/drawing/2014/main" id="{3E2C32BD-9ACD-43AC-B079-27F0A401F85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1" sz="1400" smtClean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83366" name="Rectangle 6">
            <a:extLst>
              <a:ext uri="{FF2B5EF4-FFF2-40B4-BE49-F238E27FC236}">
                <a16:creationId xmlns:a16="http://schemas.microsoft.com/office/drawing/2014/main" id="{2EC89728-2920-4CB7-814E-851D8EF8C25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4FCDD7C7-E526-4765-8C27-94922364C3A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5" r:id="rId2"/>
    <p:sldLayoutId id="2147483734" r:id="rId3"/>
    <p:sldLayoutId id="2147483733" r:id="rId4"/>
    <p:sldLayoutId id="2147483732" r:id="rId5"/>
    <p:sldLayoutId id="2147483731" r:id="rId6"/>
    <p:sldLayoutId id="2147483730" r:id="rId7"/>
    <p:sldLayoutId id="2147483729" r:id="rId8"/>
    <p:sldLayoutId id="2147483728" r:id="rId9"/>
    <p:sldLayoutId id="2147483727" r:id="rId10"/>
    <p:sldLayoutId id="214748372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298" name="Rectangle 2">
            <a:extLst>
              <a:ext uri="{FF2B5EF4-FFF2-40B4-BE49-F238E27FC236}">
                <a16:creationId xmlns:a16="http://schemas.microsoft.com/office/drawing/2014/main" id="{9C1B257F-6B84-40D6-B378-5C01A505A0A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535113"/>
            <a:ext cx="8137525" cy="14620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dirty="0"/>
              <a:t>7.3</a:t>
            </a:r>
            <a:r>
              <a:rPr lang="zh-CN" altLang="en-US" sz="4000" dirty="0"/>
              <a:t>  </a:t>
            </a:r>
            <a:r>
              <a:rPr lang="en-US" altLang="zh-CN" sz="4000" dirty="0"/>
              <a:t>Transact-SQL</a:t>
            </a:r>
            <a:r>
              <a:rPr lang="zh-CN" altLang="en-US" sz="4000" dirty="0"/>
              <a:t>流程控制语句</a:t>
            </a:r>
            <a:r>
              <a:rPr lang="zh-CN" altLang="en-US" sz="4400" dirty="0"/>
              <a:t> </a:t>
            </a:r>
          </a:p>
        </p:txBody>
      </p:sp>
      <p:sp>
        <p:nvSpPr>
          <p:cNvPr id="951299" name="Rectangle 3">
            <a:extLst>
              <a:ext uri="{FF2B5EF4-FFF2-40B4-BE49-F238E27FC236}">
                <a16:creationId xmlns:a16="http://schemas.microsoft.com/office/drawing/2014/main" id="{B5C66DF3-319D-457D-814F-E65CF8AA1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80963"/>
            <a:ext cx="4860925" cy="574675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  <a:headEnd/>
            <a:tailEnd/>
          </a:ln>
          <a:effectLst/>
        </p:spPr>
        <p:txBody>
          <a:bodyPr tIns="76176" bIns="72000" anchor="ctr" anchorCtr="1">
            <a:spAutoFit/>
          </a:bodyPr>
          <a:lstStyle/>
          <a:p>
            <a:pPr>
              <a:defRPr/>
            </a:pPr>
            <a:r>
              <a:rPr lang="zh-CN" altLang="en-US" sz="24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隶书" pitchFamily="49" charset="-122"/>
              </a:rPr>
              <a:t>第</a:t>
            </a:r>
            <a:r>
              <a:rPr lang="en-US" altLang="zh-CN" sz="24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隶书" pitchFamily="49" charset="-122"/>
              </a:rPr>
              <a:t>7</a:t>
            </a:r>
            <a:r>
              <a:rPr lang="zh-CN" altLang="en-US" sz="24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隶书" pitchFamily="49" charset="-122"/>
              </a:rPr>
              <a:t>章</a:t>
            </a:r>
            <a:r>
              <a:rPr lang="zh-CN" alt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 </a:t>
            </a:r>
            <a:r>
              <a:rPr lang="en-US" altLang="zh-CN" sz="24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隶书" pitchFamily="49" charset="-122"/>
              </a:rPr>
              <a:t>Transact-SQL</a:t>
            </a:r>
            <a:r>
              <a:rPr lang="zh-CN" altLang="en-US" sz="24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隶书" pitchFamily="49" charset="-122"/>
              </a:rPr>
              <a:t>与存储过程</a:t>
            </a:r>
            <a:r>
              <a:rPr lang="zh-CN" altLang="en-US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隶书" pitchFamily="49" charset="-122"/>
              </a:rPr>
              <a:t> </a:t>
            </a:r>
          </a:p>
        </p:txBody>
      </p:sp>
    </p:spTree>
  </p:cSld>
  <p:clrMapOvr>
    <a:masterClrMapping/>
  </p:clrMapOvr>
  <p:transition advTm="495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500"/>
                                        <p:tgtEl>
                                          <p:spTgt spid="95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29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7CCB249C-6BCC-4E49-B0D4-F89A08495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71438"/>
            <a:ext cx="8748712" cy="1557337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55299" name="Text Box 5">
            <a:extLst>
              <a:ext uri="{FF2B5EF4-FFF2-40B4-BE49-F238E27FC236}">
                <a16:creationId xmlns:a16="http://schemas.microsoft.com/office/drawing/2014/main" id="{89F307C1-6A03-4180-9189-9C9A6CBE3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836613"/>
            <a:ext cx="8142287" cy="5519737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 type="none" w="sm" len="lg"/>
            <a:tailEnd type="none" w="sm" len="lg"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70000"/>
              </a:lnSpc>
            </a:pPr>
            <a:r>
              <a:rPr lang="en-US" altLang="zh-CN" b="1"/>
              <a:t>             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    流程控制语句是指那些用来控制程序</a:t>
            </a:r>
            <a:r>
              <a:rPr lang="zh-CN" altLang="en-US" sz="32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执行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32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流程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分支的语句。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    在</a:t>
            </a: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SQL Server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中，流程控制语句主要用来控制</a:t>
            </a:r>
            <a:r>
              <a:rPr lang="en-US" altLang="zh-CN" sz="32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32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32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语句块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或者</a:t>
            </a:r>
            <a:r>
              <a:rPr lang="zh-CN" altLang="en-US" sz="32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存储过程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32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执行流程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</a:p>
          <a:p>
            <a:pPr eaLnBrk="1" hangingPunct="1">
              <a:lnSpc>
                <a:spcPct val="160000"/>
              </a:lnSpc>
              <a:spcAft>
                <a:spcPct val="20000"/>
              </a:spcAft>
            </a:pPr>
            <a:endParaRPr lang="zh-CN" altLang="en-US" sz="32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284"/>
    </mc:Choice>
    <mc:Fallback xmlns="">
      <p:transition spd="slow" advTm="1728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252" name="Rectangle 4">
            <a:extLst>
              <a:ext uri="{FF2B5EF4-FFF2-40B4-BE49-F238E27FC236}">
                <a16:creationId xmlns:a16="http://schemas.microsoft.com/office/drawing/2014/main" id="{CCA16F48-CA25-4127-9721-6BD83967E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defRPr/>
            </a:pP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一、</a:t>
            </a:r>
            <a:r>
              <a:rPr lang="en-US" altLang="zh-CN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BEGIN</a:t>
            </a:r>
            <a:r>
              <a:rPr lang="en-US" altLang="zh-CN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ea typeface="幼圆" pitchFamily="49" charset="-122"/>
              </a:rPr>
              <a:t>…</a:t>
            </a:r>
            <a:r>
              <a:rPr lang="en-US" altLang="zh-CN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END</a:t>
            </a: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语句 </a:t>
            </a:r>
          </a:p>
        </p:txBody>
      </p:sp>
      <p:sp>
        <p:nvSpPr>
          <p:cNvPr id="949253" name="Rectangle 5">
            <a:extLst>
              <a:ext uri="{FF2B5EF4-FFF2-40B4-BE49-F238E27FC236}">
                <a16:creationId xmlns:a16="http://schemas.microsoft.com/office/drawing/2014/main" id="{89D76D97-6656-4F98-9C16-9C9ABFE4B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71575"/>
            <a:ext cx="8424863" cy="81756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800" b="1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ahoma" panose="020B0604030504040204" pitchFamily="34" charset="0"/>
              </a:rPr>
              <a:t>          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语句格式：</a:t>
            </a:r>
            <a:r>
              <a:rPr lang="zh-CN" altLang="en-US" sz="2800" b="1">
                <a:latin typeface="Tahoma" panose="020B0604030504040204" pitchFamily="34" charset="0"/>
              </a:rPr>
              <a:t> </a:t>
            </a:r>
            <a:endParaRPr lang="zh-CN" altLang="en-US" sz="2700" b="1">
              <a:latin typeface="Tahoma" panose="020B0604030504040204" pitchFamily="34" charset="0"/>
            </a:endParaRPr>
          </a:p>
        </p:txBody>
      </p:sp>
      <p:sp>
        <p:nvSpPr>
          <p:cNvPr id="56324" name="Text Box 6">
            <a:extLst>
              <a:ext uri="{FF2B5EF4-FFF2-40B4-BE49-F238E27FC236}">
                <a16:creationId xmlns:a16="http://schemas.microsoft.com/office/drawing/2014/main" id="{B4BC45D0-035D-41C8-828C-82CBB3CA5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139950"/>
            <a:ext cx="6697663" cy="3327400"/>
          </a:xfrm>
          <a:prstGeom prst="rect">
            <a:avLst/>
          </a:prstGeom>
          <a:noFill/>
          <a:ln w="28575">
            <a:solidFill>
              <a:srgbClr val="7602AA"/>
            </a:solidFill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400"/>
              <a:t>    </a:t>
            </a:r>
            <a:r>
              <a:rPr lang="en-US" altLang="zh-CN" sz="2800" b="1">
                <a:solidFill>
                  <a:srgbClr val="0000FF"/>
                </a:solidFill>
              </a:rPr>
              <a:t>BEGIN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/>
              <a:t>    {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/>
              <a:t>       &lt;SQL</a:t>
            </a:r>
            <a:r>
              <a:rPr lang="zh-CN" altLang="en-US" sz="2800" b="1"/>
              <a:t>语句</a:t>
            </a:r>
            <a:r>
              <a:rPr lang="en-US" altLang="zh-CN" sz="2800" b="1"/>
              <a:t>&gt; |  &lt;SQL</a:t>
            </a:r>
            <a:r>
              <a:rPr lang="zh-CN" altLang="en-US" sz="2800" b="1"/>
              <a:t>语句块</a:t>
            </a:r>
            <a:r>
              <a:rPr lang="en-US" altLang="zh-CN" sz="2800" b="1"/>
              <a:t>&gt;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/>
              <a:t>     }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/>
              <a:t>   </a:t>
            </a:r>
            <a:r>
              <a:rPr lang="en-US" altLang="zh-CN" sz="2800" b="1">
                <a:solidFill>
                  <a:srgbClr val="0000FF"/>
                </a:solidFill>
              </a:rPr>
              <a:t>END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50"/>
    </mc:Choice>
    <mc:Fallback xmlns="">
      <p:transition spd="slow" advTm="1175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276" name="Rectangle 4">
            <a:extLst>
              <a:ext uri="{FF2B5EF4-FFF2-40B4-BE49-F238E27FC236}">
                <a16:creationId xmlns:a16="http://schemas.microsoft.com/office/drawing/2014/main" id="{CB8BDDF3-139A-48C0-94B6-068AA3F0E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88913"/>
            <a:ext cx="7793037" cy="622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defRPr/>
            </a:pP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二、</a:t>
            </a:r>
            <a:r>
              <a:rPr lang="en-US" altLang="zh-CN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IF</a:t>
            </a:r>
            <a:r>
              <a:rPr lang="en-US" altLang="zh-CN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ea typeface="幼圆" pitchFamily="49" charset="-122"/>
              </a:rPr>
              <a:t>…</a:t>
            </a:r>
            <a:r>
              <a:rPr lang="en-US" altLang="zh-CN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ELSE</a:t>
            </a: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语句 </a:t>
            </a:r>
          </a:p>
        </p:txBody>
      </p:sp>
      <p:sp>
        <p:nvSpPr>
          <p:cNvPr id="950277" name="Rectangle 5">
            <a:extLst>
              <a:ext uri="{FF2B5EF4-FFF2-40B4-BE49-F238E27FC236}">
                <a16:creationId xmlns:a16="http://schemas.microsoft.com/office/drawing/2014/main" id="{2CD3F1BB-D29E-467F-90B5-4E3ADE312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71575"/>
            <a:ext cx="8424863" cy="81756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800" b="1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>
                <a:latin typeface="Tahoma" panose="020B0604030504040204" pitchFamily="34" charset="0"/>
              </a:rPr>
              <a:t>          </a:t>
            </a:r>
            <a:r>
              <a:rPr lang="zh-CN" altLang="en-US" sz="28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语句格式：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</a:t>
            </a:r>
            <a:endParaRPr lang="zh-CN" altLang="en-US" sz="2700" b="1"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57348" name="Text Box 6">
            <a:extLst>
              <a:ext uri="{FF2B5EF4-FFF2-40B4-BE49-F238E27FC236}">
                <a16:creationId xmlns:a16="http://schemas.microsoft.com/office/drawing/2014/main" id="{C2FCE75E-9BF5-42EC-854B-0E7733318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133600"/>
            <a:ext cx="7920037" cy="2524125"/>
          </a:xfrm>
          <a:prstGeom prst="rect">
            <a:avLst/>
          </a:prstGeom>
          <a:noFill/>
          <a:ln w="38100">
            <a:solidFill>
              <a:srgbClr val="7602AA"/>
            </a:solidFill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zh-CN" sz="2400"/>
              <a:t>    </a:t>
            </a:r>
            <a:r>
              <a:rPr lang="en-US" altLang="zh-CN" sz="2800" b="1">
                <a:solidFill>
                  <a:srgbClr val="0000FF"/>
                </a:solidFill>
              </a:rPr>
              <a:t>IF</a:t>
            </a:r>
            <a:r>
              <a:rPr lang="en-US" altLang="zh-CN" sz="2800" b="1"/>
              <a:t> &lt;</a:t>
            </a:r>
            <a:r>
              <a:rPr lang="zh-CN" altLang="en-US" sz="2800" b="1"/>
              <a:t>逻辑表达式</a:t>
            </a:r>
            <a:r>
              <a:rPr lang="en-US" altLang="zh-CN" sz="2800" b="1"/>
              <a:t>&gt;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sz="2800" b="1"/>
              <a:t>       &lt;SQL</a:t>
            </a:r>
            <a:r>
              <a:rPr lang="zh-CN" altLang="en-US" sz="2800" b="1"/>
              <a:t>语句</a:t>
            </a:r>
            <a:r>
              <a:rPr lang="en-US" altLang="zh-CN" sz="2800" b="1"/>
              <a:t>1&gt; | BEGIN &lt;SQL</a:t>
            </a:r>
            <a:r>
              <a:rPr lang="zh-CN" altLang="en-US" sz="2800" b="1"/>
              <a:t>语句块</a:t>
            </a:r>
            <a:r>
              <a:rPr lang="en-US" altLang="zh-CN" sz="2800" b="1"/>
              <a:t>1&gt; END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sz="2800" b="1"/>
              <a:t>   [</a:t>
            </a:r>
            <a:r>
              <a:rPr lang="en-US" altLang="zh-CN" sz="2800" b="1">
                <a:solidFill>
                  <a:srgbClr val="0000FF"/>
                </a:solidFill>
              </a:rPr>
              <a:t>ELSE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sz="2800" b="1"/>
              <a:t>       &lt;SQL</a:t>
            </a:r>
            <a:r>
              <a:rPr lang="zh-CN" altLang="en-US" sz="2800" b="1"/>
              <a:t>语句</a:t>
            </a:r>
            <a:r>
              <a:rPr lang="en-US" altLang="zh-CN" sz="2800" b="1"/>
              <a:t>2&gt; | BEGIN &lt;SQL</a:t>
            </a:r>
            <a:r>
              <a:rPr lang="zh-CN" altLang="en-US" sz="2800" b="1"/>
              <a:t>语句块</a:t>
            </a:r>
            <a:r>
              <a:rPr lang="en-US" altLang="zh-CN" sz="2800" b="1"/>
              <a:t>2&gt; END]</a:t>
            </a:r>
            <a:r>
              <a:rPr lang="en-US" altLang="zh-CN" sz="2800"/>
              <a:t> </a:t>
            </a:r>
          </a:p>
        </p:txBody>
      </p:sp>
      <p:sp>
        <p:nvSpPr>
          <p:cNvPr id="950279" name="Rectangle 7">
            <a:extLst>
              <a:ext uri="{FF2B5EF4-FFF2-40B4-BE49-F238E27FC236}">
                <a16:creationId xmlns:a16="http://schemas.microsoft.com/office/drawing/2014/main" id="{9CC0E0B8-11BD-400B-B131-0DB8FD7F8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5013325"/>
            <a:ext cx="8424862" cy="11049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注意：</a:t>
            </a:r>
            <a:r>
              <a:rPr lang="zh-CN" altLang="en-US" sz="2600" b="1">
                <a:solidFill>
                  <a:srgbClr val="006666"/>
                </a:solidFill>
                <a:latin typeface="Tahoma" panose="020B0604030504040204" pitchFamily="34" charset="0"/>
              </a:rPr>
              <a:t>条件不能写成：</a:t>
            </a:r>
            <a:r>
              <a:rPr lang="en-US" altLang="zh-CN" sz="2600" b="1">
                <a:latin typeface="Tahoma" panose="020B0604030504040204" pitchFamily="34" charset="0"/>
              </a:rPr>
              <a:t>if @var = NULL 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600" b="1">
                <a:latin typeface="Tahoma" panose="020B0604030504040204" pitchFamily="34" charset="0"/>
              </a:rPr>
              <a:t>          </a:t>
            </a:r>
            <a:r>
              <a:rPr lang="zh-CN" altLang="en-US" sz="2600" b="1">
                <a:solidFill>
                  <a:srgbClr val="006666"/>
                </a:solidFill>
                <a:latin typeface="Tahoma" panose="020B0604030504040204" pitchFamily="34" charset="0"/>
              </a:rPr>
              <a:t>必须写成：</a:t>
            </a:r>
            <a:r>
              <a:rPr lang="zh-CN" altLang="en-US" sz="2600" b="1">
                <a:latin typeface="Tahoma" panose="020B0604030504040204" pitchFamily="34" charset="0"/>
              </a:rPr>
              <a:t>       </a:t>
            </a:r>
            <a:r>
              <a:rPr lang="en-US" altLang="zh-CN" sz="2600" b="1">
                <a:latin typeface="Tahoma" panose="020B0604030504040204" pitchFamily="34" charset="0"/>
              </a:rPr>
              <a:t>if @var IS NULL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894"/>
    </mc:Choice>
    <mc:Fallback xmlns="">
      <p:transition spd="slow" advTm="3689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348" name="Rectangle 4">
            <a:extLst>
              <a:ext uri="{FF2B5EF4-FFF2-40B4-BE49-F238E27FC236}">
                <a16:creationId xmlns:a16="http://schemas.microsoft.com/office/drawing/2014/main" id="{57EFB2F5-7477-48E6-859C-1DB67BC2B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三、</a:t>
            </a:r>
            <a:r>
              <a:rPr lang="en-US" altLang="zh-CN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CASE</a:t>
            </a: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语句 </a:t>
            </a:r>
          </a:p>
        </p:txBody>
      </p:sp>
      <p:sp>
        <p:nvSpPr>
          <p:cNvPr id="953349" name="Rectangle 5">
            <a:extLst>
              <a:ext uri="{FF2B5EF4-FFF2-40B4-BE49-F238E27FC236}">
                <a16:creationId xmlns:a16="http://schemas.microsoft.com/office/drawing/2014/main" id="{DACC9242-4CD8-46BB-B68D-DA9CD1C15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71575"/>
            <a:ext cx="8424863" cy="81756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800" b="1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ahoma" panose="020B0604030504040204" pitchFamily="34" charset="0"/>
              </a:rPr>
              <a:t>          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、简单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CASE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r>
              <a:rPr lang="zh-CN" altLang="en-US" sz="2800" b="1">
                <a:latin typeface="Tahoma" panose="020B0604030504040204" pitchFamily="34" charset="0"/>
              </a:rPr>
              <a:t> </a:t>
            </a:r>
            <a:endParaRPr lang="zh-CN" altLang="en-US" sz="2700" b="1">
              <a:latin typeface="Tahoma" panose="020B0604030504040204" pitchFamily="34" charset="0"/>
            </a:endParaRPr>
          </a:p>
        </p:txBody>
      </p:sp>
      <p:sp>
        <p:nvSpPr>
          <p:cNvPr id="58372" name="Text Box 6">
            <a:extLst>
              <a:ext uri="{FF2B5EF4-FFF2-40B4-BE49-F238E27FC236}">
                <a16:creationId xmlns:a16="http://schemas.microsoft.com/office/drawing/2014/main" id="{CD197F01-CACE-4C14-A998-2D956D54C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276475"/>
            <a:ext cx="7920037" cy="2908300"/>
          </a:xfrm>
          <a:prstGeom prst="rect">
            <a:avLst/>
          </a:prstGeom>
          <a:noFill/>
          <a:ln w="38100">
            <a:solidFill>
              <a:srgbClr val="7602AA"/>
            </a:solidFill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 b="1"/>
              <a:t>    </a:t>
            </a:r>
            <a:r>
              <a:rPr lang="en-US" altLang="zh-CN" sz="2800" b="1">
                <a:solidFill>
                  <a:srgbClr val="0000CC"/>
                </a:solidFill>
              </a:rPr>
              <a:t>CASE</a:t>
            </a:r>
            <a:r>
              <a:rPr lang="en-US" altLang="zh-CN" sz="2800" b="1"/>
              <a:t> &lt;</a:t>
            </a:r>
            <a:r>
              <a:rPr lang="zh-CN" altLang="en-US" sz="2800" b="1"/>
              <a:t>测试表达式</a:t>
            </a:r>
            <a:r>
              <a:rPr lang="en-US" altLang="zh-CN" sz="2800" b="1"/>
              <a:t>&gt;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 b="1"/>
              <a:t>           WHEN &lt;</a:t>
            </a:r>
            <a:r>
              <a:rPr lang="zh-CN" altLang="en-US" sz="2800" b="1"/>
              <a:t>测试值</a:t>
            </a:r>
            <a:r>
              <a:rPr lang="en-US" altLang="zh-CN" sz="2800" b="1"/>
              <a:t>1&gt; THEN &lt;</a:t>
            </a:r>
            <a:r>
              <a:rPr lang="zh-CN" altLang="en-US" sz="2800" b="1"/>
              <a:t>结果表达式</a:t>
            </a:r>
            <a:r>
              <a:rPr lang="en-US" altLang="zh-CN" sz="2800" b="1"/>
              <a:t>1&gt;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 b="1"/>
              <a:t>           WHEN &lt;</a:t>
            </a:r>
            <a:r>
              <a:rPr lang="zh-CN" altLang="en-US" sz="2800" b="1"/>
              <a:t>测试值</a:t>
            </a:r>
            <a:r>
              <a:rPr lang="en-US" altLang="zh-CN" sz="2800" b="1"/>
              <a:t>2&gt; THEN &lt;</a:t>
            </a:r>
            <a:r>
              <a:rPr lang="zh-CN" altLang="en-US" sz="2800" b="1"/>
              <a:t>结果表达式</a:t>
            </a:r>
            <a:r>
              <a:rPr lang="en-US" altLang="zh-CN" sz="2800" b="1"/>
              <a:t>2&gt;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 b="1"/>
              <a:t>           [ELSE &lt;</a:t>
            </a:r>
            <a:r>
              <a:rPr lang="zh-CN" altLang="en-US" sz="2800" b="1"/>
              <a:t>结果表达式</a:t>
            </a:r>
            <a:r>
              <a:rPr lang="en-US" altLang="zh-CN" sz="2800" b="1"/>
              <a:t>n&gt;]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 b="1"/>
              <a:t>    </a:t>
            </a:r>
            <a:r>
              <a:rPr lang="en-US" altLang="zh-CN" sz="2800" b="1">
                <a:solidFill>
                  <a:srgbClr val="0000CC"/>
                </a:solidFill>
              </a:rPr>
              <a:t>END</a:t>
            </a:r>
            <a:r>
              <a:rPr lang="en-US" altLang="zh-CN" sz="2800" b="1"/>
              <a:t> </a:t>
            </a:r>
          </a:p>
        </p:txBody>
      </p:sp>
      <p:sp>
        <p:nvSpPr>
          <p:cNvPr id="944135" name="AutoShape 7">
            <a:extLst>
              <a:ext uri="{FF2B5EF4-FFF2-40B4-BE49-F238E27FC236}">
                <a16:creationId xmlns:a16="http://schemas.microsoft.com/office/drawing/2014/main" id="{FE001BF5-720B-4802-93D5-82F071BE0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1125538"/>
            <a:ext cx="4105275" cy="1655762"/>
          </a:xfrm>
          <a:prstGeom prst="wedgeRoundRectCallout">
            <a:avLst>
              <a:gd name="adj1" fmla="val -61912"/>
              <a:gd name="adj2" fmla="val 34278"/>
              <a:gd name="adj3" fmla="val 16667"/>
            </a:avLst>
          </a:prstGeom>
          <a:solidFill>
            <a:srgbClr val="FFE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kumimoji="1" lang="zh-CN" altLang="en-US" sz="2400" b="1"/>
              <a:t>     可以是局部变量名，也可以是表中的字段名，还可以是运算符连接起来的表达式。</a:t>
            </a:r>
            <a:r>
              <a:rPr kumimoji="1" lang="en-US" altLang="zh-CN" sz="2400"/>
              <a:t> </a:t>
            </a:r>
          </a:p>
        </p:txBody>
      </p:sp>
      <p:sp>
        <p:nvSpPr>
          <p:cNvPr id="58375" name="Rectangle 7">
            <a:extLst>
              <a:ext uri="{FF2B5EF4-FFF2-40B4-BE49-F238E27FC236}">
                <a16:creationId xmlns:a16="http://schemas.microsoft.com/office/drawing/2014/main" id="{F7A783D8-4D3E-4FCC-9E2E-F73089A1C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420938"/>
            <a:ext cx="1944687" cy="433387"/>
          </a:xfrm>
          <a:prstGeom prst="rect">
            <a:avLst/>
          </a:prstGeom>
          <a:noFill/>
          <a:ln w="38100" cap="sq">
            <a:solidFill>
              <a:srgbClr val="CC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rgbClr val="CC0000"/>
              </a:solidFill>
            </a:endParaRPr>
          </a:p>
        </p:txBody>
      </p:sp>
      <p:sp>
        <p:nvSpPr>
          <p:cNvPr id="58380" name="Rectangle 12">
            <a:extLst>
              <a:ext uri="{FF2B5EF4-FFF2-40B4-BE49-F238E27FC236}">
                <a16:creationId xmlns:a16="http://schemas.microsoft.com/office/drawing/2014/main" id="{61CAE094-4AA9-4068-A027-B768EBF7B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149725"/>
            <a:ext cx="3887787" cy="433388"/>
          </a:xfrm>
          <a:prstGeom prst="rect">
            <a:avLst/>
          </a:prstGeom>
          <a:noFill/>
          <a:ln w="38100" cap="sq">
            <a:solidFill>
              <a:srgbClr val="CC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rgbClr val="CC0000"/>
              </a:solidFill>
            </a:endParaRPr>
          </a:p>
        </p:txBody>
      </p:sp>
      <p:sp>
        <p:nvSpPr>
          <p:cNvPr id="2" name="AutoShape 7">
            <a:extLst>
              <a:ext uri="{FF2B5EF4-FFF2-40B4-BE49-F238E27FC236}">
                <a16:creationId xmlns:a16="http://schemas.microsoft.com/office/drawing/2014/main" id="{7DB6CBB6-4CD2-4C9C-9742-29851641F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4797425"/>
            <a:ext cx="4105275" cy="1655763"/>
          </a:xfrm>
          <a:prstGeom prst="wedgeRoundRectCallout">
            <a:avLst>
              <a:gd name="adj1" fmla="val -56653"/>
              <a:gd name="adj2" fmla="val -60065"/>
              <a:gd name="adj3" fmla="val 16667"/>
            </a:avLst>
          </a:prstGeom>
          <a:solidFill>
            <a:srgbClr val="FFE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kumimoji="1" lang="zh-CN" altLang="en-US" sz="2400" b="1"/>
              <a:t>     如果不选择</a:t>
            </a:r>
            <a:r>
              <a:rPr kumimoji="1" lang="en-US" altLang="zh-CN" sz="2400" b="1"/>
              <a:t>ELSE</a:t>
            </a:r>
            <a:r>
              <a:rPr kumimoji="1" lang="zh-CN" altLang="en-US" sz="2400" b="1"/>
              <a:t>子句，则当前面的测试值都不满足时，返回一个</a:t>
            </a:r>
            <a:r>
              <a:rPr kumimoji="1" lang="en-US" altLang="zh-CN" sz="2400" b="1"/>
              <a:t>NULL</a:t>
            </a:r>
            <a:r>
              <a:rPr kumimoji="1" lang="zh-CN" altLang="en-US" sz="2400" b="1"/>
              <a:t>值。</a:t>
            </a:r>
            <a:r>
              <a:rPr kumimoji="1" lang="zh-CN" altLang="en-US" sz="2400"/>
              <a:t>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744"/>
    </mc:Choice>
    <mc:Fallback xmlns="">
      <p:transition spd="slow" advTm="547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4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500"/>
                                        <p:tgtEl>
                                          <p:spTgt spid="944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4135" grpId="0" animBg="1"/>
      <p:bldP spid="944135" grpId="1" animBg="1"/>
      <p:bldP spid="58375" grpId="0" animBg="1"/>
      <p:bldP spid="58375" grpId="1" animBg="1"/>
      <p:bldP spid="58380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372" name="Rectangle 4">
            <a:extLst>
              <a:ext uri="{FF2B5EF4-FFF2-40B4-BE49-F238E27FC236}">
                <a16:creationId xmlns:a16="http://schemas.microsoft.com/office/drawing/2014/main" id="{85B0F2A3-75DD-44E9-A1B7-A759DBD9C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三、</a:t>
            </a:r>
            <a:r>
              <a:rPr lang="en-US" altLang="zh-CN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CASE</a:t>
            </a: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语句 </a:t>
            </a:r>
          </a:p>
        </p:txBody>
      </p:sp>
      <p:sp>
        <p:nvSpPr>
          <p:cNvPr id="954373" name="Rectangle 5">
            <a:extLst>
              <a:ext uri="{FF2B5EF4-FFF2-40B4-BE49-F238E27FC236}">
                <a16:creationId xmlns:a16="http://schemas.microsoft.com/office/drawing/2014/main" id="{F2DD7B58-85C9-4271-8EA1-1182A7740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098550"/>
            <a:ext cx="8424863" cy="81756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800" b="1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         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、搜索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CASE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7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396" name="Text Box 6">
            <a:extLst>
              <a:ext uri="{FF2B5EF4-FFF2-40B4-BE49-F238E27FC236}">
                <a16:creationId xmlns:a16="http://schemas.microsoft.com/office/drawing/2014/main" id="{2C8DECE0-D5B6-454F-8763-424AA0EA5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133600"/>
            <a:ext cx="8351838" cy="3001963"/>
          </a:xfrm>
          <a:prstGeom prst="rect">
            <a:avLst/>
          </a:prstGeom>
          <a:noFill/>
          <a:ln w="28575">
            <a:solidFill>
              <a:srgbClr val="7602AA"/>
            </a:solidFill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 b="1"/>
              <a:t>    </a:t>
            </a:r>
            <a:r>
              <a:rPr lang="en-US" altLang="zh-CN" sz="2800" b="1">
                <a:solidFill>
                  <a:srgbClr val="0000CC"/>
                </a:solidFill>
              </a:rPr>
              <a:t>CASE</a:t>
            </a:r>
          </a:p>
          <a:p>
            <a:pPr eaLnBrk="1" hangingPunct="1">
              <a:lnSpc>
                <a:spcPct val="135000"/>
              </a:lnSpc>
            </a:pPr>
            <a:r>
              <a:rPr lang="en-US" altLang="zh-CN" sz="2800" b="1"/>
              <a:t>         WHEN &lt;</a:t>
            </a:r>
            <a:r>
              <a:rPr lang="zh-CN" altLang="en-US" sz="2800" b="1"/>
              <a:t>逻辑表达式</a:t>
            </a:r>
            <a:r>
              <a:rPr lang="en-US" altLang="zh-CN" sz="2800" b="1"/>
              <a:t>1&gt; THEN &lt;</a:t>
            </a:r>
            <a:r>
              <a:rPr lang="zh-CN" altLang="en-US" sz="2800" b="1"/>
              <a:t>结果表达式</a:t>
            </a:r>
            <a:r>
              <a:rPr lang="en-US" altLang="zh-CN" sz="2800" b="1"/>
              <a:t>1&gt;</a:t>
            </a:r>
          </a:p>
          <a:p>
            <a:pPr eaLnBrk="1" hangingPunct="1">
              <a:lnSpc>
                <a:spcPct val="135000"/>
              </a:lnSpc>
            </a:pPr>
            <a:r>
              <a:rPr lang="en-US" altLang="zh-CN" sz="2800" b="1"/>
              <a:t>         WHEN &lt;</a:t>
            </a:r>
            <a:r>
              <a:rPr lang="zh-CN" altLang="en-US" sz="2800" b="1"/>
              <a:t>逻辑表达式</a:t>
            </a:r>
            <a:r>
              <a:rPr lang="en-US" altLang="zh-CN" sz="2800" b="1"/>
              <a:t>2&gt; THEN &lt;</a:t>
            </a:r>
            <a:r>
              <a:rPr lang="zh-CN" altLang="en-US" sz="2800" b="1"/>
              <a:t>结果表达式</a:t>
            </a:r>
            <a:r>
              <a:rPr lang="en-US" altLang="zh-CN" sz="2800" b="1"/>
              <a:t>2&gt;</a:t>
            </a:r>
          </a:p>
          <a:p>
            <a:pPr eaLnBrk="1" hangingPunct="1">
              <a:lnSpc>
                <a:spcPct val="135000"/>
              </a:lnSpc>
            </a:pPr>
            <a:r>
              <a:rPr lang="en-US" altLang="zh-CN" sz="2800" b="1"/>
              <a:t>        [ELSE &lt;</a:t>
            </a:r>
            <a:r>
              <a:rPr lang="zh-CN" altLang="en-US" sz="2800" b="1"/>
              <a:t>结果表达式</a:t>
            </a:r>
            <a:r>
              <a:rPr lang="en-US" altLang="zh-CN" sz="2800" b="1"/>
              <a:t>n&gt;]</a:t>
            </a:r>
          </a:p>
          <a:p>
            <a:pPr eaLnBrk="1" hangingPunct="1">
              <a:lnSpc>
                <a:spcPct val="135000"/>
              </a:lnSpc>
            </a:pPr>
            <a:r>
              <a:rPr lang="en-US" altLang="zh-CN" sz="2800" b="1">
                <a:solidFill>
                  <a:srgbClr val="0000CC"/>
                </a:solidFill>
              </a:rPr>
              <a:t>    END</a:t>
            </a:r>
            <a:r>
              <a:rPr lang="en-US" altLang="zh-CN" sz="2800" b="1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31"/>
    </mc:Choice>
    <mc:Fallback xmlns="">
      <p:transition spd="slow" advTm="3063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181" name="Rectangle 5">
            <a:extLst>
              <a:ext uri="{FF2B5EF4-FFF2-40B4-BE49-F238E27FC236}">
                <a16:creationId xmlns:a16="http://schemas.microsoft.com/office/drawing/2014/main" id="{22DCED7F-F31D-469A-999A-8BEC716FE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33375"/>
            <a:ext cx="8208962" cy="165576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查询学号为‘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200401001’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同学的平均成绩，如果平均分在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60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分以上，显示‘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200401001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同学成绩合格’；否则显示‘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200401001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同学成绩不合格’。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7910244A-BA3C-493C-9A23-BB76F1783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700213"/>
            <a:ext cx="8064500" cy="5153025"/>
          </a:xfrm>
          <a:prstGeom prst="rect">
            <a:avLst/>
          </a:prstGeom>
          <a:noFill/>
          <a:ln w="12700" cap="sq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400" b="1" dirty="0">
                <a:solidFill>
                  <a:srgbClr val="0000FF"/>
                </a:solidFill>
              </a:rPr>
              <a:t>USE</a:t>
            </a:r>
            <a:r>
              <a:rPr lang="en-US" altLang="zh-CN" sz="2400" b="1" dirty="0"/>
              <a:t>  JXGL</a:t>
            </a:r>
          </a:p>
          <a:p>
            <a:pPr>
              <a:lnSpc>
                <a:spcPct val="115000"/>
              </a:lnSpc>
            </a:pPr>
            <a:r>
              <a:rPr lang="en-US" altLang="zh-CN" sz="2400" b="1" dirty="0"/>
              <a:t>GO</a:t>
            </a:r>
          </a:p>
          <a:p>
            <a:pPr>
              <a:lnSpc>
                <a:spcPct val="115000"/>
              </a:lnSpc>
            </a:pPr>
            <a:r>
              <a:rPr lang="en-US" altLang="zh-CN" sz="2400" b="1" dirty="0">
                <a:solidFill>
                  <a:srgbClr val="0000FF"/>
                </a:solidFill>
              </a:rPr>
              <a:t>DECLARE</a:t>
            </a:r>
            <a:r>
              <a:rPr lang="en-US" altLang="zh-CN" sz="2400" b="1" dirty="0"/>
              <a:t> @text1  char(100), @ </a:t>
            </a:r>
            <a:r>
              <a:rPr lang="en-US" altLang="zh-CN" sz="2400" b="1" dirty="0" err="1"/>
              <a:t>avg_grade</a:t>
            </a:r>
            <a:r>
              <a:rPr lang="en-US" altLang="zh-CN" sz="2400" b="1" dirty="0"/>
              <a:t>  float</a:t>
            </a:r>
          </a:p>
          <a:p>
            <a:pPr>
              <a:lnSpc>
                <a:spcPct val="115000"/>
              </a:lnSpc>
            </a:pPr>
            <a:r>
              <a:rPr lang="en-US" altLang="zh-CN" sz="2400" b="1" dirty="0">
                <a:solidFill>
                  <a:srgbClr val="0000FF"/>
                </a:solidFill>
              </a:rPr>
              <a:t>SET </a:t>
            </a:r>
            <a:r>
              <a:rPr lang="en-US" altLang="zh-CN" sz="2400" b="1" dirty="0"/>
              <a:t> @ </a:t>
            </a:r>
            <a:r>
              <a:rPr lang="en-US" altLang="zh-CN" sz="2400" b="1" dirty="0" err="1"/>
              <a:t>avg_grade</a:t>
            </a:r>
            <a:r>
              <a:rPr lang="en-US" altLang="zh-CN" sz="2400" b="1" dirty="0"/>
              <a:t> =(SELECT </a:t>
            </a:r>
            <a:r>
              <a:rPr lang="en-US" altLang="zh-CN" sz="2400" b="1" dirty="0">
                <a:solidFill>
                  <a:srgbClr val="CC0000"/>
                </a:solidFill>
              </a:rPr>
              <a:t>AVG</a:t>
            </a:r>
            <a:r>
              <a:rPr lang="en-US" altLang="zh-CN" sz="2400" b="1" dirty="0"/>
              <a:t>(GRADE) </a:t>
            </a:r>
          </a:p>
          <a:p>
            <a:pPr>
              <a:lnSpc>
                <a:spcPct val="115000"/>
              </a:lnSpc>
            </a:pPr>
            <a:r>
              <a:rPr lang="en-US" altLang="zh-CN" sz="2400" b="1" dirty="0"/>
              <a:t>                                       FROM SC </a:t>
            </a:r>
          </a:p>
          <a:p>
            <a:pPr>
              <a:lnSpc>
                <a:spcPct val="115000"/>
              </a:lnSpc>
            </a:pPr>
            <a:r>
              <a:rPr lang="en-US" altLang="zh-CN" sz="2400" b="1" dirty="0"/>
              <a:t>                                       WHERE  S#=‘200401001’)</a:t>
            </a:r>
          </a:p>
          <a:p>
            <a:pPr>
              <a:lnSpc>
                <a:spcPct val="115000"/>
              </a:lnSpc>
            </a:pPr>
            <a:r>
              <a:rPr lang="en-US" altLang="zh-CN" sz="2400" b="1" dirty="0">
                <a:solidFill>
                  <a:srgbClr val="0000FF"/>
                </a:solidFill>
              </a:rPr>
              <a:t>IF</a:t>
            </a:r>
            <a:r>
              <a:rPr lang="en-US" altLang="zh-CN" sz="2400" b="1" dirty="0"/>
              <a:t> @ </a:t>
            </a:r>
            <a:r>
              <a:rPr lang="en-US" altLang="zh-CN" sz="2400" b="1" dirty="0" err="1"/>
              <a:t>avg_grade</a:t>
            </a:r>
            <a:r>
              <a:rPr lang="en-US" altLang="zh-CN" sz="2400" b="1" dirty="0"/>
              <a:t> &gt;= 60</a:t>
            </a:r>
          </a:p>
          <a:p>
            <a:pPr>
              <a:lnSpc>
                <a:spcPct val="115000"/>
              </a:lnSpc>
            </a:pPr>
            <a:r>
              <a:rPr lang="en-US" altLang="zh-CN" sz="2400" b="1" dirty="0"/>
              <a:t>    SET @text1 = </a:t>
            </a:r>
            <a:r>
              <a:rPr lang="zh-CN" altLang="en-US" sz="2400" b="1" dirty="0"/>
              <a:t>‘</a:t>
            </a:r>
            <a:r>
              <a:rPr lang="en-US" altLang="zh-CN" sz="2400" b="1" dirty="0"/>
              <a:t>200401001</a:t>
            </a:r>
            <a:r>
              <a:rPr lang="zh-CN" altLang="en-US" sz="2400" b="1" dirty="0"/>
              <a:t>同学成绩合格’</a:t>
            </a:r>
          </a:p>
          <a:p>
            <a:pPr>
              <a:lnSpc>
                <a:spcPct val="115000"/>
              </a:lnSpc>
            </a:pPr>
            <a:r>
              <a:rPr lang="en-US" altLang="zh-CN" sz="2400" b="1" dirty="0">
                <a:solidFill>
                  <a:srgbClr val="0000FF"/>
                </a:solidFill>
              </a:rPr>
              <a:t>ELSE</a:t>
            </a:r>
          </a:p>
          <a:p>
            <a:pPr>
              <a:lnSpc>
                <a:spcPct val="115000"/>
              </a:lnSpc>
            </a:pPr>
            <a:r>
              <a:rPr lang="en-US" altLang="zh-CN" sz="2400" b="1" dirty="0"/>
              <a:t>    SET @text1 = </a:t>
            </a:r>
            <a:r>
              <a:rPr lang="zh-CN" altLang="en-US" sz="2400" b="1" dirty="0"/>
              <a:t>‘</a:t>
            </a:r>
            <a:r>
              <a:rPr lang="en-US" altLang="zh-CN" sz="2400" b="1" dirty="0"/>
              <a:t>200401001</a:t>
            </a:r>
            <a:r>
              <a:rPr lang="zh-CN" altLang="en-US" sz="2400" b="1" dirty="0"/>
              <a:t>同学成绩不合格’</a:t>
            </a:r>
          </a:p>
          <a:p>
            <a:pPr>
              <a:lnSpc>
                <a:spcPct val="115000"/>
              </a:lnSpc>
            </a:pPr>
            <a:r>
              <a:rPr lang="en-US" altLang="zh-CN" sz="2400" b="1" dirty="0">
                <a:solidFill>
                  <a:srgbClr val="0000FF"/>
                </a:solidFill>
              </a:rPr>
              <a:t>SELECT</a:t>
            </a:r>
            <a:r>
              <a:rPr lang="en-US" altLang="zh-CN" sz="2400" b="1" dirty="0"/>
              <a:t> @text1 </a:t>
            </a:r>
          </a:p>
          <a:p>
            <a:pPr>
              <a:lnSpc>
                <a:spcPct val="115000"/>
              </a:lnSpc>
            </a:pPr>
            <a:r>
              <a:rPr lang="en-US" altLang="zh-CN" sz="2400" b="1" dirty="0"/>
              <a:t>GO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693"/>
    </mc:Choice>
    <mc:Fallback xmlns="">
      <p:transition spd="slow" advTm="696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4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54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54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54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54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4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40" name="Picture 4">
            <a:extLst>
              <a:ext uri="{FF2B5EF4-FFF2-40B4-BE49-F238E27FC236}">
                <a16:creationId xmlns:a16="http://schemas.microsoft.com/office/drawing/2014/main" id="{102F7873-7FE7-47DA-8C9D-ADAA49BDD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61"/>
    </mc:Choice>
    <mc:Fallback xmlns="">
      <p:transition spd="slow" advTm="376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181" name="Rectangle 5">
            <a:extLst>
              <a:ext uri="{FF2B5EF4-FFF2-40B4-BE49-F238E27FC236}">
                <a16:creationId xmlns:a16="http://schemas.microsoft.com/office/drawing/2014/main" id="{D183E421-FA78-4B1E-957C-084EA2F07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04813"/>
            <a:ext cx="8280400" cy="2160587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查询学号为‘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200401001’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同学的平均成绩，如果平均分在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85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分以上，显示‘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200401001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同学成绩优秀’；如果平均分在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85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分以下、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60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分以上，显示‘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200401001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同学成绩合格’；如果平均分在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60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分以下，显示‘</a:t>
            </a:r>
            <a:r>
              <a:rPr lang="en-US" altLang="zh-CN" sz="2400" b="1" dirty="0"/>
              <a:t>200401001</a:t>
            </a:r>
            <a:r>
              <a:rPr lang="zh-CN" altLang="en-US" sz="2400" b="1" dirty="0"/>
              <a:t>同学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成绩不合格’。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79"/>
    </mc:Choice>
    <mc:Fallback xmlns="">
      <p:transition spd="slow" advTm="1957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5" name="Rectangle 3">
            <a:extLst>
              <a:ext uri="{FF2B5EF4-FFF2-40B4-BE49-F238E27FC236}">
                <a16:creationId xmlns:a16="http://schemas.microsoft.com/office/drawing/2014/main" id="{1E5BE895-050D-4717-B91E-A54CDA316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04813"/>
            <a:ext cx="7632700" cy="55610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400" b="1"/>
              <a:t>USE  JXGL</a:t>
            </a:r>
          </a:p>
          <a:p>
            <a:pPr>
              <a:lnSpc>
                <a:spcPct val="115000"/>
              </a:lnSpc>
            </a:pPr>
            <a:r>
              <a:rPr lang="en-US" altLang="zh-CN" sz="2400" b="1"/>
              <a:t>GO</a:t>
            </a:r>
          </a:p>
          <a:p>
            <a:pPr>
              <a:lnSpc>
                <a:spcPct val="115000"/>
              </a:lnSpc>
            </a:pPr>
            <a:r>
              <a:rPr lang="en-US" altLang="zh-CN" sz="2400" b="1"/>
              <a:t>DECLARE @ avg_grade  float</a:t>
            </a:r>
          </a:p>
          <a:p>
            <a:pPr>
              <a:lnSpc>
                <a:spcPct val="115000"/>
              </a:lnSpc>
            </a:pPr>
            <a:r>
              <a:rPr lang="en-US" altLang="zh-CN" sz="2400" b="1"/>
              <a:t>SET  @ avg_grade =(SELECT AVG(GRADE) </a:t>
            </a:r>
          </a:p>
          <a:p>
            <a:pPr>
              <a:lnSpc>
                <a:spcPct val="115000"/>
              </a:lnSpc>
            </a:pPr>
            <a:r>
              <a:rPr lang="en-US" altLang="zh-CN" sz="2400" b="1"/>
              <a:t>                                       FROM SC </a:t>
            </a:r>
          </a:p>
          <a:p>
            <a:pPr>
              <a:lnSpc>
                <a:spcPct val="115000"/>
              </a:lnSpc>
            </a:pPr>
            <a:r>
              <a:rPr lang="en-US" altLang="zh-CN" sz="2400" b="1"/>
              <a:t>                                       WHERE  S#=‘200401001’)</a:t>
            </a:r>
          </a:p>
          <a:p>
            <a:pPr>
              <a:lnSpc>
                <a:spcPct val="115000"/>
              </a:lnSpc>
            </a:pPr>
            <a:r>
              <a:rPr lang="en-US" altLang="zh-CN" sz="2400" b="1">
                <a:solidFill>
                  <a:srgbClr val="0000FF"/>
                </a:solidFill>
              </a:rPr>
              <a:t>SELECT  CASE WHEN </a:t>
            </a:r>
            <a:r>
              <a:rPr lang="en-US" altLang="zh-CN" sz="2400" b="1"/>
              <a:t> @ avg_grade &gt;85 </a:t>
            </a:r>
          </a:p>
          <a:p>
            <a:pPr>
              <a:lnSpc>
                <a:spcPct val="115000"/>
              </a:lnSpc>
            </a:pPr>
            <a:r>
              <a:rPr lang="en-US" altLang="zh-CN" sz="2400" b="1"/>
              <a:t>                           </a:t>
            </a:r>
            <a:r>
              <a:rPr lang="en-US" altLang="zh-CN" sz="2400" b="1">
                <a:solidFill>
                  <a:srgbClr val="0000FF"/>
                </a:solidFill>
              </a:rPr>
              <a:t>THEN </a:t>
            </a:r>
            <a:r>
              <a:rPr lang="zh-CN" altLang="en-US" sz="2400" b="1"/>
              <a:t>‘</a:t>
            </a:r>
            <a:r>
              <a:rPr lang="en-US" altLang="zh-CN" sz="2400" b="1"/>
              <a:t>200401001</a:t>
            </a:r>
            <a:r>
              <a:rPr lang="zh-CN" altLang="en-US" sz="2400" b="1"/>
              <a:t>同学成绩优秀’</a:t>
            </a:r>
          </a:p>
          <a:p>
            <a:pPr>
              <a:lnSpc>
                <a:spcPct val="115000"/>
              </a:lnSpc>
            </a:pPr>
            <a:r>
              <a:rPr lang="en-US" altLang="zh-CN" sz="2400" b="1">
                <a:solidFill>
                  <a:srgbClr val="0000FF"/>
                </a:solidFill>
              </a:rPr>
              <a:t>     WHEN </a:t>
            </a:r>
            <a:r>
              <a:rPr lang="en-US" altLang="zh-CN" sz="2400" b="1"/>
              <a:t> @ avg_grade &gt;60 AND @ avg_grade &lt;85</a:t>
            </a:r>
          </a:p>
          <a:p>
            <a:pPr>
              <a:lnSpc>
                <a:spcPct val="115000"/>
              </a:lnSpc>
            </a:pPr>
            <a:r>
              <a:rPr lang="en-US" altLang="zh-CN" sz="2400" b="1"/>
              <a:t>                                   </a:t>
            </a:r>
            <a:r>
              <a:rPr lang="en-US" altLang="zh-CN" sz="2400" b="1">
                <a:solidFill>
                  <a:srgbClr val="0000FF"/>
                </a:solidFill>
              </a:rPr>
              <a:t>THEN  </a:t>
            </a:r>
            <a:r>
              <a:rPr lang="zh-CN" altLang="en-US" sz="2400" b="1"/>
              <a:t>‘</a:t>
            </a:r>
            <a:r>
              <a:rPr lang="en-US" altLang="zh-CN" sz="2400" b="1"/>
              <a:t>200401001</a:t>
            </a:r>
            <a:r>
              <a:rPr lang="zh-CN" altLang="en-US" sz="2400" b="1"/>
              <a:t>同学成绩合格</a:t>
            </a:r>
            <a:r>
              <a:rPr lang="en-US" altLang="zh-CN" sz="2400" b="1"/>
              <a:t>’</a:t>
            </a:r>
          </a:p>
          <a:p>
            <a:pPr>
              <a:lnSpc>
                <a:spcPct val="115000"/>
              </a:lnSpc>
            </a:pPr>
            <a:r>
              <a:rPr lang="en-US" altLang="zh-CN" sz="2400" b="1"/>
              <a:t>     </a:t>
            </a:r>
            <a:r>
              <a:rPr lang="en-US" altLang="zh-CN" sz="2400" b="1">
                <a:solidFill>
                  <a:srgbClr val="0000FF"/>
                </a:solidFill>
              </a:rPr>
              <a:t>ELSE</a:t>
            </a:r>
            <a:r>
              <a:rPr lang="en-US" altLang="zh-CN" sz="2400" b="1"/>
              <a:t>  </a:t>
            </a:r>
            <a:r>
              <a:rPr lang="zh-CN" altLang="en-US" sz="2400" b="1"/>
              <a:t>‘</a:t>
            </a:r>
            <a:r>
              <a:rPr lang="en-US" altLang="zh-CN" sz="2400" b="1"/>
              <a:t>200401001</a:t>
            </a:r>
            <a:r>
              <a:rPr lang="zh-CN" altLang="en-US" sz="2400" b="1"/>
              <a:t>同学成绩不合格</a:t>
            </a:r>
            <a:r>
              <a:rPr lang="en-US" altLang="zh-CN" sz="2400" b="1"/>
              <a:t>’</a:t>
            </a:r>
          </a:p>
          <a:p>
            <a:pPr>
              <a:lnSpc>
                <a:spcPct val="115000"/>
              </a:lnSpc>
            </a:pPr>
            <a:r>
              <a:rPr lang="en-US" altLang="zh-CN" sz="2400" b="1">
                <a:solidFill>
                  <a:srgbClr val="0000FF"/>
                </a:solidFill>
              </a:rPr>
              <a:t>END</a:t>
            </a:r>
          </a:p>
          <a:p>
            <a:pPr>
              <a:lnSpc>
                <a:spcPct val="115000"/>
              </a:lnSpc>
            </a:pPr>
            <a:r>
              <a:rPr lang="en-US" altLang="zh-CN" sz="2400" b="1"/>
              <a:t>GO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40"/>
    </mc:Choice>
    <mc:Fallback xmlns="">
      <p:transition spd="slow" advTm="2414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916" name="Picture 4">
            <a:extLst>
              <a:ext uri="{FF2B5EF4-FFF2-40B4-BE49-F238E27FC236}">
                <a16:creationId xmlns:a16="http://schemas.microsoft.com/office/drawing/2014/main" id="{673C2F9A-3265-497D-A5C1-5105E3D27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63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31"/>
    </mc:Choice>
    <mc:Fallback xmlns="">
      <p:transition spd="slow" advTm="323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396" name="Rectangle 4">
            <a:extLst>
              <a:ext uri="{FF2B5EF4-FFF2-40B4-BE49-F238E27FC236}">
                <a16:creationId xmlns:a16="http://schemas.microsoft.com/office/drawing/2014/main" id="{132D2614-17A8-4B2E-A19F-D8891C094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四、</a:t>
            </a:r>
            <a:r>
              <a:rPr lang="en-US" altLang="zh-CN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WHILE</a:t>
            </a: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语句 </a:t>
            </a:r>
          </a:p>
        </p:txBody>
      </p:sp>
      <p:sp>
        <p:nvSpPr>
          <p:cNvPr id="955397" name="Rectangle 5">
            <a:extLst>
              <a:ext uri="{FF2B5EF4-FFF2-40B4-BE49-F238E27FC236}">
                <a16:creationId xmlns:a16="http://schemas.microsoft.com/office/drawing/2014/main" id="{BD11D32E-ADCE-4815-823F-CB5F8BC98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387475"/>
            <a:ext cx="7272338" cy="528638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语句格式：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60420" name="Text Box 6">
            <a:extLst>
              <a:ext uri="{FF2B5EF4-FFF2-40B4-BE49-F238E27FC236}">
                <a16:creationId xmlns:a16="http://schemas.microsoft.com/office/drawing/2014/main" id="{D833B9AC-04B6-483F-887E-A99F37D23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133600"/>
            <a:ext cx="7920037" cy="3930650"/>
          </a:xfrm>
          <a:prstGeom prst="rect">
            <a:avLst/>
          </a:prstGeom>
          <a:noFill/>
          <a:ln w="28575">
            <a:solidFill>
              <a:srgbClr val="7602AA"/>
            </a:solidFill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600" b="1"/>
              <a:t>    </a:t>
            </a:r>
            <a:r>
              <a:rPr lang="en-US" altLang="zh-CN" sz="2600" b="1">
                <a:solidFill>
                  <a:srgbClr val="0000CC"/>
                </a:solidFill>
              </a:rPr>
              <a:t>WHILE</a:t>
            </a:r>
            <a:r>
              <a:rPr lang="en-US" altLang="zh-CN" sz="2600" b="1"/>
              <a:t> &lt;</a:t>
            </a:r>
            <a:r>
              <a:rPr lang="zh-CN" altLang="en-US" sz="2600" b="1"/>
              <a:t>逻辑表达式</a:t>
            </a:r>
            <a:r>
              <a:rPr lang="en-US" altLang="zh-CN" sz="2600" b="1"/>
              <a:t>&gt;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600" b="1"/>
              <a:t>        </a:t>
            </a:r>
            <a:r>
              <a:rPr lang="en-US" altLang="zh-CN" sz="2600" b="1">
                <a:solidFill>
                  <a:srgbClr val="0000CC"/>
                </a:solidFill>
              </a:rPr>
              <a:t>BEGIN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600" b="1"/>
              <a:t>           &lt;SQL</a:t>
            </a:r>
            <a:r>
              <a:rPr lang="zh-CN" altLang="en-US" sz="2600" b="1"/>
              <a:t>语句</a:t>
            </a:r>
            <a:r>
              <a:rPr lang="en-US" altLang="zh-CN" sz="2600" b="1"/>
              <a:t>1&gt; | BEGIN &lt;SQL</a:t>
            </a:r>
            <a:r>
              <a:rPr lang="zh-CN" altLang="en-US" sz="2600" b="1"/>
              <a:t>语句块</a:t>
            </a:r>
            <a:r>
              <a:rPr lang="en-US" altLang="zh-CN" sz="2600" b="1"/>
              <a:t>1&gt; END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600" b="1"/>
              <a:t>           [</a:t>
            </a:r>
            <a:r>
              <a:rPr lang="en-US" altLang="zh-CN" sz="2600" b="1">
                <a:solidFill>
                  <a:srgbClr val="CC0000"/>
                </a:solidFill>
              </a:rPr>
              <a:t>BREAK</a:t>
            </a:r>
            <a:r>
              <a:rPr lang="en-US" altLang="zh-CN" sz="2600" b="1"/>
              <a:t>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600" b="1"/>
              <a:t>            &lt;SQL</a:t>
            </a:r>
            <a:r>
              <a:rPr lang="zh-CN" altLang="en-US" sz="2600" b="1"/>
              <a:t>语句</a:t>
            </a:r>
            <a:r>
              <a:rPr lang="en-US" altLang="zh-CN" sz="2600" b="1"/>
              <a:t>2&gt; | BEGIN &lt;SQL</a:t>
            </a:r>
            <a:r>
              <a:rPr lang="zh-CN" altLang="en-US" sz="2600" b="1"/>
              <a:t>语句块</a:t>
            </a:r>
            <a:r>
              <a:rPr lang="en-US" altLang="zh-CN" sz="2600" b="1"/>
              <a:t>2&gt; END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600" b="1"/>
              <a:t>           [</a:t>
            </a:r>
            <a:r>
              <a:rPr lang="en-US" altLang="zh-CN" sz="2600" b="1">
                <a:solidFill>
                  <a:srgbClr val="CC0000"/>
                </a:solidFill>
              </a:rPr>
              <a:t>CONTINUE</a:t>
            </a:r>
            <a:r>
              <a:rPr lang="en-US" altLang="zh-CN" sz="2600" b="1"/>
              <a:t>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600" b="1"/>
              <a:t>            &lt;SQL</a:t>
            </a:r>
            <a:r>
              <a:rPr lang="zh-CN" altLang="en-US" sz="2600" b="1"/>
              <a:t>语句</a:t>
            </a:r>
            <a:r>
              <a:rPr lang="en-US" altLang="zh-CN" sz="2600" b="1"/>
              <a:t>3&gt; | BEGIN &lt;SQL</a:t>
            </a:r>
            <a:r>
              <a:rPr lang="zh-CN" altLang="en-US" sz="2600" b="1"/>
              <a:t>语句块</a:t>
            </a:r>
            <a:r>
              <a:rPr lang="en-US" altLang="zh-CN" sz="2600" b="1"/>
              <a:t>3&gt; END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600" b="1"/>
              <a:t>        </a:t>
            </a:r>
            <a:r>
              <a:rPr lang="en-US" altLang="zh-CN" sz="2600" b="1">
                <a:solidFill>
                  <a:srgbClr val="0000CC"/>
                </a:solidFill>
              </a:rPr>
              <a:t>END</a:t>
            </a:r>
            <a:r>
              <a:rPr lang="en-US" altLang="zh-CN" sz="2600" b="1"/>
              <a:t> </a:t>
            </a:r>
          </a:p>
        </p:txBody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FA13B42D-6FB4-4033-8A75-0438AC34C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3643313"/>
            <a:ext cx="1585912" cy="433387"/>
          </a:xfrm>
          <a:prstGeom prst="rect">
            <a:avLst/>
          </a:prstGeom>
          <a:noFill/>
          <a:ln w="38100" cap="sq">
            <a:solidFill>
              <a:srgbClr val="CC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rgbClr val="CC0000"/>
              </a:solidFill>
            </a:endParaRPr>
          </a:p>
        </p:txBody>
      </p:sp>
      <p:sp>
        <p:nvSpPr>
          <p:cNvPr id="60425" name="Rectangle 9">
            <a:extLst>
              <a:ext uri="{FF2B5EF4-FFF2-40B4-BE49-F238E27FC236}">
                <a16:creationId xmlns:a16="http://schemas.microsoft.com/office/drawing/2014/main" id="{A45B2C35-B77E-4D06-9056-0D1FDC243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652963"/>
            <a:ext cx="2016125" cy="433387"/>
          </a:xfrm>
          <a:prstGeom prst="rect">
            <a:avLst/>
          </a:prstGeom>
          <a:noFill/>
          <a:ln w="38100" cap="sq">
            <a:solidFill>
              <a:srgbClr val="CC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rgbClr val="CC0000"/>
              </a:solidFill>
            </a:endParaRPr>
          </a:p>
        </p:txBody>
      </p:sp>
      <p:cxnSp>
        <p:nvCxnSpPr>
          <p:cNvPr id="60426" name="AutoShape 10">
            <a:extLst>
              <a:ext uri="{FF2B5EF4-FFF2-40B4-BE49-F238E27FC236}">
                <a16:creationId xmlns:a16="http://schemas.microsoft.com/office/drawing/2014/main" id="{9FE9B09E-A90A-475A-A083-BB3A63186EBD}"/>
              </a:ext>
            </a:extLst>
          </p:cNvPr>
          <p:cNvCxnSpPr>
            <a:cxnSpLocks noChangeShapeType="1"/>
            <a:stCxn id="60423" idx="1"/>
          </p:cNvCxnSpPr>
          <p:nvPr/>
        </p:nvCxnSpPr>
        <p:spPr bwMode="auto">
          <a:xfrm rot="10800000" flipH="1" flipV="1">
            <a:off x="1671638" y="3860800"/>
            <a:ext cx="92075" cy="2376488"/>
          </a:xfrm>
          <a:prstGeom prst="bentConnector4">
            <a:avLst>
              <a:gd name="adj1" fmla="val -227588"/>
              <a:gd name="adj2" fmla="val 89778"/>
            </a:avLst>
          </a:prstGeom>
          <a:noFill/>
          <a:ln w="57150" cap="sq">
            <a:solidFill>
              <a:srgbClr val="3366CC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0432" name="Group 16">
            <a:extLst>
              <a:ext uri="{FF2B5EF4-FFF2-40B4-BE49-F238E27FC236}">
                <a16:creationId xmlns:a16="http://schemas.microsoft.com/office/drawing/2014/main" id="{8B19C87D-A605-4270-A083-F449A04B5121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2420938"/>
            <a:ext cx="719137" cy="2447925"/>
            <a:chOff x="567" y="1525"/>
            <a:chExt cx="453" cy="1542"/>
          </a:xfrm>
        </p:grpSpPr>
        <p:sp>
          <p:nvSpPr>
            <p:cNvPr id="60429" name="Line 13">
              <a:extLst>
                <a:ext uri="{FF2B5EF4-FFF2-40B4-BE49-F238E27FC236}">
                  <a16:creationId xmlns:a16="http://schemas.microsoft.com/office/drawing/2014/main" id="{4B22D749-68DB-4AD6-B5BC-617848B772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7" y="3067"/>
              <a:ext cx="453" cy="0"/>
            </a:xfrm>
            <a:prstGeom prst="line">
              <a:avLst/>
            </a:prstGeom>
            <a:noFill/>
            <a:ln w="57150" cap="sq">
              <a:solidFill>
                <a:srgbClr val="3366CC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0" name="Line 14">
              <a:extLst>
                <a:ext uri="{FF2B5EF4-FFF2-40B4-BE49-F238E27FC236}">
                  <a16:creationId xmlns:a16="http://schemas.microsoft.com/office/drawing/2014/main" id="{C52369E5-9F78-4A6E-8533-9347219E89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7" y="1525"/>
              <a:ext cx="0" cy="1542"/>
            </a:xfrm>
            <a:prstGeom prst="line">
              <a:avLst/>
            </a:prstGeom>
            <a:noFill/>
            <a:ln w="57150" cap="sq">
              <a:solidFill>
                <a:srgbClr val="3366CC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1" name="Line 15">
              <a:extLst>
                <a:ext uri="{FF2B5EF4-FFF2-40B4-BE49-F238E27FC236}">
                  <a16:creationId xmlns:a16="http://schemas.microsoft.com/office/drawing/2014/main" id="{ABF56C4B-7A30-4B2B-B9A3-18535D3BEE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" y="1525"/>
              <a:ext cx="136" cy="0"/>
            </a:xfrm>
            <a:prstGeom prst="line">
              <a:avLst/>
            </a:prstGeom>
            <a:noFill/>
            <a:ln w="57150" cap="sq">
              <a:solidFill>
                <a:srgbClr val="3366CC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329"/>
    </mc:Choice>
    <mc:Fallback xmlns="">
      <p:transition spd="slow" advTm="363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0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3" grpId="0" animBg="1"/>
      <p:bldP spid="60423" grpId="1" animBg="1"/>
      <p:bldP spid="604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420" name="Rectangle 4">
            <a:extLst>
              <a:ext uri="{FF2B5EF4-FFF2-40B4-BE49-F238E27FC236}">
                <a16:creationId xmlns:a16="http://schemas.microsoft.com/office/drawing/2014/main" id="{AC7CC7D7-44B9-4707-8885-66AC2A090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五、</a:t>
            </a:r>
            <a:r>
              <a:rPr lang="en-US" altLang="zh-CN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WAITFOR</a:t>
            </a: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语句 </a:t>
            </a:r>
          </a:p>
        </p:txBody>
      </p:sp>
      <p:sp>
        <p:nvSpPr>
          <p:cNvPr id="956421" name="Rectangle 5">
            <a:extLst>
              <a:ext uri="{FF2B5EF4-FFF2-40B4-BE49-F238E27FC236}">
                <a16:creationId xmlns:a16="http://schemas.microsoft.com/office/drawing/2014/main" id="{9A6ECCBF-3550-4C63-B32E-E0BB92978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268413"/>
            <a:ext cx="7777162" cy="72072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语句格式：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</a:t>
            </a:r>
            <a:endParaRPr lang="zh-CN" altLang="en-US" sz="2700" b="1"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61444" name="Text Box 6">
            <a:extLst>
              <a:ext uri="{FF2B5EF4-FFF2-40B4-BE49-F238E27FC236}">
                <a16:creationId xmlns:a16="http://schemas.microsoft.com/office/drawing/2014/main" id="{00F3E8E9-ABAF-4D04-B87D-D557B0479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133600"/>
            <a:ext cx="7920037" cy="974725"/>
          </a:xfrm>
          <a:prstGeom prst="rect">
            <a:avLst/>
          </a:prstGeom>
          <a:noFill/>
          <a:ln w="28575">
            <a:solidFill>
              <a:srgbClr val="7602AA"/>
            </a:solidFill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b="1"/>
              <a:t>    </a:t>
            </a:r>
            <a:r>
              <a:rPr lang="en-US" altLang="zh-CN" sz="2800" b="1">
                <a:solidFill>
                  <a:srgbClr val="0000FF"/>
                </a:solidFill>
              </a:rPr>
              <a:t>WAITFOR</a:t>
            </a:r>
          </a:p>
          <a:p>
            <a:pPr eaLnBrk="1" hangingPunct="1"/>
            <a:r>
              <a:rPr lang="en-US" altLang="zh-CN" sz="2800" b="1"/>
              <a:t>         DELAY &lt;’time’&gt; | TIME &lt;’time’&gt; </a:t>
            </a:r>
          </a:p>
        </p:txBody>
      </p:sp>
      <p:sp>
        <p:nvSpPr>
          <p:cNvPr id="956423" name="Rectangle 7">
            <a:extLst>
              <a:ext uri="{FF2B5EF4-FFF2-40B4-BE49-F238E27FC236}">
                <a16:creationId xmlns:a16="http://schemas.microsoft.com/office/drawing/2014/main" id="{99BE474F-46FA-4800-B39D-1D79A175D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357563"/>
            <a:ext cx="8137525" cy="1728787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800000"/>
                </a:solidFill>
                <a:latin typeface="楷体_GB2312" pitchFamily="49" charset="-122"/>
              </a:rPr>
              <a:t>延迟执行语句，其功能是：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hlink"/>
                </a:solidFill>
                <a:latin typeface="楷体_GB2312" pitchFamily="49" charset="-122"/>
              </a:rPr>
              <a:t>    </a:t>
            </a:r>
            <a:r>
              <a:rPr lang="zh-CN" altLang="en-US" sz="2800" b="1">
                <a:latin typeface="楷体_GB2312" pitchFamily="49" charset="-122"/>
              </a:rPr>
              <a:t>通过指定某个时间或延迟某个时间间隔后，再执行其后的语句或存储过程。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987"/>
    </mc:Choice>
    <mc:Fallback xmlns="">
      <p:transition spd="slow" advTm="21987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444" name="Rectangle 4">
            <a:extLst>
              <a:ext uri="{FF2B5EF4-FFF2-40B4-BE49-F238E27FC236}">
                <a16:creationId xmlns:a16="http://schemas.microsoft.com/office/drawing/2014/main" id="{A86A53C1-EB66-406B-816E-D92335365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六、其它语句 </a:t>
            </a:r>
          </a:p>
        </p:txBody>
      </p:sp>
      <p:sp>
        <p:nvSpPr>
          <p:cNvPr id="957445" name="Rectangle 5">
            <a:extLst>
              <a:ext uri="{FF2B5EF4-FFF2-40B4-BE49-F238E27FC236}">
                <a16:creationId xmlns:a16="http://schemas.microsoft.com/office/drawing/2014/main" id="{0E95FFD3-C525-4196-81D5-CF03B4396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71575"/>
            <a:ext cx="8424863" cy="532765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</a:pPr>
            <a:endParaRPr lang="zh-CN" altLang="en-US" sz="2800" b="1" dirty="0">
              <a:solidFill>
                <a:srgbClr val="0066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1</a:t>
            </a:r>
            <a:r>
              <a:rPr lang="zh-CN" altLang="en-US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GO</a:t>
            </a:r>
            <a:r>
              <a:rPr lang="zh-CN" altLang="en-US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 </a:t>
            </a: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zh-CN" altLang="en-US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GOTO</a:t>
            </a:r>
            <a:r>
              <a:rPr lang="zh-CN" altLang="en-US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 </a:t>
            </a: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RETURN</a:t>
            </a:r>
            <a:r>
              <a:rPr lang="zh-CN" altLang="en-US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 </a:t>
            </a: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PRINT</a:t>
            </a:r>
            <a:r>
              <a:rPr lang="zh-CN" altLang="en-US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 </a:t>
            </a: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EXECUTE</a:t>
            </a:r>
            <a:r>
              <a:rPr lang="zh-CN" altLang="en-US" sz="2800" b="1" dirty="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99"/>
    </mc:Choice>
    <mc:Fallback xmlns="">
      <p:transition spd="slow" advTm="809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490" name="Rectangle 2">
            <a:extLst>
              <a:ext uri="{FF2B5EF4-FFF2-40B4-BE49-F238E27FC236}">
                <a16:creationId xmlns:a16="http://schemas.microsoft.com/office/drawing/2014/main" id="{39E53DA5-B026-4C0F-9FE8-FB32A6C802A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535113"/>
            <a:ext cx="8137525" cy="14620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800" dirty="0"/>
              <a:t>7.4  </a:t>
            </a:r>
            <a:r>
              <a:rPr lang="zh-CN" altLang="en-US" sz="3800" dirty="0"/>
              <a:t>基于</a:t>
            </a:r>
            <a:r>
              <a:rPr lang="en-US" altLang="zh-CN" sz="3800" dirty="0"/>
              <a:t>T-SQL</a:t>
            </a:r>
            <a:r>
              <a:rPr lang="zh-CN" altLang="en-US" sz="3800" dirty="0"/>
              <a:t>的数据库创建与管理</a:t>
            </a:r>
            <a:r>
              <a:rPr lang="zh-CN" altLang="en-US" sz="4400" dirty="0"/>
              <a:t> </a:t>
            </a:r>
          </a:p>
        </p:txBody>
      </p:sp>
      <p:sp>
        <p:nvSpPr>
          <p:cNvPr id="959491" name="Rectangle 3">
            <a:extLst>
              <a:ext uri="{FF2B5EF4-FFF2-40B4-BE49-F238E27FC236}">
                <a16:creationId xmlns:a16="http://schemas.microsoft.com/office/drawing/2014/main" id="{10EF195A-B59F-468A-B947-245F7D0BE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80963"/>
            <a:ext cx="4860925" cy="574675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  <a:headEnd/>
            <a:tailEnd/>
          </a:ln>
          <a:effectLst/>
        </p:spPr>
        <p:txBody>
          <a:bodyPr tIns="76176" bIns="72000" anchor="ctr" anchorCtr="1">
            <a:spAutoFit/>
          </a:bodyPr>
          <a:lstStyle/>
          <a:p>
            <a:pPr>
              <a:defRPr/>
            </a:pPr>
            <a:r>
              <a:rPr lang="zh-CN" altLang="en-US" sz="24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隶书" pitchFamily="49" charset="-122"/>
              </a:rPr>
              <a:t>第</a:t>
            </a:r>
            <a:r>
              <a:rPr lang="en-US" altLang="zh-CN" sz="24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隶书" pitchFamily="49" charset="-122"/>
              </a:rPr>
              <a:t>7</a:t>
            </a:r>
            <a:r>
              <a:rPr lang="zh-CN" altLang="en-US" sz="24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隶书" pitchFamily="49" charset="-122"/>
              </a:rPr>
              <a:t>章</a:t>
            </a:r>
            <a:r>
              <a:rPr lang="zh-CN" alt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 </a:t>
            </a:r>
            <a:r>
              <a:rPr lang="en-US" altLang="zh-CN" sz="24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隶书" pitchFamily="49" charset="-122"/>
              </a:rPr>
              <a:t>Transact-SQL</a:t>
            </a:r>
            <a:r>
              <a:rPr lang="zh-CN" altLang="en-US" sz="24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隶书" pitchFamily="49" charset="-122"/>
              </a:rPr>
              <a:t>与存储过程</a:t>
            </a:r>
            <a:r>
              <a:rPr lang="zh-CN" altLang="en-US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隶书" pitchFamily="49" charset="-122"/>
              </a:rPr>
              <a:t> </a:t>
            </a:r>
          </a:p>
        </p:txBody>
      </p:sp>
    </p:spTree>
  </p:cSld>
  <p:clrMapOvr>
    <a:masterClrMapping/>
  </p:clrMapOvr>
  <p:transition advTm="338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500"/>
                                        <p:tgtEl>
                                          <p:spTgt spid="95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49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68" name="Rectangle 4">
            <a:extLst>
              <a:ext uri="{FF2B5EF4-FFF2-40B4-BE49-F238E27FC236}">
                <a16:creationId xmlns:a16="http://schemas.microsoft.com/office/drawing/2014/main" id="{CC620DB8-CF2E-47A0-837F-8CEECF7AD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chemeClr val="tx2"/>
                </a:solidFill>
                <a:latin typeface="Tahoma" panose="020B0604030504040204" pitchFamily="34" charset="0"/>
                <a:ea typeface="幼圆" panose="02010509060101010101" pitchFamily="49" charset="-122"/>
              </a:rPr>
              <a:t>一、利用</a:t>
            </a:r>
            <a:r>
              <a:rPr lang="en-US" altLang="zh-CN" sz="3600" b="1">
                <a:solidFill>
                  <a:schemeClr val="tx2"/>
                </a:solidFill>
                <a:latin typeface="Tahoma" panose="020B0604030504040204" pitchFamily="34" charset="0"/>
                <a:ea typeface="幼圆" panose="02010509060101010101" pitchFamily="49" charset="-122"/>
              </a:rPr>
              <a:t>T-SQL</a:t>
            </a:r>
            <a:r>
              <a:rPr lang="zh-CN" altLang="en-US" sz="3600" b="1">
                <a:solidFill>
                  <a:schemeClr val="tx2"/>
                </a:solidFill>
                <a:latin typeface="Tahoma" panose="020B0604030504040204" pitchFamily="34" charset="0"/>
                <a:ea typeface="幼圆" panose="02010509060101010101" pitchFamily="49" charset="-122"/>
              </a:rPr>
              <a:t>语句创建数据库 </a:t>
            </a:r>
          </a:p>
        </p:txBody>
      </p:sp>
      <p:sp>
        <p:nvSpPr>
          <p:cNvPr id="958469" name="Rectangle 5">
            <a:extLst>
              <a:ext uri="{FF2B5EF4-FFF2-40B4-BE49-F238E27FC236}">
                <a16:creationId xmlns:a16="http://schemas.microsoft.com/office/drawing/2014/main" id="{3BE2E2CD-0B18-4541-9A9A-9B197BC06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1171575"/>
            <a:ext cx="8424863" cy="81756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800" b="1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ahoma" panose="020B0604030504040204" pitchFamily="34" charset="0"/>
              </a:rPr>
              <a:t>          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语句格式：</a:t>
            </a:r>
            <a:r>
              <a:rPr lang="zh-CN" altLang="en-US" sz="2800" b="1">
                <a:latin typeface="Tahoma" panose="020B0604030504040204" pitchFamily="34" charset="0"/>
              </a:rPr>
              <a:t> </a:t>
            </a:r>
            <a:endParaRPr lang="zh-CN" altLang="en-US" sz="2700" b="1">
              <a:latin typeface="Tahoma" panose="020B0604030504040204" pitchFamily="34" charset="0"/>
            </a:endParaRPr>
          </a:p>
        </p:txBody>
      </p:sp>
      <p:sp>
        <p:nvSpPr>
          <p:cNvPr id="64516" name="Text Box 6">
            <a:extLst>
              <a:ext uri="{FF2B5EF4-FFF2-40B4-BE49-F238E27FC236}">
                <a16:creationId xmlns:a16="http://schemas.microsoft.com/office/drawing/2014/main" id="{375F012A-18F1-4609-A625-417CFAC01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133600"/>
            <a:ext cx="7920037" cy="39401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7602AA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400"/>
              <a:t> </a:t>
            </a:r>
            <a:r>
              <a:rPr lang="en-US" altLang="zh-CN" sz="2800" b="1">
                <a:solidFill>
                  <a:srgbClr val="0000FF"/>
                </a:solidFill>
              </a:rPr>
              <a:t>CREATE DATABASE</a:t>
            </a:r>
            <a:r>
              <a:rPr lang="en-US" altLang="zh-CN" sz="2800" b="1"/>
              <a:t> &lt;</a:t>
            </a:r>
            <a:r>
              <a:rPr lang="zh-CN" altLang="en-US" sz="2800" b="1"/>
              <a:t>新数据库名</a:t>
            </a:r>
            <a:r>
              <a:rPr lang="en-US" altLang="zh-CN" sz="2800" b="1"/>
              <a:t>&gt;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/>
              <a:t>      [</a:t>
            </a:r>
            <a:r>
              <a:rPr lang="en-US" altLang="zh-CN" sz="2800" b="1">
                <a:solidFill>
                  <a:srgbClr val="0000FF"/>
                </a:solidFill>
              </a:rPr>
              <a:t>ON</a:t>
            </a:r>
            <a:r>
              <a:rPr lang="en-US" altLang="zh-CN" sz="2800" b="1"/>
              <a:t> [PRIMARY][&lt;</a:t>
            </a:r>
            <a:r>
              <a:rPr lang="zh-CN" altLang="en-US" sz="2800" b="1"/>
              <a:t>数据文件描述项</a:t>
            </a:r>
            <a:r>
              <a:rPr lang="en-US" altLang="zh-CN" sz="2800" b="1"/>
              <a:t>&gt;[, … n]]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/>
              <a:t>                                         [, &lt;</a:t>
            </a:r>
            <a:r>
              <a:rPr lang="zh-CN" altLang="en-US" sz="2800" b="1"/>
              <a:t>文件组项</a:t>
            </a:r>
            <a:r>
              <a:rPr lang="en-US" altLang="zh-CN" sz="2800" b="1"/>
              <a:t>&gt;[, … n]]]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/>
              <a:t>      [</a:t>
            </a:r>
            <a:r>
              <a:rPr lang="en-US" altLang="zh-CN" sz="2800" b="1">
                <a:solidFill>
                  <a:srgbClr val="0000FF"/>
                </a:solidFill>
              </a:rPr>
              <a:t>LOG ON</a:t>
            </a:r>
            <a:r>
              <a:rPr lang="en-US" altLang="zh-CN" sz="2800" b="1"/>
              <a:t> {&lt;</a:t>
            </a:r>
            <a:r>
              <a:rPr lang="zh-CN" altLang="en-US" sz="2800" b="1"/>
              <a:t>日志文件描述项</a:t>
            </a:r>
            <a:r>
              <a:rPr lang="en-US" altLang="zh-CN" sz="2800" b="1"/>
              <a:t>&gt;[, … n]}]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/>
              <a:t>      [COLLATE &lt;collation_name&gt;]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/>
              <a:t>      [WITH &lt;</a:t>
            </a:r>
            <a:r>
              <a:rPr lang="zh-CN" altLang="en-US" sz="2800" b="1"/>
              <a:t>外部访问选项</a:t>
            </a:r>
            <a:r>
              <a:rPr lang="en-US" altLang="zh-CN" sz="2800" b="1"/>
              <a:t>&gt;]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181"/>
    </mc:Choice>
    <mc:Fallback xmlns="">
      <p:transition spd="slow" advTm="3818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68" name="Rectangle 4">
            <a:extLst>
              <a:ext uri="{FF2B5EF4-FFF2-40B4-BE49-F238E27FC236}">
                <a16:creationId xmlns:a16="http://schemas.microsoft.com/office/drawing/2014/main" id="{95DA7D13-7E58-4B92-8D32-F463CCD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chemeClr val="tx2"/>
                </a:solidFill>
                <a:latin typeface="Tahoma" panose="020B0604030504040204" pitchFamily="34" charset="0"/>
                <a:ea typeface="幼圆" panose="02010509060101010101" pitchFamily="49" charset="-122"/>
              </a:rPr>
              <a:t>一、利用</a:t>
            </a:r>
            <a:r>
              <a:rPr lang="en-US" altLang="zh-CN" sz="3600" b="1">
                <a:solidFill>
                  <a:schemeClr val="tx2"/>
                </a:solidFill>
                <a:latin typeface="Tahoma" panose="020B0604030504040204" pitchFamily="34" charset="0"/>
                <a:ea typeface="幼圆" panose="02010509060101010101" pitchFamily="49" charset="-122"/>
              </a:rPr>
              <a:t>T-SQL</a:t>
            </a:r>
            <a:r>
              <a:rPr lang="zh-CN" altLang="en-US" sz="3600" b="1">
                <a:solidFill>
                  <a:schemeClr val="tx2"/>
                </a:solidFill>
                <a:latin typeface="Tahoma" panose="020B0604030504040204" pitchFamily="34" charset="0"/>
                <a:ea typeface="幼圆" panose="02010509060101010101" pitchFamily="49" charset="-122"/>
              </a:rPr>
              <a:t>语句创建数据库 </a:t>
            </a:r>
          </a:p>
        </p:txBody>
      </p:sp>
      <p:sp>
        <p:nvSpPr>
          <p:cNvPr id="958469" name="Rectangle 5">
            <a:extLst>
              <a:ext uri="{FF2B5EF4-FFF2-40B4-BE49-F238E27FC236}">
                <a16:creationId xmlns:a16="http://schemas.microsoft.com/office/drawing/2014/main" id="{C7232A50-1332-4207-A141-A592DA4BF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71575"/>
            <a:ext cx="8424863" cy="81756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800" b="1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数据文件描述项和日志文件描述项的语法格式为：</a:t>
            </a:r>
            <a:endParaRPr lang="zh-CN" altLang="en-US" sz="2800" b="1">
              <a:latin typeface="Tahoma" panose="020B0604030504040204" pitchFamily="34" charset="0"/>
            </a:endParaRPr>
          </a:p>
        </p:txBody>
      </p:sp>
      <p:sp>
        <p:nvSpPr>
          <p:cNvPr id="140292" name="Text Box 6">
            <a:extLst>
              <a:ext uri="{FF2B5EF4-FFF2-40B4-BE49-F238E27FC236}">
                <a16:creationId xmlns:a16="http://schemas.microsoft.com/office/drawing/2014/main" id="{4D17C418-4C7B-4C80-8597-8476802C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133600"/>
            <a:ext cx="7920037" cy="38258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7602AA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400"/>
              <a:t> </a:t>
            </a:r>
            <a:r>
              <a:rPr lang="en-US" altLang="zh-CN" sz="2800" b="1"/>
              <a:t>(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800" b="1"/>
              <a:t>         NAME = &lt;</a:t>
            </a:r>
            <a:r>
              <a:rPr lang="zh-CN" altLang="en-US" sz="2800" b="1"/>
              <a:t>逻辑文件名</a:t>
            </a:r>
            <a:r>
              <a:rPr lang="en-US" altLang="zh-CN" sz="2800" b="1"/>
              <a:t>&gt;,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800" b="1"/>
              <a:t>         FILENAME = &lt;</a:t>
            </a:r>
            <a:r>
              <a:rPr lang="zh-CN" altLang="en-US" sz="2800" b="1"/>
              <a:t>文件路径及名称</a:t>
            </a:r>
            <a:r>
              <a:rPr lang="en-US" altLang="zh-CN" sz="2800" b="1"/>
              <a:t>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800" b="1"/>
              <a:t>         [, SIZE = &lt;</a:t>
            </a:r>
            <a:r>
              <a:rPr lang="zh-CN" altLang="en-US" sz="2800" b="1"/>
              <a:t>文件大小</a:t>
            </a:r>
            <a:r>
              <a:rPr lang="en-US" altLang="zh-CN" sz="2800" b="1"/>
              <a:t>&gt; ]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800" b="1"/>
              <a:t>         [, MAXSIZE = </a:t>
            </a:r>
            <a:r>
              <a:rPr lang="en-US" altLang="zh-CN" sz="2600" b="1"/>
              <a:t>{&lt;</a:t>
            </a:r>
            <a:r>
              <a:rPr lang="zh-CN" altLang="en-US" sz="2600" b="1"/>
              <a:t>最大文件大小</a:t>
            </a:r>
            <a:r>
              <a:rPr lang="en-US" altLang="zh-CN" sz="2600" b="1"/>
              <a:t>&gt;|UNLIMITED}]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800" b="1"/>
              <a:t>         [, FILEGROWTH</a:t>
            </a:r>
            <a:r>
              <a:rPr lang="en-US" altLang="zh-CN" b="1"/>
              <a:t> </a:t>
            </a:r>
            <a:r>
              <a:rPr lang="en-US" altLang="zh-CN" sz="2800" b="1"/>
              <a:t>= &lt;</a:t>
            </a:r>
            <a:r>
              <a:rPr lang="zh-CN" altLang="en-US" sz="2800" b="1"/>
              <a:t>增长增量</a:t>
            </a:r>
            <a:r>
              <a:rPr lang="en-US" altLang="zh-CN" sz="2800" b="1"/>
              <a:t>&gt;]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800" b="1"/>
              <a:t> )</a:t>
            </a:r>
          </a:p>
        </p:txBody>
      </p:sp>
      <p:sp>
        <p:nvSpPr>
          <p:cNvPr id="140296" name="Rectangle 8">
            <a:extLst>
              <a:ext uri="{FF2B5EF4-FFF2-40B4-BE49-F238E27FC236}">
                <a16:creationId xmlns:a16="http://schemas.microsoft.com/office/drawing/2014/main" id="{FF9E8BC9-36A9-4567-83C2-89CA01B5E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781300"/>
            <a:ext cx="1727200" cy="433388"/>
          </a:xfrm>
          <a:prstGeom prst="rect">
            <a:avLst/>
          </a:prstGeom>
          <a:noFill/>
          <a:ln w="38100" cap="sq">
            <a:solidFill>
              <a:srgbClr val="80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944135" name="AutoShape 7">
            <a:extLst>
              <a:ext uri="{FF2B5EF4-FFF2-40B4-BE49-F238E27FC236}">
                <a16:creationId xmlns:a16="http://schemas.microsoft.com/office/drawing/2014/main" id="{B06E95A6-8C9D-44E0-BEA2-54091F55E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133600"/>
            <a:ext cx="3024188" cy="1155700"/>
          </a:xfrm>
          <a:prstGeom prst="wedgeRoundRectCallout">
            <a:avLst>
              <a:gd name="adj1" fmla="val -73727"/>
              <a:gd name="adj2" fmla="val 15796"/>
              <a:gd name="adj3" fmla="val 16667"/>
            </a:avLst>
          </a:prstGeom>
          <a:solidFill>
            <a:srgbClr val="FFE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kumimoji="1" lang="zh-CN" altLang="en-US" sz="2400" b="1"/>
              <a:t>数据库在</a:t>
            </a:r>
            <a:r>
              <a:rPr kumimoji="1" lang="en-US" altLang="zh-CN" sz="2400" b="1"/>
              <a:t>SQL Server</a:t>
            </a:r>
            <a:r>
              <a:rPr kumimoji="1" lang="zh-CN" altLang="en-US" sz="2400" b="1"/>
              <a:t>中的标识符</a:t>
            </a:r>
            <a:r>
              <a:rPr kumimoji="1" lang="zh-CN" altLang="en-US" sz="2400"/>
              <a:t> </a:t>
            </a:r>
            <a:r>
              <a:rPr kumimoji="1" lang="zh-CN" altLang="en-US" sz="2400" b="1"/>
              <a:t>。</a:t>
            </a:r>
            <a:r>
              <a:rPr kumimoji="1" lang="zh-CN" altLang="en-US" sz="2400"/>
              <a:t> </a:t>
            </a:r>
          </a:p>
        </p:txBody>
      </p:sp>
      <p:sp>
        <p:nvSpPr>
          <p:cNvPr id="140298" name="Rectangle 10">
            <a:extLst>
              <a:ext uri="{FF2B5EF4-FFF2-40B4-BE49-F238E27FC236}">
                <a16:creationId xmlns:a16="http://schemas.microsoft.com/office/drawing/2014/main" id="{47622898-31B1-4DCB-B78E-FC8A8C234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3357563"/>
            <a:ext cx="2449513" cy="433387"/>
          </a:xfrm>
          <a:prstGeom prst="rect">
            <a:avLst/>
          </a:prstGeom>
          <a:noFill/>
          <a:ln w="38100" cap="sq">
            <a:solidFill>
              <a:srgbClr val="80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2" name="AutoShape 7">
            <a:extLst>
              <a:ext uri="{FF2B5EF4-FFF2-40B4-BE49-F238E27FC236}">
                <a16:creationId xmlns:a16="http://schemas.microsoft.com/office/drawing/2014/main" id="{7AF5B47B-A06D-497A-B1B3-FFAD7652F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4005263"/>
            <a:ext cx="2844800" cy="1295400"/>
          </a:xfrm>
          <a:prstGeom prst="wedgeRoundRectCallout">
            <a:avLst>
              <a:gd name="adj1" fmla="val -62722"/>
              <a:gd name="adj2" fmla="val -61889"/>
              <a:gd name="adj3" fmla="val 16667"/>
            </a:avLst>
          </a:prstGeom>
          <a:solidFill>
            <a:srgbClr val="FFE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kumimoji="1" lang="zh-CN" altLang="en-US" sz="2400" b="1"/>
              <a:t>指操作系统在创建物理文件时使用的路径和文件名</a:t>
            </a:r>
            <a:r>
              <a:rPr kumimoji="1" lang="zh-CN" altLang="en-US" sz="2400"/>
              <a:t> </a:t>
            </a:r>
            <a:r>
              <a:rPr kumimoji="1" lang="zh-CN" altLang="en-US" sz="2400" b="1"/>
              <a:t>。</a:t>
            </a:r>
            <a:r>
              <a:rPr kumimoji="1" lang="zh-CN" altLang="en-US" sz="2400"/>
              <a:t> </a:t>
            </a:r>
          </a:p>
        </p:txBody>
      </p:sp>
      <p:sp>
        <p:nvSpPr>
          <p:cNvPr id="140300" name="Rectangle 12">
            <a:extLst>
              <a:ext uri="{FF2B5EF4-FFF2-40B4-BE49-F238E27FC236}">
                <a16:creationId xmlns:a16="http://schemas.microsoft.com/office/drawing/2014/main" id="{25933265-A05D-4B0A-AAE4-457A86971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860800"/>
            <a:ext cx="1511300" cy="433388"/>
          </a:xfrm>
          <a:prstGeom prst="rect">
            <a:avLst/>
          </a:prstGeom>
          <a:noFill/>
          <a:ln w="38100" cap="sq">
            <a:solidFill>
              <a:srgbClr val="80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3" name="AutoShape 7">
            <a:extLst>
              <a:ext uri="{FF2B5EF4-FFF2-40B4-BE49-F238E27FC236}">
                <a16:creationId xmlns:a16="http://schemas.microsoft.com/office/drawing/2014/main" id="{74E96863-FC75-4421-9B3C-09B503847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3933825"/>
            <a:ext cx="2844800" cy="935038"/>
          </a:xfrm>
          <a:prstGeom prst="wedgeRoundRectCallout">
            <a:avLst>
              <a:gd name="adj1" fmla="val -73440"/>
              <a:gd name="adj2" fmla="val -44736"/>
              <a:gd name="adj3" fmla="val 16667"/>
            </a:avLst>
          </a:prstGeom>
          <a:solidFill>
            <a:srgbClr val="FFE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kumimoji="1" lang="zh-CN" altLang="en-US" sz="2400" b="1"/>
              <a:t>指定数据库文件的初始容量大小。</a:t>
            </a:r>
            <a:r>
              <a:rPr kumimoji="1" lang="zh-CN" altLang="en-US" sz="2400"/>
              <a:t>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856"/>
    </mc:Choice>
    <mc:Fallback xmlns="">
      <p:transition spd="slow" advTm="368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94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500"/>
                                        <p:tgtEl>
                                          <p:spTgt spid="1402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500"/>
                                        <p:tgtEl>
                                          <p:spTgt spid="944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1402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7" dur="500"/>
                                        <p:tgtEl>
                                          <p:spTgt spid="140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6" grpId="0" animBg="1"/>
      <p:bldP spid="140296" grpId="1" animBg="1"/>
      <p:bldP spid="944135" grpId="0" animBg="1"/>
      <p:bldP spid="944135" grpId="1" animBg="1"/>
      <p:bldP spid="140298" grpId="0" animBg="1"/>
      <p:bldP spid="140298" grpId="1" animBg="1"/>
      <p:bldP spid="2" grpId="0" animBg="1"/>
      <p:bldP spid="2" grpId="1" animBg="1"/>
      <p:bldP spid="140300" grpId="0" animBg="1"/>
      <p:bldP spid="140300" grpId="1" animBg="1"/>
      <p:bldP spid="3" grpId="0" animBg="1"/>
      <p:bldP spid="3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68" name="Rectangle 4">
            <a:extLst>
              <a:ext uri="{FF2B5EF4-FFF2-40B4-BE49-F238E27FC236}">
                <a16:creationId xmlns:a16="http://schemas.microsoft.com/office/drawing/2014/main" id="{E419288C-77CB-4B7B-90CC-98083EFD4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chemeClr val="tx2"/>
                </a:solidFill>
                <a:latin typeface="Tahoma" panose="020B0604030504040204" pitchFamily="34" charset="0"/>
                <a:ea typeface="幼圆" panose="02010509060101010101" pitchFamily="49" charset="-122"/>
              </a:rPr>
              <a:t>一、利用</a:t>
            </a:r>
            <a:r>
              <a:rPr lang="en-US" altLang="zh-CN" sz="3600" b="1">
                <a:solidFill>
                  <a:schemeClr val="tx2"/>
                </a:solidFill>
                <a:latin typeface="Tahoma" panose="020B0604030504040204" pitchFamily="34" charset="0"/>
                <a:ea typeface="幼圆" panose="02010509060101010101" pitchFamily="49" charset="-122"/>
              </a:rPr>
              <a:t>T-SQL</a:t>
            </a:r>
            <a:r>
              <a:rPr lang="zh-CN" altLang="en-US" sz="3600" b="1">
                <a:solidFill>
                  <a:schemeClr val="tx2"/>
                </a:solidFill>
                <a:latin typeface="Tahoma" panose="020B0604030504040204" pitchFamily="34" charset="0"/>
                <a:ea typeface="幼圆" panose="02010509060101010101" pitchFamily="49" charset="-122"/>
              </a:rPr>
              <a:t>语句创建数据库 </a:t>
            </a:r>
          </a:p>
        </p:txBody>
      </p:sp>
      <p:sp>
        <p:nvSpPr>
          <p:cNvPr id="958469" name="Rectangle 5">
            <a:extLst>
              <a:ext uri="{FF2B5EF4-FFF2-40B4-BE49-F238E27FC236}">
                <a16:creationId xmlns:a16="http://schemas.microsoft.com/office/drawing/2014/main" id="{92C408DE-29AE-4B66-8374-3A2ADE9F2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71575"/>
            <a:ext cx="8424863" cy="81756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800" b="1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数据文件描述项和日志文件描述项的语法格式为：</a:t>
            </a:r>
            <a:endParaRPr lang="zh-CN" altLang="en-US" sz="2800" b="1">
              <a:latin typeface="Tahoma" panose="020B0604030504040204" pitchFamily="34" charset="0"/>
            </a:endParaRPr>
          </a:p>
        </p:txBody>
      </p:sp>
      <p:sp>
        <p:nvSpPr>
          <p:cNvPr id="141316" name="Text Box 6">
            <a:extLst>
              <a:ext uri="{FF2B5EF4-FFF2-40B4-BE49-F238E27FC236}">
                <a16:creationId xmlns:a16="http://schemas.microsoft.com/office/drawing/2014/main" id="{9C7D8AE1-9388-4E26-B963-710F1C016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133600"/>
            <a:ext cx="7920037" cy="36353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7602AA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400"/>
              <a:t> </a:t>
            </a:r>
            <a:r>
              <a:rPr lang="en-US" altLang="zh-CN" sz="2800" b="1"/>
              <a:t>(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800" b="1"/>
              <a:t>         NAME = &lt;</a:t>
            </a:r>
            <a:r>
              <a:rPr lang="zh-CN" altLang="en-US" sz="2800" b="1"/>
              <a:t>逻辑文件名</a:t>
            </a:r>
            <a:r>
              <a:rPr lang="en-US" altLang="zh-CN" sz="2800" b="1"/>
              <a:t>&gt;,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800" b="1"/>
              <a:t>         FILENAME = &lt;</a:t>
            </a:r>
            <a:r>
              <a:rPr lang="zh-CN" altLang="en-US" sz="2800" b="1"/>
              <a:t>文件路径及名称</a:t>
            </a:r>
            <a:r>
              <a:rPr lang="en-US" altLang="zh-CN" sz="2800" b="1"/>
              <a:t>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800" b="1"/>
              <a:t>         [, SIZE = &lt;</a:t>
            </a:r>
            <a:r>
              <a:rPr lang="zh-CN" altLang="en-US" sz="2800" b="1"/>
              <a:t>文件大小</a:t>
            </a:r>
            <a:r>
              <a:rPr lang="en-US" altLang="zh-CN" sz="2800" b="1"/>
              <a:t>&gt; ]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800" b="1"/>
              <a:t>         [, MAXSIZE = </a:t>
            </a:r>
            <a:r>
              <a:rPr lang="en-US" altLang="zh-CN" sz="2600" b="1"/>
              <a:t>{&lt;</a:t>
            </a:r>
            <a:r>
              <a:rPr lang="zh-CN" altLang="en-US" sz="2600" b="1"/>
              <a:t>最大文件大小</a:t>
            </a:r>
            <a:r>
              <a:rPr lang="en-US" altLang="zh-CN" sz="2600" b="1"/>
              <a:t>&gt;|UNLIMITED}]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800" b="1"/>
              <a:t>         [, FILEGROWTH</a:t>
            </a:r>
            <a:r>
              <a:rPr lang="en-US" altLang="zh-CN" b="1"/>
              <a:t> </a:t>
            </a:r>
            <a:r>
              <a:rPr lang="en-US" altLang="zh-CN" sz="2800" b="1"/>
              <a:t>= &lt;</a:t>
            </a:r>
            <a:r>
              <a:rPr lang="zh-CN" altLang="en-US" sz="2800" b="1"/>
              <a:t>增长增量</a:t>
            </a:r>
            <a:r>
              <a:rPr lang="en-US" altLang="zh-CN" sz="2800" b="1"/>
              <a:t>&gt;]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b="1"/>
              <a:t>        )</a:t>
            </a:r>
          </a:p>
        </p:txBody>
      </p:sp>
      <p:sp>
        <p:nvSpPr>
          <p:cNvPr id="944135" name="AutoShape 7">
            <a:extLst>
              <a:ext uri="{FF2B5EF4-FFF2-40B4-BE49-F238E27FC236}">
                <a16:creationId xmlns:a16="http://schemas.microsoft.com/office/drawing/2014/main" id="{C8D387BC-EDE4-4F34-B8E1-3965AADFA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3141663"/>
            <a:ext cx="2844800" cy="935037"/>
          </a:xfrm>
          <a:prstGeom prst="wedgeRoundRectCallout">
            <a:avLst>
              <a:gd name="adj1" fmla="val -50222"/>
              <a:gd name="adj2" fmla="val 92444"/>
              <a:gd name="adj3" fmla="val 16667"/>
            </a:avLst>
          </a:prstGeom>
          <a:solidFill>
            <a:srgbClr val="FFE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kumimoji="1" lang="zh-CN" altLang="en-US" sz="2400" b="1"/>
              <a:t>指定文件可以增长到的最大容量 。 </a:t>
            </a:r>
          </a:p>
        </p:txBody>
      </p:sp>
      <p:sp>
        <p:nvSpPr>
          <p:cNvPr id="141323" name="Rectangle 11">
            <a:extLst>
              <a:ext uri="{FF2B5EF4-FFF2-40B4-BE49-F238E27FC236}">
                <a16:creationId xmlns:a16="http://schemas.microsoft.com/office/drawing/2014/main" id="{B3F22A36-0DFC-4851-8AD5-A83D7C57B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437063"/>
            <a:ext cx="2016125" cy="433387"/>
          </a:xfrm>
          <a:prstGeom prst="rect">
            <a:avLst/>
          </a:prstGeom>
          <a:noFill/>
          <a:ln w="38100" cap="sq">
            <a:solidFill>
              <a:srgbClr val="80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141324" name="Rectangle 12">
            <a:extLst>
              <a:ext uri="{FF2B5EF4-FFF2-40B4-BE49-F238E27FC236}">
                <a16:creationId xmlns:a16="http://schemas.microsoft.com/office/drawing/2014/main" id="{02642256-DCAF-40CB-B3EF-E878E1114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4365625"/>
            <a:ext cx="1800225" cy="433388"/>
          </a:xfrm>
          <a:prstGeom prst="rect">
            <a:avLst/>
          </a:prstGeom>
          <a:noFill/>
          <a:ln w="38100" cap="sq">
            <a:solidFill>
              <a:srgbClr val="80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2" name="AutoShape 7">
            <a:extLst>
              <a:ext uri="{FF2B5EF4-FFF2-40B4-BE49-F238E27FC236}">
                <a16:creationId xmlns:a16="http://schemas.microsoft.com/office/drawing/2014/main" id="{BF1FC83D-063C-414B-9ED4-C577F395E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3141663"/>
            <a:ext cx="2844800" cy="862012"/>
          </a:xfrm>
          <a:prstGeom prst="wedgeRoundRectCallout">
            <a:avLst>
              <a:gd name="adj1" fmla="val -19421"/>
              <a:gd name="adj2" fmla="val 93093"/>
              <a:gd name="adj3" fmla="val 16667"/>
            </a:avLst>
          </a:prstGeom>
          <a:solidFill>
            <a:srgbClr val="FFE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kumimoji="1" lang="zh-CN" altLang="en-US" sz="2400" b="1"/>
              <a:t>文件可以不断增长直到充满磁盘。</a:t>
            </a:r>
          </a:p>
        </p:txBody>
      </p:sp>
      <p:sp>
        <p:nvSpPr>
          <p:cNvPr id="141326" name="Rectangle 14">
            <a:extLst>
              <a:ext uri="{FF2B5EF4-FFF2-40B4-BE49-F238E27FC236}">
                <a16:creationId xmlns:a16="http://schemas.microsoft.com/office/drawing/2014/main" id="{A5E9BEAE-9B13-441A-9118-27DC3811B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4941888"/>
            <a:ext cx="1657350" cy="433387"/>
          </a:xfrm>
          <a:prstGeom prst="rect">
            <a:avLst/>
          </a:prstGeom>
          <a:noFill/>
          <a:ln w="38100" cap="sq">
            <a:solidFill>
              <a:srgbClr val="80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3" name="AutoShape 7">
            <a:extLst>
              <a:ext uri="{FF2B5EF4-FFF2-40B4-BE49-F238E27FC236}">
                <a16:creationId xmlns:a16="http://schemas.microsoft.com/office/drawing/2014/main" id="{CFF6FD6F-6957-437A-8302-D6261BF8A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5589588"/>
            <a:ext cx="3240088" cy="1008062"/>
          </a:xfrm>
          <a:prstGeom prst="wedgeRoundRectCallout">
            <a:avLst>
              <a:gd name="adj1" fmla="val -34861"/>
              <a:gd name="adj2" fmla="val -65435"/>
              <a:gd name="adj3" fmla="val 16667"/>
            </a:avLst>
          </a:prstGeom>
          <a:solidFill>
            <a:srgbClr val="FFE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kumimoji="1" lang="zh-CN" altLang="en-US" sz="2400" b="1"/>
              <a:t>指定数据库文件每次增加容量的大</a:t>
            </a:r>
            <a:r>
              <a:rPr kumimoji="1" lang="zh-CN" altLang="en-US" sz="2400"/>
              <a:t>小</a:t>
            </a:r>
            <a:r>
              <a:rPr kumimoji="1" lang="zh-CN" altLang="en-US" sz="2400" b="1"/>
              <a:t>。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919"/>
    </mc:Choice>
    <mc:Fallback xmlns="">
      <p:transition spd="slow" advTm="319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94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500"/>
                                        <p:tgtEl>
                                          <p:spTgt spid="1413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500"/>
                                        <p:tgtEl>
                                          <p:spTgt spid="944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1413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4135" grpId="0" animBg="1"/>
      <p:bldP spid="944135" grpId="1" animBg="1"/>
      <p:bldP spid="141323" grpId="1" animBg="1"/>
      <p:bldP spid="141323" grpId="2" animBg="1"/>
      <p:bldP spid="141324" grpId="0" animBg="1"/>
      <p:bldP spid="141324" grpId="1" animBg="1"/>
      <p:bldP spid="2" grpId="0" animBg="1"/>
      <p:bldP spid="2" grpId="1" animBg="1"/>
      <p:bldP spid="141326" grpId="0" animBg="1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543" name="Rectangle 7">
            <a:extLst>
              <a:ext uri="{FF2B5EF4-FFF2-40B4-BE49-F238E27FC236}">
                <a16:creationId xmlns:a16="http://schemas.microsoft.com/office/drawing/2014/main" id="{263A7340-BFF7-4E08-B815-F967349DE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76250"/>
            <a:ext cx="8496300" cy="532765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800" b="1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7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7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11.</a:t>
            </a:r>
            <a:r>
              <a:rPr lang="en-US" altLang="zh-CN" sz="27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700" b="1">
                <a:latin typeface="楷体_GB2312" pitchFamily="49" charset="-122"/>
              </a:rPr>
              <a:t>创建大学教学管理数据库，数据库名为</a:t>
            </a:r>
            <a:r>
              <a:rPr lang="en-US" altLang="zh-CN" sz="2700" b="1">
                <a:latin typeface="楷体_GB2312" pitchFamily="49" charset="-122"/>
              </a:rPr>
              <a:t>JXGL</a:t>
            </a:r>
            <a:r>
              <a:rPr lang="zh-CN" altLang="en-US" sz="2700" b="1">
                <a:latin typeface="楷体_GB2312" pitchFamily="49" charset="-122"/>
              </a:rPr>
              <a:t>。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700" b="1">
                <a:latin typeface="楷体_GB2312" pitchFamily="49" charset="-122"/>
              </a:rPr>
              <a:t>    该数据库包含一个数据文件和一个事务日志文件。</a:t>
            </a:r>
            <a:r>
              <a:rPr lang="zh-CN" altLang="en-US" sz="2700" b="1">
                <a:solidFill>
                  <a:srgbClr val="006666"/>
                </a:solidFill>
                <a:latin typeface="楷体_GB2312" pitchFamily="49" charset="-122"/>
              </a:rPr>
              <a:t>其中：</a:t>
            </a:r>
            <a:r>
              <a:rPr lang="zh-CN" altLang="en-US" sz="2700" b="1">
                <a:solidFill>
                  <a:srgbClr val="003366"/>
                </a:solidFill>
                <a:latin typeface="楷体_GB2312" pitchFamily="49" charset="-122"/>
              </a:rPr>
              <a:t>主数据库文件</a:t>
            </a:r>
            <a:r>
              <a:rPr lang="zh-CN" altLang="en-US" sz="2700" b="1">
                <a:latin typeface="楷体_GB2312" pitchFamily="49" charset="-122"/>
              </a:rPr>
              <a:t>逻辑名称为</a:t>
            </a:r>
            <a:r>
              <a:rPr lang="en-US" altLang="zh-CN" sz="2700" b="1">
                <a:latin typeface="楷体_GB2312" pitchFamily="49" charset="-122"/>
              </a:rPr>
              <a:t>JXGL_ data</a:t>
            </a:r>
            <a:r>
              <a:rPr lang="zh-CN" altLang="en-US" sz="2700" b="1">
                <a:latin typeface="楷体_GB2312" pitchFamily="49" charset="-122"/>
              </a:rPr>
              <a:t>，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700" b="1">
                <a:latin typeface="楷体_GB2312" pitchFamily="49" charset="-122"/>
              </a:rPr>
              <a:t>      </a:t>
            </a:r>
            <a:r>
              <a:rPr lang="zh-CN" altLang="en-US" sz="2700" b="1">
                <a:solidFill>
                  <a:srgbClr val="003366"/>
                </a:solidFill>
                <a:latin typeface="楷体_GB2312" pitchFamily="49" charset="-122"/>
              </a:rPr>
              <a:t>数据文件的操作系统文件</a:t>
            </a:r>
            <a:r>
              <a:rPr lang="zh-CN" altLang="en-US" sz="2700" b="1">
                <a:latin typeface="楷体_GB2312" pitchFamily="49" charset="-122"/>
              </a:rPr>
              <a:t>名称为</a:t>
            </a:r>
            <a:r>
              <a:rPr lang="en-US" altLang="zh-CN" sz="2700" b="1">
                <a:latin typeface="楷体_GB2312" pitchFamily="49" charset="-122"/>
              </a:rPr>
              <a:t>JXGL.mdf</a:t>
            </a:r>
            <a:r>
              <a:rPr lang="zh-CN" altLang="en-US" sz="2700" b="1">
                <a:latin typeface="楷体_GB2312" pitchFamily="49" charset="-122"/>
              </a:rPr>
              <a:t>，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700" b="1">
                <a:latin typeface="楷体_GB2312" pitchFamily="49" charset="-122"/>
              </a:rPr>
              <a:t>      </a:t>
            </a:r>
            <a:r>
              <a:rPr lang="zh-CN" altLang="en-US" sz="2700" b="1">
                <a:solidFill>
                  <a:srgbClr val="003366"/>
                </a:solidFill>
                <a:latin typeface="楷体_GB2312" pitchFamily="49" charset="-122"/>
              </a:rPr>
              <a:t>数据文件</a:t>
            </a:r>
            <a:r>
              <a:rPr lang="zh-CN" altLang="en-US" sz="2700" b="1">
                <a:latin typeface="楷体_GB2312" pitchFamily="49" charset="-122"/>
              </a:rPr>
              <a:t>初始大小为</a:t>
            </a:r>
            <a:r>
              <a:rPr lang="en-US" altLang="zh-CN" sz="2700" b="1">
                <a:latin typeface="楷体_GB2312" pitchFamily="49" charset="-122"/>
              </a:rPr>
              <a:t>5 MB</a:t>
            </a:r>
            <a:r>
              <a:rPr lang="zh-CN" altLang="en-US" sz="2700" b="1">
                <a:latin typeface="楷体_GB2312" pitchFamily="49" charset="-122"/>
              </a:rPr>
              <a:t>，数据文件大小最大值为</a:t>
            </a:r>
            <a:r>
              <a:rPr lang="en-US" altLang="zh-CN" sz="2700" b="1">
                <a:latin typeface="楷体_GB2312" pitchFamily="49" charset="-122"/>
              </a:rPr>
              <a:t>200 MB</a:t>
            </a:r>
            <a:r>
              <a:rPr lang="zh-CN" altLang="en-US" sz="2700" b="1">
                <a:latin typeface="楷体_GB2312" pitchFamily="49" charset="-122"/>
              </a:rPr>
              <a:t>，数据文件大小以</a:t>
            </a:r>
            <a:r>
              <a:rPr lang="en-US" altLang="zh-CN" sz="2700" b="1">
                <a:latin typeface="楷体_GB2312" pitchFamily="49" charset="-122"/>
              </a:rPr>
              <a:t>5%</a:t>
            </a:r>
            <a:r>
              <a:rPr lang="zh-CN" altLang="en-US" sz="2700" b="1">
                <a:latin typeface="楷体_GB2312" pitchFamily="49" charset="-122"/>
              </a:rPr>
              <a:t>的增量增加。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700" b="1">
                <a:latin typeface="楷体_GB2312" pitchFamily="49" charset="-122"/>
              </a:rPr>
              <a:t>      </a:t>
            </a:r>
            <a:r>
              <a:rPr lang="zh-CN" altLang="en-US" sz="2700" b="1">
                <a:solidFill>
                  <a:srgbClr val="003366"/>
                </a:solidFill>
                <a:latin typeface="楷体_GB2312" pitchFamily="49" charset="-122"/>
              </a:rPr>
              <a:t>日志逻辑文件</a:t>
            </a:r>
            <a:r>
              <a:rPr lang="zh-CN" altLang="en-US" sz="2700" b="1">
                <a:latin typeface="楷体_GB2312" pitchFamily="49" charset="-122"/>
              </a:rPr>
              <a:t>名称为</a:t>
            </a:r>
            <a:r>
              <a:rPr lang="en-US" altLang="zh-CN" sz="2700" b="1">
                <a:latin typeface="楷体_GB2312" pitchFamily="49" charset="-122"/>
              </a:rPr>
              <a:t>JXGL_log</a:t>
            </a:r>
            <a:r>
              <a:rPr lang="zh-CN" altLang="en-US" sz="2700" b="1">
                <a:latin typeface="楷体_GB2312" pitchFamily="49" charset="-122"/>
              </a:rPr>
              <a:t>，事务日志的操作系统文件名称为</a:t>
            </a:r>
            <a:r>
              <a:rPr lang="en-US" altLang="zh-CN" sz="2700" b="1">
                <a:latin typeface="楷体_GB2312" pitchFamily="49" charset="-122"/>
              </a:rPr>
              <a:t>JXGL.ldf</a:t>
            </a:r>
            <a:r>
              <a:rPr lang="zh-CN" altLang="en-US" sz="2700" b="1">
                <a:latin typeface="楷体_GB2312" pitchFamily="49" charset="-122"/>
              </a:rPr>
              <a:t>，日志文件初始大小为</a:t>
            </a:r>
            <a:r>
              <a:rPr lang="en-US" altLang="zh-CN" sz="2700" b="1">
                <a:latin typeface="楷体_GB2312" pitchFamily="49" charset="-122"/>
              </a:rPr>
              <a:t>5 MB</a:t>
            </a:r>
            <a:r>
              <a:rPr lang="zh-CN" altLang="en-US" sz="2700" b="1">
                <a:latin typeface="楷体_GB2312" pitchFamily="49" charset="-122"/>
              </a:rPr>
              <a:t>，可按</a:t>
            </a:r>
            <a:r>
              <a:rPr lang="en-US" altLang="zh-CN" sz="2700" b="1">
                <a:latin typeface="楷体_GB2312" pitchFamily="49" charset="-122"/>
              </a:rPr>
              <a:t>2 MB</a:t>
            </a:r>
            <a:r>
              <a:rPr lang="zh-CN" altLang="en-US" sz="2700" b="1">
                <a:latin typeface="楷体_GB2312" pitchFamily="49" charset="-122"/>
              </a:rPr>
              <a:t>增量增加，最大值为</a:t>
            </a:r>
            <a:r>
              <a:rPr lang="en-US" altLang="zh-CN" sz="2700" b="1">
                <a:latin typeface="楷体_GB2312" pitchFamily="49" charset="-122"/>
              </a:rPr>
              <a:t>50 MB</a:t>
            </a:r>
            <a:r>
              <a:rPr lang="zh-CN" altLang="en-US" sz="2700" b="1">
                <a:latin typeface="楷体_GB2312" pitchFamily="49" charset="-122"/>
              </a:rPr>
              <a:t>。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367"/>
    </mc:Choice>
    <mc:Fallback xmlns="">
      <p:transition spd="slow" advTm="65367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4">
            <a:extLst>
              <a:ext uri="{FF2B5EF4-FFF2-40B4-BE49-F238E27FC236}">
                <a16:creationId xmlns:a16="http://schemas.microsoft.com/office/drawing/2014/main" id="{BB19D5A3-663A-4A40-8F7D-4EEF95887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71438"/>
            <a:ext cx="8748712" cy="1557337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66563" name="Text Box 5">
            <a:extLst>
              <a:ext uri="{FF2B5EF4-FFF2-40B4-BE49-F238E27FC236}">
                <a16:creationId xmlns:a16="http://schemas.microsoft.com/office/drawing/2014/main" id="{6EBF7883-8969-4AA6-893C-9E213FE65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166688"/>
            <a:ext cx="8856663" cy="6427787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b="1"/>
              <a:t>  </a:t>
            </a:r>
            <a:r>
              <a:rPr lang="en-US" altLang="zh-CN" b="1">
                <a:solidFill>
                  <a:srgbClr val="003366"/>
                </a:solidFill>
              </a:rPr>
              <a:t>USE master;              --</a:t>
            </a:r>
            <a:r>
              <a:rPr lang="zh-CN" altLang="en-US" b="1">
                <a:solidFill>
                  <a:srgbClr val="003366"/>
                </a:solidFill>
              </a:rPr>
              <a:t>打开</a:t>
            </a:r>
            <a:r>
              <a:rPr lang="en-US" altLang="zh-CN" b="1">
                <a:solidFill>
                  <a:srgbClr val="003366"/>
                </a:solidFill>
              </a:rPr>
              <a:t>master</a:t>
            </a:r>
            <a:r>
              <a:rPr lang="zh-CN" altLang="en-US" b="1">
                <a:solidFill>
                  <a:srgbClr val="003366"/>
                </a:solidFill>
              </a:rPr>
              <a:t>数据库</a:t>
            </a:r>
          </a:p>
          <a:p>
            <a:pPr eaLnBrk="1" hangingPunct="1"/>
            <a:r>
              <a:rPr lang="en-US" altLang="zh-CN" b="1">
                <a:solidFill>
                  <a:srgbClr val="003366"/>
                </a:solidFill>
              </a:rPr>
              <a:t>  GO</a:t>
            </a:r>
            <a:r>
              <a:rPr lang="en-US" altLang="zh-CN" b="1"/>
              <a:t> </a:t>
            </a:r>
          </a:p>
          <a:p>
            <a:pPr eaLnBrk="1" hangingPunct="1"/>
            <a:r>
              <a:rPr lang="en-US" altLang="zh-CN" b="1"/>
              <a:t>  </a:t>
            </a:r>
            <a:r>
              <a:rPr lang="en-US" altLang="zh-CN" b="1">
                <a:solidFill>
                  <a:srgbClr val="006666"/>
                </a:solidFill>
              </a:rPr>
              <a:t>--</a:t>
            </a:r>
            <a:r>
              <a:rPr lang="zh-CN" altLang="en-US" b="1">
                <a:solidFill>
                  <a:srgbClr val="006666"/>
                </a:solidFill>
              </a:rPr>
              <a:t>验证数据库</a:t>
            </a:r>
            <a:r>
              <a:rPr lang="en-US" altLang="zh-CN" b="1">
                <a:solidFill>
                  <a:srgbClr val="006666"/>
                </a:solidFill>
              </a:rPr>
              <a:t>JXGL</a:t>
            </a:r>
            <a:r>
              <a:rPr lang="zh-CN" altLang="en-US" b="1">
                <a:solidFill>
                  <a:srgbClr val="006666"/>
                </a:solidFill>
              </a:rPr>
              <a:t>是否存在，如果存在则删除</a:t>
            </a:r>
          </a:p>
          <a:p>
            <a:pPr eaLnBrk="1" hangingPunct="1"/>
            <a:r>
              <a:rPr lang="en-US" altLang="zh-CN" b="1">
                <a:solidFill>
                  <a:schemeClr val="accent2"/>
                </a:solidFill>
              </a:rPr>
              <a:t>  </a:t>
            </a:r>
            <a:r>
              <a:rPr lang="en-US" altLang="zh-CN" b="1"/>
              <a:t>IF DB_ID (N'JXGL') IS NOT NULL</a:t>
            </a:r>
          </a:p>
          <a:p>
            <a:pPr eaLnBrk="1" hangingPunct="1"/>
            <a:r>
              <a:rPr lang="en-US" altLang="zh-CN" b="1"/>
              <a:t>      DROP DATABASE JXGL;</a:t>
            </a:r>
          </a:p>
          <a:p>
            <a:pPr eaLnBrk="1" hangingPunct="1"/>
            <a:r>
              <a:rPr lang="en-US" altLang="zh-CN" b="1"/>
              <a:t>  GO</a:t>
            </a:r>
          </a:p>
          <a:p>
            <a:pPr eaLnBrk="1" hangingPunct="1"/>
            <a:r>
              <a:rPr lang="en-US" altLang="zh-CN" b="1"/>
              <a:t>  </a:t>
            </a:r>
            <a:r>
              <a:rPr lang="en-US" altLang="zh-CN" b="1">
                <a:solidFill>
                  <a:srgbClr val="003366"/>
                </a:solidFill>
              </a:rPr>
              <a:t>--</a:t>
            </a:r>
            <a:r>
              <a:rPr lang="en-US" altLang="zh-CN" b="1">
                <a:solidFill>
                  <a:srgbClr val="006666"/>
                </a:solidFill>
              </a:rPr>
              <a:t>SQL Server</a:t>
            </a:r>
            <a:r>
              <a:rPr lang="zh-CN" altLang="en-US" b="1">
                <a:solidFill>
                  <a:srgbClr val="006666"/>
                </a:solidFill>
              </a:rPr>
              <a:t>默认数据文件的位置</a:t>
            </a:r>
          </a:p>
          <a:p>
            <a:pPr eaLnBrk="1" hangingPunct="1"/>
            <a:r>
              <a:rPr lang="en-US" altLang="zh-CN" b="1">
                <a:solidFill>
                  <a:srgbClr val="003366"/>
                </a:solidFill>
              </a:rPr>
              <a:t>  DECLARE @data_path nvarchar(256);</a:t>
            </a:r>
          </a:p>
          <a:p>
            <a:pPr eaLnBrk="1" hangingPunct="1"/>
            <a:r>
              <a:rPr lang="en-US" altLang="zh-CN" b="1">
                <a:solidFill>
                  <a:srgbClr val="003366"/>
                </a:solidFill>
              </a:rPr>
              <a:t>  SET @data_path = (SELECT SUBSTRING(physical_name, 1, </a:t>
            </a:r>
          </a:p>
          <a:p>
            <a:pPr eaLnBrk="1" hangingPunct="1"/>
            <a:r>
              <a:rPr lang="en-US" altLang="zh-CN" b="1">
                <a:solidFill>
                  <a:srgbClr val="003366"/>
                </a:solidFill>
              </a:rPr>
              <a:t>                                       CHARINDEX(N'master.mdf',LOWER(physical_name)) - 1) </a:t>
            </a:r>
          </a:p>
          <a:p>
            <a:pPr eaLnBrk="1" hangingPunct="1"/>
            <a:r>
              <a:rPr lang="en-US" altLang="zh-CN" b="1">
                <a:solidFill>
                  <a:srgbClr val="003366"/>
                </a:solidFill>
              </a:rPr>
              <a:t>                                    FROM master.sys.master_files</a:t>
            </a:r>
          </a:p>
          <a:p>
            <a:pPr eaLnBrk="1" hangingPunct="1"/>
            <a:r>
              <a:rPr lang="en-US" altLang="zh-CN" b="1">
                <a:solidFill>
                  <a:srgbClr val="003366"/>
                </a:solidFill>
              </a:rPr>
              <a:t>                                    WHERE database_id = 1 AND file_id = 1);</a:t>
            </a:r>
          </a:p>
          <a:p>
            <a:pPr eaLnBrk="1" hangingPunct="1"/>
            <a:r>
              <a:rPr lang="en-US" altLang="zh-CN" b="1"/>
              <a:t>  </a:t>
            </a:r>
            <a:r>
              <a:rPr lang="en-US" altLang="zh-CN" b="1">
                <a:solidFill>
                  <a:srgbClr val="006666"/>
                </a:solidFill>
              </a:rPr>
              <a:t>--</a:t>
            </a:r>
            <a:r>
              <a:rPr lang="zh-CN" altLang="en-US" b="1">
                <a:solidFill>
                  <a:srgbClr val="006666"/>
                </a:solidFill>
              </a:rPr>
              <a:t>执行</a:t>
            </a:r>
            <a:r>
              <a:rPr lang="en-US" altLang="zh-CN" b="1">
                <a:solidFill>
                  <a:srgbClr val="006666"/>
                </a:solidFill>
              </a:rPr>
              <a:t>CREATE DATABASE</a:t>
            </a:r>
            <a:r>
              <a:rPr lang="zh-CN" altLang="en-US" b="1">
                <a:solidFill>
                  <a:srgbClr val="006666"/>
                </a:solidFill>
              </a:rPr>
              <a:t>语句创建</a:t>
            </a:r>
            <a:r>
              <a:rPr lang="en-US" altLang="zh-CN" b="1">
                <a:solidFill>
                  <a:srgbClr val="006666"/>
                </a:solidFill>
              </a:rPr>
              <a:t>JXGL</a:t>
            </a:r>
            <a:r>
              <a:rPr lang="zh-CN" altLang="en-US" b="1">
                <a:solidFill>
                  <a:srgbClr val="006666"/>
                </a:solidFill>
              </a:rPr>
              <a:t>数据库</a:t>
            </a:r>
          </a:p>
          <a:p>
            <a:pPr eaLnBrk="1" hangingPunct="1"/>
            <a:r>
              <a:rPr lang="en-US" altLang="zh-CN" b="1"/>
              <a:t>  </a:t>
            </a:r>
            <a:r>
              <a:rPr lang="en-US" altLang="zh-CN" b="1">
                <a:solidFill>
                  <a:srgbClr val="0000FF"/>
                </a:solidFill>
              </a:rPr>
              <a:t>EXECUTE </a:t>
            </a:r>
          </a:p>
          <a:p>
            <a:pPr eaLnBrk="1" hangingPunct="1"/>
            <a:r>
              <a:rPr lang="en-US" altLang="zh-CN" b="1">
                <a:solidFill>
                  <a:srgbClr val="006666"/>
                </a:solidFill>
              </a:rPr>
              <a:t>    </a:t>
            </a:r>
            <a:r>
              <a:rPr lang="en-US" altLang="zh-CN" b="1"/>
              <a:t>( </a:t>
            </a:r>
            <a:r>
              <a:rPr lang="en-US" altLang="zh-CN" b="1">
                <a:solidFill>
                  <a:srgbClr val="0000FF"/>
                </a:solidFill>
              </a:rPr>
              <a:t>'CREATE DATABASE</a:t>
            </a:r>
            <a:r>
              <a:rPr lang="en-US" altLang="zh-CN" b="1"/>
              <a:t> JXGL</a:t>
            </a:r>
          </a:p>
          <a:p>
            <a:pPr eaLnBrk="1" hangingPunct="1"/>
            <a:r>
              <a:rPr lang="en-US" altLang="zh-CN" b="1"/>
              <a:t>      </a:t>
            </a:r>
            <a:r>
              <a:rPr lang="en-US" altLang="zh-CN" b="1">
                <a:solidFill>
                  <a:srgbClr val="0000FF"/>
                </a:solidFill>
              </a:rPr>
              <a:t>ON</a:t>
            </a:r>
            <a:r>
              <a:rPr lang="en-US" altLang="zh-CN" b="1"/>
              <a:t> </a:t>
            </a:r>
          </a:p>
          <a:p>
            <a:pPr eaLnBrk="1" hangingPunct="1"/>
            <a:r>
              <a:rPr lang="en-US" altLang="zh-CN" b="1"/>
              <a:t>      ( NAME = JXGL_data,  FILENAME = '''+ </a:t>
            </a:r>
            <a:r>
              <a:rPr lang="en-US" altLang="zh-CN" b="1">
                <a:solidFill>
                  <a:srgbClr val="CC0000"/>
                </a:solidFill>
              </a:rPr>
              <a:t>@data_path</a:t>
            </a:r>
            <a:r>
              <a:rPr lang="en-US" altLang="zh-CN" b="1"/>
              <a:t> + 'JXGL.mdf'',  SIZE = 5,</a:t>
            </a:r>
          </a:p>
          <a:p>
            <a:pPr eaLnBrk="1" hangingPunct="1"/>
            <a:r>
              <a:rPr lang="en-US" altLang="zh-CN" b="1"/>
              <a:t>                                                                      MAXSIZE = 200,  FILEGROWTH = 5% )</a:t>
            </a:r>
          </a:p>
          <a:p>
            <a:pPr eaLnBrk="1" hangingPunct="1"/>
            <a:r>
              <a:rPr lang="en-US" altLang="zh-CN" b="1"/>
              <a:t>      </a:t>
            </a:r>
            <a:r>
              <a:rPr lang="en-US" altLang="zh-CN" b="1">
                <a:solidFill>
                  <a:srgbClr val="0000FF"/>
                </a:solidFill>
              </a:rPr>
              <a:t>LOG ON</a:t>
            </a:r>
          </a:p>
          <a:p>
            <a:pPr eaLnBrk="1" hangingPunct="1"/>
            <a:r>
              <a:rPr lang="en-US" altLang="zh-CN" b="1"/>
              <a:t>          ( NAME = JXGL_log,  FILENAME = '''+ @data_path + 'JXGL.ldf'',</a:t>
            </a:r>
          </a:p>
          <a:p>
            <a:pPr eaLnBrk="1" hangingPunct="1"/>
            <a:r>
              <a:rPr lang="en-US" altLang="zh-CN" b="1"/>
              <a:t>    	              SIZE = 5MB,  MAXSIZE = 50MB,  FILEGROWTH = 2MB )'</a:t>
            </a:r>
          </a:p>
          <a:p>
            <a:pPr eaLnBrk="1" hangingPunct="1"/>
            <a:r>
              <a:rPr lang="en-US" altLang="zh-CN" b="1"/>
              <a:t>    );</a:t>
            </a:r>
          </a:p>
          <a:p>
            <a:pPr eaLnBrk="1" hangingPunct="1"/>
            <a:r>
              <a:rPr lang="en-US" altLang="zh-CN" b="1">
                <a:solidFill>
                  <a:srgbClr val="0000FF"/>
                </a:solidFill>
              </a:rPr>
              <a:t>  GO</a:t>
            </a:r>
            <a:r>
              <a:rPr lang="en-US" altLang="zh-CN">
                <a:solidFill>
                  <a:srgbClr val="006666"/>
                </a:solidFill>
              </a:rPr>
              <a:t> </a:t>
            </a:r>
            <a:endParaRPr lang="zh-CN" altLang="en-US">
              <a:solidFill>
                <a:srgbClr val="006666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577"/>
    </mc:Choice>
    <mc:Fallback xmlns="">
      <p:transition spd="slow" advTm="1945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65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656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656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656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656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656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656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6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6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6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65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65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65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656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590" name="Rectangle 6">
            <a:extLst>
              <a:ext uri="{FF2B5EF4-FFF2-40B4-BE49-F238E27FC236}">
                <a16:creationId xmlns:a16="http://schemas.microsoft.com/office/drawing/2014/main" id="{BF6B08DA-C383-4212-ACF8-1A7AFFB3A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60350"/>
            <a:ext cx="8424863" cy="11049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latin typeface="楷体_GB2312" pitchFamily="49" charset="-122"/>
              </a:rPr>
              <a:t>    </a:t>
            </a:r>
            <a:r>
              <a:rPr lang="zh-CN" altLang="en-US" sz="2400" b="1">
                <a:latin typeface="楷体_GB2312" pitchFamily="49" charset="-122"/>
              </a:rPr>
              <a:t>执行以上脚本程序，如数据库创建成功，则窗口显示消息</a:t>
            </a:r>
            <a:r>
              <a:rPr lang="zh-CN" altLang="en-US" sz="2400" b="1"/>
              <a:t>“</a:t>
            </a:r>
            <a:r>
              <a:rPr lang="zh-CN" altLang="en-US" sz="2400" b="1">
                <a:latin typeface="楷体_GB2312" pitchFamily="49" charset="-122"/>
              </a:rPr>
              <a:t>命令已成功完成</a:t>
            </a:r>
            <a:r>
              <a:rPr lang="zh-CN" altLang="en-US" sz="2400" b="1"/>
              <a:t>”</a:t>
            </a:r>
            <a:r>
              <a:rPr lang="zh-CN" altLang="en-US" sz="2400" b="1">
                <a:latin typeface="楷体_GB2312" pitchFamily="49" charset="-122"/>
              </a:rPr>
              <a:t> 。 </a:t>
            </a:r>
          </a:p>
        </p:txBody>
      </p:sp>
      <p:pic>
        <p:nvPicPr>
          <p:cNvPr id="67588" name="Picture 7">
            <a:extLst>
              <a:ext uri="{FF2B5EF4-FFF2-40B4-BE49-F238E27FC236}">
                <a16:creationId xmlns:a16="http://schemas.microsoft.com/office/drawing/2014/main" id="{B93A320B-EB95-425D-AA15-7AE8ED24E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268413"/>
            <a:ext cx="7489825" cy="531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88"/>
    </mc:Choice>
    <mc:Fallback xmlns="">
      <p:transition spd="slow" advTm="44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3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612" name="Rectangle 4">
            <a:extLst>
              <a:ext uri="{FF2B5EF4-FFF2-40B4-BE49-F238E27FC236}">
                <a16:creationId xmlns:a16="http://schemas.microsoft.com/office/drawing/2014/main" id="{DED1DD4D-8FEF-4B48-AE47-1D1360007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二、利用</a:t>
            </a:r>
            <a:r>
              <a:rPr lang="en-US" altLang="zh-CN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T-SQL</a:t>
            </a:r>
            <a:r>
              <a:rPr lang="zh-CN" alt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语句管理数据库 </a:t>
            </a:r>
          </a:p>
        </p:txBody>
      </p:sp>
      <p:sp>
        <p:nvSpPr>
          <p:cNvPr id="964616" name="Rectangle 8">
            <a:extLst>
              <a:ext uri="{FF2B5EF4-FFF2-40B4-BE49-F238E27FC236}">
                <a16:creationId xmlns:a16="http://schemas.microsoft.com/office/drawing/2014/main" id="{0E97206D-D31D-4381-8F39-0120000CF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96975"/>
            <a:ext cx="8424863" cy="532765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800" b="1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ahoma" panose="020B0604030504040204" pitchFamily="34" charset="0"/>
              </a:rPr>
              <a:t>          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、使用数据库</a:t>
            </a:r>
            <a:r>
              <a:rPr lang="zh-CN" altLang="en-US" sz="2800" b="1">
                <a:latin typeface="Tahoma" panose="020B0604030504040204" pitchFamily="34" charset="0"/>
              </a:rPr>
              <a:t> </a:t>
            </a:r>
            <a:endParaRPr lang="zh-CN" altLang="en-US" sz="2800" b="1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ahoma" panose="020B0604030504040204" pitchFamily="34" charset="0"/>
              </a:rPr>
              <a:t>          使用数据库的语句格式为：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spcAft>
                <a:spcPct val="5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ahoma" panose="020B0604030504040204" pitchFamily="34" charset="0"/>
              </a:rPr>
              <a:t>                </a:t>
            </a:r>
            <a:r>
              <a:rPr lang="en-US" altLang="zh-CN" sz="2800" b="1">
                <a:solidFill>
                  <a:srgbClr val="0000FF"/>
                </a:solidFill>
                <a:latin typeface="Tahoma" panose="020B0604030504040204" pitchFamily="34" charset="0"/>
              </a:rPr>
              <a:t>USE</a:t>
            </a:r>
            <a:r>
              <a:rPr lang="en-US" altLang="zh-CN" sz="2800" b="1">
                <a:latin typeface="Tahoma" panose="020B0604030504040204" pitchFamily="34" charset="0"/>
              </a:rPr>
              <a:t> &lt;</a:t>
            </a:r>
            <a:r>
              <a:rPr lang="zh-CN" altLang="en-US" sz="2800" b="1">
                <a:latin typeface="Tahoma" panose="020B0604030504040204" pitchFamily="34" charset="0"/>
              </a:rPr>
              <a:t>数据库名</a:t>
            </a:r>
            <a:r>
              <a:rPr lang="en-US" altLang="zh-CN" sz="2800" b="1">
                <a:latin typeface="Tahoma" panose="020B0604030504040204" pitchFamily="34" charset="0"/>
              </a:rPr>
              <a:t>&gt;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ahoma" panose="020B0604030504040204" pitchFamily="34" charset="0"/>
              </a:rPr>
              <a:t>         </a:t>
            </a:r>
            <a:r>
              <a:rPr lang="zh-CN" altLang="en-US" sz="2800" b="1">
                <a:solidFill>
                  <a:srgbClr val="0000FF"/>
                </a:solidFill>
                <a:latin typeface="Tahoma" panose="020B0604030504040204" pitchFamily="34" charset="0"/>
              </a:rPr>
              <a:t>含义</a:t>
            </a:r>
            <a:r>
              <a:rPr lang="zh-CN" altLang="en-US" sz="2800" b="1">
                <a:latin typeface="Tahoma" panose="020B0604030504040204" pitchFamily="34" charset="0"/>
              </a:rPr>
              <a:t>：使用并打开名为</a:t>
            </a:r>
            <a:r>
              <a:rPr lang="zh-CN" altLang="en-US" sz="2800" b="1"/>
              <a:t>“</a:t>
            </a:r>
            <a:r>
              <a:rPr lang="zh-CN" altLang="en-US" sz="2800" b="1">
                <a:latin typeface="Tahoma" panose="020B0604030504040204" pitchFamily="34" charset="0"/>
              </a:rPr>
              <a:t>数据库名</a:t>
            </a:r>
            <a:r>
              <a:rPr lang="zh-CN" altLang="en-US" sz="2800" b="1"/>
              <a:t>”</a:t>
            </a:r>
            <a:r>
              <a:rPr lang="zh-CN" altLang="en-US" sz="2800" b="1">
                <a:latin typeface="Tahoma" panose="020B0604030504040204" pitchFamily="34" charset="0"/>
              </a:rPr>
              <a:t>的数据库。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13"/>
    </mc:Choice>
    <mc:Fallback xmlns="">
      <p:transition spd="slow" advTm="12313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636" name="Rectangle 4">
            <a:extLst>
              <a:ext uri="{FF2B5EF4-FFF2-40B4-BE49-F238E27FC236}">
                <a16:creationId xmlns:a16="http://schemas.microsoft.com/office/drawing/2014/main" id="{DCA43123-63FF-4B9B-8A6C-C06199C58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二、利用</a:t>
            </a:r>
            <a:r>
              <a:rPr lang="en-US" altLang="zh-CN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T-SQL</a:t>
            </a: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语句管理数据库 </a:t>
            </a:r>
          </a:p>
        </p:txBody>
      </p:sp>
      <p:sp>
        <p:nvSpPr>
          <p:cNvPr id="965637" name="Rectangle 5">
            <a:extLst>
              <a:ext uri="{FF2B5EF4-FFF2-40B4-BE49-F238E27FC236}">
                <a16:creationId xmlns:a16="http://schemas.microsoft.com/office/drawing/2014/main" id="{84C87263-9194-405F-8448-518E71252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71575"/>
            <a:ext cx="8424863" cy="532765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800" b="1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ahoma" panose="020B0604030504040204" pitchFamily="34" charset="0"/>
              </a:rPr>
              <a:t>          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、修改数据库</a:t>
            </a: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ahoma" panose="020B0604030504040204" pitchFamily="34" charset="0"/>
              </a:rPr>
              <a:t>      包括：在数据库中添加或删除文件或文件组，更改文件和文件组的属性等。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4"/>
    </mc:Choice>
    <mc:Fallback xmlns="">
      <p:transition spd="slow" advTm="8674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6" name="Rectangle 4">
            <a:extLst>
              <a:ext uri="{FF2B5EF4-FFF2-40B4-BE49-F238E27FC236}">
                <a16:creationId xmlns:a16="http://schemas.microsoft.com/office/drawing/2014/main" id="{4ADA8595-6CBC-4A44-95C8-D182E3F76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27025"/>
            <a:ext cx="8280400" cy="605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600" b="1"/>
              <a:t> </a:t>
            </a:r>
            <a:r>
              <a:rPr lang="en-US" altLang="zh-CN" sz="2600" b="1">
                <a:solidFill>
                  <a:srgbClr val="0000FF"/>
                </a:solidFill>
              </a:rPr>
              <a:t>ALTER DATABASE</a:t>
            </a:r>
            <a:r>
              <a:rPr lang="en-US" altLang="zh-CN" sz="2600" b="1"/>
              <a:t> &lt;</a:t>
            </a:r>
            <a:r>
              <a:rPr lang="zh-CN" altLang="da-DK" sz="2600" b="1"/>
              <a:t>数据库名</a:t>
            </a:r>
            <a:r>
              <a:rPr lang="en-US" altLang="zh-CN" sz="2600" b="1"/>
              <a:t>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600" b="1"/>
              <a:t>        { </a:t>
            </a:r>
            <a:r>
              <a:rPr lang="en-US" altLang="zh-CN" sz="2600" b="1">
                <a:solidFill>
                  <a:srgbClr val="CC0000"/>
                </a:solidFill>
              </a:rPr>
              <a:t>ADD</a:t>
            </a:r>
            <a:r>
              <a:rPr lang="en-US" altLang="zh-CN" sz="2600" b="1"/>
              <a:t> FILE &lt;</a:t>
            </a:r>
            <a:r>
              <a:rPr lang="zh-CN" altLang="en-US" sz="2600" b="1"/>
              <a:t>文件描述项</a:t>
            </a:r>
            <a:r>
              <a:rPr lang="en-US" altLang="zh-CN" sz="2600" b="1"/>
              <a:t>&gt; [,… n ]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600" b="1"/>
              <a:t>                                      [TO  TILEGROUP &lt;</a:t>
            </a:r>
            <a:r>
              <a:rPr lang="zh-CN" altLang="en-US" sz="2600" b="1"/>
              <a:t>文件组名</a:t>
            </a:r>
            <a:r>
              <a:rPr lang="en-US" altLang="zh-CN" sz="2600" b="1"/>
              <a:t>&gt;]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600" b="1"/>
              <a:t>        | </a:t>
            </a:r>
            <a:r>
              <a:rPr lang="en-US" altLang="zh-CN" sz="2600" b="1">
                <a:solidFill>
                  <a:srgbClr val="CC0000"/>
                </a:solidFill>
              </a:rPr>
              <a:t>ADD</a:t>
            </a:r>
            <a:r>
              <a:rPr lang="en-US" altLang="zh-CN" sz="2600" b="1"/>
              <a:t> LOG FILE &lt;</a:t>
            </a:r>
            <a:r>
              <a:rPr lang="zh-CN" altLang="en-US" sz="2600" b="1"/>
              <a:t>文件描述项</a:t>
            </a:r>
            <a:r>
              <a:rPr lang="en-US" altLang="zh-CN" sz="2600" b="1"/>
              <a:t>&gt; [, … n ]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600" b="1"/>
              <a:t>        | </a:t>
            </a:r>
            <a:r>
              <a:rPr lang="en-US" altLang="zh-CN" sz="2600" b="1">
                <a:solidFill>
                  <a:srgbClr val="CC0000"/>
                </a:solidFill>
              </a:rPr>
              <a:t>ADD</a:t>
            </a:r>
            <a:r>
              <a:rPr lang="en-US" altLang="zh-CN" sz="2600" b="1"/>
              <a:t> FILEGROUP &lt;</a:t>
            </a:r>
            <a:r>
              <a:rPr lang="zh-CN" altLang="en-US" sz="2600" b="1"/>
              <a:t>文件组名</a:t>
            </a:r>
            <a:r>
              <a:rPr lang="en-US" altLang="zh-CN" sz="2600" b="1"/>
              <a:t>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600" b="1"/>
              <a:t>        | </a:t>
            </a:r>
            <a:r>
              <a:rPr lang="en-US" altLang="zh-CN" sz="2600" b="1">
                <a:solidFill>
                  <a:srgbClr val="660066"/>
                </a:solidFill>
              </a:rPr>
              <a:t>REMOVE</a:t>
            </a:r>
            <a:r>
              <a:rPr lang="en-US" altLang="zh-CN" sz="2600" b="1"/>
              <a:t> FILE &lt;</a:t>
            </a:r>
            <a:r>
              <a:rPr lang="zh-CN" altLang="en-US" sz="2600" b="1"/>
              <a:t>逻辑文件名</a:t>
            </a:r>
            <a:r>
              <a:rPr lang="en-US" altLang="zh-CN" sz="2600" b="1"/>
              <a:t>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600" b="1"/>
              <a:t>        | </a:t>
            </a:r>
            <a:r>
              <a:rPr lang="en-US" altLang="zh-CN" sz="2600" b="1">
                <a:solidFill>
                  <a:srgbClr val="660066"/>
                </a:solidFill>
              </a:rPr>
              <a:t>REMOVE</a:t>
            </a:r>
            <a:r>
              <a:rPr lang="en-US" altLang="zh-CN" sz="2600" b="1"/>
              <a:t> FILEGROUP &lt;</a:t>
            </a:r>
            <a:r>
              <a:rPr lang="zh-CN" altLang="en-US" sz="2600" b="1"/>
              <a:t>文件组名</a:t>
            </a:r>
            <a:r>
              <a:rPr lang="en-US" altLang="zh-CN" sz="2600" b="1"/>
              <a:t>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600" b="1"/>
              <a:t>        | </a:t>
            </a:r>
            <a:r>
              <a:rPr lang="en-US" altLang="zh-CN" sz="2600" b="1">
                <a:solidFill>
                  <a:srgbClr val="7602AA"/>
                </a:solidFill>
              </a:rPr>
              <a:t>MODIFY</a:t>
            </a:r>
            <a:r>
              <a:rPr lang="en-US" altLang="zh-CN" sz="2600" b="1"/>
              <a:t> NAME= &lt;</a:t>
            </a:r>
            <a:r>
              <a:rPr lang="zh-CN" altLang="en-US" sz="2600" b="1"/>
              <a:t>新数据库名</a:t>
            </a:r>
            <a:r>
              <a:rPr lang="en-US" altLang="zh-CN" sz="2600" b="1"/>
              <a:t>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600" b="1"/>
              <a:t>        | </a:t>
            </a:r>
            <a:r>
              <a:rPr lang="en-US" altLang="zh-CN" sz="2600" b="1">
                <a:solidFill>
                  <a:srgbClr val="7602AA"/>
                </a:solidFill>
              </a:rPr>
              <a:t>MODIFY</a:t>
            </a:r>
            <a:r>
              <a:rPr lang="en-US" altLang="zh-CN" sz="2600" b="1"/>
              <a:t> FILE &lt;</a:t>
            </a:r>
            <a:r>
              <a:rPr lang="zh-CN" altLang="en-US" sz="2600" b="1"/>
              <a:t>文件描述项</a:t>
            </a:r>
            <a:r>
              <a:rPr lang="en-US" altLang="zh-CN" sz="2600" b="1"/>
              <a:t>&gt;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600" b="1"/>
              <a:t>        | </a:t>
            </a:r>
            <a:r>
              <a:rPr lang="en-US" altLang="zh-CN" sz="2600" b="1">
                <a:solidFill>
                  <a:srgbClr val="7602AA"/>
                </a:solidFill>
              </a:rPr>
              <a:t>MODIFY</a:t>
            </a:r>
            <a:r>
              <a:rPr lang="en-US" altLang="zh-CN" sz="2600" b="1"/>
              <a:t> FILEGROUP &lt;</a:t>
            </a:r>
            <a:r>
              <a:rPr lang="zh-CN" altLang="en-US" sz="2600" b="1"/>
              <a:t>文件组名</a:t>
            </a:r>
            <a:r>
              <a:rPr lang="en-US" altLang="zh-CN" sz="2600" b="1"/>
              <a:t>&gt; {&lt;</a:t>
            </a:r>
            <a:r>
              <a:rPr lang="zh-CN" altLang="en-US" sz="2600" b="1"/>
              <a:t>文件组属性</a:t>
            </a:r>
            <a:r>
              <a:rPr lang="en-US" altLang="zh-CN" sz="2600" b="1"/>
              <a:t>&gt; | NAME = &lt;</a:t>
            </a:r>
            <a:r>
              <a:rPr lang="zh-CN" altLang="en-US" sz="2600" b="1"/>
              <a:t>新文件组名</a:t>
            </a:r>
            <a:r>
              <a:rPr lang="en-US" altLang="zh-CN" sz="2600" b="1"/>
              <a:t>&gt;}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600" b="1"/>
              <a:t>       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67"/>
    </mc:Choice>
    <mc:Fallback xmlns="">
      <p:transition spd="slow" advTm="6567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543" name="Rectangle 7">
            <a:extLst>
              <a:ext uri="{FF2B5EF4-FFF2-40B4-BE49-F238E27FC236}">
                <a16:creationId xmlns:a16="http://schemas.microsoft.com/office/drawing/2014/main" id="{EC6DE178-D6D2-4651-91BB-DE7695102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76250"/>
            <a:ext cx="8496300" cy="1512888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800" b="1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7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7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12.</a:t>
            </a:r>
            <a:r>
              <a:rPr lang="en-US" altLang="zh-CN" sz="27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700" b="1">
                <a:latin typeface="楷体_GB2312" pitchFamily="49" charset="-122"/>
              </a:rPr>
              <a:t>将上例创建的数据库</a:t>
            </a:r>
            <a:r>
              <a:rPr lang="en-US" altLang="zh-CN" sz="2700" b="1">
                <a:latin typeface="楷体_GB2312" pitchFamily="49" charset="-122"/>
              </a:rPr>
              <a:t>JXGL</a:t>
            </a:r>
            <a:r>
              <a:rPr lang="zh-CN" altLang="en-US" sz="2700" b="1">
                <a:latin typeface="楷体_GB2312" pitchFamily="49" charset="-122"/>
              </a:rPr>
              <a:t>中的数据文件的初始大小增大为</a:t>
            </a:r>
            <a:r>
              <a:rPr lang="en-US" altLang="zh-CN" sz="2700" b="1">
                <a:latin typeface="楷体_GB2312" pitchFamily="49" charset="-122"/>
              </a:rPr>
              <a:t>10MB</a:t>
            </a:r>
            <a:r>
              <a:rPr lang="zh-CN" altLang="en-US" sz="2700" b="1">
                <a:latin typeface="楷体_GB2312" pitchFamily="49" charset="-122"/>
              </a:rPr>
              <a:t>。</a:t>
            </a:r>
          </a:p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700" b="1">
                <a:latin typeface="楷体_GB2312" pitchFamily="49" charset="-122"/>
              </a:rPr>
              <a:t>    </a:t>
            </a:r>
            <a:endParaRPr lang="zh-CN" altLang="en-US" sz="2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5893" name="Rectangle 5">
            <a:extLst>
              <a:ext uri="{FF2B5EF4-FFF2-40B4-BE49-F238E27FC236}">
                <a16:creationId xmlns:a16="http://schemas.microsoft.com/office/drawing/2014/main" id="{7F799026-3BEA-4220-A9D2-6B49FB879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066925"/>
            <a:ext cx="7848600" cy="257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600" b="1"/>
              <a:t> </a:t>
            </a:r>
            <a:r>
              <a:rPr lang="en-US" altLang="zh-CN" sz="2600" b="1">
                <a:solidFill>
                  <a:srgbClr val="0000FF"/>
                </a:solidFill>
              </a:rPr>
              <a:t>USE </a:t>
            </a:r>
            <a:r>
              <a:rPr lang="en-US" altLang="zh-CN" sz="2600" b="1"/>
              <a:t>JXGL</a:t>
            </a:r>
            <a:r>
              <a:rPr lang="en-US" altLang="zh-CN" sz="2600" b="1">
                <a:solidFill>
                  <a:srgbClr val="0000FF"/>
                </a:solidFill>
              </a:rPr>
              <a:t>      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600" b="1"/>
              <a:t> GO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600" b="1">
                <a:solidFill>
                  <a:srgbClr val="0000FF"/>
                </a:solidFill>
              </a:rPr>
              <a:t> ALTER DATABASE </a:t>
            </a:r>
            <a:r>
              <a:rPr lang="en-US" altLang="zh-CN" sz="2600" b="1"/>
              <a:t>JXGL</a:t>
            </a:r>
            <a:r>
              <a:rPr lang="en-US" altLang="zh-CN" sz="2600" b="1">
                <a:solidFill>
                  <a:srgbClr val="0000FF"/>
                </a:solidFill>
              </a:rPr>
              <a:t> </a:t>
            </a:r>
            <a:endParaRPr lang="en-US" altLang="zh-CN" sz="2600" b="1"/>
          </a:p>
          <a:p>
            <a:pPr eaLnBrk="1" hangingPunct="1">
              <a:lnSpc>
                <a:spcPct val="125000"/>
              </a:lnSpc>
            </a:pPr>
            <a:r>
              <a:rPr lang="en-US" altLang="zh-CN" sz="2600" b="1"/>
              <a:t>    </a:t>
            </a:r>
            <a:r>
              <a:rPr lang="en-US" altLang="zh-CN" sz="2600" b="1">
                <a:solidFill>
                  <a:srgbClr val="7602AA"/>
                </a:solidFill>
              </a:rPr>
              <a:t>MODIFY</a:t>
            </a:r>
            <a:r>
              <a:rPr lang="en-US" altLang="zh-CN" sz="2600" b="1"/>
              <a:t>  FILE  (name= ‘JXGL_data’,size=10)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600" b="1"/>
              <a:t> GO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561"/>
    </mc:Choice>
    <mc:Fallback xmlns="">
      <p:transition spd="slow" advTm="205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660" name="Rectangle 4">
            <a:extLst>
              <a:ext uri="{FF2B5EF4-FFF2-40B4-BE49-F238E27FC236}">
                <a16:creationId xmlns:a16="http://schemas.microsoft.com/office/drawing/2014/main" id="{562A2562-4E3E-4B94-86DA-939EB09A2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二、利用</a:t>
            </a:r>
            <a:r>
              <a:rPr lang="en-US" altLang="zh-CN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T-SQL</a:t>
            </a:r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幼圆" pitchFamily="49" charset="-122"/>
              </a:rPr>
              <a:t>语句管理数据库 </a:t>
            </a:r>
          </a:p>
        </p:txBody>
      </p:sp>
      <p:sp>
        <p:nvSpPr>
          <p:cNvPr id="966661" name="Rectangle 5">
            <a:extLst>
              <a:ext uri="{FF2B5EF4-FFF2-40B4-BE49-F238E27FC236}">
                <a16:creationId xmlns:a16="http://schemas.microsoft.com/office/drawing/2014/main" id="{45263C23-0DC5-41C3-A557-18272B9A4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71575"/>
            <a:ext cx="8424863" cy="532765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800" b="1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ahoma" panose="020B0604030504040204" pitchFamily="34" charset="0"/>
              </a:rPr>
              <a:t>         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、删除数据库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ahoma" panose="020B0604030504040204" pitchFamily="34" charset="0"/>
              </a:rPr>
              <a:t>        语句格式为：</a:t>
            </a:r>
          </a:p>
          <a:p>
            <a:pPr eaLnBrk="1" hangingPunct="1">
              <a:lnSpc>
                <a:spcPct val="120000"/>
              </a:lnSpc>
              <a:spcBef>
                <a:spcPct val="75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>
                <a:latin typeface="Tahoma" panose="020B0604030504040204" pitchFamily="34" charset="0"/>
              </a:rPr>
              <a:t>            </a:t>
            </a:r>
            <a:r>
              <a:rPr lang="en-US" altLang="zh-CN" sz="2800" b="1">
                <a:solidFill>
                  <a:srgbClr val="0000FF"/>
                </a:solidFill>
                <a:latin typeface="Tahoma" panose="020B0604030504040204" pitchFamily="34" charset="0"/>
              </a:rPr>
              <a:t>DROP DATABASE</a:t>
            </a:r>
            <a:r>
              <a:rPr lang="en-US" altLang="zh-CN" sz="2800" b="1">
                <a:latin typeface="Tahoma" panose="020B0604030504040204" pitchFamily="34" charset="0"/>
              </a:rPr>
              <a:t> &lt;</a:t>
            </a:r>
            <a:r>
              <a:rPr lang="zh-CN" altLang="en-US" sz="2800" b="1">
                <a:latin typeface="Tahoma" panose="020B0604030504040204" pitchFamily="34" charset="0"/>
              </a:rPr>
              <a:t>数据库名</a:t>
            </a:r>
            <a:r>
              <a:rPr lang="en-US" altLang="zh-CN" sz="2800" b="1">
                <a:latin typeface="Tahoma" panose="020B0604030504040204" pitchFamily="34" charset="0"/>
              </a:rPr>
              <a:t>&gt; [,</a:t>
            </a:r>
            <a:r>
              <a:rPr lang="en-US" altLang="zh-CN" sz="2800" b="1"/>
              <a:t>…</a:t>
            </a:r>
            <a:r>
              <a:rPr lang="en-US" altLang="zh-CN" sz="2800" b="1">
                <a:latin typeface="Tahoma" panose="020B0604030504040204" pitchFamily="34" charset="0"/>
              </a:rPr>
              <a:t> n ] </a:t>
            </a:r>
            <a:endParaRPr lang="zh-CN" altLang="en-US" sz="2800" b="1">
              <a:latin typeface="Tahom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89"/>
    </mc:Choice>
    <mc:Fallback xmlns="">
      <p:transition spd="slow" advTm="3189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4" name="Rectangle 4">
            <a:extLst>
              <a:ext uri="{FF2B5EF4-FFF2-40B4-BE49-F238E27FC236}">
                <a16:creationId xmlns:a16="http://schemas.microsoft.com/office/drawing/2014/main" id="{FD4C4615-F8C0-49CA-B792-1ACEB8BE1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rPr>
              <a:t>小结</a:t>
            </a:r>
          </a:p>
        </p:txBody>
      </p:sp>
      <p:sp>
        <p:nvSpPr>
          <p:cNvPr id="96260" name="TextBox 4">
            <a:extLst>
              <a:ext uri="{FF2B5EF4-FFF2-40B4-BE49-F238E27FC236}">
                <a16:creationId xmlns:a16="http://schemas.microsoft.com/office/drawing/2014/main" id="{A2D07D9E-387C-44CB-8DCA-0CB9A4BE6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546350"/>
            <a:ext cx="1944688" cy="5191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b="1"/>
              <a:t>T-SQL</a:t>
            </a:r>
            <a:r>
              <a:rPr lang="zh-CN" altLang="en-US" sz="2800" b="1"/>
              <a:t>语言</a:t>
            </a:r>
          </a:p>
        </p:txBody>
      </p:sp>
      <p:sp>
        <p:nvSpPr>
          <p:cNvPr id="96262" name="左大括号 94">
            <a:extLst>
              <a:ext uri="{FF2B5EF4-FFF2-40B4-BE49-F238E27FC236}">
                <a16:creationId xmlns:a16="http://schemas.microsoft.com/office/drawing/2014/main" id="{530250FA-478F-4CCF-AD60-9D0306FCB982}"/>
              </a:ext>
            </a:extLst>
          </p:cNvPr>
          <p:cNvSpPr>
            <a:spLocks/>
          </p:cNvSpPr>
          <p:nvPr/>
        </p:nvSpPr>
        <p:spPr bwMode="auto">
          <a:xfrm>
            <a:off x="2195513" y="1865313"/>
            <a:ext cx="285750" cy="1785937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sq" algn="ctr">
            <a:solidFill>
              <a:srgbClr val="0070C0"/>
            </a:solidFill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800" b="1"/>
          </a:p>
        </p:txBody>
      </p:sp>
      <p:sp>
        <p:nvSpPr>
          <p:cNvPr id="96263" name="TextBox 95">
            <a:extLst>
              <a:ext uri="{FF2B5EF4-FFF2-40B4-BE49-F238E27FC236}">
                <a16:creationId xmlns:a16="http://schemas.microsoft.com/office/drawing/2014/main" id="{95743F84-ACEB-4348-8249-DD5964394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263" y="1651000"/>
            <a:ext cx="4071937" cy="5191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 b="1"/>
              <a:t>脚本、批处理与注释符</a:t>
            </a:r>
          </a:p>
        </p:txBody>
      </p:sp>
      <p:sp>
        <p:nvSpPr>
          <p:cNvPr id="96264" name="TextBox 96">
            <a:extLst>
              <a:ext uri="{FF2B5EF4-FFF2-40B4-BE49-F238E27FC236}">
                <a16:creationId xmlns:a16="http://schemas.microsoft.com/office/drawing/2014/main" id="{978994AD-15CD-4B50-A54C-4E66E2E38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263" y="2222500"/>
            <a:ext cx="4683125" cy="5191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CC0000"/>
                </a:solidFill>
              </a:rPr>
              <a:t>Transact-SQL</a:t>
            </a:r>
            <a:r>
              <a:rPr lang="zh-CN" altLang="en-US" sz="2800" b="1">
                <a:solidFill>
                  <a:srgbClr val="CC0000"/>
                </a:solidFill>
              </a:rPr>
              <a:t>的语言要素</a:t>
            </a:r>
          </a:p>
        </p:txBody>
      </p:sp>
      <p:sp>
        <p:nvSpPr>
          <p:cNvPr id="96265" name="TextBox 97">
            <a:extLst>
              <a:ext uri="{FF2B5EF4-FFF2-40B4-BE49-F238E27FC236}">
                <a16:creationId xmlns:a16="http://schemas.microsoft.com/office/drawing/2014/main" id="{5217CC24-1B4F-42A2-9ADF-5A2CE4890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263" y="2794000"/>
            <a:ext cx="4683125" cy="5191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800" b="1"/>
              <a:t>Transact-SQL</a:t>
            </a:r>
            <a:r>
              <a:rPr lang="zh-CN" altLang="en-US" sz="2800" b="1"/>
              <a:t>流程控制语句</a:t>
            </a:r>
          </a:p>
        </p:txBody>
      </p:sp>
      <p:sp>
        <p:nvSpPr>
          <p:cNvPr id="96266" name="TextBox 98">
            <a:extLst>
              <a:ext uri="{FF2B5EF4-FFF2-40B4-BE49-F238E27FC236}">
                <a16:creationId xmlns:a16="http://schemas.microsoft.com/office/drawing/2014/main" id="{73918A9F-1628-456C-8592-57E30ADF9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263" y="3332163"/>
            <a:ext cx="6338887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CC0000"/>
                </a:solidFill>
              </a:rPr>
              <a:t>基于</a:t>
            </a:r>
            <a:r>
              <a:rPr lang="en-US" altLang="zh-CN" sz="2800" b="1">
                <a:solidFill>
                  <a:srgbClr val="CC0000"/>
                </a:solidFill>
              </a:rPr>
              <a:t>T-SQL</a:t>
            </a:r>
            <a:r>
              <a:rPr lang="zh-CN" altLang="en-US" sz="2800" b="1">
                <a:solidFill>
                  <a:srgbClr val="CC0000"/>
                </a:solidFill>
              </a:rPr>
              <a:t>的数据库创建与管理应用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53"/>
    </mc:Choice>
    <mc:Fallback xmlns="">
      <p:transition spd="slow" advTm="3953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917" name="Rectangle 5">
            <a:extLst>
              <a:ext uri="{FF2B5EF4-FFF2-40B4-BE49-F238E27FC236}">
                <a16:creationId xmlns:a16="http://schemas.microsoft.com/office/drawing/2014/main" id="{9B1300DE-CF75-4CF2-8459-38B1CFF15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325688"/>
            <a:ext cx="6237288" cy="16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zh-CN" altLang="en-US" sz="8000" b="1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新魏" pitchFamily="2" charset="-122"/>
              </a:rPr>
              <a:t>谢谢大家！</a:t>
            </a:r>
          </a:p>
        </p:txBody>
      </p:sp>
      <p:sp>
        <p:nvSpPr>
          <p:cNvPr id="97283" name="Rectangle 6">
            <a:extLst>
              <a:ext uri="{FF2B5EF4-FFF2-40B4-BE49-F238E27FC236}">
                <a16:creationId xmlns:a16="http://schemas.microsoft.com/office/drawing/2014/main" id="{B3699E91-D7D3-47D8-BE2D-0C937BA53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" y="63500"/>
            <a:ext cx="8820150" cy="162877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7"/>
    </mc:Choice>
    <mc:Fallback xmlns="">
      <p:transition spd="slow" advTm="2117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4.6|11.7|22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7.6|0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2|14|2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7.1|14.3|6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8|8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68.6|64.7|2.4|10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4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幼圆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12240</TotalTime>
  <Words>1631</Words>
  <Application>Microsoft Office PowerPoint</Application>
  <PresentationFormat>全屏显示(4:3)</PresentationFormat>
  <Paragraphs>198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黑体</vt:lpstr>
      <vt:lpstr>楷体_GB2312</vt:lpstr>
      <vt:lpstr>Arial</vt:lpstr>
      <vt:lpstr>Tahoma</vt:lpstr>
      <vt:lpstr>Times New Roman</vt:lpstr>
      <vt:lpstr>Wingdings</vt:lpstr>
      <vt:lpstr>Blends</vt:lpstr>
      <vt:lpstr>自定义设计方案</vt:lpstr>
      <vt:lpstr>7.3  Transact-SQL流程控制语句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7.4  基于T-SQL的数据库创建与管理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742</cp:revision>
  <cp:lastPrinted>2000-08-23T09:10:16Z</cp:lastPrinted>
  <dcterms:created xsi:type="dcterms:W3CDTF">1601-01-01T00:00:00Z</dcterms:created>
  <dcterms:modified xsi:type="dcterms:W3CDTF">2021-04-20T14:50:38Z</dcterms:modified>
</cp:coreProperties>
</file>