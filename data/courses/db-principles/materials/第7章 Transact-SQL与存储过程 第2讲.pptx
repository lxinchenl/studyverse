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  <p:sldMasterId id="2147483693" r:id="rId2"/>
  </p:sldMasterIdLst>
  <p:notesMasterIdLst>
    <p:notesMasterId r:id="rId40"/>
  </p:notesMasterIdLst>
  <p:handoutMasterIdLst>
    <p:handoutMasterId r:id="rId41"/>
  </p:handoutMasterIdLst>
  <p:sldIdLst>
    <p:sldId id="531" r:id="rId3"/>
    <p:sldId id="751" r:id="rId4"/>
    <p:sldId id="686" r:id="rId5"/>
    <p:sldId id="761" r:id="rId6"/>
    <p:sldId id="460" r:id="rId7"/>
    <p:sldId id="551" r:id="rId8"/>
    <p:sldId id="587" r:id="rId9"/>
    <p:sldId id="510" r:id="rId10"/>
    <p:sldId id="608" r:id="rId11"/>
    <p:sldId id="754" r:id="rId12"/>
    <p:sldId id="752" r:id="rId13"/>
    <p:sldId id="753" r:id="rId14"/>
    <p:sldId id="667" r:id="rId15"/>
    <p:sldId id="766" r:id="rId16"/>
    <p:sldId id="762" r:id="rId17"/>
    <p:sldId id="670" r:id="rId18"/>
    <p:sldId id="759" r:id="rId19"/>
    <p:sldId id="760" r:id="rId20"/>
    <p:sldId id="755" r:id="rId21"/>
    <p:sldId id="668" r:id="rId22"/>
    <p:sldId id="756" r:id="rId23"/>
    <p:sldId id="763" r:id="rId24"/>
    <p:sldId id="764" r:id="rId25"/>
    <p:sldId id="765" r:id="rId26"/>
    <p:sldId id="757" r:id="rId27"/>
    <p:sldId id="767" r:id="rId28"/>
    <p:sldId id="590" r:id="rId29"/>
    <p:sldId id="768" r:id="rId30"/>
    <p:sldId id="758" r:id="rId31"/>
    <p:sldId id="770" r:id="rId32"/>
    <p:sldId id="771" r:id="rId33"/>
    <p:sldId id="772" r:id="rId34"/>
    <p:sldId id="558" r:id="rId35"/>
    <p:sldId id="773" r:id="rId36"/>
    <p:sldId id="774" r:id="rId37"/>
    <p:sldId id="750" r:id="rId38"/>
    <p:sldId id="601" r:id="rId39"/>
  </p:sldIdLst>
  <p:sldSz cx="9144000" cy="6858000" type="screen4x3"/>
  <p:notesSz cx="6662738" cy="98329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97">
          <p15:clr>
            <a:srgbClr val="A4A3A4"/>
          </p15:clr>
        </p15:guide>
        <p15:guide id="2" pos="209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39933"/>
    <a:srgbClr val="C0C0C0"/>
    <a:srgbClr val="CC0000"/>
    <a:srgbClr val="0066FF"/>
    <a:srgbClr val="0066CC"/>
    <a:srgbClr val="800000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02" autoAdjust="0"/>
    <p:restoredTop sz="94569" autoAdjust="0"/>
  </p:normalViewPr>
  <p:slideViewPr>
    <p:cSldViewPr>
      <p:cViewPr varScale="1">
        <p:scale>
          <a:sx n="110" d="100"/>
          <a:sy n="110" d="100"/>
        </p:scale>
        <p:origin x="987" y="79"/>
      </p:cViewPr>
      <p:guideLst>
        <p:guide orient="horz" pos="15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42"/>
    </p:cViewPr>
  </p:sorterViewPr>
  <p:notesViewPr>
    <p:cSldViewPr>
      <p:cViewPr varScale="1">
        <p:scale>
          <a:sx n="51" d="100"/>
          <a:sy n="51" d="100"/>
        </p:scale>
        <p:origin x="-2148" y="-90"/>
      </p:cViewPr>
      <p:guideLst>
        <p:guide orient="horz" pos="3097"/>
        <p:guide pos="209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 descr="Large confetti">
            <a:extLst>
              <a:ext uri="{FF2B5EF4-FFF2-40B4-BE49-F238E27FC236}">
                <a16:creationId xmlns:a16="http://schemas.microsoft.com/office/drawing/2014/main" id="{0CE95174-0EBC-416A-93EE-D8CF09953F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1" sz="1200" smtClean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7523" name="Rectangle 3" descr="Large confetti">
            <a:extLst>
              <a:ext uri="{FF2B5EF4-FFF2-40B4-BE49-F238E27FC236}">
                <a16:creationId xmlns:a16="http://schemas.microsoft.com/office/drawing/2014/main" id="{82198108-C1FC-4C21-8461-CE869A8AD7A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0000" y="0"/>
            <a:ext cx="2819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1" sz="1200" smtClean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4" name="Rectangle 4" descr="Large confetti">
            <a:extLst>
              <a:ext uri="{FF2B5EF4-FFF2-40B4-BE49-F238E27FC236}">
                <a16:creationId xmlns:a16="http://schemas.microsoft.com/office/drawing/2014/main" id="{17B3F377-ABCC-4591-98E2-34DE2420F87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895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 smtClean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5" name="Rectangle 5" descr="Large confetti">
            <a:extLst>
              <a:ext uri="{FF2B5EF4-FFF2-40B4-BE49-F238E27FC236}">
                <a16:creationId xmlns:a16="http://schemas.microsoft.com/office/drawing/2014/main" id="{DACE8477-49C0-423D-8CB1-768353C2D24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0000" y="9372600"/>
            <a:ext cx="2819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17659EB1-0244-4EFE-9ADE-3815CB7669D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>
            <a:extLst>
              <a:ext uri="{FF2B5EF4-FFF2-40B4-BE49-F238E27FC236}">
                <a16:creationId xmlns:a16="http://schemas.microsoft.com/office/drawing/2014/main" id="{EF77001D-2163-4F66-810E-223FD45192F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766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 smtClean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87075" name="Rectangle 3">
            <a:extLst>
              <a:ext uri="{FF2B5EF4-FFF2-40B4-BE49-F238E27FC236}">
                <a16:creationId xmlns:a16="http://schemas.microsoft.com/office/drawing/2014/main" id="{8120A9A8-FB57-431B-B476-A1B8CE28359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73488" y="0"/>
            <a:ext cx="2887662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 smtClean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8308" name="Rectangle 4">
            <a:extLst>
              <a:ext uri="{FF2B5EF4-FFF2-40B4-BE49-F238E27FC236}">
                <a16:creationId xmlns:a16="http://schemas.microsoft.com/office/drawing/2014/main" id="{714E1B6F-5CC5-4019-A5D3-045A4F5F884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4713" y="738188"/>
            <a:ext cx="4914900" cy="36861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7077" name="Rectangle 5">
            <a:extLst>
              <a:ext uri="{FF2B5EF4-FFF2-40B4-BE49-F238E27FC236}">
                <a16:creationId xmlns:a16="http://schemas.microsoft.com/office/drawing/2014/main" id="{B788B5FC-AB9C-4D57-8F3E-69E3D5865EA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670425"/>
            <a:ext cx="5329238" cy="442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87078" name="Rectangle 6">
            <a:extLst>
              <a:ext uri="{FF2B5EF4-FFF2-40B4-BE49-F238E27FC236}">
                <a16:creationId xmlns:a16="http://schemas.microsoft.com/office/drawing/2014/main" id="{95110916-992F-4EC2-B0D1-89EE2D1DDB2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39263"/>
            <a:ext cx="288766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 smtClean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7079" name="Rectangle 7">
            <a:extLst>
              <a:ext uri="{FF2B5EF4-FFF2-40B4-BE49-F238E27FC236}">
                <a16:creationId xmlns:a16="http://schemas.microsoft.com/office/drawing/2014/main" id="{0023F3D8-1D04-40F3-A74E-F43A868FC2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3488" y="9339263"/>
            <a:ext cx="2887662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7993EDBE-2D38-4EE0-8E35-DC1DCB207075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A2E952E5-6565-4D68-8671-7A1556FBD7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fld id="{BA1CEE8D-89CD-4598-AC0C-D705110D64C6}" type="slidenum"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/>
              <a:t>5</a:t>
            </a:fld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3429817C-4B40-4B89-8373-CF5897BF5B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3DCE2C76-07F7-408D-9DCA-C3D61AE4D4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102F7529-38D4-4859-B806-75F99D5071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fld id="{E0F5FFCE-A05B-4FD0-8DB8-9FD4307CA6BE}" type="slidenum"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/>
              <a:t>6</a:t>
            </a:fld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C81C39F0-6666-4998-8FBC-1472DB857C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33A91C85-5284-434A-9375-45532A7EDB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4E5E7BE9-26E9-4100-BB84-371014723D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fld id="{41CCFA76-EC95-4292-A753-A1106DDC1504}" type="slidenum"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/>
              <a:t>8</a:t>
            </a:fld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55BA14A1-B4F5-4D72-ABC6-D564A90FD4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71C42291-B84F-4DDF-B5C2-00766F031D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A8A99EED-D390-4E3D-BF75-62C8E7F548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fld id="{8E53EE96-673E-40AA-890A-6FB61F5B2E85}" type="slidenum"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/>
              <a:t>33</a:t>
            </a:fld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6415BF38-DA30-4711-BA09-62AD846C75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E27FCEC1-ADE0-4930-9272-F5DF68B12A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>
            <a:extLst>
              <a:ext uri="{FF2B5EF4-FFF2-40B4-BE49-F238E27FC236}">
                <a16:creationId xmlns:a16="http://schemas.microsoft.com/office/drawing/2014/main" id="{0EB4E461-CF5B-4DB3-AC61-CEE20ACCF2A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773488" y="9339263"/>
            <a:ext cx="288766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/>
            <a:fld id="{CFE427A7-93F5-4531-AD6D-0792BEF300A8}" type="slidenum">
              <a:rPr kumimoji="1" lang="zh-CN" altLang="en-US" sz="1200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/>
              <a:t>34</a:t>
            </a:fld>
            <a:endParaRPr kumimoji="1" lang="en-US" altLang="zh-CN" sz="1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2275" name="Rectangle 2">
            <a:extLst>
              <a:ext uri="{FF2B5EF4-FFF2-40B4-BE49-F238E27FC236}">
                <a16:creationId xmlns:a16="http://schemas.microsoft.com/office/drawing/2014/main" id="{C94941FE-D5F4-46B4-86AB-B2C42F39BA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6" name="Rectangle 3">
            <a:extLst>
              <a:ext uri="{FF2B5EF4-FFF2-40B4-BE49-F238E27FC236}">
                <a16:creationId xmlns:a16="http://schemas.microsoft.com/office/drawing/2014/main" id="{95A70368-7179-4734-8557-BE316DFE5F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>
            <a:extLst>
              <a:ext uri="{FF2B5EF4-FFF2-40B4-BE49-F238E27FC236}">
                <a16:creationId xmlns:a16="http://schemas.microsoft.com/office/drawing/2014/main" id="{EAA424A5-1DB5-4AAE-8D70-9B8686AD3D5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773488" y="9339263"/>
            <a:ext cx="288766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/>
            <a:fld id="{52CEAA2C-7038-4624-8804-A76996F3470F}" type="slidenum">
              <a:rPr kumimoji="1" lang="zh-CN" altLang="en-US" sz="1200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/>
              <a:t>35</a:t>
            </a:fld>
            <a:endParaRPr kumimoji="1" lang="en-US" altLang="zh-CN" sz="1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23" name="Rectangle 2">
            <a:extLst>
              <a:ext uri="{FF2B5EF4-FFF2-40B4-BE49-F238E27FC236}">
                <a16:creationId xmlns:a16="http://schemas.microsoft.com/office/drawing/2014/main" id="{91B20372-A436-44AA-A59D-E937D0B7C9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4" name="Rectangle 3">
            <a:extLst>
              <a:ext uri="{FF2B5EF4-FFF2-40B4-BE49-F238E27FC236}">
                <a16:creationId xmlns:a16="http://schemas.microsoft.com/office/drawing/2014/main" id="{8A13C067-0741-4A7D-B13E-EB745A681A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45924E31-5CC7-4FB0-965B-CE49C5E823CB}"/>
              </a:ext>
            </a:extLst>
          </p:cNvPr>
          <p:cNvGrpSpPr>
            <a:grpSpLocks/>
          </p:cNvGrpSpPr>
          <p:nvPr/>
        </p:nvGrpSpPr>
        <p:grpSpPr bwMode="auto">
          <a:xfrm>
            <a:off x="0" y="2232025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9B6A9C86-547B-4D66-92E9-E624573232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19A25CD3-94FB-490E-8378-C63DD9D16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1FE9D9A5-1DBE-4865-8ACB-1795F8A93A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155A0651-60A1-4A6C-8DD3-0238EAE6D6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C902EE46-9EE4-4670-BD3F-7F3C12999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7D802DF7-EDDD-4476-8F9D-A255F3C29C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A9CF6950-D2CE-4F79-803E-9F1CA32D11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E45C2FD0-60D1-471C-A5DB-B016BE706B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6147F544-5010-4367-B089-0A8D8E97611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</p:grpSp>
      <p:sp>
        <p:nvSpPr>
          <p:cNvPr id="7526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827088" y="1052513"/>
            <a:ext cx="8137525" cy="1462087"/>
          </a:xfrm>
        </p:spPr>
        <p:txBody>
          <a:bodyPr/>
          <a:lstStyle>
            <a:lvl1pPr algn="ctr">
              <a:defRPr sz="4800">
                <a:ea typeface="隶书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7526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16338"/>
            <a:ext cx="6400800" cy="1752600"/>
          </a:xfrm>
        </p:spPr>
        <p:txBody>
          <a:bodyPr/>
          <a:lstStyle>
            <a:lvl1pPr marL="0" indent="0" algn="ctr"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E27B6FB3-B378-4639-BF8F-B4DEF4DFCA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AF88C572-DF07-481F-9C88-1C58339D22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C0D7136F-83EF-42AD-AD0E-0B56B61281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7021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961C48F-0278-4747-9B06-42522DDD8C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FDA6C19-C7CF-4F75-AE25-A449D4E449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7B32AAE-9C21-42C6-9847-3E5AC3642F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2232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E2BC927-A530-4D69-8B9D-3D888293A6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8EB9E31-239E-41CB-812B-AB63E2B375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04E48C6-50BF-489B-85C4-BFAB1F83AB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603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1188" y="1258888"/>
            <a:ext cx="3919537" cy="5338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3125" y="1258888"/>
            <a:ext cx="3921125" cy="5338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0B7A2D4-9B84-408B-8AD4-9074898E0B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8439D67-25EA-429A-9667-CCC6146245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3794E48-B21E-4081-B9ED-23CED2BD74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1922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EF2DCC11-FF76-42B2-9D3B-E6F52C52A0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DB11F00-CC90-4A81-ACF0-C475850818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014F8289-CDAB-4745-B7CC-CCE693F304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6565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0015D02C-CBF2-48DB-BF48-7BE0BBCB66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D7D9CCC-EE47-475E-857F-4B3EED8C1A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0370D0F5-5160-4573-89AC-0EC1539693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9008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F269EE91-92BD-41EB-860C-BA0A3A1163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BC633EED-BCF3-49AC-B7C5-05B3FCAAC7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34F49E1C-217B-4072-B1A7-4938BA7943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2671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18AEAED3-7731-4E99-B475-C68443E26C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965A5031-A928-4482-9918-CBEDF37485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28778C4E-1237-42B1-B931-C1AEAF27F4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2913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27487F5-7873-432D-B4F8-67DF4C33F3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3FB8BE1-D3BD-4365-9A23-1A91DB92B8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38768C9-E126-4230-B275-A4280D37F7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149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0AEC598-3002-41C2-875C-DCFC201431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1706355-7D66-4170-BB79-C86060992A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6FA219B3-3B76-4F41-A6F0-8BF8F283D4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0159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61175" y="214313"/>
            <a:ext cx="2082800" cy="63833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1188" y="214313"/>
            <a:ext cx="6097587" cy="63833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3060E1A3-8306-42C3-ADA9-5D27717269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2ACC7C4-1799-4C15-8CCE-109A2484A0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61C3EBD-92DC-4743-B143-92201828F8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3151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DC6E662-297C-405D-93AF-02E23DB878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67DDAAB-DCA4-486C-AB7F-EA17E39C0C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587734E-6FAD-4C42-B1A6-C86D3C4AC6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20410A-9354-4657-B77C-08ECAE8092A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89176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95EBFCF-F625-46C8-9C83-35F720B658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2A53325-7E60-448A-A0B0-2A907F308E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34FE433-65B8-4406-86DD-0BB17FE150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8B9A9E-42CB-4146-9F34-C565946B1AD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2851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F74CD5B-F85F-4BF3-9F69-03D483A9C6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4A4376-6516-4F00-80CF-3160587D2B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EC4BEE-2396-489A-9E38-9969A671C3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91B025-11F2-421B-8B6C-11D0DB4F1BD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73454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EE0B8A-C6B3-4BDD-8620-1CAF5E1886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39D2C5-AA50-4C08-9884-98FDF2D5F7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5F88FA-5D8F-4493-B39A-5C342A2602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807767-B712-4121-B474-DF5F993FF92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34446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C53E66A-C3FB-496A-B944-AA96C9F2BE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01E326F-9A0C-445D-9005-00808B7708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FC68FC9-BA52-4DB3-BA97-D1C25368D3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805AF9-82DF-49F7-98C1-A7542F55A2E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1155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ACA62D3-8AC1-4910-9319-724F0763BC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5B63267-B1C8-4CC8-862C-9E97E7B185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14D4FC2-BBD5-46C2-92C4-02B2E85E15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B33366-0707-4880-A49C-C583DD18B8F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38252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4CE8898-67DB-488B-A1AE-87EAD0B3C8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77FDD29-20E2-4B3F-8430-1629E16299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D239CCC-E2D5-493F-901D-6D1143D60C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D50D7F-E0E4-46A4-B78A-359605D61F6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51034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F3FDC6-5B0D-443E-A158-1A60383D01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C28F0D-4409-4BC5-9C9B-34AC4C8EE6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884540-491D-481D-8D82-0EB6D9C8AB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C07452-B31B-4951-8BC3-D8B6CB8415E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44325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03439A-0566-41CC-936F-4E03F5B0DC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CA3060-3C61-4F3E-8235-DA9B06CD1B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517343-AF89-40A4-8F16-6E0A5D99C1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B3C792-11DD-4AB7-AA09-4EBB683BC9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79795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E7925F5-0C1D-4FAA-BF06-D743122437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917DAEC-5903-409B-A751-0970CD2908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B588893-D08E-4843-AEDD-1B9D1BD09C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539065-0927-46B2-9790-1F1CD2CB3E1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18177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5FA545A-2902-4423-A9FB-8ADF290CF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BD602B9-9954-4AE8-9152-CA7ED2BED4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90427B9-6F66-434E-BDF8-7FA481AE80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1B67DB-8E07-48D0-873A-C2CDDF5B6E3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3568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618" name="Rectangle 2">
            <a:extLst>
              <a:ext uri="{FF2B5EF4-FFF2-40B4-BE49-F238E27FC236}">
                <a16:creationId xmlns:a16="http://schemas.microsoft.com/office/drawing/2014/main" id="{6CBCFED0-659A-4BAB-98D2-02493A70D98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252413"/>
            <a:ext cx="438150" cy="47466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51619" name="Rectangle 3">
            <a:extLst>
              <a:ext uri="{FF2B5EF4-FFF2-40B4-BE49-F238E27FC236}">
                <a16:creationId xmlns:a16="http://schemas.microsoft.com/office/drawing/2014/main" id="{6968E83E-751D-4460-835E-77F08B288E4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252413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51620" name="Rectangle 4">
            <a:extLst>
              <a:ext uri="{FF2B5EF4-FFF2-40B4-BE49-F238E27FC236}">
                <a16:creationId xmlns:a16="http://schemas.microsoft.com/office/drawing/2014/main" id="{616F47B1-C7F2-4A99-A06A-7C0A0CBF361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674688"/>
            <a:ext cx="422275" cy="474662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51621" name="Rectangle 5">
            <a:extLst>
              <a:ext uri="{FF2B5EF4-FFF2-40B4-BE49-F238E27FC236}">
                <a16:creationId xmlns:a16="http://schemas.microsoft.com/office/drawing/2014/main" id="{94854B89-6E2D-4A68-BDAF-80072F9EDDA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6746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51622" name="Rectangle 6">
            <a:extLst>
              <a:ext uri="{FF2B5EF4-FFF2-40B4-BE49-F238E27FC236}">
                <a16:creationId xmlns:a16="http://schemas.microsoft.com/office/drawing/2014/main" id="{284435BB-1EF9-4C14-AEF2-112D2BEDFD3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6016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51623" name="Rectangle 7">
            <a:extLst>
              <a:ext uri="{FF2B5EF4-FFF2-40B4-BE49-F238E27FC236}">
                <a16:creationId xmlns:a16="http://schemas.microsoft.com/office/drawing/2014/main" id="{EEEF85A7-8DDD-46C5-A22F-0CF1952C2852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144463"/>
            <a:ext cx="31750" cy="1052512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51624" name="Rectangle 8">
            <a:extLst>
              <a:ext uri="{FF2B5EF4-FFF2-40B4-BE49-F238E27FC236}">
                <a16:creationId xmlns:a16="http://schemas.microsoft.com/office/drawing/2014/main" id="{D75A2610-96E8-47B8-901C-3A8DD93E1D88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9350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51625" name="Rectangle 9">
            <a:extLst>
              <a:ext uri="{FF2B5EF4-FFF2-40B4-BE49-F238E27FC236}">
                <a16:creationId xmlns:a16="http://schemas.microsoft.com/office/drawing/2014/main" id="{2ECCA7A9-826E-49DF-89D8-70C9599FC1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51626" name="Rectangle 10">
            <a:extLst>
              <a:ext uri="{FF2B5EF4-FFF2-40B4-BE49-F238E27FC236}">
                <a16:creationId xmlns:a16="http://schemas.microsoft.com/office/drawing/2014/main" id="{FC8909F5-B8CD-4BF4-B9F3-2D491690C9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258888"/>
            <a:ext cx="7993062" cy="533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51627" name="Rectangle 11">
            <a:extLst>
              <a:ext uri="{FF2B5EF4-FFF2-40B4-BE49-F238E27FC236}">
                <a16:creationId xmlns:a16="http://schemas.microsoft.com/office/drawing/2014/main" id="{15B3FE39-13A5-4160-90D0-F152646FAB3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51628" name="Rectangle 12">
            <a:extLst>
              <a:ext uri="{FF2B5EF4-FFF2-40B4-BE49-F238E27FC236}">
                <a16:creationId xmlns:a16="http://schemas.microsoft.com/office/drawing/2014/main" id="{22387718-CC5C-48B8-B9F6-E059646948E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51629" name="Rectangle 13">
            <a:extLst>
              <a:ext uri="{FF2B5EF4-FFF2-40B4-BE49-F238E27FC236}">
                <a16:creationId xmlns:a16="http://schemas.microsoft.com/office/drawing/2014/main" id="{8A082BD8-9946-428E-9209-D15FC285A1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smtClean="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25" r:id="rId2"/>
    <p:sldLayoutId id="2147483724" r:id="rId3"/>
    <p:sldLayoutId id="2147483723" r:id="rId4"/>
    <p:sldLayoutId id="2147483722" r:id="rId5"/>
    <p:sldLayoutId id="2147483721" r:id="rId6"/>
    <p:sldLayoutId id="2147483720" r:id="rId7"/>
    <p:sldLayoutId id="2147483719" r:id="rId8"/>
    <p:sldLayoutId id="2147483718" r:id="rId9"/>
    <p:sldLayoutId id="2147483717" r:id="rId10"/>
    <p:sldLayoutId id="2147483716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51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51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751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751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751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1626" grpId="0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16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75162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16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75162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16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75162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16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75162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16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75162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幼圆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幼圆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幼圆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幼圆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幼圆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幼圆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幼圆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幼圆" pitchFamily="49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•"/>
        <a:defRPr sz="28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5pPr>
      <a:lvl6pPr marL="25146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6pPr>
      <a:lvl7pPr marL="29718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7pPr>
      <a:lvl8pPr marL="3429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8pPr>
      <a:lvl9pPr marL="3886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5432366-EC5E-49ED-B7E6-CE37CBE5B5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3E6E70A-4083-48B6-B299-9A815DB5CC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83364" name="Rectangle 4">
            <a:extLst>
              <a:ext uri="{FF2B5EF4-FFF2-40B4-BE49-F238E27FC236}">
                <a16:creationId xmlns:a16="http://schemas.microsoft.com/office/drawing/2014/main" id="{AF4DCCF9-B7F7-48F0-80CD-53A8059033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400" smtClean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83365" name="Rectangle 5">
            <a:extLst>
              <a:ext uri="{FF2B5EF4-FFF2-40B4-BE49-F238E27FC236}">
                <a16:creationId xmlns:a16="http://schemas.microsoft.com/office/drawing/2014/main" id="{D57C824E-C08F-491C-BA5F-E40BC4C64D7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1" sz="1400" smtClean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83366" name="Rectangle 6">
            <a:extLst>
              <a:ext uri="{FF2B5EF4-FFF2-40B4-BE49-F238E27FC236}">
                <a16:creationId xmlns:a16="http://schemas.microsoft.com/office/drawing/2014/main" id="{528B62DC-089D-4E4E-AC00-BE7848B7FA9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4C26727E-7E04-41BF-94D4-C3FB65FDA3F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5" r:id="rId2"/>
    <p:sldLayoutId id="2147483734" r:id="rId3"/>
    <p:sldLayoutId id="2147483733" r:id="rId4"/>
    <p:sldLayoutId id="2147483732" r:id="rId5"/>
    <p:sldLayoutId id="2147483731" r:id="rId6"/>
    <p:sldLayoutId id="2147483730" r:id="rId7"/>
    <p:sldLayoutId id="2147483729" r:id="rId8"/>
    <p:sldLayoutId id="2147483728" r:id="rId9"/>
    <p:sldLayoutId id="2147483727" r:id="rId10"/>
    <p:sldLayoutId id="214748372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077" name="Rectangle 13">
            <a:extLst>
              <a:ext uri="{FF2B5EF4-FFF2-40B4-BE49-F238E27FC236}">
                <a16:creationId xmlns:a16="http://schemas.microsoft.com/office/drawing/2014/main" id="{3BB504E0-401B-4AE1-91C1-E8350C9A8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80963"/>
            <a:ext cx="3959225" cy="574675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rgbClr val="C0C0C0">
                  <a:gamma/>
                  <a:tint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  <a:headEnd/>
            <a:tailEnd/>
          </a:ln>
          <a:effectLst/>
        </p:spPr>
        <p:txBody>
          <a:bodyPr tIns="76176" bIns="72000" anchor="ctr" anchorCtr="1">
            <a:spAutoFit/>
          </a:bodyPr>
          <a:lstStyle/>
          <a:p>
            <a:pPr algn="ctr">
              <a:defRPr/>
            </a:pPr>
            <a:r>
              <a:rPr lang="zh-CN" altLang="en-US" sz="28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隶书" pitchFamily="49" charset="-122"/>
              </a:rPr>
              <a:t>数据库系统原理及应用</a:t>
            </a:r>
            <a:endParaRPr kumimoji="1" lang="zh-CN" altLang="en-US" sz="30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600078" name="Rectangle 14">
            <a:extLst>
              <a:ext uri="{FF2B5EF4-FFF2-40B4-BE49-F238E27FC236}">
                <a16:creationId xmlns:a16="http://schemas.microsoft.com/office/drawing/2014/main" id="{E3F21F43-EB40-4D5F-A75F-A091411CFD5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27088" y="2327275"/>
            <a:ext cx="8137525" cy="1462088"/>
          </a:xfrm>
        </p:spPr>
        <p:txBody>
          <a:bodyPr/>
          <a:lstStyle/>
          <a:p>
            <a:pPr eaLnBrk="1" hangingPunct="1"/>
            <a:r>
              <a:rPr lang="zh-CN" altLang="en-US" sz="4000"/>
              <a:t>第</a:t>
            </a:r>
            <a:r>
              <a:rPr lang="en-US" altLang="zh-CN" sz="4000"/>
              <a:t>7</a:t>
            </a:r>
            <a:r>
              <a:rPr lang="zh-CN" altLang="en-US" sz="4000"/>
              <a:t>章  </a:t>
            </a:r>
            <a:r>
              <a:rPr lang="en-US" altLang="zh-CN" sz="4000"/>
              <a:t>Transact-SQL</a:t>
            </a:r>
            <a:r>
              <a:rPr lang="zh-CN" altLang="en-US" sz="4000"/>
              <a:t>与存储过程</a:t>
            </a:r>
            <a:br>
              <a:rPr lang="zh-CN" altLang="en-US" sz="4000"/>
            </a:br>
            <a:r>
              <a:rPr lang="zh-CN" altLang="en-US" sz="4000"/>
              <a:t>（第二讲）</a:t>
            </a:r>
            <a:r>
              <a:rPr lang="en-US" altLang="zh-CN" sz="4400"/>
              <a:t> </a:t>
            </a:r>
          </a:p>
        </p:txBody>
      </p:sp>
      <p:pic>
        <p:nvPicPr>
          <p:cNvPr id="4100" name="Picture 15" descr="BS02064_">
            <a:extLst>
              <a:ext uri="{FF2B5EF4-FFF2-40B4-BE49-F238E27FC236}">
                <a16:creationId xmlns:a16="http://schemas.microsoft.com/office/drawing/2014/main" id="{9444632C-F25B-4F84-A719-54FD1858F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24288"/>
            <a:ext cx="3048000" cy="303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34"/>
    </mc:Choice>
    <mc:Fallback xmlns="">
      <p:transition spd="slow" advTm="29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500"/>
                                        <p:tgtEl>
                                          <p:spTgt spid="600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007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278" name="Rectangle 6">
            <a:extLst>
              <a:ext uri="{FF2B5EF4-FFF2-40B4-BE49-F238E27FC236}">
                <a16:creationId xmlns:a16="http://schemas.microsoft.com/office/drawing/2014/main" id="{EA85A283-127E-4DA8-84A0-9DEB9EE7C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13" y="214313"/>
            <a:ext cx="7793037" cy="6223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3600" b="1">
                <a:solidFill>
                  <a:schemeClr val="tx2"/>
                </a:solidFill>
                <a:latin typeface="Tahoma" panose="020B0604030504040204" pitchFamily="34" charset="0"/>
                <a:ea typeface="幼圆" panose="02010509060101010101" pitchFamily="49" charset="-122"/>
              </a:rPr>
              <a:t>主要内容</a:t>
            </a:r>
          </a:p>
        </p:txBody>
      </p:sp>
      <p:sp>
        <p:nvSpPr>
          <p:cNvPr id="822279" name="Rectangle 7">
            <a:extLst>
              <a:ext uri="{FF2B5EF4-FFF2-40B4-BE49-F238E27FC236}">
                <a16:creationId xmlns:a16="http://schemas.microsoft.com/office/drawing/2014/main" id="{B52646FF-8AAD-40C3-9A27-B3C960955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71575"/>
            <a:ext cx="7993062" cy="532765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sz="800" b="1" dirty="0">
              <a:solidFill>
                <a:srgbClr val="6600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　  </a:t>
            </a:r>
            <a:r>
              <a:rPr lang="en-US" altLang="zh-CN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7.5 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存储过程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</a:rPr>
              <a:t>        一、</a:t>
            </a:r>
            <a:r>
              <a:rPr lang="zh-CN" altLang="en-US" sz="2800" b="1" dirty="0">
                <a:latin typeface="楷体_GB2312" pitchFamily="49" charset="-122"/>
              </a:rPr>
              <a:t>存储过程概述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</a:rPr>
              <a:t>        </a:t>
            </a:r>
            <a:r>
              <a:rPr lang="zh-CN" altLang="en-US" sz="2800" b="1" dirty="0">
                <a:solidFill>
                  <a:srgbClr val="CC0000"/>
                </a:solidFill>
                <a:latin typeface="楷体_GB2312" pitchFamily="49" charset="-122"/>
              </a:rPr>
              <a:t>二、创建存储过程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楷体_GB2312" pitchFamily="49" charset="-122"/>
              </a:rPr>
              <a:t>        </a:t>
            </a:r>
            <a:r>
              <a:rPr lang="zh-CN" altLang="en-US" sz="2800" b="1" dirty="0">
                <a:solidFill>
                  <a:srgbClr val="CC0000"/>
                </a:solidFill>
                <a:latin typeface="楷体_GB2312" pitchFamily="49" charset="-122"/>
              </a:rPr>
              <a:t>三、执行存储过程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楷体_GB2312" pitchFamily="49" charset="-122"/>
              </a:rPr>
              <a:t>        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</a:rPr>
              <a:t>四、</a:t>
            </a:r>
            <a:r>
              <a:rPr lang="zh-CN" altLang="en-US" sz="2800" b="1" dirty="0">
                <a:latin typeface="楷体_GB2312" pitchFamily="49" charset="-122"/>
              </a:rPr>
              <a:t>管理存储过程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59"/>
    </mc:Choice>
    <mc:Fallback xmlns="">
      <p:transition spd="slow" advTm="575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25" name="Rectangle 5">
            <a:extLst>
              <a:ext uri="{FF2B5EF4-FFF2-40B4-BE49-F238E27FC236}">
                <a16:creationId xmlns:a16="http://schemas.microsoft.com/office/drawing/2014/main" id="{1930DC68-D820-4DEC-B5C9-CA4277377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71575"/>
            <a:ext cx="7993062" cy="532765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sz="800" b="1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800000"/>
                </a:solidFill>
                <a:latin typeface="Tahoma" panose="020B0604030504040204" pitchFamily="34" charset="0"/>
              </a:rPr>
              <a:t>       </a:t>
            </a:r>
            <a:r>
              <a:rPr lang="en-US" altLang="zh-CN" sz="28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、什么是存储过程</a:t>
            </a:r>
            <a:endParaRPr lang="en-US" altLang="zh-CN" sz="2800" b="1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4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latin typeface="Tahoma" panose="020B0604030504040204" pitchFamily="34" charset="0"/>
              </a:rPr>
              <a:t>       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存储过程类似于编程语言中的过程。在使用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T-SQL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语言编程的过程中，可以将某些需要多次实现（调用）的</a:t>
            </a:r>
            <a:r>
              <a:rPr lang="zh-CN" altLang="en-US" sz="2800" b="1">
                <a:solidFill>
                  <a:srgbClr val="0000FF"/>
                </a:solidFill>
                <a:latin typeface="Tahoma" panose="020B0604030504040204" pitchFamily="34" charset="0"/>
              </a:rPr>
              <a:t>查询、业务规则、被其它过程使用的公共例行程序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编写成一个个过程，将其编译好保存在（数据库服务器的）数据库中，并由客户端应用程序、其他过程或触发器来通过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过程名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来调用它们。所以将其称为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存储过程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901126" name="Rectangle 6">
            <a:extLst>
              <a:ext uri="{FF2B5EF4-FFF2-40B4-BE49-F238E27FC236}">
                <a16:creationId xmlns:a16="http://schemas.microsoft.com/office/drawing/2014/main" id="{36802CF6-61CD-44CC-8136-9BC575B13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一、存储过程概述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955"/>
    </mc:Choice>
    <mc:Fallback xmlns="">
      <p:transition spd="slow" advTm="2895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25" name="Rectangle 5">
            <a:extLst>
              <a:ext uri="{FF2B5EF4-FFF2-40B4-BE49-F238E27FC236}">
                <a16:creationId xmlns:a16="http://schemas.microsoft.com/office/drawing/2014/main" id="{892AFAB0-D827-4932-A85C-0F55EC1A9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71575"/>
            <a:ext cx="7993062" cy="532765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sz="800" b="1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800000"/>
                </a:solidFill>
                <a:latin typeface="Tahoma" panose="020B0604030504040204" pitchFamily="34" charset="0"/>
              </a:rPr>
              <a:t>       </a:t>
            </a:r>
            <a:r>
              <a:rPr lang="en-US" altLang="zh-CN" sz="28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、什么是存储过程</a:t>
            </a:r>
            <a:endParaRPr lang="en-US" altLang="zh-CN" sz="2800" b="1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 eaLnBrk="1" hangingPunct="1">
              <a:lnSpc>
                <a:spcPct val="140000"/>
              </a:lnSpc>
              <a:buClr>
                <a:schemeClr val="folHlink"/>
              </a:buClr>
              <a:buFont typeface="Wingdings" panose="05000000000000000000" pitchFamily="2" charset="2"/>
              <a:buChar char="u"/>
            </a:pPr>
            <a:r>
              <a:rPr lang="zh-CN" altLang="en-US" sz="2800" b="1">
                <a:latin typeface="Tahoma" panose="020B0604030504040204" pitchFamily="34" charset="0"/>
              </a:rPr>
              <a:t> 是</a:t>
            </a:r>
            <a:r>
              <a:rPr lang="en-US" altLang="zh-CN" sz="2800" b="1">
                <a:latin typeface="Tahoma" panose="020B0604030504040204" pitchFamily="34" charset="0"/>
              </a:rPr>
              <a:t>SQL Server</a:t>
            </a:r>
            <a:r>
              <a:rPr lang="zh-CN" altLang="en-US" sz="2800" b="1">
                <a:latin typeface="Tahoma" panose="020B0604030504040204" pitchFamily="34" charset="0"/>
              </a:rPr>
              <a:t>服务器上一组完成特定功能的预编译的</a:t>
            </a:r>
            <a:r>
              <a:rPr lang="en-US" altLang="zh-CN" sz="2800" b="1">
                <a:latin typeface="Tahoma" panose="020B0604030504040204" pitchFamily="34" charset="0"/>
              </a:rPr>
              <a:t>T-SQL</a:t>
            </a:r>
            <a:r>
              <a:rPr lang="zh-CN" altLang="en-US" sz="2800" b="1">
                <a:latin typeface="Tahoma" panose="020B0604030504040204" pitchFamily="34" charset="0"/>
              </a:rPr>
              <a:t>语句集合</a:t>
            </a:r>
          </a:p>
          <a:p>
            <a:pPr lvl="2" eaLnBrk="1" hangingPunct="1">
              <a:lnSpc>
                <a:spcPct val="140000"/>
              </a:lnSpc>
              <a:buClr>
                <a:schemeClr val="folHlink"/>
              </a:buClr>
              <a:buFont typeface="Wingdings" panose="05000000000000000000" pitchFamily="2" charset="2"/>
              <a:buChar char="u"/>
            </a:pPr>
            <a:r>
              <a:rPr lang="zh-CN" altLang="en-US" sz="2800" b="1">
                <a:latin typeface="Tahoma" panose="020B0604030504040204" pitchFamily="34" charset="0"/>
              </a:rPr>
              <a:t> 是封装重复性任务的方法</a:t>
            </a:r>
          </a:p>
          <a:p>
            <a:pPr lvl="2" eaLnBrk="1" hangingPunct="1">
              <a:lnSpc>
                <a:spcPct val="140000"/>
              </a:lnSpc>
              <a:buClr>
                <a:schemeClr val="folHlink"/>
              </a:buClr>
              <a:buFont typeface="Wingdings" panose="05000000000000000000" pitchFamily="2" charset="2"/>
              <a:buChar char="u"/>
            </a:pPr>
            <a:r>
              <a:rPr lang="zh-CN" altLang="en-US" sz="2800" b="1">
                <a:latin typeface="Tahoma" panose="020B0604030504040204" pitchFamily="34" charset="0"/>
              </a:rPr>
              <a:t> 支持用户声明变量、条件执行以及其它强有力的编程特性       </a:t>
            </a:r>
          </a:p>
        </p:txBody>
      </p:sp>
      <p:sp>
        <p:nvSpPr>
          <p:cNvPr id="901126" name="Rectangle 6">
            <a:extLst>
              <a:ext uri="{FF2B5EF4-FFF2-40B4-BE49-F238E27FC236}">
                <a16:creationId xmlns:a16="http://schemas.microsoft.com/office/drawing/2014/main" id="{D8AB34DF-9260-43F8-8B5E-0D8AB111A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一、存储过程概述 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945"/>
    </mc:Choice>
    <mc:Fallback xmlns="">
      <p:transition spd="slow" advTm="229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1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1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48" name="Rectangle 16">
            <a:extLst>
              <a:ext uri="{FF2B5EF4-FFF2-40B4-BE49-F238E27FC236}">
                <a16:creationId xmlns:a16="http://schemas.microsoft.com/office/drawing/2014/main" id="{B2413F97-3639-49EF-A80A-08F7E7D2F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71575"/>
            <a:ext cx="7993062" cy="532765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sz="800" b="1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8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、存储过程的性能</a:t>
            </a:r>
          </a:p>
          <a:p>
            <a:pPr lvl="1" eaLnBrk="1" hangingPunct="1">
              <a:lnSpc>
                <a:spcPct val="140000"/>
              </a:lnSpc>
              <a:buClr>
                <a:schemeClr val="folHlink"/>
              </a:buClr>
              <a:buFont typeface="Wingdings" panose="05000000000000000000" pitchFamily="2" charset="2"/>
              <a:buChar char="u"/>
            </a:pPr>
            <a:r>
              <a:rPr lang="zh-CN" altLang="en-US" sz="2600" b="1">
                <a:latin typeface="Times New Roman" panose="02020603050405020304" pitchFamily="18" charset="0"/>
              </a:rPr>
              <a:t>可以接受输入参数，并能以输出参数的形式为调用过程或批处理返回多个值。</a:t>
            </a:r>
          </a:p>
          <a:p>
            <a:pPr lvl="1" eaLnBrk="1" hangingPunct="1">
              <a:lnSpc>
                <a:spcPct val="140000"/>
              </a:lnSpc>
              <a:buClr>
                <a:schemeClr val="folHlink"/>
              </a:buClr>
              <a:buFont typeface="Wingdings" panose="05000000000000000000" pitchFamily="2" charset="2"/>
              <a:buChar char="u"/>
            </a:pPr>
            <a:r>
              <a:rPr lang="zh-CN" altLang="en-US" sz="2600" b="1">
                <a:latin typeface="Times New Roman" panose="02020603050405020304" pitchFamily="18" charset="0"/>
              </a:rPr>
              <a:t>包含有执行数据库操作的</a:t>
            </a:r>
            <a:r>
              <a:rPr lang="en-US" altLang="zh-CN" sz="2600" b="1">
                <a:latin typeface="Times New Roman" panose="02020603050405020304" pitchFamily="18" charset="0"/>
              </a:rPr>
              <a:t>T-SQL</a:t>
            </a:r>
            <a:r>
              <a:rPr lang="zh-CN" altLang="en-US" sz="2600" b="1">
                <a:latin typeface="Times New Roman" panose="02020603050405020304" pitchFamily="18" charset="0"/>
              </a:rPr>
              <a:t>编程语句，可以调用其他存储过程或嵌套调用。</a:t>
            </a:r>
          </a:p>
          <a:p>
            <a:pPr lvl="1" eaLnBrk="1" hangingPunct="1">
              <a:lnSpc>
                <a:spcPct val="140000"/>
              </a:lnSpc>
              <a:buClr>
                <a:schemeClr val="folHlink"/>
              </a:buClr>
              <a:buFont typeface="Wingdings" panose="05000000000000000000" pitchFamily="2" charset="2"/>
              <a:buChar char="u"/>
            </a:pPr>
            <a:r>
              <a:rPr lang="zh-CN" altLang="en-US" sz="2600" b="1">
                <a:latin typeface="Times New Roman" panose="02020603050405020304" pitchFamily="18" charset="0"/>
              </a:rPr>
              <a:t>可向调用过程或批处理返回一个状态值，以表示成功或失败，以及失败原因。</a:t>
            </a:r>
            <a:r>
              <a:rPr lang="zh-CN" altLang="en-US" sz="2600"/>
              <a:t> </a:t>
            </a:r>
            <a:endParaRPr lang="zh-CN" altLang="en-US" sz="2600" b="1"/>
          </a:p>
        </p:txBody>
      </p:sp>
      <p:sp>
        <p:nvSpPr>
          <p:cNvPr id="325649" name="Rectangle 17">
            <a:extLst>
              <a:ext uri="{FF2B5EF4-FFF2-40B4-BE49-F238E27FC236}">
                <a16:creationId xmlns:a16="http://schemas.microsoft.com/office/drawing/2014/main" id="{77E5413F-E01A-4359-AFA6-60FAF509F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一、存储过程概述 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549"/>
    </mc:Choice>
    <mc:Fallback xmlns="">
      <p:transition spd="slow" advTm="285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56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56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56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351" name="Rectangle 7">
            <a:extLst>
              <a:ext uri="{FF2B5EF4-FFF2-40B4-BE49-F238E27FC236}">
                <a16:creationId xmlns:a16="http://schemas.microsoft.com/office/drawing/2014/main" id="{5817E14E-6523-4CD2-8A98-284C9FF7F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054100"/>
            <a:ext cx="7993062" cy="532765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sz="800" b="1">
              <a:solidFill>
                <a:srgbClr val="6600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8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、存储过程的种类</a:t>
            </a:r>
          </a:p>
          <a:p>
            <a:pPr lvl="1" eaLnBrk="1" hangingPunct="1">
              <a:lnSpc>
                <a:spcPct val="140000"/>
              </a:lnSpc>
              <a:buClr>
                <a:srgbClr val="339933"/>
              </a:buClr>
              <a:buFont typeface="Wingdings" panose="05000000000000000000" pitchFamily="2" charset="2"/>
              <a:buChar char="u"/>
            </a:pPr>
            <a:r>
              <a:rPr lang="zh-CN" altLang="en-US" sz="2400" b="1">
                <a:solidFill>
                  <a:srgbClr val="0066CC"/>
                </a:solidFill>
                <a:latin typeface="楷体_GB2312" pitchFamily="49" charset="-122"/>
              </a:rPr>
              <a:t>系统存储过程</a:t>
            </a:r>
            <a:r>
              <a:rPr lang="zh-CN" altLang="en-US" sz="2400" b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（</a:t>
            </a:r>
            <a:r>
              <a:rPr lang="en-US" altLang="zh-CN" sz="2400" b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sp_</a:t>
            </a:r>
            <a:r>
              <a:rPr lang="zh-CN" altLang="en-US" sz="2400" b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）</a:t>
            </a:r>
            <a:r>
              <a:rPr lang="en-US" altLang="zh-CN" sz="2400" b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:</a:t>
            </a:r>
            <a:r>
              <a:rPr lang="zh-CN" altLang="en-US" sz="2400" b="1">
                <a:latin typeface="楷体_GB2312" pitchFamily="49" charset="-122"/>
              </a:rPr>
              <a:t>放在</a:t>
            </a:r>
            <a:r>
              <a:rPr lang="en-US" altLang="zh-CN" sz="2400" b="1">
                <a:latin typeface="楷体_GB2312" pitchFamily="49" charset="-122"/>
              </a:rPr>
              <a:t>master</a:t>
            </a:r>
            <a:r>
              <a:rPr lang="zh-CN" altLang="en-US" sz="2400" b="1">
                <a:latin typeface="楷体_GB2312" pitchFamily="49" charset="-122"/>
              </a:rPr>
              <a:t>数据库中，以</a:t>
            </a:r>
            <a:r>
              <a:rPr lang="en-US" altLang="zh-CN" sz="2400" b="1">
                <a:solidFill>
                  <a:srgbClr val="0066CC"/>
                </a:solidFill>
                <a:latin typeface="楷体_GB2312" pitchFamily="49" charset="-122"/>
              </a:rPr>
              <a:t>sp_</a:t>
            </a:r>
            <a:r>
              <a:rPr lang="zh-CN" altLang="en-US" sz="2400" b="1">
                <a:latin typeface="楷体_GB2312" pitchFamily="49" charset="-122"/>
              </a:rPr>
              <a:t>为前缀。</a:t>
            </a:r>
            <a:r>
              <a:rPr lang="zh-CN" altLang="en-US"/>
              <a:t> </a:t>
            </a:r>
            <a:endParaRPr lang="zh-CN" altLang="en-US" sz="2400" b="1"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</a:endParaRPr>
          </a:p>
          <a:p>
            <a:pPr lvl="1" eaLnBrk="1" hangingPunct="1">
              <a:lnSpc>
                <a:spcPct val="140000"/>
              </a:lnSpc>
              <a:buClr>
                <a:srgbClr val="339933"/>
              </a:buClr>
              <a:buFont typeface="Wingdings" panose="05000000000000000000" pitchFamily="2" charset="2"/>
              <a:buChar char="u"/>
            </a:pPr>
            <a:r>
              <a:rPr lang="zh-CN" altLang="en-US" sz="2400" b="1">
                <a:solidFill>
                  <a:srgbClr val="0066CC"/>
                </a:solidFill>
                <a:latin typeface="楷体_GB2312" pitchFamily="49" charset="-122"/>
              </a:rPr>
              <a:t>用户自定义的存储过程</a:t>
            </a:r>
            <a:r>
              <a:rPr lang="en-US" altLang="zh-CN" sz="2400" b="1">
                <a:solidFill>
                  <a:srgbClr val="0066CC"/>
                </a:solidFill>
                <a:latin typeface="楷体_GB2312" pitchFamily="49" charset="-122"/>
              </a:rPr>
              <a:t>:</a:t>
            </a:r>
            <a:r>
              <a:rPr lang="zh-CN" altLang="en-US" sz="2400" b="1">
                <a:latin typeface="楷体_GB2312" pitchFamily="49" charset="-122"/>
              </a:rPr>
              <a:t>在单独的用户数据库内创建。</a:t>
            </a:r>
            <a:endParaRPr lang="zh-CN" altLang="en-US" sz="2400" b="1"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</a:endParaRPr>
          </a:p>
          <a:p>
            <a:pPr lvl="1" eaLnBrk="1" hangingPunct="1">
              <a:lnSpc>
                <a:spcPct val="140000"/>
              </a:lnSpc>
              <a:buClr>
                <a:srgbClr val="339933"/>
              </a:buClr>
              <a:buFont typeface="Wingdings" panose="05000000000000000000" pitchFamily="2" charset="2"/>
              <a:buChar char="u"/>
            </a:pPr>
            <a:r>
              <a:rPr lang="zh-CN" altLang="en-US" sz="2400" b="1">
                <a:solidFill>
                  <a:srgbClr val="0066CC"/>
                </a:solidFill>
                <a:latin typeface="楷体_GB2312" pitchFamily="49" charset="-122"/>
              </a:rPr>
              <a:t>临时存储过程</a:t>
            </a:r>
            <a:r>
              <a:rPr lang="zh-CN" altLang="en-US" sz="2400" b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：</a:t>
            </a:r>
            <a:r>
              <a:rPr lang="zh-CN" altLang="en-US" sz="2400" b="1">
                <a:latin typeface="楷体_GB2312" pitchFamily="49" charset="-122"/>
              </a:rPr>
              <a:t>局部（本地）临时存储过程过以 </a:t>
            </a:r>
            <a:r>
              <a:rPr lang="zh-CN" altLang="en-US" sz="2400" b="1"/>
              <a:t>“</a:t>
            </a:r>
            <a:r>
              <a:rPr lang="en-US" altLang="zh-CN" sz="2400" b="1">
                <a:solidFill>
                  <a:srgbClr val="0066CC"/>
                </a:solidFill>
                <a:latin typeface="楷体_GB2312" pitchFamily="49" charset="-122"/>
              </a:rPr>
              <a:t>#</a:t>
            </a:r>
            <a:r>
              <a:rPr lang="en-US" altLang="zh-CN" sz="2400" b="1"/>
              <a:t>”</a:t>
            </a:r>
            <a:r>
              <a:rPr lang="zh-CN" altLang="en-US" sz="2400" b="1">
                <a:latin typeface="楷体_GB2312" pitchFamily="49" charset="-122"/>
              </a:rPr>
              <a:t>为前缀，全局临时存储过程以 </a:t>
            </a:r>
            <a:r>
              <a:rPr lang="zh-CN" altLang="en-US" sz="2400" b="1"/>
              <a:t>“</a:t>
            </a:r>
            <a:r>
              <a:rPr lang="en-US" altLang="zh-CN" sz="2400" b="1">
                <a:solidFill>
                  <a:srgbClr val="0066CC"/>
                </a:solidFill>
                <a:latin typeface="楷体_GB2312" pitchFamily="49" charset="-122"/>
              </a:rPr>
              <a:t>##</a:t>
            </a:r>
            <a:r>
              <a:rPr lang="en-US" altLang="zh-CN" sz="2400" b="1"/>
              <a:t>”</a:t>
            </a:r>
            <a:r>
              <a:rPr lang="zh-CN" altLang="en-US" sz="2400" b="1">
                <a:latin typeface="楷体_GB2312" pitchFamily="49" charset="-122"/>
              </a:rPr>
              <a:t>为前缀。</a:t>
            </a:r>
            <a:r>
              <a:rPr lang="zh-CN" altLang="en-US" sz="2400">
                <a:latin typeface="楷体_GB2312" pitchFamily="49" charset="-122"/>
              </a:rPr>
              <a:t> </a:t>
            </a:r>
            <a:endParaRPr lang="zh-CN" altLang="en-US" sz="2400" b="1"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</a:endParaRPr>
          </a:p>
          <a:p>
            <a:pPr lvl="1" eaLnBrk="1" hangingPunct="1">
              <a:lnSpc>
                <a:spcPct val="140000"/>
              </a:lnSpc>
              <a:buClr>
                <a:srgbClr val="339933"/>
              </a:buClr>
              <a:buFont typeface="Wingdings" panose="05000000000000000000" pitchFamily="2" charset="2"/>
              <a:buChar char="u"/>
            </a:pPr>
            <a:r>
              <a:rPr lang="zh-CN" altLang="en-US" sz="2400" b="1">
                <a:solidFill>
                  <a:srgbClr val="0066CC"/>
                </a:solidFill>
                <a:latin typeface="楷体_GB2312" pitchFamily="49" charset="-122"/>
              </a:rPr>
              <a:t>扩展存储过程</a:t>
            </a:r>
            <a:r>
              <a:rPr lang="en-US" altLang="zh-CN" sz="2400" b="1">
                <a:solidFill>
                  <a:srgbClr val="0066CC"/>
                </a:solidFill>
                <a:latin typeface="楷体_GB2312" pitchFamily="49" charset="-122"/>
              </a:rPr>
              <a:t>(xp_)</a:t>
            </a:r>
            <a:r>
              <a:rPr lang="zh-CN" altLang="en-US" sz="2400" b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：</a:t>
            </a:r>
            <a:r>
              <a:rPr lang="zh-CN" altLang="en-US" sz="2400" b="1">
                <a:latin typeface="楷体_GB2312" pitchFamily="49" charset="-122"/>
              </a:rPr>
              <a:t>以动态链接库</a:t>
            </a:r>
            <a:r>
              <a:rPr lang="en-US" altLang="zh-CN" sz="2400" b="1">
                <a:latin typeface="楷体_GB2312" pitchFamily="49" charset="-122"/>
              </a:rPr>
              <a:t>(DLL)</a:t>
            </a:r>
            <a:r>
              <a:rPr lang="zh-CN" altLang="en-US" sz="2400" b="1">
                <a:latin typeface="楷体_GB2312" pitchFamily="49" charset="-122"/>
              </a:rPr>
              <a:t>的形式实现，直接在</a:t>
            </a:r>
            <a:r>
              <a:rPr lang="en-US" altLang="zh-CN" sz="2400" b="1">
                <a:latin typeface="楷体_GB2312" pitchFamily="49" charset="-122"/>
              </a:rPr>
              <a:t>SQL Server</a:t>
            </a:r>
            <a:r>
              <a:rPr lang="zh-CN" altLang="en-US" sz="2400" b="1">
                <a:latin typeface="楷体_GB2312" pitchFamily="49" charset="-122"/>
              </a:rPr>
              <a:t>的实例的地址空间中运行。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 </a:t>
            </a:r>
          </a:p>
          <a:p>
            <a:pPr lvl="1" eaLnBrk="1" hangingPunct="1">
              <a:lnSpc>
                <a:spcPct val="140000"/>
              </a:lnSpc>
              <a:buClr>
                <a:srgbClr val="339933"/>
              </a:buClr>
              <a:buFont typeface="Wingdings" panose="05000000000000000000" pitchFamily="2" charset="2"/>
              <a:buChar char="u"/>
            </a:pP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 </a:t>
            </a:r>
            <a:r>
              <a:rPr lang="zh-CN" altLang="en-US" sz="2400" b="1">
                <a:solidFill>
                  <a:srgbClr val="0066CC"/>
                </a:solidFill>
                <a:latin typeface="楷体_GB2312" pitchFamily="49" charset="-122"/>
              </a:rPr>
              <a:t>远程存储过程</a:t>
            </a:r>
            <a:r>
              <a:rPr lang="zh-CN" altLang="en-US" sz="2400" b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：</a:t>
            </a:r>
            <a:r>
              <a:rPr lang="zh-CN" altLang="en-US" sz="2400" b="1">
                <a:latin typeface="楷体_GB2312" pitchFamily="49" charset="-122"/>
              </a:rPr>
              <a:t>指从远程服务器上调用的存储过程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。 </a:t>
            </a:r>
          </a:p>
        </p:txBody>
      </p:sp>
      <p:sp>
        <p:nvSpPr>
          <p:cNvPr id="697352" name="Rectangle 8">
            <a:extLst>
              <a:ext uri="{FF2B5EF4-FFF2-40B4-BE49-F238E27FC236}">
                <a16:creationId xmlns:a16="http://schemas.microsoft.com/office/drawing/2014/main" id="{CBE264DF-7CE5-46F1-A458-13CAF8F4D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一、存储过程概述 </a:t>
            </a:r>
          </a:p>
        </p:txBody>
      </p:sp>
    </p:spTree>
  </p:cSld>
  <p:clrMapOvr>
    <a:masterClrMapping/>
  </p:clrMapOvr>
  <p:transition advTm="5289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73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973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973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973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973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537" name="Rectangle 9">
            <a:extLst>
              <a:ext uri="{FF2B5EF4-FFF2-40B4-BE49-F238E27FC236}">
                <a16:creationId xmlns:a16="http://schemas.microsoft.com/office/drawing/2014/main" id="{4CA8673A-C339-4DB7-826B-47E8FF62F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71575"/>
            <a:ext cx="7993062" cy="532765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sz="800" b="1">
              <a:solidFill>
                <a:srgbClr val="6600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      </a:t>
            </a:r>
            <a:r>
              <a:rPr lang="en-US" altLang="zh-CN" sz="28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8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、常用的系统存储过程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6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（</a:t>
            </a:r>
            <a:r>
              <a:rPr lang="en-US" altLang="zh-CN" sz="26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6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600" b="1">
                <a:solidFill>
                  <a:srgbClr val="0066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sp_helpdb</a:t>
            </a:r>
            <a:r>
              <a:rPr lang="zh-CN" altLang="en-US" sz="2600" b="1">
                <a:solidFill>
                  <a:srgbClr val="0066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：</a:t>
            </a: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用于查看数据库名称及大小。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6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（</a:t>
            </a:r>
            <a:r>
              <a:rPr lang="en-US" altLang="zh-CN" sz="26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6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600" b="1">
                <a:solidFill>
                  <a:srgbClr val="0066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sp_helplogins</a:t>
            </a:r>
            <a:r>
              <a:rPr lang="zh-CN" altLang="en-US" sz="26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用于查看所有数据库用户登录信息。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6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（</a:t>
            </a:r>
            <a:r>
              <a:rPr lang="en-US" altLang="zh-CN" sz="26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6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600" b="1">
                <a:solidFill>
                  <a:srgbClr val="0066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sp_helpsrvrolemember</a:t>
            </a:r>
            <a:r>
              <a:rPr lang="zh-CN" altLang="en-US" sz="2600" b="1">
                <a:solidFill>
                  <a:srgbClr val="0066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：</a:t>
            </a: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用于查看所有数据库用户所属的角色信息。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6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（</a:t>
            </a:r>
            <a:r>
              <a:rPr lang="en-US" altLang="zh-CN" sz="26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6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600" b="1">
                <a:solidFill>
                  <a:srgbClr val="0066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sp_helptext</a:t>
            </a:r>
            <a:r>
              <a:rPr lang="zh-CN" altLang="en-US" sz="2600" b="1">
                <a:solidFill>
                  <a:srgbClr val="0066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：</a:t>
            </a: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查看未加密的存储过程、用户定义函数、触发器、视图等的文本信息。</a:t>
            </a:r>
            <a:endParaRPr lang="zh-CN" altLang="pt-BR" sz="26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pt-BR" sz="26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（</a:t>
            </a:r>
            <a:r>
              <a:rPr lang="pt-BR" altLang="zh-CN" sz="26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pt-BR" sz="26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pt-BR" altLang="zh-CN" sz="2600" b="1">
                <a:solidFill>
                  <a:srgbClr val="0066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sp_renamedb</a:t>
            </a:r>
            <a:r>
              <a:rPr lang="zh-CN" altLang="pt-BR" sz="2600" b="1">
                <a:solidFill>
                  <a:srgbClr val="0066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：</a:t>
            </a:r>
            <a:r>
              <a:rPr lang="zh-CN" altLang="pt-BR" sz="2600" b="1">
                <a:latin typeface="黑体" panose="02010609060101010101" pitchFamily="49" charset="-122"/>
                <a:ea typeface="黑体" panose="02010609060101010101" pitchFamily="49" charset="-122"/>
              </a:rPr>
              <a:t>用于重新命名数据库。</a:t>
            </a:r>
            <a:r>
              <a:rPr lang="zh-CN" altLang="pt-BR" sz="28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90538" name="Rectangle 10">
            <a:extLst>
              <a:ext uri="{FF2B5EF4-FFF2-40B4-BE49-F238E27FC236}">
                <a16:creationId xmlns:a16="http://schemas.microsoft.com/office/drawing/2014/main" id="{ABE6556A-2EA0-418D-A3D6-C8E0858D1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一、存储过程概述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722"/>
    </mc:Choice>
    <mc:Fallback xmlns="">
      <p:transition spd="slow" advTm="4072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903" name="Rectangle 15">
            <a:extLst>
              <a:ext uri="{FF2B5EF4-FFF2-40B4-BE49-F238E27FC236}">
                <a16:creationId xmlns:a16="http://schemas.microsoft.com/office/drawing/2014/main" id="{5301C3BB-DC58-45BB-A0BC-9FB602AEC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71575"/>
            <a:ext cx="7993062" cy="532765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sz="800" b="1" dirty="0">
              <a:solidFill>
                <a:srgbClr val="6600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       </a:t>
            </a:r>
            <a:r>
              <a:rPr lang="en-US" altLang="zh-CN" sz="2800" b="1" dirty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800" b="1" dirty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、存储过程的优点</a:t>
            </a:r>
          </a:p>
          <a:p>
            <a:pPr eaLnBrk="1" hangingPunct="1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800" b="1" dirty="0">
                <a:latin typeface="楷体_GB2312" pitchFamily="49" charset="-122"/>
              </a:rPr>
              <a:t>存储过程有许多优点：</a:t>
            </a:r>
          </a:p>
          <a:p>
            <a:pPr algn="just"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sym typeface="Wingdings 2" panose="05020102010507070707" pitchFamily="18" charset="2"/>
              </a:rPr>
              <a:t>      </a:t>
            </a:r>
            <a:r>
              <a:rPr lang="zh-CN" altLang="en-US" sz="2800" b="1" dirty="0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sym typeface="Wingdings 2" panose="05020102010507070707" pitchFamily="18" charset="2"/>
              </a:rPr>
              <a:t> </a:t>
            </a:r>
            <a:r>
              <a:rPr lang="zh-CN" altLang="en-US" sz="2800" b="1" dirty="0">
                <a:latin typeface="楷体_GB2312" pitchFamily="49" charset="-122"/>
              </a:rPr>
              <a:t>增强了代码的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</a:rPr>
              <a:t>复用率和共享性</a:t>
            </a:r>
            <a:r>
              <a:rPr lang="zh-CN" altLang="en-US" sz="2800" b="1" dirty="0">
                <a:latin typeface="楷体_GB2312" pitchFamily="49" charset="-122"/>
              </a:rPr>
              <a:t> 。</a:t>
            </a:r>
          </a:p>
          <a:p>
            <a:pPr algn="just"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6600"/>
                </a:solidFill>
                <a:latin typeface="楷体_GB2312" pitchFamily="49" charset="-122"/>
                <a:sym typeface="Wingdings 2" panose="05020102010507070707" pitchFamily="18" charset="2"/>
              </a:rPr>
              <a:t>      </a:t>
            </a:r>
            <a:r>
              <a:rPr lang="zh-CN" altLang="en-US" sz="2800" b="1" dirty="0">
                <a:latin typeface="楷体_GB2312" pitchFamily="49" charset="-122"/>
              </a:rPr>
              <a:t>可以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</a:rPr>
              <a:t>提高数据库的安全性</a:t>
            </a:r>
            <a:r>
              <a:rPr lang="zh-CN" altLang="en-US" sz="2800" b="1" dirty="0">
                <a:latin typeface="楷体_GB2312" pitchFamily="49" charset="-122"/>
              </a:rPr>
              <a:t>。</a:t>
            </a:r>
          </a:p>
          <a:p>
            <a:pPr algn="just"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6600"/>
                </a:solidFill>
                <a:latin typeface="楷体_GB2312" pitchFamily="49" charset="-122"/>
                <a:sym typeface="Wingdings 2" panose="05020102010507070707" pitchFamily="18" charset="2"/>
              </a:rPr>
              <a:t>      </a:t>
            </a:r>
            <a:r>
              <a:rPr lang="zh-CN" altLang="en-US" sz="2800" b="1" dirty="0">
                <a:latin typeface="楷体_GB2312" pitchFamily="49" charset="-122"/>
              </a:rPr>
              <a:t>改善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</a:rPr>
              <a:t>系统性能</a:t>
            </a:r>
            <a:r>
              <a:rPr lang="zh-CN" altLang="en-US" sz="2800" b="1" dirty="0">
                <a:latin typeface="楷体_GB2312" pitchFamily="49" charset="-122"/>
              </a:rPr>
              <a:t>。</a:t>
            </a:r>
            <a:r>
              <a:rPr lang="zh-CN" altLang="en-US" sz="2800" b="1" dirty="0">
                <a:solidFill>
                  <a:srgbClr val="FF6600"/>
                </a:solidFill>
                <a:latin typeface="楷体_GB2312" pitchFamily="49" charset="-122"/>
                <a:sym typeface="Wingdings 2" panose="05020102010507070707" pitchFamily="18" charset="2"/>
              </a:rPr>
              <a:t>           </a:t>
            </a:r>
          </a:p>
          <a:p>
            <a:pPr algn="just"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6600"/>
                </a:solidFill>
                <a:latin typeface="楷体_GB2312" pitchFamily="49" charset="-122"/>
                <a:sym typeface="Wingdings 2" panose="05020102010507070707" pitchFamily="18" charset="2"/>
              </a:rPr>
              <a:t>      </a:t>
            </a:r>
            <a:r>
              <a:rPr lang="zh-CN" altLang="en-US" sz="2800" b="1" dirty="0">
                <a:latin typeface="楷体_GB2312" pitchFamily="49" charset="-122"/>
              </a:rPr>
              <a:t>可以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</a:rPr>
              <a:t>减少网络流量</a:t>
            </a:r>
            <a:r>
              <a:rPr lang="zh-CN" altLang="en-US" sz="2800" b="1" dirty="0">
                <a:latin typeface="楷体_GB2312" pitchFamily="49" charset="-122"/>
              </a:rPr>
              <a:t>。</a:t>
            </a:r>
          </a:p>
        </p:txBody>
      </p:sp>
      <p:sp>
        <p:nvSpPr>
          <p:cNvPr id="549904" name="Rectangle 16">
            <a:extLst>
              <a:ext uri="{FF2B5EF4-FFF2-40B4-BE49-F238E27FC236}">
                <a16:creationId xmlns:a16="http://schemas.microsoft.com/office/drawing/2014/main" id="{4C28C5E6-29F9-4E05-9546-4485F1889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一、存储过程概述 </a:t>
            </a:r>
          </a:p>
        </p:txBody>
      </p:sp>
    </p:spTree>
    <p:custDataLst>
      <p:tags r:id="rId1"/>
    </p:custDataLst>
  </p:cSld>
  <p:clrMapOvr>
    <a:masterClrMapping/>
  </p:clrMapOvr>
  <p:transition advTm="1211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99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99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99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99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499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108" name="Rectangle 4">
            <a:extLst>
              <a:ext uri="{FF2B5EF4-FFF2-40B4-BE49-F238E27FC236}">
                <a16:creationId xmlns:a16="http://schemas.microsoft.com/office/drawing/2014/main" id="{75B0A681-3B83-48B5-A111-76E066E63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二、创建存储过程</a:t>
            </a:r>
          </a:p>
        </p:txBody>
      </p:sp>
      <p:sp>
        <p:nvSpPr>
          <p:cNvPr id="815109" name="Rectangle 5">
            <a:extLst>
              <a:ext uri="{FF2B5EF4-FFF2-40B4-BE49-F238E27FC236}">
                <a16:creationId xmlns:a16="http://schemas.microsoft.com/office/drawing/2014/main" id="{0815AB9C-75F7-4076-A16A-67852B5B3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96975"/>
            <a:ext cx="8207375" cy="5338763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 Server</a:t>
            </a:r>
            <a:r>
              <a:rPr lang="zh-CN" altLang="en-US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中，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有两种创建存储过程的方法：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    一种方法是使用</a:t>
            </a:r>
            <a:r>
              <a:rPr lang="en-US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 Server Management Studio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创建存储过程；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    另一种方法是使用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T-SQL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中的</a:t>
            </a:r>
            <a:r>
              <a:rPr lang="en-US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CREATE PROCEDURE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命令创建存储过程。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217"/>
    </mc:Choice>
    <mc:Fallback xmlns="">
      <p:transition spd="slow" advTm="30217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4" name="Rectangle 14">
            <a:extLst>
              <a:ext uri="{FF2B5EF4-FFF2-40B4-BE49-F238E27FC236}">
                <a16:creationId xmlns:a16="http://schemas.microsoft.com/office/drawing/2014/main" id="{8F0F10F3-8235-4F8A-A43E-01312022C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二、创建存储过程</a:t>
            </a:r>
          </a:p>
        </p:txBody>
      </p:sp>
      <p:sp>
        <p:nvSpPr>
          <p:cNvPr id="880655" name="Rectangle 15">
            <a:extLst>
              <a:ext uri="{FF2B5EF4-FFF2-40B4-BE49-F238E27FC236}">
                <a16:creationId xmlns:a16="http://schemas.microsoft.com/office/drawing/2014/main" id="{EA8A2815-A7E9-4B8B-AE91-189197D0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" y="1330325"/>
            <a:ext cx="8207375" cy="51943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pt-BR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 Server Management Studio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65"/>
    </mc:Choice>
    <mc:Fallback xmlns="">
      <p:transition spd="slow" advTm="61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04" name="Picture 4">
            <a:extLst>
              <a:ext uri="{FF2B5EF4-FFF2-40B4-BE49-F238E27FC236}">
                <a16:creationId xmlns:a16="http://schemas.microsoft.com/office/drawing/2014/main" id="{0C0EE440-BA22-4E06-9B5D-62757F654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17" t="7861" r="17323" b="28017"/>
          <a:stretch>
            <a:fillRect/>
          </a:stretch>
        </p:blipFill>
        <p:spPr bwMode="auto">
          <a:xfrm>
            <a:off x="0" y="0"/>
            <a:ext cx="6156325" cy="421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05" name="Rectangle 5">
            <a:extLst>
              <a:ext uri="{FF2B5EF4-FFF2-40B4-BE49-F238E27FC236}">
                <a16:creationId xmlns:a16="http://schemas.microsoft.com/office/drawing/2014/main" id="{772D786D-A818-4A51-A698-6ACDD8C84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1989138"/>
            <a:ext cx="4176712" cy="215900"/>
          </a:xfrm>
          <a:prstGeom prst="rect">
            <a:avLst/>
          </a:prstGeom>
          <a:noFill/>
          <a:ln w="38100" cap="sq">
            <a:solidFill>
              <a:srgbClr val="CC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53606" name="Picture 6">
            <a:extLst>
              <a:ext uri="{FF2B5EF4-FFF2-40B4-BE49-F238E27FC236}">
                <a16:creationId xmlns:a16="http://schemas.microsoft.com/office/drawing/2014/main" id="{187261CD-E0EA-4FD9-80D8-187732A37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63" t="10832" r="21629" b="28067"/>
          <a:stretch>
            <a:fillRect/>
          </a:stretch>
        </p:blipFill>
        <p:spPr bwMode="auto">
          <a:xfrm>
            <a:off x="539750" y="476250"/>
            <a:ext cx="7416800" cy="516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09" name="Picture 9">
            <a:extLst>
              <a:ext uri="{FF2B5EF4-FFF2-40B4-BE49-F238E27FC236}">
                <a16:creationId xmlns:a16="http://schemas.microsoft.com/office/drawing/2014/main" id="{9AB8FBED-68E2-4AD9-800C-1ABA51F10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125538"/>
            <a:ext cx="7885112" cy="546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3613" name="Group 13">
            <a:extLst>
              <a:ext uri="{FF2B5EF4-FFF2-40B4-BE49-F238E27FC236}">
                <a16:creationId xmlns:a16="http://schemas.microsoft.com/office/drawing/2014/main" id="{C868CE80-35DD-4DC2-A3C2-C8CE9C4F2707}"/>
              </a:ext>
            </a:extLst>
          </p:cNvPr>
          <p:cNvGrpSpPr>
            <a:grpSpLocks/>
          </p:cNvGrpSpPr>
          <p:nvPr/>
        </p:nvGrpSpPr>
        <p:grpSpPr bwMode="auto">
          <a:xfrm>
            <a:off x="176213" y="188913"/>
            <a:ext cx="6916737" cy="5087937"/>
            <a:chOff x="111" y="119"/>
            <a:chExt cx="4357" cy="3205"/>
          </a:xfrm>
        </p:grpSpPr>
        <p:sp>
          <p:nvSpPr>
            <p:cNvPr id="153607" name="AutoShape 7">
              <a:extLst>
                <a:ext uri="{FF2B5EF4-FFF2-40B4-BE49-F238E27FC236}">
                  <a16:creationId xmlns:a16="http://schemas.microsoft.com/office/drawing/2014/main" id="{BCFCDAC2-734F-43B4-8AB1-784F68AA4EE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866642">
              <a:off x="111" y="2735"/>
              <a:ext cx="193" cy="589"/>
            </a:xfrm>
            <a:prstGeom prst="curvedRightArrow">
              <a:avLst>
                <a:gd name="adj1" fmla="val 61036"/>
                <a:gd name="adj2" fmla="val 122073"/>
                <a:gd name="adj3" fmla="val 33333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611" name="AutoShape 11">
              <a:extLst>
                <a:ext uri="{FF2B5EF4-FFF2-40B4-BE49-F238E27FC236}">
                  <a16:creationId xmlns:a16="http://schemas.microsoft.com/office/drawing/2014/main" id="{CFE7D783-A4F7-45BA-897B-A8E3D1389F7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62546">
              <a:off x="3878" y="119"/>
              <a:ext cx="590" cy="193"/>
            </a:xfrm>
            <a:prstGeom prst="curvedDownArrow">
              <a:avLst>
                <a:gd name="adj1" fmla="val 61140"/>
                <a:gd name="adj2" fmla="val 122280"/>
                <a:gd name="adj3" fmla="val 33333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3614" name="Group 14">
            <a:extLst>
              <a:ext uri="{FF2B5EF4-FFF2-40B4-BE49-F238E27FC236}">
                <a16:creationId xmlns:a16="http://schemas.microsoft.com/office/drawing/2014/main" id="{26494AEA-20B0-4377-881B-520E8B8A0A5C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836613"/>
            <a:ext cx="7921625" cy="5614987"/>
            <a:chOff x="476" y="527"/>
            <a:chExt cx="4990" cy="3537"/>
          </a:xfrm>
        </p:grpSpPr>
        <p:sp>
          <p:nvSpPr>
            <p:cNvPr id="153610" name="AutoShape 10">
              <a:extLst>
                <a:ext uri="{FF2B5EF4-FFF2-40B4-BE49-F238E27FC236}">
                  <a16:creationId xmlns:a16="http://schemas.microsoft.com/office/drawing/2014/main" id="{529B7C2A-54D7-49D1-B814-D602F177D9A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866642">
              <a:off x="476" y="3475"/>
              <a:ext cx="193" cy="589"/>
            </a:xfrm>
            <a:prstGeom prst="curvedRightArrow">
              <a:avLst>
                <a:gd name="adj1" fmla="val 61036"/>
                <a:gd name="adj2" fmla="val 122073"/>
                <a:gd name="adj3" fmla="val 33333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612" name="AutoShape 12">
              <a:extLst>
                <a:ext uri="{FF2B5EF4-FFF2-40B4-BE49-F238E27FC236}">
                  <a16:creationId xmlns:a16="http://schemas.microsoft.com/office/drawing/2014/main" id="{34991AA0-1CA2-49E2-98F5-CEC93E9231C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62546">
              <a:off x="4876" y="527"/>
              <a:ext cx="590" cy="193"/>
            </a:xfrm>
            <a:prstGeom prst="curvedDownArrow">
              <a:avLst>
                <a:gd name="adj1" fmla="val 61140"/>
                <a:gd name="adj2" fmla="val 122280"/>
                <a:gd name="adj3" fmla="val 33333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316"/>
    </mc:Choice>
    <mc:Fallback xmlns="">
      <p:transition spd="slow" advTm="313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3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53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5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3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3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4" name="Rectangle 14">
            <a:extLst>
              <a:ext uri="{FF2B5EF4-FFF2-40B4-BE49-F238E27FC236}">
                <a16:creationId xmlns:a16="http://schemas.microsoft.com/office/drawing/2014/main" id="{66A62D5E-CB2D-4A02-8CBA-0E6194DFB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二、创建存储过程</a:t>
            </a:r>
          </a:p>
        </p:txBody>
      </p:sp>
      <p:sp>
        <p:nvSpPr>
          <p:cNvPr id="880655" name="Rectangle 15">
            <a:extLst>
              <a:ext uri="{FF2B5EF4-FFF2-40B4-BE49-F238E27FC236}">
                <a16:creationId xmlns:a16="http://schemas.microsoft.com/office/drawing/2014/main" id="{BDFF9242-8FAB-45BF-8713-42BCF05F3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" y="1330325"/>
            <a:ext cx="8207375" cy="51943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pt-BR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 Server Management Studio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、使用</a:t>
            </a:r>
            <a:r>
              <a:rPr lang="pt-BR" altLang="zh-CN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T-SQL</a:t>
            </a:r>
            <a:r>
              <a:rPr lang="zh-CN" altLang="pt-BR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</a:t>
            </a:r>
            <a:endParaRPr lang="zh-CN" altLang="en-US" sz="2800" b="1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31"/>
    </mc:Choice>
    <mc:Fallback xmlns="">
      <p:transition spd="slow" advTm="54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679" name="Rectangle 15">
            <a:extLst>
              <a:ext uri="{FF2B5EF4-FFF2-40B4-BE49-F238E27FC236}">
                <a16:creationId xmlns:a16="http://schemas.microsoft.com/office/drawing/2014/main" id="{305599BF-5D57-47A7-B67B-2B45E8059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8207375" cy="6477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语句格式：</a:t>
            </a:r>
            <a:endParaRPr lang="zh-CN" altLang="en-US" sz="2800" b="1">
              <a:latin typeface="Tahoma" panose="020B0604030504040204" pitchFamily="34" charset="0"/>
            </a:endParaRPr>
          </a:p>
        </p:txBody>
      </p:sp>
      <p:sp>
        <p:nvSpPr>
          <p:cNvPr id="88068" name="Text Box 16">
            <a:extLst>
              <a:ext uri="{FF2B5EF4-FFF2-40B4-BE49-F238E27FC236}">
                <a16:creationId xmlns:a16="http://schemas.microsoft.com/office/drawing/2014/main" id="{5DCD936B-5D81-4F25-8DAE-E163DD310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8" y="1125538"/>
            <a:ext cx="8713787" cy="5219700"/>
          </a:xfrm>
          <a:prstGeom prst="rect">
            <a:avLst/>
          </a:prstGeom>
          <a:gradFill rotWithShape="1">
            <a:gsLst>
              <a:gs pos="0">
                <a:srgbClr val="C9EAFF"/>
              </a:gs>
              <a:gs pos="50000">
                <a:srgbClr val="FFFFFF"/>
              </a:gs>
              <a:gs pos="100000">
                <a:srgbClr val="C9EAFF"/>
              </a:gs>
            </a:gsLst>
            <a:lin ang="5400000" scaled="1"/>
          </a:gra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400" b="1" dirty="0"/>
              <a:t> </a:t>
            </a:r>
            <a:r>
              <a:rPr lang="en-US" altLang="zh-CN" sz="2800" b="1" dirty="0">
                <a:solidFill>
                  <a:srgbClr val="0000FF"/>
                </a:solidFill>
              </a:rPr>
              <a:t>CREATE </a:t>
            </a:r>
            <a:r>
              <a:rPr lang="en-US" altLang="zh-CN" b="1" dirty="0">
                <a:solidFill>
                  <a:srgbClr val="0000FF"/>
                </a:solidFill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</a:rPr>
              <a:t>PROC</a:t>
            </a:r>
            <a:r>
              <a:rPr lang="en-US" altLang="zh-CN" sz="2800" b="1" dirty="0">
                <a:solidFill>
                  <a:srgbClr val="CC0000"/>
                </a:solidFill>
              </a:rPr>
              <a:t>[</a:t>
            </a:r>
            <a:r>
              <a:rPr lang="en-US" altLang="zh-CN" sz="2800" b="1" dirty="0">
                <a:solidFill>
                  <a:srgbClr val="0000FF"/>
                </a:solidFill>
              </a:rPr>
              <a:t>EDURE</a:t>
            </a:r>
            <a:r>
              <a:rPr lang="en-US" altLang="zh-CN" sz="2800" b="1" dirty="0">
                <a:solidFill>
                  <a:srgbClr val="CC0000"/>
                </a:solidFill>
              </a:rPr>
              <a:t>]</a:t>
            </a:r>
            <a:r>
              <a:rPr lang="en-US" altLang="zh-CN" sz="2800" b="1" dirty="0"/>
              <a:t> [OWNER.]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/>
              <a:t>                                     </a:t>
            </a:r>
            <a:r>
              <a:rPr lang="en-US" altLang="zh-CN" sz="2800" b="1" dirty="0">
                <a:solidFill>
                  <a:srgbClr val="0000FF"/>
                </a:solidFill>
              </a:rPr>
              <a:t> </a:t>
            </a:r>
            <a:r>
              <a:rPr lang="en-US" altLang="zh-CN" sz="2800" b="1" dirty="0" err="1">
                <a:solidFill>
                  <a:srgbClr val="0000FF"/>
                </a:solidFill>
              </a:rPr>
              <a:t>procedure_name</a:t>
            </a:r>
            <a:r>
              <a:rPr lang="en-US" altLang="zh-CN" sz="2800" b="1" dirty="0">
                <a:solidFill>
                  <a:srgbClr val="0000FF"/>
                </a:solidFill>
              </a:rPr>
              <a:t> </a:t>
            </a:r>
            <a:r>
              <a:rPr lang="en-US" altLang="zh-CN" sz="2800" b="1" dirty="0"/>
              <a:t>[; number ]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/>
              <a:t>   [{@parameter </a:t>
            </a:r>
            <a:r>
              <a:rPr lang="en-US" altLang="zh-CN" sz="2800" b="1" dirty="0" err="1"/>
              <a:t>data_type</a:t>
            </a:r>
            <a:r>
              <a:rPr lang="en-US" altLang="zh-CN" sz="2800" b="1" dirty="0"/>
              <a:t> }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/>
              <a:t>   [VARYING] [=default] [OUTPUT] ] [, ... n ]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/>
              <a:t>   [WITH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/>
              <a:t>      { RECOMPILE | ENCRYPTION | RECOMPILE,    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/>
              <a:t>                                                           ENCRYPTION } ]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/>
              <a:t>   [ FOR REPLICATION ]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/>
              <a:t>   </a:t>
            </a:r>
            <a:r>
              <a:rPr lang="en-US" altLang="zh-CN" sz="2800" b="1" dirty="0">
                <a:solidFill>
                  <a:srgbClr val="0000FF"/>
                </a:solidFill>
              </a:rPr>
              <a:t>AS </a:t>
            </a:r>
            <a:r>
              <a:rPr lang="en-US" altLang="zh-CN" sz="2800" b="1" dirty="0" err="1">
                <a:solidFill>
                  <a:srgbClr val="0000FF"/>
                </a:solidFill>
              </a:rPr>
              <a:t>sql_statement</a:t>
            </a:r>
            <a:r>
              <a:rPr lang="en-US" altLang="zh-CN" sz="2800" b="1" dirty="0"/>
              <a:t> [;] [, ... n ]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/>
              <a:t>   [;] </a:t>
            </a:r>
          </a:p>
        </p:txBody>
      </p:sp>
      <p:sp>
        <p:nvSpPr>
          <p:cNvPr id="88072" name="Rectangle 8">
            <a:extLst>
              <a:ext uri="{FF2B5EF4-FFF2-40B4-BE49-F238E27FC236}">
                <a16:creationId xmlns:a16="http://schemas.microsoft.com/office/drawing/2014/main" id="{0B4F55C7-A898-480A-AA87-CCDE2AB38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2708275"/>
            <a:ext cx="1727200" cy="576263"/>
          </a:xfrm>
          <a:prstGeom prst="rect">
            <a:avLst/>
          </a:prstGeom>
          <a:noFill/>
          <a:ln w="57150" cap="sq">
            <a:solidFill>
              <a:srgbClr val="CC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8073" name="AutoShape 9">
            <a:extLst>
              <a:ext uri="{FF2B5EF4-FFF2-40B4-BE49-F238E27FC236}">
                <a16:creationId xmlns:a16="http://schemas.microsoft.com/office/drawing/2014/main" id="{4425B96E-4886-4013-BB6E-DFF265609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2" y="3645681"/>
            <a:ext cx="4537075" cy="2663825"/>
          </a:xfrm>
          <a:prstGeom prst="wedgeRoundRectCallout">
            <a:avLst>
              <a:gd name="adj1" fmla="val 2317"/>
              <a:gd name="adj2" fmla="val -61064"/>
              <a:gd name="adj3" fmla="val 16667"/>
            </a:avLst>
          </a:prstGeom>
          <a:gradFill rotWithShape="1">
            <a:gsLst>
              <a:gs pos="0">
                <a:srgbClr val="FFE1FF"/>
              </a:gs>
              <a:gs pos="50000">
                <a:schemeClr val="bg1"/>
              </a:gs>
              <a:gs pos="100000">
                <a:srgbClr val="FFE1FF"/>
              </a:gs>
            </a:gsLst>
            <a:lin ang="5400000" scaled="1"/>
          </a:gradFill>
          <a:ln w="12700" cap="sq">
            <a:solidFill>
              <a:srgbClr val="C0C0C0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anchor="ctr"/>
          <a:lstStyle/>
          <a:p>
            <a:pPr>
              <a:lnSpc>
                <a:spcPct val="115000"/>
              </a:lnSpc>
            </a:pPr>
            <a:r>
              <a:rPr lang="zh-CN" altLang="en-US" sz="2400" b="1" dirty="0"/>
              <a:t>      指定存储过程输入参数的默认值，默认值必须是常量或</a:t>
            </a:r>
            <a:r>
              <a:rPr lang="en-US" altLang="zh-CN" sz="2400" b="1" dirty="0"/>
              <a:t>NULL</a:t>
            </a:r>
            <a:r>
              <a:rPr lang="zh-CN" altLang="en-US" sz="2400" b="1" dirty="0"/>
              <a:t>，默认值中可以包含通配符，如果定义了默认值，执行存储过程时根据情况可不提供实参。</a:t>
            </a:r>
          </a:p>
        </p:txBody>
      </p:sp>
      <p:sp>
        <p:nvSpPr>
          <p:cNvPr id="88074" name="Rectangle 10">
            <a:extLst>
              <a:ext uri="{FF2B5EF4-FFF2-40B4-BE49-F238E27FC236}">
                <a16:creationId xmlns:a16="http://schemas.microsoft.com/office/drawing/2014/main" id="{A5DFE728-F5E0-47D2-A9C9-F62D57E42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2708275"/>
            <a:ext cx="1727200" cy="576263"/>
          </a:xfrm>
          <a:prstGeom prst="rect">
            <a:avLst/>
          </a:prstGeom>
          <a:noFill/>
          <a:ln w="57150" cap="sq">
            <a:solidFill>
              <a:srgbClr val="CC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8075" name="AutoShape 11">
            <a:extLst>
              <a:ext uri="{FF2B5EF4-FFF2-40B4-BE49-F238E27FC236}">
                <a16:creationId xmlns:a16="http://schemas.microsoft.com/office/drawing/2014/main" id="{BD1AC615-0C4D-4A76-935A-4DB2BB862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7825" y="3681413"/>
            <a:ext cx="4537075" cy="2663825"/>
          </a:xfrm>
          <a:prstGeom prst="wedgeRoundRectCallout">
            <a:avLst>
              <a:gd name="adj1" fmla="val -41810"/>
              <a:gd name="adj2" fmla="val -63051"/>
              <a:gd name="adj3" fmla="val 16667"/>
            </a:avLst>
          </a:prstGeom>
          <a:gradFill rotWithShape="1">
            <a:gsLst>
              <a:gs pos="0">
                <a:srgbClr val="FFE1FF"/>
              </a:gs>
              <a:gs pos="50000">
                <a:schemeClr val="bg1"/>
              </a:gs>
              <a:gs pos="100000">
                <a:srgbClr val="FFE1FF"/>
              </a:gs>
            </a:gsLst>
            <a:lin ang="5400000" scaled="1"/>
          </a:gradFill>
          <a:ln w="12700" cap="sq">
            <a:solidFill>
              <a:srgbClr val="C0C0C0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anchor="ctr"/>
          <a:lstStyle/>
          <a:p>
            <a:pPr>
              <a:lnSpc>
                <a:spcPct val="115000"/>
              </a:lnSpc>
            </a:pPr>
            <a:r>
              <a:rPr lang="zh-CN" altLang="en-US" sz="2400" b="1" dirty="0"/>
              <a:t>      表示该指定的参数是一个输出参数，即从存储过程返回信息。如果一个输出参数的类型为</a:t>
            </a:r>
            <a:r>
              <a:rPr lang="en-US" altLang="zh-CN" sz="2400" b="1" dirty="0"/>
              <a:t>cursor</a:t>
            </a:r>
            <a:r>
              <a:rPr lang="zh-CN" altLang="en-US" sz="2400" b="1" dirty="0"/>
              <a:t>，并且结果集会动态变化，则使用</a:t>
            </a:r>
            <a:r>
              <a:rPr lang="en-US" altLang="zh-CN" sz="2400" b="1" dirty="0"/>
              <a:t>VARYING</a:t>
            </a:r>
            <a:r>
              <a:rPr lang="zh-CN" altLang="en-US" sz="2400" b="1" dirty="0"/>
              <a:t>指明输出参数的内容可以变化。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738"/>
    </mc:Choice>
    <mc:Fallback xmlns="">
      <p:transition spd="slow" advTm="517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8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880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500"/>
                                        <p:tgtEl>
                                          <p:spTgt spid="880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8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880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880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3" grpId="0" animBg="1"/>
      <p:bldP spid="88073" grpId="1" animBg="1"/>
      <p:bldP spid="88075" grpId="0" animBg="1"/>
      <p:bldP spid="88075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679" name="Rectangle 15">
            <a:extLst>
              <a:ext uri="{FF2B5EF4-FFF2-40B4-BE49-F238E27FC236}">
                <a16:creationId xmlns:a16="http://schemas.microsoft.com/office/drawing/2014/main" id="{7F2411AB-FCEB-498F-A7F2-1147D29D6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6363" y="333375"/>
            <a:ext cx="7918451" cy="6477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n"/>
            </a:pPr>
            <a:r>
              <a:rPr lang="en-US" altLang="zh-CN" sz="2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输出参数：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以</a:t>
            </a:r>
            <a:r>
              <a:rPr lang="en-US" altLang="zh-CN" sz="2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OUTPUT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关键字指定的变量</a:t>
            </a:r>
            <a:endParaRPr lang="zh-CN" altLang="en-US" sz="2800" b="1">
              <a:latin typeface="Tahoma" panose="020B0604030504040204" pitchFamily="34" charset="0"/>
            </a:endParaRPr>
          </a:p>
        </p:txBody>
      </p:sp>
      <p:sp>
        <p:nvSpPr>
          <p:cNvPr id="174085" name="Text Box 5">
            <a:extLst>
              <a:ext uri="{FF2B5EF4-FFF2-40B4-BE49-F238E27FC236}">
                <a16:creationId xmlns:a16="http://schemas.microsoft.com/office/drawing/2014/main" id="{A26AF148-98B8-42A8-8630-6CA87536B9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125538"/>
            <a:ext cx="8135937" cy="187801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339933"/>
              </a:buClr>
              <a:buFont typeface="Wingdings" panose="05000000000000000000" pitchFamily="2" charset="2"/>
              <a:buChar char="u"/>
            </a:pPr>
            <a:r>
              <a:rPr lang="zh-CN" altLang="en-US" sz="2600" b="1"/>
              <a:t> 存储过程通过输出参数向调用它的过程或客户端返回信息。</a:t>
            </a:r>
          </a:p>
          <a:p>
            <a:pPr>
              <a:spcBef>
                <a:spcPct val="50000"/>
              </a:spcBef>
              <a:buClr>
                <a:srgbClr val="339933"/>
              </a:buClr>
              <a:buFont typeface="Wingdings" panose="05000000000000000000" pitchFamily="2" charset="2"/>
              <a:buChar char="u"/>
            </a:pPr>
            <a:r>
              <a:rPr lang="zh-CN" altLang="en-US" sz="2600" b="1"/>
              <a:t> 通过输出参数，存储过程的运行结果得到保留，即使存储过程运行结束。</a:t>
            </a:r>
          </a:p>
        </p:txBody>
      </p:sp>
      <p:sp>
        <p:nvSpPr>
          <p:cNvPr id="2" name="Rectangle 15">
            <a:extLst>
              <a:ext uri="{FF2B5EF4-FFF2-40B4-BE49-F238E27FC236}">
                <a16:creationId xmlns:a16="http://schemas.microsoft.com/office/drawing/2014/main" id="{257F3537-F584-456B-99E2-10EF14FB3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6513" y="3141663"/>
            <a:ext cx="3744913" cy="6477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n"/>
            </a:pPr>
            <a:r>
              <a:rPr lang="en-US" altLang="zh-CN" sz="2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输出参数特性：</a:t>
            </a:r>
            <a:endParaRPr lang="zh-CN" altLang="en-US" sz="2800" b="1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174087" name="Text Box 7">
            <a:extLst>
              <a:ext uri="{FF2B5EF4-FFF2-40B4-BE49-F238E27FC236}">
                <a16:creationId xmlns:a16="http://schemas.microsoft.com/office/drawing/2014/main" id="{741ECCD1-DE32-41A5-AEFB-BF2A0A0D8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3856038"/>
            <a:ext cx="8135938" cy="207645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339933"/>
              </a:buClr>
              <a:buFont typeface="Wingdings" panose="05000000000000000000" pitchFamily="2" charset="2"/>
              <a:buChar char="u"/>
            </a:pPr>
            <a:r>
              <a:rPr lang="zh-CN" altLang="en-US" sz="2600" b="1"/>
              <a:t> 调用语句必须包含一个变量且声明为</a:t>
            </a:r>
            <a:r>
              <a:rPr lang="en-US" altLang="zh-CN" sz="2600" b="1"/>
              <a:t>OUTPUT</a:t>
            </a:r>
            <a:r>
              <a:rPr lang="zh-CN" altLang="en-US" sz="2600" b="1"/>
              <a:t>，接受返回值。</a:t>
            </a:r>
          </a:p>
          <a:p>
            <a:pPr>
              <a:spcBef>
                <a:spcPct val="50000"/>
              </a:spcBef>
              <a:buClr>
                <a:srgbClr val="339933"/>
              </a:buClr>
              <a:buFont typeface="Wingdings" panose="05000000000000000000" pitchFamily="2" charset="2"/>
              <a:buChar char="u"/>
            </a:pPr>
            <a:r>
              <a:rPr lang="zh-CN" altLang="en-US" sz="2600" b="1"/>
              <a:t> 该变量可在随后的</a:t>
            </a:r>
            <a:r>
              <a:rPr lang="en-US" altLang="zh-CN" sz="2600" b="1"/>
              <a:t>T-SQL</a:t>
            </a:r>
            <a:r>
              <a:rPr lang="zh-CN" altLang="en-US" sz="2600" b="1"/>
              <a:t>语句中使用。</a:t>
            </a:r>
          </a:p>
          <a:p>
            <a:pPr>
              <a:spcBef>
                <a:spcPct val="50000"/>
              </a:spcBef>
              <a:buClr>
                <a:srgbClr val="339933"/>
              </a:buClr>
              <a:buFont typeface="Wingdings" panose="05000000000000000000" pitchFamily="2" charset="2"/>
              <a:buChar char="u"/>
            </a:pPr>
            <a:r>
              <a:rPr lang="zh-CN" altLang="en-US" sz="2600" b="1"/>
              <a:t> 输出参数不能用于传递常数。  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260"/>
    </mc:Choice>
    <mc:Fallback xmlns="">
      <p:transition spd="slow" advTm="402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1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40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40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40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1679" grpId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4" name="Rectangle 14">
            <a:extLst>
              <a:ext uri="{FF2B5EF4-FFF2-40B4-BE49-F238E27FC236}">
                <a16:creationId xmlns:a16="http://schemas.microsoft.com/office/drawing/2014/main" id="{7AD617DF-0F51-48CE-98F3-99A352031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二、创建存储过程</a:t>
            </a:r>
          </a:p>
        </p:txBody>
      </p:sp>
      <p:sp>
        <p:nvSpPr>
          <p:cNvPr id="880655" name="Rectangle 15">
            <a:extLst>
              <a:ext uri="{FF2B5EF4-FFF2-40B4-BE49-F238E27FC236}">
                <a16:creationId xmlns:a16="http://schemas.microsoft.com/office/drawing/2014/main" id="{ED2BC253-4569-4A6A-9CB1-2FA46C1D8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" y="1330325"/>
            <a:ext cx="8207375" cy="51943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pt-BR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 Server Management Studio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、使用</a:t>
            </a:r>
            <a:r>
              <a:rPr lang="pt-BR" altLang="zh-CN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T-SQL</a:t>
            </a:r>
            <a:r>
              <a:rPr lang="zh-CN" altLang="pt-BR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pt-BR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pt-BR" sz="2800" b="1">
                <a:latin typeface="黑体" panose="02010609060101010101" pitchFamily="49" charset="-122"/>
                <a:ea typeface="黑体" panose="02010609060101010101" pitchFamily="49" charset="-122"/>
              </a:rPr>
              <a:t>几点说明：</a:t>
            </a:r>
          </a:p>
          <a:p>
            <a:pPr lvl="2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>
                <a:latin typeface="楷体_GB2312" pitchFamily="49" charset="-122"/>
              </a:rPr>
              <a:t>只能在当前数据库内创建存储过程，除了临时存储过程。</a:t>
            </a:r>
          </a:p>
          <a:p>
            <a:pPr lvl="2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楷体_GB2312" pitchFamily="49" charset="-122"/>
              </a:rPr>
              <a:t> 存储过程可以引用表、视图、用户定义函数、其他存储过程以及临时表。</a:t>
            </a:r>
          </a:p>
          <a:p>
            <a:pPr lvl="2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楷体_GB2312" pitchFamily="49" charset="-122"/>
              </a:rPr>
              <a:t> 存储过程的最大大小依赖于可用内存（</a:t>
            </a:r>
            <a:r>
              <a:rPr lang="en-US" altLang="zh-CN" sz="2400" b="1">
                <a:latin typeface="楷体_GB2312" pitchFamily="49" charset="-122"/>
              </a:rPr>
              <a:t>128MB)</a:t>
            </a:r>
            <a:r>
              <a:rPr lang="zh-CN" altLang="en-US" sz="2400" b="1">
                <a:latin typeface="楷体_GB2312" pitchFamily="49" charset="-122"/>
              </a:rPr>
              <a:t>。</a:t>
            </a:r>
          </a:p>
          <a:p>
            <a:pPr lvl="2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</a:pPr>
            <a:r>
              <a:rPr lang="zh-CN" altLang="pt-BR" sz="2400" b="1">
                <a:latin typeface="楷体_GB2312" pitchFamily="49" charset="-122"/>
              </a:rPr>
              <a:t> 在存储过程创建后，存储过程的名称存放在</a:t>
            </a:r>
            <a:r>
              <a:rPr lang="pt-BR" altLang="zh-CN" sz="2400" b="1">
                <a:solidFill>
                  <a:srgbClr val="0000FF"/>
                </a:solidFill>
                <a:latin typeface="楷体_GB2312" pitchFamily="49" charset="-122"/>
              </a:rPr>
              <a:t>sysobject</a:t>
            </a:r>
            <a:r>
              <a:rPr lang="zh-CN" altLang="pt-BR" sz="2400" b="1">
                <a:latin typeface="楷体_GB2312" pitchFamily="49" charset="-122"/>
              </a:rPr>
              <a:t>表中，文本存放在</a:t>
            </a:r>
            <a:r>
              <a:rPr lang="pt-BR" altLang="zh-CN" sz="2400" b="1">
                <a:solidFill>
                  <a:srgbClr val="0000FF"/>
                </a:solidFill>
                <a:latin typeface="楷体_GB2312" pitchFamily="49" charset="-122"/>
              </a:rPr>
              <a:t>syscomments</a:t>
            </a:r>
            <a:r>
              <a:rPr lang="zh-CN" altLang="pt-BR" sz="2400" b="1">
                <a:latin typeface="楷体_GB2312" pitchFamily="49" charset="-122"/>
              </a:rPr>
              <a:t>表中。</a:t>
            </a:r>
            <a:endParaRPr lang="zh-CN" altLang="en-US" sz="2400" b="1">
              <a:latin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370"/>
    </mc:Choice>
    <mc:Fallback xmlns="">
      <p:transition spd="slow" advTm="353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806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806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806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806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750" name="Rectangle 14">
            <a:extLst>
              <a:ext uri="{FF2B5EF4-FFF2-40B4-BE49-F238E27FC236}">
                <a16:creationId xmlns:a16="http://schemas.microsoft.com/office/drawing/2014/main" id="{935A6DCB-8146-4284-9252-BE4E16DBB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三、执行存储过程</a:t>
            </a:r>
          </a:p>
        </p:txBody>
      </p:sp>
      <p:sp>
        <p:nvSpPr>
          <p:cNvPr id="884751" name="Rectangle 15">
            <a:extLst>
              <a:ext uri="{FF2B5EF4-FFF2-40B4-BE49-F238E27FC236}">
                <a16:creationId xmlns:a16="http://schemas.microsoft.com/office/drawing/2014/main" id="{F8AC1ACA-19C9-43A2-A12A-0623493DE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96975"/>
            <a:ext cx="8207375" cy="6477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语句格式：</a:t>
            </a:r>
            <a:endParaRPr lang="zh-CN" altLang="en-US" sz="2800" b="1">
              <a:latin typeface="Tahoma" panose="020B0604030504040204" pitchFamily="34" charset="0"/>
            </a:endParaRPr>
          </a:p>
        </p:txBody>
      </p:sp>
      <p:sp>
        <p:nvSpPr>
          <p:cNvPr id="91140" name="Text Box 16">
            <a:extLst>
              <a:ext uri="{FF2B5EF4-FFF2-40B4-BE49-F238E27FC236}">
                <a16:creationId xmlns:a16="http://schemas.microsoft.com/office/drawing/2014/main" id="{A52BEFA5-DAA4-452D-95D8-97244E1E0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8" y="1916113"/>
            <a:ext cx="8713787" cy="3681412"/>
          </a:xfrm>
          <a:prstGeom prst="rect">
            <a:avLst/>
          </a:prstGeom>
          <a:gradFill rotWithShape="1">
            <a:gsLst>
              <a:gs pos="0">
                <a:srgbClr val="C9EAFF"/>
              </a:gs>
              <a:gs pos="50000">
                <a:srgbClr val="FFFFFF"/>
              </a:gs>
              <a:gs pos="100000">
                <a:srgbClr val="C9EAFF"/>
              </a:gs>
            </a:gsLst>
            <a:lin ang="5400000" scaled="1"/>
          </a:gra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/>
              <a:t>[ </a:t>
            </a:r>
            <a:r>
              <a:rPr lang="en-US" altLang="zh-CN" sz="2800">
                <a:solidFill>
                  <a:srgbClr val="0000FF"/>
                </a:solidFill>
              </a:rPr>
              <a:t>EXEC</a:t>
            </a:r>
            <a:r>
              <a:rPr lang="en-US" altLang="zh-CN" sz="2800">
                <a:solidFill>
                  <a:srgbClr val="CC0000"/>
                </a:solidFill>
              </a:rPr>
              <a:t>[</a:t>
            </a:r>
            <a:r>
              <a:rPr lang="en-US" altLang="zh-CN" sz="2800">
                <a:solidFill>
                  <a:srgbClr val="0000FF"/>
                </a:solidFill>
              </a:rPr>
              <a:t>UTE</a:t>
            </a:r>
            <a:r>
              <a:rPr lang="en-US" altLang="zh-CN" sz="2800">
                <a:solidFill>
                  <a:srgbClr val="CC0000"/>
                </a:solidFill>
              </a:rPr>
              <a:t>]</a:t>
            </a:r>
            <a:r>
              <a:rPr lang="en-US" altLang="zh-CN" sz="2800"/>
              <a:t>]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/>
              <a:t>  { [@return_status=]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/>
              <a:t>    </a:t>
            </a:r>
            <a:r>
              <a:rPr lang="en-US" altLang="zh-CN" sz="2700">
                <a:solidFill>
                  <a:srgbClr val="CC0000"/>
                </a:solidFill>
              </a:rPr>
              <a:t>procedure_name</a:t>
            </a:r>
            <a:r>
              <a:rPr lang="en-US" altLang="zh-CN" sz="2700"/>
              <a:t> [;number] </a:t>
            </a:r>
            <a:r>
              <a:rPr lang="en-US" altLang="zh-CN" sz="2700">
                <a:solidFill>
                  <a:srgbClr val="0000FF"/>
                </a:solidFill>
              </a:rPr>
              <a:t>| </a:t>
            </a:r>
            <a:r>
              <a:rPr lang="en-US" altLang="zh-CN" sz="2700">
                <a:solidFill>
                  <a:srgbClr val="CC0000"/>
                </a:solidFill>
              </a:rPr>
              <a:t>@procedure_name_var</a:t>
            </a:r>
            <a:r>
              <a:rPr lang="en-US" altLang="zh-CN" sz="2700"/>
              <a:t> }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/>
              <a:t>       [[@parameter=] {value </a:t>
            </a:r>
            <a:r>
              <a:rPr lang="en-US" altLang="zh-CN" sz="2800">
                <a:solidFill>
                  <a:srgbClr val="0000FF"/>
                </a:solidFill>
              </a:rPr>
              <a:t>|</a:t>
            </a:r>
            <a:r>
              <a:rPr lang="en-US" altLang="zh-CN" sz="2800"/>
              <a:t> @variable [OUTPUT] </a:t>
            </a:r>
            <a:r>
              <a:rPr lang="en-US" altLang="zh-CN" sz="2800">
                <a:solidFill>
                  <a:srgbClr val="0000FF"/>
                </a:solidFill>
              </a:rPr>
              <a:t>|</a:t>
            </a:r>
            <a:r>
              <a:rPr lang="en-US" altLang="zh-CN" sz="2800"/>
              <a:t>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/>
              <a:t>                                                                  [DEFAULT]}]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/>
              <a:t>       [ ,...n ]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/>
              <a:t>    [WITH RECOMPILE ] </a:t>
            </a:r>
          </a:p>
        </p:txBody>
      </p:sp>
      <p:sp>
        <p:nvSpPr>
          <p:cNvPr id="91143" name="Rectangle 7">
            <a:extLst>
              <a:ext uri="{FF2B5EF4-FFF2-40B4-BE49-F238E27FC236}">
                <a16:creationId xmlns:a16="http://schemas.microsoft.com/office/drawing/2014/main" id="{CCA3BD23-7ED6-42F2-9F97-7EE969C73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492375"/>
            <a:ext cx="2952750" cy="576263"/>
          </a:xfrm>
          <a:prstGeom prst="rect">
            <a:avLst/>
          </a:prstGeom>
          <a:noFill/>
          <a:ln w="57150" cap="sq">
            <a:solidFill>
              <a:srgbClr val="CC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44" name="AutoShape 8">
            <a:extLst>
              <a:ext uri="{FF2B5EF4-FFF2-40B4-BE49-F238E27FC236}">
                <a16:creationId xmlns:a16="http://schemas.microsoft.com/office/drawing/2014/main" id="{F26CF964-AD3E-4768-BE73-849F8E0E3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908050"/>
            <a:ext cx="3816350" cy="1657350"/>
          </a:xfrm>
          <a:prstGeom prst="wedgeRoundRectCallout">
            <a:avLst>
              <a:gd name="adj1" fmla="val -57569"/>
              <a:gd name="adj2" fmla="val 43199"/>
              <a:gd name="adj3" fmla="val 16667"/>
            </a:avLst>
          </a:prstGeom>
          <a:gradFill rotWithShape="1">
            <a:gsLst>
              <a:gs pos="0">
                <a:srgbClr val="FFE1FF"/>
              </a:gs>
              <a:gs pos="50000">
                <a:schemeClr val="bg1"/>
              </a:gs>
              <a:gs pos="100000">
                <a:srgbClr val="FFE1FF"/>
              </a:gs>
            </a:gsLst>
            <a:lin ang="5400000" scaled="1"/>
          </a:gradFill>
          <a:ln w="12700" cap="sq">
            <a:solidFill>
              <a:srgbClr val="C0C0C0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anchor="ctr"/>
          <a:lstStyle/>
          <a:p>
            <a:pPr>
              <a:lnSpc>
                <a:spcPct val="115000"/>
              </a:lnSpc>
            </a:pPr>
            <a:r>
              <a:rPr lang="zh-CN" altLang="en-US" sz="2400" b="1"/>
              <a:t>    代表返回值变量，是可选的整型变量，用来保存存储过程向调用者返回的值。 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896"/>
    </mc:Choice>
    <mc:Fallback xmlns="">
      <p:transition spd="slow" advTm="208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91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500"/>
                                        <p:tgtEl>
                                          <p:spTgt spid="91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4" grpId="0" animBg="1"/>
      <p:bldP spid="91144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750" name="Rectangle 14">
            <a:extLst>
              <a:ext uri="{FF2B5EF4-FFF2-40B4-BE49-F238E27FC236}">
                <a16:creationId xmlns:a16="http://schemas.microsoft.com/office/drawing/2014/main" id="{A93B49E4-7FE4-4792-8E02-4EC18D1FE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三、执行存储过程</a:t>
            </a:r>
          </a:p>
        </p:txBody>
      </p:sp>
      <p:sp>
        <p:nvSpPr>
          <p:cNvPr id="884751" name="Rectangle 15">
            <a:extLst>
              <a:ext uri="{FF2B5EF4-FFF2-40B4-BE49-F238E27FC236}">
                <a16:creationId xmlns:a16="http://schemas.microsoft.com/office/drawing/2014/main" id="{4D1C162A-A1B3-4CFB-A94C-E90B3008C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96975"/>
            <a:ext cx="8207375" cy="6477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语句格式：</a:t>
            </a:r>
            <a:endParaRPr lang="zh-CN" altLang="en-US" sz="2800" b="1">
              <a:latin typeface="Tahoma" panose="020B0604030504040204" pitchFamily="34" charset="0"/>
            </a:endParaRPr>
          </a:p>
        </p:txBody>
      </p:sp>
      <p:sp>
        <p:nvSpPr>
          <p:cNvPr id="163844" name="Text Box 16">
            <a:extLst>
              <a:ext uri="{FF2B5EF4-FFF2-40B4-BE49-F238E27FC236}">
                <a16:creationId xmlns:a16="http://schemas.microsoft.com/office/drawing/2014/main" id="{F187645C-4BCA-451D-BE27-3080296A2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8" y="1916113"/>
            <a:ext cx="8713787" cy="3681412"/>
          </a:xfrm>
          <a:prstGeom prst="rect">
            <a:avLst/>
          </a:prstGeom>
          <a:gradFill rotWithShape="1">
            <a:gsLst>
              <a:gs pos="0">
                <a:srgbClr val="C9EAFF"/>
              </a:gs>
              <a:gs pos="50000">
                <a:srgbClr val="FFFFFF"/>
              </a:gs>
              <a:gs pos="100000">
                <a:srgbClr val="C9EAFF"/>
              </a:gs>
            </a:gsLst>
            <a:lin ang="5400000" scaled="1"/>
          </a:gra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/>
              <a:t>[ </a:t>
            </a:r>
            <a:r>
              <a:rPr lang="en-US" altLang="zh-CN" sz="2800">
                <a:solidFill>
                  <a:srgbClr val="0000FF"/>
                </a:solidFill>
              </a:rPr>
              <a:t>EXEC</a:t>
            </a:r>
            <a:r>
              <a:rPr lang="en-US" altLang="zh-CN" sz="2800">
                <a:solidFill>
                  <a:srgbClr val="CC0000"/>
                </a:solidFill>
              </a:rPr>
              <a:t>[</a:t>
            </a:r>
            <a:r>
              <a:rPr lang="en-US" altLang="zh-CN" sz="2800">
                <a:solidFill>
                  <a:srgbClr val="0000FF"/>
                </a:solidFill>
              </a:rPr>
              <a:t>UTE</a:t>
            </a:r>
            <a:r>
              <a:rPr lang="en-US" altLang="zh-CN" sz="2800">
                <a:solidFill>
                  <a:srgbClr val="CC0000"/>
                </a:solidFill>
              </a:rPr>
              <a:t>]</a:t>
            </a:r>
            <a:r>
              <a:rPr lang="en-US" altLang="zh-CN" sz="2800"/>
              <a:t>]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/>
              <a:t>  { [@return_status=]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/>
              <a:t>    </a:t>
            </a:r>
            <a:r>
              <a:rPr lang="en-US" altLang="zh-CN" sz="2700">
                <a:solidFill>
                  <a:srgbClr val="CC0000"/>
                </a:solidFill>
              </a:rPr>
              <a:t>procedure_name</a:t>
            </a:r>
            <a:r>
              <a:rPr lang="en-US" altLang="zh-CN" sz="2700"/>
              <a:t> [;number] </a:t>
            </a:r>
            <a:r>
              <a:rPr lang="en-US" altLang="zh-CN" sz="2700">
                <a:solidFill>
                  <a:srgbClr val="0000FF"/>
                </a:solidFill>
              </a:rPr>
              <a:t>| </a:t>
            </a:r>
            <a:r>
              <a:rPr lang="en-US" altLang="zh-CN" sz="2700">
                <a:solidFill>
                  <a:srgbClr val="CC0000"/>
                </a:solidFill>
              </a:rPr>
              <a:t>@procedure_name_var</a:t>
            </a:r>
            <a:r>
              <a:rPr lang="en-US" altLang="zh-CN" sz="2700"/>
              <a:t> }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/>
              <a:t>       [[@parameter=] {value </a:t>
            </a:r>
            <a:r>
              <a:rPr lang="en-US" altLang="zh-CN" sz="2800">
                <a:solidFill>
                  <a:srgbClr val="0000FF"/>
                </a:solidFill>
              </a:rPr>
              <a:t>|</a:t>
            </a:r>
            <a:r>
              <a:rPr lang="en-US" altLang="zh-CN" sz="2800"/>
              <a:t> @variable [OUTPUT] </a:t>
            </a:r>
            <a:r>
              <a:rPr lang="en-US" altLang="zh-CN" sz="2800">
                <a:solidFill>
                  <a:srgbClr val="0000FF"/>
                </a:solidFill>
              </a:rPr>
              <a:t>|</a:t>
            </a:r>
            <a:r>
              <a:rPr lang="en-US" altLang="zh-CN" sz="2800"/>
              <a:t>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/>
              <a:t>                                                                  [DEFAULT]}]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/>
              <a:t>       [ ,...n ]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/>
              <a:t>    [WITH RECOMPILE ] </a:t>
            </a:r>
          </a:p>
        </p:txBody>
      </p:sp>
      <p:sp>
        <p:nvSpPr>
          <p:cNvPr id="163845" name="Text Box 5">
            <a:extLst>
              <a:ext uri="{FF2B5EF4-FFF2-40B4-BE49-F238E27FC236}">
                <a16:creationId xmlns:a16="http://schemas.microsoft.com/office/drawing/2014/main" id="{1DA0FFD0-84CA-4FED-9EBD-998016990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5876925"/>
            <a:ext cx="8964612" cy="48895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u"/>
            </a:pPr>
            <a:r>
              <a:rPr lang="zh-CN" altLang="en-US" sz="2600" b="1" dirty="0"/>
              <a:t> 参数可以通过</a:t>
            </a:r>
            <a:r>
              <a:rPr lang="en-US" altLang="zh-CN" sz="2600" b="1" dirty="0">
                <a:solidFill>
                  <a:srgbClr val="0000FF"/>
                </a:solidFill>
              </a:rPr>
              <a:t>value</a:t>
            </a:r>
            <a:r>
              <a:rPr lang="zh-CN" altLang="en-US" sz="2600" b="1" dirty="0"/>
              <a:t>或</a:t>
            </a:r>
            <a:r>
              <a:rPr lang="en-US" altLang="zh-CN" sz="2600" b="1" dirty="0">
                <a:solidFill>
                  <a:srgbClr val="0000FF"/>
                </a:solidFill>
              </a:rPr>
              <a:t>@</a:t>
            </a:r>
            <a:r>
              <a:rPr lang="en-US" altLang="zh-CN" sz="2600" b="1" dirty="0" err="1">
                <a:solidFill>
                  <a:srgbClr val="0000FF"/>
                </a:solidFill>
              </a:rPr>
              <a:t>parameter_name</a:t>
            </a:r>
            <a:r>
              <a:rPr lang="en-US" altLang="zh-CN" sz="2600" b="1" dirty="0">
                <a:solidFill>
                  <a:srgbClr val="0000FF"/>
                </a:solidFill>
              </a:rPr>
              <a:t>=value</a:t>
            </a:r>
            <a:r>
              <a:rPr lang="zh-CN" altLang="en-US" sz="2600" b="1" dirty="0"/>
              <a:t>提供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81"/>
    </mc:Choice>
    <mc:Fallback xmlns="">
      <p:transition spd="slow" advTm="78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750" name="Rectangle 14">
            <a:extLst>
              <a:ext uri="{FF2B5EF4-FFF2-40B4-BE49-F238E27FC236}">
                <a16:creationId xmlns:a16="http://schemas.microsoft.com/office/drawing/2014/main" id="{1A0FEBB1-E945-4728-A176-0A881CE5D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三、执行存储过程</a:t>
            </a:r>
          </a:p>
        </p:txBody>
      </p:sp>
      <p:sp>
        <p:nvSpPr>
          <p:cNvPr id="884751" name="Rectangle 15">
            <a:extLst>
              <a:ext uri="{FF2B5EF4-FFF2-40B4-BE49-F238E27FC236}">
                <a16:creationId xmlns:a16="http://schemas.microsoft.com/office/drawing/2014/main" id="{6B3D14AE-06F5-43E5-9EB9-C3EE86F53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96975"/>
            <a:ext cx="8207375" cy="6477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语句格式：</a:t>
            </a:r>
            <a:endParaRPr lang="zh-CN" altLang="en-US" sz="2800" b="1">
              <a:latin typeface="Tahoma" panose="020B0604030504040204" pitchFamily="34" charset="0"/>
            </a:endParaRPr>
          </a:p>
        </p:txBody>
      </p:sp>
      <p:sp>
        <p:nvSpPr>
          <p:cNvPr id="164868" name="Text Box 16">
            <a:extLst>
              <a:ext uri="{FF2B5EF4-FFF2-40B4-BE49-F238E27FC236}">
                <a16:creationId xmlns:a16="http://schemas.microsoft.com/office/drawing/2014/main" id="{0439A941-C9F1-4C23-B9D7-0D876E530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8" y="1916113"/>
            <a:ext cx="8713787" cy="3681412"/>
          </a:xfrm>
          <a:prstGeom prst="rect">
            <a:avLst/>
          </a:prstGeom>
          <a:gradFill rotWithShape="1">
            <a:gsLst>
              <a:gs pos="0">
                <a:srgbClr val="C9EAFF"/>
              </a:gs>
              <a:gs pos="50000">
                <a:srgbClr val="FFFFFF"/>
              </a:gs>
              <a:gs pos="100000">
                <a:srgbClr val="C9EAFF"/>
              </a:gs>
            </a:gsLst>
            <a:lin ang="5400000" scaled="1"/>
          </a:gra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/>
              <a:t>[ </a:t>
            </a:r>
            <a:r>
              <a:rPr lang="en-US" altLang="zh-CN" sz="2800">
                <a:solidFill>
                  <a:srgbClr val="0000FF"/>
                </a:solidFill>
              </a:rPr>
              <a:t>EXEC</a:t>
            </a:r>
            <a:r>
              <a:rPr lang="en-US" altLang="zh-CN" sz="2800">
                <a:solidFill>
                  <a:srgbClr val="CC0000"/>
                </a:solidFill>
              </a:rPr>
              <a:t>[</a:t>
            </a:r>
            <a:r>
              <a:rPr lang="en-US" altLang="zh-CN" sz="2800">
                <a:solidFill>
                  <a:srgbClr val="0000FF"/>
                </a:solidFill>
              </a:rPr>
              <a:t>UTE</a:t>
            </a:r>
            <a:r>
              <a:rPr lang="en-US" altLang="zh-CN" sz="2800">
                <a:solidFill>
                  <a:srgbClr val="CC0000"/>
                </a:solidFill>
              </a:rPr>
              <a:t>]</a:t>
            </a:r>
            <a:r>
              <a:rPr lang="en-US" altLang="zh-CN" sz="2800"/>
              <a:t>]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/>
              <a:t>  { [@return_status=]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/>
              <a:t>    </a:t>
            </a:r>
            <a:r>
              <a:rPr lang="en-US" altLang="zh-CN" sz="2700">
                <a:solidFill>
                  <a:srgbClr val="CC0000"/>
                </a:solidFill>
              </a:rPr>
              <a:t>procedure_name</a:t>
            </a:r>
            <a:r>
              <a:rPr lang="en-US" altLang="zh-CN" sz="2700"/>
              <a:t> [;number] </a:t>
            </a:r>
            <a:r>
              <a:rPr lang="en-US" altLang="zh-CN" sz="2700">
                <a:solidFill>
                  <a:srgbClr val="0000FF"/>
                </a:solidFill>
              </a:rPr>
              <a:t>| </a:t>
            </a:r>
            <a:r>
              <a:rPr lang="en-US" altLang="zh-CN" sz="2700">
                <a:solidFill>
                  <a:srgbClr val="CC0000"/>
                </a:solidFill>
              </a:rPr>
              <a:t>@procedure_name_var</a:t>
            </a:r>
            <a:r>
              <a:rPr lang="en-US" altLang="zh-CN" sz="2700"/>
              <a:t> }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/>
              <a:t>       [[@parameter=] {value </a:t>
            </a:r>
            <a:r>
              <a:rPr lang="en-US" altLang="zh-CN" sz="2800">
                <a:solidFill>
                  <a:srgbClr val="0000FF"/>
                </a:solidFill>
              </a:rPr>
              <a:t>|</a:t>
            </a:r>
            <a:r>
              <a:rPr lang="en-US" altLang="zh-CN" sz="2800"/>
              <a:t> @variable [OUTPUT] </a:t>
            </a:r>
            <a:r>
              <a:rPr lang="en-US" altLang="zh-CN" sz="2800">
                <a:solidFill>
                  <a:srgbClr val="0000FF"/>
                </a:solidFill>
              </a:rPr>
              <a:t>|</a:t>
            </a:r>
            <a:r>
              <a:rPr lang="en-US" altLang="zh-CN" sz="2800"/>
              <a:t>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/>
              <a:t>                                                                  [DEFAULT]}]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/>
              <a:t>       [ ,...n ]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/>
              <a:t>    [WITH RECOMPILE ] </a:t>
            </a:r>
          </a:p>
        </p:txBody>
      </p:sp>
      <p:sp>
        <p:nvSpPr>
          <p:cNvPr id="164869" name="Text Box 5">
            <a:extLst>
              <a:ext uri="{FF2B5EF4-FFF2-40B4-BE49-F238E27FC236}">
                <a16:creationId xmlns:a16="http://schemas.microsoft.com/office/drawing/2014/main" id="{3658ACDE-AD00-438D-B8C7-CB1ACFEC1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5805488"/>
            <a:ext cx="8964612" cy="885825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u"/>
            </a:pPr>
            <a:r>
              <a:rPr lang="zh-CN" altLang="en-US" sz="2600" b="1"/>
              <a:t> 执行存储过程时，若语句是批处理中的第一个语句，则不一定指定</a:t>
            </a:r>
            <a:r>
              <a:rPr lang="en-US" altLang="zh-CN" sz="2600" b="1">
                <a:solidFill>
                  <a:srgbClr val="0000FF"/>
                </a:solidFill>
              </a:rPr>
              <a:t>EXECUTE</a:t>
            </a:r>
            <a:r>
              <a:rPr lang="zh-CN" altLang="en-US" sz="2600" b="1"/>
              <a:t>关键字。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14"/>
    </mc:Choice>
    <mc:Fallback xmlns="">
      <p:transition spd="slow" advTm="88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703" name="Rectangle 15">
            <a:extLst>
              <a:ext uri="{FF2B5EF4-FFF2-40B4-BE49-F238E27FC236}">
                <a16:creationId xmlns:a16="http://schemas.microsoft.com/office/drawing/2014/main" id="{0FFD2BC1-783C-4E0E-908F-A70119CDF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60350"/>
            <a:ext cx="8569325" cy="63373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6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pt-BR" sz="2600" b="1">
                <a:latin typeface="Tahoma" panose="020B0604030504040204" pitchFamily="34" charset="0"/>
              </a:rPr>
              <a:t>创建一个存储过程，其实现的功能是返回学生的姓名、所学课程的课程名和成绩。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900" b="1">
                <a:latin typeface="Tahoma" panose="020B0604030504040204" pitchFamily="34" charset="0"/>
              </a:rPr>
              <a:t>  </a:t>
            </a:r>
          </a:p>
          <a:p>
            <a:pPr eaLnBrk="1" hangingPunct="1">
              <a:lnSpc>
                <a:spcPct val="12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>
                <a:solidFill>
                  <a:srgbClr val="006666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400" b="1">
                <a:solidFill>
                  <a:srgbClr val="339933"/>
                </a:solidFill>
              </a:rPr>
              <a:t>--</a:t>
            </a:r>
            <a:r>
              <a:rPr lang="zh-CN" altLang="en-US" sz="2400" b="1">
                <a:solidFill>
                  <a:srgbClr val="339933"/>
                </a:solidFill>
              </a:rPr>
              <a:t>简单的存储过程</a:t>
            </a:r>
            <a:endParaRPr lang="en-US" altLang="zh-CN" sz="2400" b="1">
              <a:solidFill>
                <a:srgbClr val="339933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12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>
                <a:solidFill>
                  <a:srgbClr val="006666"/>
                </a:solidFill>
                <a:latin typeface="Tahoma" panose="020B0604030504040204" pitchFamily="34" charset="0"/>
              </a:rPr>
              <a:t>  </a:t>
            </a:r>
            <a:r>
              <a:rPr lang="en-US" altLang="zh-CN" sz="2500" b="1">
                <a:solidFill>
                  <a:srgbClr val="0000FF"/>
                </a:solidFill>
                <a:latin typeface="Tahoma" panose="020B0604030504040204" pitchFamily="34" charset="0"/>
              </a:rPr>
              <a:t>USE</a:t>
            </a:r>
            <a:r>
              <a:rPr lang="en-US" altLang="zh-CN" sz="2500" b="1">
                <a:solidFill>
                  <a:srgbClr val="006666"/>
                </a:solidFill>
                <a:latin typeface="Tahoma" panose="020B0604030504040204" pitchFamily="34" charset="0"/>
              </a:rPr>
              <a:t> JXGL</a:t>
            </a:r>
          </a:p>
          <a:p>
            <a:pPr eaLnBrk="1" hangingPunct="1">
              <a:lnSpc>
                <a:spcPct val="125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>
                <a:latin typeface="Tahoma" panose="020B0604030504040204" pitchFamily="34" charset="0"/>
              </a:rPr>
              <a:t>  GO</a:t>
            </a:r>
          </a:p>
          <a:p>
            <a:pPr eaLnBrk="1" hangingPunct="1">
              <a:lnSpc>
                <a:spcPct val="125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>
                <a:latin typeface="Tahoma" panose="020B0604030504040204" pitchFamily="34" charset="0"/>
              </a:rPr>
              <a:t>  </a:t>
            </a:r>
            <a:r>
              <a:rPr lang="en-US" altLang="zh-CN" sz="2500" b="1">
                <a:solidFill>
                  <a:srgbClr val="0000FF"/>
                </a:solidFill>
                <a:latin typeface="Tahoma" panose="020B0604030504040204" pitchFamily="34" charset="0"/>
              </a:rPr>
              <a:t>CREATE PROCEDURE</a:t>
            </a:r>
            <a:r>
              <a:rPr lang="en-US" altLang="zh-CN" sz="2500" b="1">
                <a:solidFill>
                  <a:srgbClr val="003366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500" b="1">
                <a:solidFill>
                  <a:srgbClr val="006666"/>
                </a:solidFill>
                <a:latin typeface="Tahoma" panose="020B0604030504040204" pitchFamily="34" charset="0"/>
              </a:rPr>
              <a:t>SCG_name</a:t>
            </a:r>
          </a:p>
          <a:p>
            <a:pPr eaLnBrk="1" hangingPunct="1">
              <a:lnSpc>
                <a:spcPct val="125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>
                <a:solidFill>
                  <a:srgbClr val="0000FF"/>
                </a:solidFill>
                <a:latin typeface="Tahoma" panose="020B0604030504040204" pitchFamily="34" charset="0"/>
              </a:rPr>
              <a:t>     AS</a:t>
            </a:r>
          </a:p>
          <a:p>
            <a:pPr eaLnBrk="1" hangingPunct="1">
              <a:lnSpc>
                <a:spcPct val="125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>
                <a:solidFill>
                  <a:srgbClr val="003366"/>
                </a:solidFill>
                <a:latin typeface="Tahoma" panose="020B0604030504040204" pitchFamily="34" charset="0"/>
              </a:rPr>
              <a:t>       </a:t>
            </a:r>
            <a:r>
              <a:rPr lang="en-US" altLang="zh-CN" sz="2500" b="1">
                <a:solidFill>
                  <a:srgbClr val="336699"/>
                </a:solidFill>
                <a:latin typeface="Tahoma" panose="020B0604030504040204" pitchFamily="34" charset="0"/>
              </a:rPr>
              <a:t>SELECT </a:t>
            </a:r>
            <a:r>
              <a:rPr lang="en-US" altLang="zh-CN" sz="2500" b="1">
                <a:latin typeface="Tahoma" panose="020B0604030504040204" pitchFamily="34" charset="0"/>
              </a:rPr>
              <a:t>SNAME, CNAME, GRADE</a:t>
            </a:r>
          </a:p>
          <a:p>
            <a:pPr eaLnBrk="1" hangingPunct="1">
              <a:lnSpc>
                <a:spcPct val="125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>
                <a:latin typeface="Tahoma" panose="020B0604030504040204" pitchFamily="34" charset="0"/>
              </a:rPr>
              <a:t>       </a:t>
            </a:r>
            <a:r>
              <a:rPr lang="en-US" altLang="zh-CN" sz="2500" b="1">
                <a:solidFill>
                  <a:srgbClr val="336699"/>
                </a:solidFill>
                <a:latin typeface="Tahoma" panose="020B0604030504040204" pitchFamily="34" charset="0"/>
              </a:rPr>
              <a:t>FROM </a:t>
            </a:r>
            <a:r>
              <a:rPr lang="en-US" altLang="zh-CN" sz="2500" b="1">
                <a:latin typeface="Tahoma" panose="020B0604030504040204" pitchFamily="34" charset="0"/>
              </a:rPr>
              <a:t>S, SC, C</a:t>
            </a:r>
          </a:p>
          <a:p>
            <a:pPr eaLnBrk="1" hangingPunct="1">
              <a:lnSpc>
                <a:spcPct val="125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>
                <a:latin typeface="Tahoma" panose="020B0604030504040204" pitchFamily="34" charset="0"/>
              </a:rPr>
              <a:t>       </a:t>
            </a:r>
            <a:r>
              <a:rPr lang="en-US" altLang="zh-CN" sz="2500" b="1">
                <a:solidFill>
                  <a:srgbClr val="336699"/>
                </a:solidFill>
                <a:latin typeface="Tahoma" panose="020B0604030504040204" pitchFamily="34" charset="0"/>
              </a:rPr>
              <a:t>WHERE</a:t>
            </a:r>
            <a:r>
              <a:rPr lang="en-US" altLang="zh-CN" sz="2500" b="1">
                <a:latin typeface="Tahoma" panose="020B0604030504040204" pitchFamily="34" charset="0"/>
              </a:rPr>
              <a:t> S. S# = SC.S#   AND SC.C# = C.C#</a:t>
            </a:r>
          </a:p>
          <a:p>
            <a:pPr eaLnBrk="1" hangingPunct="1">
              <a:lnSpc>
                <a:spcPct val="125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>
                <a:solidFill>
                  <a:srgbClr val="003366"/>
                </a:solidFill>
                <a:latin typeface="Tahoma" panose="020B0604030504040204" pitchFamily="34" charset="0"/>
              </a:rPr>
              <a:t>  </a:t>
            </a:r>
            <a:r>
              <a:rPr lang="en-US" altLang="zh-CN" sz="2500" b="1">
                <a:latin typeface="Tahoma" panose="020B0604030504040204" pitchFamily="34" charset="0"/>
              </a:rPr>
              <a:t>GO </a:t>
            </a:r>
            <a:endParaRPr lang="zh-CN" altLang="en-US" sz="2500" b="1">
              <a:latin typeface="Tahoma" panose="020B0604030504040204" pitchFamily="34" charset="0"/>
            </a:endParaRPr>
          </a:p>
        </p:txBody>
      </p:sp>
      <p:pic>
        <p:nvPicPr>
          <p:cNvPr id="159747" name="Picture 3">
            <a:extLst>
              <a:ext uri="{FF2B5EF4-FFF2-40B4-BE49-F238E27FC236}">
                <a16:creationId xmlns:a16="http://schemas.microsoft.com/office/drawing/2014/main" id="{F988B1F9-B934-44AA-B362-E983D373A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8" y="1341438"/>
            <a:ext cx="8026400" cy="555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817"/>
    </mc:Choice>
    <mc:Fallback xmlns="">
      <p:transition spd="slow" advTm="368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827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827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827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827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827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827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827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827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827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703" name="Rectangle 15">
            <a:extLst>
              <a:ext uri="{FF2B5EF4-FFF2-40B4-BE49-F238E27FC236}">
                <a16:creationId xmlns:a16="http://schemas.microsoft.com/office/drawing/2014/main" id="{BDACEAA1-DBB4-4CDA-B8C2-23DF7FD72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60350"/>
            <a:ext cx="8569325" cy="63373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6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pt-BR" sz="2600" b="1">
                <a:latin typeface="Tahoma" panose="020B0604030504040204" pitchFamily="34" charset="0"/>
              </a:rPr>
              <a:t>创建一个存储过程，其实现的功能是根据某学生的学号返回学生的姓名、所学课程的课程名和成绩。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CN" sz="900" b="1">
              <a:solidFill>
                <a:srgbClr val="006666"/>
              </a:solidFill>
            </a:endParaRP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006666"/>
                </a:solidFill>
              </a:rPr>
              <a:t>  --</a:t>
            </a:r>
            <a:r>
              <a:rPr lang="zh-CN" altLang="en-US" sz="2400" b="1">
                <a:solidFill>
                  <a:srgbClr val="339933"/>
                </a:solidFill>
              </a:rPr>
              <a:t>带输入参数的存储过程</a:t>
            </a:r>
            <a:endParaRPr lang="pt-BR" altLang="zh-CN" sz="2400" b="1">
              <a:latin typeface="Tahoma" panose="020B0604030504040204" pitchFamily="34" charset="0"/>
            </a:endParaRP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>
                <a:solidFill>
                  <a:srgbClr val="0000FF"/>
                </a:solidFill>
                <a:latin typeface="Tahoma" panose="020B0604030504040204" pitchFamily="34" charset="0"/>
              </a:rPr>
              <a:t>  USE</a:t>
            </a:r>
            <a:r>
              <a:rPr lang="en-US" altLang="zh-CN" sz="2500" b="1">
                <a:solidFill>
                  <a:srgbClr val="006666"/>
                </a:solidFill>
                <a:latin typeface="Tahoma" panose="020B0604030504040204" pitchFamily="34" charset="0"/>
              </a:rPr>
              <a:t> JXGL</a:t>
            </a:r>
            <a:r>
              <a:rPr lang="en-US" altLang="zh-CN" b="1">
                <a:solidFill>
                  <a:srgbClr val="339933"/>
                </a:solidFill>
              </a:rPr>
              <a:t>-</a:t>
            </a:r>
            <a:endParaRPr lang="en-US" altLang="zh-CN" sz="2500" b="1">
              <a:latin typeface="Tahoma" panose="020B060403050404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>
                <a:latin typeface="Tahoma" panose="020B0604030504040204" pitchFamily="34" charset="0"/>
              </a:rPr>
              <a:t>  GO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>
                <a:latin typeface="Tahoma" panose="020B0604030504040204" pitchFamily="34" charset="0"/>
              </a:rPr>
              <a:t>  </a:t>
            </a:r>
            <a:r>
              <a:rPr lang="en-US" altLang="zh-CN" sz="2500" b="1">
                <a:solidFill>
                  <a:srgbClr val="0000FF"/>
                </a:solidFill>
                <a:latin typeface="Tahoma" panose="020B0604030504040204" pitchFamily="34" charset="0"/>
              </a:rPr>
              <a:t>CREATE PROCEDURE</a:t>
            </a:r>
            <a:r>
              <a:rPr lang="en-US" altLang="zh-CN" sz="2500" b="1">
                <a:solidFill>
                  <a:srgbClr val="003366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500" b="1">
                <a:solidFill>
                  <a:srgbClr val="006666"/>
                </a:solidFill>
                <a:latin typeface="Tahoma" panose="020B0604030504040204" pitchFamily="34" charset="0"/>
              </a:rPr>
              <a:t>SCG_name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>
                <a:solidFill>
                  <a:srgbClr val="003366"/>
                </a:solidFill>
                <a:latin typeface="Tahoma" panose="020B0604030504040204" pitchFamily="34" charset="0"/>
              </a:rPr>
              <a:t>       </a:t>
            </a:r>
            <a:r>
              <a:rPr lang="en-US" altLang="zh-CN" sz="2500" b="1">
                <a:solidFill>
                  <a:srgbClr val="CC0000"/>
                </a:solidFill>
                <a:latin typeface="Tahoma" panose="020B0604030504040204" pitchFamily="34" charset="0"/>
              </a:rPr>
              <a:t>@s_number </a:t>
            </a:r>
            <a:r>
              <a:rPr lang="en-US" altLang="zh-CN" sz="2500" b="1">
                <a:latin typeface="Tahoma" panose="020B0604030504040204" pitchFamily="34" charset="0"/>
              </a:rPr>
              <a:t>varchar(9)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>
                <a:solidFill>
                  <a:srgbClr val="003366"/>
                </a:solidFill>
                <a:latin typeface="Tahoma" panose="020B0604030504040204" pitchFamily="34" charset="0"/>
              </a:rPr>
              <a:t>    </a:t>
            </a:r>
            <a:r>
              <a:rPr lang="en-US" altLang="zh-CN" sz="2500" b="1">
                <a:solidFill>
                  <a:srgbClr val="0000FF"/>
                </a:solidFill>
                <a:latin typeface="Tahoma" panose="020B0604030504040204" pitchFamily="34" charset="0"/>
              </a:rPr>
              <a:t>AS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>
                <a:solidFill>
                  <a:srgbClr val="003366"/>
                </a:solidFill>
                <a:latin typeface="Tahoma" panose="020B0604030504040204" pitchFamily="34" charset="0"/>
              </a:rPr>
              <a:t>       </a:t>
            </a:r>
            <a:r>
              <a:rPr lang="en-US" altLang="zh-CN" sz="2500" b="1">
                <a:solidFill>
                  <a:srgbClr val="336699"/>
                </a:solidFill>
                <a:latin typeface="Tahoma" panose="020B0604030504040204" pitchFamily="34" charset="0"/>
              </a:rPr>
              <a:t>SELECT </a:t>
            </a:r>
            <a:r>
              <a:rPr lang="en-US" altLang="zh-CN" sz="2500" b="1">
                <a:latin typeface="Tahoma" panose="020B0604030504040204" pitchFamily="34" charset="0"/>
              </a:rPr>
              <a:t>SNAME, CNAME, GRADE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>
                <a:latin typeface="Tahoma" panose="020B0604030504040204" pitchFamily="34" charset="0"/>
              </a:rPr>
              <a:t>       </a:t>
            </a:r>
            <a:r>
              <a:rPr lang="en-US" altLang="zh-CN" sz="2500" b="1">
                <a:solidFill>
                  <a:srgbClr val="336699"/>
                </a:solidFill>
                <a:latin typeface="Tahoma" panose="020B0604030504040204" pitchFamily="34" charset="0"/>
              </a:rPr>
              <a:t>FROM </a:t>
            </a:r>
            <a:r>
              <a:rPr lang="en-US" altLang="zh-CN" sz="2500" b="1">
                <a:latin typeface="Tahoma" panose="020B0604030504040204" pitchFamily="34" charset="0"/>
              </a:rPr>
              <a:t>S, SC, C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>
                <a:latin typeface="Tahoma" panose="020B0604030504040204" pitchFamily="34" charset="0"/>
              </a:rPr>
              <a:t>       </a:t>
            </a:r>
            <a:r>
              <a:rPr lang="en-US" altLang="zh-CN" sz="2500" b="1">
                <a:solidFill>
                  <a:srgbClr val="336699"/>
                </a:solidFill>
                <a:latin typeface="Tahoma" panose="020B0604030504040204" pitchFamily="34" charset="0"/>
              </a:rPr>
              <a:t>WHERE</a:t>
            </a:r>
            <a:r>
              <a:rPr lang="en-US" altLang="zh-CN" sz="2500" b="1">
                <a:latin typeface="Tahoma" panose="020B0604030504040204" pitchFamily="34" charset="0"/>
              </a:rPr>
              <a:t> S.S# = @s_number AND S. S# = SC.S#    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>
                <a:latin typeface="Tahoma" panose="020B0604030504040204" pitchFamily="34" charset="0"/>
              </a:rPr>
              <a:t>                                                       AND SC.C# = C.C#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>
                <a:solidFill>
                  <a:srgbClr val="003366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500" b="1">
                <a:latin typeface="Tahoma" panose="020B0604030504040204" pitchFamily="34" charset="0"/>
              </a:rPr>
              <a:t>GO </a:t>
            </a:r>
            <a:endParaRPr lang="zh-CN" altLang="en-US" sz="2500" b="1">
              <a:latin typeface="Tahoma" panose="020B0604030504040204" pitchFamily="34" charset="0"/>
            </a:endParaRPr>
          </a:p>
        </p:txBody>
      </p:sp>
      <p:sp>
        <p:nvSpPr>
          <p:cNvPr id="89093" name="Text Box 5">
            <a:extLst>
              <a:ext uri="{FF2B5EF4-FFF2-40B4-BE49-F238E27FC236}">
                <a16:creationId xmlns:a16="http://schemas.microsoft.com/office/drawing/2014/main" id="{19C3F649-4809-4ED1-847F-2140391B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0"/>
            <a:ext cx="7019925" cy="1370013"/>
          </a:xfrm>
          <a:prstGeom prst="rect">
            <a:avLst/>
          </a:prstGeom>
          <a:gradFill rotWithShape="1">
            <a:gsLst>
              <a:gs pos="0">
                <a:srgbClr val="E7FCA2"/>
              </a:gs>
              <a:gs pos="50000">
                <a:schemeClr val="bg1"/>
              </a:gs>
              <a:gs pos="100000">
                <a:srgbClr val="E7FCA2"/>
              </a:gs>
            </a:gsLst>
            <a:lin ang="5400000" scaled="1"/>
          </a:gra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CC0000"/>
                </a:solidFill>
              </a:rPr>
              <a:t>SCG_name</a:t>
            </a:r>
            <a:r>
              <a:rPr lang="zh-CN" altLang="en-US" sz="2400" b="1"/>
              <a:t>存储过程有多种执行形式，如：</a:t>
            </a: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0000FF"/>
                </a:solidFill>
              </a:rPr>
              <a:t>EXECUTE</a:t>
            </a:r>
            <a:r>
              <a:rPr lang="en-US" altLang="zh-CN" sz="2400" b="1"/>
              <a:t> </a:t>
            </a:r>
            <a:r>
              <a:rPr lang="en-US" altLang="zh-CN" sz="2400" b="1">
                <a:solidFill>
                  <a:srgbClr val="CC0000"/>
                </a:solidFill>
              </a:rPr>
              <a:t>SCG_name </a:t>
            </a:r>
            <a:r>
              <a:rPr lang="en-US" altLang="zh-CN" sz="2400" b="1"/>
              <a:t>‘200401003’</a:t>
            </a:r>
          </a:p>
          <a:p>
            <a:r>
              <a:rPr lang="en-US" altLang="zh-CN" sz="2400" b="1">
                <a:solidFill>
                  <a:srgbClr val="0000FF"/>
                </a:solidFill>
              </a:rPr>
              <a:t>EXECUTE</a:t>
            </a:r>
            <a:r>
              <a:rPr lang="en-US" altLang="zh-CN" sz="2400" b="1"/>
              <a:t> </a:t>
            </a:r>
            <a:r>
              <a:rPr lang="en-US" altLang="zh-CN" sz="2400" b="1">
                <a:solidFill>
                  <a:srgbClr val="CC0000"/>
                </a:solidFill>
              </a:rPr>
              <a:t>SCG_name </a:t>
            </a:r>
            <a:r>
              <a:rPr lang="en-US" altLang="zh-CN" sz="2400" b="1"/>
              <a:t>@s_number= ‘200401003’</a:t>
            </a:r>
          </a:p>
        </p:txBody>
      </p:sp>
      <p:pic>
        <p:nvPicPr>
          <p:cNvPr id="89095" name="Picture 11">
            <a:extLst>
              <a:ext uri="{FF2B5EF4-FFF2-40B4-BE49-F238E27FC236}">
                <a16:creationId xmlns:a16="http://schemas.microsoft.com/office/drawing/2014/main" id="{7E57A045-189B-4625-AD1E-2D1198081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341438"/>
            <a:ext cx="8820150" cy="551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795"/>
    </mc:Choice>
    <mc:Fallback xmlns="">
      <p:transition spd="slow" advTm="457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827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827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827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827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827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827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827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827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827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8827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827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90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90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703" name="Rectangle 15">
            <a:extLst>
              <a:ext uri="{FF2B5EF4-FFF2-40B4-BE49-F238E27FC236}">
                <a16:creationId xmlns:a16="http://schemas.microsoft.com/office/drawing/2014/main" id="{F59E7CA9-AEDF-4074-980A-FCB8F3558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60350"/>
            <a:ext cx="8569325" cy="63373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6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pt-BR" sz="2600" b="1">
                <a:latin typeface="Tahoma" panose="020B0604030504040204" pitchFamily="34" charset="0"/>
              </a:rPr>
              <a:t>创建一个存储过程，其实现的功能是返回名字中有一个‘丽’字的学生信息。要求使用输入参数。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900" b="1">
                <a:latin typeface="Tahoma" panose="020B0604030504040204" pitchFamily="34" charset="0"/>
              </a:rPr>
              <a:t> 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006666"/>
                </a:solidFill>
                <a:latin typeface="Tahoma" panose="020B0604030504040204" pitchFamily="34" charset="0"/>
              </a:rPr>
              <a:t>  </a:t>
            </a:r>
            <a:r>
              <a:rPr lang="en-US" altLang="zh-CN" sz="2400" b="1">
                <a:solidFill>
                  <a:srgbClr val="339933"/>
                </a:solidFill>
              </a:rPr>
              <a:t>--</a:t>
            </a:r>
            <a:r>
              <a:rPr lang="zh-CN" altLang="en-US" sz="2400" b="1">
                <a:solidFill>
                  <a:srgbClr val="339933"/>
                </a:solidFill>
              </a:rPr>
              <a:t>使用带通配符参数的存储过程</a:t>
            </a:r>
            <a:endParaRPr lang="en-US" altLang="zh-CN" sz="2400" b="1">
              <a:solidFill>
                <a:srgbClr val="006666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>
                <a:solidFill>
                  <a:srgbClr val="0000FF"/>
                </a:solidFill>
                <a:latin typeface="Tahoma" panose="020B0604030504040204" pitchFamily="34" charset="0"/>
              </a:rPr>
              <a:t>  USE</a:t>
            </a:r>
            <a:r>
              <a:rPr lang="en-US" altLang="zh-CN" sz="2500" b="1">
                <a:solidFill>
                  <a:srgbClr val="006666"/>
                </a:solidFill>
                <a:latin typeface="Tahoma" panose="020B0604030504040204" pitchFamily="34" charset="0"/>
              </a:rPr>
              <a:t> JXGL</a:t>
            </a:r>
            <a:r>
              <a:rPr lang="en-US" altLang="zh-CN" b="1">
                <a:solidFill>
                  <a:srgbClr val="339933"/>
                </a:solidFill>
              </a:rPr>
              <a:t>-</a:t>
            </a:r>
            <a:r>
              <a:rPr lang="en-US" altLang="zh-CN" sz="2500" b="1">
                <a:latin typeface="Tahoma" panose="020B0604030504040204" pitchFamily="34" charset="0"/>
              </a:rPr>
              <a:t> 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>
                <a:latin typeface="Tahoma" panose="020B0604030504040204" pitchFamily="34" charset="0"/>
              </a:rPr>
              <a:t>  GO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>
                <a:latin typeface="Tahoma" panose="020B0604030504040204" pitchFamily="34" charset="0"/>
              </a:rPr>
              <a:t>  </a:t>
            </a:r>
            <a:r>
              <a:rPr lang="en-US" altLang="zh-CN" sz="2500" b="1">
                <a:solidFill>
                  <a:srgbClr val="0000FF"/>
                </a:solidFill>
                <a:latin typeface="Tahoma" panose="020B0604030504040204" pitchFamily="34" charset="0"/>
              </a:rPr>
              <a:t>CREATE PROCEDURE</a:t>
            </a:r>
            <a:r>
              <a:rPr lang="en-US" altLang="zh-CN" sz="2500" b="1">
                <a:solidFill>
                  <a:srgbClr val="003366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500" b="1">
                <a:solidFill>
                  <a:srgbClr val="006666"/>
                </a:solidFill>
                <a:latin typeface="Tahoma" panose="020B0604030504040204" pitchFamily="34" charset="0"/>
              </a:rPr>
              <a:t>S_info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>
                <a:solidFill>
                  <a:srgbClr val="003366"/>
                </a:solidFill>
                <a:latin typeface="Tahoma" panose="020B0604030504040204" pitchFamily="34" charset="0"/>
              </a:rPr>
              <a:t>       </a:t>
            </a:r>
            <a:r>
              <a:rPr lang="en-US" altLang="zh-CN" sz="2500" b="1">
                <a:solidFill>
                  <a:srgbClr val="CC0000"/>
                </a:solidFill>
                <a:latin typeface="Tahoma" panose="020B0604030504040204" pitchFamily="34" charset="0"/>
              </a:rPr>
              <a:t>@s_name </a:t>
            </a:r>
            <a:r>
              <a:rPr lang="en-US" altLang="zh-CN" sz="2500" b="1">
                <a:latin typeface="Tahoma" panose="020B0604030504040204" pitchFamily="34" charset="0"/>
              </a:rPr>
              <a:t>varchar(10) </a:t>
            </a:r>
            <a:r>
              <a:rPr lang="en-US" altLang="zh-CN" sz="2500" b="1">
                <a:solidFill>
                  <a:srgbClr val="CC0000"/>
                </a:solidFill>
                <a:latin typeface="Tahoma" panose="020B0604030504040204" pitchFamily="34" charset="0"/>
              </a:rPr>
              <a:t>=‘%</a:t>
            </a:r>
            <a:r>
              <a:rPr lang="zh-CN" altLang="en-US" sz="2500" b="1">
                <a:solidFill>
                  <a:srgbClr val="CC0000"/>
                </a:solidFill>
                <a:latin typeface="Tahoma" panose="020B0604030504040204" pitchFamily="34" charset="0"/>
              </a:rPr>
              <a:t>丽</a:t>
            </a:r>
            <a:r>
              <a:rPr lang="en-US" altLang="zh-CN" sz="2500" b="1">
                <a:solidFill>
                  <a:srgbClr val="CC0000"/>
                </a:solidFill>
                <a:latin typeface="Tahoma" panose="020B0604030504040204" pitchFamily="34" charset="0"/>
              </a:rPr>
              <a:t>%’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>
                <a:solidFill>
                  <a:srgbClr val="003366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500" b="1">
                <a:solidFill>
                  <a:srgbClr val="0000FF"/>
                </a:solidFill>
                <a:latin typeface="Tahoma" panose="020B0604030504040204" pitchFamily="34" charset="0"/>
              </a:rPr>
              <a:t>AS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>
                <a:solidFill>
                  <a:srgbClr val="003366"/>
                </a:solidFill>
                <a:latin typeface="Tahoma" panose="020B0604030504040204" pitchFamily="34" charset="0"/>
              </a:rPr>
              <a:t>       </a:t>
            </a:r>
            <a:r>
              <a:rPr lang="en-US" altLang="zh-CN" sz="2500" b="1">
                <a:solidFill>
                  <a:srgbClr val="336699"/>
                </a:solidFill>
                <a:latin typeface="Tahoma" panose="020B0604030504040204" pitchFamily="34" charset="0"/>
              </a:rPr>
              <a:t>SELECT </a:t>
            </a:r>
            <a:r>
              <a:rPr lang="en-US" altLang="zh-CN" sz="2500" b="1">
                <a:latin typeface="Tahoma" panose="020B0604030504040204" pitchFamily="34" charset="0"/>
              </a:rPr>
              <a:t>*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>
                <a:latin typeface="Tahoma" panose="020B0604030504040204" pitchFamily="34" charset="0"/>
              </a:rPr>
              <a:t>       </a:t>
            </a:r>
            <a:r>
              <a:rPr lang="en-US" altLang="zh-CN" sz="2500" b="1">
                <a:solidFill>
                  <a:srgbClr val="336699"/>
                </a:solidFill>
                <a:latin typeface="Tahoma" panose="020B0604030504040204" pitchFamily="34" charset="0"/>
              </a:rPr>
              <a:t>FROM </a:t>
            </a:r>
            <a:r>
              <a:rPr lang="en-US" altLang="zh-CN" sz="2500" b="1">
                <a:latin typeface="Tahoma" panose="020B0604030504040204" pitchFamily="34" charset="0"/>
              </a:rPr>
              <a:t>S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>
                <a:latin typeface="Tahoma" panose="020B0604030504040204" pitchFamily="34" charset="0"/>
              </a:rPr>
              <a:t>       </a:t>
            </a:r>
            <a:r>
              <a:rPr lang="en-US" altLang="zh-CN" sz="2500" b="1">
                <a:solidFill>
                  <a:srgbClr val="336699"/>
                </a:solidFill>
                <a:latin typeface="Tahoma" panose="020B0604030504040204" pitchFamily="34" charset="0"/>
              </a:rPr>
              <a:t>WHERE</a:t>
            </a:r>
            <a:r>
              <a:rPr lang="en-US" altLang="zh-CN" sz="2500" b="1">
                <a:latin typeface="Tahoma" panose="020B0604030504040204" pitchFamily="34" charset="0"/>
              </a:rPr>
              <a:t> SNAME </a:t>
            </a:r>
            <a:r>
              <a:rPr lang="en-US" altLang="zh-CN" sz="2500" b="1">
                <a:solidFill>
                  <a:srgbClr val="CC0000"/>
                </a:solidFill>
                <a:latin typeface="Tahoma" panose="020B0604030504040204" pitchFamily="34" charset="0"/>
              </a:rPr>
              <a:t>LIKE @s_name</a:t>
            </a:r>
            <a:endParaRPr lang="en-US" altLang="zh-CN" sz="2500" b="1">
              <a:latin typeface="Tahoma" panose="020B0604030504040204" pitchFamily="34" charset="0"/>
            </a:endParaRP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>
                <a:solidFill>
                  <a:srgbClr val="003366"/>
                </a:solidFill>
                <a:latin typeface="Tahoma" panose="020B0604030504040204" pitchFamily="34" charset="0"/>
              </a:rPr>
              <a:t>  </a:t>
            </a:r>
            <a:r>
              <a:rPr lang="en-US" altLang="zh-CN" sz="2500" b="1">
                <a:latin typeface="Tahoma" panose="020B0604030504040204" pitchFamily="34" charset="0"/>
              </a:rPr>
              <a:t>GO </a:t>
            </a:r>
            <a:endParaRPr lang="zh-CN" altLang="en-US" sz="2500" b="1">
              <a:latin typeface="Tahoma" panose="020B0604030504040204" pitchFamily="34" charset="0"/>
            </a:endParaRPr>
          </a:p>
        </p:txBody>
      </p:sp>
      <p:sp>
        <p:nvSpPr>
          <p:cNvPr id="160771" name="Text Box 3">
            <a:extLst>
              <a:ext uri="{FF2B5EF4-FFF2-40B4-BE49-F238E27FC236}">
                <a16:creationId xmlns:a16="http://schemas.microsoft.com/office/drawing/2014/main" id="{17CCB943-A77F-4BB8-BBEC-C38F1CBC4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0"/>
            <a:ext cx="6372225" cy="2100263"/>
          </a:xfrm>
          <a:prstGeom prst="rect">
            <a:avLst/>
          </a:prstGeom>
          <a:gradFill rotWithShape="1">
            <a:gsLst>
              <a:gs pos="0">
                <a:srgbClr val="E7FCA2"/>
              </a:gs>
              <a:gs pos="50000">
                <a:schemeClr val="bg1"/>
              </a:gs>
              <a:gs pos="100000">
                <a:srgbClr val="E7FCA2"/>
              </a:gs>
            </a:gsLst>
            <a:lin ang="5400000" scaled="1"/>
          </a:gra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CC0000"/>
                </a:solidFill>
              </a:rPr>
              <a:t>S_info</a:t>
            </a:r>
            <a:r>
              <a:rPr lang="zh-CN" altLang="en-US" sz="2400" b="1"/>
              <a:t>存储过程有多种执行形式，例如：</a:t>
            </a:r>
          </a:p>
          <a:p>
            <a:r>
              <a:rPr lang="en-US" altLang="zh-CN" sz="2400" b="1">
                <a:solidFill>
                  <a:srgbClr val="0000FF"/>
                </a:solidFill>
              </a:rPr>
              <a:t>EXECUTE</a:t>
            </a:r>
            <a:r>
              <a:rPr lang="en-US" altLang="zh-CN" sz="2400" b="1"/>
              <a:t> </a:t>
            </a:r>
            <a:r>
              <a:rPr lang="en-US" altLang="zh-CN" sz="2400" b="1">
                <a:solidFill>
                  <a:srgbClr val="CC0000"/>
                </a:solidFill>
              </a:rPr>
              <a:t>S_info</a:t>
            </a:r>
            <a:r>
              <a:rPr lang="en-US" altLang="zh-CN" sz="2400"/>
              <a:t> </a:t>
            </a:r>
            <a:r>
              <a:rPr lang="en-US" altLang="zh-CN" sz="2400" b="1"/>
              <a:t>‘%</a:t>
            </a:r>
            <a:r>
              <a:rPr lang="zh-CN" altLang="en-US" sz="2400" b="1"/>
              <a:t>丽</a:t>
            </a:r>
            <a:r>
              <a:rPr lang="en-US" altLang="zh-CN" sz="2400" b="1"/>
              <a:t>%’</a:t>
            </a: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0000FF"/>
                </a:solidFill>
              </a:rPr>
              <a:t>EXECUTE</a:t>
            </a:r>
            <a:r>
              <a:rPr lang="en-US" altLang="zh-CN" sz="2400" b="1"/>
              <a:t> </a:t>
            </a:r>
            <a:r>
              <a:rPr lang="en-US" altLang="zh-CN" sz="2400" b="1">
                <a:solidFill>
                  <a:srgbClr val="CC0000"/>
                </a:solidFill>
              </a:rPr>
              <a:t>S_info     </a:t>
            </a:r>
            <a:r>
              <a:rPr lang="en-US" altLang="zh-CN" sz="2400" b="1">
                <a:solidFill>
                  <a:srgbClr val="336699"/>
                </a:solidFill>
              </a:rPr>
              <a:t>--</a:t>
            </a:r>
            <a:r>
              <a:rPr lang="zh-CN" altLang="en-US" sz="2400" b="1">
                <a:solidFill>
                  <a:srgbClr val="336699"/>
                </a:solidFill>
              </a:rPr>
              <a:t>参数使用默认值</a:t>
            </a:r>
          </a:p>
          <a:p>
            <a:r>
              <a:rPr lang="en-US" altLang="zh-CN" sz="2400" b="1">
                <a:solidFill>
                  <a:srgbClr val="0000FF"/>
                </a:solidFill>
              </a:rPr>
              <a:t>EXECUTE</a:t>
            </a:r>
            <a:r>
              <a:rPr lang="en-US" altLang="zh-CN" sz="2400" b="1"/>
              <a:t> </a:t>
            </a:r>
            <a:r>
              <a:rPr lang="en-US" altLang="zh-CN" sz="2400" b="1">
                <a:solidFill>
                  <a:srgbClr val="CC0000"/>
                </a:solidFill>
              </a:rPr>
              <a:t>S_info</a:t>
            </a:r>
            <a:r>
              <a:rPr lang="en-US" altLang="zh-CN" sz="2400"/>
              <a:t> </a:t>
            </a:r>
            <a:r>
              <a:rPr lang="en-US" altLang="zh-CN" sz="2400" b="1"/>
              <a:t>‘</a:t>
            </a:r>
            <a:r>
              <a:rPr lang="zh-CN" altLang="en-US" sz="2400" b="1"/>
              <a:t>杨</a:t>
            </a:r>
            <a:r>
              <a:rPr lang="en-US" altLang="zh-CN" sz="2400" b="1"/>
              <a:t>%’ </a:t>
            </a:r>
          </a:p>
          <a:p>
            <a:r>
              <a:rPr lang="en-US" altLang="zh-CN" sz="2400" b="1"/>
              <a:t>                   </a:t>
            </a:r>
            <a:r>
              <a:rPr lang="en-US" altLang="zh-CN" sz="2400" b="1">
                <a:solidFill>
                  <a:srgbClr val="336699"/>
                </a:solidFill>
              </a:rPr>
              <a:t>–</a:t>
            </a:r>
            <a:r>
              <a:rPr lang="zh-CN" altLang="en-US" sz="2400" b="1">
                <a:solidFill>
                  <a:srgbClr val="336699"/>
                </a:solidFill>
              </a:rPr>
              <a:t>传递给</a:t>
            </a:r>
            <a:r>
              <a:rPr lang="en-US" altLang="zh-CN" sz="2400" b="1">
                <a:solidFill>
                  <a:srgbClr val="336699"/>
                </a:solidFill>
              </a:rPr>
              <a:t>@s_name</a:t>
            </a:r>
            <a:r>
              <a:rPr lang="zh-CN" altLang="en-US" sz="2400" b="1">
                <a:solidFill>
                  <a:srgbClr val="336699"/>
                </a:solidFill>
              </a:rPr>
              <a:t>的实参为</a:t>
            </a:r>
            <a:r>
              <a:rPr lang="en-US" altLang="zh-CN" sz="2400" b="1">
                <a:solidFill>
                  <a:srgbClr val="336699"/>
                </a:solidFill>
              </a:rPr>
              <a:t>’</a:t>
            </a:r>
            <a:r>
              <a:rPr lang="zh-CN" altLang="en-US" sz="2400" b="1">
                <a:solidFill>
                  <a:srgbClr val="336699"/>
                </a:solidFill>
              </a:rPr>
              <a:t>杨</a:t>
            </a:r>
            <a:r>
              <a:rPr lang="en-US" altLang="zh-CN" sz="2400" b="1">
                <a:solidFill>
                  <a:srgbClr val="336699"/>
                </a:solidFill>
              </a:rPr>
              <a:t>%’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727"/>
    </mc:Choice>
    <mc:Fallback xmlns="">
      <p:transition spd="slow" advTm="537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827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827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827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827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827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827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827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827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827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827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0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12" name="Picture 4">
            <a:extLst>
              <a:ext uri="{FF2B5EF4-FFF2-40B4-BE49-F238E27FC236}">
                <a16:creationId xmlns:a16="http://schemas.microsoft.com/office/drawing/2014/main" id="{D18FCC7F-DFDB-415C-9FD0-C593CD047B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37"/>
    </mc:Choice>
    <mc:Fallback xmlns="">
      <p:transition spd="slow" advTm="2837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036" name="Picture 4">
            <a:extLst>
              <a:ext uri="{FF2B5EF4-FFF2-40B4-BE49-F238E27FC236}">
                <a16:creationId xmlns:a16="http://schemas.microsoft.com/office/drawing/2014/main" id="{5CC1801C-9F72-473D-9ABE-8296D1B25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3"/>
    </mc:Choice>
    <mc:Fallback xmlns="">
      <p:transition spd="slow" advTm="1303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060" name="Picture 4">
            <a:extLst>
              <a:ext uri="{FF2B5EF4-FFF2-40B4-BE49-F238E27FC236}">
                <a16:creationId xmlns:a16="http://schemas.microsoft.com/office/drawing/2014/main" id="{A8BC6EAE-83AD-4DC4-A966-44B209FD0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6"/>
    </mc:Choice>
    <mc:Fallback xmlns="">
      <p:transition spd="slow" advTm="5096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703" name="Rectangle 15">
            <a:extLst>
              <a:ext uri="{FF2B5EF4-FFF2-40B4-BE49-F238E27FC236}">
                <a16:creationId xmlns:a16="http://schemas.microsoft.com/office/drawing/2014/main" id="{25DB6F62-6218-483B-887A-1463F3A43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60350"/>
            <a:ext cx="8569325" cy="63373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pt-BR" sz="2600" b="1" dirty="0">
                <a:latin typeface="Tahoma" panose="020B0604030504040204" pitchFamily="34" charset="0"/>
              </a:rPr>
              <a:t>创建一个存储过程，其实现的功能是根据某学生的学号返回其所学的课程门数。要求使用输入和输出参数</a:t>
            </a:r>
            <a:r>
              <a:rPr lang="pt-BR" altLang="zh-CN" sz="2600" b="1" dirty="0">
                <a:latin typeface="Tahoma" panose="020B0604030504040204" pitchFamily="34" charset="0"/>
              </a:rPr>
              <a:t>.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900" b="1" dirty="0">
                <a:latin typeface="Tahoma" panose="020B0604030504040204" pitchFamily="34" charset="0"/>
              </a:rPr>
              <a:t> 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6666"/>
                </a:solidFill>
                <a:latin typeface="Tahoma" panose="020B0604030504040204" pitchFamily="34" charset="0"/>
              </a:rPr>
              <a:t>  --</a:t>
            </a:r>
            <a:r>
              <a:rPr lang="zh-CN" altLang="en-US" sz="2400" b="1" dirty="0">
                <a:solidFill>
                  <a:srgbClr val="339933"/>
                </a:solidFill>
              </a:rPr>
              <a:t>带输入和输出参数的存储过程</a:t>
            </a:r>
            <a:endParaRPr lang="en-US" altLang="zh-CN" sz="2400" b="1" dirty="0">
              <a:solidFill>
                <a:srgbClr val="006666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rgbClr val="0000FF"/>
                </a:solidFill>
                <a:latin typeface="Tahoma" panose="020B0604030504040204" pitchFamily="34" charset="0"/>
              </a:rPr>
              <a:t>  USE</a:t>
            </a:r>
            <a:r>
              <a:rPr lang="en-US" altLang="zh-CN" sz="2500" b="1" dirty="0">
                <a:solidFill>
                  <a:srgbClr val="006666"/>
                </a:solidFill>
                <a:latin typeface="Tahoma" panose="020B0604030504040204" pitchFamily="34" charset="0"/>
              </a:rPr>
              <a:t> JXGL</a:t>
            </a:r>
            <a:r>
              <a:rPr lang="en-US" altLang="zh-CN" b="1" dirty="0">
                <a:solidFill>
                  <a:srgbClr val="339933"/>
                </a:solidFill>
              </a:rPr>
              <a:t>-</a:t>
            </a:r>
            <a:r>
              <a:rPr lang="en-US" altLang="zh-CN" sz="2500" b="1" dirty="0">
                <a:latin typeface="Tahoma" panose="020B0604030504040204" pitchFamily="34" charset="0"/>
              </a:rPr>
              <a:t> 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 dirty="0">
                <a:latin typeface="Tahoma" panose="020B0604030504040204" pitchFamily="34" charset="0"/>
              </a:rPr>
              <a:t>  GO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 dirty="0">
                <a:latin typeface="Tahoma" panose="020B0604030504040204" pitchFamily="34" charset="0"/>
              </a:rPr>
              <a:t>  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rgbClr val="0000FF"/>
                </a:solidFill>
                <a:latin typeface="Tahoma" panose="020B0604030504040204" pitchFamily="34" charset="0"/>
              </a:rPr>
              <a:t>  CREATE PROCEDURE</a:t>
            </a:r>
            <a:r>
              <a:rPr lang="en-US" altLang="zh-CN" sz="2500" b="1" dirty="0">
                <a:solidFill>
                  <a:srgbClr val="003366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500" b="1" dirty="0">
                <a:solidFill>
                  <a:srgbClr val="006666"/>
                </a:solidFill>
                <a:latin typeface="Tahoma" panose="020B0604030504040204" pitchFamily="34" charset="0"/>
              </a:rPr>
              <a:t>C_s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rgbClr val="003366"/>
                </a:solidFill>
                <a:latin typeface="Tahoma" panose="020B0604030504040204" pitchFamily="34" charset="0"/>
              </a:rPr>
              <a:t>       </a:t>
            </a:r>
            <a:r>
              <a:rPr lang="en-US" altLang="zh-CN" sz="2500" b="1" dirty="0">
                <a:solidFill>
                  <a:srgbClr val="800080"/>
                </a:solidFill>
                <a:latin typeface="Tahoma" panose="020B0604030504040204" pitchFamily="34" charset="0"/>
              </a:rPr>
              <a:t>@</a:t>
            </a:r>
            <a:r>
              <a:rPr lang="en-US" altLang="zh-CN" sz="2500" b="1" dirty="0" err="1">
                <a:solidFill>
                  <a:srgbClr val="800080"/>
                </a:solidFill>
                <a:latin typeface="Tahoma" panose="020B0604030504040204" pitchFamily="34" charset="0"/>
              </a:rPr>
              <a:t>s_number</a:t>
            </a:r>
            <a:r>
              <a:rPr lang="en-US" altLang="zh-CN" sz="2500" b="1" dirty="0">
                <a:solidFill>
                  <a:srgbClr val="CC0000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500" b="1" dirty="0">
                <a:latin typeface="Tahoma" panose="020B0604030504040204" pitchFamily="34" charset="0"/>
              </a:rPr>
              <a:t>varchar(9)</a:t>
            </a:r>
            <a:r>
              <a:rPr lang="zh-CN" altLang="en-US" sz="2500" b="1" dirty="0">
                <a:latin typeface="Tahoma" panose="020B0604030504040204" pitchFamily="34" charset="0"/>
              </a:rPr>
              <a:t>， </a:t>
            </a:r>
            <a:r>
              <a:rPr lang="en-US" altLang="zh-CN" sz="2500" b="1" dirty="0">
                <a:solidFill>
                  <a:srgbClr val="CC0000"/>
                </a:solidFill>
                <a:latin typeface="Tahoma" panose="020B0604030504040204" pitchFamily="34" charset="0"/>
              </a:rPr>
              <a:t>@total </a:t>
            </a:r>
            <a:r>
              <a:rPr lang="en-US" altLang="zh-CN" sz="2500" b="1" dirty="0">
                <a:latin typeface="Tahoma" panose="020B0604030504040204" pitchFamily="34" charset="0"/>
              </a:rPr>
              <a:t>int</a:t>
            </a:r>
            <a:r>
              <a:rPr lang="en-US" altLang="zh-CN" sz="2500" b="1" dirty="0">
                <a:solidFill>
                  <a:srgbClr val="CC0000"/>
                </a:solidFill>
                <a:latin typeface="Tahoma" panose="020B0604030504040204" pitchFamily="34" charset="0"/>
              </a:rPr>
              <a:t> OUTPUT </a:t>
            </a:r>
            <a:endParaRPr lang="zh-CN" altLang="en-US" sz="2500" b="1" dirty="0">
              <a:solidFill>
                <a:srgbClr val="CC0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rgbClr val="003366"/>
                </a:solidFill>
                <a:latin typeface="Tahoma" panose="020B0604030504040204" pitchFamily="34" charset="0"/>
              </a:rPr>
              <a:t>    </a:t>
            </a:r>
            <a:r>
              <a:rPr lang="en-US" altLang="zh-CN" sz="2500" b="1" dirty="0">
                <a:solidFill>
                  <a:srgbClr val="0000FF"/>
                </a:solidFill>
                <a:latin typeface="Tahoma" panose="020B0604030504040204" pitchFamily="34" charset="0"/>
              </a:rPr>
              <a:t>AS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rgbClr val="003366"/>
                </a:solidFill>
                <a:latin typeface="Tahoma" panose="020B0604030504040204" pitchFamily="34" charset="0"/>
              </a:rPr>
              <a:t>       </a:t>
            </a:r>
            <a:r>
              <a:rPr lang="en-US" altLang="zh-CN" sz="2500" b="1" dirty="0">
                <a:solidFill>
                  <a:srgbClr val="336699"/>
                </a:solidFill>
                <a:latin typeface="Tahoma" panose="020B0604030504040204" pitchFamily="34" charset="0"/>
              </a:rPr>
              <a:t>SELECT </a:t>
            </a:r>
            <a:r>
              <a:rPr lang="en-US" altLang="zh-CN" sz="2500" b="1" dirty="0">
                <a:solidFill>
                  <a:srgbClr val="CC0000"/>
                </a:solidFill>
                <a:latin typeface="Tahoma" panose="020B0604030504040204" pitchFamily="34" charset="0"/>
              </a:rPr>
              <a:t>@total=count(C#) 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 dirty="0">
                <a:latin typeface="Tahoma" panose="020B0604030504040204" pitchFamily="34" charset="0"/>
              </a:rPr>
              <a:t>       </a:t>
            </a:r>
            <a:r>
              <a:rPr lang="en-US" altLang="zh-CN" sz="2500" b="1" dirty="0">
                <a:solidFill>
                  <a:srgbClr val="336699"/>
                </a:solidFill>
                <a:latin typeface="Tahoma" panose="020B0604030504040204" pitchFamily="34" charset="0"/>
              </a:rPr>
              <a:t>FROM </a:t>
            </a:r>
            <a:r>
              <a:rPr lang="en-US" altLang="zh-CN" sz="2500" b="1" dirty="0">
                <a:latin typeface="Tahoma" panose="020B0604030504040204" pitchFamily="34" charset="0"/>
              </a:rPr>
              <a:t> SC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 dirty="0">
                <a:latin typeface="Tahoma" panose="020B0604030504040204" pitchFamily="34" charset="0"/>
              </a:rPr>
              <a:t>       </a:t>
            </a:r>
            <a:r>
              <a:rPr lang="en-US" altLang="zh-CN" sz="2500" b="1" dirty="0">
                <a:solidFill>
                  <a:srgbClr val="336699"/>
                </a:solidFill>
                <a:latin typeface="Tahoma" panose="020B0604030504040204" pitchFamily="34" charset="0"/>
              </a:rPr>
              <a:t>WHERE</a:t>
            </a:r>
            <a:r>
              <a:rPr lang="en-US" altLang="zh-CN" sz="2500" b="1" dirty="0">
                <a:latin typeface="Tahoma" panose="020B0604030504040204" pitchFamily="34" charset="0"/>
              </a:rPr>
              <a:t> S# = </a:t>
            </a:r>
            <a:r>
              <a:rPr lang="en-US" altLang="zh-CN" sz="2500" b="1" dirty="0">
                <a:solidFill>
                  <a:srgbClr val="800080"/>
                </a:solidFill>
                <a:latin typeface="Tahoma" panose="020B0604030504040204" pitchFamily="34" charset="0"/>
              </a:rPr>
              <a:t>@</a:t>
            </a:r>
            <a:r>
              <a:rPr lang="en-US" altLang="zh-CN" sz="2500" b="1" dirty="0" err="1">
                <a:solidFill>
                  <a:srgbClr val="800080"/>
                </a:solidFill>
                <a:latin typeface="Tahoma" panose="020B0604030504040204" pitchFamily="34" charset="0"/>
              </a:rPr>
              <a:t>s_number</a:t>
            </a:r>
            <a:endParaRPr lang="en-US" altLang="zh-CN" sz="2500" b="1" dirty="0">
              <a:solidFill>
                <a:srgbClr val="80008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rgbClr val="003366"/>
                </a:solidFill>
                <a:latin typeface="Tahoma" panose="020B0604030504040204" pitchFamily="34" charset="0"/>
              </a:rPr>
              <a:t>  </a:t>
            </a:r>
            <a:r>
              <a:rPr lang="en-US" altLang="zh-CN" sz="2500" b="1" dirty="0">
                <a:latin typeface="Tahoma" panose="020B0604030504040204" pitchFamily="34" charset="0"/>
              </a:rPr>
              <a:t>GO </a:t>
            </a:r>
            <a:endParaRPr lang="zh-CN" altLang="en-US" sz="2500" b="1" dirty="0">
              <a:latin typeface="Tahoma" panose="020B0604030504040204" pitchFamily="34" charset="0"/>
            </a:endParaRPr>
          </a:p>
        </p:txBody>
      </p:sp>
      <p:sp>
        <p:nvSpPr>
          <p:cNvPr id="161795" name="Text Box 3">
            <a:extLst>
              <a:ext uri="{FF2B5EF4-FFF2-40B4-BE49-F238E27FC236}">
                <a16:creationId xmlns:a16="http://schemas.microsoft.com/office/drawing/2014/main" id="{AC410E27-DDE5-4C85-AC25-9F666BACF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672" y="1268760"/>
            <a:ext cx="7416824" cy="2246769"/>
          </a:xfrm>
          <a:prstGeom prst="rect">
            <a:avLst/>
          </a:prstGeom>
          <a:gradFill rotWithShape="1">
            <a:gsLst>
              <a:gs pos="0">
                <a:srgbClr val="E7FCA2"/>
              </a:gs>
              <a:gs pos="50000">
                <a:schemeClr val="bg1"/>
              </a:gs>
              <a:gs pos="100000">
                <a:srgbClr val="E7FCA2"/>
              </a:gs>
            </a:gsLst>
            <a:lin ang="5400000" scaled="1"/>
          </a:gra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0000FF"/>
                </a:solidFill>
              </a:rPr>
              <a:t>DECLARE</a:t>
            </a:r>
            <a:r>
              <a:rPr lang="en-US" altLang="zh-CN" sz="2000" b="1" dirty="0"/>
              <a:t> @</a:t>
            </a:r>
            <a:r>
              <a:rPr lang="en-US" altLang="zh-CN" sz="2000" b="1" dirty="0" err="1"/>
              <a:t>xuehao</a:t>
            </a:r>
            <a:r>
              <a:rPr lang="en-US" altLang="zh-CN" sz="2000" b="1" dirty="0"/>
              <a:t> varchar(9),total int</a:t>
            </a:r>
          </a:p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0000FF"/>
                </a:solidFill>
              </a:rPr>
              <a:t>SET</a:t>
            </a:r>
            <a:r>
              <a:rPr lang="en-US" altLang="zh-CN" sz="2000" b="1" dirty="0"/>
              <a:t> @</a:t>
            </a:r>
            <a:r>
              <a:rPr lang="en-US" altLang="zh-CN" sz="2000" b="1" dirty="0" err="1"/>
              <a:t>xuehao</a:t>
            </a:r>
            <a:r>
              <a:rPr lang="en-US" altLang="zh-CN" sz="2000" b="1" dirty="0"/>
              <a:t>=‘200401001’</a:t>
            </a:r>
          </a:p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0000FF"/>
                </a:solidFill>
              </a:rPr>
              <a:t>EXECUTE</a:t>
            </a:r>
            <a:r>
              <a:rPr lang="en-US" altLang="zh-CN" sz="2000" b="1" dirty="0"/>
              <a:t> C_s @</a:t>
            </a:r>
            <a:r>
              <a:rPr lang="en-US" altLang="zh-CN" sz="2000" b="1" dirty="0" err="1"/>
              <a:t>xuehao</a:t>
            </a:r>
            <a:r>
              <a:rPr lang="en-US" altLang="zh-CN" sz="2000" b="1" dirty="0"/>
              <a:t>,@total OUTPUT</a:t>
            </a:r>
          </a:p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0000FF"/>
                </a:solidFill>
              </a:rPr>
              <a:t>SELECT</a:t>
            </a:r>
            <a:r>
              <a:rPr lang="en-US" altLang="zh-CN" sz="2000" b="1" dirty="0"/>
              <a:t> @</a:t>
            </a:r>
            <a:r>
              <a:rPr lang="en-US" altLang="zh-CN" sz="2000" b="1" dirty="0" err="1"/>
              <a:t>xuehao</a:t>
            </a:r>
            <a:r>
              <a:rPr lang="en-US" altLang="zh-CN" sz="2000" b="1" dirty="0"/>
              <a:t> AS ‘</a:t>
            </a:r>
            <a:r>
              <a:rPr lang="zh-CN" altLang="en-US" sz="2000" b="1" dirty="0"/>
              <a:t>学号</a:t>
            </a:r>
            <a:r>
              <a:rPr lang="en-US" altLang="zh-CN" sz="2000" b="1" dirty="0"/>
              <a:t>’,@total AS ‘</a:t>
            </a:r>
            <a:r>
              <a:rPr lang="zh-CN" altLang="en-US" sz="2000" b="1" dirty="0"/>
              <a:t>所学课程数</a:t>
            </a:r>
            <a:r>
              <a:rPr lang="en-US" altLang="zh-CN" sz="2000" b="1" dirty="0"/>
              <a:t>’</a:t>
            </a:r>
          </a:p>
          <a:p>
            <a:pPr>
              <a:spcBef>
                <a:spcPct val="50000"/>
              </a:spcBef>
            </a:pPr>
            <a:r>
              <a:rPr lang="en-US" altLang="zh-CN" sz="2000" b="1" dirty="0"/>
              <a:t>GO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052"/>
    </mc:Choice>
    <mc:Fallback xmlns="">
      <p:transition spd="slow" advTm="57052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108" name="Picture 4">
            <a:extLst>
              <a:ext uri="{FF2B5EF4-FFF2-40B4-BE49-F238E27FC236}">
                <a16:creationId xmlns:a16="http://schemas.microsoft.com/office/drawing/2014/main" id="{DFBD8EC9-066D-4D47-8A74-0577B14F2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3"/>
    </mc:Choice>
    <mc:Fallback xmlns="">
      <p:transition spd="slow" advTm="6253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622" name="Rectangle 22">
            <a:extLst>
              <a:ext uri="{FF2B5EF4-FFF2-40B4-BE49-F238E27FC236}">
                <a16:creationId xmlns:a16="http://schemas.microsoft.com/office/drawing/2014/main" id="{5D0C21A7-319F-40F9-8F15-A79FDB033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四、管理存储过程</a:t>
            </a:r>
          </a:p>
        </p:txBody>
      </p:sp>
      <p:sp>
        <p:nvSpPr>
          <p:cNvPr id="793623" name="Rectangle 23">
            <a:extLst>
              <a:ext uri="{FF2B5EF4-FFF2-40B4-BE49-F238E27FC236}">
                <a16:creationId xmlns:a16="http://schemas.microsoft.com/office/drawing/2014/main" id="{36DFCDA5-1334-48B5-ABAF-63841096A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1196975"/>
            <a:ext cx="8135938" cy="1944688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1. </a:t>
            </a:r>
            <a:r>
              <a:rPr lang="zh-CN" altLang="en-US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使用用</a:t>
            </a:r>
            <a:r>
              <a:rPr lang="en-US" altLang="zh-CN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T-SQL</a:t>
            </a:r>
            <a:r>
              <a:rPr lang="zh-CN" altLang="en-US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语句查看存储过程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 </a:t>
            </a:r>
            <a:endParaRPr lang="zh-CN" altLang="pt-BR" sz="2800" b="1">
              <a:latin typeface="Tahoma" panose="020B0604030504040204" pitchFamily="34" charset="0"/>
            </a:endParaRP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pt-BR" altLang="zh-CN" sz="2800" b="1">
                <a:latin typeface="Tahoma" panose="020B0604030504040204" pitchFamily="34" charset="0"/>
              </a:rPr>
              <a:t>      </a:t>
            </a:r>
            <a:r>
              <a:rPr lang="zh-CN" altLang="pt-BR" sz="2800" b="1">
                <a:latin typeface="Tahoma" panose="020B0604030504040204" pitchFamily="34" charset="0"/>
              </a:rPr>
              <a:t>（</a:t>
            </a:r>
            <a:r>
              <a:rPr lang="pt-BR" altLang="zh-CN" sz="2800" b="1">
                <a:latin typeface="Tahoma" panose="020B0604030504040204" pitchFamily="34" charset="0"/>
              </a:rPr>
              <a:t>1</a:t>
            </a:r>
            <a:r>
              <a:rPr lang="zh-CN" altLang="pt-BR" sz="2800" b="1">
                <a:latin typeface="Tahoma" panose="020B0604030504040204" pitchFamily="34" charset="0"/>
              </a:rPr>
              <a:t>）</a:t>
            </a:r>
            <a:r>
              <a:rPr lang="zh-CN" altLang="en-US" sz="2800" b="1">
                <a:latin typeface="Tahoma" panose="020B0604030504040204" pitchFamily="34" charset="0"/>
              </a:rPr>
              <a:t>查看存储过程的定义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 </a:t>
            </a:r>
            <a:endParaRPr lang="zh-CN" altLang="pt-BR" sz="2800" b="1">
              <a:latin typeface="Tahoma" panose="020B0604030504040204" pitchFamily="34" charset="0"/>
            </a:endParaRP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pt-BR" sz="2800" b="1">
                <a:latin typeface="Tahoma" panose="020B0604030504040204" pitchFamily="34" charset="0"/>
              </a:rPr>
              <a:t>      （</a:t>
            </a:r>
            <a:r>
              <a:rPr lang="pt-BR" altLang="zh-CN" sz="2800" b="1">
                <a:latin typeface="Tahoma" panose="020B0604030504040204" pitchFamily="34" charset="0"/>
              </a:rPr>
              <a:t>2</a:t>
            </a:r>
            <a:r>
              <a:rPr lang="zh-CN" altLang="pt-BR" sz="2800" b="1">
                <a:latin typeface="Tahoma" panose="020B0604030504040204" pitchFamily="34" charset="0"/>
              </a:rPr>
              <a:t>）</a:t>
            </a:r>
            <a:r>
              <a:rPr lang="zh-CN" altLang="en-US" sz="2800" b="1">
                <a:latin typeface="Tahoma" panose="020B0604030504040204" pitchFamily="34" charset="0"/>
              </a:rPr>
              <a:t>查看存储过程的信息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 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       如：</a:t>
            </a:r>
            <a:r>
              <a:rPr lang="en-US" altLang="zh-CN" sz="2800" b="1">
                <a:latin typeface="Tahoma" panose="020B0604030504040204" pitchFamily="34" charset="0"/>
              </a:rPr>
              <a:t>sp_help  proc_name </a:t>
            </a:r>
            <a:endParaRPr lang="zh-CN" altLang="en-US" sz="2800" b="1">
              <a:latin typeface="Tahoma" panose="020B0604030504040204" pitchFamily="34" charset="0"/>
            </a:endParaRPr>
          </a:p>
        </p:txBody>
      </p:sp>
      <p:pic>
        <p:nvPicPr>
          <p:cNvPr id="95236" name="Picture 24">
            <a:extLst>
              <a:ext uri="{FF2B5EF4-FFF2-40B4-BE49-F238E27FC236}">
                <a16:creationId xmlns:a16="http://schemas.microsoft.com/office/drawing/2014/main" id="{E8B3215B-270A-4B8B-840F-4F08EE083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996950"/>
            <a:ext cx="8351838" cy="586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715"/>
    </mc:Choice>
    <mc:Fallback xmlns="">
      <p:transition spd="slow" advTm="137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622" name="Rectangle 22">
            <a:extLst>
              <a:ext uri="{FF2B5EF4-FFF2-40B4-BE49-F238E27FC236}">
                <a16:creationId xmlns:a16="http://schemas.microsoft.com/office/drawing/2014/main" id="{65B5DA13-490C-4C76-B364-26F75BF17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四、管理存储过程</a:t>
            </a:r>
          </a:p>
        </p:txBody>
      </p:sp>
      <p:sp>
        <p:nvSpPr>
          <p:cNvPr id="793623" name="Rectangle 23">
            <a:extLst>
              <a:ext uri="{FF2B5EF4-FFF2-40B4-BE49-F238E27FC236}">
                <a16:creationId xmlns:a16="http://schemas.microsoft.com/office/drawing/2014/main" id="{D0CA10DA-711C-4510-93E8-F9EAC405C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1196975"/>
            <a:ext cx="8135938" cy="1944688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2. </a:t>
            </a:r>
            <a:r>
              <a:rPr lang="zh-CN" altLang="en-US" sz="2800" b="1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使用用</a:t>
            </a:r>
            <a:r>
              <a:rPr lang="en-US" altLang="zh-CN" sz="2800" b="1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T-SQL</a:t>
            </a:r>
            <a:r>
              <a:rPr lang="zh-CN" altLang="en-US" sz="2800" b="1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语句修改存储过程</a:t>
            </a:r>
            <a:endParaRPr lang="en-US" altLang="zh-CN" sz="2800" b="1" dirty="0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语句格式：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 </a:t>
            </a:r>
            <a:endParaRPr lang="zh-CN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4" name="Text Box 16">
            <a:extLst>
              <a:ext uri="{FF2B5EF4-FFF2-40B4-BE49-F238E27FC236}">
                <a16:creationId xmlns:a16="http://schemas.microsoft.com/office/drawing/2014/main" id="{A2954246-7720-42BD-B185-0865C8672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2564904"/>
            <a:ext cx="8713787" cy="4157662"/>
          </a:xfrm>
          <a:prstGeom prst="rect">
            <a:avLst/>
          </a:prstGeom>
          <a:gradFill rotWithShape="1">
            <a:gsLst>
              <a:gs pos="0">
                <a:srgbClr val="C9EAFF"/>
              </a:gs>
              <a:gs pos="50000">
                <a:srgbClr val="FFFFFF"/>
              </a:gs>
              <a:gs pos="100000">
                <a:srgbClr val="C9EAFF"/>
              </a:gs>
            </a:gsLst>
            <a:lin ang="5400000" scaled="1"/>
          </a:gra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400" b="1" dirty="0"/>
              <a:t> </a:t>
            </a:r>
            <a:r>
              <a:rPr lang="en-US" altLang="zh-CN" sz="2600" b="1" dirty="0">
                <a:solidFill>
                  <a:srgbClr val="0000FF"/>
                </a:solidFill>
              </a:rPr>
              <a:t>ALTER  PROC</a:t>
            </a:r>
            <a:r>
              <a:rPr lang="en-US" altLang="zh-CN" sz="2600" b="1" dirty="0">
                <a:solidFill>
                  <a:srgbClr val="CC0000"/>
                </a:solidFill>
              </a:rPr>
              <a:t>[</a:t>
            </a:r>
            <a:r>
              <a:rPr lang="en-US" altLang="zh-CN" sz="2600" b="1" dirty="0">
                <a:solidFill>
                  <a:srgbClr val="0000FF"/>
                </a:solidFill>
              </a:rPr>
              <a:t>EDURE</a:t>
            </a:r>
            <a:r>
              <a:rPr lang="en-US" altLang="zh-CN" sz="2600" b="1" dirty="0">
                <a:solidFill>
                  <a:srgbClr val="CC0000"/>
                </a:solidFill>
              </a:rPr>
              <a:t>]</a:t>
            </a:r>
            <a:r>
              <a:rPr lang="en-US" altLang="zh-CN" sz="2600" b="1" dirty="0"/>
              <a:t>  </a:t>
            </a:r>
            <a:r>
              <a:rPr lang="en-US" altLang="zh-CN" sz="2600" b="1" dirty="0" err="1">
                <a:solidFill>
                  <a:srgbClr val="0000FF"/>
                </a:solidFill>
              </a:rPr>
              <a:t>procedure_name</a:t>
            </a:r>
            <a:r>
              <a:rPr lang="en-US" altLang="zh-CN" sz="2600" b="1" dirty="0">
                <a:solidFill>
                  <a:srgbClr val="0000FF"/>
                </a:solidFill>
              </a:rPr>
              <a:t> </a:t>
            </a:r>
            <a:r>
              <a:rPr lang="en-US" altLang="zh-CN" sz="2600" b="1" dirty="0"/>
              <a:t>[; number ]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/>
              <a:t>   [{@parameter </a:t>
            </a:r>
            <a:r>
              <a:rPr lang="en-US" altLang="zh-CN" sz="2800" b="1" dirty="0" err="1"/>
              <a:t>data_type</a:t>
            </a:r>
            <a:r>
              <a:rPr lang="en-US" altLang="zh-CN" sz="2800" b="1" dirty="0"/>
              <a:t> }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/>
              <a:t>   [VARYING] [=default] [OUTPUT] ] [, ... n ]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/>
              <a:t>   [WITH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/>
              <a:t>      { RECOMPILE | ENCRYPTION | RECOMPILE,    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/>
              <a:t>                                                           ENCRYPTION } ]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/>
              <a:t>   [ FOR REPLICATION ]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/>
              <a:t>   </a:t>
            </a:r>
            <a:r>
              <a:rPr lang="en-US" altLang="zh-CN" sz="2800" b="1" dirty="0">
                <a:solidFill>
                  <a:srgbClr val="0000FF"/>
                </a:solidFill>
              </a:rPr>
              <a:t>AS </a:t>
            </a:r>
            <a:r>
              <a:rPr lang="en-US" altLang="zh-CN" sz="2800" b="1" dirty="0" err="1">
                <a:solidFill>
                  <a:srgbClr val="0000FF"/>
                </a:solidFill>
              </a:rPr>
              <a:t>sql_statement</a:t>
            </a:r>
            <a:r>
              <a:rPr lang="en-US" altLang="zh-CN" sz="2800" b="1" dirty="0"/>
              <a:t> [;] [, ... n ] [;]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15"/>
    </mc:Choice>
    <mc:Fallback xmlns="">
      <p:transition spd="slow" advTm="8515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703" name="Rectangle 15">
            <a:extLst>
              <a:ext uri="{FF2B5EF4-FFF2-40B4-BE49-F238E27FC236}">
                <a16:creationId xmlns:a16="http://schemas.microsoft.com/office/drawing/2014/main" id="{8BD4DDD0-1FF1-4C19-B7CD-3F1B53FA7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60350"/>
            <a:ext cx="8569325" cy="63373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6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</a:t>
            </a:r>
            <a:r>
              <a:rPr lang="zh-CN" altLang="pt-BR" sz="2600" b="1">
                <a:latin typeface="Tahoma" panose="020B0604030504040204" pitchFamily="34" charset="0"/>
              </a:rPr>
              <a:t>修改例</a:t>
            </a:r>
            <a:r>
              <a:rPr lang="pt-BR" altLang="zh-CN" sz="2600" b="1">
                <a:latin typeface="Tahoma" panose="020B0604030504040204" pitchFamily="34" charset="0"/>
              </a:rPr>
              <a:t>2</a:t>
            </a:r>
            <a:r>
              <a:rPr lang="zh-CN" altLang="pt-BR" sz="2600" b="1">
                <a:latin typeface="Tahoma" panose="020B0604030504040204" pitchFamily="34" charset="0"/>
              </a:rPr>
              <a:t>的存储过程，将其修改为根据某学生的学号，用输出参数返回学生的姓名、所学课程的课程名和成绩。</a:t>
            </a:r>
            <a:endParaRPr lang="en-US" altLang="zh-CN" sz="900" b="1">
              <a:latin typeface="Tahoma" panose="020B0604030504040204" pitchFamily="34" charset="0"/>
            </a:endParaRPr>
          </a:p>
          <a:p>
            <a:pPr eaLnBrk="1" hangingPunct="1"/>
            <a:r>
              <a:rPr lang="en-US" altLang="zh-CN" sz="2500" b="1">
                <a:solidFill>
                  <a:srgbClr val="0000FF"/>
                </a:solidFill>
                <a:latin typeface="Tahoma" panose="020B0604030504040204" pitchFamily="34" charset="0"/>
              </a:rPr>
              <a:t>  </a:t>
            </a:r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067"/>
    </mc:Choice>
    <mc:Fallback xmlns="">
      <p:transition spd="slow" advTm="14067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180" name="Picture 4">
            <a:extLst>
              <a:ext uri="{FF2B5EF4-FFF2-40B4-BE49-F238E27FC236}">
                <a16:creationId xmlns:a16="http://schemas.microsoft.com/office/drawing/2014/main" id="{6EA82E63-805C-465C-87AE-433A3B768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57"/>
    </mc:Choice>
    <mc:Fallback xmlns="">
      <p:transition spd="slow" advTm="8857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204" name="Picture 4">
            <a:extLst>
              <a:ext uri="{FF2B5EF4-FFF2-40B4-BE49-F238E27FC236}">
                <a16:creationId xmlns:a16="http://schemas.microsoft.com/office/drawing/2014/main" id="{F7C16027-96D1-484D-BB34-C5C6CB90E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73"/>
    </mc:Choice>
    <mc:Fallback xmlns="">
      <p:transition spd="slow" advTm="9473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622" name="Rectangle 22">
            <a:extLst>
              <a:ext uri="{FF2B5EF4-FFF2-40B4-BE49-F238E27FC236}">
                <a16:creationId xmlns:a16="http://schemas.microsoft.com/office/drawing/2014/main" id="{3C49E4B9-8803-48EE-974F-DA40FE3C5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四、管理存储过程</a:t>
            </a:r>
          </a:p>
        </p:txBody>
      </p:sp>
      <p:sp>
        <p:nvSpPr>
          <p:cNvPr id="793623" name="Rectangle 23">
            <a:extLst>
              <a:ext uri="{FF2B5EF4-FFF2-40B4-BE49-F238E27FC236}">
                <a16:creationId xmlns:a16="http://schemas.microsoft.com/office/drawing/2014/main" id="{3BD005A0-A797-4A41-9451-86F22E426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1196975"/>
            <a:ext cx="8531225" cy="403225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3. </a:t>
            </a:r>
            <a:r>
              <a:rPr lang="zh-CN" altLang="en-US" sz="2800" b="1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使用用</a:t>
            </a:r>
            <a:r>
              <a:rPr lang="en-US" altLang="zh-CN" sz="2800" b="1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T-SQL</a:t>
            </a:r>
            <a:r>
              <a:rPr lang="zh-CN" altLang="en-US" sz="2800" b="1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语句删除存储过程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语句格式：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en-US" altLang="zh-CN" sz="2800" b="1" dirty="0">
                <a:solidFill>
                  <a:srgbClr val="0000FF"/>
                </a:solidFill>
                <a:ea typeface="黑体" panose="02010609060101010101" pitchFamily="49" charset="-122"/>
              </a:rPr>
              <a:t>DROP PRCEDURE</a:t>
            </a:r>
            <a:r>
              <a:rPr lang="en-US" altLang="zh-CN" sz="2800" b="1" dirty="0">
                <a:solidFill>
                  <a:srgbClr val="660033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ea typeface="黑体" panose="02010609060101010101" pitchFamily="49" charset="-122"/>
              </a:rPr>
              <a:t>{</a:t>
            </a:r>
            <a:r>
              <a:rPr lang="en-US" altLang="zh-CN" sz="2800" b="1" dirty="0">
                <a:solidFill>
                  <a:srgbClr val="0066CC"/>
                </a:solidFill>
                <a:ea typeface="黑体" panose="02010609060101010101" pitchFamily="49" charset="-122"/>
              </a:rPr>
              <a:t>procedure</a:t>
            </a:r>
            <a:r>
              <a:rPr lang="en-US" altLang="zh-CN" sz="2800" b="1" dirty="0">
                <a:ea typeface="黑体" panose="02010609060101010101" pitchFamily="49" charset="-122"/>
              </a:rPr>
              <a:t>} [, …n]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         </a:t>
            </a:r>
            <a:r>
              <a:rPr lang="zh-CN" altLang="en-US" sz="2400" b="1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功能：</a:t>
            </a:r>
            <a:r>
              <a:rPr lang="zh-CN" altLang="en-US" sz="2400" b="1" dirty="0">
                <a:ea typeface="黑体" panose="02010609060101010101" pitchFamily="49" charset="-122"/>
              </a:rPr>
              <a:t>从当前数据库中删除一个或多个存储过程或存储过程组。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44"/>
    </mc:Choice>
    <mc:Fallback xmlns="">
      <p:transition spd="slow" advTm="4644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686" name="Rectangle 6">
            <a:extLst>
              <a:ext uri="{FF2B5EF4-FFF2-40B4-BE49-F238E27FC236}">
                <a16:creationId xmlns:a16="http://schemas.microsoft.com/office/drawing/2014/main" id="{B32B5CE6-D6DE-4070-88DF-61900B214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四、管理存储过程</a:t>
            </a:r>
          </a:p>
        </p:txBody>
      </p:sp>
      <p:sp>
        <p:nvSpPr>
          <p:cNvPr id="711687" name="Rectangle 7">
            <a:extLst>
              <a:ext uri="{FF2B5EF4-FFF2-40B4-BE49-F238E27FC236}">
                <a16:creationId xmlns:a16="http://schemas.microsoft.com/office/drawing/2014/main" id="{A17C1701-3B64-45EC-9FA8-0C15B80E0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96975"/>
            <a:ext cx="7993062" cy="15113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7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sz="27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zh-CN" altLang="en-US" sz="2700" b="1">
                <a:solidFill>
                  <a:srgbClr val="660033"/>
                </a:solidFill>
                <a:ea typeface="黑体" panose="02010609060101010101" pitchFamily="49" charset="-122"/>
              </a:rPr>
              <a:t>“</a:t>
            </a:r>
            <a:r>
              <a:rPr lang="en-US" altLang="zh-CN" sz="27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 Server Management Studio</a:t>
            </a:r>
            <a:r>
              <a:rPr lang="en-US" altLang="zh-CN" sz="2700" b="1">
                <a:solidFill>
                  <a:srgbClr val="660033"/>
                </a:solidFill>
                <a:ea typeface="黑体" panose="02010609060101010101" pitchFamily="49" charset="-122"/>
              </a:rPr>
              <a:t>”</a:t>
            </a:r>
            <a:endParaRPr lang="en-US" altLang="zh-CN" sz="2700" b="1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7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管理存储过程</a:t>
            </a:r>
            <a:r>
              <a:rPr lang="zh-CN" altLang="en-US" sz="2800" b="1">
                <a:latin typeface="Tahoma" panose="020B0604030504040204" pitchFamily="34" charset="0"/>
              </a:rPr>
              <a:t> </a:t>
            </a:r>
            <a:endParaRPr lang="zh-CN" altLang="pt-BR" sz="2800" b="1">
              <a:latin typeface="Tahoma" panose="020B0604030504040204" pitchFamily="34" charset="0"/>
            </a:endParaRPr>
          </a:p>
          <a:p>
            <a:pPr eaLnBrk="1" hangingPunct="1">
              <a:lnSpc>
                <a:spcPct val="11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pt-BR" altLang="zh-CN" sz="2800" b="1">
                <a:latin typeface="Tahoma" panose="020B0604030504040204" pitchFamily="34" charset="0"/>
              </a:rPr>
              <a:t>    </a:t>
            </a:r>
            <a:r>
              <a:rPr lang="zh-CN" altLang="pt-BR" sz="2800" b="1">
                <a:latin typeface="Tahoma" panose="020B0604030504040204" pitchFamily="34" charset="0"/>
              </a:rPr>
              <a:t>（</a:t>
            </a:r>
            <a:r>
              <a:rPr lang="pt-BR" altLang="zh-CN" sz="2800" b="1">
                <a:latin typeface="Tahoma" panose="020B0604030504040204" pitchFamily="34" charset="0"/>
              </a:rPr>
              <a:t>1</a:t>
            </a:r>
            <a:r>
              <a:rPr lang="zh-CN" altLang="pt-BR" sz="2800" b="1">
                <a:latin typeface="Tahoma" panose="020B0604030504040204" pitchFamily="34" charset="0"/>
              </a:rPr>
              <a:t>）查看存储过程</a:t>
            </a:r>
            <a:r>
              <a:rPr lang="zh-CN" altLang="pt-BR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 </a:t>
            </a:r>
            <a:endParaRPr lang="zh-CN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  <p:pic>
        <p:nvPicPr>
          <p:cNvPr id="93188" name="Picture 8">
            <a:extLst>
              <a:ext uri="{FF2B5EF4-FFF2-40B4-BE49-F238E27FC236}">
                <a16:creationId xmlns:a16="http://schemas.microsoft.com/office/drawing/2014/main" id="{0B556C4D-869F-4B46-A8FD-571F8248B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38" t="33507" r="19821" b="6294"/>
          <a:stretch>
            <a:fillRect/>
          </a:stretch>
        </p:blipFill>
        <p:spPr bwMode="auto">
          <a:xfrm>
            <a:off x="1258888" y="2708275"/>
            <a:ext cx="5976937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advTm="1017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16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3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3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686" name="Rectangle 6">
            <a:extLst>
              <a:ext uri="{FF2B5EF4-FFF2-40B4-BE49-F238E27FC236}">
                <a16:creationId xmlns:a16="http://schemas.microsoft.com/office/drawing/2014/main" id="{F0642C09-DCA2-47C9-922E-9CE7AD7B7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四、管理存储过程</a:t>
            </a:r>
          </a:p>
        </p:txBody>
      </p:sp>
      <p:sp>
        <p:nvSpPr>
          <p:cNvPr id="711687" name="Rectangle 7">
            <a:extLst>
              <a:ext uri="{FF2B5EF4-FFF2-40B4-BE49-F238E27FC236}">
                <a16:creationId xmlns:a16="http://schemas.microsoft.com/office/drawing/2014/main" id="{D5311226-1538-4329-972A-BDE01478B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96975"/>
            <a:ext cx="7993062" cy="15113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7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sz="27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zh-CN" altLang="en-US" sz="2700" b="1">
                <a:solidFill>
                  <a:srgbClr val="660033"/>
                </a:solidFill>
                <a:ea typeface="黑体" panose="02010609060101010101" pitchFamily="49" charset="-122"/>
              </a:rPr>
              <a:t>“</a:t>
            </a:r>
            <a:r>
              <a:rPr lang="en-US" altLang="zh-CN" sz="27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 Server Management Studio</a:t>
            </a:r>
            <a:r>
              <a:rPr lang="en-US" altLang="zh-CN" sz="2700" b="1">
                <a:solidFill>
                  <a:srgbClr val="660033"/>
                </a:solidFill>
                <a:ea typeface="黑体" panose="02010609060101010101" pitchFamily="49" charset="-122"/>
              </a:rPr>
              <a:t>”</a:t>
            </a:r>
            <a:endParaRPr lang="en-US" altLang="zh-CN" sz="2700" b="1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7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管理存储过程</a:t>
            </a:r>
            <a:r>
              <a:rPr lang="zh-CN" altLang="en-US" sz="2800" b="1">
                <a:latin typeface="Tahoma" panose="020B0604030504040204" pitchFamily="34" charset="0"/>
              </a:rPr>
              <a:t> </a:t>
            </a:r>
            <a:endParaRPr lang="zh-CN" altLang="pt-BR" sz="2800" b="1">
              <a:latin typeface="Tahoma" panose="020B0604030504040204" pitchFamily="34" charset="0"/>
            </a:endParaRPr>
          </a:p>
          <a:p>
            <a:pPr eaLnBrk="1" hangingPunct="1">
              <a:lnSpc>
                <a:spcPct val="11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pt-BR" altLang="zh-CN" sz="2800" b="1">
                <a:latin typeface="Tahoma" panose="020B0604030504040204" pitchFamily="34" charset="0"/>
              </a:rPr>
              <a:t>    </a:t>
            </a:r>
            <a:r>
              <a:rPr lang="zh-CN" altLang="pt-BR" sz="2800" b="1">
                <a:latin typeface="Tahoma" panose="020B0604030504040204" pitchFamily="34" charset="0"/>
              </a:rPr>
              <a:t>（</a:t>
            </a:r>
            <a:r>
              <a:rPr lang="pt-BR" altLang="zh-CN" sz="2800" b="1">
                <a:latin typeface="Tahoma" panose="020B0604030504040204" pitchFamily="34" charset="0"/>
              </a:rPr>
              <a:t>2</a:t>
            </a:r>
            <a:r>
              <a:rPr lang="zh-CN" altLang="pt-BR" sz="2800" b="1">
                <a:latin typeface="Tahoma" panose="020B0604030504040204" pitchFamily="34" charset="0"/>
              </a:rPr>
              <a:t>）修改存储过程</a:t>
            </a:r>
            <a:r>
              <a:rPr lang="zh-CN" altLang="pt-BR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 </a:t>
            </a:r>
            <a:endParaRPr lang="zh-CN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  <p:pic>
        <p:nvPicPr>
          <p:cNvPr id="181253" name="Picture 5">
            <a:extLst>
              <a:ext uri="{FF2B5EF4-FFF2-40B4-BE49-F238E27FC236}">
                <a16:creationId xmlns:a16="http://schemas.microsoft.com/office/drawing/2014/main" id="{B8EA07A5-6557-45DC-8A21-9041F27F5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63" t="33681" r="23993" b="5853"/>
          <a:stretch>
            <a:fillRect/>
          </a:stretch>
        </p:blipFill>
        <p:spPr bwMode="auto">
          <a:xfrm>
            <a:off x="1331913" y="2643188"/>
            <a:ext cx="5761037" cy="421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254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16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81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1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686" name="Rectangle 6">
            <a:extLst>
              <a:ext uri="{FF2B5EF4-FFF2-40B4-BE49-F238E27FC236}">
                <a16:creationId xmlns:a16="http://schemas.microsoft.com/office/drawing/2014/main" id="{3C7BDE67-74BA-4F1D-8753-2B09B7CF5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四、管理存储过程</a:t>
            </a:r>
          </a:p>
        </p:txBody>
      </p:sp>
      <p:sp>
        <p:nvSpPr>
          <p:cNvPr id="711687" name="Rectangle 7">
            <a:extLst>
              <a:ext uri="{FF2B5EF4-FFF2-40B4-BE49-F238E27FC236}">
                <a16:creationId xmlns:a16="http://schemas.microsoft.com/office/drawing/2014/main" id="{19B3895E-60CF-4DDC-AF3B-0E89CEFB7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96975"/>
            <a:ext cx="7993062" cy="15113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7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sz="27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zh-CN" altLang="en-US" sz="2700" b="1">
                <a:solidFill>
                  <a:srgbClr val="660033"/>
                </a:solidFill>
                <a:ea typeface="黑体" panose="02010609060101010101" pitchFamily="49" charset="-122"/>
              </a:rPr>
              <a:t>“</a:t>
            </a:r>
            <a:r>
              <a:rPr lang="en-US" altLang="zh-CN" sz="27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 Server Management Studio</a:t>
            </a:r>
            <a:r>
              <a:rPr lang="en-US" altLang="zh-CN" sz="2700" b="1">
                <a:solidFill>
                  <a:srgbClr val="660033"/>
                </a:solidFill>
                <a:ea typeface="黑体" panose="02010609060101010101" pitchFamily="49" charset="-122"/>
              </a:rPr>
              <a:t>”</a:t>
            </a:r>
            <a:endParaRPr lang="en-US" altLang="zh-CN" sz="2700" b="1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7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管理存储过程</a:t>
            </a:r>
            <a:r>
              <a:rPr lang="zh-CN" altLang="en-US" sz="2800" b="1">
                <a:latin typeface="Tahoma" panose="020B0604030504040204" pitchFamily="34" charset="0"/>
              </a:rPr>
              <a:t> </a:t>
            </a:r>
            <a:endParaRPr lang="zh-CN" altLang="pt-BR" sz="2800" b="1">
              <a:latin typeface="Tahoma" panose="020B0604030504040204" pitchFamily="34" charset="0"/>
            </a:endParaRPr>
          </a:p>
          <a:p>
            <a:pPr eaLnBrk="1" hangingPunct="1">
              <a:lnSpc>
                <a:spcPct val="11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pt-BR" altLang="zh-CN" sz="2800" b="1">
                <a:latin typeface="Tahoma" panose="020B0604030504040204" pitchFamily="34" charset="0"/>
              </a:rPr>
              <a:t>    </a:t>
            </a:r>
            <a:r>
              <a:rPr lang="zh-CN" altLang="pt-BR" sz="2800" b="1">
                <a:latin typeface="Tahoma" panose="020B0604030504040204" pitchFamily="34" charset="0"/>
              </a:rPr>
              <a:t>（</a:t>
            </a:r>
            <a:r>
              <a:rPr lang="pt-BR" altLang="zh-CN" sz="2800" b="1">
                <a:latin typeface="Tahoma" panose="020B0604030504040204" pitchFamily="34" charset="0"/>
              </a:rPr>
              <a:t>3</a:t>
            </a:r>
            <a:r>
              <a:rPr lang="zh-CN" altLang="pt-BR" sz="2800" b="1">
                <a:latin typeface="Tahoma" panose="020B0604030504040204" pitchFamily="34" charset="0"/>
              </a:rPr>
              <a:t>）删除存储过程</a:t>
            </a:r>
            <a:r>
              <a:rPr lang="zh-CN" altLang="pt-BR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 </a:t>
            </a:r>
            <a:endParaRPr lang="zh-CN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  <p:pic>
        <p:nvPicPr>
          <p:cNvPr id="183301" name="Picture 5">
            <a:extLst>
              <a:ext uri="{FF2B5EF4-FFF2-40B4-BE49-F238E27FC236}">
                <a16:creationId xmlns:a16="http://schemas.microsoft.com/office/drawing/2014/main" id="{7D28B191-C21A-454B-9969-97F52E394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70" t="32214" r="18025" b="4938"/>
          <a:stretch>
            <a:fillRect/>
          </a:stretch>
        </p:blipFill>
        <p:spPr bwMode="auto">
          <a:xfrm>
            <a:off x="1187450" y="2708275"/>
            <a:ext cx="5905500" cy="410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224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16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83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3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684" name="Rectangle 4">
            <a:extLst>
              <a:ext uri="{FF2B5EF4-FFF2-40B4-BE49-F238E27FC236}">
                <a16:creationId xmlns:a16="http://schemas.microsoft.com/office/drawing/2014/main" id="{BCB473A8-3D34-46F5-9AF3-8789D9196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>
              <a:defRPr/>
            </a:pPr>
            <a:r>
              <a:rPr lang="zh-CN" alt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本章小结</a:t>
            </a:r>
          </a:p>
        </p:txBody>
      </p:sp>
      <p:sp>
        <p:nvSpPr>
          <p:cNvPr id="96261" name="TextBox 93">
            <a:extLst>
              <a:ext uri="{FF2B5EF4-FFF2-40B4-BE49-F238E27FC236}">
                <a16:creationId xmlns:a16="http://schemas.microsoft.com/office/drawing/2014/main" id="{3AD88C24-B696-48EC-B7FE-C9A1500418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2341563"/>
            <a:ext cx="2714625" cy="51911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rgbClr val="0000FF"/>
                </a:solidFill>
                <a:ea typeface="黑体" panose="02010609060101010101" pitchFamily="49" charset="-122"/>
              </a:rPr>
              <a:t>存储过程</a:t>
            </a:r>
          </a:p>
        </p:txBody>
      </p:sp>
      <p:sp>
        <p:nvSpPr>
          <p:cNvPr id="96267" name="左大括号 99">
            <a:extLst>
              <a:ext uri="{FF2B5EF4-FFF2-40B4-BE49-F238E27FC236}">
                <a16:creationId xmlns:a16="http://schemas.microsoft.com/office/drawing/2014/main" id="{B910648B-3CD2-4CCE-B889-FBEFDC2F61AA}"/>
              </a:ext>
            </a:extLst>
          </p:cNvPr>
          <p:cNvSpPr>
            <a:spLocks/>
          </p:cNvSpPr>
          <p:nvPr/>
        </p:nvSpPr>
        <p:spPr bwMode="auto">
          <a:xfrm>
            <a:off x="3348038" y="1698625"/>
            <a:ext cx="285750" cy="1785938"/>
          </a:xfrm>
          <a:prstGeom prst="leftBrace">
            <a:avLst>
              <a:gd name="adj1" fmla="val 8333"/>
              <a:gd name="adj2" fmla="val 50000"/>
            </a:avLst>
          </a:prstGeom>
          <a:noFill/>
          <a:ln w="28575" cap="sq" algn="ctr">
            <a:solidFill>
              <a:srgbClr val="0070C0"/>
            </a:solidFill>
            <a:round/>
            <a:headEnd type="none" w="sm" len="sm"/>
            <a:tailEnd type="none" w="sm" len="sm"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268" name="TextBox 100">
            <a:extLst>
              <a:ext uri="{FF2B5EF4-FFF2-40B4-BE49-F238E27FC236}">
                <a16:creationId xmlns:a16="http://schemas.microsoft.com/office/drawing/2014/main" id="{1B79E25F-4CB4-4F9E-9C22-C3836F2D3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1725" y="1484313"/>
            <a:ext cx="4071938" cy="51911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800" b="1"/>
              <a:t>存储过程概述</a:t>
            </a:r>
          </a:p>
        </p:txBody>
      </p:sp>
      <p:sp>
        <p:nvSpPr>
          <p:cNvPr id="96269" name="TextBox 101">
            <a:extLst>
              <a:ext uri="{FF2B5EF4-FFF2-40B4-BE49-F238E27FC236}">
                <a16:creationId xmlns:a16="http://schemas.microsoft.com/office/drawing/2014/main" id="{6E1A6E4C-B95B-4D11-99CD-23C59527E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1725" y="2055813"/>
            <a:ext cx="4071938" cy="51911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CC0000"/>
                </a:solidFill>
              </a:rPr>
              <a:t>创建存储过程</a:t>
            </a:r>
          </a:p>
        </p:txBody>
      </p:sp>
      <p:sp>
        <p:nvSpPr>
          <p:cNvPr id="96270" name="TextBox 102">
            <a:extLst>
              <a:ext uri="{FF2B5EF4-FFF2-40B4-BE49-F238E27FC236}">
                <a16:creationId xmlns:a16="http://schemas.microsoft.com/office/drawing/2014/main" id="{0401C9B4-5BC3-438E-A729-4AA1F7963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1725" y="2627313"/>
            <a:ext cx="4071938" cy="51911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CC0000"/>
                </a:solidFill>
              </a:rPr>
              <a:t>执行存储过程</a:t>
            </a:r>
          </a:p>
        </p:txBody>
      </p:sp>
      <p:sp>
        <p:nvSpPr>
          <p:cNvPr id="96271" name="TextBox 103">
            <a:extLst>
              <a:ext uri="{FF2B5EF4-FFF2-40B4-BE49-F238E27FC236}">
                <a16:creationId xmlns:a16="http://schemas.microsoft.com/office/drawing/2014/main" id="{8EA515FC-A374-4B3F-9BBD-793ED111D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3788" y="3165475"/>
            <a:ext cx="2500312" cy="519113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800" b="1"/>
              <a:t>管理存储过程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09"/>
    </mc:Choice>
    <mc:Fallback xmlns="">
      <p:transition spd="slow" advTm="1809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917" name="Rectangle 5">
            <a:extLst>
              <a:ext uri="{FF2B5EF4-FFF2-40B4-BE49-F238E27FC236}">
                <a16:creationId xmlns:a16="http://schemas.microsoft.com/office/drawing/2014/main" id="{2F151827-B2AC-42CB-A954-B3FDEFB2F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2325688"/>
            <a:ext cx="6237288" cy="165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zh-CN" altLang="en-US" sz="8000" b="1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华文新魏" pitchFamily="2" charset="-122"/>
              </a:rPr>
              <a:t>谢谢大家！</a:t>
            </a:r>
          </a:p>
        </p:txBody>
      </p:sp>
      <p:sp>
        <p:nvSpPr>
          <p:cNvPr id="97283" name="Rectangle 6">
            <a:extLst>
              <a:ext uri="{FF2B5EF4-FFF2-40B4-BE49-F238E27FC236}">
                <a16:creationId xmlns:a16="http://schemas.microsoft.com/office/drawing/2014/main" id="{DFCB508E-F6E2-4096-9D36-7477D02B2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" y="63500"/>
            <a:ext cx="8820150" cy="1628775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21"/>
    </mc:Choice>
    <mc:Fallback xmlns="">
      <p:transition spd="slow" advTm="1221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19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|8.3|8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|3.3|2.5|1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7.3|8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8|31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4|6.2|8.9|2.9|6.8|4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2|12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4|1|0.8|1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|0.9|0.6|10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7|2|1.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幼圆"/>
        <a:cs typeface=""/>
      </a:majorFont>
      <a:minorFont>
        <a:latin typeface="Tahoma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12555</TotalTime>
  <Words>2017</Words>
  <Application>Microsoft Office PowerPoint</Application>
  <PresentationFormat>全屏显示(4:3)</PresentationFormat>
  <Paragraphs>228</Paragraphs>
  <Slides>37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45" baseType="lpstr">
      <vt:lpstr>黑体</vt:lpstr>
      <vt:lpstr>楷体_GB2312</vt:lpstr>
      <vt:lpstr>Arial</vt:lpstr>
      <vt:lpstr>Tahoma</vt:lpstr>
      <vt:lpstr>Times New Roman</vt:lpstr>
      <vt:lpstr>Wingdings</vt:lpstr>
      <vt:lpstr>Blends</vt:lpstr>
      <vt:lpstr>自定义设计方案</vt:lpstr>
      <vt:lpstr>第7章  Transact-SQL与存储过程 （第二讲）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乔淋漓的冷汗</dc:creator>
  <cp:lastModifiedBy>ma hongbin</cp:lastModifiedBy>
  <cp:revision>737</cp:revision>
  <cp:lastPrinted>2000-08-23T09:10:16Z</cp:lastPrinted>
  <dcterms:created xsi:type="dcterms:W3CDTF">1601-01-01T00:00:00Z</dcterms:created>
  <dcterms:modified xsi:type="dcterms:W3CDTF">2022-05-11T11:16:37Z</dcterms:modified>
</cp:coreProperties>
</file>