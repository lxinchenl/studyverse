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6"/>
  </p:notesMasterIdLst>
  <p:handoutMasterIdLst>
    <p:handoutMasterId r:id="rId127"/>
  </p:handoutMasterIdLst>
  <p:sldIdLst>
    <p:sldId id="256" r:id="rId2"/>
    <p:sldId id="473" r:id="rId3"/>
    <p:sldId id="260" r:id="rId4"/>
    <p:sldId id="504" r:id="rId5"/>
    <p:sldId id="589" r:id="rId6"/>
    <p:sldId id="273" r:id="rId7"/>
    <p:sldId id="505" r:id="rId8"/>
    <p:sldId id="590" r:id="rId9"/>
    <p:sldId id="591" r:id="rId10"/>
    <p:sldId id="592" r:id="rId11"/>
    <p:sldId id="593" r:id="rId12"/>
    <p:sldId id="594" r:id="rId13"/>
    <p:sldId id="275" r:id="rId14"/>
    <p:sldId id="276" r:id="rId15"/>
    <p:sldId id="277" r:id="rId16"/>
    <p:sldId id="492" r:id="rId17"/>
    <p:sldId id="493" r:id="rId18"/>
    <p:sldId id="595" r:id="rId19"/>
    <p:sldId id="284" r:id="rId20"/>
    <p:sldId id="285" r:id="rId21"/>
    <p:sldId id="602" r:id="rId22"/>
    <p:sldId id="603" r:id="rId23"/>
    <p:sldId id="604" r:id="rId24"/>
    <p:sldId id="281" r:id="rId25"/>
    <p:sldId id="282" r:id="rId26"/>
    <p:sldId id="605" r:id="rId27"/>
    <p:sldId id="476" r:id="rId28"/>
    <p:sldId id="509" r:id="rId29"/>
    <p:sldId id="494" r:id="rId30"/>
    <p:sldId id="619" r:id="rId31"/>
    <p:sldId id="620" r:id="rId32"/>
    <p:sldId id="621" r:id="rId33"/>
    <p:sldId id="511" r:id="rId34"/>
    <p:sldId id="622" r:id="rId35"/>
    <p:sldId id="513" r:id="rId36"/>
    <p:sldId id="320" r:id="rId37"/>
    <p:sldId id="629" r:id="rId38"/>
    <p:sldId id="322" r:id="rId39"/>
    <p:sldId id="517" r:id="rId40"/>
    <p:sldId id="809" r:id="rId41"/>
    <p:sldId id="626" r:id="rId42"/>
    <p:sldId id="627" r:id="rId43"/>
    <p:sldId id="628" r:id="rId44"/>
    <p:sldId id="327" r:id="rId45"/>
    <p:sldId id="631" r:id="rId46"/>
    <p:sldId id="632" r:id="rId47"/>
    <p:sldId id="325" r:id="rId48"/>
    <p:sldId id="630" r:id="rId49"/>
    <p:sldId id="328" r:id="rId50"/>
    <p:sldId id="495" r:id="rId51"/>
    <p:sldId id="522" r:id="rId52"/>
    <p:sldId id="496" r:id="rId53"/>
    <p:sldId id="523" r:id="rId54"/>
    <p:sldId id="497" r:id="rId55"/>
    <p:sldId id="524" r:id="rId56"/>
    <p:sldId id="337" r:id="rId57"/>
    <p:sldId id="633" r:id="rId58"/>
    <p:sldId id="340" r:id="rId59"/>
    <p:sldId id="341" r:id="rId60"/>
    <p:sldId id="342" r:id="rId61"/>
    <p:sldId id="344" r:id="rId62"/>
    <p:sldId id="479" r:id="rId63"/>
    <p:sldId id="480" r:id="rId64"/>
    <p:sldId id="345" r:id="rId65"/>
    <p:sldId id="346" r:id="rId66"/>
    <p:sldId id="527" r:id="rId67"/>
    <p:sldId id="528" r:id="rId68"/>
    <p:sldId id="351" r:id="rId69"/>
    <p:sldId id="481" r:id="rId70"/>
    <p:sldId id="634" r:id="rId71"/>
    <p:sldId id="532" r:id="rId72"/>
    <p:sldId id="635" r:id="rId73"/>
    <p:sldId id="533" r:id="rId74"/>
    <p:sldId id="636" r:id="rId75"/>
    <p:sldId id="363" r:id="rId76"/>
    <p:sldId id="534" r:id="rId77"/>
    <p:sldId id="535" r:id="rId78"/>
    <p:sldId id="640" r:id="rId79"/>
    <p:sldId id="639" r:id="rId80"/>
    <p:sldId id="641" r:id="rId81"/>
    <p:sldId id="810" r:id="rId82"/>
    <p:sldId id="642" r:id="rId83"/>
    <p:sldId id="643" r:id="rId84"/>
    <p:sldId id="644" r:id="rId85"/>
    <p:sldId id="648" r:id="rId86"/>
    <p:sldId id="645" r:id="rId87"/>
    <p:sldId id="646" r:id="rId88"/>
    <p:sldId id="647" r:id="rId89"/>
    <p:sldId id="649" r:id="rId90"/>
    <p:sldId id="650" r:id="rId91"/>
    <p:sldId id="651" r:id="rId92"/>
    <p:sldId id="652" r:id="rId93"/>
    <p:sldId id="654" r:id="rId94"/>
    <p:sldId id="374" r:id="rId95"/>
    <p:sldId id="539" r:id="rId96"/>
    <p:sldId id="540" r:id="rId97"/>
    <p:sldId id="376" r:id="rId98"/>
    <p:sldId id="655" r:id="rId99"/>
    <p:sldId id="381" r:id="rId100"/>
    <p:sldId id="382" r:id="rId101"/>
    <p:sldId id="383" r:id="rId102"/>
    <p:sldId id="656" r:id="rId103"/>
    <p:sldId id="384" r:id="rId104"/>
    <p:sldId id="658" r:id="rId105"/>
    <p:sldId id="664" r:id="rId106"/>
    <p:sldId id="659" r:id="rId107"/>
    <p:sldId id="660" r:id="rId108"/>
    <p:sldId id="661" r:id="rId109"/>
    <p:sldId id="662" r:id="rId110"/>
    <p:sldId id="542" r:id="rId111"/>
    <p:sldId id="544" r:id="rId112"/>
    <p:sldId id="545" r:id="rId113"/>
    <p:sldId id="546" r:id="rId114"/>
    <p:sldId id="547" r:id="rId115"/>
    <p:sldId id="548" r:id="rId116"/>
    <p:sldId id="549" r:id="rId117"/>
    <p:sldId id="663" r:id="rId118"/>
    <p:sldId id="392" r:id="rId119"/>
    <p:sldId id="550" r:id="rId120"/>
    <p:sldId id="551" r:id="rId121"/>
    <p:sldId id="393" r:id="rId122"/>
    <p:sldId id="552" r:id="rId123"/>
    <p:sldId id="665" r:id="rId124"/>
    <p:sldId id="491" r:id="rId125"/>
  </p:sldIdLst>
  <p:sldSz cx="12192000" cy="6858000"/>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Verdana" panose="020B060403050404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Verdana" panose="020B060403050404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Verdana" panose="020B060403050404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Verdana" panose="020B060403050404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Verdana" panose="020B060403050404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中度样式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787"/>
    <p:restoredTop sz="94339"/>
  </p:normalViewPr>
  <p:slideViewPr>
    <p:cSldViewPr showGuides="1">
      <p:cViewPr varScale="1">
        <p:scale>
          <a:sx n="91" d="100"/>
          <a:sy n="91" d="100"/>
        </p:scale>
        <p:origin x="56" y="77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s>
</file>

<file path=ppt/diagrams/_rels/data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9.svg"/></Relationships>
</file>

<file path=ppt/diagrams/_rels/data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4" Type="http://schemas.openxmlformats.org/officeDocument/2006/relationships/image" Target="../media/image1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9.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4" Type="http://schemas.openxmlformats.org/officeDocument/2006/relationships/image" Target="../media/image18.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A02BC0C-7A74-4C42-AF5F-AF139634B5AD}"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259D26AC-843F-4CEA-8594-6518688D1E7C}">
      <dgm:prSet/>
      <dgm:spPr/>
      <dgm:t>
        <a:bodyPr/>
        <a:lstStyle/>
        <a:p>
          <a:pPr>
            <a:lnSpc>
              <a:spcPct val="100000"/>
            </a:lnSpc>
          </a:pPr>
          <a:r>
            <a:rPr lang="en-US"/>
            <a:t>PL/SQL</a:t>
          </a:r>
          <a:r>
            <a:rPr lang="zh-CN"/>
            <a:t>程序的基本单元是语句块，所有的</a:t>
          </a:r>
          <a:r>
            <a:rPr lang="en-US"/>
            <a:t>PL/SQL</a:t>
          </a:r>
          <a:r>
            <a:rPr lang="zh-CN"/>
            <a:t>程序都是由语句块构成的 。</a:t>
          </a:r>
          <a:endParaRPr lang="en-US"/>
        </a:p>
      </dgm:t>
    </dgm:pt>
    <dgm:pt modelId="{5251D1C9-5B44-446E-8000-9D09E89682C8}" type="parTrans" cxnId="{100746F3-F2D7-4E16-819B-9BE4D8EDD607}">
      <dgm:prSet/>
      <dgm:spPr/>
      <dgm:t>
        <a:bodyPr/>
        <a:lstStyle/>
        <a:p>
          <a:endParaRPr lang="en-US"/>
        </a:p>
      </dgm:t>
    </dgm:pt>
    <dgm:pt modelId="{BBCE9C21-C897-423C-9BCE-5E4446D45B6D}" type="sibTrans" cxnId="{100746F3-F2D7-4E16-819B-9BE4D8EDD607}">
      <dgm:prSet/>
      <dgm:spPr/>
      <dgm:t>
        <a:bodyPr/>
        <a:lstStyle/>
        <a:p>
          <a:pPr>
            <a:lnSpc>
              <a:spcPct val="100000"/>
            </a:lnSpc>
          </a:pPr>
          <a:endParaRPr lang="en-US"/>
        </a:p>
      </dgm:t>
    </dgm:pt>
    <dgm:pt modelId="{10034CE6-A39D-4C3D-92EB-1844B11546DC}">
      <dgm:prSet/>
      <dgm:spPr/>
      <dgm:t>
        <a:bodyPr/>
        <a:lstStyle/>
        <a:p>
          <a:pPr>
            <a:lnSpc>
              <a:spcPct val="100000"/>
            </a:lnSpc>
          </a:pPr>
          <a:r>
            <a:rPr lang="zh-CN"/>
            <a:t>一个完整的</a:t>
          </a:r>
          <a:r>
            <a:rPr lang="en-US"/>
            <a:t>PL/SQL</a:t>
          </a:r>
          <a:r>
            <a:rPr lang="zh-CN"/>
            <a:t>语句块由</a:t>
          </a:r>
          <a:r>
            <a:rPr lang="en-US"/>
            <a:t>3</a:t>
          </a:r>
          <a:r>
            <a:rPr lang="zh-CN"/>
            <a:t>个部分组成。 </a:t>
          </a:r>
          <a:endParaRPr lang="en-US"/>
        </a:p>
      </dgm:t>
    </dgm:pt>
    <dgm:pt modelId="{88E3080A-6B60-449C-830D-FBECA8CA12AD}" type="parTrans" cxnId="{823741C1-86C5-4E46-B9B7-D439635308B9}">
      <dgm:prSet/>
      <dgm:spPr/>
      <dgm:t>
        <a:bodyPr/>
        <a:lstStyle/>
        <a:p>
          <a:endParaRPr lang="en-US"/>
        </a:p>
      </dgm:t>
    </dgm:pt>
    <dgm:pt modelId="{DFBC9569-E3C8-43F8-9F17-32BA3EBCD057}" type="sibTrans" cxnId="{823741C1-86C5-4E46-B9B7-D439635308B9}">
      <dgm:prSet/>
      <dgm:spPr/>
      <dgm:t>
        <a:bodyPr/>
        <a:lstStyle/>
        <a:p>
          <a:endParaRPr lang="en-US"/>
        </a:p>
      </dgm:t>
    </dgm:pt>
    <dgm:pt modelId="{19D8520E-2817-4F9D-9DEF-20FEB1F67B53}" type="pres">
      <dgm:prSet presAssocID="{2A02BC0C-7A74-4C42-AF5F-AF139634B5AD}" presName="root" presStyleCnt="0">
        <dgm:presLayoutVars>
          <dgm:dir/>
          <dgm:resizeHandles val="exact"/>
        </dgm:presLayoutVars>
      </dgm:prSet>
      <dgm:spPr/>
    </dgm:pt>
    <dgm:pt modelId="{AEC6DF37-D907-4A5C-BDFB-A8D8F70C17C4}" type="pres">
      <dgm:prSet presAssocID="{2A02BC0C-7A74-4C42-AF5F-AF139634B5AD}" presName="container" presStyleCnt="0">
        <dgm:presLayoutVars>
          <dgm:dir/>
          <dgm:resizeHandles val="exact"/>
        </dgm:presLayoutVars>
      </dgm:prSet>
      <dgm:spPr/>
    </dgm:pt>
    <dgm:pt modelId="{76A98E67-6A5B-41DD-8321-B5658A635E81}" type="pres">
      <dgm:prSet presAssocID="{259D26AC-843F-4CEA-8594-6518688D1E7C}" presName="compNode" presStyleCnt="0"/>
      <dgm:spPr/>
    </dgm:pt>
    <dgm:pt modelId="{182C007F-25DA-4FDA-B7FE-C5CC169DC324}" type="pres">
      <dgm:prSet presAssocID="{259D26AC-843F-4CEA-8594-6518688D1E7C}" presName="iconBgRect" presStyleLbl="bgShp" presStyleIdx="0" presStyleCnt="2"/>
      <dgm:spPr/>
    </dgm:pt>
    <dgm:pt modelId="{FF870297-73BC-44EE-8771-E7FA91E0BFE9}" type="pres">
      <dgm:prSet presAssocID="{259D26AC-843F-4CEA-8594-6518688D1E7C}"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处理器"/>
        </a:ext>
      </dgm:extLst>
    </dgm:pt>
    <dgm:pt modelId="{8A117707-3665-4649-9C37-1294DFA7938D}" type="pres">
      <dgm:prSet presAssocID="{259D26AC-843F-4CEA-8594-6518688D1E7C}" presName="spaceRect" presStyleCnt="0"/>
      <dgm:spPr/>
    </dgm:pt>
    <dgm:pt modelId="{7D5FE183-A5AA-4ADA-AC7A-57FA1B0BE45F}" type="pres">
      <dgm:prSet presAssocID="{259D26AC-843F-4CEA-8594-6518688D1E7C}" presName="textRect" presStyleLbl="revTx" presStyleIdx="0" presStyleCnt="2">
        <dgm:presLayoutVars>
          <dgm:chMax val="1"/>
          <dgm:chPref val="1"/>
        </dgm:presLayoutVars>
      </dgm:prSet>
      <dgm:spPr/>
    </dgm:pt>
    <dgm:pt modelId="{9E271B27-9D5A-496C-B616-DB4C9B45B334}" type="pres">
      <dgm:prSet presAssocID="{BBCE9C21-C897-423C-9BCE-5E4446D45B6D}" presName="sibTrans" presStyleLbl="sibTrans2D1" presStyleIdx="0" presStyleCnt="0"/>
      <dgm:spPr/>
    </dgm:pt>
    <dgm:pt modelId="{F70986AF-F2FD-4391-91A7-B33334A73242}" type="pres">
      <dgm:prSet presAssocID="{10034CE6-A39D-4C3D-92EB-1844B11546DC}" presName="compNode" presStyleCnt="0"/>
      <dgm:spPr/>
    </dgm:pt>
    <dgm:pt modelId="{DD2F4D88-C026-4D40-B8E8-959CEABED451}" type="pres">
      <dgm:prSet presAssocID="{10034CE6-A39D-4C3D-92EB-1844B11546DC}" presName="iconBgRect" presStyleLbl="bgShp" presStyleIdx="1" presStyleCnt="2"/>
      <dgm:spPr/>
    </dgm:pt>
    <dgm:pt modelId="{E85CE709-6749-46AC-A5DD-29BCD5D48F1E}" type="pres">
      <dgm:prSet presAssocID="{10034CE6-A39D-4C3D-92EB-1844B11546DC}"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数据库"/>
        </a:ext>
      </dgm:extLst>
    </dgm:pt>
    <dgm:pt modelId="{0552E54C-A6F6-4F4E-B49C-B41C31D0D90E}" type="pres">
      <dgm:prSet presAssocID="{10034CE6-A39D-4C3D-92EB-1844B11546DC}" presName="spaceRect" presStyleCnt="0"/>
      <dgm:spPr/>
    </dgm:pt>
    <dgm:pt modelId="{1B953B41-D8DF-4ABF-96BC-27234F1A940A}" type="pres">
      <dgm:prSet presAssocID="{10034CE6-A39D-4C3D-92EB-1844B11546DC}" presName="textRect" presStyleLbl="revTx" presStyleIdx="1" presStyleCnt="2">
        <dgm:presLayoutVars>
          <dgm:chMax val="1"/>
          <dgm:chPref val="1"/>
        </dgm:presLayoutVars>
      </dgm:prSet>
      <dgm:spPr/>
    </dgm:pt>
  </dgm:ptLst>
  <dgm:cxnLst>
    <dgm:cxn modelId="{68ED7902-0927-46CA-9156-DFD602DDB293}" type="presOf" srcId="{2A02BC0C-7A74-4C42-AF5F-AF139634B5AD}" destId="{19D8520E-2817-4F9D-9DEF-20FEB1F67B53}" srcOrd="0" destOrd="0" presId="urn:microsoft.com/office/officeart/2018/2/layout/IconCircleList"/>
    <dgm:cxn modelId="{63CE5391-8CC0-4C39-8BA3-F83AB5BD5BD5}" type="presOf" srcId="{10034CE6-A39D-4C3D-92EB-1844B11546DC}" destId="{1B953B41-D8DF-4ABF-96BC-27234F1A940A}" srcOrd="0" destOrd="0" presId="urn:microsoft.com/office/officeart/2018/2/layout/IconCircleList"/>
    <dgm:cxn modelId="{4143EBA8-556E-4828-A6DF-2E9127F292D5}" type="presOf" srcId="{259D26AC-843F-4CEA-8594-6518688D1E7C}" destId="{7D5FE183-A5AA-4ADA-AC7A-57FA1B0BE45F}" srcOrd="0" destOrd="0" presId="urn:microsoft.com/office/officeart/2018/2/layout/IconCircleList"/>
    <dgm:cxn modelId="{823741C1-86C5-4E46-B9B7-D439635308B9}" srcId="{2A02BC0C-7A74-4C42-AF5F-AF139634B5AD}" destId="{10034CE6-A39D-4C3D-92EB-1844B11546DC}" srcOrd="1" destOrd="0" parTransId="{88E3080A-6B60-449C-830D-FBECA8CA12AD}" sibTransId="{DFBC9569-E3C8-43F8-9F17-32BA3EBCD057}"/>
    <dgm:cxn modelId="{F630E5C7-27E4-43F5-9436-064E0C2FC240}" type="presOf" srcId="{BBCE9C21-C897-423C-9BCE-5E4446D45B6D}" destId="{9E271B27-9D5A-496C-B616-DB4C9B45B334}" srcOrd="0" destOrd="0" presId="urn:microsoft.com/office/officeart/2018/2/layout/IconCircleList"/>
    <dgm:cxn modelId="{100746F3-F2D7-4E16-819B-9BE4D8EDD607}" srcId="{2A02BC0C-7A74-4C42-AF5F-AF139634B5AD}" destId="{259D26AC-843F-4CEA-8594-6518688D1E7C}" srcOrd="0" destOrd="0" parTransId="{5251D1C9-5B44-446E-8000-9D09E89682C8}" sibTransId="{BBCE9C21-C897-423C-9BCE-5E4446D45B6D}"/>
    <dgm:cxn modelId="{F2C31D45-0C9B-4E53-8BAC-9184BC5CB84E}" type="presParOf" srcId="{19D8520E-2817-4F9D-9DEF-20FEB1F67B53}" destId="{AEC6DF37-D907-4A5C-BDFB-A8D8F70C17C4}" srcOrd="0" destOrd="0" presId="urn:microsoft.com/office/officeart/2018/2/layout/IconCircleList"/>
    <dgm:cxn modelId="{D6317507-E8D6-4234-BD64-AD890C089D23}" type="presParOf" srcId="{AEC6DF37-D907-4A5C-BDFB-A8D8F70C17C4}" destId="{76A98E67-6A5B-41DD-8321-B5658A635E81}" srcOrd="0" destOrd="0" presId="urn:microsoft.com/office/officeart/2018/2/layout/IconCircleList"/>
    <dgm:cxn modelId="{0C26B101-484F-46D5-B5E3-7AED13B26906}" type="presParOf" srcId="{76A98E67-6A5B-41DD-8321-B5658A635E81}" destId="{182C007F-25DA-4FDA-B7FE-C5CC169DC324}" srcOrd="0" destOrd="0" presId="urn:microsoft.com/office/officeart/2018/2/layout/IconCircleList"/>
    <dgm:cxn modelId="{6EBDF0B4-7364-4382-A3AD-43D9FC054839}" type="presParOf" srcId="{76A98E67-6A5B-41DD-8321-B5658A635E81}" destId="{FF870297-73BC-44EE-8771-E7FA91E0BFE9}" srcOrd="1" destOrd="0" presId="urn:microsoft.com/office/officeart/2018/2/layout/IconCircleList"/>
    <dgm:cxn modelId="{7DBB4942-5AF0-444A-BE32-F3FC69DA342B}" type="presParOf" srcId="{76A98E67-6A5B-41DD-8321-B5658A635E81}" destId="{8A117707-3665-4649-9C37-1294DFA7938D}" srcOrd="2" destOrd="0" presId="urn:microsoft.com/office/officeart/2018/2/layout/IconCircleList"/>
    <dgm:cxn modelId="{2B0748C3-1C24-4AD4-8466-1717A19CC5BF}" type="presParOf" srcId="{76A98E67-6A5B-41DD-8321-B5658A635E81}" destId="{7D5FE183-A5AA-4ADA-AC7A-57FA1B0BE45F}" srcOrd="3" destOrd="0" presId="urn:microsoft.com/office/officeart/2018/2/layout/IconCircleList"/>
    <dgm:cxn modelId="{9FB653FC-C2C4-4FA5-9E84-D72634E52579}" type="presParOf" srcId="{AEC6DF37-D907-4A5C-BDFB-A8D8F70C17C4}" destId="{9E271B27-9D5A-496C-B616-DB4C9B45B334}" srcOrd="1" destOrd="0" presId="urn:microsoft.com/office/officeart/2018/2/layout/IconCircleList"/>
    <dgm:cxn modelId="{70E31D28-F572-48FD-8CFE-435F20280F9C}" type="presParOf" srcId="{AEC6DF37-D907-4A5C-BDFB-A8D8F70C17C4}" destId="{F70986AF-F2FD-4391-91A7-B33334A73242}" srcOrd="2" destOrd="0" presId="urn:microsoft.com/office/officeart/2018/2/layout/IconCircleList"/>
    <dgm:cxn modelId="{7A3A034C-3C55-4692-8352-426C09BF3442}" type="presParOf" srcId="{F70986AF-F2FD-4391-91A7-B33334A73242}" destId="{DD2F4D88-C026-4D40-B8E8-959CEABED451}" srcOrd="0" destOrd="0" presId="urn:microsoft.com/office/officeart/2018/2/layout/IconCircleList"/>
    <dgm:cxn modelId="{2B2F16B8-6CAD-4B5B-A0D2-2F266C6A1153}" type="presParOf" srcId="{F70986AF-F2FD-4391-91A7-B33334A73242}" destId="{E85CE709-6749-46AC-A5DD-29BCD5D48F1E}" srcOrd="1" destOrd="0" presId="urn:microsoft.com/office/officeart/2018/2/layout/IconCircleList"/>
    <dgm:cxn modelId="{C2B66FC3-089B-475F-92AB-A3F23A94A175}" type="presParOf" srcId="{F70986AF-F2FD-4391-91A7-B33334A73242}" destId="{0552E54C-A6F6-4F4E-B49C-B41C31D0D90E}" srcOrd="2" destOrd="0" presId="urn:microsoft.com/office/officeart/2018/2/layout/IconCircleList"/>
    <dgm:cxn modelId="{0B5996F8-3720-424A-B01C-3E783F552D72}" type="presParOf" srcId="{F70986AF-F2FD-4391-91A7-B33334A73242}" destId="{1B953B41-D8DF-4ABF-96BC-27234F1A940A}"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8243B77-D372-48D3-A3FC-D5C0FDC01DBF}" type="doc">
      <dgm:prSet loTypeId="urn:microsoft.com/office/officeart/2018/5/layout/CenteredIconLabelDescriptionList" loCatId="icon" qsTypeId="urn:microsoft.com/office/officeart/2005/8/quickstyle/simple1" qsCatId="simple" csTypeId="urn:microsoft.com/office/officeart/2018/5/colors/Iconchunking_neutralbg_accent1_2" csCatId="accent1" phldr="1"/>
      <dgm:spPr/>
      <dgm:t>
        <a:bodyPr/>
        <a:lstStyle/>
        <a:p>
          <a:endParaRPr lang="en-US"/>
        </a:p>
      </dgm:t>
    </dgm:pt>
    <dgm:pt modelId="{1B0210D0-5256-4AC6-884D-22876B9002D1}">
      <dgm:prSet/>
      <dgm:spPr/>
      <dgm:t>
        <a:bodyPr/>
        <a:lstStyle/>
        <a:p>
          <a:pPr>
            <a:lnSpc>
              <a:spcPct val="100000"/>
            </a:lnSpc>
            <a:defRPr b="1"/>
          </a:pPr>
          <a:r>
            <a:rPr lang="en-US"/>
            <a:t>PL/SQL</a:t>
          </a:r>
          <a:r>
            <a:rPr lang="zh-CN"/>
            <a:t>的字符集包括：</a:t>
          </a:r>
          <a:endParaRPr lang="en-US"/>
        </a:p>
      </dgm:t>
    </dgm:pt>
    <dgm:pt modelId="{9906225B-48BC-45AA-8215-0F554F45EA0A}" type="parTrans" cxnId="{D9BFFB1F-86A2-4166-B611-99A54BCB266E}">
      <dgm:prSet/>
      <dgm:spPr/>
      <dgm:t>
        <a:bodyPr/>
        <a:lstStyle/>
        <a:p>
          <a:endParaRPr lang="en-US"/>
        </a:p>
      </dgm:t>
    </dgm:pt>
    <dgm:pt modelId="{8970F614-294C-4FDE-BD7A-5299CC9B7E39}" type="sibTrans" cxnId="{D9BFFB1F-86A2-4166-B611-99A54BCB266E}">
      <dgm:prSet/>
      <dgm:spPr/>
      <dgm:t>
        <a:bodyPr/>
        <a:lstStyle/>
        <a:p>
          <a:endParaRPr lang="en-US"/>
        </a:p>
      </dgm:t>
    </dgm:pt>
    <dgm:pt modelId="{A6875104-E921-4EFE-A67B-A6886592768C}">
      <dgm:prSet/>
      <dgm:spPr/>
      <dgm:t>
        <a:bodyPr/>
        <a:lstStyle/>
        <a:p>
          <a:pPr>
            <a:lnSpc>
              <a:spcPct val="100000"/>
            </a:lnSpc>
          </a:pPr>
          <a:r>
            <a:rPr lang="zh-CN" b="1"/>
            <a:t>大小写字母：</a:t>
          </a:r>
          <a:r>
            <a:rPr lang="en-US" b="1"/>
            <a:t>A~Z</a:t>
          </a:r>
          <a:r>
            <a:rPr lang="zh-CN" b="1"/>
            <a:t>，</a:t>
          </a:r>
          <a:r>
            <a:rPr lang="en-US" b="1"/>
            <a:t>a~z</a:t>
          </a:r>
          <a:endParaRPr lang="en-US"/>
        </a:p>
      </dgm:t>
    </dgm:pt>
    <dgm:pt modelId="{2F032788-1D5E-44F0-9552-1E7F6727A365}" type="parTrans" cxnId="{F49059C8-B9D5-4928-85F8-F09F83183437}">
      <dgm:prSet/>
      <dgm:spPr/>
      <dgm:t>
        <a:bodyPr/>
        <a:lstStyle/>
        <a:p>
          <a:endParaRPr lang="en-US"/>
        </a:p>
      </dgm:t>
    </dgm:pt>
    <dgm:pt modelId="{77BB4531-1C77-489D-829F-38A1F303797B}" type="sibTrans" cxnId="{F49059C8-B9D5-4928-85F8-F09F83183437}">
      <dgm:prSet/>
      <dgm:spPr/>
      <dgm:t>
        <a:bodyPr/>
        <a:lstStyle/>
        <a:p>
          <a:endParaRPr lang="en-US"/>
        </a:p>
      </dgm:t>
    </dgm:pt>
    <dgm:pt modelId="{0381EAAD-3FB8-4FD6-9BDE-EAE24CB418E7}">
      <dgm:prSet/>
      <dgm:spPr/>
      <dgm:t>
        <a:bodyPr/>
        <a:lstStyle/>
        <a:p>
          <a:pPr>
            <a:lnSpc>
              <a:spcPct val="100000"/>
            </a:lnSpc>
          </a:pPr>
          <a:r>
            <a:rPr lang="zh-CN" b="1"/>
            <a:t>数字：</a:t>
          </a:r>
          <a:r>
            <a:rPr lang="en-US" b="1"/>
            <a:t>0~9</a:t>
          </a:r>
          <a:endParaRPr lang="en-US"/>
        </a:p>
      </dgm:t>
    </dgm:pt>
    <dgm:pt modelId="{86129C89-3D7C-49CA-A847-591BFE34C9A6}" type="parTrans" cxnId="{1D7480AC-BA5C-45D0-9403-5E311945304B}">
      <dgm:prSet/>
      <dgm:spPr/>
      <dgm:t>
        <a:bodyPr/>
        <a:lstStyle/>
        <a:p>
          <a:endParaRPr lang="en-US"/>
        </a:p>
      </dgm:t>
    </dgm:pt>
    <dgm:pt modelId="{454B3A9D-3681-4C13-A65E-7CA73CBC2D98}" type="sibTrans" cxnId="{1D7480AC-BA5C-45D0-9403-5E311945304B}">
      <dgm:prSet/>
      <dgm:spPr/>
      <dgm:t>
        <a:bodyPr/>
        <a:lstStyle/>
        <a:p>
          <a:endParaRPr lang="en-US"/>
        </a:p>
      </dgm:t>
    </dgm:pt>
    <dgm:pt modelId="{318E50FF-C4AA-4F52-BF5F-0FC5F37BE0DF}">
      <dgm:prSet/>
      <dgm:spPr/>
      <dgm:t>
        <a:bodyPr/>
        <a:lstStyle/>
        <a:p>
          <a:pPr>
            <a:lnSpc>
              <a:spcPct val="100000"/>
            </a:lnSpc>
          </a:pPr>
          <a:r>
            <a:rPr lang="zh-CN" b="1"/>
            <a:t>空白：制表符、空格和回车</a:t>
          </a:r>
          <a:endParaRPr lang="en-US"/>
        </a:p>
      </dgm:t>
    </dgm:pt>
    <dgm:pt modelId="{A12B05C7-A8A2-4101-A3CE-35998E58E67E}" type="parTrans" cxnId="{8A8EA3C1-B246-418C-B3A5-1E6B13FCCC2C}">
      <dgm:prSet/>
      <dgm:spPr/>
      <dgm:t>
        <a:bodyPr/>
        <a:lstStyle/>
        <a:p>
          <a:endParaRPr lang="en-US"/>
        </a:p>
      </dgm:t>
    </dgm:pt>
    <dgm:pt modelId="{3E1057A2-B369-43A5-8670-2F1BAA084424}" type="sibTrans" cxnId="{8A8EA3C1-B246-418C-B3A5-1E6B13FCCC2C}">
      <dgm:prSet/>
      <dgm:spPr/>
      <dgm:t>
        <a:bodyPr/>
        <a:lstStyle/>
        <a:p>
          <a:endParaRPr lang="en-US"/>
        </a:p>
      </dgm:t>
    </dgm:pt>
    <dgm:pt modelId="{91984C80-4713-4DC3-84C3-70667D3F5956}">
      <dgm:prSet/>
      <dgm:spPr/>
      <dgm:t>
        <a:bodyPr/>
        <a:lstStyle/>
        <a:p>
          <a:pPr>
            <a:lnSpc>
              <a:spcPct val="100000"/>
            </a:lnSpc>
          </a:pPr>
          <a:r>
            <a:rPr lang="zh-CN" b="1"/>
            <a:t>数字符号：</a:t>
          </a:r>
          <a:r>
            <a:rPr lang="en-US" b="1"/>
            <a:t>+ - * / 〈 〉 =</a:t>
          </a:r>
          <a:endParaRPr lang="en-US"/>
        </a:p>
      </dgm:t>
    </dgm:pt>
    <dgm:pt modelId="{83876621-B824-44EF-8E50-6B9AD9587FB2}" type="parTrans" cxnId="{BCA9D84C-9086-4B59-8CEB-7D1463535B4D}">
      <dgm:prSet/>
      <dgm:spPr/>
      <dgm:t>
        <a:bodyPr/>
        <a:lstStyle/>
        <a:p>
          <a:endParaRPr lang="en-US"/>
        </a:p>
      </dgm:t>
    </dgm:pt>
    <dgm:pt modelId="{D80A45F0-57BA-4B43-BE6F-D08A2EB2A013}" type="sibTrans" cxnId="{BCA9D84C-9086-4B59-8CEB-7D1463535B4D}">
      <dgm:prSet/>
      <dgm:spPr/>
      <dgm:t>
        <a:bodyPr/>
        <a:lstStyle/>
        <a:p>
          <a:endParaRPr lang="en-US"/>
        </a:p>
      </dgm:t>
    </dgm:pt>
    <dgm:pt modelId="{96B793FA-EDE0-426B-8139-99542101B6A3}">
      <dgm:prSet/>
      <dgm:spPr/>
      <dgm:t>
        <a:bodyPr/>
        <a:lstStyle/>
        <a:p>
          <a:pPr>
            <a:lnSpc>
              <a:spcPct val="100000"/>
            </a:lnSpc>
          </a:pPr>
          <a:r>
            <a:rPr lang="zh-CN" b="1"/>
            <a:t>标点符号：</a:t>
          </a:r>
          <a:r>
            <a:rPr lang="en-US" b="1"/>
            <a:t>~ ! @ # $ % ^&amp;* </a:t>
          </a:r>
          <a:r>
            <a:rPr lang="zh-CN" b="1"/>
            <a:t>（）</a:t>
          </a:r>
          <a:r>
            <a:rPr lang="en-US" b="1"/>
            <a:t>_ |  { } [ ] </a:t>
          </a:r>
          <a:r>
            <a:rPr lang="zh-CN" b="1"/>
            <a:t>？ ； ：</a:t>
          </a:r>
          <a:r>
            <a:rPr lang="en-US" b="1"/>
            <a:t>, .  “  ‘ </a:t>
          </a:r>
          <a:endParaRPr lang="en-US"/>
        </a:p>
      </dgm:t>
    </dgm:pt>
    <dgm:pt modelId="{6F41C1CC-1B7C-4632-BC59-569C98845EF5}" type="parTrans" cxnId="{27EFE93B-968B-4B6E-86E2-00DFEEC55339}">
      <dgm:prSet/>
      <dgm:spPr/>
      <dgm:t>
        <a:bodyPr/>
        <a:lstStyle/>
        <a:p>
          <a:endParaRPr lang="en-US"/>
        </a:p>
      </dgm:t>
    </dgm:pt>
    <dgm:pt modelId="{A0C65428-9065-4CFF-829A-D40D88CC12E2}" type="sibTrans" cxnId="{27EFE93B-968B-4B6E-86E2-00DFEEC55339}">
      <dgm:prSet/>
      <dgm:spPr/>
      <dgm:t>
        <a:bodyPr/>
        <a:lstStyle/>
        <a:p>
          <a:endParaRPr lang="en-US"/>
        </a:p>
      </dgm:t>
    </dgm:pt>
    <dgm:pt modelId="{1E634548-EA80-418F-BFB5-B7BED008C766}">
      <dgm:prSet/>
      <dgm:spPr/>
      <dgm:t>
        <a:bodyPr/>
        <a:lstStyle/>
        <a:p>
          <a:pPr>
            <a:lnSpc>
              <a:spcPct val="100000"/>
            </a:lnSpc>
            <a:defRPr b="1"/>
          </a:pPr>
          <a:r>
            <a:rPr lang="zh-CN"/>
            <a:t>注意</a:t>
          </a:r>
          <a:endParaRPr lang="en-US"/>
        </a:p>
      </dgm:t>
    </dgm:pt>
    <dgm:pt modelId="{83CC94A6-17B7-4673-BAD2-1A182D8CE3D7}" type="parTrans" cxnId="{86E4F9A0-975E-421F-9E56-0301ADB38E2E}">
      <dgm:prSet/>
      <dgm:spPr/>
      <dgm:t>
        <a:bodyPr/>
        <a:lstStyle/>
        <a:p>
          <a:endParaRPr lang="en-US"/>
        </a:p>
      </dgm:t>
    </dgm:pt>
    <dgm:pt modelId="{E2ADB66F-2E49-4594-ABBD-27A8EFBAA807}" type="sibTrans" cxnId="{86E4F9A0-975E-421F-9E56-0301ADB38E2E}">
      <dgm:prSet/>
      <dgm:spPr/>
      <dgm:t>
        <a:bodyPr/>
        <a:lstStyle/>
        <a:p>
          <a:endParaRPr lang="en-US"/>
        </a:p>
      </dgm:t>
    </dgm:pt>
    <dgm:pt modelId="{2AF8B969-B560-4905-A450-B456E746A8D6}">
      <dgm:prSet/>
      <dgm:spPr/>
      <dgm:t>
        <a:bodyPr/>
        <a:lstStyle/>
        <a:p>
          <a:pPr>
            <a:lnSpc>
              <a:spcPct val="100000"/>
            </a:lnSpc>
          </a:pPr>
          <a:r>
            <a:rPr lang="en-US" b="1"/>
            <a:t>PL/SQL</a:t>
          </a:r>
          <a:r>
            <a:rPr lang="zh-CN" b="1"/>
            <a:t>字符集不区分大小写。</a:t>
          </a:r>
          <a:endParaRPr lang="en-US"/>
        </a:p>
      </dgm:t>
    </dgm:pt>
    <dgm:pt modelId="{6DBD93F5-3809-4739-AEC6-0CEE1E8A2B38}" type="parTrans" cxnId="{B4884B56-A921-4C73-A4C7-F578B3282899}">
      <dgm:prSet/>
      <dgm:spPr/>
      <dgm:t>
        <a:bodyPr/>
        <a:lstStyle/>
        <a:p>
          <a:endParaRPr lang="en-US"/>
        </a:p>
      </dgm:t>
    </dgm:pt>
    <dgm:pt modelId="{99D0381D-D197-4D88-9D10-80DAFD78566D}" type="sibTrans" cxnId="{B4884B56-A921-4C73-A4C7-F578B3282899}">
      <dgm:prSet/>
      <dgm:spPr/>
      <dgm:t>
        <a:bodyPr/>
        <a:lstStyle/>
        <a:p>
          <a:endParaRPr lang="en-US"/>
        </a:p>
      </dgm:t>
    </dgm:pt>
    <dgm:pt modelId="{4399F72E-84A1-4A9F-B7A7-DA6E13CBB654}" type="pres">
      <dgm:prSet presAssocID="{38243B77-D372-48D3-A3FC-D5C0FDC01DBF}" presName="root" presStyleCnt="0">
        <dgm:presLayoutVars>
          <dgm:dir/>
          <dgm:resizeHandles val="exact"/>
        </dgm:presLayoutVars>
      </dgm:prSet>
      <dgm:spPr/>
    </dgm:pt>
    <dgm:pt modelId="{435B1917-94A7-411C-84F7-8C06C8E01036}" type="pres">
      <dgm:prSet presAssocID="{1B0210D0-5256-4AC6-884D-22876B9002D1}" presName="compNode" presStyleCnt="0"/>
      <dgm:spPr/>
    </dgm:pt>
    <dgm:pt modelId="{DB1C9E3E-2537-4524-AAEC-67BA5E7F6598}" type="pres">
      <dgm:prSet presAssocID="{1B0210D0-5256-4AC6-884D-22876B9002D1}"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程序员"/>
        </a:ext>
      </dgm:extLst>
    </dgm:pt>
    <dgm:pt modelId="{5F9F51D4-7A03-44E4-94C7-73EB5F0EFD1F}" type="pres">
      <dgm:prSet presAssocID="{1B0210D0-5256-4AC6-884D-22876B9002D1}" presName="iconSpace" presStyleCnt="0"/>
      <dgm:spPr/>
    </dgm:pt>
    <dgm:pt modelId="{2112000A-0E9A-4E1A-B1A5-180926A18091}" type="pres">
      <dgm:prSet presAssocID="{1B0210D0-5256-4AC6-884D-22876B9002D1}" presName="parTx" presStyleLbl="revTx" presStyleIdx="0" presStyleCnt="4">
        <dgm:presLayoutVars>
          <dgm:chMax val="0"/>
          <dgm:chPref val="0"/>
        </dgm:presLayoutVars>
      </dgm:prSet>
      <dgm:spPr/>
    </dgm:pt>
    <dgm:pt modelId="{AD558502-2F2C-46AA-9C46-E20AD0E9F6E7}" type="pres">
      <dgm:prSet presAssocID="{1B0210D0-5256-4AC6-884D-22876B9002D1}" presName="txSpace" presStyleCnt="0"/>
      <dgm:spPr/>
    </dgm:pt>
    <dgm:pt modelId="{6F7235CB-2FD6-4BB1-BBE3-0E6199F14413}" type="pres">
      <dgm:prSet presAssocID="{1B0210D0-5256-4AC6-884D-22876B9002D1}" presName="desTx" presStyleLbl="revTx" presStyleIdx="1" presStyleCnt="4">
        <dgm:presLayoutVars/>
      </dgm:prSet>
      <dgm:spPr/>
    </dgm:pt>
    <dgm:pt modelId="{F15F307E-C224-4453-9E04-928C5B387552}" type="pres">
      <dgm:prSet presAssocID="{8970F614-294C-4FDE-BD7A-5299CC9B7E39}" presName="sibTrans" presStyleCnt="0"/>
      <dgm:spPr/>
    </dgm:pt>
    <dgm:pt modelId="{51D49630-BCC4-4EE0-AFB5-A65142B36DEA}" type="pres">
      <dgm:prSet presAssocID="{1E634548-EA80-418F-BFB5-B7BED008C766}" presName="compNode" presStyleCnt="0"/>
      <dgm:spPr/>
    </dgm:pt>
    <dgm:pt modelId="{224C38AB-E028-4E9E-A3B0-6C645A8EBB85}" type="pres">
      <dgm:prSet presAssocID="{1E634548-EA80-418F-BFB5-B7BED008C766}"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数据库"/>
        </a:ext>
      </dgm:extLst>
    </dgm:pt>
    <dgm:pt modelId="{E6D9630A-6BE8-4112-A1B8-82B047A5F9F2}" type="pres">
      <dgm:prSet presAssocID="{1E634548-EA80-418F-BFB5-B7BED008C766}" presName="iconSpace" presStyleCnt="0"/>
      <dgm:spPr/>
    </dgm:pt>
    <dgm:pt modelId="{A1EC20AE-81DC-4A1C-84B1-0BE5D4206E7C}" type="pres">
      <dgm:prSet presAssocID="{1E634548-EA80-418F-BFB5-B7BED008C766}" presName="parTx" presStyleLbl="revTx" presStyleIdx="2" presStyleCnt="4">
        <dgm:presLayoutVars>
          <dgm:chMax val="0"/>
          <dgm:chPref val="0"/>
        </dgm:presLayoutVars>
      </dgm:prSet>
      <dgm:spPr/>
    </dgm:pt>
    <dgm:pt modelId="{F3F10DD5-BB32-46F0-8F2B-FEB5582F15E5}" type="pres">
      <dgm:prSet presAssocID="{1E634548-EA80-418F-BFB5-B7BED008C766}" presName="txSpace" presStyleCnt="0"/>
      <dgm:spPr/>
    </dgm:pt>
    <dgm:pt modelId="{02115EDD-BB26-4C36-9BBE-1AD9F9F2994C}" type="pres">
      <dgm:prSet presAssocID="{1E634548-EA80-418F-BFB5-B7BED008C766}" presName="desTx" presStyleLbl="revTx" presStyleIdx="3" presStyleCnt="4">
        <dgm:presLayoutVars/>
      </dgm:prSet>
      <dgm:spPr/>
    </dgm:pt>
  </dgm:ptLst>
  <dgm:cxnLst>
    <dgm:cxn modelId="{D9BFFB1F-86A2-4166-B611-99A54BCB266E}" srcId="{38243B77-D372-48D3-A3FC-D5C0FDC01DBF}" destId="{1B0210D0-5256-4AC6-884D-22876B9002D1}" srcOrd="0" destOrd="0" parTransId="{9906225B-48BC-45AA-8215-0F554F45EA0A}" sibTransId="{8970F614-294C-4FDE-BD7A-5299CC9B7E39}"/>
    <dgm:cxn modelId="{F8C00A2A-CDC9-43F3-9554-A1F701558BB3}" type="presOf" srcId="{96B793FA-EDE0-426B-8139-99542101B6A3}" destId="{6F7235CB-2FD6-4BB1-BBE3-0E6199F14413}" srcOrd="0" destOrd="4" presId="urn:microsoft.com/office/officeart/2018/5/layout/CenteredIconLabelDescriptionList"/>
    <dgm:cxn modelId="{B4786137-FED3-4A00-A3C9-377FE0DB0CEF}" type="presOf" srcId="{1E634548-EA80-418F-BFB5-B7BED008C766}" destId="{A1EC20AE-81DC-4A1C-84B1-0BE5D4206E7C}" srcOrd="0" destOrd="0" presId="urn:microsoft.com/office/officeart/2018/5/layout/CenteredIconLabelDescriptionList"/>
    <dgm:cxn modelId="{27EFE93B-968B-4B6E-86E2-00DFEEC55339}" srcId="{1B0210D0-5256-4AC6-884D-22876B9002D1}" destId="{96B793FA-EDE0-426B-8139-99542101B6A3}" srcOrd="4" destOrd="0" parTransId="{6F41C1CC-1B7C-4632-BC59-569C98845EF5}" sibTransId="{A0C65428-9065-4CFF-829A-D40D88CC12E2}"/>
    <dgm:cxn modelId="{63F8BA47-0753-46A2-A6A9-46B6E3328F49}" type="presOf" srcId="{318E50FF-C4AA-4F52-BF5F-0FC5F37BE0DF}" destId="{6F7235CB-2FD6-4BB1-BBE3-0E6199F14413}" srcOrd="0" destOrd="2" presId="urn:microsoft.com/office/officeart/2018/5/layout/CenteredIconLabelDescriptionList"/>
    <dgm:cxn modelId="{BCA9D84C-9086-4B59-8CEB-7D1463535B4D}" srcId="{1B0210D0-5256-4AC6-884D-22876B9002D1}" destId="{91984C80-4713-4DC3-84C3-70667D3F5956}" srcOrd="3" destOrd="0" parTransId="{83876621-B824-44EF-8E50-6B9AD9587FB2}" sibTransId="{D80A45F0-57BA-4B43-BE6F-D08A2EB2A013}"/>
    <dgm:cxn modelId="{50302A6D-CF19-494E-B2A1-080BB477B175}" type="presOf" srcId="{38243B77-D372-48D3-A3FC-D5C0FDC01DBF}" destId="{4399F72E-84A1-4A9F-B7A7-DA6E13CBB654}" srcOrd="0" destOrd="0" presId="urn:microsoft.com/office/officeart/2018/5/layout/CenteredIconLabelDescriptionList"/>
    <dgm:cxn modelId="{B4884B56-A921-4C73-A4C7-F578B3282899}" srcId="{1E634548-EA80-418F-BFB5-B7BED008C766}" destId="{2AF8B969-B560-4905-A450-B456E746A8D6}" srcOrd="0" destOrd="0" parTransId="{6DBD93F5-3809-4739-AEC6-0CEE1E8A2B38}" sibTransId="{99D0381D-D197-4D88-9D10-80DAFD78566D}"/>
    <dgm:cxn modelId="{DB3AF19A-2B8C-4CAE-A053-75B95E317388}" type="presOf" srcId="{2AF8B969-B560-4905-A450-B456E746A8D6}" destId="{02115EDD-BB26-4C36-9BBE-1AD9F9F2994C}" srcOrd="0" destOrd="0" presId="urn:microsoft.com/office/officeart/2018/5/layout/CenteredIconLabelDescriptionList"/>
    <dgm:cxn modelId="{0DF6629E-D4EB-40A7-8CC3-E2ADB65149C1}" type="presOf" srcId="{A6875104-E921-4EFE-A67B-A6886592768C}" destId="{6F7235CB-2FD6-4BB1-BBE3-0E6199F14413}" srcOrd="0" destOrd="0" presId="urn:microsoft.com/office/officeart/2018/5/layout/CenteredIconLabelDescriptionList"/>
    <dgm:cxn modelId="{86E4F9A0-975E-421F-9E56-0301ADB38E2E}" srcId="{38243B77-D372-48D3-A3FC-D5C0FDC01DBF}" destId="{1E634548-EA80-418F-BFB5-B7BED008C766}" srcOrd="1" destOrd="0" parTransId="{83CC94A6-17B7-4673-BAD2-1A182D8CE3D7}" sibTransId="{E2ADB66F-2E49-4594-ABBD-27A8EFBAA807}"/>
    <dgm:cxn modelId="{1D7480AC-BA5C-45D0-9403-5E311945304B}" srcId="{1B0210D0-5256-4AC6-884D-22876B9002D1}" destId="{0381EAAD-3FB8-4FD6-9BDE-EAE24CB418E7}" srcOrd="1" destOrd="0" parTransId="{86129C89-3D7C-49CA-A847-591BFE34C9A6}" sibTransId="{454B3A9D-3681-4C13-A65E-7CA73CBC2D98}"/>
    <dgm:cxn modelId="{33AB47B0-B761-4F4A-A0D8-5CF46C2E3B7F}" type="presOf" srcId="{1B0210D0-5256-4AC6-884D-22876B9002D1}" destId="{2112000A-0E9A-4E1A-B1A5-180926A18091}" srcOrd="0" destOrd="0" presId="urn:microsoft.com/office/officeart/2018/5/layout/CenteredIconLabelDescriptionList"/>
    <dgm:cxn modelId="{8A8EA3C1-B246-418C-B3A5-1E6B13FCCC2C}" srcId="{1B0210D0-5256-4AC6-884D-22876B9002D1}" destId="{318E50FF-C4AA-4F52-BF5F-0FC5F37BE0DF}" srcOrd="2" destOrd="0" parTransId="{A12B05C7-A8A2-4101-A3CE-35998E58E67E}" sibTransId="{3E1057A2-B369-43A5-8670-2F1BAA084424}"/>
    <dgm:cxn modelId="{F49059C8-B9D5-4928-85F8-F09F83183437}" srcId="{1B0210D0-5256-4AC6-884D-22876B9002D1}" destId="{A6875104-E921-4EFE-A67B-A6886592768C}" srcOrd="0" destOrd="0" parTransId="{2F032788-1D5E-44F0-9552-1E7F6727A365}" sibTransId="{77BB4531-1C77-489D-829F-38A1F303797B}"/>
    <dgm:cxn modelId="{949F10EF-69FA-4EDC-B636-2DAA77630DEB}" type="presOf" srcId="{0381EAAD-3FB8-4FD6-9BDE-EAE24CB418E7}" destId="{6F7235CB-2FD6-4BB1-BBE3-0E6199F14413}" srcOrd="0" destOrd="1" presId="urn:microsoft.com/office/officeart/2018/5/layout/CenteredIconLabelDescriptionList"/>
    <dgm:cxn modelId="{12624EF6-BCC3-431C-992B-6856BF3E4711}" type="presOf" srcId="{91984C80-4713-4DC3-84C3-70667D3F5956}" destId="{6F7235CB-2FD6-4BB1-BBE3-0E6199F14413}" srcOrd="0" destOrd="3" presId="urn:microsoft.com/office/officeart/2018/5/layout/CenteredIconLabelDescriptionList"/>
    <dgm:cxn modelId="{1959CAB6-3CDD-4B19-AE06-B4A8A1E55B84}" type="presParOf" srcId="{4399F72E-84A1-4A9F-B7A7-DA6E13CBB654}" destId="{435B1917-94A7-411C-84F7-8C06C8E01036}" srcOrd="0" destOrd="0" presId="urn:microsoft.com/office/officeart/2018/5/layout/CenteredIconLabelDescriptionList"/>
    <dgm:cxn modelId="{F7D3D30B-BFF4-4A2B-9BB9-27FC12AA2558}" type="presParOf" srcId="{435B1917-94A7-411C-84F7-8C06C8E01036}" destId="{DB1C9E3E-2537-4524-AAEC-67BA5E7F6598}" srcOrd="0" destOrd="0" presId="urn:microsoft.com/office/officeart/2018/5/layout/CenteredIconLabelDescriptionList"/>
    <dgm:cxn modelId="{53165F6E-88A6-4760-8799-8ADADA032ACA}" type="presParOf" srcId="{435B1917-94A7-411C-84F7-8C06C8E01036}" destId="{5F9F51D4-7A03-44E4-94C7-73EB5F0EFD1F}" srcOrd="1" destOrd="0" presId="urn:microsoft.com/office/officeart/2018/5/layout/CenteredIconLabelDescriptionList"/>
    <dgm:cxn modelId="{BA43375A-599B-43A5-9740-0B03CFF89C33}" type="presParOf" srcId="{435B1917-94A7-411C-84F7-8C06C8E01036}" destId="{2112000A-0E9A-4E1A-B1A5-180926A18091}" srcOrd="2" destOrd="0" presId="urn:microsoft.com/office/officeart/2018/5/layout/CenteredIconLabelDescriptionList"/>
    <dgm:cxn modelId="{0DFA5A1D-57E5-4EE5-8F8F-F5943D3BC012}" type="presParOf" srcId="{435B1917-94A7-411C-84F7-8C06C8E01036}" destId="{AD558502-2F2C-46AA-9C46-E20AD0E9F6E7}" srcOrd="3" destOrd="0" presId="urn:microsoft.com/office/officeart/2018/5/layout/CenteredIconLabelDescriptionList"/>
    <dgm:cxn modelId="{7B566F5D-EC3C-4E77-A8E8-8CE0027B138D}" type="presParOf" srcId="{435B1917-94A7-411C-84F7-8C06C8E01036}" destId="{6F7235CB-2FD6-4BB1-BBE3-0E6199F14413}" srcOrd="4" destOrd="0" presId="urn:microsoft.com/office/officeart/2018/5/layout/CenteredIconLabelDescriptionList"/>
    <dgm:cxn modelId="{A1E63EE5-43FA-4709-8E06-BC9F0F8DF1CF}" type="presParOf" srcId="{4399F72E-84A1-4A9F-B7A7-DA6E13CBB654}" destId="{F15F307E-C224-4453-9E04-928C5B387552}" srcOrd="1" destOrd="0" presId="urn:microsoft.com/office/officeart/2018/5/layout/CenteredIconLabelDescriptionList"/>
    <dgm:cxn modelId="{6FE95BE1-94E9-4890-8B09-0C3372B55929}" type="presParOf" srcId="{4399F72E-84A1-4A9F-B7A7-DA6E13CBB654}" destId="{51D49630-BCC4-4EE0-AFB5-A65142B36DEA}" srcOrd="2" destOrd="0" presId="urn:microsoft.com/office/officeart/2018/5/layout/CenteredIconLabelDescriptionList"/>
    <dgm:cxn modelId="{389201C9-BF81-400C-A210-5B6174808612}" type="presParOf" srcId="{51D49630-BCC4-4EE0-AFB5-A65142B36DEA}" destId="{224C38AB-E028-4E9E-A3B0-6C645A8EBB85}" srcOrd="0" destOrd="0" presId="urn:microsoft.com/office/officeart/2018/5/layout/CenteredIconLabelDescriptionList"/>
    <dgm:cxn modelId="{A7838EA3-4589-4F43-906B-A9CF98F1EC2D}" type="presParOf" srcId="{51D49630-BCC4-4EE0-AFB5-A65142B36DEA}" destId="{E6D9630A-6BE8-4112-A1B8-82B047A5F9F2}" srcOrd="1" destOrd="0" presId="urn:microsoft.com/office/officeart/2018/5/layout/CenteredIconLabelDescriptionList"/>
    <dgm:cxn modelId="{9B81B468-8D48-4B86-9847-D458B6EC02C7}" type="presParOf" srcId="{51D49630-BCC4-4EE0-AFB5-A65142B36DEA}" destId="{A1EC20AE-81DC-4A1C-84B1-0BE5D4206E7C}" srcOrd="2" destOrd="0" presId="urn:microsoft.com/office/officeart/2018/5/layout/CenteredIconLabelDescriptionList"/>
    <dgm:cxn modelId="{3119A6B5-62F2-4A53-A665-342D7357271A}" type="presParOf" srcId="{51D49630-BCC4-4EE0-AFB5-A65142B36DEA}" destId="{F3F10DD5-BB32-46F0-8F2B-FEB5582F15E5}" srcOrd="3" destOrd="0" presId="urn:microsoft.com/office/officeart/2018/5/layout/CenteredIconLabelDescriptionList"/>
    <dgm:cxn modelId="{CF462574-7308-48BF-8A98-71B29D2CD185}" type="presParOf" srcId="{51D49630-BCC4-4EE0-AFB5-A65142B36DEA}" destId="{02115EDD-BB26-4C36-9BBE-1AD9F9F2994C}"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2C007F-25DA-4FDA-B7FE-C5CC169DC324}">
      <dsp:nvSpPr>
        <dsp:cNvPr id="0" name=""/>
        <dsp:cNvSpPr/>
      </dsp:nvSpPr>
      <dsp:spPr>
        <a:xfrm>
          <a:off x="2037258" y="709803"/>
          <a:ext cx="913248" cy="91324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870297-73BC-44EE-8771-E7FA91E0BFE9}">
      <dsp:nvSpPr>
        <dsp:cNvPr id="0" name=""/>
        <dsp:cNvSpPr/>
      </dsp:nvSpPr>
      <dsp:spPr>
        <a:xfrm>
          <a:off x="2229040" y="901586"/>
          <a:ext cx="529683" cy="52968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D5FE183-A5AA-4ADA-AC7A-57FA1B0BE45F}">
      <dsp:nvSpPr>
        <dsp:cNvPr id="0" name=""/>
        <dsp:cNvSpPr/>
      </dsp:nvSpPr>
      <dsp:spPr>
        <a:xfrm>
          <a:off x="3146202" y="709803"/>
          <a:ext cx="2152655" cy="9132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a:t>PL/SQL</a:t>
          </a:r>
          <a:r>
            <a:rPr lang="zh-CN" sz="1400" kern="1200"/>
            <a:t>程序的基本单元是语句块，所有的</a:t>
          </a:r>
          <a:r>
            <a:rPr lang="en-US" sz="1400" kern="1200"/>
            <a:t>PL/SQL</a:t>
          </a:r>
          <a:r>
            <a:rPr lang="zh-CN" sz="1400" kern="1200"/>
            <a:t>程序都是由语句块构成的 。</a:t>
          </a:r>
          <a:endParaRPr lang="en-US" sz="1400" kern="1200"/>
        </a:p>
      </dsp:txBody>
      <dsp:txXfrm>
        <a:off x="3146202" y="709803"/>
        <a:ext cx="2152655" cy="913248"/>
      </dsp:txXfrm>
    </dsp:sp>
    <dsp:sp modelId="{DD2F4D88-C026-4D40-B8E8-959CEABED451}">
      <dsp:nvSpPr>
        <dsp:cNvPr id="0" name=""/>
        <dsp:cNvSpPr/>
      </dsp:nvSpPr>
      <dsp:spPr>
        <a:xfrm>
          <a:off x="5673942" y="709803"/>
          <a:ext cx="913248" cy="91324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5CE709-6749-46AC-A5DD-29BCD5D48F1E}">
      <dsp:nvSpPr>
        <dsp:cNvPr id="0" name=""/>
        <dsp:cNvSpPr/>
      </dsp:nvSpPr>
      <dsp:spPr>
        <a:xfrm>
          <a:off x="5865724" y="901586"/>
          <a:ext cx="529683" cy="52968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B953B41-D8DF-4ABF-96BC-27234F1A940A}">
      <dsp:nvSpPr>
        <dsp:cNvPr id="0" name=""/>
        <dsp:cNvSpPr/>
      </dsp:nvSpPr>
      <dsp:spPr>
        <a:xfrm>
          <a:off x="6782886" y="709803"/>
          <a:ext cx="2152655" cy="9132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zh-CN" sz="1400" kern="1200"/>
            <a:t>一个完整的</a:t>
          </a:r>
          <a:r>
            <a:rPr lang="en-US" sz="1400" kern="1200"/>
            <a:t>PL/SQL</a:t>
          </a:r>
          <a:r>
            <a:rPr lang="zh-CN" sz="1400" kern="1200"/>
            <a:t>语句块由</a:t>
          </a:r>
          <a:r>
            <a:rPr lang="en-US" sz="1400" kern="1200"/>
            <a:t>3</a:t>
          </a:r>
          <a:r>
            <a:rPr lang="zh-CN" sz="1400" kern="1200"/>
            <a:t>个部分组成。 </a:t>
          </a:r>
          <a:endParaRPr lang="en-US" sz="1400" kern="1200"/>
        </a:p>
      </dsp:txBody>
      <dsp:txXfrm>
        <a:off x="6782886" y="709803"/>
        <a:ext cx="2152655" cy="91324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1C9E3E-2537-4524-AAEC-67BA5E7F6598}">
      <dsp:nvSpPr>
        <dsp:cNvPr id="0" name=""/>
        <dsp:cNvSpPr/>
      </dsp:nvSpPr>
      <dsp:spPr>
        <a:xfrm>
          <a:off x="1768896" y="0"/>
          <a:ext cx="1510523" cy="120859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112000A-0E9A-4E1A-B1A5-180926A18091}">
      <dsp:nvSpPr>
        <dsp:cNvPr id="0" name=""/>
        <dsp:cNvSpPr/>
      </dsp:nvSpPr>
      <dsp:spPr>
        <a:xfrm>
          <a:off x="366267" y="1331528"/>
          <a:ext cx="4315781" cy="5179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377950">
            <a:lnSpc>
              <a:spcPct val="100000"/>
            </a:lnSpc>
            <a:spcBef>
              <a:spcPct val="0"/>
            </a:spcBef>
            <a:spcAft>
              <a:spcPct val="35000"/>
            </a:spcAft>
            <a:buNone/>
            <a:defRPr b="1"/>
          </a:pPr>
          <a:r>
            <a:rPr lang="en-US" sz="3100" kern="1200"/>
            <a:t>PL/SQL</a:t>
          </a:r>
          <a:r>
            <a:rPr lang="zh-CN" sz="3100" kern="1200"/>
            <a:t>的字符集包括：</a:t>
          </a:r>
          <a:endParaRPr lang="en-US" sz="3100" kern="1200"/>
        </a:p>
      </dsp:txBody>
      <dsp:txXfrm>
        <a:off x="366267" y="1331528"/>
        <a:ext cx="4315781" cy="517967"/>
      </dsp:txXfrm>
    </dsp:sp>
    <dsp:sp modelId="{6F7235CB-2FD6-4BB1-BBE3-0E6199F14413}">
      <dsp:nvSpPr>
        <dsp:cNvPr id="0" name=""/>
        <dsp:cNvSpPr/>
      </dsp:nvSpPr>
      <dsp:spPr>
        <a:xfrm>
          <a:off x="366267" y="1906675"/>
          <a:ext cx="4315781" cy="16665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zh-CN" sz="1700" b="1" kern="1200"/>
            <a:t>大小写字母：</a:t>
          </a:r>
          <a:r>
            <a:rPr lang="en-US" sz="1700" b="1" kern="1200"/>
            <a:t>A~Z</a:t>
          </a:r>
          <a:r>
            <a:rPr lang="zh-CN" sz="1700" b="1" kern="1200"/>
            <a:t>，</a:t>
          </a:r>
          <a:r>
            <a:rPr lang="en-US" sz="1700" b="1" kern="1200"/>
            <a:t>a~z</a:t>
          </a:r>
          <a:endParaRPr lang="en-US" sz="1700" kern="1200"/>
        </a:p>
        <a:p>
          <a:pPr marL="0" lvl="0" indent="0" algn="ctr" defTabSz="755650">
            <a:lnSpc>
              <a:spcPct val="100000"/>
            </a:lnSpc>
            <a:spcBef>
              <a:spcPct val="0"/>
            </a:spcBef>
            <a:spcAft>
              <a:spcPct val="35000"/>
            </a:spcAft>
            <a:buNone/>
          </a:pPr>
          <a:r>
            <a:rPr lang="zh-CN" sz="1700" b="1" kern="1200"/>
            <a:t>数字：</a:t>
          </a:r>
          <a:r>
            <a:rPr lang="en-US" sz="1700" b="1" kern="1200"/>
            <a:t>0~9</a:t>
          </a:r>
          <a:endParaRPr lang="en-US" sz="1700" kern="1200"/>
        </a:p>
        <a:p>
          <a:pPr marL="0" lvl="0" indent="0" algn="ctr" defTabSz="755650">
            <a:lnSpc>
              <a:spcPct val="100000"/>
            </a:lnSpc>
            <a:spcBef>
              <a:spcPct val="0"/>
            </a:spcBef>
            <a:spcAft>
              <a:spcPct val="35000"/>
            </a:spcAft>
            <a:buNone/>
          </a:pPr>
          <a:r>
            <a:rPr lang="zh-CN" sz="1700" b="1" kern="1200"/>
            <a:t>空白：制表符、空格和回车</a:t>
          </a:r>
          <a:endParaRPr lang="en-US" sz="1700" kern="1200"/>
        </a:p>
        <a:p>
          <a:pPr marL="0" lvl="0" indent="0" algn="ctr" defTabSz="755650">
            <a:lnSpc>
              <a:spcPct val="100000"/>
            </a:lnSpc>
            <a:spcBef>
              <a:spcPct val="0"/>
            </a:spcBef>
            <a:spcAft>
              <a:spcPct val="35000"/>
            </a:spcAft>
            <a:buNone/>
          </a:pPr>
          <a:r>
            <a:rPr lang="zh-CN" sz="1700" b="1" kern="1200"/>
            <a:t>数字符号：</a:t>
          </a:r>
          <a:r>
            <a:rPr lang="en-US" sz="1700" b="1" kern="1200"/>
            <a:t>+ - * / 〈 〉 =</a:t>
          </a:r>
          <a:endParaRPr lang="en-US" sz="1700" kern="1200"/>
        </a:p>
        <a:p>
          <a:pPr marL="0" lvl="0" indent="0" algn="ctr" defTabSz="755650">
            <a:lnSpc>
              <a:spcPct val="100000"/>
            </a:lnSpc>
            <a:spcBef>
              <a:spcPct val="0"/>
            </a:spcBef>
            <a:spcAft>
              <a:spcPct val="35000"/>
            </a:spcAft>
            <a:buNone/>
          </a:pPr>
          <a:r>
            <a:rPr lang="zh-CN" sz="1700" b="1" kern="1200"/>
            <a:t>标点符号：</a:t>
          </a:r>
          <a:r>
            <a:rPr lang="en-US" sz="1700" b="1" kern="1200"/>
            <a:t>~ ! @ # $ % ^&amp;* </a:t>
          </a:r>
          <a:r>
            <a:rPr lang="zh-CN" sz="1700" b="1" kern="1200"/>
            <a:t>（）</a:t>
          </a:r>
          <a:r>
            <a:rPr lang="en-US" sz="1700" b="1" kern="1200"/>
            <a:t>_ |  { } [ ] </a:t>
          </a:r>
          <a:r>
            <a:rPr lang="zh-CN" sz="1700" b="1" kern="1200"/>
            <a:t>？ ； ：</a:t>
          </a:r>
          <a:r>
            <a:rPr lang="en-US" sz="1700" b="1" kern="1200"/>
            <a:t>, .  “  ‘ </a:t>
          </a:r>
          <a:endParaRPr lang="en-US" sz="1700" kern="1200"/>
        </a:p>
      </dsp:txBody>
      <dsp:txXfrm>
        <a:off x="366267" y="1906675"/>
        <a:ext cx="4315781" cy="1666554"/>
      </dsp:txXfrm>
    </dsp:sp>
    <dsp:sp modelId="{224C38AB-E028-4E9E-A3B0-6C645A8EBB85}">
      <dsp:nvSpPr>
        <dsp:cNvPr id="0" name=""/>
        <dsp:cNvSpPr/>
      </dsp:nvSpPr>
      <dsp:spPr>
        <a:xfrm>
          <a:off x="6839939" y="0"/>
          <a:ext cx="1510523" cy="120859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1EC20AE-81DC-4A1C-84B1-0BE5D4206E7C}">
      <dsp:nvSpPr>
        <dsp:cNvPr id="0" name=""/>
        <dsp:cNvSpPr/>
      </dsp:nvSpPr>
      <dsp:spPr>
        <a:xfrm>
          <a:off x="5437310" y="1331528"/>
          <a:ext cx="4315781" cy="5179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377950">
            <a:lnSpc>
              <a:spcPct val="100000"/>
            </a:lnSpc>
            <a:spcBef>
              <a:spcPct val="0"/>
            </a:spcBef>
            <a:spcAft>
              <a:spcPct val="35000"/>
            </a:spcAft>
            <a:buNone/>
            <a:defRPr b="1"/>
          </a:pPr>
          <a:r>
            <a:rPr lang="zh-CN" sz="3100" kern="1200"/>
            <a:t>注意</a:t>
          </a:r>
          <a:endParaRPr lang="en-US" sz="3100" kern="1200"/>
        </a:p>
      </dsp:txBody>
      <dsp:txXfrm>
        <a:off x="5437310" y="1331528"/>
        <a:ext cx="4315781" cy="517967"/>
      </dsp:txXfrm>
    </dsp:sp>
    <dsp:sp modelId="{02115EDD-BB26-4C36-9BBE-1AD9F9F2994C}">
      <dsp:nvSpPr>
        <dsp:cNvPr id="0" name=""/>
        <dsp:cNvSpPr/>
      </dsp:nvSpPr>
      <dsp:spPr>
        <a:xfrm>
          <a:off x="5437310" y="1906675"/>
          <a:ext cx="4315781" cy="16665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b="1" kern="1200"/>
            <a:t>PL/SQL</a:t>
          </a:r>
          <a:r>
            <a:rPr lang="zh-CN" sz="1700" b="1" kern="1200"/>
            <a:t>字符集不区分大小写。</a:t>
          </a:r>
          <a:endParaRPr lang="en-US" sz="1700" kern="1200"/>
        </a:p>
      </dsp:txBody>
      <dsp:txXfrm>
        <a:off x="5437310" y="1906675"/>
        <a:ext cx="4315781" cy="1666554"/>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63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635"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2007-9</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636"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东北大学东软信息学院计算机系</a:t>
            </a:r>
          </a:p>
        </p:txBody>
      </p:sp>
      <p:sp>
        <p:nvSpPr>
          <p:cNvPr id="69637"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lgn="r" eaLnBrk="1" hangingPunct="1">
              <a:buNone/>
            </a:pPr>
            <a:fld id="{9A0DB2DC-4C9A-4742-B13C-FB6460FD3503}" type="slidenum">
              <a:rPr lang="en-US" altLang="zh-CN" sz="1200" dirty="0">
                <a:latin typeface="Arial" panose="020B0604020202020204" pitchFamily="34" charset="0"/>
              </a:rPr>
              <a:t>‹#›</a:t>
            </a:fld>
            <a:endParaRPr lang="en-US" altLang="zh-CN" sz="1200" dirty="0">
              <a:latin typeface="Arial" panose="020B060402020202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219"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2007-9</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0052" name="Rectangle 4"/>
          <p:cNvSpPr>
            <a:spLocks noGrp="1" noRot="1" noChangeAspect="1" noTextEdit="1"/>
          </p:cNvSpPr>
          <p:nvPr>
            <p:ph type="sldImg" idx="2"/>
          </p:nvPr>
        </p:nvSpPr>
        <p:spPr>
          <a:xfrm>
            <a:off x="381000" y="685800"/>
            <a:ext cx="6096000" cy="3429000"/>
          </a:xfrm>
          <a:prstGeom prst="rect">
            <a:avLst/>
          </a:prstGeom>
          <a:noFill/>
          <a:ln w="9525" cap="flat" cmpd="sng">
            <a:solidFill>
              <a:srgbClr val="000000"/>
            </a:solidFill>
            <a:prstDash val="solid"/>
            <a:miter/>
            <a:headEnd type="none" w="med" len="med"/>
            <a:tailEnd type="none" w="med" len="med"/>
          </a:ln>
        </p:spPr>
      </p:sp>
      <p:sp>
        <p:nvSpPr>
          <p:cNvPr id="9221"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p>
        </p:txBody>
      </p:sp>
      <p:sp>
        <p:nvSpPr>
          <p:cNvPr id="9222"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东北大学东软信息学院计算机系</a:t>
            </a:r>
          </a:p>
        </p:txBody>
      </p:sp>
      <p:sp>
        <p:nvSpPr>
          <p:cNvPr id="9223"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lgn="r" eaLnBrk="1" hangingPunct="1">
              <a:buNone/>
            </a:pPr>
            <a:fld id="{9A0DB2DC-4C9A-4742-B13C-FB6460FD3503}" type="slidenum">
              <a:rPr lang="en-US" altLang="zh-CN" sz="1200" dirty="0">
                <a:latin typeface="Arial" panose="020B0604020202020204" pitchFamily="34" charset="0"/>
              </a:rPr>
              <a:t>‹#›</a:t>
            </a:fld>
            <a:endParaRPr lang="en-US" altLang="zh-CN" sz="1200" dirty="0">
              <a:latin typeface="Arial" panose="020B0604020202020204" pitchFamily="34" charset="0"/>
            </a:endParaRPr>
          </a:p>
        </p:txBody>
      </p:sp>
    </p:spTree>
  </p:cSld>
  <p:clrMap bg1="lt1" tx1="dk1" bg2="lt2" tx2="dk2" accent1="accent1" accent2="accent2" accent3="accent3" accent4="accent4" accent5="accent5" accent6="accent6" hlink="hlink" folHlink="folHlink"/>
  <p:hf sldNum="0" hdr="0" ftr="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幻灯片图像占位符 1"/>
          <p:cNvSpPr>
            <a:spLocks noGrp="1" noRot="1" noChangeAspect="1" noTextEdit="1"/>
          </p:cNvSpPr>
          <p:nvPr>
            <p:ph type="sldImg"/>
          </p:nvPr>
        </p:nvSpPr>
        <p:spPr>
          <a:ln/>
        </p:spPr>
      </p:sp>
      <p:sp>
        <p:nvSpPr>
          <p:cNvPr id="131075" name="备注占位符 2"/>
          <p:cNvSpPr>
            <a:spLocks noGrp="1"/>
          </p:cNvSpPr>
          <p:nvPr>
            <p:ph type="body" idx="1"/>
          </p:nvPr>
        </p:nvSpPr>
        <p:spPr>
          <a:ln/>
        </p:spPr>
        <p:txBody>
          <a:bodyPr wrap="square" lIns="91440" tIns="45720" rIns="91440" bIns="45720" anchor="t"/>
          <a:lstStyle/>
          <a:p>
            <a:pPr lvl="0" eaLnBrk="1" hangingPunct="1"/>
            <a:endParaRPr lang="zh-CN" altLang="en-US" dirty="0"/>
          </a:p>
        </p:txBody>
      </p:sp>
      <p:sp>
        <p:nvSpPr>
          <p:cNvPr id="131076" name="日期占位符 3"/>
          <p:cNvSpPr txBox="1">
            <a:spLocks noGrp="1"/>
          </p:cNvSpPr>
          <p:nvPr>
            <p:ph type="dt" sz="half"/>
          </p:nvPr>
        </p:nvSpPr>
        <p:spPr>
          <a:xfrm>
            <a:off x="3884613" y="0"/>
            <a:ext cx="2971800" cy="457200"/>
          </a:xfrm>
          <a:prstGeom prst="rect">
            <a:avLst/>
          </a:prstGeom>
          <a:noFill/>
          <a:ln w="9525">
            <a:noFill/>
          </a:ln>
        </p:spPr>
        <p:txBody>
          <a:bodyPr/>
          <a:lstStyle/>
          <a:p>
            <a:pPr lvl="0" algn="r" eaLnBrk="1" hangingPunct="1">
              <a:spcBef>
                <a:spcPct val="0"/>
              </a:spcBef>
            </a:pPr>
            <a:r>
              <a:rPr lang="zh-CN" altLang="en-US" dirty="0"/>
              <a:t>2007-9</a:t>
            </a:r>
            <a:endParaRPr lang="en-US" altLang="zh-CN" dirty="0"/>
          </a:p>
        </p:txBody>
      </p:sp>
      <p:sp>
        <p:nvSpPr>
          <p:cNvPr id="131077" name="页脚占位符 4"/>
          <p:cNvSpPr txBox="1">
            <a:spLocks noGrp="1"/>
          </p:cNvSpPr>
          <p:nvPr>
            <p:ph type="ftr" sz="quarter"/>
          </p:nvPr>
        </p:nvSpPr>
        <p:spPr>
          <a:xfrm>
            <a:off x="0" y="8685213"/>
            <a:ext cx="2971800" cy="457200"/>
          </a:xfrm>
          <a:prstGeom prst="rect">
            <a:avLst/>
          </a:prstGeom>
          <a:noFill/>
          <a:ln w="9525">
            <a:noFill/>
          </a:ln>
        </p:spPr>
        <p:txBody>
          <a:bodyPr anchor="b"/>
          <a:lstStyle/>
          <a:p>
            <a:pPr lvl="0" eaLnBrk="1" hangingPunct="1">
              <a:spcBef>
                <a:spcPct val="0"/>
              </a:spcBef>
            </a:pPr>
            <a:r>
              <a:rPr lang="en-US" altLang="zh-CN" dirty="0"/>
              <a:t>东北大学东软信息学院计算机系</a:t>
            </a:r>
          </a:p>
        </p:txBody>
      </p:sp>
      <p:sp>
        <p:nvSpPr>
          <p:cNvPr id="131078" name="灯片编号占位符 5"/>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spcBef>
                <a:spcPct val="0"/>
              </a:spcBef>
            </a:pPr>
            <a:fld id="{9A0DB2DC-4C9A-4742-B13C-FB6460FD3503}" type="slidenum">
              <a:rPr lang="en-US" altLang="zh-CN" dirty="0"/>
              <a:t>3</a:t>
            </a:fld>
            <a:endParaRPr lang="en-US"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幻灯片图像占位符 1"/>
          <p:cNvSpPr>
            <a:spLocks noGrp="1" noRot="1" noChangeAspect="1" noTextEdit="1"/>
          </p:cNvSpPr>
          <p:nvPr>
            <p:ph type="sldImg"/>
          </p:nvPr>
        </p:nvSpPr>
        <p:spPr>
          <a:ln/>
        </p:spPr>
      </p:sp>
      <p:sp>
        <p:nvSpPr>
          <p:cNvPr id="132099" name="备注占位符 2"/>
          <p:cNvSpPr>
            <a:spLocks noGrp="1"/>
          </p:cNvSpPr>
          <p:nvPr>
            <p:ph type="body" idx="1"/>
          </p:nvPr>
        </p:nvSpPr>
        <p:spPr>
          <a:ln/>
        </p:spPr>
        <p:txBody>
          <a:bodyPr wrap="square" lIns="91440" tIns="45720" rIns="91440" bIns="45720" anchor="t"/>
          <a:lstStyle/>
          <a:p>
            <a:pPr lvl="0" eaLnBrk="1" hangingPunct="1"/>
            <a:endParaRPr lang="zh-CN" altLang="en-US" dirty="0"/>
          </a:p>
        </p:txBody>
      </p:sp>
      <p:sp>
        <p:nvSpPr>
          <p:cNvPr id="132100" name="日期占位符 3"/>
          <p:cNvSpPr txBox="1">
            <a:spLocks noGrp="1"/>
          </p:cNvSpPr>
          <p:nvPr>
            <p:ph type="dt" sz="half"/>
          </p:nvPr>
        </p:nvSpPr>
        <p:spPr>
          <a:xfrm>
            <a:off x="3884613" y="0"/>
            <a:ext cx="2971800" cy="457200"/>
          </a:xfrm>
          <a:prstGeom prst="rect">
            <a:avLst/>
          </a:prstGeom>
          <a:noFill/>
          <a:ln w="9525">
            <a:noFill/>
          </a:ln>
        </p:spPr>
        <p:txBody>
          <a:bodyPr/>
          <a:lstStyle/>
          <a:p>
            <a:pPr lvl="0" algn="r" eaLnBrk="1" hangingPunct="1">
              <a:spcBef>
                <a:spcPct val="0"/>
              </a:spcBef>
            </a:pPr>
            <a:r>
              <a:rPr lang="zh-CN" altLang="en-US" dirty="0"/>
              <a:t>2007-9</a:t>
            </a:r>
            <a:endParaRPr lang="en-US" altLang="zh-CN" dirty="0"/>
          </a:p>
        </p:txBody>
      </p:sp>
      <p:sp>
        <p:nvSpPr>
          <p:cNvPr id="132101" name="页脚占位符 4"/>
          <p:cNvSpPr txBox="1">
            <a:spLocks noGrp="1"/>
          </p:cNvSpPr>
          <p:nvPr>
            <p:ph type="ftr" sz="quarter"/>
          </p:nvPr>
        </p:nvSpPr>
        <p:spPr>
          <a:xfrm>
            <a:off x="0" y="8685213"/>
            <a:ext cx="2971800" cy="457200"/>
          </a:xfrm>
          <a:prstGeom prst="rect">
            <a:avLst/>
          </a:prstGeom>
          <a:noFill/>
          <a:ln w="9525">
            <a:noFill/>
          </a:ln>
        </p:spPr>
        <p:txBody>
          <a:bodyPr anchor="b"/>
          <a:lstStyle/>
          <a:p>
            <a:pPr lvl="0" eaLnBrk="1" hangingPunct="1">
              <a:spcBef>
                <a:spcPct val="0"/>
              </a:spcBef>
            </a:pPr>
            <a:r>
              <a:rPr lang="en-US" altLang="zh-CN" dirty="0"/>
              <a:t>东北大学东软信息学院计算机系</a:t>
            </a:r>
          </a:p>
        </p:txBody>
      </p:sp>
      <p:sp>
        <p:nvSpPr>
          <p:cNvPr id="132102" name="灯片编号占位符 5"/>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spcBef>
                <a:spcPct val="0"/>
              </a:spcBef>
            </a:pPr>
            <a:fld id="{9A0DB2DC-4C9A-4742-B13C-FB6460FD3503}" type="slidenum">
              <a:rPr lang="en-US" altLang="zh-CN" dirty="0"/>
              <a:t>4</a:t>
            </a:fld>
            <a:endParaRPr lang="en-US"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幻灯片图像占位符 1"/>
          <p:cNvSpPr>
            <a:spLocks noGrp="1" noRot="1" noChangeAspect="1" noTextEdit="1"/>
          </p:cNvSpPr>
          <p:nvPr>
            <p:ph type="sldImg"/>
          </p:nvPr>
        </p:nvSpPr>
        <p:spPr>
          <a:ln/>
        </p:spPr>
      </p:sp>
      <p:sp>
        <p:nvSpPr>
          <p:cNvPr id="133123" name="备注占位符 2"/>
          <p:cNvSpPr>
            <a:spLocks noGrp="1"/>
          </p:cNvSpPr>
          <p:nvPr>
            <p:ph type="body" idx="1"/>
          </p:nvPr>
        </p:nvSpPr>
        <p:spPr>
          <a:ln/>
        </p:spPr>
        <p:txBody>
          <a:bodyPr wrap="square" lIns="91440" tIns="45720" rIns="91440" bIns="45720" anchor="t"/>
          <a:lstStyle/>
          <a:p>
            <a:pPr lvl="0" eaLnBrk="1" hangingPunct="1"/>
            <a:endParaRPr lang="zh-CN" altLang="en-US" dirty="0"/>
          </a:p>
        </p:txBody>
      </p:sp>
      <p:sp>
        <p:nvSpPr>
          <p:cNvPr id="133124" name="日期占位符 3"/>
          <p:cNvSpPr txBox="1">
            <a:spLocks noGrp="1"/>
          </p:cNvSpPr>
          <p:nvPr>
            <p:ph type="dt" sz="half"/>
          </p:nvPr>
        </p:nvSpPr>
        <p:spPr>
          <a:xfrm>
            <a:off x="3884613" y="0"/>
            <a:ext cx="2971800" cy="457200"/>
          </a:xfrm>
          <a:prstGeom prst="rect">
            <a:avLst/>
          </a:prstGeom>
          <a:noFill/>
          <a:ln w="9525">
            <a:noFill/>
          </a:ln>
        </p:spPr>
        <p:txBody>
          <a:bodyPr/>
          <a:lstStyle/>
          <a:p>
            <a:pPr lvl="0" algn="r" eaLnBrk="1" hangingPunct="1">
              <a:spcBef>
                <a:spcPct val="0"/>
              </a:spcBef>
            </a:pPr>
            <a:r>
              <a:rPr lang="zh-CN" altLang="en-US" dirty="0"/>
              <a:t>2007-9</a:t>
            </a:r>
            <a:endParaRPr lang="en-US" altLang="zh-CN" dirty="0"/>
          </a:p>
        </p:txBody>
      </p:sp>
      <p:sp>
        <p:nvSpPr>
          <p:cNvPr id="133125" name="页脚占位符 4"/>
          <p:cNvSpPr txBox="1">
            <a:spLocks noGrp="1"/>
          </p:cNvSpPr>
          <p:nvPr>
            <p:ph type="ftr" sz="quarter"/>
          </p:nvPr>
        </p:nvSpPr>
        <p:spPr>
          <a:xfrm>
            <a:off x="0" y="8685213"/>
            <a:ext cx="2971800" cy="457200"/>
          </a:xfrm>
          <a:prstGeom prst="rect">
            <a:avLst/>
          </a:prstGeom>
          <a:noFill/>
          <a:ln w="9525">
            <a:noFill/>
          </a:ln>
        </p:spPr>
        <p:txBody>
          <a:bodyPr anchor="b"/>
          <a:lstStyle/>
          <a:p>
            <a:pPr lvl="0" eaLnBrk="1" hangingPunct="1">
              <a:spcBef>
                <a:spcPct val="0"/>
              </a:spcBef>
            </a:pPr>
            <a:r>
              <a:rPr lang="en-US" altLang="zh-CN" dirty="0"/>
              <a:t>东北大学东软信息学院计算机系</a:t>
            </a:r>
          </a:p>
        </p:txBody>
      </p:sp>
      <p:sp>
        <p:nvSpPr>
          <p:cNvPr id="133126" name="灯片编号占位符 5"/>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spcBef>
                <a:spcPct val="0"/>
              </a:spcBef>
            </a:pPr>
            <a:fld id="{9A0DB2DC-4C9A-4742-B13C-FB6460FD3503}" type="slidenum">
              <a:rPr lang="en-US" altLang="zh-CN" dirty="0"/>
              <a:t>53</a:t>
            </a:fld>
            <a:endParaRPr lang="en-US"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3"/>
          <p:cNvSpPr txBox="1">
            <a:spLocks noGrp="1"/>
          </p:cNvSpPr>
          <p:nvPr>
            <p:ph type="dt" sz="half"/>
          </p:nvPr>
        </p:nvSpPr>
        <p:spPr>
          <a:xfrm>
            <a:off x="3884613" y="0"/>
            <a:ext cx="2971800" cy="457200"/>
          </a:xfrm>
          <a:prstGeom prst="rect">
            <a:avLst/>
          </a:prstGeom>
          <a:noFill/>
          <a:ln w="9525">
            <a:noFill/>
          </a:ln>
        </p:spPr>
        <p:txBody>
          <a:bodyPr/>
          <a:lstStyle/>
          <a:p>
            <a:pPr lvl="0" algn="r" eaLnBrk="1" hangingPunct="1">
              <a:spcBef>
                <a:spcPct val="0"/>
              </a:spcBef>
            </a:pPr>
            <a:r>
              <a:rPr lang="zh-CN" altLang="en-US" dirty="0"/>
              <a:t>2007-9</a:t>
            </a:r>
            <a:endParaRPr lang="en-US" altLang="zh-CN" dirty="0"/>
          </a:p>
        </p:txBody>
      </p:sp>
      <p:sp>
        <p:nvSpPr>
          <p:cNvPr id="134147" name="Rectangle 6"/>
          <p:cNvSpPr txBox="1">
            <a:spLocks noGrp="1"/>
          </p:cNvSpPr>
          <p:nvPr>
            <p:ph type="ftr" sz="quarter"/>
          </p:nvPr>
        </p:nvSpPr>
        <p:spPr>
          <a:xfrm>
            <a:off x="0" y="8685213"/>
            <a:ext cx="2971800" cy="457200"/>
          </a:xfrm>
          <a:prstGeom prst="rect">
            <a:avLst/>
          </a:prstGeom>
          <a:noFill/>
          <a:ln w="9525">
            <a:noFill/>
          </a:ln>
        </p:spPr>
        <p:txBody>
          <a:bodyPr anchor="b"/>
          <a:lstStyle/>
          <a:p>
            <a:pPr lvl="0" eaLnBrk="1" hangingPunct="1">
              <a:spcBef>
                <a:spcPct val="0"/>
              </a:spcBef>
            </a:pPr>
            <a:r>
              <a:rPr lang="en-US" altLang="zh-CN" dirty="0"/>
              <a:t>东北大学东软信息学院计算机系</a:t>
            </a:r>
          </a:p>
        </p:txBody>
      </p:sp>
      <p:sp>
        <p:nvSpPr>
          <p:cNvPr id="134148"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spcBef>
                <a:spcPct val="0"/>
              </a:spcBef>
            </a:pPr>
            <a:fld id="{9A0DB2DC-4C9A-4742-B13C-FB6460FD3503}" type="slidenum">
              <a:rPr lang="en-US" altLang="zh-CN" dirty="0"/>
              <a:t>65</a:t>
            </a:fld>
            <a:endParaRPr lang="en-US" altLang="zh-CN" dirty="0"/>
          </a:p>
        </p:txBody>
      </p:sp>
      <p:sp>
        <p:nvSpPr>
          <p:cNvPr id="134149" name="Rectangle 2"/>
          <p:cNvSpPr>
            <a:spLocks noGrp="1" noRot="1" noChangeAspect="1" noTextEdit="1"/>
          </p:cNvSpPr>
          <p:nvPr>
            <p:ph type="sldImg"/>
          </p:nvPr>
        </p:nvSpPr>
        <p:spPr>
          <a:ln/>
        </p:spPr>
      </p:sp>
      <p:sp>
        <p:nvSpPr>
          <p:cNvPr id="134150" name="Rectangle 3"/>
          <p:cNvSpPr>
            <a:spLocks noGrp="1"/>
          </p:cNvSpPr>
          <p:nvPr>
            <p:ph type="body" idx="1"/>
          </p:nvPr>
        </p:nvSpPr>
        <p:spPr>
          <a:xfrm>
            <a:off x="914400" y="4343400"/>
            <a:ext cx="5029200" cy="4114800"/>
          </a:xfrm>
          <a:ln/>
        </p:spPr>
        <p:txBody>
          <a:bodyPr wrap="square" lIns="91440" tIns="45720" rIns="91440" bIns="45720" anchor="t"/>
          <a:lstStyle/>
          <a:p>
            <a:pPr lvl="0" eaLnBrk="1" hangingPunct="1"/>
            <a:r>
              <a:rPr lang="en-US" altLang="zh-CN" dirty="0"/>
              <a:t>Fetch </a:t>
            </a:r>
            <a:r>
              <a:rPr lang="zh-CN" altLang="en-US" dirty="0"/>
              <a:t>游标名 </a:t>
            </a:r>
            <a:r>
              <a:rPr lang="en-US" altLang="zh-CN" dirty="0"/>
              <a:t>bulk collect into </a:t>
            </a:r>
            <a:r>
              <a:rPr lang="zh-CN" altLang="en-US" dirty="0"/>
              <a:t>集合</a:t>
            </a:r>
            <a:r>
              <a:rPr lang="en-US" altLang="zh-CN" dirty="0"/>
              <a:t>1</a:t>
            </a:r>
            <a:r>
              <a:rPr lang="zh-CN" altLang="en-US" dirty="0"/>
              <a:t>，集合</a:t>
            </a:r>
            <a:r>
              <a:rPr lang="en-US" altLang="zh-CN" dirty="0"/>
              <a:t>2</a:t>
            </a:r>
            <a:r>
              <a:rPr lang="zh-CN" altLang="en-US" dirty="0"/>
              <a:t>，</a:t>
            </a:r>
            <a:r>
              <a:rPr lang="en-US" altLang="zh-CN" dirty="0"/>
              <a:t>...[limit </a:t>
            </a:r>
            <a:r>
              <a:rPr lang="zh-CN" altLang="en-US" dirty="0"/>
              <a:t>行数</a:t>
            </a:r>
            <a:r>
              <a:rPr lang="en-US" altLang="zh-CN" dirty="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914400" y="685800"/>
            <a:ext cx="10363200" cy="2127250"/>
          </a:xfrm>
        </p:spPr>
        <p:txBody>
          <a:bodyPr/>
          <a:lstStyle>
            <a:lvl1pPr>
              <a:defRPr sz="4800" baseline="0">
                <a:solidFill>
                  <a:schemeClr val="tx1"/>
                </a:solidFill>
              </a:defRPr>
            </a:lvl1pPr>
          </a:lstStyle>
          <a:p>
            <a:pPr lvl="0"/>
            <a:r>
              <a:rPr lang="zh-CN" altLang="en-US" noProof="0" dirty="0"/>
              <a:t>单击此处编辑母版标题样式</a:t>
            </a:r>
          </a:p>
        </p:txBody>
      </p:sp>
      <p:sp>
        <p:nvSpPr>
          <p:cNvPr id="5123" name="Rectangle 3"/>
          <p:cNvSpPr>
            <a:spLocks noGrp="1" noChangeArrowheads="1"/>
          </p:cNvSpPr>
          <p:nvPr>
            <p:ph type="subTitle" idx="1"/>
          </p:nvPr>
        </p:nvSpPr>
        <p:spPr>
          <a:xfrm>
            <a:off x="1828800" y="3270250"/>
            <a:ext cx="8534400" cy="2209800"/>
          </a:xfrm>
        </p:spPr>
        <p:txBody>
          <a:bodyPr/>
          <a:lstStyle>
            <a:lvl1pPr marL="0" indent="0" algn="ctr">
              <a:buFont typeface="Wingdings" panose="05000000000000000000" pitchFamily="2" charset="2"/>
              <a:buNone/>
              <a:defRPr sz="3400"/>
            </a:lvl1pPr>
          </a:lstStyle>
          <a:p>
            <a:pPr lvl="0"/>
            <a:r>
              <a:rPr lang="zh-CN" altLang="en-US" noProof="0"/>
              <a:t>单击此处编辑母版副标题样式</a:t>
            </a:r>
          </a:p>
        </p:txBody>
      </p:sp>
      <p:sp>
        <p:nvSpPr>
          <p:cNvPr id="10" name="Rectangle 4"/>
          <p:cNvSpPr>
            <a:spLocks noGrp="1" noChangeArrowheads="1"/>
          </p:cNvSpPr>
          <p:nvPr>
            <p:ph type="dt" sz="half" idx="2"/>
          </p:nvPr>
        </p:nvSpPr>
        <p:spPr bwMode="auto">
          <a:xfrm>
            <a:off x="609600" y="6248400"/>
            <a:ext cx="28448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2007-9</a:t>
            </a: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1" name="Rectangle 5"/>
          <p:cNvSpPr>
            <a:spLocks noGrp="1" noChangeArrowheads="1"/>
          </p:cNvSpPr>
          <p:nvPr>
            <p:ph type="ftr" sz="quarter" idx="3"/>
          </p:nvPr>
        </p:nvSpPr>
        <p:spPr bwMode="auto">
          <a:xfrm>
            <a:off x="4165600" y="6248400"/>
            <a:ext cx="38608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东北大学东软信息学院计算机系</a:t>
            </a:r>
          </a:p>
        </p:txBody>
      </p:sp>
      <p:sp>
        <p:nvSpPr>
          <p:cNvPr id="12" name="Rectangle 6"/>
          <p:cNvSpPr>
            <a:spLocks noGrp="1" noChangeArrowheads="1"/>
          </p:cNvSpPr>
          <p:nvPr>
            <p:ph type="sldNum" sz="quarter" idx="4"/>
          </p:nvPr>
        </p:nvSpPr>
        <p:spPr bwMode="auto">
          <a:xfrm>
            <a:off x="8737600" y="6248400"/>
            <a:ext cx="28448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algn="r">
              <a:buNone/>
            </a:pPr>
            <a:fld id="{9A0DB2DC-4C9A-4742-B13C-FB6460FD3503}" type="slidenum">
              <a:rPr lang="en-US" altLang="zh-CN" dirty="0"/>
              <a:t>‹#›</a:t>
            </a:fld>
            <a:endParaRPr lang="en-US" altLang="zh-C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aseline="0">
                <a:solidFill>
                  <a:schemeClr val="tx1"/>
                </a:solidFill>
              </a:defRPr>
            </a:lvl1pPr>
          </a:lstStyle>
          <a:p>
            <a:r>
              <a:rPr lang="zh-CN" altLang="en-US" dirty="0"/>
              <a:t>单击此处编辑母版标题样式</a:t>
            </a:r>
          </a:p>
        </p:txBody>
      </p:sp>
      <p:sp>
        <p:nvSpPr>
          <p:cNvPr id="3" name="内容占位符 2"/>
          <p:cNvSpPr>
            <a:spLocks noGrp="1"/>
          </p:cNvSpPr>
          <p:nvPr>
            <p:ph idx="1"/>
          </p:nvPr>
        </p:nvSpPr>
        <p:spPr/>
        <p:txBody>
          <a:bodyPr/>
          <a:lstStyle>
            <a:lvl1pPr marL="457200" indent="-457200">
              <a:buFont typeface="Wingdings" panose="05000000000000000000" pitchFamily="2" charset="2"/>
              <a:buChar char="l"/>
              <a:defRPr/>
            </a:lvl1pPr>
            <a:lvl2pPr marL="914400" indent="-457200">
              <a:buFont typeface="Verdana" panose="020B0604030504040204" pitchFamily="34" charset="0"/>
              <a:buChar char="—"/>
              <a:defRPr/>
            </a:lvl2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2007-9</a:t>
            </a: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东北大学东软信息学院计算机系</a:t>
            </a: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a:t>
            </a:fld>
            <a:endParaRPr lang="en-US" altLang="zh-CN" dirty="0">
              <a:latin typeface="Verdana"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2007-9</a:t>
            </a: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东北大学东软信息学院计算机系</a:t>
            </a: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a:t>
            </a:fld>
            <a:endParaRPr lang="en-US" altLang="zh-CN" dirty="0">
              <a:latin typeface="Verdana" panose="020B060403050404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0"/>
            <a:ext cx="53848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0"/>
            <a:ext cx="53848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2007-9</a:t>
            </a: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东北大学东软信息学院计算机系</a:t>
            </a: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a:t>
            </a:fld>
            <a:endParaRPr lang="en-US" altLang="zh-CN" dirty="0">
              <a:latin typeface="Verdana"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2007-9</a:t>
            </a: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东北大学东软信息学院计算机系</a:t>
            </a:r>
          </a:p>
        </p:txBody>
      </p:sp>
      <p:sp>
        <p:nvSpPr>
          <p:cNvPr id="9" name="灯片编号占位符 8"/>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a:t>
            </a:fld>
            <a:endParaRPr lang="en-US" altLang="zh-CN" dirty="0">
              <a:latin typeface="Verdana" panose="020B060403050404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2007-9</a:t>
            </a: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东北大学东软信息学院计算机系</a:t>
            </a: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a:t>
            </a:fld>
            <a:endParaRPr lang="en-US" altLang="zh-CN" dirty="0">
              <a:latin typeface="Verdana"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2007-9</a:t>
            </a: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东北大学东软信息学院计算机系</a:t>
            </a:r>
          </a:p>
        </p:txBody>
      </p:sp>
      <p:sp>
        <p:nvSpPr>
          <p:cNvPr id="4" name="灯片编号占位符 3"/>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a:t>
            </a:fld>
            <a:endParaRPr lang="en-US" altLang="zh-CN" dirty="0">
              <a:latin typeface="Verdana" panose="020B060403050404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2007-9</a:t>
            </a: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东北大学东软信息学院计算机系</a:t>
            </a: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a:t>
            </a:fld>
            <a:endParaRPr lang="en-US" altLang="zh-CN" dirty="0">
              <a:latin typeface="Verdana" panose="020B060403050404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2007-9</a:t>
            </a: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东北大学东软信息学院计算机系</a:t>
            </a: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a:t>
            </a:fld>
            <a:endParaRPr lang="en-US" altLang="zh-CN" dirty="0">
              <a:latin typeface="Verdana" panose="020B060403050404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2007-9</a:t>
            </a: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东北大学东软信息学院计算机系</a:t>
            </a: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a:t>
            </a:fld>
            <a:endParaRPr lang="en-US" altLang="zh-CN" dirty="0">
              <a:latin typeface="Verdana" panose="020B060403050404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476250"/>
            <a:ext cx="2743200" cy="56546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476250"/>
            <a:ext cx="8026400" cy="56546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2007-9</a:t>
            </a: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东北大学东软信息学院计算机系</a:t>
            </a: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a:t>
            </a:fld>
            <a:endParaRPr lang="en-US" altLang="zh-CN" dirty="0">
              <a:latin typeface="Verdana" panose="020B060403050404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476250"/>
            <a:ext cx="10972800" cy="941388"/>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0"/>
            <a:ext cx="53848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0"/>
            <a:ext cx="53848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2007-9</a:t>
            </a: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东北大学东软信息学院计算机系</a:t>
            </a: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a:t>
            </a:fld>
            <a:endParaRPr lang="en-US" altLang="zh-CN" dirty="0">
              <a:latin typeface="Verdana" panose="020B060403050404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609600" y="476250"/>
            <a:ext cx="10972800" cy="941388"/>
          </a:xfrm>
          <a:prstGeom prst="rect">
            <a:avLst/>
          </a:prstGeom>
          <a:noFill/>
          <a:ln w="9525">
            <a:noFill/>
          </a:ln>
        </p:spPr>
        <p:txBody>
          <a:bodyPr anchor="b"/>
          <a:lstStyle/>
          <a:p>
            <a:pPr lvl="0"/>
            <a:r>
              <a:rPr lang="zh-CN" altLang="en-US" dirty="0"/>
              <a:t>单击此处编辑母版标题样式</a:t>
            </a:r>
          </a:p>
        </p:txBody>
      </p:sp>
      <p:sp>
        <p:nvSpPr>
          <p:cNvPr id="1027" name="Rectangle 3"/>
          <p:cNvSpPr>
            <a:spLocks noGrp="1"/>
          </p:cNvSpPr>
          <p:nvPr>
            <p:ph type="body" idx="1"/>
          </p:nvPr>
        </p:nvSpPr>
        <p:spPr>
          <a:xfrm>
            <a:off x="609600" y="1600200"/>
            <a:ext cx="10972800" cy="4530725"/>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100" name="Rectangle 4"/>
          <p:cNvSpPr>
            <a:spLocks noGrp="1" noChangeArrowheads="1"/>
          </p:cNvSpPr>
          <p:nvPr>
            <p:ph type="dt" sz="half" idx="2"/>
          </p:nvPr>
        </p:nvSpPr>
        <p:spPr bwMode="auto">
          <a:xfrm>
            <a:off x="609600" y="6248400"/>
            <a:ext cx="284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000"/>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2007-9</a:t>
            </a: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101" name="Rectangle 5"/>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000"/>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东北大学东软信息学院计算机系</a:t>
            </a:r>
          </a:p>
        </p:txBody>
      </p:sp>
      <p:sp>
        <p:nvSpPr>
          <p:cNvPr id="4102" name="Rectangle 6"/>
          <p:cNvSpPr>
            <a:spLocks noGrp="1" noChangeArrowheads="1"/>
          </p:cNvSpPr>
          <p:nvPr>
            <p:ph type="sldNum" sz="quarter" idx="4"/>
          </p:nvPr>
        </p:nvSpPr>
        <p:spPr bwMode="auto">
          <a:xfrm>
            <a:off x="8737600" y="6248400"/>
            <a:ext cx="284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000"/>
            </a:lvl1pPr>
          </a:lstStyle>
          <a:p>
            <a:pPr lvl="0" eaLnBrk="1" hangingPunct="1">
              <a:buNone/>
            </a:pPr>
            <a:fld id="{9A0DB2DC-4C9A-4742-B13C-FB6460FD3503}" type="slidenum">
              <a:rPr lang="en-US" altLang="zh-CN" dirty="0">
                <a:latin typeface="Verdana" panose="020B0604030504040204" pitchFamily="34" charset="0"/>
              </a:rPr>
              <a:t>‹#›</a:t>
            </a:fld>
            <a:endParaRPr lang="en-US" altLang="zh-CN" dirty="0">
              <a:latin typeface="Verdana" panose="020B0604030504040204" pitchFamily="34" charset="0"/>
            </a:endParaRPr>
          </a:p>
        </p:txBody>
      </p:sp>
      <p:sp>
        <p:nvSpPr>
          <p:cNvPr id="1031" name="Rectangle 7"/>
          <p:cNvSpPr>
            <a:spLocks noChangeArrowheads="1"/>
          </p:cNvSpPr>
          <p:nvPr/>
        </p:nvSpPr>
        <p:spPr bwMode="auto">
          <a:xfrm>
            <a:off x="0" y="0"/>
            <a:ext cx="304800" cy="228600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a:solidFill>
                  <a:schemeClr val="tx1"/>
                </a:solidFill>
                <a:latin typeface="Verdana" panose="020B0604030504040204" pitchFamily="34" charset="0"/>
                <a:ea typeface="宋体" panose="02010600030101010101" pitchFamily="2" charset="-122"/>
              </a:defRPr>
            </a:lvl1pPr>
            <a:lvl2pPr marL="742950" indent="-285750" eaLnBrk="0" hangingPunct="0">
              <a:defRPr sz="2000">
                <a:solidFill>
                  <a:schemeClr val="tx1"/>
                </a:solidFill>
                <a:latin typeface="Verdana" panose="020B0604030504040204" pitchFamily="34" charset="0"/>
                <a:ea typeface="宋体" panose="02010600030101010101" pitchFamily="2" charset="-122"/>
              </a:defRPr>
            </a:lvl2pPr>
            <a:lvl3pPr marL="1143000" indent="-228600" eaLnBrk="0" hangingPunct="0">
              <a:defRPr sz="2000">
                <a:solidFill>
                  <a:schemeClr val="tx1"/>
                </a:solidFill>
                <a:latin typeface="Verdana" panose="020B0604030504040204" pitchFamily="34" charset="0"/>
                <a:ea typeface="宋体" panose="02010600030101010101" pitchFamily="2" charset="-122"/>
              </a:defRPr>
            </a:lvl3pPr>
            <a:lvl4pPr marL="1600200" indent="-228600" eaLnBrk="0" hangingPunct="0">
              <a:defRPr sz="2000">
                <a:solidFill>
                  <a:schemeClr val="tx1"/>
                </a:solidFill>
                <a:latin typeface="Verdana" panose="020B0604030504040204" pitchFamily="34" charset="0"/>
                <a:ea typeface="宋体" panose="02010600030101010101" pitchFamily="2" charset="-122"/>
              </a:defRPr>
            </a:lvl4pPr>
            <a:lvl5pPr marL="2057400" indent="-228600" eaLnBrk="0" hangingPunct="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3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3" name="Rectangle 9"/>
          <p:cNvSpPr>
            <a:spLocks noChangeArrowheads="1"/>
          </p:cNvSpPr>
          <p:nvPr/>
        </p:nvSpPr>
        <p:spPr bwMode="auto">
          <a:xfrm>
            <a:off x="0" y="2286000"/>
            <a:ext cx="304800" cy="228600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a:solidFill>
                  <a:schemeClr val="tx1"/>
                </a:solidFill>
                <a:latin typeface="Verdana" panose="020B0604030504040204" pitchFamily="34" charset="0"/>
                <a:ea typeface="宋体" panose="02010600030101010101" pitchFamily="2" charset="-122"/>
              </a:defRPr>
            </a:lvl1pPr>
            <a:lvl2pPr marL="742950" indent="-285750" eaLnBrk="0" hangingPunct="0">
              <a:defRPr sz="2000">
                <a:solidFill>
                  <a:schemeClr val="tx1"/>
                </a:solidFill>
                <a:latin typeface="Verdana" panose="020B0604030504040204" pitchFamily="34" charset="0"/>
                <a:ea typeface="宋体" panose="02010600030101010101" pitchFamily="2" charset="-122"/>
              </a:defRPr>
            </a:lvl2pPr>
            <a:lvl3pPr marL="1143000" indent="-228600" eaLnBrk="0" hangingPunct="0">
              <a:defRPr sz="2000">
                <a:solidFill>
                  <a:schemeClr val="tx1"/>
                </a:solidFill>
                <a:latin typeface="Verdana" panose="020B0604030504040204" pitchFamily="34" charset="0"/>
                <a:ea typeface="宋体" panose="02010600030101010101" pitchFamily="2" charset="-122"/>
              </a:defRPr>
            </a:lvl3pPr>
            <a:lvl4pPr marL="1600200" indent="-228600" eaLnBrk="0" hangingPunct="0">
              <a:defRPr sz="2000">
                <a:solidFill>
                  <a:schemeClr val="tx1"/>
                </a:solidFill>
                <a:latin typeface="Verdana" panose="020B0604030504040204" pitchFamily="34" charset="0"/>
                <a:ea typeface="宋体" panose="02010600030101010101" pitchFamily="2" charset="-122"/>
              </a:defRPr>
            </a:lvl4pPr>
            <a:lvl5pPr marL="2057400" indent="-228600" eaLnBrk="0" hangingPunct="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3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4" name="Rectangle 10"/>
          <p:cNvSpPr>
            <a:spLocks noChangeArrowheads="1"/>
          </p:cNvSpPr>
          <p:nvPr/>
        </p:nvSpPr>
        <p:spPr bwMode="auto">
          <a:xfrm>
            <a:off x="0" y="4572000"/>
            <a:ext cx="304800" cy="2286000"/>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a:solidFill>
                  <a:schemeClr val="tx1"/>
                </a:solidFill>
                <a:latin typeface="Verdana" panose="020B0604030504040204" pitchFamily="34" charset="0"/>
                <a:ea typeface="宋体" panose="02010600030101010101" pitchFamily="2" charset="-122"/>
              </a:defRPr>
            </a:lvl1pPr>
            <a:lvl2pPr marL="742950" indent="-285750" eaLnBrk="0" hangingPunct="0">
              <a:defRPr sz="2000">
                <a:solidFill>
                  <a:schemeClr val="tx1"/>
                </a:solidFill>
                <a:latin typeface="Verdana" panose="020B0604030504040204" pitchFamily="34" charset="0"/>
                <a:ea typeface="宋体" panose="02010600030101010101" pitchFamily="2" charset="-122"/>
              </a:defRPr>
            </a:lvl2pPr>
            <a:lvl3pPr marL="1143000" indent="-228600" eaLnBrk="0" hangingPunct="0">
              <a:defRPr sz="2000">
                <a:solidFill>
                  <a:schemeClr val="tx1"/>
                </a:solidFill>
                <a:latin typeface="Verdana" panose="020B0604030504040204" pitchFamily="34" charset="0"/>
                <a:ea typeface="宋体" panose="02010600030101010101" pitchFamily="2" charset="-122"/>
              </a:defRPr>
            </a:lvl3pPr>
            <a:lvl4pPr marL="1600200" indent="-228600" eaLnBrk="0" hangingPunct="0">
              <a:defRPr sz="2000">
                <a:solidFill>
                  <a:schemeClr val="tx1"/>
                </a:solidFill>
                <a:latin typeface="Verdana" panose="020B0604030504040204" pitchFamily="34" charset="0"/>
                <a:ea typeface="宋体" panose="02010600030101010101" pitchFamily="2" charset="-122"/>
              </a:defRPr>
            </a:lvl4pPr>
            <a:lvl5pPr marL="2057400" indent="-228600" eaLnBrk="0" hangingPunct="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3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rtl="0" eaLnBrk="0" fontAlgn="base" hangingPunct="0">
        <a:spcBef>
          <a:spcPct val="0"/>
        </a:spcBef>
        <a:spcAft>
          <a:spcPct val="0"/>
        </a:spcAft>
        <a:defRPr sz="4000" b="1">
          <a:solidFill>
            <a:schemeClr val="tx2"/>
          </a:solidFill>
          <a:latin typeface="+mj-lt"/>
          <a:ea typeface="+mj-ea"/>
          <a:cs typeface="+mj-cs"/>
        </a:defRPr>
      </a:lvl1pPr>
      <a:lvl2pPr algn="ctr" rtl="0" eaLnBrk="0" fontAlgn="base" hangingPunct="0">
        <a:spcBef>
          <a:spcPct val="0"/>
        </a:spcBef>
        <a:spcAft>
          <a:spcPct val="0"/>
        </a:spcAft>
        <a:defRPr sz="4000" b="1">
          <a:solidFill>
            <a:schemeClr val="tx2"/>
          </a:solidFill>
          <a:latin typeface="Garamond" panose="02020404030301010803" pitchFamily="18" charset="0"/>
          <a:ea typeface="宋体" panose="02010600030101010101" pitchFamily="2" charset="-122"/>
        </a:defRPr>
      </a:lvl2pPr>
      <a:lvl3pPr algn="ctr" rtl="0" eaLnBrk="0" fontAlgn="base" hangingPunct="0">
        <a:spcBef>
          <a:spcPct val="0"/>
        </a:spcBef>
        <a:spcAft>
          <a:spcPct val="0"/>
        </a:spcAft>
        <a:defRPr sz="4000" b="1">
          <a:solidFill>
            <a:schemeClr val="tx2"/>
          </a:solidFill>
          <a:latin typeface="Garamond" panose="02020404030301010803" pitchFamily="18" charset="0"/>
          <a:ea typeface="宋体" panose="02010600030101010101" pitchFamily="2" charset="-122"/>
        </a:defRPr>
      </a:lvl3pPr>
      <a:lvl4pPr algn="ctr" rtl="0" eaLnBrk="0" fontAlgn="base" hangingPunct="0">
        <a:spcBef>
          <a:spcPct val="0"/>
        </a:spcBef>
        <a:spcAft>
          <a:spcPct val="0"/>
        </a:spcAft>
        <a:defRPr sz="4000" b="1">
          <a:solidFill>
            <a:schemeClr val="tx2"/>
          </a:solidFill>
          <a:latin typeface="Garamond" panose="02020404030301010803" pitchFamily="18" charset="0"/>
          <a:ea typeface="宋体" panose="02010600030101010101" pitchFamily="2" charset="-122"/>
        </a:defRPr>
      </a:lvl4pPr>
      <a:lvl5pPr algn="ctr" rtl="0" eaLnBrk="0" fontAlgn="base" hangingPunct="0">
        <a:spcBef>
          <a:spcPct val="0"/>
        </a:spcBef>
        <a:spcAft>
          <a:spcPct val="0"/>
        </a:spcAft>
        <a:defRPr sz="4000" b="1">
          <a:solidFill>
            <a:schemeClr val="tx2"/>
          </a:solidFill>
          <a:latin typeface="Garamond" panose="02020404030301010803" pitchFamily="18" charset="0"/>
          <a:ea typeface="宋体" panose="02010600030101010101" pitchFamily="2" charset="-122"/>
        </a:defRPr>
      </a:lvl5pPr>
      <a:lvl6pPr marL="457200" algn="ctr" rtl="0" fontAlgn="base">
        <a:spcBef>
          <a:spcPct val="0"/>
        </a:spcBef>
        <a:spcAft>
          <a:spcPct val="0"/>
        </a:spcAft>
        <a:defRPr sz="4000" b="1">
          <a:solidFill>
            <a:schemeClr val="tx2"/>
          </a:solidFill>
          <a:latin typeface="Garamond" panose="02020404030301010803" pitchFamily="18" charset="0"/>
          <a:ea typeface="宋体" panose="02010600030101010101" pitchFamily="2" charset="-122"/>
        </a:defRPr>
      </a:lvl6pPr>
      <a:lvl7pPr marL="914400" algn="ctr" rtl="0" fontAlgn="base">
        <a:spcBef>
          <a:spcPct val="0"/>
        </a:spcBef>
        <a:spcAft>
          <a:spcPct val="0"/>
        </a:spcAft>
        <a:defRPr sz="4000" b="1">
          <a:solidFill>
            <a:schemeClr val="tx2"/>
          </a:solidFill>
          <a:latin typeface="Garamond" panose="02020404030301010803" pitchFamily="18" charset="0"/>
          <a:ea typeface="宋体" panose="02010600030101010101" pitchFamily="2" charset="-122"/>
        </a:defRPr>
      </a:lvl7pPr>
      <a:lvl8pPr marL="1371600" algn="ctr" rtl="0" fontAlgn="base">
        <a:spcBef>
          <a:spcPct val="0"/>
        </a:spcBef>
        <a:spcAft>
          <a:spcPct val="0"/>
        </a:spcAft>
        <a:defRPr sz="4000" b="1">
          <a:solidFill>
            <a:schemeClr val="tx2"/>
          </a:solidFill>
          <a:latin typeface="Garamond" panose="02020404030301010803" pitchFamily="18" charset="0"/>
          <a:ea typeface="宋体" panose="02010600030101010101" pitchFamily="2" charset="-122"/>
        </a:defRPr>
      </a:lvl8pPr>
      <a:lvl9pPr marL="1828800" algn="ctr" rtl="0" fontAlgn="base">
        <a:spcBef>
          <a:spcPct val="0"/>
        </a:spcBef>
        <a:spcAft>
          <a:spcPct val="0"/>
        </a:spcAft>
        <a:defRPr sz="4000" b="1">
          <a:solidFill>
            <a:schemeClr val="tx2"/>
          </a:solidFill>
          <a:latin typeface="Garamond" panose="02020404030301010803"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Char char="n"/>
        <a:defRPr sz="2800" b="1">
          <a:solidFill>
            <a:schemeClr val="tx1"/>
          </a:solidFill>
          <a:latin typeface="+mn-lt"/>
          <a:ea typeface="华文仿宋" panose="02010600040101010101" pitchFamily="2" charset="-122"/>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p"/>
        <a:defRPr sz="2400">
          <a:solidFill>
            <a:schemeClr val="tx1"/>
          </a:solidFill>
          <a:latin typeface="+mn-lt"/>
          <a:ea typeface="华文隶书" panose="02010800040101010101" pitchFamily="2" charset="-122"/>
        </a:defRPr>
      </a:lvl3pPr>
      <a:lvl4pPr marL="16002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j-ea"/>
        </a:defRPr>
      </a:lvl4pPr>
      <a:lvl5pPr marL="2057400" indent="-228600" algn="l" rtl="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mn-lt"/>
          <a:ea typeface="+mj-ea"/>
        </a:defRPr>
      </a:lvl5pPr>
      <a:lvl6pPr marL="2514600" indent="-228600" algn="l" rtl="0" fontAlgn="base">
        <a:spcBef>
          <a:spcPct val="20000"/>
        </a:spcBef>
        <a:spcAft>
          <a:spcPct val="0"/>
        </a:spcAft>
        <a:buClr>
          <a:schemeClr val="tx2"/>
        </a:buClr>
        <a:buSzPct val="80000"/>
        <a:buFont typeface="Wingdings" panose="05000000000000000000" pitchFamily="2" charset="2"/>
        <a:buChar char="§"/>
        <a:defRPr sz="2000">
          <a:solidFill>
            <a:schemeClr val="tx1"/>
          </a:solidFill>
          <a:latin typeface="+mn-lt"/>
          <a:ea typeface="+mj-ea"/>
        </a:defRPr>
      </a:lvl6pPr>
      <a:lvl7pPr marL="2971800" indent="-228600" algn="l" rtl="0" fontAlgn="base">
        <a:spcBef>
          <a:spcPct val="20000"/>
        </a:spcBef>
        <a:spcAft>
          <a:spcPct val="0"/>
        </a:spcAft>
        <a:buClr>
          <a:schemeClr val="tx2"/>
        </a:buClr>
        <a:buSzPct val="80000"/>
        <a:buFont typeface="Wingdings" panose="05000000000000000000" pitchFamily="2" charset="2"/>
        <a:buChar char="§"/>
        <a:defRPr sz="2000">
          <a:solidFill>
            <a:schemeClr val="tx1"/>
          </a:solidFill>
          <a:latin typeface="+mn-lt"/>
          <a:ea typeface="+mj-ea"/>
        </a:defRPr>
      </a:lvl7pPr>
      <a:lvl8pPr marL="3429000" indent="-228600" algn="l" rtl="0" fontAlgn="base">
        <a:spcBef>
          <a:spcPct val="20000"/>
        </a:spcBef>
        <a:spcAft>
          <a:spcPct val="0"/>
        </a:spcAft>
        <a:buClr>
          <a:schemeClr val="tx2"/>
        </a:buClr>
        <a:buSzPct val="80000"/>
        <a:buFont typeface="Wingdings" panose="05000000000000000000" pitchFamily="2" charset="2"/>
        <a:buChar char="§"/>
        <a:defRPr sz="2000">
          <a:solidFill>
            <a:schemeClr val="tx1"/>
          </a:solidFill>
          <a:latin typeface="+mn-lt"/>
          <a:ea typeface="+mj-ea"/>
        </a:defRPr>
      </a:lvl8pPr>
      <a:lvl9pPr marL="3886200" indent="-228600" algn="l" rtl="0" fontAlgn="base">
        <a:spcBef>
          <a:spcPct val="20000"/>
        </a:spcBef>
        <a:spcAft>
          <a:spcPct val="0"/>
        </a:spcAft>
        <a:buClr>
          <a:schemeClr val="tx2"/>
        </a:buClr>
        <a:buSzPct val="80000"/>
        <a:buFont typeface="Wingdings" panose="05000000000000000000" pitchFamily="2" charset="2"/>
        <a:buChar char="§"/>
        <a:defRPr sz="2000">
          <a:solidFill>
            <a:schemeClr val="tx1"/>
          </a:solidFill>
          <a:latin typeface="+mn-lt"/>
          <a:ea typeface="+mj-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0.emf"/><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2.svg"/></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7" name="Picture 3076">
            <a:extLst>
              <a:ext uri="{FF2B5EF4-FFF2-40B4-BE49-F238E27FC236}">
                <a16:creationId xmlns:a16="http://schemas.microsoft.com/office/drawing/2014/main" id="{DCD701C3-AE4B-4FBB-9A95-D65944C772F3}"/>
              </a:ext>
            </a:extLst>
          </p:cNvPr>
          <p:cNvPicPr>
            <a:picLocks noChangeAspect="1"/>
          </p:cNvPicPr>
          <p:nvPr/>
        </p:nvPicPr>
        <p:blipFill rotWithShape="1">
          <a:blip r:embed="rId2"/>
          <a:srcRect l="177" r="15449" b="-1"/>
          <a:stretch/>
        </p:blipFill>
        <p:spPr>
          <a:xfrm>
            <a:off x="3523488" y="10"/>
            <a:ext cx="8668512" cy="6857990"/>
          </a:xfrm>
          <a:prstGeom prst="rect">
            <a:avLst/>
          </a:prstGeom>
        </p:spPr>
      </p:pic>
      <p:sp>
        <p:nvSpPr>
          <p:cNvPr id="75" name="Rectangle 74">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75" name="Rectangle 2"/>
          <p:cNvSpPr>
            <a:spLocks noGrp="1"/>
          </p:cNvSpPr>
          <p:nvPr>
            <p:ph type="ctrTitle"/>
          </p:nvPr>
        </p:nvSpPr>
        <p:spPr>
          <a:xfrm>
            <a:off x="477981" y="1122363"/>
            <a:ext cx="4023360" cy="3204134"/>
          </a:xfrm>
        </p:spPr>
        <p:txBody>
          <a:bodyPr vert="horz" lIns="121920" tIns="60960" rIns="121920" bIns="60960" anchor="b">
            <a:normAutofit/>
          </a:bodyPr>
          <a:lstStyle/>
          <a:p>
            <a:pPr algn="l" eaLnBrk="1" hangingPunct="1">
              <a:buClrTx/>
              <a:buSzTx/>
              <a:buFontTx/>
            </a:pPr>
            <a:r>
              <a:rPr lang="zh-CN" altLang="zh-CN" dirty="0">
                <a:latin typeface="+mj-lt"/>
                <a:ea typeface="+mj-ea"/>
                <a:cs typeface="+mj-cs"/>
              </a:rPr>
              <a:t>第</a:t>
            </a:r>
            <a:r>
              <a:rPr lang="en-US" altLang="zh-CN" dirty="0">
                <a:latin typeface="+mj-lt"/>
                <a:ea typeface="+mj-ea"/>
                <a:cs typeface="+mj-cs"/>
              </a:rPr>
              <a:t>9</a:t>
            </a:r>
            <a:r>
              <a:rPr lang="zh-CN" altLang="zh-CN" dirty="0">
                <a:latin typeface="+mj-lt"/>
                <a:ea typeface="+mj-ea"/>
                <a:cs typeface="+mj-cs"/>
              </a:rPr>
              <a:t>章 </a:t>
            </a:r>
            <a:r>
              <a:rPr lang="en-US" altLang="zh-CN" dirty="0">
                <a:latin typeface="+mj-lt"/>
                <a:ea typeface="+mj-ea"/>
                <a:cs typeface="+mj-cs"/>
              </a:rPr>
              <a:t> PL/SQL</a:t>
            </a:r>
            <a:r>
              <a:rPr lang="zh-CN" altLang="zh-CN" dirty="0">
                <a:latin typeface="+mj-lt"/>
                <a:ea typeface="+mj-ea"/>
                <a:cs typeface="+mj-cs"/>
              </a:rPr>
              <a:t>语言基础</a:t>
            </a:r>
            <a:endParaRPr lang="zh-CN" altLang="en-US">
              <a:latin typeface="+mj-lt"/>
              <a:ea typeface="+mj-ea"/>
              <a:cs typeface="+mj-cs"/>
            </a:endParaRPr>
          </a:p>
        </p:txBody>
      </p:sp>
      <p:sp>
        <p:nvSpPr>
          <p:cNvPr id="77" name="Rectangle 76">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9" name="Rectangle 78">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74" name="Rectangle 6"/>
          <p:cNvSpPr txBox="1">
            <a:spLocks noGrp="1"/>
          </p:cNvSpPr>
          <p:nvPr>
            <p:ph type="sldNum" sz="quarter" idx="4"/>
          </p:nvPr>
        </p:nvSpPr>
        <p:spPr>
          <a:xfrm>
            <a:off x="8970819" y="6356350"/>
            <a:ext cx="2743200" cy="365125"/>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sz="1200">
                <a:ea typeface="宋体" panose="02010600030101010101" pitchFamily="2" charset="-122"/>
              </a:rPr>
              <a:pPr marL="0" indent="0" eaLnBrk="1" hangingPunct="1">
                <a:spcBef>
                  <a:spcPct val="0"/>
                </a:spcBef>
                <a:spcAft>
                  <a:spcPts val="600"/>
                </a:spcAft>
                <a:buClrTx/>
                <a:buSzTx/>
                <a:buFontTx/>
                <a:buNone/>
              </a:pPr>
              <a:t>1</a:t>
            </a:fld>
            <a:endParaRPr lang="en-US" altLang="zh-CN" sz="1200">
              <a:ea typeface="宋体" panose="02010600030101010101" pitchFamily="2" charset="-122"/>
            </a:endParaRPr>
          </a:p>
        </p:txBody>
      </p:sp>
    </p:spTree>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AFA67CD3-AB4E-4A7A-BEB8-53C445D8C4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77125" y="3726"/>
            <a:ext cx="5614875"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7" name="Picture 76">
            <a:extLst>
              <a:ext uri="{FF2B5EF4-FFF2-40B4-BE49-F238E27FC236}">
                <a16:creationId xmlns:a16="http://schemas.microsoft.com/office/drawing/2014/main" id="{07CF545F-9C2E-4446-97CD-AD92990C2B6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4099" name="Rectangle 2"/>
          <p:cNvSpPr>
            <a:spLocks noGrp="1"/>
          </p:cNvSpPr>
          <p:nvPr>
            <p:ph type="title"/>
          </p:nvPr>
        </p:nvSpPr>
        <p:spPr>
          <a:xfrm>
            <a:off x="801340" y="802955"/>
            <a:ext cx="4977976" cy="1454051"/>
          </a:xfrm>
        </p:spPr>
        <p:txBody>
          <a:bodyPr vert="horz" lIns="121920" tIns="60960" rIns="121920" bIns="60960">
            <a:normAutofit/>
          </a:bodyPr>
          <a:lstStyle/>
          <a:p>
            <a:pPr eaLnBrk="1" hangingPunct="1"/>
            <a:r>
              <a:rPr lang="zh-CN" altLang="en-US">
                <a:solidFill>
                  <a:srgbClr val="000000"/>
                </a:solidFill>
                <a:latin typeface="+mj-lt"/>
                <a:ea typeface="+mj-ea"/>
                <a:cs typeface="+mj-cs"/>
              </a:rPr>
              <a:t>主要内容</a:t>
            </a:r>
          </a:p>
        </p:txBody>
      </p:sp>
      <p:sp>
        <p:nvSpPr>
          <p:cNvPr id="4100" name="Rectangle 3"/>
          <p:cNvSpPr>
            <a:spLocks noGrp="1"/>
          </p:cNvSpPr>
          <p:nvPr>
            <p:ph idx="1"/>
          </p:nvPr>
        </p:nvSpPr>
        <p:spPr>
          <a:xfrm>
            <a:off x="797809" y="2421682"/>
            <a:ext cx="4977578" cy="3639289"/>
          </a:xfrm>
        </p:spPr>
        <p:txBody>
          <a:bodyPr vert="horz" lIns="121920" tIns="60960" rIns="121920" bIns="60960" anchor="ctr">
            <a:normAutofit/>
          </a:bodyPr>
          <a:lstStyle/>
          <a:p>
            <a:pPr eaLnBrk="1" hangingPunct="1">
              <a:buSzPct val="75000"/>
            </a:pPr>
            <a:r>
              <a:rPr lang="en-US" altLang="zh-CN" sz="2000">
                <a:solidFill>
                  <a:srgbClr val="000000"/>
                </a:solidFill>
                <a:latin typeface="+mn-lt"/>
                <a:ea typeface="+mn-ea"/>
                <a:cs typeface="+mn-cs"/>
              </a:rPr>
              <a:t>PL/SQL</a:t>
            </a:r>
            <a:r>
              <a:rPr lang="zh-CN" altLang="en-US" sz="2000">
                <a:solidFill>
                  <a:srgbClr val="000000"/>
                </a:solidFill>
                <a:latin typeface="+mn-lt"/>
                <a:ea typeface="+mn-ea"/>
                <a:cs typeface="+mn-cs"/>
              </a:rPr>
              <a:t>语言简介</a:t>
            </a:r>
          </a:p>
          <a:p>
            <a:pPr eaLnBrk="1" hangingPunct="1">
              <a:buSzPct val="75000"/>
            </a:pPr>
            <a:r>
              <a:rPr lang="en-US" altLang="zh-CN" sz="2000">
                <a:solidFill>
                  <a:srgbClr val="000000"/>
                </a:solidFill>
                <a:latin typeface="+mn-lt"/>
                <a:ea typeface="+mn-ea"/>
                <a:cs typeface="+mn-cs"/>
              </a:rPr>
              <a:t>PL/SQL</a:t>
            </a:r>
            <a:r>
              <a:rPr lang="zh-CN" altLang="en-US" sz="2000">
                <a:solidFill>
                  <a:srgbClr val="000000"/>
                </a:solidFill>
                <a:latin typeface="+mn-lt"/>
                <a:ea typeface="+mn-ea"/>
                <a:cs typeface="+mn-cs"/>
              </a:rPr>
              <a:t>程序结构</a:t>
            </a:r>
          </a:p>
          <a:p>
            <a:pPr eaLnBrk="1" hangingPunct="1">
              <a:buSzPct val="75000"/>
            </a:pPr>
            <a:r>
              <a:rPr lang="zh-CN" altLang="en-US" sz="2000">
                <a:solidFill>
                  <a:srgbClr val="000000"/>
                </a:solidFill>
                <a:latin typeface="+mn-lt"/>
                <a:ea typeface="+mn-ea"/>
                <a:cs typeface="+mn-cs"/>
              </a:rPr>
              <a:t>词法单元</a:t>
            </a:r>
            <a:endParaRPr lang="en-US" altLang="zh-CN" sz="2000">
              <a:solidFill>
                <a:srgbClr val="000000"/>
              </a:solidFill>
              <a:latin typeface="+mn-lt"/>
              <a:ea typeface="+mn-ea"/>
              <a:cs typeface="+mn-cs"/>
            </a:endParaRPr>
          </a:p>
          <a:p>
            <a:pPr eaLnBrk="1" hangingPunct="1">
              <a:buSzPct val="75000"/>
            </a:pPr>
            <a:r>
              <a:rPr lang="zh-CN" altLang="en-US" sz="2000">
                <a:solidFill>
                  <a:srgbClr val="000000"/>
                </a:solidFill>
                <a:latin typeface="+mn-lt"/>
                <a:ea typeface="+mn-ea"/>
                <a:cs typeface="+mn-cs"/>
              </a:rPr>
              <a:t>数据类型、常量与变量</a:t>
            </a:r>
            <a:endParaRPr lang="en-US" altLang="zh-CN" sz="2000">
              <a:solidFill>
                <a:srgbClr val="000000"/>
              </a:solidFill>
              <a:latin typeface="+mn-lt"/>
              <a:ea typeface="+mn-ea"/>
              <a:cs typeface="+mn-cs"/>
            </a:endParaRPr>
          </a:p>
          <a:p>
            <a:pPr eaLnBrk="1" hangingPunct="1">
              <a:buSzPct val="75000"/>
            </a:pPr>
            <a:r>
              <a:rPr lang="zh-CN" altLang="en-US" sz="2000">
                <a:solidFill>
                  <a:srgbClr val="000000"/>
                </a:solidFill>
                <a:latin typeface="+mn-lt"/>
                <a:ea typeface="+mn-ea"/>
                <a:cs typeface="+mn-cs"/>
              </a:rPr>
              <a:t>控制结构</a:t>
            </a:r>
            <a:endParaRPr lang="en-US" altLang="zh-CN" sz="2000">
              <a:solidFill>
                <a:srgbClr val="000000"/>
              </a:solidFill>
              <a:latin typeface="+mn-lt"/>
              <a:ea typeface="+mn-ea"/>
              <a:cs typeface="+mn-cs"/>
            </a:endParaRPr>
          </a:p>
          <a:p>
            <a:pPr eaLnBrk="1" hangingPunct="1">
              <a:buSzPct val="75000"/>
            </a:pPr>
            <a:r>
              <a:rPr lang="zh-CN" altLang="en-US" sz="2000">
                <a:solidFill>
                  <a:srgbClr val="000000"/>
                </a:solidFill>
                <a:latin typeface="+mn-lt"/>
                <a:ea typeface="+mn-ea"/>
                <a:cs typeface="+mn-cs"/>
              </a:rPr>
              <a:t>游标</a:t>
            </a:r>
            <a:endParaRPr lang="en-US" altLang="zh-CN" sz="2000">
              <a:solidFill>
                <a:srgbClr val="000000"/>
              </a:solidFill>
              <a:latin typeface="+mn-lt"/>
              <a:ea typeface="+mn-ea"/>
              <a:cs typeface="+mn-cs"/>
            </a:endParaRPr>
          </a:p>
          <a:p>
            <a:pPr eaLnBrk="1" hangingPunct="1">
              <a:buSzPct val="75000"/>
            </a:pPr>
            <a:r>
              <a:rPr lang="zh-CN" altLang="en-US" sz="2000">
                <a:solidFill>
                  <a:srgbClr val="000000"/>
                </a:solidFill>
                <a:latin typeface="+mn-lt"/>
                <a:ea typeface="+mn-ea"/>
                <a:cs typeface="+mn-cs"/>
              </a:rPr>
              <a:t>异常处理</a:t>
            </a:r>
          </a:p>
          <a:p>
            <a:pPr eaLnBrk="1" hangingPunct="1">
              <a:buSzPct val="75000"/>
            </a:pPr>
            <a:endParaRPr lang="en-US" altLang="zh-CN" sz="2000">
              <a:solidFill>
                <a:srgbClr val="000000"/>
              </a:solidFill>
              <a:latin typeface="+mn-lt"/>
              <a:ea typeface="+mn-ea"/>
              <a:cs typeface="+mn-cs"/>
            </a:endParaRPr>
          </a:p>
        </p:txBody>
      </p:sp>
      <p:sp>
        <p:nvSpPr>
          <p:cNvPr id="79" name="Freeform 62">
            <a:extLst>
              <a:ext uri="{FF2B5EF4-FFF2-40B4-BE49-F238E27FC236}">
                <a16:creationId xmlns:a16="http://schemas.microsoft.com/office/drawing/2014/main" id="{339C8D78-A644-462F-B674-F440635E53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191562" y="738619"/>
            <a:ext cx="5000438" cy="5400962"/>
          </a:xfrm>
          <a:custGeom>
            <a:avLst/>
            <a:gdLst>
              <a:gd name="connsiteX0" fmla="*/ 2299956 w 5000438"/>
              <a:gd name="connsiteY0" fmla="*/ 0 h 5400962"/>
              <a:gd name="connsiteX1" fmla="*/ 5000438 w 5000438"/>
              <a:gd name="connsiteY1" fmla="*/ 2700481 h 5400962"/>
              <a:gd name="connsiteX2" fmla="*/ 2299956 w 5000438"/>
              <a:gd name="connsiteY2" fmla="*/ 5400962 h 5400962"/>
              <a:gd name="connsiteX3" fmla="*/ 60675 w 5000438"/>
              <a:gd name="connsiteY3" fmla="*/ 4210346 h 5400962"/>
              <a:gd name="connsiteX4" fmla="*/ 0 w 5000438"/>
              <a:gd name="connsiteY4" fmla="*/ 4110472 h 5400962"/>
              <a:gd name="connsiteX5" fmla="*/ 0 w 5000438"/>
              <a:gd name="connsiteY5" fmla="*/ 1290491 h 5400962"/>
              <a:gd name="connsiteX6" fmla="*/ 60675 w 5000438"/>
              <a:gd name="connsiteY6" fmla="*/ 1190617 h 5400962"/>
              <a:gd name="connsiteX7" fmla="*/ 2299956 w 5000438"/>
              <a:gd name="connsiteY7" fmla="*/ 0 h 540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0438" h="5400962">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85000"/>
                  </a:schemeClr>
                </a:gs>
                <a:gs pos="100000">
                  <a:schemeClr val="bg2">
                    <a:lumMod val="8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2" name="Graphic 71" descr="数据库">
            <a:extLst>
              <a:ext uri="{FF2B5EF4-FFF2-40B4-BE49-F238E27FC236}">
                <a16:creationId xmlns:a16="http://schemas.microsoft.com/office/drawing/2014/main" id="{8F1B0F27-992A-4F9A-929D-496D29B690F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121726" y="1629089"/>
            <a:ext cx="3620021" cy="3620021"/>
          </a:xfrm>
          <a:prstGeom prst="rect">
            <a:avLst/>
          </a:prstGeom>
        </p:spPr>
      </p:pic>
      <p:sp>
        <p:nvSpPr>
          <p:cNvPr id="4098"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sz="1100">
                <a:solidFill>
                  <a:srgbClr val="898989"/>
                </a:solidFill>
                <a:ea typeface="宋体" panose="02010600030101010101" pitchFamily="2" charset="-122"/>
              </a:rPr>
              <a:pPr marL="0" indent="0" eaLnBrk="1" hangingPunct="1">
                <a:spcBef>
                  <a:spcPct val="0"/>
                </a:spcBef>
                <a:spcAft>
                  <a:spcPts val="600"/>
                </a:spcAft>
                <a:buClrTx/>
                <a:buSzTx/>
                <a:buFontTx/>
                <a:buNone/>
              </a:pPr>
              <a:t>2</a:t>
            </a:fld>
            <a:endParaRPr lang="en-US" altLang="zh-CN" sz="1100">
              <a:solidFill>
                <a:srgbClr val="898989"/>
              </a:solidFill>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7" name="Rectangle 136">
            <a:extLst>
              <a:ext uri="{FF2B5EF4-FFF2-40B4-BE49-F238E27FC236}">
                <a16:creationId xmlns:a16="http://schemas.microsoft.com/office/drawing/2014/main" id="{76EFD3D9-44F0-4267-BCC1-1613E79D82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Freeform 6">
            <a:extLst>
              <a:ext uri="{FF2B5EF4-FFF2-40B4-BE49-F238E27FC236}">
                <a16:creationId xmlns:a16="http://schemas.microsoft.com/office/drawing/2014/main" id="{A779A851-95D6-41AF-937A-B0E4B7F6FA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2164" y="900814"/>
            <a:ext cx="759618"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1" name="Freeform 7">
            <a:extLst>
              <a:ext uri="{FF2B5EF4-FFF2-40B4-BE49-F238E27FC236}">
                <a16:creationId xmlns:a16="http://schemas.microsoft.com/office/drawing/2014/main" id="{953FB2E7-B6CB-429C-81EB-D9516D6D5C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4437" y="633165"/>
            <a:ext cx="482654"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3" name="Freeform: Shape 142">
            <a:extLst>
              <a:ext uri="{FF2B5EF4-FFF2-40B4-BE49-F238E27FC236}">
                <a16:creationId xmlns:a16="http://schemas.microsoft.com/office/drawing/2014/main" id="{2EC40DB1-B719-4A13-9A4D-0966B4B278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4621" y="636723"/>
            <a:ext cx="4000062" cy="5257799"/>
          </a:xfrm>
          <a:custGeom>
            <a:avLst/>
            <a:gdLst>
              <a:gd name="connsiteX0" fmla="*/ 0 w 4634682"/>
              <a:gd name="connsiteY0" fmla="*/ 0 h 5257799"/>
              <a:gd name="connsiteX1" fmla="*/ 4634682 w 4634682"/>
              <a:gd name="connsiteY1" fmla="*/ 0 h 5257799"/>
              <a:gd name="connsiteX2" fmla="*/ 4634682 w 4634682"/>
              <a:gd name="connsiteY2" fmla="*/ 5257799 h 5257799"/>
              <a:gd name="connsiteX3" fmla="*/ 0 w 4634682"/>
              <a:gd name="connsiteY3" fmla="*/ 5257799 h 5257799"/>
            </a:gdLst>
            <a:ahLst/>
            <a:cxnLst>
              <a:cxn ang="0">
                <a:pos x="connsiteX0" y="connsiteY0"/>
              </a:cxn>
              <a:cxn ang="0">
                <a:pos x="connsiteX1" y="connsiteY1"/>
              </a:cxn>
              <a:cxn ang="0">
                <a:pos x="connsiteX2" y="connsiteY2"/>
              </a:cxn>
              <a:cxn ang="0">
                <a:pos x="connsiteX3" y="connsiteY3"/>
              </a:cxn>
            </a:cxnLst>
            <a:rect l="l" t="t" r="r" b="b"/>
            <a:pathLst>
              <a:path w="4634682" h="5257799">
                <a:moveTo>
                  <a:pt x="0" y="0"/>
                </a:moveTo>
                <a:lnTo>
                  <a:pt x="4634682" y="0"/>
                </a:lnTo>
                <a:lnTo>
                  <a:pt x="4634682" y="5257799"/>
                </a:lnTo>
                <a:lnTo>
                  <a:pt x="0" y="5257799"/>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23" name="Rectangle 2"/>
          <p:cNvSpPr>
            <a:spLocks noGrp="1"/>
          </p:cNvSpPr>
          <p:nvPr>
            <p:ph type="title"/>
          </p:nvPr>
        </p:nvSpPr>
        <p:spPr>
          <a:xfrm>
            <a:off x="934872" y="982272"/>
            <a:ext cx="3388419" cy="4560970"/>
          </a:xfrm>
        </p:spPr>
        <p:txBody>
          <a:bodyPr vert="horz" lIns="121920" tIns="60960" rIns="121920" bIns="60960">
            <a:normAutofit/>
          </a:bodyPr>
          <a:lstStyle/>
          <a:p>
            <a:pPr eaLnBrk="1" hangingPunct="1"/>
            <a:r>
              <a:rPr lang="en-US" altLang="zh-CN">
                <a:solidFill>
                  <a:srgbClr val="FFFFFF"/>
                </a:solidFill>
                <a:latin typeface="+mj-lt"/>
                <a:ea typeface="+mj-ea"/>
                <a:cs typeface="+mj-cs"/>
              </a:rPr>
              <a:t>9.1  PL/SQL</a:t>
            </a:r>
            <a:r>
              <a:rPr lang="zh-CN" altLang="zh-CN">
                <a:solidFill>
                  <a:srgbClr val="FFFFFF"/>
                </a:solidFill>
                <a:latin typeface="+mj-lt"/>
                <a:ea typeface="+mj-ea"/>
                <a:cs typeface="+mj-cs"/>
              </a:rPr>
              <a:t>语言简介</a:t>
            </a:r>
          </a:p>
        </p:txBody>
      </p:sp>
      <p:sp>
        <p:nvSpPr>
          <p:cNvPr id="145" name="Rectangle 8">
            <a:extLst>
              <a:ext uri="{FF2B5EF4-FFF2-40B4-BE49-F238E27FC236}">
                <a16:creationId xmlns:a16="http://schemas.microsoft.com/office/drawing/2014/main" id="{82211336-CFF3-412D-868A-6679C1004C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01782" y="1352302"/>
            <a:ext cx="6655597"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5124" name="Rectangle 3"/>
          <p:cNvSpPr>
            <a:spLocks noGrp="1"/>
          </p:cNvSpPr>
          <p:nvPr>
            <p:ph idx="1"/>
          </p:nvPr>
        </p:nvSpPr>
        <p:spPr>
          <a:xfrm>
            <a:off x="5221862" y="1719618"/>
            <a:ext cx="5948831" cy="4334629"/>
          </a:xfrm>
        </p:spPr>
        <p:txBody>
          <a:bodyPr vert="horz" lIns="121920" tIns="60960" rIns="121920" bIns="60960" anchor="ctr">
            <a:normAutofit/>
          </a:bodyPr>
          <a:lstStyle/>
          <a:p>
            <a:pPr eaLnBrk="1" hangingPunct="1">
              <a:lnSpc>
                <a:spcPct val="90000"/>
              </a:lnSpc>
              <a:buSzPct val="75000"/>
            </a:pPr>
            <a:r>
              <a:rPr lang="zh-CN" altLang="en-US" sz="2200">
                <a:solidFill>
                  <a:srgbClr val="FEFFFF"/>
                </a:solidFill>
                <a:latin typeface="+mn-lt"/>
                <a:ea typeface="+mn-ea"/>
                <a:cs typeface="+mn-cs"/>
              </a:rPr>
              <a:t>与</a:t>
            </a:r>
            <a:r>
              <a:rPr lang="en-US" altLang="zh-CN" sz="2200">
                <a:solidFill>
                  <a:srgbClr val="FEFFFF"/>
                </a:solidFill>
                <a:latin typeface="+mn-lt"/>
                <a:ea typeface="+mn-ea"/>
                <a:cs typeface="+mn-cs"/>
              </a:rPr>
              <a:t>SQL</a:t>
            </a:r>
            <a:r>
              <a:rPr lang="zh-CN" altLang="en-US" sz="2200">
                <a:solidFill>
                  <a:srgbClr val="FEFFFF"/>
                </a:solidFill>
                <a:latin typeface="+mn-lt"/>
                <a:ea typeface="+mn-ea"/>
                <a:cs typeface="+mn-cs"/>
              </a:rPr>
              <a:t>语言紧密集成。</a:t>
            </a:r>
          </a:p>
          <a:p>
            <a:pPr eaLnBrk="1" hangingPunct="1">
              <a:lnSpc>
                <a:spcPct val="90000"/>
              </a:lnSpc>
              <a:buSzPct val="75000"/>
            </a:pPr>
            <a:r>
              <a:rPr lang="zh-CN" altLang="en-US" sz="2200">
                <a:solidFill>
                  <a:srgbClr val="FEFFFF"/>
                </a:solidFill>
                <a:latin typeface="+mn-lt"/>
                <a:ea typeface="+mn-ea"/>
                <a:cs typeface="+mn-cs"/>
              </a:rPr>
              <a:t>减小网络流量，提高应用程序的运行性能。</a:t>
            </a:r>
          </a:p>
          <a:p>
            <a:pPr eaLnBrk="1" hangingPunct="1">
              <a:lnSpc>
                <a:spcPct val="90000"/>
              </a:lnSpc>
              <a:buSzPct val="75000"/>
            </a:pPr>
            <a:endParaRPr lang="zh-CN" altLang="en-US" sz="2200">
              <a:solidFill>
                <a:srgbClr val="FEFFFF"/>
              </a:solidFill>
              <a:latin typeface="+mn-lt"/>
              <a:ea typeface="+mn-ea"/>
              <a:cs typeface="+mn-cs"/>
            </a:endParaRPr>
          </a:p>
          <a:p>
            <a:pPr eaLnBrk="1" hangingPunct="1">
              <a:lnSpc>
                <a:spcPct val="90000"/>
              </a:lnSpc>
              <a:buSzPct val="75000"/>
            </a:pPr>
            <a:endParaRPr lang="zh-CN" altLang="en-US" sz="2200">
              <a:solidFill>
                <a:srgbClr val="FEFFFF"/>
              </a:solidFill>
              <a:latin typeface="+mn-lt"/>
              <a:ea typeface="+mn-ea"/>
              <a:cs typeface="+mn-cs"/>
            </a:endParaRPr>
          </a:p>
          <a:p>
            <a:pPr eaLnBrk="1" hangingPunct="1">
              <a:lnSpc>
                <a:spcPct val="90000"/>
              </a:lnSpc>
              <a:buSzPct val="75000"/>
            </a:pPr>
            <a:endParaRPr lang="zh-CN" altLang="en-US" sz="2200">
              <a:solidFill>
                <a:srgbClr val="FEFFFF"/>
              </a:solidFill>
              <a:latin typeface="+mn-lt"/>
              <a:ea typeface="+mn-ea"/>
              <a:cs typeface="+mn-cs"/>
            </a:endParaRPr>
          </a:p>
          <a:p>
            <a:pPr eaLnBrk="1" hangingPunct="1">
              <a:lnSpc>
                <a:spcPct val="90000"/>
              </a:lnSpc>
              <a:buSzPct val="75000"/>
            </a:pPr>
            <a:endParaRPr lang="zh-CN" altLang="en-US" sz="2200">
              <a:solidFill>
                <a:srgbClr val="FEFFFF"/>
              </a:solidFill>
              <a:latin typeface="+mn-lt"/>
              <a:ea typeface="+mn-ea"/>
              <a:cs typeface="+mn-cs"/>
            </a:endParaRPr>
          </a:p>
          <a:p>
            <a:pPr eaLnBrk="1" hangingPunct="1">
              <a:lnSpc>
                <a:spcPct val="90000"/>
              </a:lnSpc>
              <a:buSzPct val="75000"/>
            </a:pPr>
            <a:endParaRPr lang="zh-CN" altLang="en-US" sz="2200">
              <a:solidFill>
                <a:srgbClr val="FEFFFF"/>
              </a:solidFill>
              <a:latin typeface="+mn-lt"/>
              <a:ea typeface="+mn-ea"/>
              <a:cs typeface="+mn-cs"/>
            </a:endParaRPr>
          </a:p>
          <a:p>
            <a:pPr eaLnBrk="1" hangingPunct="1">
              <a:lnSpc>
                <a:spcPct val="90000"/>
              </a:lnSpc>
              <a:buSzPct val="75000"/>
            </a:pPr>
            <a:endParaRPr lang="zh-CN" altLang="en-US" sz="2200">
              <a:solidFill>
                <a:srgbClr val="FEFFFF"/>
              </a:solidFill>
              <a:latin typeface="+mn-lt"/>
              <a:ea typeface="+mn-ea"/>
              <a:cs typeface="+mn-cs"/>
            </a:endParaRPr>
          </a:p>
          <a:p>
            <a:pPr eaLnBrk="1" hangingPunct="1">
              <a:lnSpc>
                <a:spcPct val="90000"/>
              </a:lnSpc>
              <a:buSzPct val="75000"/>
            </a:pPr>
            <a:r>
              <a:rPr lang="zh-CN" altLang="en-US" sz="2200">
                <a:solidFill>
                  <a:srgbClr val="FEFFFF"/>
                </a:solidFill>
                <a:latin typeface="+mn-lt"/>
                <a:ea typeface="+mn-ea"/>
                <a:cs typeface="+mn-cs"/>
              </a:rPr>
              <a:t>模块化的程序设计功能，提高了系统可靠性。</a:t>
            </a:r>
          </a:p>
          <a:p>
            <a:pPr eaLnBrk="1" hangingPunct="1">
              <a:lnSpc>
                <a:spcPct val="90000"/>
              </a:lnSpc>
              <a:buSzPct val="75000"/>
            </a:pPr>
            <a:r>
              <a:rPr lang="zh-CN" altLang="en-US" sz="2200">
                <a:solidFill>
                  <a:srgbClr val="FEFFFF"/>
                </a:solidFill>
                <a:latin typeface="+mn-lt"/>
                <a:ea typeface="+mn-ea"/>
                <a:cs typeface="+mn-cs"/>
              </a:rPr>
              <a:t>服务器端程序设计，可移植性好。</a:t>
            </a:r>
          </a:p>
        </p:txBody>
      </p:sp>
      <p:sp>
        <p:nvSpPr>
          <p:cNvPr id="5122" name="灯片编号占位符 5"/>
          <p:cNvSpPr txBox="1">
            <a:spLocks noGrp="1"/>
          </p:cNvSpPr>
          <p:nvPr>
            <p:ph type="sldNum" sz="quarter" idx="12"/>
          </p:nvPr>
        </p:nvSpPr>
        <p:spPr>
          <a:xfrm>
            <a:off x="10707624" y="6175188"/>
            <a:ext cx="685800" cy="320040"/>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FFFFFF"/>
                </a:solidFill>
                <a:ea typeface="宋体" panose="02010600030101010101" pitchFamily="2" charset="-122"/>
              </a:rPr>
              <a:pPr marL="0" indent="0" eaLnBrk="1" hangingPunct="1">
                <a:spcBef>
                  <a:spcPct val="0"/>
                </a:spcBef>
                <a:spcAft>
                  <a:spcPts val="600"/>
                </a:spcAft>
                <a:buClrTx/>
                <a:buSzTx/>
                <a:buFontTx/>
                <a:buNone/>
              </a:pPr>
              <a:t>3</a:t>
            </a:fld>
            <a:endParaRPr lang="en-US" altLang="zh-CN">
              <a:solidFill>
                <a:srgbClr val="FFFFFF"/>
              </a:solidFill>
              <a:ea typeface="宋体" panose="02010600030101010101" pitchFamily="2" charset="-122"/>
            </a:endParaRPr>
          </a:p>
        </p:txBody>
      </p:sp>
      <p:pic>
        <p:nvPicPr>
          <p:cNvPr id="3" name="图片 2">
            <a:extLst>
              <a:ext uri="{FF2B5EF4-FFF2-40B4-BE49-F238E27FC236}">
                <a16:creationId xmlns:a16="http://schemas.microsoft.com/office/drawing/2014/main" id="{F681384F-82BE-4B8F-84EB-4A86E64BA60A}"/>
              </a:ext>
            </a:extLst>
          </p:cNvPr>
          <p:cNvPicPr>
            <a:picLocks noChangeAspect="1"/>
          </p:cNvPicPr>
          <p:nvPr/>
        </p:nvPicPr>
        <p:blipFill>
          <a:blip r:embed="rId3"/>
          <a:stretch>
            <a:fillRect/>
          </a:stretch>
        </p:blipFill>
        <p:spPr>
          <a:xfrm>
            <a:off x="6153628" y="2762562"/>
            <a:ext cx="4249280" cy="198746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76EFD3D9-44F0-4267-BCC1-1613E79D82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Freeform 6">
            <a:extLst>
              <a:ext uri="{FF2B5EF4-FFF2-40B4-BE49-F238E27FC236}">
                <a16:creationId xmlns:a16="http://schemas.microsoft.com/office/drawing/2014/main" id="{A779A851-95D6-41AF-937A-B0E4B7F6FA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2164" y="900814"/>
            <a:ext cx="759618"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7">
            <a:extLst>
              <a:ext uri="{FF2B5EF4-FFF2-40B4-BE49-F238E27FC236}">
                <a16:creationId xmlns:a16="http://schemas.microsoft.com/office/drawing/2014/main" id="{953FB2E7-B6CB-429C-81EB-D9516D6D5C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4437" y="633165"/>
            <a:ext cx="482654"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Shape 78">
            <a:extLst>
              <a:ext uri="{FF2B5EF4-FFF2-40B4-BE49-F238E27FC236}">
                <a16:creationId xmlns:a16="http://schemas.microsoft.com/office/drawing/2014/main" id="{2EC40DB1-B719-4A13-9A4D-0966B4B278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4621" y="636723"/>
            <a:ext cx="4000062" cy="5257799"/>
          </a:xfrm>
          <a:custGeom>
            <a:avLst/>
            <a:gdLst>
              <a:gd name="connsiteX0" fmla="*/ 0 w 4634682"/>
              <a:gd name="connsiteY0" fmla="*/ 0 h 5257799"/>
              <a:gd name="connsiteX1" fmla="*/ 4634682 w 4634682"/>
              <a:gd name="connsiteY1" fmla="*/ 0 h 5257799"/>
              <a:gd name="connsiteX2" fmla="*/ 4634682 w 4634682"/>
              <a:gd name="connsiteY2" fmla="*/ 5257799 h 5257799"/>
              <a:gd name="connsiteX3" fmla="*/ 0 w 4634682"/>
              <a:gd name="connsiteY3" fmla="*/ 5257799 h 5257799"/>
            </a:gdLst>
            <a:ahLst/>
            <a:cxnLst>
              <a:cxn ang="0">
                <a:pos x="connsiteX0" y="connsiteY0"/>
              </a:cxn>
              <a:cxn ang="0">
                <a:pos x="connsiteX1" y="connsiteY1"/>
              </a:cxn>
              <a:cxn ang="0">
                <a:pos x="connsiteX2" y="connsiteY2"/>
              </a:cxn>
              <a:cxn ang="0">
                <a:pos x="connsiteX3" y="connsiteY3"/>
              </a:cxn>
            </a:cxnLst>
            <a:rect l="l" t="t" r="r" b="b"/>
            <a:pathLst>
              <a:path w="4634682" h="5257799">
                <a:moveTo>
                  <a:pt x="0" y="0"/>
                </a:moveTo>
                <a:lnTo>
                  <a:pt x="4634682" y="0"/>
                </a:lnTo>
                <a:lnTo>
                  <a:pt x="4634682" y="5257799"/>
                </a:lnTo>
                <a:lnTo>
                  <a:pt x="0" y="5257799"/>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147" name="Rectangle 2"/>
          <p:cNvSpPr>
            <a:spLocks noGrp="1"/>
          </p:cNvSpPr>
          <p:nvPr>
            <p:ph type="title"/>
          </p:nvPr>
        </p:nvSpPr>
        <p:spPr>
          <a:xfrm>
            <a:off x="934872" y="982272"/>
            <a:ext cx="3388419" cy="4560970"/>
          </a:xfrm>
        </p:spPr>
        <p:txBody>
          <a:bodyPr vert="horz" lIns="121920" tIns="60960" rIns="121920" bIns="60960">
            <a:normAutofit/>
          </a:bodyPr>
          <a:lstStyle/>
          <a:p>
            <a:pPr eaLnBrk="1" hangingPunct="1"/>
            <a:r>
              <a:rPr lang="en-US" altLang="zh-CN">
                <a:solidFill>
                  <a:srgbClr val="FFFFFF"/>
                </a:solidFill>
                <a:latin typeface="+mj-lt"/>
                <a:ea typeface="+mj-ea"/>
                <a:cs typeface="+mj-cs"/>
              </a:rPr>
              <a:t>9.2  PL/SQL</a:t>
            </a:r>
            <a:r>
              <a:rPr lang="zh-CN" altLang="zh-CN">
                <a:solidFill>
                  <a:srgbClr val="FFFFFF"/>
                </a:solidFill>
                <a:latin typeface="+mj-lt"/>
                <a:ea typeface="+mj-ea"/>
                <a:cs typeface="+mj-cs"/>
              </a:rPr>
              <a:t>程序结构</a:t>
            </a:r>
          </a:p>
        </p:txBody>
      </p:sp>
      <p:sp>
        <p:nvSpPr>
          <p:cNvPr id="81" name="Rectangle 8">
            <a:extLst>
              <a:ext uri="{FF2B5EF4-FFF2-40B4-BE49-F238E27FC236}">
                <a16:creationId xmlns:a16="http://schemas.microsoft.com/office/drawing/2014/main" id="{82211336-CFF3-412D-868A-6679C1004C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01782" y="1352302"/>
            <a:ext cx="6655597"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6148" name="Rectangle 3"/>
          <p:cNvSpPr>
            <a:spLocks noGrp="1"/>
          </p:cNvSpPr>
          <p:nvPr>
            <p:ph idx="1"/>
          </p:nvPr>
        </p:nvSpPr>
        <p:spPr>
          <a:xfrm>
            <a:off x="5221862" y="1719618"/>
            <a:ext cx="5948831" cy="4334629"/>
          </a:xfrm>
        </p:spPr>
        <p:txBody>
          <a:bodyPr vert="horz" lIns="121920" tIns="60960" rIns="121920" bIns="60960" anchor="ctr">
            <a:normAutofit/>
          </a:bodyPr>
          <a:lstStyle/>
          <a:p>
            <a:pPr eaLnBrk="1" hangingPunct="1">
              <a:buSzPct val="75000"/>
            </a:pPr>
            <a:r>
              <a:rPr lang="en-US" altLang="zh-CN" sz="2400">
                <a:solidFill>
                  <a:srgbClr val="FEFFFF"/>
                </a:solidFill>
                <a:latin typeface="+mn-lt"/>
                <a:ea typeface="+mn-ea"/>
                <a:cs typeface="+mn-cs"/>
              </a:rPr>
              <a:t>PL/SQL</a:t>
            </a:r>
            <a:r>
              <a:rPr lang="zh-CN" altLang="en-US" sz="2400">
                <a:solidFill>
                  <a:srgbClr val="FEFFFF"/>
                </a:solidFill>
                <a:latin typeface="+mn-lt"/>
                <a:ea typeface="+mn-ea"/>
                <a:cs typeface="+mn-cs"/>
              </a:rPr>
              <a:t>块的组成</a:t>
            </a:r>
          </a:p>
          <a:p>
            <a:pPr eaLnBrk="1" hangingPunct="1">
              <a:buSzPct val="75000"/>
            </a:pPr>
            <a:r>
              <a:rPr lang="en-US" altLang="zh-CN" sz="2400">
                <a:solidFill>
                  <a:srgbClr val="FEFFFF"/>
                </a:solidFill>
                <a:latin typeface="+mn-lt"/>
                <a:ea typeface="+mn-ea"/>
                <a:cs typeface="+mn-cs"/>
              </a:rPr>
              <a:t>PL/SQL</a:t>
            </a:r>
            <a:r>
              <a:rPr lang="zh-CN" altLang="en-US" sz="2400">
                <a:solidFill>
                  <a:srgbClr val="FEFFFF"/>
                </a:solidFill>
                <a:latin typeface="+mn-lt"/>
                <a:ea typeface="+mn-ea"/>
                <a:cs typeface="+mn-cs"/>
              </a:rPr>
              <a:t>块分类 </a:t>
            </a:r>
          </a:p>
          <a:p>
            <a:pPr eaLnBrk="1" hangingPunct="1">
              <a:buSzPct val="75000"/>
            </a:pPr>
            <a:endParaRPr lang="en-US" altLang="zh-CN" sz="2400">
              <a:solidFill>
                <a:srgbClr val="FEFFFF"/>
              </a:solidFill>
              <a:latin typeface="+mn-lt"/>
              <a:ea typeface="+mn-ea"/>
              <a:cs typeface="+mn-cs"/>
            </a:endParaRPr>
          </a:p>
        </p:txBody>
      </p:sp>
      <p:sp>
        <p:nvSpPr>
          <p:cNvPr id="6146" name="灯片编号占位符 5"/>
          <p:cNvSpPr txBox="1">
            <a:spLocks noGrp="1"/>
          </p:cNvSpPr>
          <p:nvPr>
            <p:ph type="sldNum" sz="quarter" idx="12"/>
          </p:nvPr>
        </p:nvSpPr>
        <p:spPr>
          <a:xfrm>
            <a:off x="10707624" y="6175188"/>
            <a:ext cx="685800" cy="320040"/>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FFFFFF"/>
                </a:solidFill>
                <a:ea typeface="宋体" panose="02010600030101010101" pitchFamily="2" charset="-122"/>
              </a:rPr>
              <a:pPr marL="0" indent="0" eaLnBrk="1" hangingPunct="1">
                <a:spcBef>
                  <a:spcPct val="0"/>
                </a:spcBef>
                <a:spcAft>
                  <a:spcPts val="600"/>
                </a:spcAft>
                <a:buClrTx/>
                <a:buSzTx/>
                <a:buFontTx/>
                <a:buNone/>
              </a:pPr>
              <a:t>4</a:t>
            </a:fld>
            <a:endParaRPr lang="en-US" altLang="zh-CN">
              <a:solidFill>
                <a:srgbClr val="FFFFFF"/>
              </a:solidFill>
              <a:ea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5"/>
          <p:cNvSpPr txBox="1">
            <a:spLocks noGrp="1"/>
          </p:cNvSpPr>
          <p:nvPr>
            <p:ph type="sldNum" sz="quarter" idx="12"/>
          </p:nvPr>
        </p:nvSpPr>
        <p:spPr>
          <a:ln/>
        </p:spPr>
        <p:txBody>
          <a:bodyPr/>
          <a:lstStyle/>
          <a:p>
            <a:pPr marL="0" indent="0" algn="r" eaLnBrk="1" hangingPunct="1">
              <a:spcBef>
                <a:spcPct val="0"/>
              </a:spcBef>
              <a:buClrTx/>
              <a:buSzTx/>
              <a:buFontTx/>
              <a:buNone/>
            </a:pPr>
            <a:fld id="{9A0DB2DC-4C9A-4742-B13C-FB6460FD3503}" type="slidenum">
              <a:rPr lang="en-US" altLang="zh-CN" sz="1335" dirty="0">
                <a:ea typeface="宋体" panose="02010600030101010101" pitchFamily="2" charset="-122"/>
              </a:rPr>
              <a:t>5</a:t>
            </a:fld>
            <a:endParaRPr lang="en-US" altLang="zh-CN" sz="1335" dirty="0">
              <a:ea typeface="宋体" panose="02010600030101010101" pitchFamily="2" charset="-122"/>
            </a:endParaRPr>
          </a:p>
        </p:txBody>
      </p:sp>
      <p:sp>
        <p:nvSpPr>
          <p:cNvPr id="7171" name="Rectangle 2"/>
          <p:cNvSpPr>
            <a:spLocks noGrp="1"/>
          </p:cNvSpPr>
          <p:nvPr>
            <p:ph type="title"/>
          </p:nvPr>
        </p:nvSpPr>
        <p:spPr>
          <a:ln/>
        </p:spPr>
        <p:txBody>
          <a:bodyPr vert="horz" wrap="square" lIns="121920" tIns="60960" rIns="121920" bIns="60960" anchor="b"/>
          <a:lstStyle/>
          <a:p>
            <a:pPr eaLnBrk="1" hangingPunct="1"/>
            <a:r>
              <a:rPr lang="zh-CN" altLang="en-US" sz="4800" dirty="0">
                <a:latin typeface="+mj-lt"/>
                <a:ea typeface="+mj-ea"/>
                <a:cs typeface="+mj-cs"/>
              </a:rPr>
              <a:t>（</a:t>
            </a:r>
            <a:r>
              <a:rPr lang="en-US" altLang="zh-CN" sz="4800" dirty="0">
                <a:latin typeface="+mj-lt"/>
                <a:ea typeface="+mj-ea"/>
                <a:cs typeface="+mj-cs"/>
              </a:rPr>
              <a:t>1</a:t>
            </a:r>
            <a:r>
              <a:rPr lang="zh-CN" altLang="en-US" sz="4800" dirty="0">
                <a:latin typeface="+mj-lt"/>
                <a:ea typeface="+mj-ea"/>
                <a:cs typeface="+mj-cs"/>
              </a:rPr>
              <a:t>）</a:t>
            </a:r>
            <a:r>
              <a:rPr lang="en-US" altLang="zh-CN" sz="4800" dirty="0">
                <a:latin typeface="+mj-lt"/>
                <a:ea typeface="+mj-ea"/>
                <a:cs typeface="+mj-cs"/>
              </a:rPr>
              <a:t>PL/SQL</a:t>
            </a:r>
            <a:r>
              <a:rPr lang="zh-CN" altLang="en-US" sz="4800" dirty="0">
                <a:latin typeface="+mj-lt"/>
                <a:ea typeface="+mj-ea"/>
                <a:cs typeface="+mj-cs"/>
              </a:rPr>
              <a:t>块的组成</a:t>
            </a:r>
          </a:p>
        </p:txBody>
      </p:sp>
      <p:graphicFrame>
        <p:nvGraphicFramePr>
          <p:cNvPr id="7175" name="Rectangle 3">
            <a:extLst>
              <a:ext uri="{FF2B5EF4-FFF2-40B4-BE49-F238E27FC236}">
                <a16:creationId xmlns:a16="http://schemas.microsoft.com/office/drawing/2014/main" id="{6FA15DF8-99EE-4D57-9DB6-F580E403319F}"/>
              </a:ext>
            </a:extLst>
          </p:cNvPr>
          <p:cNvGraphicFramePr>
            <a:graphicFrameLocks noGrp="1"/>
          </p:cNvGraphicFramePr>
          <p:nvPr>
            <p:ph idx="1"/>
            <p:extLst>
              <p:ext uri="{D42A27DB-BD31-4B8C-83A1-F6EECF244321}">
                <p14:modId xmlns:p14="http://schemas.microsoft.com/office/powerpoint/2010/main" val="3415184894"/>
              </p:ext>
            </p:extLst>
          </p:nvPr>
        </p:nvGraphicFramePr>
        <p:xfrm>
          <a:off x="609600" y="1600201"/>
          <a:ext cx="10972800" cy="23328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173" name="Rectangle 5"/>
          <p:cNvSpPr/>
          <p:nvPr/>
        </p:nvSpPr>
        <p:spPr>
          <a:xfrm>
            <a:off x="-529167" y="2409826"/>
            <a:ext cx="309880" cy="5016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Char char="n"/>
              <a:defRPr sz="2800" b="1">
                <a:solidFill>
                  <a:schemeClr val="tx1"/>
                </a:solidFill>
                <a:latin typeface="+mn-lt"/>
                <a:ea typeface="华文仿宋" panose="02010600040101010101" pitchFamily="2" charset="-122"/>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p"/>
              <a:defRPr sz="2400">
                <a:solidFill>
                  <a:schemeClr val="tx1"/>
                </a:solidFill>
                <a:latin typeface="+mn-lt"/>
                <a:ea typeface="华文隶书" panose="02010800040101010101" pitchFamily="2" charset="-122"/>
              </a:defRPr>
            </a:lvl3pPr>
            <a:lvl4pPr marL="16002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j-ea"/>
              </a:defRPr>
            </a:lvl4pPr>
            <a:lvl5pPr marL="2057400" indent="-228600" algn="l" rtl="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mn-lt"/>
                <a:ea typeface="+mj-ea"/>
              </a:defRPr>
            </a:lvl5pPr>
          </a:lstStyle>
          <a:p>
            <a:pPr marL="0" lvl="0" indent="0" eaLnBrk="1" hangingPunct="1">
              <a:spcBef>
                <a:spcPct val="0"/>
              </a:spcBef>
              <a:buClrTx/>
              <a:buSzTx/>
              <a:buFontTx/>
              <a:buNone/>
            </a:pPr>
            <a:endParaRPr lang="zh-CN" altLang="en-US" sz="2665" dirty="0">
              <a:ea typeface="宋体" panose="02010600030101010101" pitchFamily="2" charset="-122"/>
            </a:endParaRPr>
          </a:p>
        </p:txBody>
      </p:sp>
      <p:pic>
        <p:nvPicPr>
          <p:cNvPr id="2" name="图片 1">
            <a:extLst>
              <a:ext uri="{FF2B5EF4-FFF2-40B4-BE49-F238E27FC236}">
                <a16:creationId xmlns:a16="http://schemas.microsoft.com/office/drawing/2014/main" id="{F8E8F482-4406-4348-9F61-6ED8541CDFEF}"/>
              </a:ext>
            </a:extLst>
          </p:cNvPr>
          <p:cNvPicPr>
            <a:picLocks noChangeAspect="1"/>
          </p:cNvPicPr>
          <p:nvPr/>
        </p:nvPicPr>
        <p:blipFill>
          <a:blip r:embed="rId7"/>
          <a:stretch>
            <a:fillRect/>
          </a:stretch>
        </p:blipFill>
        <p:spPr>
          <a:xfrm>
            <a:off x="2567608" y="3844183"/>
            <a:ext cx="7356322" cy="282723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 name="Rectangle 73">
            <a:extLst>
              <a:ext uri="{FF2B5EF4-FFF2-40B4-BE49-F238E27FC236}">
                <a16:creationId xmlns:a16="http://schemas.microsoft.com/office/drawing/2014/main" id="{AFA67CD3-AB4E-4A7A-BEB8-53C445D8C4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726"/>
            <a:ext cx="5614875" cy="6858000"/>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6" name="Picture 75">
            <a:extLst>
              <a:ext uri="{FF2B5EF4-FFF2-40B4-BE49-F238E27FC236}">
                <a16:creationId xmlns:a16="http://schemas.microsoft.com/office/drawing/2014/main" id="{07CF545F-9C2E-4446-97CD-AD92990C2B6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8" name="Freeform 62">
            <a:extLst>
              <a:ext uri="{FF2B5EF4-FFF2-40B4-BE49-F238E27FC236}">
                <a16:creationId xmlns:a16="http://schemas.microsoft.com/office/drawing/2014/main" id="{339C8D78-A644-462F-B674-F440635E53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8619"/>
            <a:ext cx="5000438" cy="5400962"/>
          </a:xfrm>
          <a:custGeom>
            <a:avLst/>
            <a:gdLst>
              <a:gd name="connsiteX0" fmla="*/ 2299956 w 5000438"/>
              <a:gd name="connsiteY0" fmla="*/ 0 h 5400962"/>
              <a:gd name="connsiteX1" fmla="*/ 5000438 w 5000438"/>
              <a:gd name="connsiteY1" fmla="*/ 2700481 h 5400962"/>
              <a:gd name="connsiteX2" fmla="*/ 2299956 w 5000438"/>
              <a:gd name="connsiteY2" fmla="*/ 5400962 h 5400962"/>
              <a:gd name="connsiteX3" fmla="*/ 60675 w 5000438"/>
              <a:gd name="connsiteY3" fmla="*/ 4210346 h 5400962"/>
              <a:gd name="connsiteX4" fmla="*/ 0 w 5000438"/>
              <a:gd name="connsiteY4" fmla="*/ 4110472 h 5400962"/>
              <a:gd name="connsiteX5" fmla="*/ 0 w 5000438"/>
              <a:gd name="connsiteY5" fmla="*/ 1290491 h 5400962"/>
              <a:gd name="connsiteX6" fmla="*/ 60675 w 5000438"/>
              <a:gd name="connsiteY6" fmla="*/ 1190617 h 5400962"/>
              <a:gd name="connsiteX7" fmla="*/ 2299956 w 5000438"/>
              <a:gd name="connsiteY7" fmla="*/ 0 h 540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0438" h="5400962">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a:gradFill>
              <a:gsLst>
                <a:gs pos="0">
                  <a:schemeClr val="accent1"/>
                </a:gs>
                <a:gs pos="23000">
                  <a:schemeClr val="accent1"/>
                </a:gs>
                <a:gs pos="83000">
                  <a:schemeClr val="accent5"/>
                </a:gs>
                <a:gs pos="100000">
                  <a:schemeClr val="accent5"/>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1" name="Graphic 70" descr="Desert scene">
            <a:extLst>
              <a:ext uri="{FF2B5EF4-FFF2-40B4-BE49-F238E27FC236}">
                <a16:creationId xmlns:a16="http://schemas.microsoft.com/office/drawing/2014/main" id="{93FB440C-75B1-4ECC-ABC3-817564E81FF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0254" y="1629089"/>
            <a:ext cx="3620021" cy="3620021"/>
          </a:xfrm>
          <a:prstGeom prst="rect">
            <a:avLst/>
          </a:prstGeom>
        </p:spPr>
      </p:pic>
      <p:sp>
        <p:nvSpPr>
          <p:cNvPr id="8195" name="Rectangle 3"/>
          <p:cNvSpPr>
            <a:spLocks noGrp="1"/>
          </p:cNvSpPr>
          <p:nvPr>
            <p:ph idx="1"/>
          </p:nvPr>
        </p:nvSpPr>
        <p:spPr>
          <a:xfrm>
            <a:off x="6090574" y="2421682"/>
            <a:ext cx="4977578" cy="3639289"/>
          </a:xfrm>
        </p:spPr>
        <p:txBody>
          <a:bodyPr vert="horz" lIns="121920" tIns="60960" rIns="121920" bIns="60960" anchor="ctr">
            <a:normAutofit/>
          </a:bodyPr>
          <a:lstStyle/>
          <a:p>
            <a:pPr eaLnBrk="1" hangingPunct="1">
              <a:lnSpc>
                <a:spcPct val="90000"/>
              </a:lnSpc>
              <a:buSzPct val="75000"/>
            </a:pPr>
            <a:r>
              <a:rPr lang="zh-CN" altLang="en-US" sz="1700">
                <a:solidFill>
                  <a:srgbClr val="000000"/>
                </a:solidFill>
                <a:latin typeface="黑体" panose="02010609060101010101" pitchFamily="49" charset="-122"/>
                <a:ea typeface="+mn-ea"/>
                <a:cs typeface="+mn-cs"/>
              </a:rPr>
              <a:t>声明部分</a:t>
            </a:r>
          </a:p>
          <a:p>
            <a:pPr lvl="1" eaLnBrk="1" hangingPunct="1">
              <a:lnSpc>
                <a:spcPct val="90000"/>
              </a:lnSpc>
              <a:buSzPct val="75000"/>
            </a:pPr>
            <a:r>
              <a:rPr lang="zh-CN" altLang="en-US" sz="1700" b="0">
                <a:solidFill>
                  <a:srgbClr val="000000"/>
                </a:solidFill>
                <a:latin typeface="黑体" panose="02010609060101010101" pitchFamily="49" charset="-122"/>
                <a:ea typeface="黑体" panose="02010609060101010101" pitchFamily="49" charset="-122"/>
              </a:rPr>
              <a:t>主要用于声明变量、常量、数据类型、游标、异常处理名称以及本地（局部）子程序定义等。</a:t>
            </a:r>
            <a:r>
              <a:rPr lang="zh-CN" altLang="en-US" sz="1700">
                <a:solidFill>
                  <a:srgbClr val="000000"/>
                </a:solidFill>
                <a:latin typeface="黑体" panose="02010609060101010101" pitchFamily="49" charset="-122"/>
                <a:ea typeface="黑体" panose="02010609060101010101" pitchFamily="49" charset="-122"/>
              </a:rPr>
              <a:t> </a:t>
            </a:r>
            <a:endParaRPr lang="zh-CN" altLang="en-US" sz="1700" b="0">
              <a:solidFill>
                <a:srgbClr val="000000"/>
              </a:solidFill>
              <a:latin typeface="黑体" panose="02010609060101010101" pitchFamily="49" charset="-122"/>
              <a:ea typeface="黑体" panose="02010609060101010101" pitchFamily="49" charset="-122"/>
            </a:endParaRPr>
          </a:p>
          <a:p>
            <a:pPr eaLnBrk="1" hangingPunct="1">
              <a:lnSpc>
                <a:spcPct val="90000"/>
              </a:lnSpc>
              <a:buSzPct val="75000"/>
            </a:pPr>
            <a:r>
              <a:rPr lang="zh-CN" altLang="en-US" sz="1700">
                <a:solidFill>
                  <a:srgbClr val="000000"/>
                </a:solidFill>
                <a:latin typeface="黑体" panose="02010609060101010101" pitchFamily="49" charset="-122"/>
                <a:ea typeface="+mn-ea"/>
                <a:cs typeface="+mn-cs"/>
              </a:rPr>
              <a:t>可执行部分</a:t>
            </a:r>
          </a:p>
          <a:p>
            <a:pPr lvl="1" eaLnBrk="1" hangingPunct="1">
              <a:lnSpc>
                <a:spcPct val="90000"/>
              </a:lnSpc>
              <a:buSzPct val="75000"/>
            </a:pPr>
            <a:r>
              <a:rPr lang="zh-CN" altLang="en-US" sz="1700" b="0">
                <a:solidFill>
                  <a:srgbClr val="000000"/>
                </a:solidFill>
                <a:latin typeface="黑体" panose="02010609060101010101" pitchFamily="49" charset="-122"/>
                <a:ea typeface="黑体" panose="02010609060101010101" pitchFamily="49" charset="-122"/>
              </a:rPr>
              <a:t>执行部分是</a:t>
            </a:r>
            <a:r>
              <a:rPr lang="en-US" altLang="zh-CN" sz="1700" b="0">
                <a:solidFill>
                  <a:srgbClr val="000000"/>
                </a:solidFill>
                <a:latin typeface="黑体" panose="02010609060101010101" pitchFamily="49" charset="-122"/>
                <a:ea typeface="黑体" panose="02010609060101010101" pitchFamily="49" charset="-122"/>
              </a:rPr>
              <a:t>PL/SQL</a:t>
            </a:r>
            <a:r>
              <a:rPr lang="zh-CN" altLang="en-US" sz="1700" b="0">
                <a:solidFill>
                  <a:srgbClr val="000000"/>
                </a:solidFill>
                <a:latin typeface="黑体" panose="02010609060101010101" pitchFamily="49" charset="-122"/>
                <a:ea typeface="黑体" panose="02010609060101010101" pitchFamily="49" charset="-122"/>
              </a:rPr>
              <a:t>块的功能实现部分。该部分通过变量赋值、流程控制、数据查询、数据操纵、数据定义、事务控制、游标处理等实现块的功能。</a:t>
            </a:r>
          </a:p>
          <a:p>
            <a:pPr eaLnBrk="1" hangingPunct="1">
              <a:lnSpc>
                <a:spcPct val="90000"/>
              </a:lnSpc>
              <a:buSzPct val="75000"/>
            </a:pPr>
            <a:r>
              <a:rPr lang="zh-CN" altLang="en-US" sz="1700">
                <a:solidFill>
                  <a:srgbClr val="000000"/>
                </a:solidFill>
                <a:latin typeface="黑体" panose="02010609060101010101" pitchFamily="49" charset="-122"/>
                <a:ea typeface="+mn-ea"/>
                <a:cs typeface="+mn-cs"/>
              </a:rPr>
              <a:t>异常处理部分</a:t>
            </a:r>
          </a:p>
          <a:p>
            <a:pPr lvl="1" eaLnBrk="1" hangingPunct="1">
              <a:lnSpc>
                <a:spcPct val="90000"/>
              </a:lnSpc>
              <a:buSzPct val="75000"/>
            </a:pPr>
            <a:r>
              <a:rPr lang="zh-CN" altLang="en-US" sz="1700">
                <a:solidFill>
                  <a:srgbClr val="000000"/>
                </a:solidFill>
                <a:latin typeface="黑体" panose="02010609060101010101" pitchFamily="49" charset="-122"/>
                <a:ea typeface="黑体" panose="02010609060101010101" pitchFamily="49" charset="-122"/>
              </a:rPr>
              <a:t>异常处理部分用于处理该块执行过程中产生的异常。</a:t>
            </a:r>
            <a:r>
              <a:rPr lang="zh-CN" altLang="en-US" sz="1700">
                <a:solidFill>
                  <a:srgbClr val="000000"/>
                </a:solidFill>
                <a:latin typeface="+mn-lt"/>
                <a:ea typeface="华文仿宋" panose="02010600040101010101" pitchFamily="2" charset="-122"/>
              </a:rPr>
              <a:t> </a:t>
            </a:r>
          </a:p>
        </p:txBody>
      </p:sp>
      <p:sp>
        <p:nvSpPr>
          <p:cNvPr id="8194"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sz="1100">
                <a:solidFill>
                  <a:srgbClr val="898989"/>
                </a:solidFill>
                <a:ea typeface="宋体" panose="02010600030101010101" pitchFamily="2" charset="-122"/>
              </a:rPr>
              <a:pPr marL="0" indent="0" eaLnBrk="1" hangingPunct="1">
                <a:spcBef>
                  <a:spcPct val="0"/>
                </a:spcBef>
                <a:spcAft>
                  <a:spcPts val="600"/>
                </a:spcAft>
                <a:buClrTx/>
                <a:buSzTx/>
                <a:buFontTx/>
                <a:buNone/>
              </a:pPr>
              <a:t>6</a:t>
            </a:fld>
            <a:endParaRPr lang="en-US" altLang="zh-CN" sz="1100">
              <a:solidFill>
                <a:srgbClr val="898989"/>
              </a:solidFill>
              <a:ea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219"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endParaRPr lang="zh-CN" altLang="zh-CN">
              <a:solidFill>
                <a:srgbClr val="FFFFFF"/>
              </a:solidFill>
              <a:latin typeface="+mj-lt"/>
              <a:ea typeface="+mj-ea"/>
              <a:cs typeface="+mj-cs"/>
            </a:endParaRPr>
          </a:p>
        </p:txBody>
      </p:sp>
      <p:sp>
        <p:nvSpPr>
          <p:cNvPr id="9220"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buSzPct val="75000"/>
            </a:pPr>
            <a:r>
              <a:rPr lang="zh-CN" altLang="en-US" sz="2000">
                <a:solidFill>
                  <a:srgbClr val="000000"/>
                </a:solidFill>
                <a:latin typeface="+mn-lt"/>
                <a:ea typeface="+mn-ea"/>
                <a:cs typeface="+mn-cs"/>
              </a:rPr>
              <a:t>注意：</a:t>
            </a:r>
          </a:p>
          <a:p>
            <a:pPr lvl="1" eaLnBrk="1" hangingPunct="1">
              <a:buSzPct val="75000"/>
            </a:pPr>
            <a:r>
              <a:rPr lang="zh-CN" altLang="en-US" sz="2000">
                <a:solidFill>
                  <a:srgbClr val="000000"/>
                </a:solidFill>
                <a:latin typeface="+mn-lt"/>
                <a:ea typeface="华文仿宋" panose="02010600040101010101" pitchFamily="2" charset="-122"/>
              </a:rPr>
              <a:t>执行部分是必须的，而声明部分和异常部分是可选的</a:t>
            </a:r>
          </a:p>
          <a:p>
            <a:pPr lvl="1" eaLnBrk="1" hangingPunct="1">
              <a:buSzPct val="75000"/>
            </a:pPr>
            <a:r>
              <a:rPr lang="zh-CN" altLang="en-US" sz="2000">
                <a:solidFill>
                  <a:srgbClr val="000000"/>
                </a:solidFill>
                <a:latin typeface="+mn-lt"/>
                <a:ea typeface="华文仿宋" panose="02010600040101010101" pitchFamily="2" charset="-122"/>
              </a:rPr>
              <a:t>可以在一个块的执行部分或异常处理部分嵌套其他的</a:t>
            </a:r>
            <a:r>
              <a:rPr lang="en-US" altLang="zh-CN" sz="2000">
                <a:solidFill>
                  <a:srgbClr val="000000"/>
                </a:solidFill>
                <a:latin typeface="+mn-lt"/>
                <a:ea typeface="华文仿宋" panose="02010600040101010101" pitchFamily="2" charset="-122"/>
              </a:rPr>
              <a:t>PL/SQL</a:t>
            </a:r>
            <a:r>
              <a:rPr lang="zh-CN" altLang="en-US" sz="2000">
                <a:solidFill>
                  <a:srgbClr val="000000"/>
                </a:solidFill>
                <a:latin typeface="+mn-lt"/>
                <a:ea typeface="华文仿宋" panose="02010600040101010101" pitchFamily="2" charset="-122"/>
              </a:rPr>
              <a:t>块；</a:t>
            </a:r>
          </a:p>
          <a:p>
            <a:pPr lvl="1" eaLnBrk="1" hangingPunct="1">
              <a:buSzPct val="75000"/>
            </a:pPr>
            <a:r>
              <a:rPr lang="zh-CN" altLang="en-US" sz="2000">
                <a:solidFill>
                  <a:srgbClr val="000000"/>
                </a:solidFill>
                <a:latin typeface="+mn-lt"/>
                <a:ea typeface="华文仿宋" panose="02010600040101010101" pitchFamily="2" charset="-122"/>
              </a:rPr>
              <a:t>所有的</a:t>
            </a:r>
            <a:r>
              <a:rPr lang="en-US" altLang="zh-CN" sz="2000">
                <a:solidFill>
                  <a:srgbClr val="000000"/>
                </a:solidFill>
                <a:latin typeface="+mn-lt"/>
                <a:ea typeface="华文仿宋" panose="02010600040101010101" pitchFamily="2" charset="-122"/>
              </a:rPr>
              <a:t>PL/SQL</a:t>
            </a:r>
            <a:r>
              <a:rPr lang="zh-CN" altLang="en-US" sz="2000">
                <a:solidFill>
                  <a:srgbClr val="000000"/>
                </a:solidFill>
                <a:latin typeface="+mn-lt"/>
                <a:ea typeface="华文仿宋" panose="02010600040101010101" pitchFamily="2" charset="-122"/>
              </a:rPr>
              <a:t>块都是以</a:t>
            </a:r>
            <a:r>
              <a:rPr lang="zh-CN" altLang="en-US" sz="2000">
                <a:solidFill>
                  <a:srgbClr val="000000"/>
                </a:solidFill>
                <a:latin typeface="华文仿宋" panose="02010600040101010101" pitchFamily="2" charset="-122"/>
                <a:ea typeface="华文仿宋" panose="02010600040101010101" pitchFamily="2" charset="-122"/>
              </a:rPr>
              <a:t>“</a:t>
            </a:r>
            <a:r>
              <a:rPr lang="en-US" altLang="zh-CN" sz="2000">
                <a:solidFill>
                  <a:srgbClr val="000000"/>
                </a:solidFill>
                <a:latin typeface="+mn-lt"/>
                <a:ea typeface="华文仿宋" panose="02010600040101010101" pitchFamily="2" charset="-122"/>
              </a:rPr>
              <a:t>END;</a:t>
            </a:r>
            <a:r>
              <a:rPr lang="en-US" altLang="zh-CN" sz="2000">
                <a:solidFill>
                  <a:srgbClr val="000000"/>
                </a:solidFill>
                <a:latin typeface="华文仿宋" panose="02010600040101010101" pitchFamily="2" charset="-122"/>
                <a:ea typeface="华文仿宋" panose="02010600040101010101" pitchFamily="2" charset="-122"/>
              </a:rPr>
              <a:t>”</a:t>
            </a:r>
            <a:r>
              <a:rPr lang="zh-CN" altLang="en-US" sz="2000">
                <a:solidFill>
                  <a:srgbClr val="000000"/>
                </a:solidFill>
                <a:latin typeface="+mn-lt"/>
                <a:ea typeface="华文仿宋" panose="02010600040101010101" pitchFamily="2" charset="-122"/>
              </a:rPr>
              <a:t>结束。</a:t>
            </a:r>
          </a:p>
          <a:p>
            <a:pPr lvl="1" eaLnBrk="1" hangingPunct="1">
              <a:buSzPct val="75000"/>
            </a:pPr>
            <a:endParaRPr lang="zh-CN" altLang="en-US" sz="2000">
              <a:solidFill>
                <a:srgbClr val="000000"/>
              </a:solidFill>
              <a:latin typeface="+mn-lt"/>
              <a:ea typeface="华文仿宋" panose="02010600040101010101" pitchFamily="2" charset="-122"/>
            </a:endParaRPr>
          </a:p>
          <a:p>
            <a:pPr eaLnBrk="1" hangingPunct="1">
              <a:buSzPct val="75000"/>
            </a:pPr>
            <a:endParaRPr lang="en-US" altLang="zh-CN" sz="2000">
              <a:solidFill>
                <a:srgbClr val="000000"/>
              </a:solidFill>
              <a:latin typeface="+mn-lt"/>
              <a:ea typeface="+mn-ea"/>
              <a:cs typeface="+mn-cs"/>
            </a:endParaRPr>
          </a:p>
        </p:txBody>
      </p:sp>
      <p:sp>
        <p:nvSpPr>
          <p:cNvPr id="9218"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7</a:t>
            </a:fld>
            <a:endParaRPr lang="en-US" altLang="zh-CN">
              <a:solidFill>
                <a:srgbClr val="898989"/>
              </a:solidFill>
              <a:ea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46" name="Rectangle 74">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47" name="Picture 76">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243" name="Rectangle 2"/>
          <p:cNvSpPr>
            <a:spLocks noGrp="1"/>
          </p:cNvSpPr>
          <p:nvPr>
            <p:ph type="title"/>
          </p:nvPr>
        </p:nvSpPr>
        <p:spPr>
          <a:xfrm>
            <a:off x="640079" y="2053641"/>
            <a:ext cx="3669161" cy="2760098"/>
          </a:xfrm>
        </p:spPr>
        <p:txBody>
          <a:bodyPr vert="horz" lIns="121920" tIns="60960" rIns="121920" bIns="60960">
            <a:normAutofit/>
          </a:bodyPr>
          <a:lstStyle/>
          <a:p>
            <a:pPr eaLnBrk="1" hangingPunct="1"/>
            <a:endParaRPr lang="zh-CN" altLang="zh-CN">
              <a:solidFill>
                <a:srgbClr val="FFFFFF"/>
              </a:solidFill>
              <a:latin typeface="+mj-lt"/>
              <a:ea typeface="+mj-ea"/>
              <a:cs typeface="+mj-cs"/>
            </a:endParaRPr>
          </a:p>
        </p:txBody>
      </p:sp>
      <p:sp>
        <p:nvSpPr>
          <p:cNvPr id="10244" name="Rectangle 3"/>
          <p:cNvSpPr>
            <a:spLocks noGrp="1"/>
          </p:cNvSpPr>
          <p:nvPr>
            <p:ph idx="1"/>
          </p:nvPr>
        </p:nvSpPr>
        <p:spPr>
          <a:xfrm>
            <a:off x="6090574" y="801866"/>
            <a:ext cx="5306084" cy="5230634"/>
          </a:xfrm>
        </p:spPr>
        <p:txBody>
          <a:bodyPr vert="horz" lIns="121920" tIns="60960" rIns="121920" bIns="60960" anchor="ctr">
            <a:normAutofit/>
          </a:bodyPr>
          <a:lstStyle/>
          <a:p>
            <a:pPr eaLnBrk="1" hangingPunct="1">
              <a:lnSpc>
                <a:spcPct val="90000"/>
              </a:lnSpc>
              <a:buSzPct val="75000"/>
            </a:pPr>
            <a:r>
              <a:rPr lang="en-US" altLang="zh-CN" sz="2000">
                <a:solidFill>
                  <a:srgbClr val="000000"/>
                </a:solidFill>
                <a:latin typeface="+mn-lt"/>
                <a:ea typeface="+mn-ea"/>
                <a:cs typeface="+mn-cs"/>
              </a:rPr>
              <a:t>DECLARE</a:t>
            </a:r>
          </a:p>
          <a:p>
            <a:pPr eaLnBrk="1" hangingPunct="1">
              <a:lnSpc>
                <a:spcPct val="90000"/>
              </a:lnSpc>
              <a:buSzPct val="75000"/>
            </a:pPr>
            <a:r>
              <a:rPr lang="en-US" altLang="zh-CN" sz="2000">
                <a:solidFill>
                  <a:srgbClr val="000000"/>
                </a:solidFill>
                <a:latin typeface="+mn-lt"/>
                <a:ea typeface="+mn-ea"/>
                <a:cs typeface="+mn-cs"/>
              </a:rPr>
              <a:t>  v_fname VARCHAR2(10);</a:t>
            </a:r>
          </a:p>
          <a:p>
            <a:pPr eaLnBrk="1" hangingPunct="1">
              <a:lnSpc>
                <a:spcPct val="90000"/>
              </a:lnSpc>
              <a:buSzPct val="75000"/>
            </a:pPr>
            <a:r>
              <a:rPr lang="en-US" altLang="zh-CN" sz="2000">
                <a:solidFill>
                  <a:srgbClr val="000000"/>
                </a:solidFill>
                <a:latin typeface="+mn-lt"/>
                <a:ea typeface="+mn-ea"/>
                <a:cs typeface="+mn-cs"/>
              </a:rPr>
              <a:t>BEGIN</a:t>
            </a:r>
          </a:p>
          <a:p>
            <a:pPr eaLnBrk="1" hangingPunct="1">
              <a:lnSpc>
                <a:spcPct val="90000"/>
              </a:lnSpc>
              <a:buSzPct val="75000"/>
            </a:pPr>
            <a:r>
              <a:rPr lang="en-US" altLang="zh-CN" sz="2000">
                <a:solidFill>
                  <a:srgbClr val="000000"/>
                </a:solidFill>
                <a:latin typeface="+mn-lt"/>
                <a:ea typeface="+mn-ea"/>
                <a:cs typeface="+mn-cs"/>
              </a:rPr>
              <a:t>  SELECT first_name INTO v_fname FROM employees</a:t>
            </a:r>
          </a:p>
          <a:p>
            <a:pPr eaLnBrk="1" hangingPunct="1">
              <a:lnSpc>
                <a:spcPct val="90000"/>
              </a:lnSpc>
              <a:buSzPct val="75000"/>
            </a:pPr>
            <a:r>
              <a:rPr lang="en-US" altLang="zh-CN" sz="2000">
                <a:solidFill>
                  <a:srgbClr val="000000"/>
                </a:solidFill>
                <a:latin typeface="+mn-lt"/>
                <a:ea typeface="+mn-ea"/>
                <a:cs typeface="+mn-cs"/>
              </a:rPr>
              <a:t>  WHERE employee_id=109;</a:t>
            </a:r>
          </a:p>
          <a:p>
            <a:pPr eaLnBrk="1" hangingPunct="1">
              <a:lnSpc>
                <a:spcPct val="90000"/>
              </a:lnSpc>
              <a:buSzPct val="75000"/>
            </a:pPr>
            <a:r>
              <a:rPr lang="en-US" altLang="zh-CN" sz="2000">
                <a:solidFill>
                  <a:srgbClr val="000000"/>
                </a:solidFill>
                <a:latin typeface="+mn-lt"/>
                <a:ea typeface="+mn-ea"/>
                <a:cs typeface="+mn-cs"/>
              </a:rPr>
              <a:t>  DBMS_OUTPUT.PUT_LINE(v_fname);</a:t>
            </a:r>
          </a:p>
          <a:p>
            <a:pPr eaLnBrk="1" hangingPunct="1">
              <a:lnSpc>
                <a:spcPct val="90000"/>
              </a:lnSpc>
              <a:buSzPct val="75000"/>
            </a:pPr>
            <a:r>
              <a:rPr lang="en-US" altLang="zh-CN" sz="2000">
                <a:solidFill>
                  <a:srgbClr val="000000"/>
                </a:solidFill>
                <a:latin typeface="+mn-lt"/>
                <a:ea typeface="+mn-ea"/>
                <a:cs typeface="+mn-cs"/>
              </a:rPr>
              <a:t>EXCEPTION</a:t>
            </a:r>
          </a:p>
          <a:p>
            <a:pPr eaLnBrk="1" hangingPunct="1">
              <a:lnSpc>
                <a:spcPct val="90000"/>
              </a:lnSpc>
              <a:buSzPct val="75000"/>
            </a:pPr>
            <a:r>
              <a:rPr lang="en-US" altLang="zh-CN" sz="2000">
                <a:solidFill>
                  <a:srgbClr val="000000"/>
                </a:solidFill>
                <a:latin typeface="+mn-lt"/>
                <a:ea typeface="+mn-ea"/>
                <a:cs typeface="+mn-cs"/>
              </a:rPr>
              <a:t>  WHEN NO_DATA_FOUND THEN</a:t>
            </a:r>
          </a:p>
          <a:p>
            <a:pPr eaLnBrk="1" hangingPunct="1">
              <a:lnSpc>
                <a:spcPct val="90000"/>
              </a:lnSpc>
              <a:buSzPct val="75000"/>
            </a:pPr>
            <a:r>
              <a:rPr lang="en-US" altLang="zh-CN" sz="2000">
                <a:solidFill>
                  <a:srgbClr val="000000"/>
                </a:solidFill>
                <a:latin typeface="+mn-lt"/>
                <a:ea typeface="+mn-ea"/>
                <a:cs typeface="+mn-cs"/>
              </a:rPr>
              <a:t>  DBMS_OUTPUT.PUT_LINE('There is not such an employee');</a:t>
            </a:r>
          </a:p>
          <a:p>
            <a:pPr eaLnBrk="1" hangingPunct="1">
              <a:lnSpc>
                <a:spcPct val="90000"/>
              </a:lnSpc>
              <a:buSzPct val="75000"/>
            </a:pPr>
            <a:r>
              <a:rPr lang="en-US" altLang="zh-CN" sz="2000">
                <a:solidFill>
                  <a:srgbClr val="000000"/>
                </a:solidFill>
                <a:latin typeface="+mn-lt"/>
                <a:ea typeface="+mn-ea"/>
                <a:cs typeface="+mn-cs"/>
              </a:rPr>
              <a:t>END; </a:t>
            </a:r>
          </a:p>
          <a:p>
            <a:pPr eaLnBrk="1" hangingPunct="1">
              <a:lnSpc>
                <a:spcPct val="90000"/>
              </a:lnSpc>
              <a:buSzPct val="75000"/>
            </a:pPr>
            <a:endParaRPr lang="en-US" altLang="zh-CN" sz="2000">
              <a:solidFill>
                <a:srgbClr val="000000"/>
              </a:solidFill>
              <a:latin typeface="+mn-lt"/>
              <a:ea typeface="+mn-ea"/>
              <a:cs typeface="+mn-cs"/>
            </a:endParaRPr>
          </a:p>
        </p:txBody>
      </p:sp>
      <p:sp>
        <p:nvSpPr>
          <p:cNvPr id="10242"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8</a:t>
            </a:fld>
            <a:endParaRPr lang="en-US" altLang="zh-CN">
              <a:solidFill>
                <a:srgbClr val="898989"/>
              </a:solidFill>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7" name="Picture 76">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267" name="Rectangle 2"/>
          <p:cNvSpPr>
            <a:spLocks noGrp="1"/>
          </p:cNvSpPr>
          <p:nvPr>
            <p:ph type="title"/>
          </p:nvPr>
        </p:nvSpPr>
        <p:spPr>
          <a:xfrm>
            <a:off x="640079" y="2053641"/>
            <a:ext cx="3669161" cy="2760098"/>
          </a:xfrm>
        </p:spPr>
        <p:txBody>
          <a:bodyPr vert="horz" lIns="121920" tIns="60960" rIns="121920" bIns="60960">
            <a:normAutofit/>
          </a:bodyPr>
          <a:lstStyle/>
          <a:p>
            <a:pPr eaLnBrk="1" hangingPunct="1"/>
            <a:endParaRPr lang="zh-CN" altLang="zh-CN">
              <a:solidFill>
                <a:srgbClr val="FFFFFF"/>
              </a:solidFill>
              <a:latin typeface="+mj-lt"/>
              <a:ea typeface="+mj-ea"/>
              <a:cs typeface="+mj-cs"/>
            </a:endParaRPr>
          </a:p>
        </p:txBody>
      </p:sp>
      <p:sp>
        <p:nvSpPr>
          <p:cNvPr id="11268" name="Rectangle 3"/>
          <p:cNvSpPr>
            <a:spLocks noGrp="1"/>
          </p:cNvSpPr>
          <p:nvPr>
            <p:ph idx="1"/>
          </p:nvPr>
        </p:nvSpPr>
        <p:spPr>
          <a:xfrm>
            <a:off x="6090574" y="801866"/>
            <a:ext cx="5306084" cy="5230634"/>
          </a:xfrm>
        </p:spPr>
        <p:txBody>
          <a:bodyPr vert="horz" lIns="121920" tIns="60960" rIns="121920" bIns="60960" anchor="ctr">
            <a:normAutofit/>
          </a:bodyPr>
          <a:lstStyle/>
          <a:p>
            <a:pPr eaLnBrk="1" hangingPunct="1">
              <a:lnSpc>
                <a:spcPct val="90000"/>
              </a:lnSpc>
              <a:buSzPct val="75000"/>
            </a:pPr>
            <a:r>
              <a:rPr lang="en-US" altLang="zh-CN" sz="1900">
                <a:solidFill>
                  <a:srgbClr val="000000"/>
                </a:solidFill>
                <a:latin typeface="+mn-lt"/>
                <a:ea typeface="+mn-ea"/>
                <a:cs typeface="+mn-cs"/>
              </a:rPr>
              <a:t>DECLARE</a:t>
            </a:r>
          </a:p>
          <a:p>
            <a:pPr eaLnBrk="1" hangingPunct="1">
              <a:lnSpc>
                <a:spcPct val="90000"/>
              </a:lnSpc>
              <a:buSzPct val="75000"/>
            </a:pPr>
            <a:r>
              <a:rPr lang="en-US" altLang="zh-CN" sz="1900">
                <a:solidFill>
                  <a:srgbClr val="000000"/>
                </a:solidFill>
                <a:latin typeface="+mn-lt"/>
                <a:ea typeface="+mn-ea"/>
                <a:cs typeface="+mn-cs"/>
              </a:rPr>
              <a:t>  v_sal NUMBER(8,2);</a:t>
            </a:r>
          </a:p>
          <a:p>
            <a:pPr eaLnBrk="1" hangingPunct="1">
              <a:lnSpc>
                <a:spcPct val="90000"/>
              </a:lnSpc>
              <a:buSzPct val="75000"/>
            </a:pPr>
            <a:r>
              <a:rPr lang="en-US" altLang="zh-CN" sz="1900">
                <a:solidFill>
                  <a:srgbClr val="000000"/>
                </a:solidFill>
                <a:latin typeface="+mn-lt"/>
                <a:ea typeface="+mn-ea"/>
                <a:cs typeface="+mn-cs"/>
              </a:rPr>
              <a:t>  v_deptno NUMBER(4);</a:t>
            </a:r>
          </a:p>
          <a:p>
            <a:pPr eaLnBrk="1" hangingPunct="1">
              <a:lnSpc>
                <a:spcPct val="90000"/>
              </a:lnSpc>
              <a:buSzPct val="75000"/>
            </a:pPr>
            <a:r>
              <a:rPr lang="en-US" altLang="zh-CN" sz="1900">
                <a:solidFill>
                  <a:srgbClr val="000000"/>
                </a:solidFill>
                <a:latin typeface="+mn-lt"/>
                <a:ea typeface="+mn-ea"/>
                <a:cs typeface="+mn-cs"/>
              </a:rPr>
              <a:t>BEGIN    </a:t>
            </a:r>
          </a:p>
          <a:p>
            <a:pPr eaLnBrk="1" hangingPunct="1">
              <a:lnSpc>
                <a:spcPct val="90000"/>
              </a:lnSpc>
              <a:buSzPct val="75000"/>
            </a:pPr>
            <a:r>
              <a:rPr lang="en-US" altLang="zh-CN" sz="1900">
                <a:solidFill>
                  <a:srgbClr val="000000"/>
                </a:solidFill>
                <a:latin typeface="+mn-lt"/>
                <a:ea typeface="+mn-ea"/>
                <a:cs typeface="+mn-cs"/>
              </a:rPr>
              <a:t>  BEGIN</a:t>
            </a:r>
          </a:p>
          <a:p>
            <a:pPr eaLnBrk="1" hangingPunct="1">
              <a:lnSpc>
                <a:spcPct val="90000"/>
              </a:lnSpc>
              <a:buSzPct val="75000"/>
            </a:pPr>
            <a:r>
              <a:rPr lang="en-US" altLang="zh-CN" sz="1900">
                <a:solidFill>
                  <a:srgbClr val="000000"/>
                </a:solidFill>
                <a:latin typeface="+mn-lt"/>
                <a:ea typeface="+mn-ea"/>
                <a:cs typeface="+mn-cs"/>
              </a:rPr>
              <a:t>    SELECT department_id INTO v_deptno </a:t>
            </a:r>
          </a:p>
          <a:p>
            <a:pPr eaLnBrk="1" hangingPunct="1">
              <a:lnSpc>
                <a:spcPct val="90000"/>
              </a:lnSpc>
              <a:buSzPct val="75000"/>
            </a:pPr>
            <a:r>
              <a:rPr lang="en-US" altLang="zh-CN" sz="1900">
                <a:solidFill>
                  <a:srgbClr val="000000"/>
                </a:solidFill>
                <a:latin typeface="+mn-lt"/>
                <a:ea typeface="+mn-ea"/>
                <a:cs typeface="+mn-cs"/>
              </a:rPr>
              <a:t>    FROM employees WHERE employee_id=109;</a:t>
            </a:r>
          </a:p>
          <a:p>
            <a:pPr eaLnBrk="1" hangingPunct="1">
              <a:lnSpc>
                <a:spcPct val="90000"/>
              </a:lnSpc>
              <a:buSzPct val="75000"/>
            </a:pPr>
            <a:r>
              <a:rPr lang="en-US" altLang="zh-CN" sz="1900">
                <a:solidFill>
                  <a:srgbClr val="000000"/>
                </a:solidFill>
                <a:latin typeface="+mn-lt"/>
                <a:ea typeface="+mn-ea"/>
                <a:cs typeface="+mn-cs"/>
              </a:rPr>
              <a:t>  END;</a:t>
            </a:r>
          </a:p>
          <a:p>
            <a:pPr eaLnBrk="1" hangingPunct="1">
              <a:lnSpc>
                <a:spcPct val="90000"/>
              </a:lnSpc>
              <a:buSzPct val="75000"/>
            </a:pPr>
            <a:r>
              <a:rPr lang="en-US" altLang="zh-CN" sz="1900">
                <a:solidFill>
                  <a:srgbClr val="000000"/>
                </a:solidFill>
                <a:latin typeface="+mn-lt"/>
                <a:ea typeface="+mn-ea"/>
                <a:cs typeface="+mn-cs"/>
              </a:rPr>
              <a:t>    SELECT avg(salary) INTO v_sal </a:t>
            </a:r>
          </a:p>
          <a:p>
            <a:pPr eaLnBrk="1" hangingPunct="1">
              <a:lnSpc>
                <a:spcPct val="90000"/>
              </a:lnSpc>
              <a:buSzPct val="75000"/>
            </a:pPr>
            <a:r>
              <a:rPr lang="en-US" altLang="zh-CN" sz="1900">
                <a:solidFill>
                  <a:srgbClr val="000000"/>
                </a:solidFill>
                <a:latin typeface="+mn-lt"/>
                <a:ea typeface="+mn-ea"/>
                <a:cs typeface="+mn-cs"/>
              </a:rPr>
              <a:t>    FROM employees </a:t>
            </a:r>
          </a:p>
          <a:p>
            <a:pPr eaLnBrk="1" hangingPunct="1">
              <a:lnSpc>
                <a:spcPct val="90000"/>
              </a:lnSpc>
              <a:buSzPct val="75000"/>
            </a:pPr>
            <a:r>
              <a:rPr lang="en-US" altLang="zh-CN" sz="1900">
                <a:solidFill>
                  <a:srgbClr val="000000"/>
                </a:solidFill>
                <a:latin typeface="+mn-lt"/>
                <a:ea typeface="+mn-ea"/>
                <a:cs typeface="+mn-cs"/>
              </a:rPr>
              <a:t>    WHERE department_id=v_deptno;</a:t>
            </a:r>
          </a:p>
          <a:p>
            <a:pPr eaLnBrk="1" hangingPunct="1">
              <a:lnSpc>
                <a:spcPct val="90000"/>
              </a:lnSpc>
              <a:buSzPct val="75000"/>
            </a:pPr>
            <a:r>
              <a:rPr lang="en-US" altLang="zh-CN" sz="1900">
                <a:solidFill>
                  <a:srgbClr val="000000"/>
                </a:solidFill>
                <a:latin typeface="+mn-lt"/>
                <a:ea typeface="+mn-ea"/>
                <a:cs typeface="+mn-cs"/>
              </a:rPr>
              <a:t>    DBMS_OUTPUT.PUT_LINE(v_sal);</a:t>
            </a:r>
          </a:p>
          <a:p>
            <a:pPr eaLnBrk="1" hangingPunct="1">
              <a:lnSpc>
                <a:spcPct val="90000"/>
              </a:lnSpc>
              <a:buSzPct val="75000"/>
            </a:pPr>
            <a:r>
              <a:rPr lang="en-US" altLang="zh-CN" sz="1900">
                <a:solidFill>
                  <a:srgbClr val="000000"/>
                </a:solidFill>
                <a:latin typeface="+mn-lt"/>
                <a:ea typeface="+mn-ea"/>
                <a:cs typeface="+mn-cs"/>
              </a:rPr>
              <a:t>END; </a:t>
            </a:r>
          </a:p>
        </p:txBody>
      </p:sp>
      <p:sp>
        <p:nvSpPr>
          <p:cNvPr id="11266"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9</a:t>
            </a:fld>
            <a:endParaRPr lang="en-US" altLang="zh-CN">
              <a:solidFill>
                <a:srgbClr val="898989"/>
              </a:solidFill>
              <a:ea typeface="宋体" panose="0201060003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291"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endParaRPr lang="zh-CN" altLang="zh-CN">
              <a:solidFill>
                <a:srgbClr val="FFFFFF"/>
              </a:solidFill>
              <a:latin typeface="+mj-lt"/>
              <a:ea typeface="+mj-ea"/>
              <a:cs typeface="+mj-cs"/>
            </a:endParaRPr>
          </a:p>
        </p:txBody>
      </p:sp>
      <p:sp>
        <p:nvSpPr>
          <p:cNvPr id="12292"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buSzPct val="75000"/>
            </a:pPr>
            <a:r>
              <a:rPr lang="zh-CN" altLang="en-US" sz="2000">
                <a:solidFill>
                  <a:srgbClr val="000000"/>
                </a:solidFill>
                <a:latin typeface="+mn-lt"/>
                <a:ea typeface="+mn-ea"/>
                <a:cs typeface="+mn-cs"/>
              </a:rPr>
              <a:t>注意</a:t>
            </a:r>
          </a:p>
          <a:p>
            <a:pPr lvl="1" eaLnBrk="1" hangingPunct="1">
              <a:buSzPct val="75000"/>
            </a:pPr>
            <a:r>
              <a:rPr lang="zh-CN" altLang="en-US" sz="2000">
                <a:solidFill>
                  <a:srgbClr val="000000"/>
                </a:solidFill>
                <a:latin typeface="+mn-lt"/>
                <a:ea typeface="华文仿宋" panose="02010600040101010101" pitchFamily="2" charset="-122"/>
              </a:rPr>
              <a:t>若要在</a:t>
            </a:r>
            <a:r>
              <a:rPr lang="en-US" altLang="zh-CN" sz="2000">
                <a:solidFill>
                  <a:srgbClr val="000000"/>
                </a:solidFill>
                <a:latin typeface="+mn-lt"/>
                <a:ea typeface="华文仿宋" panose="02010600040101010101" pitchFamily="2" charset="-122"/>
              </a:rPr>
              <a:t>SQL*Plus</a:t>
            </a:r>
            <a:r>
              <a:rPr lang="zh-CN" altLang="en-US" sz="2000">
                <a:solidFill>
                  <a:srgbClr val="000000"/>
                </a:solidFill>
                <a:latin typeface="+mn-lt"/>
                <a:ea typeface="华文仿宋" panose="02010600040101010101" pitchFamily="2" charset="-122"/>
              </a:rPr>
              <a:t>环境中看到</a:t>
            </a:r>
            <a:r>
              <a:rPr lang="en-US" altLang="zh-CN" sz="2000">
                <a:solidFill>
                  <a:srgbClr val="000000"/>
                </a:solidFill>
                <a:latin typeface="+mn-lt"/>
                <a:ea typeface="华文仿宋" panose="02010600040101010101" pitchFamily="2" charset="-122"/>
              </a:rPr>
              <a:t>DBMS_OUTPUT.PUT_LINE</a:t>
            </a:r>
            <a:r>
              <a:rPr lang="zh-CN" altLang="en-US" sz="2000">
                <a:solidFill>
                  <a:srgbClr val="000000"/>
                </a:solidFill>
                <a:latin typeface="+mn-lt"/>
                <a:ea typeface="华文仿宋" panose="02010600040101010101" pitchFamily="2" charset="-122"/>
              </a:rPr>
              <a:t>方法的输出结果，必须将环境变量</a:t>
            </a:r>
            <a:r>
              <a:rPr lang="en-US" altLang="zh-CN" sz="2000">
                <a:solidFill>
                  <a:srgbClr val="000000"/>
                </a:solidFill>
                <a:latin typeface="+mn-lt"/>
                <a:ea typeface="华文仿宋" panose="02010600040101010101" pitchFamily="2" charset="-122"/>
              </a:rPr>
              <a:t>SERVEROUTPUT</a:t>
            </a:r>
            <a:r>
              <a:rPr lang="zh-CN" altLang="en-US" sz="2000">
                <a:solidFill>
                  <a:srgbClr val="000000"/>
                </a:solidFill>
                <a:latin typeface="+mn-lt"/>
                <a:ea typeface="华文仿宋" panose="02010600040101010101" pitchFamily="2" charset="-122"/>
              </a:rPr>
              <a:t>设置为</a:t>
            </a:r>
            <a:r>
              <a:rPr lang="en-US" altLang="zh-CN" sz="2000">
                <a:solidFill>
                  <a:srgbClr val="000000"/>
                </a:solidFill>
                <a:latin typeface="+mn-lt"/>
                <a:ea typeface="华文仿宋" panose="02010600040101010101" pitchFamily="2" charset="-122"/>
              </a:rPr>
              <a:t>ON</a:t>
            </a:r>
            <a:r>
              <a:rPr lang="zh-CN" altLang="en-US" sz="2000">
                <a:solidFill>
                  <a:srgbClr val="000000"/>
                </a:solidFill>
                <a:latin typeface="+mn-lt"/>
                <a:ea typeface="华文仿宋" panose="02010600040101010101" pitchFamily="2" charset="-122"/>
              </a:rPr>
              <a:t>。</a:t>
            </a:r>
          </a:p>
          <a:p>
            <a:pPr lvl="1" eaLnBrk="1" hangingPunct="1">
              <a:buSzPct val="75000"/>
            </a:pPr>
            <a:r>
              <a:rPr lang="en-US" altLang="zh-CN" sz="2000">
                <a:solidFill>
                  <a:srgbClr val="000000"/>
                </a:solidFill>
                <a:latin typeface="+mn-lt"/>
                <a:ea typeface="华文仿宋" panose="02010600040101010101" pitchFamily="2" charset="-122"/>
              </a:rPr>
              <a:t>SET SERVEROUTPUT ON</a:t>
            </a:r>
          </a:p>
        </p:txBody>
      </p:sp>
      <p:sp>
        <p:nvSpPr>
          <p:cNvPr id="12290"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10</a:t>
            </a:fld>
            <a:endParaRPr lang="en-US" altLang="zh-CN">
              <a:solidFill>
                <a:srgbClr val="898989"/>
              </a:solidFill>
              <a:ea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3" name="Rectangle 82">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3315" name="Rectangle 2"/>
          <p:cNvSpPr>
            <a:spLocks noGrp="1"/>
          </p:cNvSpPr>
          <p:nvPr>
            <p:ph type="title"/>
          </p:nvPr>
        </p:nvSpPr>
        <p:spPr>
          <a:xfrm>
            <a:off x="958506" y="800392"/>
            <a:ext cx="10264697" cy="1212102"/>
          </a:xfrm>
        </p:spPr>
        <p:txBody>
          <a:bodyPr vert="horz" lIns="121920" tIns="60960" rIns="121920" bIns="60960">
            <a:normAutofit/>
          </a:bodyPr>
          <a:lstStyle/>
          <a:p>
            <a:pPr eaLnBrk="1" hangingPunct="1"/>
            <a:r>
              <a:rPr lang="zh-CN" altLang="en-US" dirty="0">
                <a:solidFill>
                  <a:srgbClr val="FFFFFF"/>
                </a:solidFill>
                <a:latin typeface="+mj-lt"/>
                <a:ea typeface="+mj-ea"/>
                <a:cs typeface="+mj-cs"/>
              </a:rPr>
              <a:t>（</a:t>
            </a:r>
            <a:r>
              <a:rPr lang="en-US" altLang="zh-CN" dirty="0">
                <a:solidFill>
                  <a:srgbClr val="FFFFFF"/>
                </a:solidFill>
                <a:latin typeface="+mj-lt"/>
                <a:ea typeface="+mj-ea"/>
                <a:cs typeface="+mj-cs"/>
              </a:rPr>
              <a:t>2</a:t>
            </a:r>
            <a:r>
              <a:rPr lang="zh-CN" altLang="en-US" dirty="0">
                <a:solidFill>
                  <a:srgbClr val="FFFFFF"/>
                </a:solidFill>
                <a:latin typeface="+mj-lt"/>
                <a:ea typeface="+mj-ea"/>
                <a:cs typeface="+mj-cs"/>
              </a:rPr>
              <a:t>）</a:t>
            </a:r>
            <a:r>
              <a:rPr lang="en-US" altLang="zh-CN" dirty="0">
                <a:solidFill>
                  <a:srgbClr val="FFFFFF"/>
                </a:solidFill>
                <a:latin typeface="+mj-lt"/>
                <a:ea typeface="+mj-ea"/>
                <a:cs typeface="+mj-cs"/>
              </a:rPr>
              <a:t>PL/SQL</a:t>
            </a:r>
            <a:r>
              <a:rPr lang="zh-CN" altLang="en-US" dirty="0">
                <a:solidFill>
                  <a:srgbClr val="FFFFFF"/>
                </a:solidFill>
                <a:latin typeface="+mj-lt"/>
                <a:ea typeface="+mj-ea"/>
                <a:cs typeface="+mj-cs"/>
              </a:rPr>
              <a:t>块分类</a:t>
            </a:r>
          </a:p>
        </p:txBody>
      </p:sp>
      <p:sp>
        <p:nvSpPr>
          <p:cNvPr id="13316" name="Rectangle 3"/>
          <p:cNvSpPr>
            <a:spLocks noGrp="1"/>
          </p:cNvSpPr>
          <p:nvPr>
            <p:ph idx="1"/>
          </p:nvPr>
        </p:nvSpPr>
        <p:spPr>
          <a:xfrm>
            <a:off x="1367624" y="2490436"/>
            <a:ext cx="9708995" cy="3567173"/>
          </a:xfrm>
        </p:spPr>
        <p:txBody>
          <a:bodyPr vert="horz" lIns="121920" tIns="60960" rIns="121920" bIns="60960" anchor="ctr">
            <a:normAutofit/>
          </a:bodyPr>
          <a:lstStyle/>
          <a:p>
            <a:pPr eaLnBrk="1" hangingPunct="1">
              <a:buSzPct val="75000"/>
            </a:pPr>
            <a:r>
              <a:rPr lang="zh-CN" altLang="en-US" sz="2400">
                <a:latin typeface="+mn-lt"/>
                <a:ea typeface="+mn-ea"/>
                <a:cs typeface="+mn-cs"/>
              </a:rPr>
              <a:t>匿名块</a:t>
            </a:r>
          </a:p>
          <a:p>
            <a:pPr lvl="1" eaLnBrk="1" hangingPunct="1">
              <a:buSzPct val="75000"/>
            </a:pPr>
            <a:r>
              <a:rPr lang="zh-CN" altLang="en-US" sz="2400">
                <a:latin typeface="+mn-lt"/>
                <a:ea typeface="华文仿宋" panose="02010600040101010101" pitchFamily="2" charset="-122"/>
              </a:rPr>
              <a:t>匿名块是指动态生成，只能执行一次的块，不能由其他应用程序调用。</a:t>
            </a:r>
          </a:p>
          <a:p>
            <a:pPr eaLnBrk="1" hangingPunct="1">
              <a:buSzPct val="75000"/>
            </a:pPr>
            <a:r>
              <a:rPr lang="zh-CN" altLang="en-US" sz="2400">
                <a:latin typeface="+mn-lt"/>
                <a:ea typeface="+mn-ea"/>
                <a:cs typeface="+mn-cs"/>
              </a:rPr>
              <a:t>命名块</a:t>
            </a:r>
          </a:p>
          <a:p>
            <a:pPr lvl="1" eaLnBrk="1" hangingPunct="1">
              <a:buSzPct val="75000"/>
            </a:pPr>
            <a:r>
              <a:rPr lang="zh-CN" altLang="en-US" sz="2400">
                <a:latin typeface="+mn-lt"/>
                <a:ea typeface="华文仿宋" panose="02010600040101010101" pitchFamily="2" charset="-122"/>
              </a:rPr>
              <a:t>命名块是指一次编译可多次执行的</a:t>
            </a:r>
            <a:r>
              <a:rPr lang="en-US" altLang="zh-CN" sz="2400">
                <a:latin typeface="+mn-lt"/>
                <a:ea typeface="华文仿宋" panose="02010600040101010101" pitchFamily="2" charset="-122"/>
              </a:rPr>
              <a:t>PL/SQL</a:t>
            </a:r>
            <a:r>
              <a:rPr lang="zh-CN" altLang="en-US" sz="2400">
                <a:latin typeface="+mn-lt"/>
                <a:ea typeface="华文仿宋" panose="02010600040101010101" pitchFamily="2" charset="-122"/>
              </a:rPr>
              <a:t>程序，包括函数、存储过程、包、触发器等。它们编译后放在服务器中，由应用程序或系统在特定条件下调用执行。 </a:t>
            </a:r>
          </a:p>
        </p:txBody>
      </p:sp>
      <p:sp>
        <p:nvSpPr>
          <p:cNvPr id="13314" name="灯片编号占位符 5"/>
          <p:cNvSpPr txBox="1">
            <a:spLocks noGrp="1"/>
          </p:cNvSpPr>
          <p:nvPr>
            <p:ph type="sldNum" sz="quarter" idx="12"/>
          </p:nvPr>
        </p:nvSpPr>
        <p:spPr>
          <a:xfrm>
            <a:off x="10707624" y="6382512"/>
            <a:ext cx="685800" cy="320040"/>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ea typeface="宋体" panose="02010600030101010101" pitchFamily="2" charset="-122"/>
              </a:rPr>
              <a:pPr marL="0" indent="0" eaLnBrk="1" hangingPunct="1">
                <a:spcBef>
                  <a:spcPct val="0"/>
                </a:spcBef>
                <a:spcAft>
                  <a:spcPts val="600"/>
                </a:spcAft>
                <a:buClrTx/>
                <a:buSzTx/>
                <a:buFontTx/>
                <a:buNone/>
              </a:pPr>
              <a:t>11</a:t>
            </a:fld>
            <a:endParaRPr lang="en-US" altLang="zh-CN">
              <a:ea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7" name="Picture 76">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339" name="Rectangle 2"/>
          <p:cNvSpPr>
            <a:spLocks noGrp="1"/>
          </p:cNvSpPr>
          <p:nvPr>
            <p:ph type="title"/>
          </p:nvPr>
        </p:nvSpPr>
        <p:spPr>
          <a:xfrm>
            <a:off x="640079" y="2053641"/>
            <a:ext cx="3669161" cy="2760098"/>
          </a:xfrm>
        </p:spPr>
        <p:txBody>
          <a:bodyPr vert="horz" lIns="121920" tIns="60960" rIns="121920" bIns="60960">
            <a:normAutofit/>
          </a:bodyPr>
          <a:lstStyle/>
          <a:p>
            <a:pPr eaLnBrk="1" hangingPunct="1"/>
            <a:endParaRPr lang="zh-CN" altLang="zh-CN">
              <a:solidFill>
                <a:srgbClr val="FFFFFF"/>
              </a:solidFill>
              <a:latin typeface="+mj-lt"/>
              <a:ea typeface="+mj-ea"/>
              <a:cs typeface="+mj-cs"/>
            </a:endParaRPr>
          </a:p>
        </p:txBody>
      </p:sp>
      <p:sp>
        <p:nvSpPr>
          <p:cNvPr id="14340" name="Rectangle 3"/>
          <p:cNvSpPr>
            <a:spLocks noGrp="1"/>
          </p:cNvSpPr>
          <p:nvPr>
            <p:ph idx="1"/>
          </p:nvPr>
        </p:nvSpPr>
        <p:spPr>
          <a:xfrm>
            <a:off x="6090574" y="801866"/>
            <a:ext cx="5306084" cy="5230634"/>
          </a:xfrm>
        </p:spPr>
        <p:txBody>
          <a:bodyPr vert="horz" lIns="121920" tIns="60960" rIns="121920" bIns="60960" anchor="ctr">
            <a:normAutofit/>
          </a:bodyPr>
          <a:lstStyle/>
          <a:p>
            <a:pPr eaLnBrk="1" hangingPunct="1">
              <a:lnSpc>
                <a:spcPct val="90000"/>
              </a:lnSpc>
              <a:buSzPct val="75000"/>
            </a:pPr>
            <a:r>
              <a:rPr lang="zh-CN" altLang="en-US" sz="2000">
                <a:solidFill>
                  <a:srgbClr val="000000"/>
                </a:solidFill>
                <a:latin typeface="+mn-lt"/>
                <a:ea typeface="+mn-ea"/>
                <a:cs typeface="+mn-cs"/>
              </a:rPr>
              <a:t>命名块示例</a:t>
            </a:r>
          </a:p>
          <a:p>
            <a:pPr lvl="1" eaLnBrk="1" hangingPunct="1">
              <a:lnSpc>
                <a:spcPct val="90000"/>
              </a:lnSpc>
              <a:buSzPct val="75000"/>
            </a:pPr>
            <a:r>
              <a:rPr lang="en-US" altLang="zh-CN" sz="2000">
                <a:solidFill>
                  <a:srgbClr val="000000"/>
                </a:solidFill>
                <a:latin typeface="+mn-lt"/>
                <a:ea typeface="华文仿宋" panose="02010600040101010101" pitchFamily="2" charset="-122"/>
              </a:rPr>
              <a:t>CREATE OR REPLACE PROCEDURE showavgsal( </a:t>
            </a:r>
          </a:p>
          <a:p>
            <a:pPr lvl="1" eaLnBrk="1" hangingPunct="1">
              <a:lnSpc>
                <a:spcPct val="90000"/>
              </a:lnSpc>
              <a:buSzPct val="75000"/>
            </a:pPr>
            <a:r>
              <a:rPr lang="en-US" altLang="zh-CN" sz="2000">
                <a:solidFill>
                  <a:srgbClr val="000000"/>
                </a:solidFill>
                <a:latin typeface="+mn-lt"/>
                <a:ea typeface="华文仿宋" panose="02010600040101010101" pitchFamily="2" charset="-122"/>
              </a:rPr>
              <a:t>p_deptno NUMBER)</a:t>
            </a:r>
          </a:p>
          <a:p>
            <a:pPr lvl="1" eaLnBrk="1" hangingPunct="1">
              <a:lnSpc>
                <a:spcPct val="90000"/>
              </a:lnSpc>
              <a:buSzPct val="75000"/>
            </a:pPr>
            <a:r>
              <a:rPr lang="en-US" altLang="zh-CN" sz="2000">
                <a:solidFill>
                  <a:srgbClr val="000000"/>
                </a:solidFill>
                <a:latin typeface="+mn-lt"/>
                <a:ea typeface="华文仿宋" panose="02010600040101010101" pitchFamily="2" charset="-122"/>
              </a:rPr>
              <a:t>AS</a:t>
            </a:r>
          </a:p>
          <a:p>
            <a:pPr lvl="1" eaLnBrk="1" hangingPunct="1">
              <a:lnSpc>
                <a:spcPct val="90000"/>
              </a:lnSpc>
              <a:buSzPct val="75000"/>
            </a:pPr>
            <a:r>
              <a:rPr lang="en-US" altLang="zh-CN" sz="2000">
                <a:solidFill>
                  <a:srgbClr val="000000"/>
                </a:solidFill>
                <a:latin typeface="+mn-lt"/>
                <a:ea typeface="华文仿宋" panose="02010600040101010101" pitchFamily="2" charset="-122"/>
              </a:rPr>
              <a:t>v_sal NUMBER(6,2);</a:t>
            </a:r>
          </a:p>
          <a:p>
            <a:pPr lvl="1" eaLnBrk="1" hangingPunct="1">
              <a:lnSpc>
                <a:spcPct val="90000"/>
              </a:lnSpc>
              <a:buSzPct val="75000"/>
            </a:pPr>
            <a:r>
              <a:rPr lang="en-US" altLang="zh-CN" sz="2000">
                <a:solidFill>
                  <a:srgbClr val="000000"/>
                </a:solidFill>
                <a:latin typeface="+mn-lt"/>
                <a:ea typeface="华文仿宋" panose="02010600040101010101" pitchFamily="2" charset="-122"/>
              </a:rPr>
              <a:t>BEGIN</a:t>
            </a:r>
          </a:p>
          <a:p>
            <a:pPr lvl="1" eaLnBrk="1" hangingPunct="1">
              <a:lnSpc>
                <a:spcPct val="90000"/>
              </a:lnSpc>
              <a:buSzPct val="75000"/>
            </a:pPr>
            <a:r>
              <a:rPr lang="en-US" altLang="zh-CN" sz="2000">
                <a:solidFill>
                  <a:srgbClr val="000000"/>
                </a:solidFill>
                <a:latin typeface="+mn-lt"/>
                <a:ea typeface="华文仿宋" panose="02010600040101010101" pitchFamily="2" charset="-122"/>
              </a:rPr>
              <a:t>  SELECT avg(salary) INTO v_sal </a:t>
            </a:r>
          </a:p>
          <a:p>
            <a:pPr lvl="1" eaLnBrk="1" hangingPunct="1">
              <a:lnSpc>
                <a:spcPct val="90000"/>
              </a:lnSpc>
              <a:buSzPct val="75000"/>
            </a:pPr>
            <a:r>
              <a:rPr lang="en-US" altLang="zh-CN" sz="2000">
                <a:solidFill>
                  <a:srgbClr val="000000"/>
                </a:solidFill>
                <a:latin typeface="+mn-lt"/>
                <a:ea typeface="华文仿宋" panose="02010600040101010101" pitchFamily="2" charset="-122"/>
              </a:rPr>
              <a:t>  FROM employees </a:t>
            </a:r>
          </a:p>
          <a:p>
            <a:pPr lvl="1" eaLnBrk="1" hangingPunct="1">
              <a:lnSpc>
                <a:spcPct val="90000"/>
              </a:lnSpc>
              <a:buSzPct val="75000"/>
            </a:pPr>
            <a:r>
              <a:rPr lang="en-US" altLang="zh-CN" sz="2000">
                <a:solidFill>
                  <a:srgbClr val="000000"/>
                </a:solidFill>
                <a:latin typeface="+mn-lt"/>
                <a:ea typeface="华文仿宋" panose="02010600040101010101" pitchFamily="2" charset="-122"/>
              </a:rPr>
              <a:t>  WHERE department_id=p_deptno;</a:t>
            </a:r>
          </a:p>
          <a:p>
            <a:pPr lvl="1" eaLnBrk="1" hangingPunct="1">
              <a:lnSpc>
                <a:spcPct val="90000"/>
              </a:lnSpc>
              <a:buSzPct val="75000"/>
            </a:pPr>
            <a:r>
              <a:rPr lang="en-US" altLang="zh-CN" sz="2000">
                <a:solidFill>
                  <a:srgbClr val="000000"/>
                </a:solidFill>
                <a:latin typeface="+mn-lt"/>
                <a:ea typeface="华文仿宋" panose="02010600040101010101" pitchFamily="2" charset="-122"/>
              </a:rPr>
              <a:t>  DBMS_OUTPUT.PUT_LINE(v_sal);</a:t>
            </a:r>
          </a:p>
          <a:p>
            <a:pPr lvl="1" eaLnBrk="1" hangingPunct="1">
              <a:lnSpc>
                <a:spcPct val="90000"/>
              </a:lnSpc>
              <a:buSzPct val="75000"/>
            </a:pPr>
            <a:r>
              <a:rPr lang="en-US" altLang="zh-CN" sz="2000">
                <a:solidFill>
                  <a:srgbClr val="000000"/>
                </a:solidFill>
                <a:latin typeface="+mn-lt"/>
                <a:ea typeface="华文仿宋" panose="02010600040101010101" pitchFamily="2" charset="-122"/>
              </a:rPr>
              <a:t>END showavgsal;</a:t>
            </a:r>
          </a:p>
        </p:txBody>
      </p:sp>
      <p:sp>
        <p:nvSpPr>
          <p:cNvPr id="14338"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12</a:t>
            </a:fld>
            <a:endParaRPr lang="en-US" altLang="zh-CN">
              <a:solidFill>
                <a:srgbClr val="898989"/>
              </a:solidFill>
              <a:ea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76EFD3D9-44F0-4267-BCC1-1613E79D82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Freeform 6">
            <a:extLst>
              <a:ext uri="{FF2B5EF4-FFF2-40B4-BE49-F238E27FC236}">
                <a16:creationId xmlns:a16="http://schemas.microsoft.com/office/drawing/2014/main" id="{A779A851-95D6-41AF-937A-B0E4B7F6FA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2164" y="900814"/>
            <a:ext cx="759618"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7">
            <a:extLst>
              <a:ext uri="{FF2B5EF4-FFF2-40B4-BE49-F238E27FC236}">
                <a16:creationId xmlns:a16="http://schemas.microsoft.com/office/drawing/2014/main" id="{953FB2E7-B6CB-429C-81EB-D9516D6D5C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4437" y="633165"/>
            <a:ext cx="482654"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Shape 78">
            <a:extLst>
              <a:ext uri="{FF2B5EF4-FFF2-40B4-BE49-F238E27FC236}">
                <a16:creationId xmlns:a16="http://schemas.microsoft.com/office/drawing/2014/main" id="{2EC40DB1-B719-4A13-9A4D-0966B4B278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4621" y="636723"/>
            <a:ext cx="4000062" cy="5257799"/>
          </a:xfrm>
          <a:custGeom>
            <a:avLst/>
            <a:gdLst>
              <a:gd name="connsiteX0" fmla="*/ 0 w 4634682"/>
              <a:gd name="connsiteY0" fmla="*/ 0 h 5257799"/>
              <a:gd name="connsiteX1" fmla="*/ 4634682 w 4634682"/>
              <a:gd name="connsiteY1" fmla="*/ 0 h 5257799"/>
              <a:gd name="connsiteX2" fmla="*/ 4634682 w 4634682"/>
              <a:gd name="connsiteY2" fmla="*/ 5257799 h 5257799"/>
              <a:gd name="connsiteX3" fmla="*/ 0 w 4634682"/>
              <a:gd name="connsiteY3" fmla="*/ 5257799 h 5257799"/>
            </a:gdLst>
            <a:ahLst/>
            <a:cxnLst>
              <a:cxn ang="0">
                <a:pos x="connsiteX0" y="connsiteY0"/>
              </a:cxn>
              <a:cxn ang="0">
                <a:pos x="connsiteX1" y="connsiteY1"/>
              </a:cxn>
              <a:cxn ang="0">
                <a:pos x="connsiteX2" y="connsiteY2"/>
              </a:cxn>
              <a:cxn ang="0">
                <a:pos x="connsiteX3" y="connsiteY3"/>
              </a:cxn>
            </a:cxnLst>
            <a:rect l="l" t="t" r="r" b="b"/>
            <a:pathLst>
              <a:path w="4634682" h="5257799">
                <a:moveTo>
                  <a:pt x="0" y="0"/>
                </a:moveTo>
                <a:lnTo>
                  <a:pt x="4634682" y="0"/>
                </a:lnTo>
                <a:lnTo>
                  <a:pt x="4634682" y="5257799"/>
                </a:lnTo>
                <a:lnTo>
                  <a:pt x="0" y="5257799"/>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363" name="Rectangle 2"/>
          <p:cNvSpPr>
            <a:spLocks noGrp="1"/>
          </p:cNvSpPr>
          <p:nvPr>
            <p:ph type="title"/>
          </p:nvPr>
        </p:nvSpPr>
        <p:spPr>
          <a:xfrm>
            <a:off x="934872" y="982272"/>
            <a:ext cx="3388419" cy="4560970"/>
          </a:xfrm>
        </p:spPr>
        <p:txBody>
          <a:bodyPr vert="horz" lIns="121920" tIns="60960" rIns="121920" bIns="60960">
            <a:normAutofit/>
          </a:bodyPr>
          <a:lstStyle/>
          <a:p>
            <a:pPr eaLnBrk="1" hangingPunct="1"/>
            <a:r>
              <a:rPr lang="en-GB" altLang="zh-CN">
                <a:solidFill>
                  <a:srgbClr val="FFFFFF"/>
                </a:solidFill>
                <a:latin typeface="+mj-lt"/>
                <a:ea typeface="+mj-ea"/>
                <a:cs typeface="+mj-cs"/>
              </a:rPr>
              <a:t>9.3 </a:t>
            </a:r>
            <a:r>
              <a:rPr lang="zh-CN" altLang="en-US">
                <a:solidFill>
                  <a:srgbClr val="FFFFFF"/>
                </a:solidFill>
                <a:latin typeface="宋体" panose="02010600030101010101" pitchFamily="2" charset="-122"/>
                <a:ea typeface="+mj-ea"/>
                <a:cs typeface="+mj-cs"/>
              </a:rPr>
              <a:t>词法单元</a:t>
            </a:r>
          </a:p>
        </p:txBody>
      </p:sp>
      <p:sp>
        <p:nvSpPr>
          <p:cNvPr id="81" name="Rectangle 8">
            <a:extLst>
              <a:ext uri="{FF2B5EF4-FFF2-40B4-BE49-F238E27FC236}">
                <a16:creationId xmlns:a16="http://schemas.microsoft.com/office/drawing/2014/main" id="{82211336-CFF3-412D-868A-6679C1004C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01782" y="1352302"/>
            <a:ext cx="6655597"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5364" name="Rectangle 3"/>
          <p:cNvSpPr>
            <a:spLocks noGrp="1"/>
          </p:cNvSpPr>
          <p:nvPr>
            <p:ph idx="1"/>
          </p:nvPr>
        </p:nvSpPr>
        <p:spPr>
          <a:xfrm>
            <a:off x="5221862" y="1719618"/>
            <a:ext cx="5948831" cy="4334629"/>
          </a:xfrm>
        </p:spPr>
        <p:txBody>
          <a:bodyPr vert="horz" lIns="121920" tIns="60960" rIns="121920" bIns="60960" anchor="ctr">
            <a:normAutofit/>
          </a:bodyPr>
          <a:lstStyle/>
          <a:p>
            <a:pPr eaLnBrk="1" hangingPunct="1">
              <a:buSzPct val="75000"/>
            </a:pPr>
            <a:r>
              <a:rPr lang="zh-CN" altLang="en-US" sz="2400">
                <a:solidFill>
                  <a:srgbClr val="FEFFFF"/>
                </a:solidFill>
                <a:latin typeface="+mn-lt"/>
                <a:ea typeface="+mn-ea"/>
                <a:cs typeface="+mn-cs"/>
              </a:rPr>
              <a:t>字符集</a:t>
            </a:r>
          </a:p>
          <a:p>
            <a:pPr eaLnBrk="1" hangingPunct="1">
              <a:buSzPct val="75000"/>
            </a:pPr>
            <a:r>
              <a:rPr lang="zh-CN" altLang="en-US" sz="2400">
                <a:solidFill>
                  <a:srgbClr val="FEFFFF"/>
                </a:solidFill>
                <a:latin typeface="+mn-lt"/>
                <a:ea typeface="+mn-ea"/>
                <a:cs typeface="+mn-cs"/>
              </a:rPr>
              <a:t>标识符</a:t>
            </a:r>
          </a:p>
          <a:p>
            <a:pPr eaLnBrk="1" hangingPunct="1">
              <a:buSzPct val="75000"/>
            </a:pPr>
            <a:r>
              <a:rPr lang="zh-CN" altLang="en-US" sz="2400">
                <a:solidFill>
                  <a:srgbClr val="FEFFFF"/>
                </a:solidFill>
                <a:latin typeface="+mn-lt"/>
                <a:ea typeface="+mn-ea"/>
                <a:cs typeface="+mn-cs"/>
              </a:rPr>
              <a:t>分隔符</a:t>
            </a:r>
          </a:p>
          <a:p>
            <a:pPr eaLnBrk="1" hangingPunct="1">
              <a:buSzPct val="75000"/>
            </a:pPr>
            <a:r>
              <a:rPr lang="zh-CN" altLang="en-US" sz="2400">
                <a:solidFill>
                  <a:srgbClr val="FEFFFF"/>
                </a:solidFill>
                <a:latin typeface="+mn-lt"/>
                <a:ea typeface="+mn-ea"/>
                <a:cs typeface="+mn-cs"/>
              </a:rPr>
              <a:t>常量值</a:t>
            </a:r>
          </a:p>
          <a:p>
            <a:pPr eaLnBrk="1" hangingPunct="1">
              <a:buSzPct val="75000"/>
            </a:pPr>
            <a:r>
              <a:rPr lang="zh-CN" altLang="en-US" sz="2400">
                <a:solidFill>
                  <a:srgbClr val="FEFFFF"/>
                </a:solidFill>
                <a:latin typeface="+mn-lt"/>
                <a:ea typeface="+mn-ea"/>
                <a:cs typeface="+mn-cs"/>
              </a:rPr>
              <a:t>注释</a:t>
            </a:r>
          </a:p>
          <a:p>
            <a:pPr eaLnBrk="1" hangingPunct="1">
              <a:buSzPct val="75000"/>
            </a:pPr>
            <a:endParaRPr lang="en-US" altLang="zh-CN" sz="2400">
              <a:solidFill>
                <a:srgbClr val="FEFFFF"/>
              </a:solidFill>
              <a:latin typeface="+mn-lt"/>
              <a:ea typeface="+mn-ea"/>
              <a:cs typeface="+mn-cs"/>
            </a:endParaRPr>
          </a:p>
        </p:txBody>
      </p:sp>
      <p:sp>
        <p:nvSpPr>
          <p:cNvPr id="15362" name="灯片编号占位符 5"/>
          <p:cNvSpPr txBox="1">
            <a:spLocks noGrp="1"/>
          </p:cNvSpPr>
          <p:nvPr>
            <p:ph type="sldNum" sz="quarter" idx="12"/>
          </p:nvPr>
        </p:nvSpPr>
        <p:spPr>
          <a:xfrm>
            <a:off x="10707624" y="6175188"/>
            <a:ext cx="685800" cy="320040"/>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FFFFFF"/>
                </a:solidFill>
                <a:ea typeface="宋体" panose="02010600030101010101" pitchFamily="2" charset="-122"/>
              </a:rPr>
              <a:pPr marL="0" indent="0" eaLnBrk="1" hangingPunct="1">
                <a:spcBef>
                  <a:spcPct val="0"/>
                </a:spcBef>
                <a:spcAft>
                  <a:spcPts val="600"/>
                </a:spcAft>
                <a:buClrTx/>
                <a:buSzTx/>
                <a:buFontTx/>
                <a:buNone/>
              </a:pPr>
              <a:t>13</a:t>
            </a:fld>
            <a:endParaRPr lang="en-US" altLang="zh-CN">
              <a:solidFill>
                <a:srgbClr val="FFFFFF"/>
              </a:solidFill>
              <a:ea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3789799"/>
            <a:ext cx="11480494" cy="2430528"/>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7" name="Picture 76">
            <a:extLst>
              <a:ext uri="{FF2B5EF4-FFF2-40B4-BE49-F238E27FC236}">
                <a16:creationId xmlns:a16="http://schemas.microsoft.com/office/drawing/2014/main" id="{02DD2BC0-6F29-4B4F-8D61-2DCF6D2E8E7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flipV="1">
            <a:off x="0" y="-338328"/>
            <a:ext cx="12192000" cy="6858000"/>
          </a:xfrm>
          <a:prstGeom prst="rect">
            <a:avLst/>
          </a:prstGeom>
        </p:spPr>
      </p:pic>
      <p:sp>
        <p:nvSpPr>
          <p:cNvPr id="16387" name="Rectangle 2"/>
          <p:cNvSpPr>
            <a:spLocks noGrp="1"/>
          </p:cNvSpPr>
          <p:nvPr>
            <p:ph type="title"/>
          </p:nvPr>
        </p:nvSpPr>
        <p:spPr>
          <a:xfrm>
            <a:off x="1179226" y="4442901"/>
            <a:ext cx="9833548" cy="1293547"/>
          </a:xfrm>
        </p:spPr>
        <p:txBody>
          <a:bodyPr vert="horz" lIns="121920" tIns="60960" rIns="121920" bIns="60960">
            <a:normAutofit/>
          </a:bodyPr>
          <a:lstStyle/>
          <a:p>
            <a:pPr eaLnBrk="1" hangingPunct="1"/>
            <a:r>
              <a:rPr lang="zh-CN" altLang="en-US">
                <a:solidFill>
                  <a:srgbClr val="FFFFFF"/>
                </a:solidFill>
                <a:latin typeface="+mj-lt"/>
                <a:ea typeface="+mj-ea"/>
                <a:cs typeface="+mj-cs"/>
              </a:rPr>
              <a:t>（</a:t>
            </a:r>
            <a:r>
              <a:rPr lang="en-US" altLang="zh-CN">
                <a:solidFill>
                  <a:srgbClr val="FFFFFF"/>
                </a:solidFill>
                <a:latin typeface="+mj-lt"/>
                <a:ea typeface="+mj-ea"/>
                <a:cs typeface="+mj-cs"/>
              </a:rPr>
              <a:t>1</a:t>
            </a:r>
            <a:r>
              <a:rPr lang="zh-CN" altLang="en-US">
                <a:solidFill>
                  <a:srgbClr val="FFFFFF"/>
                </a:solidFill>
                <a:latin typeface="+mj-lt"/>
                <a:ea typeface="+mj-ea"/>
                <a:cs typeface="+mj-cs"/>
              </a:rPr>
              <a:t>）字符集</a:t>
            </a:r>
          </a:p>
        </p:txBody>
      </p:sp>
      <p:sp>
        <p:nvSpPr>
          <p:cNvPr id="16386"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14</a:t>
            </a:fld>
            <a:endParaRPr lang="en-US" altLang="zh-CN">
              <a:solidFill>
                <a:srgbClr val="898989"/>
              </a:solidFill>
              <a:ea typeface="宋体" panose="02010600030101010101" pitchFamily="2" charset="-122"/>
            </a:endParaRPr>
          </a:p>
        </p:txBody>
      </p:sp>
      <p:graphicFrame>
        <p:nvGraphicFramePr>
          <p:cNvPr id="16390" name="Rectangle 3">
            <a:extLst>
              <a:ext uri="{FF2B5EF4-FFF2-40B4-BE49-F238E27FC236}">
                <a16:creationId xmlns:a16="http://schemas.microsoft.com/office/drawing/2014/main" id="{86E60378-96DF-42AD-9057-4794D8F5A094}"/>
              </a:ext>
            </a:extLst>
          </p:cNvPr>
          <p:cNvGraphicFramePr>
            <a:graphicFrameLocks noGrp="1"/>
          </p:cNvGraphicFramePr>
          <p:nvPr>
            <p:ph idx="1"/>
            <p:extLst>
              <p:ext uri="{D42A27DB-BD31-4B8C-83A1-F6EECF244321}">
                <p14:modId xmlns:p14="http://schemas.microsoft.com/office/powerpoint/2010/main" val="1570710528"/>
              </p:ext>
            </p:extLst>
          </p:nvPr>
        </p:nvGraphicFramePr>
        <p:xfrm>
          <a:off x="1036320" y="192506"/>
          <a:ext cx="10119360" cy="357323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7411"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r>
              <a:rPr lang="zh-CN" altLang="en-US">
                <a:solidFill>
                  <a:srgbClr val="FFFFFF"/>
                </a:solidFill>
                <a:latin typeface="+mj-lt"/>
                <a:ea typeface="+mj-ea"/>
                <a:cs typeface="+mj-cs"/>
              </a:rPr>
              <a:t>（</a:t>
            </a:r>
            <a:r>
              <a:rPr lang="en-US" altLang="zh-CN">
                <a:solidFill>
                  <a:srgbClr val="FFFFFF"/>
                </a:solidFill>
                <a:latin typeface="+mj-lt"/>
                <a:ea typeface="+mj-ea"/>
                <a:cs typeface="+mj-cs"/>
              </a:rPr>
              <a:t>2</a:t>
            </a:r>
            <a:r>
              <a:rPr lang="zh-CN" altLang="en-US">
                <a:solidFill>
                  <a:srgbClr val="FFFFFF"/>
                </a:solidFill>
                <a:latin typeface="+mj-lt"/>
                <a:ea typeface="+mj-ea"/>
                <a:cs typeface="+mj-cs"/>
              </a:rPr>
              <a:t>）标识符</a:t>
            </a:r>
          </a:p>
        </p:txBody>
      </p:sp>
      <p:sp>
        <p:nvSpPr>
          <p:cNvPr id="17412"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lnSpc>
                <a:spcPct val="90000"/>
              </a:lnSpc>
              <a:buSzPct val="75000"/>
            </a:pPr>
            <a:r>
              <a:rPr lang="zh-CN" altLang="en-US" sz="1700">
                <a:solidFill>
                  <a:srgbClr val="000000"/>
                </a:solidFill>
                <a:latin typeface="+mn-lt"/>
                <a:ea typeface="+mn-ea"/>
                <a:cs typeface="+mn-cs"/>
              </a:rPr>
              <a:t>标识符用于定义</a:t>
            </a:r>
            <a:r>
              <a:rPr lang="en-US" altLang="zh-CN" sz="1700">
                <a:solidFill>
                  <a:srgbClr val="000000"/>
                </a:solidFill>
                <a:latin typeface="+mn-lt"/>
                <a:ea typeface="+mn-ea"/>
                <a:cs typeface="+mn-cs"/>
              </a:rPr>
              <a:t>PL/SQL</a:t>
            </a:r>
            <a:r>
              <a:rPr lang="zh-CN" altLang="en-US" sz="1700">
                <a:solidFill>
                  <a:srgbClr val="000000"/>
                </a:solidFill>
                <a:latin typeface="+mn-lt"/>
                <a:ea typeface="+mn-ea"/>
                <a:cs typeface="+mn-cs"/>
              </a:rPr>
              <a:t>变量、常量、异常、游标名称、游标变量、参数、子程序名称和其他的程序单元名称等。</a:t>
            </a:r>
          </a:p>
          <a:p>
            <a:pPr eaLnBrk="1" hangingPunct="1">
              <a:lnSpc>
                <a:spcPct val="90000"/>
              </a:lnSpc>
              <a:buSzPct val="75000"/>
            </a:pPr>
            <a:r>
              <a:rPr lang="zh-CN" altLang="en-US" sz="1700">
                <a:solidFill>
                  <a:srgbClr val="000000"/>
                </a:solidFill>
                <a:latin typeface="+mn-lt"/>
                <a:ea typeface="+mn-ea"/>
                <a:cs typeface="+mn-cs"/>
              </a:rPr>
              <a:t>在</a:t>
            </a:r>
            <a:r>
              <a:rPr lang="en-US" altLang="zh-CN" sz="1700">
                <a:solidFill>
                  <a:srgbClr val="000000"/>
                </a:solidFill>
                <a:latin typeface="+mn-lt"/>
                <a:ea typeface="+mn-ea"/>
                <a:cs typeface="+mn-cs"/>
              </a:rPr>
              <a:t>PL/SQL</a:t>
            </a:r>
            <a:r>
              <a:rPr lang="zh-CN" altLang="en-US" sz="1700">
                <a:solidFill>
                  <a:srgbClr val="000000"/>
                </a:solidFill>
                <a:latin typeface="+mn-lt"/>
                <a:ea typeface="+mn-ea"/>
                <a:cs typeface="+mn-cs"/>
              </a:rPr>
              <a:t>程序中，标识符是以字母开头的，后边可以跟字母、数字、美元符号（</a:t>
            </a:r>
            <a:r>
              <a:rPr lang="en-US" altLang="zh-CN" sz="1700">
                <a:solidFill>
                  <a:srgbClr val="000000"/>
                </a:solidFill>
                <a:latin typeface="+mn-lt"/>
                <a:ea typeface="+mn-ea"/>
                <a:cs typeface="+mn-cs"/>
              </a:rPr>
              <a:t>$</a:t>
            </a:r>
            <a:r>
              <a:rPr lang="zh-CN" altLang="en-US" sz="1700">
                <a:solidFill>
                  <a:srgbClr val="000000"/>
                </a:solidFill>
                <a:latin typeface="+mn-lt"/>
                <a:ea typeface="+mn-ea"/>
                <a:cs typeface="+mn-cs"/>
              </a:rPr>
              <a:t>）、井号（</a:t>
            </a:r>
            <a:r>
              <a:rPr lang="en-US" altLang="zh-CN" sz="1700">
                <a:solidFill>
                  <a:srgbClr val="000000"/>
                </a:solidFill>
                <a:latin typeface="+mn-lt"/>
                <a:ea typeface="+mn-ea"/>
                <a:cs typeface="+mn-cs"/>
              </a:rPr>
              <a:t>#</a:t>
            </a:r>
            <a:r>
              <a:rPr lang="zh-CN" altLang="en-US" sz="1700">
                <a:solidFill>
                  <a:srgbClr val="000000"/>
                </a:solidFill>
                <a:latin typeface="+mn-lt"/>
                <a:ea typeface="+mn-ea"/>
                <a:cs typeface="+mn-cs"/>
              </a:rPr>
              <a:t>）或下划线（</a:t>
            </a:r>
            <a:r>
              <a:rPr lang="en-US" altLang="zh-CN" sz="1700">
                <a:solidFill>
                  <a:srgbClr val="000000"/>
                </a:solidFill>
                <a:latin typeface="+mn-lt"/>
                <a:ea typeface="+mn-ea"/>
                <a:cs typeface="+mn-cs"/>
              </a:rPr>
              <a:t>_</a:t>
            </a:r>
            <a:r>
              <a:rPr lang="zh-CN" altLang="en-US" sz="1700">
                <a:solidFill>
                  <a:srgbClr val="000000"/>
                </a:solidFill>
                <a:latin typeface="+mn-lt"/>
                <a:ea typeface="+mn-ea"/>
                <a:cs typeface="+mn-cs"/>
              </a:rPr>
              <a:t>），其最大长度为</a:t>
            </a:r>
            <a:r>
              <a:rPr lang="en-US" altLang="zh-CN" sz="1700">
                <a:solidFill>
                  <a:srgbClr val="000000"/>
                </a:solidFill>
                <a:latin typeface="+mn-lt"/>
                <a:ea typeface="+mn-ea"/>
                <a:cs typeface="+mn-cs"/>
              </a:rPr>
              <a:t>30</a:t>
            </a:r>
            <a:r>
              <a:rPr lang="zh-CN" altLang="en-US" sz="1700">
                <a:solidFill>
                  <a:srgbClr val="000000"/>
                </a:solidFill>
                <a:latin typeface="+mn-lt"/>
                <a:ea typeface="+mn-ea"/>
                <a:cs typeface="+mn-cs"/>
              </a:rPr>
              <a:t>个字符，并且所有字符都是有效的。</a:t>
            </a:r>
          </a:p>
          <a:p>
            <a:pPr lvl="1" eaLnBrk="1" hangingPunct="1">
              <a:lnSpc>
                <a:spcPct val="90000"/>
              </a:lnSpc>
              <a:buSzPct val="75000"/>
            </a:pPr>
            <a:r>
              <a:rPr lang="zh-CN" altLang="en-US" sz="1700">
                <a:solidFill>
                  <a:srgbClr val="000000"/>
                </a:solidFill>
                <a:latin typeface="+mn-lt"/>
                <a:ea typeface="华文仿宋" panose="02010600040101010101" pitchFamily="2" charset="-122"/>
              </a:rPr>
              <a:t>例如，</a:t>
            </a:r>
            <a:r>
              <a:rPr lang="en-US" altLang="zh-CN" sz="1700">
                <a:solidFill>
                  <a:srgbClr val="000000"/>
                </a:solidFill>
                <a:latin typeface="+mn-lt"/>
                <a:ea typeface="华文仿宋" panose="02010600040101010101" pitchFamily="2" charset="-122"/>
              </a:rPr>
              <a:t>X</a:t>
            </a:r>
            <a:r>
              <a:rPr lang="zh-CN" altLang="en-US" sz="1700">
                <a:solidFill>
                  <a:srgbClr val="000000"/>
                </a:solidFill>
                <a:latin typeface="+mn-lt"/>
                <a:ea typeface="华文仿宋" panose="02010600040101010101" pitchFamily="2" charset="-122"/>
              </a:rPr>
              <a:t>，</a:t>
            </a:r>
            <a:r>
              <a:rPr lang="en-US" altLang="zh-CN" sz="1700">
                <a:solidFill>
                  <a:srgbClr val="000000"/>
                </a:solidFill>
                <a:latin typeface="+mn-lt"/>
                <a:ea typeface="华文仿宋" panose="02010600040101010101" pitchFamily="2" charset="-122"/>
              </a:rPr>
              <a:t>v_empno</a:t>
            </a:r>
            <a:r>
              <a:rPr lang="zh-CN" altLang="en-US" sz="1700">
                <a:solidFill>
                  <a:srgbClr val="000000"/>
                </a:solidFill>
                <a:latin typeface="+mn-lt"/>
                <a:ea typeface="华文仿宋" panose="02010600040101010101" pitchFamily="2" charset="-122"/>
              </a:rPr>
              <a:t>，</a:t>
            </a:r>
            <a:r>
              <a:rPr lang="en-US" altLang="zh-CN" sz="1700">
                <a:solidFill>
                  <a:srgbClr val="000000"/>
                </a:solidFill>
                <a:latin typeface="+mn-lt"/>
                <a:ea typeface="华文仿宋" panose="02010600040101010101" pitchFamily="2" charset="-122"/>
              </a:rPr>
              <a:t>v_$</a:t>
            </a:r>
            <a:r>
              <a:rPr lang="zh-CN" altLang="en-US" sz="1700">
                <a:solidFill>
                  <a:srgbClr val="000000"/>
                </a:solidFill>
                <a:latin typeface="+mn-lt"/>
                <a:ea typeface="华文仿宋" panose="02010600040101010101" pitchFamily="2" charset="-122"/>
              </a:rPr>
              <a:t>等都是有效的标识符，而</a:t>
            </a:r>
            <a:r>
              <a:rPr lang="en-US" altLang="zh-CN" sz="1700">
                <a:solidFill>
                  <a:srgbClr val="000000"/>
                </a:solidFill>
                <a:latin typeface="+mn-lt"/>
                <a:ea typeface="华文仿宋" panose="02010600040101010101" pitchFamily="2" charset="-122"/>
              </a:rPr>
              <a:t>X+y</a:t>
            </a:r>
            <a:r>
              <a:rPr lang="zh-CN" altLang="en-US" sz="1700">
                <a:solidFill>
                  <a:srgbClr val="000000"/>
                </a:solidFill>
                <a:latin typeface="+mn-lt"/>
                <a:ea typeface="华文仿宋" panose="02010600040101010101" pitchFamily="2" charset="-122"/>
              </a:rPr>
              <a:t>，</a:t>
            </a:r>
            <a:r>
              <a:rPr lang="en-US" altLang="zh-CN" sz="1700">
                <a:solidFill>
                  <a:srgbClr val="000000"/>
                </a:solidFill>
                <a:latin typeface="+mn-lt"/>
                <a:ea typeface="华文仿宋" panose="02010600040101010101" pitchFamily="2" charset="-122"/>
              </a:rPr>
              <a:t>_temp</a:t>
            </a:r>
            <a:r>
              <a:rPr lang="zh-CN" altLang="en-US" sz="1700">
                <a:solidFill>
                  <a:srgbClr val="000000"/>
                </a:solidFill>
                <a:latin typeface="+mn-lt"/>
                <a:ea typeface="华文仿宋" panose="02010600040101010101" pitchFamily="2" charset="-122"/>
              </a:rPr>
              <a:t>则是非法的标识符。</a:t>
            </a:r>
          </a:p>
          <a:p>
            <a:pPr eaLnBrk="1" hangingPunct="1">
              <a:lnSpc>
                <a:spcPct val="90000"/>
              </a:lnSpc>
              <a:buSzPct val="75000"/>
            </a:pPr>
            <a:r>
              <a:rPr lang="zh-CN" altLang="en-US" sz="1700">
                <a:solidFill>
                  <a:srgbClr val="000000"/>
                </a:solidFill>
                <a:latin typeface="+mn-lt"/>
                <a:ea typeface="+mn-ea"/>
                <a:cs typeface="+mn-cs"/>
              </a:rPr>
              <a:t>注意</a:t>
            </a:r>
          </a:p>
          <a:p>
            <a:pPr lvl="1" eaLnBrk="1" hangingPunct="1">
              <a:lnSpc>
                <a:spcPct val="90000"/>
              </a:lnSpc>
              <a:buSzPct val="75000"/>
            </a:pPr>
            <a:r>
              <a:rPr lang="zh-CN" altLang="en-US" sz="1700">
                <a:solidFill>
                  <a:srgbClr val="000000"/>
                </a:solidFill>
                <a:latin typeface="+mn-lt"/>
                <a:ea typeface="华文仿宋" panose="02010600040101010101" pitchFamily="2" charset="-122"/>
              </a:rPr>
              <a:t>如果标识符区分大小写、使用预留关键字或包含空格等特殊符号，则需要用</a:t>
            </a:r>
            <a:r>
              <a:rPr lang="zh-CN" altLang="en-US" sz="1700">
                <a:solidFill>
                  <a:srgbClr val="000000"/>
                </a:solidFill>
                <a:latin typeface="华文仿宋" panose="02010600040101010101" pitchFamily="2" charset="-122"/>
                <a:ea typeface="华文仿宋" panose="02010600040101010101" pitchFamily="2" charset="-122"/>
              </a:rPr>
              <a:t>“”</a:t>
            </a:r>
            <a:r>
              <a:rPr lang="zh-CN" altLang="en-US" sz="1700">
                <a:solidFill>
                  <a:srgbClr val="000000"/>
                </a:solidFill>
                <a:latin typeface="+mn-lt"/>
                <a:ea typeface="华文仿宋" panose="02010600040101010101" pitchFamily="2" charset="-122"/>
              </a:rPr>
              <a:t>括起来，称为引证标识符。例如标识符</a:t>
            </a:r>
            <a:r>
              <a:rPr lang="zh-CN" altLang="en-US" sz="1700">
                <a:solidFill>
                  <a:srgbClr val="000000"/>
                </a:solidFill>
                <a:latin typeface="华文仿宋" panose="02010600040101010101" pitchFamily="2" charset="-122"/>
                <a:ea typeface="华文仿宋" panose="02010600040101010101" pitchFamily="2" charset="-122"/>
              </a:rPr>
              <a:t>“</a:t>
            </a:r>
            <a:r>
              <a:rPr lang="en-US" altLang="zh-CN" sz="1700">
                <a:solidFill>
                  <a:srgbClr val="000000"/>
                </a:solidFill>
                <a:latin typeface="+mn-lt"/>
                <a:ea typeface="华文仿宋" panose="02010600040101010101" pitchFamily="2" charset="-122"/>
              </a:rPr>
              <a:t>my book</a:t>
            </a:r>
            <a:r>
              <a:rPr lang="en-US" altLang="zh-CN" sz="1700">
                <a:solidFill>
                  <a:srgbClr val="000000"/>
                </a:solidFill>
                <a:latin typeface="华文仿宋" panose="02010600040101010101" pitchFamily="2" charset="-122"/>
                <a:ea typeface="华文仿宋" panose="02010600040101010101" pitchFamily="2" charset="-122"/>
              </a:rPr>
              <a:t>”</a:t>
            </a:r>
            <a:r>
              <a:rPr lang="zh-CN" altLang="en-US" sz="1700">
                <a:solidFill>
                  <a:srgbClr val="000000"/>
                </a:solidFill>
                <a:latin typeface="+mn-lt"/>
                <a:ea typeface="华文仿宋" panose="02010600040101010101" pitchFamily="2" charset="-122"/>
              </a:rPr>
              <a:t>和</a:t>
            </a:r>
            <a:r>
              <a:rPr lang="zh-CN" altLang="en-US" sz="1700">
                <a:solidFill>
                  <a:srgbClr val="000000"/>
                </a:solidFill>
                <a:latin typeface="华文仿宋" panose="02010600040101010101" pitchFamily="2" charset="-122"/>
                <a:ea typeface="华文仿宋" panose="02010600040101010101" pitchFamily="2" charset="-122"/>
              </a:rPr>
              <a:t>“</a:t>
            </a:r>
            <a:r>
              <a:rPr lang="en-US" altLang="zh-CN" sz="1700">
                <a:solidFill>
                  <a:srgbClr val="000000"/>
                </a:solidFill>
                <a:latin typeface="+mn-lt"/>
                <a:ea typeface="华文仿宋" panose="02010600040101010101" pitchFamily="2" charset="-122"/>
              </a:rPr>
              <a:t>exception</a:t>
            </a:r>
            <a:r>
              <a:rPr lang="en-US" altLang="zh-CN" sz="1700">
                <a:solidFill>
                  <a:srgbClr val="000000"/>
                </a:solidFill>
                <a:latin typeface="华文仿宋" panose="02010600040101010101" pitchFamily="2" charset="-122"/>
                <a:ea typeface="华文仿宋" panose="02010600040101010101" pitchFamily="2" charset="-122"/>
              </a:rPr>
              <a:t>”</a:t>
            </a:r>
            <a:r>
              <a:rPr lang="zh-CN" altLang="en-US" sz="1700">
                <a:solidFill>
                  <a:srgbClr val="000000"/>
                </a:solidFill>
                <a:latin typeface="+mn-lt"/>
                <a:ea typeface="华文仿宋" panose="02010600040101010101" pitchFamily="2" charset="-122"/>
              </a:rPr>
              <a:t>。</a:t>
            </a:r>
          </a:p>
        </p:txBody>
      </p:sp>
      <p:sp>
        <p:nvSpPr>
          <p:cNvPr id="17410"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15</a:t>
            </a:fld>
            <a:endParaRPr lang="en-US" altLang="zh-CN">
              <a:solidFill>
                <a:srgbClr val="898989"/>
              </a:solidFill>
              <a:ea typeface="宋体" panose="0201060003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5"/>
          <p:cNvSpPr txBox="1">
            <a:spLocks noGrp="1"/>
          </p:cNvSpPr>
          <p:nvPr>
            <p:ph type="sldNum" sz="quarter" idx="12"/>
          </p:nvPr>
        </p:nvSpPr>
        <p:spPr>
          <a:ln/>
        </p:spPr>
        <p:txBody>
          <a:bodyPr/>
          <a:lstStyle/>
          <a:p>
            <a:pPr marL="0" indent="0" algn="r" eaLnBrk="1" hangingPunct="1">
              <a:spcBef>
                <a:spcPct val="0"/>
              </a:spcBef>
              <a:buClrTx/>
              <a:buSzTx/>
              <a:buFontTx/>
              <a:buNone/>
            </a:pPr>
            <a:fld id="{9A0DB2DC-4C9A-4742-B13C-FB6460FD3503}" type="slidenum">
              <a:rPr lang="en-US" altLang="zh-CN" sz="1335" dirty="0">
                <a:ea typeface="宋体" panose="02010600030101010101" pitchFamily="2" charset="-122"/>
              </a:rPr>
              <a:t>16</a:t>
            </a:fld>
            <a:endParaRPr lang="en-US" altLang="zh-CN" sz="1335" dirty="0">
              <a:ea typeface="宋体" panose="02010600030101010101" pitchFamily="2" charset="-122"/>
            </a:endParaRPr>
          </a:p>
        </p:txBody>
      </p:sp>
      <p:sp>
        <p:nvSpPr>
          <p:cNvPr id="18435" name="Rectangle 2"/>
          <p:cNvSpPr>
            <a:spLocks noGrp="1"/>
          </p:cNvSpPr>
          <p:nvPr>
            <p:ph type="title"/>
          </p:nvPr>
        </p:nvSpPr>
        <p:spPr>
          <a:ln/>
        </p:spPr>
        <p:txBody>
          <a:bodyPr vert="horz" wrap="square" lIns="121920" tIns="60960" rIns="121920" bIns="60960" anchor="b"/>
          <a:lstStyle/>
          <a:p>
            <a:pPr eaLnBrk="1" hangingPunct="1"/>
            <a:r>
              <a:rPr lang="zh-CN" altLang="en-US" sz="4800" dirty="0">
                <a:latin typeface="+mj-lt"/>
                <a:ea typeface="+mj-ea"/>
                <a:cs typeface="+mj-cs"/>
              </a:rPr>
              <a:t>（</a:t>
            </a:r>
            <a:r>
              <a:rPr lang="en-US" altLang="zh-CN" sz="4800" dirty="0">
                <a:latin typeface="+mj-lt"/>
                <a:ea typeface="+mj-ea"/>
                <a:cs typeface="+mj-cs"/>
              </a:rPr>
              <a:t>3</a:t>
            </a:r>
            <a:r>
              <a:rPr lang="zh-CN" altLang="en-US" sz="4800" dirty="0">
                <a:latin typeface="+mj-lt"/>
                <a:ea typeface="+mj-ea"/>
                <a:cs typeface="+mj-cs"/>
              </a:rPr>
              <a:t>）分隔符</a:t>
            </a:r>
          </a:p>
        </p:txBody>
      </p:sp>
      <p:sp>
        <p:nvSpPr>
          <p:cNvPr id="18436" name="Rectangle 3"/>
          <p:cNvSpPr>
            <a:spLocks noGrp="1"/>
          </p:cNvSpPr>
          <p:nvPr>
            <p:ph idx="1"/>
          </p:nvPr>
        </p:nvSpPr>
        <p:spPr>
          <a:xfrm>
            <a:off x="912284" y="1708151"/>
            <a:ext cx="1837267" cy="6040967"/>
          </a:xfrm>
          <a:ln/>
        </p:spPr>
        <p:txBody>
          <a:bodyPr vert="horz" wrap="square" lIns="121920" tIns="60960" rIns="121920" bIns="60960" anchor="t"/>
          <a:lstStyle/>
          <a:p>
            <a:pPr eaLnBrk="1" hangingPunct="1">
              <a:lnSpc>
                <a:spcPct val="80000"/>
              </a:lnSpc>
              <a:buSzPct val="75000"/>
            </a:pPr>
            <a:r>
              <a:rPr lang="en-US" altLang="zh-CN" sz="3735" dirty="0">
                <a:latin typeface="+mn-lt"/>
                <a:ea typeface="+mn-ea"/>
                <a:cs typeface="+mn-cs"/>
              </a:rPr>
              <a:t>+</a:t>
            </a:r>
          </a:p>
          <a:p>
            <a:pPr eaLnBrk="1" hangingPunct="1">
              <a:lnSpc>
                <a:spcPct val="80000"/>
              </a:lnSpc>
              <a:buSzPct val="75000"/>
            </a:pPr>
            <a:r>
              <a:rPr lang="en-US" altLang="zh-CN" sz="3735" dirty="0">
                <a:latin typeface="+mn-lt"/>
                <a:ea typeface="+mn-ea"/>
                <a:cs typeface="+mn-cs"/>
              </a:rPr>
              <a:t>-</a:t>
            </a:r>
          </a:p>
          <a:p>
            <a:pPr eaLnBrk="1" hangingPunct="1">
              <a:lnSpc>
                <a:spcPct val="80000"/>
              </a:lnSpc>
              <a:buSzPct val="75000"/>
            </a:pPr>
            <a:r>
              <a:rPr lang="en-US" altLang="zh-CN" sz="3735" dirty="0">
                <a:latin typeface="+mn-lt"/>
                <a:ea typeface="+mn-ea"/>
                <a:cs typeface="+mn-cs"/>
              </a:rPr>
              <a:t>*</a:t>
            </a:r>
          </a:p>
          <a:p>
            <a:pPr eaLnBrk="1" hangingPunct="1">
              <a:lnSpc>
                <a:spcPct val="80000"/>
              </a:lnSpc>
              <a:buSzPct val="75000"/>
            </a:pPr>
            <a:r>
              <a:rPr lang="en-US" altLang="zh-CN" sz="3735" dirty="0">
                <a:latin typeface="+mn-lt"/>
                <a:ea typeface="+mn-ea"/>
                <a:cs typeface="+mn-cs"/>
              </a:rPr>
              <a:t>/</a:t>
            </a:r>
          </a:p>
          <a:p>
            <a:pPr eaLnBrk="1" hangingPunct="1">
              <a:lnSpc>
                <a:spcPct val="80000"/>
              </a:lnSpc>
              <a:buSzPct val="75000"/>
            </a:pPr>
            <a:r>
              <a:rPr lang="en-US" altLang="zh-CN" sz="3735" dirty="0">
                <a:latin typeface="+mn-lt"/>
                <a:ea typeface="+mn-ea"/>
                <a:cs typeface="+mn-cs"/>
              </a:rPr>
              <a:t>=</a:t>
            </a:r>
          </a:p>
          <a:p>
            <a:pPr eaLnBrk="1" hangingPunct="1">
              <a:lnSpc>
                <a:spcPct val="80000"/>
              </a:lnSpc>
              <a:buSzPct val="75000"/>
            </a:pPr>
            <a:r>
              <a:rPr lang="en-US" altLang="zh-CN" sz="3735" dirty="0">
                <a:latin typeface="+mn-lt"/>
                <a:ea typeface="+mn-ea"/>
                <a:cs typeface="+mn-cs"/>
              </a:rPr>
              <a:t>:=</a:t>
            </a:r>
          </a:p>
          <a:p>
            <a:pPr eaLnBrk="1" hangingPunct="1">
              <a:lnSpc>
                <a:spcPct val="80000"/>
              </a:lnSpc>
              <a:buSzPct val="75000"/>
            </a:pPr>
            <a:r>
              <a:rPr lang="en-US" altLang="zh-CN" sz="3735" dirty="0">
                <a:latin typeface="+mn-lt"/>
                <a:ea typeface="+mn-ea"/>
                <a:cs typeface="+mn-cs"/>
              </a:rPr>
              <a:t>&lt;</a:t>
            </a:r>
          </a:p>
          <a:p>
            <a:pPr eaLnBrk="1" hangingPunct="1">
              <a:lnSpc>
                <a:spcPct val="80000"/>
              </a:lnSpc>
              <a:buSzPct val="75000"/>
            </a:pPr>
            <a:r>
              <a:rPr lang="en-US" altLang="zh-CN" sz="3735" dirty="0">
                <a:latin typeface="+mn-lt"/>
                <a:ea typeface="+mn-ea"/>
                <a:cs typeface="+mn-cs"/>
              </a:rPr>
              <a:t>&gt;</a:t>
            </a:r>
          </a:p>
          <a:p>
            <a:pPr eaLnBrk="1" hangingPunct="1">
              <a:lnSpc>
                <a:spcPct val="80000"/>
              </a:lnSpc>
              <a:buSzPct val="75000"/>
            </a:pPr>
            <a:r>
              <a:rPr lang="en-US" altLang="zh-CN" sz="3735" dirty="0">
                <a:latin typeface="+mn-lt"/>
                <a:ea typeface="+mn-ea"/>
                <a:cs typeface="+mn-cs"/>
              </a:rPr>
              <a:t>&lt;=</a:t>
            </a:r>
          </a:p>
          <a:p>
            <a:pPr eaLnBrk="1" hangingPunct="1">
              <a:lnSpc>
                <a:spcPct val="80000"/>
              </a:lnSpc>
              <a:buSzPct val="75000"/>
            </a:pPr>
            <a:r>
              <a:rPr lang="en-US" altLang="zh-CN" sz="3735" dirty="0">
                <a:latin typeface="+mn-lt"/>
                <a:ea typeface="+mn-ea"/>
                <a:cs typeface="+mn-cs"/>
              </a:rPr>
              <a:t>&gt;=</a:t>
            </a:r>
          </a:p>
        </p:txBody>
      </p:sp>
      <p:sp>
        <p:nvSpPr>
          <p:cNvPr id="18437" name="Rectangle 4"/>
          <p:cNvSpPr/>
          <p:nvPr/>
        </p:nvSpPr>
        <p:spPr>
          <a:xfrm>
            <a:off x="3107267" y="1805517"/>
            <a:ext cx="1837267" cy="6040967"/>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Char char="n"/>
              <a:defRPr sz="2800" b="1">
                <a:solidFill>
                  <a:schemeClr val="tx1"/>
                </a:solidFill>
                <a:latin typeface="+mn-lt"/>
                <a:ea typeface="华文仿宋" panose="02010600040101010101" pitchFamily="2" charset="-122"/>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p"/>
              <a:defRPr sz="2400">
                <a:solidFill>
                  <a:schemeClr val="tx1"/>
                </a:solidFill>
                <a:latin typeface="+mn-lt"/>
                <a:ea typeface="华文隶书" panose="02010800040101010101" pitchFamily="2" charset="-122"/>
              </a:defRPr>
            </a:lvl3pPr>
            <a:lvl4pPr marL="16002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j-ea"/>
              </a:defRPr>
            </a:lvl4pPr>
            <a:lvl5pPr marL="2057400" indent="-228600" algn="l" rtl="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mn-lt"/>
                <a:ea typeface="+mj-ea"/>
              </a:defRPr>
            </a:lvl5pPr>
          </a:lstStyle>
          <a:p>
            <a:pPr marL="342900" lvl="0" indent="-342900" eaLnBrk="1" hangingPunct="1">
              <a:lnSpc>
                <a:spcPct val="80000"/>
              </a:lnSpc>
            </a:pPr>
            <a:r>
              <a:rPr lang="en-US" altLang="zh-CN" sz="3735" dirty="0"/>
              <a:t>&lt;&gt;</a:t>
            </a:r>
          </a:p>
          <a:p>
            <a:pPr marL="342900" lvl="0" indent="-342900" eaLnBrk="1" hangingPunct="1">
              <a:lnSpc>
                <a:spcPct val="80000"/>
              </a:lnSpc>
            </a:pPr>
            <a:r>
              <a:rPr lang="en-US" altLang="zh-CN" sz="3735" dirty="0"/>
              <a:t>!=</a:t>
            </a:r>
          </a:p>
          <a:p>
            <a:pPr marL="342900" lvl="0" indent="-342900" eaLnBrk="1" hangingPunct="1">
              <a:lnSpc>
                <a:spcPct val="80000"/>
              </a:lnSpc>
            </a:pPr>
            <a:r>
              <a:rPr lang="en-US" altLang="zh-CN" sz="3735" dirty="0"/>
              <a:t>~=</a:t>
            </a:r>
          </a:p>
          <a:p>
            <a:pPr marL="342900" lvl="0" indent="-342900" eaLnBrk="1" hangingPunct="1">
              <a:lnSpc>
                <a:spcPct val="80000"/>
              </a:lnSpc>
            </a:pPr>
            <a:r>
              <a:rPr lang="en-US" altLang="zh-CN" sz="3735" dirty="0"/>
              <a:t>^=</a:t>
            </a:r>
          </a:p>
          <a:p>
            <a:pPr marL="342900" lvl="0" indent="-342900" eaLnBrk="1" hangingPunct="1">
              <a:lnSpc>
                <a:spcPct val="80000"/>
              </a:lnSpc>
            </a:pPr>
            <a:r>
              <a:rPr lang="en-US" altLang="zh-CN" sz="3735" dirty="0"/>
              <a:t>(</a:t>
            </a:r>
          </a:p>
          <a:p>
            <a:pPr marL="342900" lvl="0" indent="-342900" eaLnBrk="1" hangingPunct="1">
              <a:lnSpc>
                <a:spcPct val="80000"/>
              </a:lnSpc>
            </a:pPr>
            <a:r>
              <a:rPr lang="en-US" altLang="zh-CN" sz="3735" dirty="0"/>
              <a:t>)</a:t>
            </a:r>
          </a:p>
          <a:p>
            <a:pPr marL="342900" lvl="0" indent="-342900" eaLnBrk="1" hangingPunct="1">
              <a:lnSpc>
                <a:spcPct val="80000"/>
              </a:lnSpc>
            </a:pPr>
            <a:r>
              <a:rPr lang="en-US" altLang="zh-CN" sz="3735" dirty="0"/>
              <a:t>/*</a:t>
            </a:r>
          </a:p>
          <a:p>
            <a:pPr marL="342900" lvl="0" indent="-342900" eaLnBrk="1" hangingPunct="1">
              <a:lnSpc>
                <a:spcPct val="80000"/>
              </a:lnSpc>
            </a:pPr>
            <a:r>
              <a:rPr lang="en-US" altLang="zh-CN" sz="3735" dirty="0"/>
              <a:t>*/</a:t>
            </a:r>
          </a:p>
          <a:p>
            <a:pPr marL="342900" lvl="0" indent="-342900" eaLnBrk="1" hangingPunct="1">
              <a:lnSpc>
                <a:spcPct val="80000"/>
              </a:lnSpc>
            </a:pPr>
            <a:r>
              <a:rPr lang="en-US" altLang="zh-CN" sz="3735" dirty="0"/>
              <a:t>&lt;&lt;</a:t>
            </a:r>
          </a:p>
          <a:p>
            <a:pPr marL="342900" lvl="0" indent="-342900" eaLnBrk="1" hangingPunct="1">
              <a:lnSpc>
                <a:spcPct val="80000"/>
              </a:lnSpc>
            </a:pPr>
            <a:r>
              <a:rPr lang="en-US" altLang="zh-CN" sz="3735" dirty="0"/>
              <a:t>&gt;&gt;</a:t>
            </a:r>
          </a:p>
        </p:txBody>
      </p:sp>
      <p:sp>
        <p:nvSpPr>
          <p:cNvPr id="18438" name="Rectangle 5"/>
          <p:cNvSpPr/>
          <p:nvPr/>
        </p:nvSpPr>
        <p:spPr>
          <a:xfrm>
            <a:off x="5890684" y="1805517"/>
            <a:ext cx="1837267" cy="6040967"/>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Char char="n"/>
              <a:defRPr sz="2800" b="1">
                <a:solidFill>
                  <a:schemeClr val="tx1"/>
                </a:solidFill>
                <a:latin typeface="+mn-lt"/>
                <a:ea typeface="华文仿宋" panose="02010600040101010101" pitchFamily="2" charset="-122"/>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p"/>
              <a:defRPr sz="2400">
                <a:solidFill>
                  <a:schemeClr val="tx1"/>
                </a:solidFill>
                <a:latin typeface="+mn-lt"/>
                <a:ea typeface="华文隶书" panose="02010800040101010101" pitchFamily="2" charset="-122"/>
              </a:defRPr>
            </a:lvl3pPr>
            <a:lvl4pPr marL="16002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j-ea"/>
              </a:defRPr>
            </a:lvl4pPr>
            <a:lvl5pPr marL="2057400" indent="-228600" algn="l" rtl="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mn-lt"/>
                <a:ea typeface="+mj-ea"/>
              </a:defRPr>
            </a:lvl5pPr>
          </a:lstStyle>
          <a:p>
            <a:pPr marL="342900" lvl="0" indent="-342900" eaLnBrk="1" hangingPunct="1">
              <a:lnSpc>
                <a:spcPct val="80000"/>
              </a:lnSpc>
            </a:pPr>
            <a:r>
              <a:rPr lang="en-US" altLang="zh-CN" sz="3735" dirty="0"/>
              <a:t>%</a:t>
            </a:r>
          </a:p>
          <a:p>
            <a:pPr marL="342900" lvl="0" indent="-342900" eaLnBrk="1" hangingPunct="1">
              <a:lnSpc>
                <a:spcPct val="80000"/>
              </a:lnSpc>
            </a:pPr>
            <a:r>
              <a:rPr lang="en-US" altLang="zh-CN" sz="3735" dirty="0"/>
              <a:t>;</a:t>
            </a:r>
          </a:p>
          <a:p>
            <a:pPr marL="342900" lvl="0" indent="-342900" eaLnBrk="1" hangingPunct="1">
              <a:lnSpc>
                <a:spcPct val="80000"/>
              </a:lnSpc>
            </a:pPr>
            <a:r>
              <a:rPr lang="en-US" altLang="zh-CN" sz="3735" dirty="0"/>
              <a:t>:</a:t>
            </a:r>
          </a:p>
          <a:p>
            <a:pPr marL="342900" lvl="0" indent="-342900" eaLnBrk="1" hangingPunct="1">
              <a:lnSpc>
                <a:spcPct val="80000"/>
              </a:lnSpc>
            </a:pPr>
            <a:r>
              <a:rPr lang="en-US" altLang="zh-CN" sz="3735" dirty="0"/>
              <a:t>.</a:t>
            </a:r>
          </a:p>
          <a:p>
            <a:pPr marL="342900" lvl="0" indent="-342900" eaLnBrk="1" hangingPunct="1">
              <a:lnSpc>
                <a:spcPct val="80000"/>
              </a:lnSpc>
            </a:pPr>
            <a:r>
              <a:rPr lang="en-US" altLang="zh-CN" sz="3735" dirty="0">
                <a:latin typeface="Arial" panose="020B0604020202020204" pitchFamily="34" charset="0"/>
              </a:rPr>
              <a:t>‘</a:t>
            </a:r>
            <a:endParaRPr lang="en-US" altLang="zh-CN" sz="3735" dirty="0"/>
          </a:p>
          <a:p>
            <a:pPr marL="342900" lvl="0" indent="-342900" eaLnBrk="1" hangingPunct="1">
              <a:lnSpc>
                <a:spcPct val="80000"/>
              </a:lnSpc>
            </a:pPr>
            <a:r>
              <a:rPr lang="en-US" altLang="zh-CN" sz="3735" dirty="0">
                <a:latin typeface="Arial" panose="020B0604020202020204" pitchFamily="34" charset="0"/>
              </a:rPr>
              <a:t>“</a:t>
            </a:r>
            <a:endParaRPr lang="en-US" altLang="zh-CN" sz="3735" dirty="0"/>
          </a:p>
          <a:p>
            <a:pPr marL="342900" lvl="0" indent="-342900" eaLnBrk="1" hangingPunct="1">
              <a:lnSpc>
                <a:spcPct val="80000"/>
              </a:lnSpc>
            </a:pPr>
            <a:r>
              <a:rPr lang="en-US" altLang="zh-CN" sz="3735" dirty="0"/>
              <a:t>..</a:t>
            </a:r>
          </a:p>
          <a:p>
            <a:pPr marL="342900" lvl="0" indent="-342900" eaLnBrk="1" hangingPunct="1">
              <a:lnSpc>
                <a:spcPct val="80000"/>
              </a:lnSpc>
            </a:pPr>
            <a:r>
              <a:rPr lang="en-US" altLang="zh-CN" sz="3735" dirty="0"/>
              <a:t>@</a:t>
            </a:r>
          </a:p>
          <a:p>
            <a:pPr marL="342900" lvl="0" indent="-342900" eaLnBrk="1" hangingPunct="1">
              <a:lnSpc>
                <a:spcPct val="80000"/>
              </a:lnSpc>
            </a:pPr>
            <a:r>
              <a:rPr lang="en-US" altLang="zh-CN" sz="3735" dirty="0"/>
              <a:t>||</a:t>
            </a:r>
          </a:p>
          <a:p>
            <a:pPr marL="342900" lvl="0" indent="-342900" eaLnBrk="1" hangingPunct="1">
              <a:lnSpc>
                <a:spcPct val="80000"/>
              </a:lnSpc>
            </a:pPr>
            <a:r>
              <a:rPr lang="en-US" altLang="zh-CN" sz="3735" dirty="0"/>
              <a:t>=&gt;</a:t>
            </a:r>
          </a:p>
        </p:txBody>
      </p:sp>
      <p:sp>
        <p:nvSpPr>
          <p:cNvPr id="18439" name="Rectangle 6"/>
          <p:cNvSpPr/>
          <p:nvPr/>
        </p:nvSpPr>
        <p:spPr>
          <a:xfrm>
            <a:off x="7810500" y="1805517"/>
            <a:ext cx="1837267" cy="6040967"/>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Char char="n"/>
              <a:defRPr sz="2800" b="1">
                <a:solidFill>
                  <a:schemeClr val="tx1"/>
                </a:solidFill>
                <a:latin typeface="+mn-lt"/>
                <a:ea typeface="华文仿宋" panose="02010600040101010101" pitchFamily="2" charset="-122"/>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p"/>
              <a:defRPr sz="2400">
                <a:solidFill>
                  <a:schemeClr val="tx1"/>
                </a:solidFill>
                <a:latin typeface="+mn-lt"/>
                <a:ea typeface="华文隶书" panose="02010800040101010101" pitchFamily="2" charset="-122"/>
              </a:defRPr>
            </a:lvl3pPr>
            <a:lvl4pPr marL="16002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j-ea"/>
              </a:defRPr>
            </a:lvl4pPr>
            <a:lvl5pPr marL="2057400" indent="-228600" algn="l" rtl="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mn-lt"/>
                <a:ea typeface="+mj-ea"/>
              </a:defRPr>
            </a:lvl5pPr>
          </a:lstStyle>
          <a:p>
            <a:pPr marL="342900" lvl="0" indent="-342900" eaLnBrk="1" hangingPunct="1">
              <a:lnSpc>
                <a:spcPct val="80000"/>
              </a:lnSpc>
            </a:pPr>
            <a:r>
              <a:rPr lang="en-US" altLang="zh-CN" sz="3735" dirty="0"/>
              <a:t>**</a:t>
            </a:r>
          </a:p>
          <a:p>
            <a:pPr marL="342900" lvl="0" indent="-342900" eaLnBrk="1" hangingPunct="1">
              <a:lnSpc>
                <a:spcPct val="80000"/>
              </a:lnSpc>
            </a:pPr>
            <a:r>
              <a:rPr lang="en-US" altLang="zh-CN" sz="3735" dirty="0"/>
              <a:t>-</a:t>
            </a:r>
          </a:p>
          <a:p>
            <a:pPr marL="342900" lvl="0" indent="-342900" eaLnBrk="1" hangingPunct="1">
              <a:lnSpc>
                <a:spcPct val="80000"/>
              </a:lnSpc>
            </a:pPr>
            <a:endParaRPr lang="en-US" altLang="zh-CN" sz="3735" dirty="0"/>
          </a:p>
        </p:txBody>
      </p:sp>
      <p:sp>
        <p:nvSpPr>
          <p:cNvPr id="339977" name="Rectangle 9"/>
          <p:cNvSpPr>
            <a:spLocks noChangeArrowheads="1"/>
          </p:cNvSpPr>
          <p:nvPr/>
        </p:nvSpPr>
        <p:spPr bwMode="auto">
          <a:xfrm>
            <a:off x="719667" y="946468"/>
            <a:ext cx="10560050" cy="6661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457200" marR="0" lvl="0" indent="-457200" algn="l" defTabSz="914400" rtl="0" eaLnBrk="1" fontAlgn="base" latinLnBrk="0" hangingPunct="1">
              <a:lnSpc>
                <a:spcPct val="100000"/>
              </a:lnSpc>
              <a:spcBef>
                <a:spcPct val="0"/>
              </a:spcBef>
              <a:spcAft>
                <a:spcPct val="0"/>
              </a:spcAft>
              <a:buClrTx/>
              <a:buSzTx/>
              <a:buFont typeface="Wingdings" panose="05000000000000000000" pitchFamily="2" charset="2"/>
              <a:buChar char="l"/>
              <a:defRPr/>
            </a:pPr>
            <a:r>
              <a:rPr kumimoji="0" lang="zh-CN" altLang="en-US" sz="3735" b="0" i="0" u="none" strike="noStrike" kern="1200" cap="none" spc="0" normalizeH="0" baseline="0" noProof="0" dirty="0">
                <a:ln>
                  <a:noFill/>
                </a:ln>
                <a:solidFill>
                  <a:schemeClr val="tx1"/>
                </a:solidFill>
                <a:effectLst/>
                <a:uLnTx/>
                <a:uFillTx/>
                <a:latin typeface="+mn-lt"/>
                <a:ea typeface="+mn-ea"/>
                <a:cs typeface="+mn-cs"/>
              </a:rPr>
              <a:t>分隔符是指有特定</a:t>
            </a:r>
            <a:r>
              <a:rPr kumimoji="0" lang="zh-CN" altLang="en-US" sz="3735" b="0" i="0" u="none" strike="noStrike" kern="1200" cap="none" spc="0" normalizeH="0" baseline="0" noProof="0" dirty="0">
                <a:ln>
                  <a:noFill/>
                </a:ln>
                <a:solidFill>
                  <a:schemeClr val="tx1"/>
                </a:solidFill>
                <a:effectLst/>
                <a:uLnTx/>
                <a:uFillTx/>
                <a:latin typeface="Verdana" panose="020B0604030504040204" pitchFamily="34" charset="0"/>
                <a:ea typeface="黑体" panose="02010609060101010101" pitchFamily="49" charset="-122"/>
                <a:cs typeface="+mn-cs"/>
              </a:rPr>
              <a:t>含义的单个符号或组合符号</a:t>
            </a:r>
            <a:r>
              <a:rPr kumimoji="0" lang="zh-CN" altLang="en-US" sz="2665" b="0"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rPr>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9459"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r>
              <a:rPr lang="zh-CN" altLang="en-US">
                <a:solidFill>
                  <a:srgbClr val="FFFFFF"/>
                </a:solidFill>
                <a:latin typeface="+mj-lt"/>
                <a:ea typeface="+mj-ea"/>
                <a:cs typeface="+mj-cs"/>
              </a:rPr>
              <a:t>（</a:t>
            </a:r>
            <a:r>
              <a:rPr lang="en-US" altLang="zh-CN">
                <a:solidFill>
                  <a:srgbClr val="FFFFFF"/>
                </a:solidFill>
                <a:latin typeface="+mj-lt"/>
                <a:ea typeface="+mj-ea"/>
                <a:cs typeface="+mj-cs"/>
              </a:rPr>
              <a:t>4</a:t>
            </a:r>
            <a:r>
              <a:rPr lang="zh-CN" altLang="en-US">
                <a:solidFill>
                  <a:srgbClr val="FFFFFF"/>
                </a:solidFill>
                <a:latin typeface="+mj-lt"/>
                <a:ea typeface="+mj-ea"/>
                <a:cs typeface="+mj-cs"/>
              </a:rPr>
              <a:t>）常量值</a:t>
            </a:r>
          </a:p>
        </p:txBody>
      </p:sp>
      <p:sp>
        <p:nvSpPr>
          <p:cNvPr id="19460"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lnSpc>
                <a:spcPct val="90000"/>
              </a:lnSpc>
              <a:buSzPct val="75000"/>
            </a:pPr>
            <a:r>
              <a:rPr lang="zh-CN" altLang="en-US" sz="1600">
                <a:solidFill>
                  <a:srgbClr val="000000"/>
                </a:solidFill>
                <a:latin typeface="+mn-lt"/>
                <a:ea typeface="+mn-ea"/>
                <a:cs typeface="+mn-cs"/>
              </a:rPr>
              <a:t>字符型文字</a:t>
            </a:r>
          </a:p>
          <a:p>
            <a:pPr lvl="1" eaLnBrk="1" hangingPunct="1">
              <a:lnSpc>
                <a:spcPct val="90000"/>
              </a:lnSpc>
              <a:buSzPct val="75000"/>
            </a:pPr>
            <a:r>
              <a:rPr lang="zh-CN" altLang="en-US" sz="1600">
                <a:solidFill>
                  <a:srgbClr val="000000"/>
                </a:solidFill>
                <a:latin typeface="+mn-lt"/>
                <a:ea typeface="华文仿宋" panose="02010600040101010101" pitchFamily="2" charset="-122"/>
              </a:rPr>
              <a:t>以单引号引起来的字符串，在字符串中的字符区分大小写。如果字符串中本身包含单引号，则用两个连续的单引号进行转义。</a:t>
            </a:r>
          </a:p>
          <a:p>
            <a:pPr eaLnBrk="1" hangingPunct="1">
              <a:lnSpc>
                <a:spcPct val="90000"/>
              </a:lnSpc>
              <a:buSzPct val="75000"/>
            </a:pPr>
            <a:r>
              <a:rPr lang="zh-CN" altLang="en-US" sz="1600">
                <a:solidFill>
                  <a:srgbClr val="000000"/>
                </a:solidFill>
                <a:latin typeface="+mn-lt"/>
                <a:ea typeface="+mn-ea"/>
                <a:cs typeface="+mn-cs"/>
              </a:rPr>
              <a:t>数字型文字</a:t>
            </a:r>
          </a:p>
          <a:p>
            <a:pPr lvl="1" eaLnBrk="1" hangingPunct="1">
              <a:lnSpc>
                <a:spcPct val="90000"/>
              </a:lnSpc>
              <a:buSzPct val="75000"/>
            </a:pPr>
            <a:r>
              <a:rPr lang="zh-CN" altLang="en-US" sz="1600">
                <a:solidFill>
                  <a:srgbClr val="000000"/>
                </a:solidFill>
                <a:latin typeface="+mn-lt"/>
                <a:ea typeface="华文仿宋" panose="02010600040101010101" pitchFamily="2" charset="-122"/>
              </a:rPr>
              <a:t>分为整数与实数两类。其中，整数没有小数点，如</a:t>
            </a:r>
            <a:r>
              <a:rPr lang="en-US" altLang="zh-CN" sz="1600">
                <a:solidFill>
                  <a:srgbClr val="000000"/>
                </a:solidFill>
                <a:latin typeface="+mn-lt"/>
                <a:ea typeface="华文仿宋" panose="02010600040101010101" pitchFamily="2" charset="-122"/>
              </a:rPr>
              <a:t>123</a:t>
            </a:r>
            <a:r>
              <a:rPr lang="zh-CN" altLang="en-US" sz="1600">
                <a:solidFill>
                  <a:srgbClr val="000000"/>
                </a:solidFill>
                <a:latin typeface="+mn-lt"/>
                <a:ea typeface="华文仿宋" panose="02010600040101010101" pitchFamily="2" charset="-122"/>
              </a:rPr>
              <a:t>；而实数有小数点，如</a:t>
            </a:r>
            <a:r>
              <a:rPr lang="en-US" altLang="zh-CN" sz="1600">
                <a:solidFill>
                  <a:srgbClr val="000000"/>
                </a:solidFill>
                <a:latin typeface="+mn-lt"/>
                <a:ea typeface="华文仿宋" panose="02010600040101010101" pitchFamily="2" charset="-122"/>
              </a:rPr>
              <a:t>123.45</a:t>
            </a:r>
            <a:r>
              <a:rPr lang="zh-CN" altLang="en-US" sz="1600">
                <a:solidFill>
                  <a:srgbClr val="000000"/>
                </a:solidFill>
                <a:latin typeface="+mn-lt"/>
                <a:ea typeface="华文仿宋" panose="02010600040101010101" pitchFamily="2" charset="-122"/>
              </a:rPr>
              <a:t>。可以用科学计数法表示数字型文字，如</a:t>
            </a:r>
            <a:r>
              <a:rPr lang="en-US" altLang="zh-CN" sz="1600">
                <a:solidFill>
                  <a:srgbClr val="000000"/>
                </a:solidFill>
                <a:latin typeface="+mn-lt"/>
                <a:ea typeface="华文仿宋" panose="02010600040101010101" pitchFamily="2" charset="-122"/>
              </a:rPr>
              <a:t>123.45</a:t>
            </a:r>
            <a:r>
              <a:rPr lang="zh-CN" altLang="en-US" sz="1600">
                <a:solidFill>
                  <a:srgbClr val="000000"/>
                </a:solidFill>
                <a:latin typeface="+mn-lt"/>
                <a:ea typeface="华文仿宋" panose="02010600040101010101" pitchFamily="2" charset="-122"/>
              </a:rPr>
              <a:t>可以表示为</a:t>
            </a:r>
            <a:r>
              <a:rPr lang="en-US" altLang="zh-CN" sz="1600">
                <a:solidFill>
                  <a:srgbClr val="000000"/>
                </a:solidFill>
                <a:latin typeface="+mn-lt"/>
                <a:ea typeface="华文仿宋" panose="02010600040101010101" pitchFamily="2" charset="-122"/>
              </a:rPr>
              <a:t>1.2345E2</a:t>
            </a:r>
            <a:r>
              <a:rPr lang="zh-CN" altLang="en-US" sz="1600">
                <a:solidFill>
                  <a:srgbClr val="000000"/>
                </a:solidFill>
                <a:latin typeface="+mn-lt"/>
                <a:ea typeface="华文仿宋" panose="02010600040101010101" pitchFamily="2" charset="-122"/>
              </a:rPr>
              <a:t>。</a:t>
            </a:r>
          </a:p>
          <a:p>
            <a:pPr eaLnBrk="1" hangingPunct="1">
              <a:lnSpc>
                <a:spcPct val="90000"/>
              </a:lnSpc>
              <a:buSzPct val="75000"/>
            </a:pPr>
            <a:r>
              <a:rPr lang="zh-CN" altLang="en-US" sz="1600">
                <a:solidFill>
                  <a:srgbClr val="000000"/>
                </a:solidFill>
                <a:latin typeface="+mn-lt"/>
                <a:ea typeface="+mn-ea"/>
                <a:cs typeface="+mn-cs"/>
              </a:rPr>
              <a:t>布尔型文字</a:t>
            </a:r>
          </a:p>
          <a:p>
            <a:pPr lvl="1" eaLnBrk="1" hangingPunct="1">
              <a:lnSpc>
                <a:spcPct val="90000"/>
              </a:lnSpc>
              <a:buSzPct val="75000"/>
            </a:pPr>
            <a:r>
              <a:rPr lang="zh-CN" altLang="en-US" sz="1600">
                <a:solidFill>
                  <a:srgbClr val="000000"/>
                </a:solidFill>
                <a:latin typeface="+mn-lt"/>
                <a:ea typeface="华文仿宋" panose="02010600040101010101" pitchFamily="2" charset="-122"/>
              </a:rPr>
              <a:t>预定义的布尔型变量的取值，包括</a:t>
            </a:r>
            <a:r>
              <a:rPr lang="en-US" altLang="zh-CN" sz="1600">
                <a:solidFill>
                  <a:srgbClr val="000000"/>
                </a:solidFill>
                <a:latin typeface="+mn-lt"/>
                <a:ea typeface="华文仿宋" panose="02010600040101010101" pitchFamily="2" charset="-122"/>
              </a:rPr>
              <a:t>TRUE</a:t>
            </a:r>
            <a:r>
              <a:rPr lang="zh-CN" altLang="en-US" sz="1600">
                <a:solidFill>
                  <a:srgbClr val="000000"/>
                </a:solidFill>
                <a:latin typeface="+mn-lt"/>
                <a:ea typeface="华文仿宋" panose="02010600040101010101" pitchFamily="2" charset="-122"/>
              </a:rPr>
              <a:t>，</a:t>
            </a:r>
            <a:r>
              <a:rPr lang="en-US" altLang="zh-CN" sz="1600">
                <a:solidFill>
                  <a:srgbClr val="000000"/>
                </a:solidFill>
                <a:latin typeface="+mn-lt"/>
                <a:ea typeface="华文仿宋" panose="02010600040101010101" pitchFamily="2" charset="-122"/>
              </a:rPr>
              <a:t>FALSE</a:t>
            </a:r>
            <a:r>
              <a:rPr lang="zh-CN" altLang="en-US" sz="1600">
                <a:solidFill>
                  <a:srgbClr val="000000"/>
                </a:solidFill>
                <a:latin typeface="+mn-lt"/>
                <a:ea typeface="华文仿宋" panose="02010600040101010101" pitchFamily="2" charset="-122"/>
              </a:rPr>
              <a:t>，</a:t>
            </a:r>
            <a:r>
              <a:rPr lang="en-US" altLang="zh-CN" sz="1600">
                <a:solidFill>
                  <a:srgbClr val="000000"/>
                </a:solidFill>
                <a:latin typeface="+mn-lt"/>
                <a:ea typeface="华文仿宋" panose="02010600040101010101" pitchFamily="2" charset="-122"/>
              </a:rPr>
              <a:t>NULL</a:t>
            </a:r>
            <a:r>
              <a:rPr lang="zh-CN" altLang="en-US" sz="1600">
                <a:solidFill>
                  <a:srgbClr val="000000"/>
                </a:solidFill>
                <a:latin typeface="+mn-lt"/>
                <a:ea typeface="华文仿宋" panose="02010600040101010101" pitchFamily="2" charset="-122"/>
              </a:rPr>
              <a:t>三个值。</a:t>
            </a:r>
          </a:p>
          <a:p>
            <a:pPr eaLnBrk="1" hangingPunct="1">
              <a:lnSpc>
                <a:spcPct val="90000"/>
              </a:lnSpc>
              <a:buSzPct val="75000"/>
            </a:pPr>
            <a:r>
              <a:rPr lang="zh-CN" altLang="en-US" sz="1600">
                <a:solidFill>
                  <a:srgbClr val="000000"/>
                </a:solidFill>
                <a:latin typeface="+mn-lt"/>
                <a:ea typeface="+mn-ea"/>
                <a:cs typeface="+mn-cs"/>
              </a:rPr>
              <a:t>日期型文字</a:t>
            </a:r>
          </a:p>
          <a:p>
            <a:pPr lvl="1" eaLnBrk="1" hangingPunct="1">
              <a:lnSpc>
                <a:spcPct val="90000"/>
              </a:lnSpc>
              <a:buSzPct val="75000"/>
            </a:pPr>
            <a:r>
              <a:rPr lang="zh-CN" altLang="en-US" sz="1600">
                <a:solidFill>
                  <a:srgbClr val="000000"/>
                </a:solidFill>
                <a:latin typeface="+mn-lt"/>
                <a:ea typeface="华文仿宋" panose="02010600040101010101" pitchFamily="2" charset="-122"/>
              </a:rPr>
              <a:t>表示日期值，其格式随日期类型格式不同而不同。</a:t>
            </a:r>
          </a:p>
        </p:txBody>
      </p:sp>
      <p:sp>
        <p:nvSpPr>
          <p:cNvPr id="19458"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17</a:t>
            </a:fld>
            <a:endParaRPr lang="en-US" altLang="zh-CN">
              <a:solidFill>
                <a:srgbClr val="898989"/>
              </a:solidFill>
              <a:ea typeface="宋体"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483"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r>
              <a:rPr lang="zh-CN" altLang="en-US">
                <a:solidFill>
                  <a:srgbClr val="FFFFFF"/>
                </a:solidFill>
                <a:latin typeface="+mj-lt"/>
                <a:ea typeface="+mj-ea"/>
                <a:cs typeface="+mj-cs"/>
              </a:rPr>
              <a:t>（</a:t>
            </a:r>
            <a:r>
              <a:rPr lang="en-US" altLang="zh-CN">
                <a:solidFill>
                  <a:srgbClr val="FFFFFF"/>
                </a:solidFill>
                <a:latin typeface="+mj-lt"/>
                <a:ea typeface="+mj-ea"/>
                <a:cs typeface="+mj-cs"/>
              </a:rPr>
              <a:t>5</a:t>
            </a:r>
            <a:r>
              <a:rPr lang="zh-CN" altLang="en-US">
                <a:solidFill>
                  <a:srgbClr val="FFFFFF"/>
                </a:solidFill>
                <a:latin typeface="+mj-lt"/>
                <a:ea typeface="+mj-ea"/>
                <a:cs typeface="+mj-cs"/>
              </a:rPr>
              <a:t>）注释</a:t>
            </a:r>
          </a:p>
        </p:txBody>
      </p:sp>
      <p:sp>
        <p:nvSpPr>
          <p:cNvPr id="20484"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lnSpc>
                <a:spcPct val="90000"/>
              </a:lnSpc>
              <a:buSzPct val="75000"/>
            </a:pPr>
            <a:r>
              <a:rPr lang="zh-CN" altLang="en-US" sz="1100">
                <a:solidFill>
                  <a:srgbClr val="000000"/>
                </a:solidFill>
                <a:latin typeface="+mn-lt"/>
                <a:ea typeface="+mn-ea"/>
                <a:cs typeface="+mn-cs"/>
              </a:rPr>
              <a:t>单行注释</a:t>
            </a:r>
          </a:p>
          <a:p>
            <a:pPr lvl="1" eaLnBrk="1" hangingPunct="1">
              <a:lnSpc>
                <a:spcPct val="90000"/>
              </a:lnSpc>
              <a:buSzPct val="75000"/>
            </a:pPr>
            <a:r>
              <a:rPr lang="en-US" altLang="zh-CN" sz="1100">
                <a:solidFill>
                  <a:srgbClr val="000000"/>
                </a:solidFill>
                <a:latin typeface="+mn-lt"/>
                <a:ea typeface="华文仿宋" panose="02010600040101010101" pitchFamily="2" charset="-122"/>
              </a:rPr>
              <a:t>--</a:t>
            </a:r>
          </a:p>
          <a:p>
            <a:pPr eaLnBrk="1" hangingPunct="1">
              <a:lnSpc>
                <a:spcPct val="90000"/>
              </a:lnSpc>
              <a:buSzPct val="75000"/>
            </a:pPr>
            <a:r>
              <a:rPr lang="zh-CN" altLang="en-US" sz="1100">
                <a:solidFill>
                  <a:srgbClr val="000000"/>
                </a:solidFill>
                <a:latin typeface="+mn-lt"/>
                <a:ea typeface="+mn-ea"/>
                <a:cs typeface="+mn-cs"/>
              </a:rPr>
              <a:t>多行注释</a:t>
            </a:r>
          </a:p>
          <a:p>
            <a:pPr lvl="1" eaLnBrk="1" hangingPunct="1">
              <a:lnSpc>
                <a:spcPct val="90000"/>
              </a:lnSpc>
              <a:buSzPct val="75000"/>
            </a:pPr>
            <a:r>
              <a:rPr lang="zh-CN" altLang="en-US" sz="1100">
                <a:solidFill>
                  <a:srgbClr val="000000"/>
                </a:solidFill>
                <a:latin typeface="+mn-lt"/>
                <a:ea typeface="华文仿宋" panose="02010600040101010101" pitchFamily="2" charset="-122"/>
              </a:rPr>
              <a:t>以 </a:t>
            </a:r>
            <a:r>
              <a:rPr lang="zh-CN" altLang="en-US" sz="1100">
                <a:solidFill>
                  <a:srgbClr val="000000"/>
                </a:solidFill>
                <a:latin typeface="华文仿宋" panose="02010600040101010101" pitchFamily="2" charset="-122"/>
                <a:ea typeface="华文仿宋" panose="02010600040101010101" pitchFamily="2" charset="-122"/>
              </a:rPr>
              <a:t>“</a:t>
            </a:r>
            <a:r>
              <a:rPr lang="en-US" altLang="zh-CN" sz="1100">
                <a:solidFill>
                  <a:srgbClr val="000000"/>
                </a:solidFill>
                <a:latin typeface="+mn-lt"/>
                <a:ea typeface="华文仿宋" panose="02010600040101010101" pitchFamily="2" charset="-122"/>
              </a:rPr>
              <a:t>/*</a:t>
            </a:r>
            <a:r>
              <a:rPr lang="en-US" altLang="zh-CN" sz="1100">
                <a:solidFill>
                  <a:srgbClr val="000000"/>
                </a:solidFill>
                <a:latin typeface="华文仿宋" panose="02010600040101010101" pitchFamily="2" charset="-122"/>
                <a:ea typeface="华文仿宋" panose="02010600040101010101" pitchFamily="2" charset="-122"/>
              </a:rPr>
              <a:t>”</a:t>
            </a:r>
            <a:r>
              <a:rPr lang="zh-CN" altLang="en-US" sz="1100">
                <a:solidFill>
                  <a:srgbClr val="000000"/>
                </a:solidFill>
                <a:latin typeface="+mn-lt"/>
                <a:ea typeface="华文仿宋" panose="02010600040101010101" pitchFamily="2" charset="-122"/>
              </a:rPr>
              <a:t>开始，以</a:t>
            </a:r>
            <a:r>
              <a:rPr lang="zh-CN" altLang="en-US" sz="1100">
                <a:solidFill>
                  <a:srgbClr val="000000"/>
                </a:solidFill>
                <a:latin typeface="华文仿宋" panose="02010600040101010101" pitchFamily="2" charset="-122"/>
                <a:ea typeface="华文仿宋" panose="02010600040101010101" pitchFamily="2" charset="-122"/>
              </a:rPr>
              <a:t>“</a:t>
            </a:r>
            <a:r>
              <a:rPr lang="zh-CN" altLang="en-US" sz="1100">
                <a:solidFill>
                  <a:srgbClr val="000000"/>
                </a:solidFill>
                <a:latin typeface="+mn-lt"/>
                <a:ea typeface="华文仿宋" panose="02010600040101010101" pitchFamily="2" charset="-122"/>
              </a:rPr>
              <a:t>*</a:t>
            </a:r>
            <a:r>
              <a:rPr lang="en-US" altLang="zh-CN" sz="1100">
                <a:solidFill>
                  <a:srgbClr val="000000"/>
                </a:solidFill>
                <a:latin typeface="+mn-lt"/>
                <a:ea typeface="华文仿宋" panose="02010600040101010101" pitchFamily="2" charset="-122"/>
              </a:rPr>
              <a:t>/</a:t>
            </a:r>
            <a:r>
              <a:rPr lang="en-US" altLang="zh-CN" sz="1100">
                <a:solidFill>
                  <a:srgbClr val="000000"/>
                </a:solidFill>
                <a:latin typeface="华文仿宋" panose="02010600040101010101" pitchFamily="2" charset="-122"/>
                <a:ea typeface="华文仿宋" panose="02010600040101010101" pitchFamily="2" charset="-122"/>
              </a:rPr>
              <a:t>”</a:t>
            </a:r>
            <a:r>
              <a:rPr lang="zh-CN" altLang="en-US" sz="1100">
                <a:solidFill>
                  <a:srgbClr val="000000"/>
                </a:solidFill>
                <a:latin typeface="+mn-lt"/>
                <a:ea typeface="华文仿宋" panose="02010600040101010101" pitchFamily="2" charset="-122"/>
              </a:rPr>
              <a:t>结束。</a:t>
            </a:r>
          </a:p>
          <a:p>
            <a:pPr lvl="1" eaLnBrk="1" hangingPunct="1">
              <a:lnSpc>
                <a:spcPct val="90000"/>
              </a:lnSpc>
              <a:buSzPct val="75000"/>
              <a:buFont typeface="Wingdings" panose="05000000000000000000" pitchFamily="2" charset="2"/>
              <a:buNone/>
            </a:pPr>
            <a:endParaRPr lang="zh-CN" altLang="en-US" sz="1100">
              <a:solidFill>
                <a:srgbClr val="000000"/>
              </a:solidFill>
              <a:latin typeface="+mn-lt"/>
              <a:ea typeface="华文仿宋" panose="02010600040101010101" pitchFamily="2" charset="-122"/>
            </a:endParaRPr>
          </a:p>
          <a:p>
            <a:pPr eaLnBrk="1" hangingPunct="1">
              <a:lnSpc>
                <a:spcPct val="90000"/>
              </a:lnSpc>
              <a:buSzPct val="75000"/>
            </a:pPr>
            <a:r>
              <a:rPr lang="en-US" altLang="zh-CN" sz="1100">
                <a:solidFill>
                  <a:srgbClr val="000000"/>
                </a:solidFill>
                <a:latin typeface="+mn-lt"/>
                <a:ea typeface="+mn-ea"/>
                <a:cs typeface="+mn-cs"/>
              </a:rPr>
              <a:t>DECLARE</a:t>
            </a:r>
          </a:p>
          <a:p>
            <a:pPr eaLnBrk="1" hangingPunct="1">
              <a:lnSpc>
                <a:spcPct val="90000"/>
              </a:lnSpc>
              <a:buSzPct val="75000"/>
            </a:pPr>
            <a:r>
              <a:rPr lang="en-US" altLang="zh-CN" sz="1100">
                <a:solidFill>
                  <a:srgbClr val="000000"/>
                </a:solidFill>
                <a:latin typeface="+mn-lt"/>
                <a:ea typeface="+mn-ea"/>
                <a:cs typeface="+mn-cs"/>
              </a:rPr>
              <a:t>v_department CHAR(10); </a:t>
            </a:r>
          </a:p>
          <a:p>
            <a:pPr eaLnBrk="1" hangingPunct="1">
              <a:lnSpc>
                <a:spcPct val="90000"/>
              </a:lnSpc>
              <a:buSzPct val="75000"/>
            </a:pPr>
            <a:r>
              <a:rPr lang="en-US" altLang="zh-CN" sz="1100">
                <a:solidFill>
                  <a:srgbClr val="000000"/>
                </a:solidFill>
                <a:latin typeface="+mn-lt"/>
                <a:ea typeface="+mn-ea"/>
                <a:cs typeface="+mn-cs"/>
              </a:rPr>
              <a:t>       -- variable to hold the department name </a:t>
            </a:r>
          </a:p>
          <a:p>
            <a:pPr eaLnBrk="1" hangingPunct="1">
              <a:lnSpc>
                <a:spcPct val="90000"/>
              </a:lnSpc>
              <a:buSzPct val="75000"/>
            </a:pPr>
            <a:r>
              <a:rPr lang="en-US" altLang="zh-CN" sz="1100">
                <a:solidFill>
                  <a:srgbClr val="000000"/>
                </a:solidFill>
                <a:latin typeface="+mn-lt"/>
                <a:ea typeface="+mn-ea"/>
                <a:cs typeface="+mn-cs"/>
              </a:rPr>
              <a:t>BEGIN </a:t>
            </a:r>
          </a:p>
          <a:p>
            <a:pPr eaLnBrk="1" hangingPunct="1">
              <a:lnSpc>
                <a:spcPct val="90000"/>
              </a:lnSpc>
              <a:buSzPct val="75000"/>
            </a:pPr>
            <a:r>
              <a:rPr lang="en-US" altLang="zh-CN" sz="1100">
                <a:solidFill>
                  <a:srgbClr val="000000"/>
                </a:solidFill>
                <a:latin typeface="+mn-lt"/>
                <a:ea typeface="+mn-ea"/>
                <a:cs typeface="+mn-cs"/>
              </a:rPr>
              <a:t>  /* query the department name which department number is 10 ouput the department name into v_department*/</a:t>
            </a:r>
          </a:p>
          <a:p>
            <a:pPr eaLnBrk="1" hangingPunct="1">
              <a:lnSpc>
                <a:spcPct val="90000"/>
              </a:lnSpc>
              <a:buSzPct val="75000"/>
            </a:pPr>
            <a:r>
              <a:rPr lang="en-US" altLang="zh-CN" sz="1100">
                <a:solidFill>
                  <a:srgbClr val="000000"/>
                </a:solidFill>
                <a:latin typeface="+mn-lt"/>
                <a:ea typeface="+mn-ea"/>
                <a:cs typeface="+mn-cs"/>
              </a:rPr>
              <a:t>  SELECT department_name INTO v_department </a:t>
            </a:r>
          </a:p>
          <a:p>
            <a:pPr eaLnBrk="1" hangingPunct="1">
              <a:lnSpc>
                <a:spcPct val="90000"/>
              </a:lnSpc>
              <a:buSzPct val="75000"/>
            </a:pPr>
            <a:r>
              <a:rPr lang="en-US" altLang="zh-CN" sz="1100">
                <a:solidFill>
                  <a:srgbClr val="000000"/>
                </a:solidFill>
                <a:latin typeface="+mn-lt"/>
                <a:ea typeface="+mn-ea"/>
                <a:cs typeface="+mn-cs"/>
              </a:rPr>
              <a:t>  FROM departments </a:t>
            </a:r>
          </a:p>
          <a:p>
            <a:pPr eaLnBrk="1" hangingPunct="1">
              <a:lnSpc>
                <a:spcPct val="90000"/>
              </a:lnSpc>
              <a:buSzPct val="75000"/>
            </a:pPr>
            <a:r>
              <a:rPr lang="en-US" altLang="zh-CN" sz="1100">
                <a:solidFill>
                  <a:srgbClr val="000000"/>
                </a:solidFill>
                <a:latin typeface="+mn-lt"/>
                <a:ea typeface="+mn-ea"/>
                <a:cs typeface="+mn-cs"/>
              </a:rPr>
              <a:t>  WHERE department_id=50;</a:t>
            </a:r>
          </a:p>
          <a:p>
            <a:pPr eaLnBrk="1" hangingPunct="1">
              <a:lnSpc>
                <a:spcPct val="90000"/>
              </a:lnSpc>
              <a:buSzPct val="75000"/>
            </a:pPr>
            <a:r>
              <a:rPr lang="en-US" altLang="zh-CN" sz="1100">
                <a:solidFill>
                  <a:srgbClr val="000000"/>
                </a:solidFill>
                <a:latin typeface="+mn-lt"/>
                <a:ea typeface="+mn-ea"/>
                <a:cs typeface="+mn-cs"/>
              </a:rPr>
              <a:t>END; </a:t>
            </a:r>
          </a:p>
        </p:txBody>
      </p:sp>
      <p:sp>
        <p:nvSpPr>
          <p:cNvPr id="20482"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18</a:t>
            </a:fld>
            <a:endParaRPr lang="en-US" altLang="zh-CN">
              <a:solidFill>
                <a:srgbClr val="898989"/>
              </a:solidFill>
              <a:ea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76EFD3D9-44F0-4267-BCC1-1613E79D82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Freeform 6">
            <a:extLst>
              <a:ext uri="{FF2B5EF4-FFF2-40B4-BE49-F238E27FC236}">
                <a16:creationId xmlns:a16="http://schemas.microsoft.com/office/drawing/2014/main" id="{A779A851-95D6-41AF-937A-B0E4B7F6FA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2164" y="900814"/>
            <a:ext cx="759618"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7">
            <a:extLst>
              <a:ext uri="{FF2B5EF4-FFF2-40B4-BE49-F238E27FC236}">
                <a16:creationId xmlns:a16="http://schemas.microsoft.com/office/drawing/2014/main" id="{953FB2E7-B6CB-429C-81EB-D9516D6D5C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4437" y="633165"/>
            <a:ext cx="482654"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Shape 78">
            <a:extLst>
              <a:ext uri="{FF2B5EF4-FFF2-40B4-BE49-F238E27FC236}">
                <a16:creationId xmlns:a16="http://schemas.microsoft.com/office/drawing/2014/main" id="{2EC40DB1-B719-4A13-9A4D-0966B4B278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4621" y="636723"/>
            <a:ext cx="4000062" cy="5257799"/>
          </a:xfrm>
          <a:custGeom>
            <a:avLst/>
            <a:gdLst>
              <a:gd name="connsiteX0" fmla="*/ 0 w 4634682"/>
              <a:gd name="connsiteY0" fmla="*/ 0 h 5257799"/>
              <a:gd name="connsiteX1" fmla="*/ 4634682 w 4634682"/>
              <a:gd name="connsiteY1" fmla="*/ 0 h 5257799"/>
              <a:gd name="connsiteX2" fmla="*/ 4634682 w 4634682"/>
              <a:gd name="connsiteY2" fmla="*/ 5257799 h 5257799"/>
              <a:gd name="connsiteX3" fmla="*/ 0 w 4634682"/>
              <a:gd name="connsiteY3" fmla="*/ 5257799 h 5257799"/>
            </a:gdLst>
            <a:ahLst/>
            <a:cxnLst>
              <a:cxn ang="0">
                <a:pos x="connsiteX0" y="connsiteY0"/>
              </a:cxn>
              <a:cxn ang="0">
                <a:pos x="connsiteX1" y="connsiteY1"/>
              </a:cxn>
              <a:cxn ang="0">
                <a:pos x="connsiteX2" y="connsiteY2"/>
              </a:cxn>
              <a:cxn ang="0">
                <a:pos x="connsiteX3" y="connsiteY3"/>
              </a:cxn>
            </a:cxnLst>
            <a:rect l="l" t="t" r="r" b="b"/>
            <a:pathLst>
              <a:path w="4634682" h="5257799">
                <a:moveTo>
                  <a:pt x="0" y="0"/>
                </a:moveTo>
                <a:lnTo>
                  <a:pt x="4634682" y="0"/>
                </a:lnTo>
                <a:lnTo>
                  <a:pt x="4634682" y="5257799"/>
                </a:lnTo>
                <a:lnTo>
                  <a:pt x="0" y="5257799"/>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507" name="Rectangle 2"/>
          <p:cNvSpPr>
            <a:spLocks noGrp="1"/>
          </p:cNvSpPr>
          <p:nvPr>
            <p:ph type="title"/>
          </p:nvPr>
        </p:nvSpPr>
        <p:spPr>
          <a:xfrm>
            <a:off x="934872" y="982272"/>
            <a:ext cx="3388419" cy="4560970"/>
          </a:xfrm>
        </p:spPr>
        <p:txBody>
          <a:bodyPr vert="horz" lIns="121920" tIns="60960" rIns="121920" bIns="60960">
            <a:normAutofit/>
          </a:bodyPr>
          <a:lstStyle/>
          <a:p>
            <a:pPr eaLnBrk="1" hangingPunct="1"/>
            <a:r>
              <a:rPr lang="en-US" altLang="zh-CN">
                <a:solidFill>
                  <a:srgbClr val="FFFFFF"/>
                </a:solidFill>
                <a:latin typeface="+mj-lt"/>
                <a:ea typeface="+mj-ea"/>
                <a:cs typeface="+mj-cs"/>
              </a:rPr>
              <a:t>9.4  </a:t>
            </a:r>
            <a:r>
              <a:rPr lang="zh-CN" altLang="zh-CN">
                <a:solidFill>
                  <a:srgbClr val="FFFFFF"/>
                </a:solidFill>
                <a:latin typeface="+mj-lt"/>
                <a:ea typeface="+mj-ea"/>
                <a:cs typeface="+mj-cs"/>
              </a:rPr>
              <a:t>数据类型、变量与常量</a:t>
            </a:r>
          </a:p>
        </p:txBody>
      </p:sp>
      <p:sp>
        <p:nvSpPr>
          <p:cNvPr id="81" name="Rectangle 8">
            <a:extLst>
              <a:ext uri="{FF2B5EF4-FFF2-40B4-BE49-F238E27FC236}">
                <a16:creationId xmlns:a16="http://schemas.microsoft.com/office/drawing/2014/main" id="{82211336-CFF3-412D-868A-6679C1004C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01782" y="1352302"/>
            <a:ext cx="6655597"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1508" name="Rectangle 3"/>
          <p:cNvSpPr>
            <a:spLocks noGrp="1"/>
          </p:cNvSpPr>
          <p:nvPr>
            <p:ph idx="1"/>
          </p:nvPr>
        </p:nvSpPr>
        <p:spPr>
          <a:xfrm>
            <a:off x="5221862" y="1719618"/>
            <a:ext cx="5948831" cy="4334629"/>
          </a:xfrm>
        </p:spPr>
        <p:txBody>
          <a:bodyPr vert="horz" lIns="121920" tIns="60960" rIns="121920" bIns="60960" anchor="ctr">
            <a:normAutofit/>
          </a:bodyPr>
          <a:lstStyle/>
          <a:p>
            <a:pPr eaLnBrk="1" hangingPunct="1">
              <a:buSzPct val="75000"/>
            </a:pPr>
            <a:r>
              <a:rPr lang="zh-CN" altLang="en-US" sz="2400">
                <a:solidFill>
                  <a:srgbClr val="FEFFFF"/>
                </a:solidFill>
                <a:latin typeface="+mn-lt"/>
                <a:ea typeface="+mn-ea"/>
                <a:cs typeface="+mn-cs"/>
              </a:rPr>
              <a:t>数据类型</a:t>
            </a:r>
            <a:endParaRPr lang="en-US" altLang="zh-CN" sz="2400">
              <a:solidFill>
                <a:srgbClr val="FEFFFF"/>
              </a:solidFill>
              <a:latin typeface="+mn-lt"/>
              <a:ea typeface="+mn-ea"/>
              <a:cs typeface="+mn-cs"/>
            </a:endParaRPr>
          </a:p>
          <a:p>
            <a:pPr eaLnBrk="1" hangingPunct="1">
              <a:buSzPct val="75000"/>
            </a:pPr>
            <a:r>
              <a:rPr lang="zh-CN" altLang="en-US" sz="2400">
                <a:solidFill>
                  <a:srgbClr val="FEFFFF"/>
                </a:solidFill>
                <a:latin typeface="+mn-lt"/>
                <a:ea typeface="+mn-ea"/>
                <a:cs typeface="+mn-cs"/>
              </a:rPr>
              <a:t>变量与常量</a:t>
            </a:r>
          </a:p>
        </p:txBody>
      </p:sp>
      <p:sp>
        <p:nvSpPr>
          <p:cNvPr id="21506" name="灯片编号占位符 5"/>
          <p:cNvSpPr txBox="1">
            <a:spLocks noGrp="1"/>
          </p:cNvSpPr>
          <p:nvPr>
            <p:ph type="sldNum" sz="quarter" idx="12"/>
          </p:nvPr>
        </p:nvSpPr>
        <p:spPr>
          <a:xfrm>
            <a:off x="10707624" y="6175188"/>
            <a:ext cx="685800" cy="320040"/>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FFFFFF"/>
                </a:solidFill>
                <a:ea typeface="宋体" panose="02010600030101010101" pitchFamily="2" charset="-122"/>
              </a:rPr>
              <a:pPr marL="0" indent="0" eaLnBrk="1" hangingPunct="1">
                <a:spcBef>
                  <a:spcPct val="0"/>
                </a:spcBef>
                <a:spcAft>
                  <a:spcPts val="600"/>
                </a:spcAft>
                <a:buClrTx/>
                <a:buSzTx/>
                <a:buFontTx/>
                <a:buNone/>
              </a:pPr>
              <a:t>19</a:t>
            </a:fld>
            <a:endParaRPr lang="en-US" altLang="zh-CN">
              <a:solidFill>
                <a:srgbClr val="FFFFFF"/>
              </a:solidFill>
              <a:ea typeface="宋体" panose="0201060003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6" name="Rectangle 135">
            <a:extLst>
              <a:ext uri="{FF2B5EF4-FFF2-40B4-BE49-F238E27FC236}">
                <a16:creationId xmlns:a16="http://schemas.microsoft.com/office/drawing/2014/main" id="{B538A7B5-B32D-421E-B110-AB5B1A7CC2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14D36999-26F8-45E4-AB41-D485D0B0B1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440012"/>
            <a:ext cx="12191999" cy="2803359"/>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0" name="Picture 139">
            <a:extLst>
              <a:ext uri="{FF2B5EF4-FFF2-40B4-BE49-F238E27FC236}">
                <a16:creationId xmlns:a16="http://schemas.microsoft.com/office/drawing/2014/main" id="{30F8DA27-CE91-4AEB-B854-6F06B5485E3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8235" t="23563" r="8214" b="45501"/>
          <a:stretch/>
        </p:blipFill>
        <p:spPr>
          <a:xfrm flipV="1">
            <a:off x="1" y="2404067"/>
            <a:ext cx="12191999" cy="2539327"/>
          </a:xfrm>
          <a:custGeom>
            <a:avLst/>
            <a:gdLst>
              <a:gd name="connsiteX0" fmla="*/ 0 w 12191999"/>
              <a:gd name="connsiteY0" fmla="*/ 4473360 h 4473360"/>
              <a:gd name="connsiteX1" fmla="*/ 12191999 w 12191999"/>
              <a:gd name="connsiteY1" fmla="*/ 4473360 h 4473360"/>
              <a:gd name="connsiteX2" fmla="*/ 12191999 w 12191999"/>
              <a:gd name="connsiteY2" fmla="*/ 0 h 4473360"/>
              <a:gd name="connsiteX3" fmla="*/ 0 w 12191999"/>
              <a:gd name="connsiteY3" fmla="*/ 0 h 4473360"/>
            </a:gdLst>
            <a:ahLst/>
            <a:cxnLst>
              <a:cxn ang="0">
                <a:pos x="connsiteX0" y="connsiteY0"/>
              </a:cxn>
              <a:cxn ang="0">
                <a:pos x="connsiteX1" y="connsiteY1"/>
              </a:cxn>
              <a:cxn ang="0">
                <a:pos x="connsiteX2" y="connsiteY2"/>
              </a:cxn>
              <a:cxn ang="0">
                <a:pos x="connsiteX3" y="connsiteY3"/>
              </a:cxn>
            </a:cxnLst>
            <a:rect l="l" t="t" r="r" b="b"/>
            <a:pathLst>
              <a:path w="12191999" h="4473360">
                <a:moveTo>
                  <a:pt x="0" y="4473360"/>
                </a:moveTo>
                <a:lnTo>
                  <a:pt x="12191999" y="4473360"/>
                </a:lnTo>
                <a:lnTo>
                  <a:pt x="12191999" y="0"/>
                </a:lnTo>
                <a:lnTo>
                  <a:pt x="0" y="0"/>
                </a:lnTo>
                <a:close/>
              </a:path>
            </a:pathLst>
          </a:custGeom>
        </p:spPr>
      </p:pic>
      <p:sp>
        <p:nvSpPr>
          <p:cNvPr id="22531" name="Rectangle 2"/>
          <p:cNvSpPr/>
          <p:nvPr/>
        </p:nvSpPr>
        <p:spPr>
          <a:xfrm>
            <a:off x="755904" y="4494130"/>
            <a:ext cx="10640754" cy="775845"/>
          </a:xfrm>
          <a:prstGeom prst="rect">
            <a:avLst/>
          </a:prstGeom>
        </p:spPr>
        <p:txBody>
          <a:bodyPr vert="horz" lIns="91440" tIns="45720" rIns="91440" bIns="45720" rtlCol="0" anchor="b">
            <a:norm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Char char="n"/>
              <a:defRPr sz="2800" b="1">
                <a:solidFill>
                  <a:schemeClr val="tx1"/>
                </a:solidFill>
                <a:latin typeface="+mn-lt"/>
                <a:ea typeface="华文仿宋" panose="02010600040101010101" pitchFamily="2" charset="-122"/>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p"/>
              <a:defRPr sz="2400">
                <a:solidFill>
                  <a:schemeClr val="tx1"/>
                </a:solidFill>
                <a:latin typeface="+mn-lt"/>
                <a:ea typeface="华文隶书" panose="02010800040101010101" pitchFamily="2" charset="-122"/>
              </a:defRPr>
            </a:lvl3pPr>
            <a:lvl4pPr marL="16002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j-ea"/>
              </a:defRPr>
            </a:lvl4pPr>
            <a:lvl5pPr marL="2057400" indent="-228600" algn="l" rtl="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mn-lt"/>
                <a:ea typeface="+mj-ea"/>
              </a:defRPr>
            </a:lvl5pPr>
          </a:lstStyle>
          <a:p>
            <a:pPr marL="342900" lvl="0" indent="-342900" algn="ctr" eaLnBrk="1" hangingPunct="1">
              <a:lnSpc>
                <a:spcPct val="90000"/>
              </a:lnSpc>
              <a:spcBef>
                <a:spcPct val="0"/>
              </a:spcBef>
              <a:spcAft>
                <a:spcPts val="600"/>
              </a:spcAft>
              <a:buClrTx/>
              <a:buSzTx/>
              <a:buNone/>
            </a:pPr>
            <a:r>
              <a:rPr lang="en-US" altLang="zh-CN" sz="4400" kern="1200">
                <a:solidFill>
                  <a:srgbClr val="FFFFFF"/>
                </a:solidFill>
                <a:latin typeface="+mj-lt"/>
                <a:ea typeface="+mj-ea"/>
                <a:cs typeface="+mj-cs"/>
              </a:rPr>
              <a:t>PL/SQL</a:t>
            </a:r>
            <a:r>
              <a:rPr lang="zh-CN" altLang="en-US" sz="4400" kern="1200">
                <a:solidFill>
                  <a:srgbClr val="FFFFFF"/>
                </a:solidFill>
                <a:latin typeface="+mj-lt"/>
                <a:ea typeface="+mj-ea"/>
                <a:cs typeface="+mj-cs"/>
              </a:rPr>
              <a:t>中常用的基本数据类型</a:t>
            </a:r>
          </a:p>
        </p:txBody>
      </p:sp>
      <p:pic>
        <p:nvPicPr>
          <p:cNvPr id="142" name="Picture 141">
            <a:extLst>
              <a:ext uri="{FF2B5EF4-FFF2-40B4-BE49-F238E27FC236}">
                <a16:creationId xmlns:a16="http://schemas.microsoft.com/office/drawing/2014/main" id="{F7AF4E20-3DDE-4998-96BE-44EE182540F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8235" t="-1" r="8214" b="86237"/>
          <a:stretch/>
        </p:blipFill>
        <p:spPr>
          <a:xfrm flipV="1">
            <a:off x="0" y="5616534"/>
            <a:ext cx="12191999" cy="1129775"/>
          </a:xfrm>
          <a:custGeom>
            <a:avLst/>
            <a:gdLst>
              <a:gd name="connsiteX0" fmla="*/ 0 w 12191999"/>
              <a:gd name="connsiteY0" fmla="*/ 4473360 h 4473360"/>
              <a:gd name="connsiteX1" fmla="*/ 12191999 w 12191999"/>
              <a:gd name="connsiteY1" fmla="*/ 4473360 h 4473360"/>
              <a:gd name="connsiteX2" fmla="*/ 12191999 w 12191999"/>
              <a:gd name="connsiteY2" fmla="*/ 0 h 4473360"/>
              <a:gd name="connsiteX3" fmla="*/ 0 w 12191999"/>
              <a:gd name="connsiteY3" fmla="*/ 0 h 4473360"/>
            </a:gdLst>
            <a:ahLst/>
            <a:cxnLst>
              <a:cxn ang="0">
                <a:pos x="connsiteX0" y="connsiteY0"/>
              </a:cxn>
              <a:cxn ang="0">
                <a:pos x="connsiteX1" y="connsiteY1"/>
              </a:cxn>
              <a:cxn ang="0">
                <a:pos x="connsiteX2" y="connsiteY2"/>
              </a:cxn>
              <a:cxn ang="0">
                <a:pos x="connsiteX3" y="connsiteY3"/>
              </a:cxn>
            </a:cxnLst>
            <a:rect l="l" t="t" r="r" b="b"/>
            <a:pathLst>
              <a:path w="12191999" h="4473360">
                <a:moveTo>
                  <a:pt x="0" y="4473360"/>
                </a:moveTo>
                <a:lnTo>
                  <a:pt x="12191999" y="4473360"/>
                </a:lnTo>
                <a:lnTo>
                  <a:pt x="12191999" y="0"/>
                </a:lnTo>
                <a:lnTo>
                  <a:pt x="0" y="0"/>
                </a:lnTo>
                <a:close/>
              </a:path>
            </a:pathLst>
          </a:custGeom>
        </p:spPr>
      </p:pic>
      <p:pic>
        <p:nvPicPr>
          <p:cNvPr id="2" name="图片 1">
            <a:extLst>
              <a:ext uri="{FF2B5EF4-FFF2-40B4-BE49-F238E27FC236}">
                <a16:creationId xmlns:a16="http://schemas.microsoft.com/office/drawing/2014/main" id="{D107D894-E607-45CC-9656-6D074E2E13DB}"/>
              </a:ext>
            </a:extLst>
          </p:cNvPr>
          <p:cNvPicPr>
            <a:picLocks noChangeAspect="1"/>
          </p:cNvPicPr>
          <p:nvPr/>
        </p:nvPicPr>
        <p:blipFill>
          <a:blip r:embed="rId3"/>
          <a:stretch>
            <a:fillRect/>
          </a:stretch>
        </p:blipFill>
        <p:spPr>
          <a:xfrm>
            <a:off x="4915906" y="529937"/>
            <a:ext cx="6522169" cy="3201657"/>
          </a:xfrm>
          <a:prstGeom prst="rect">
            <a:avLst/>
          </a:prstGeom>
        </p:spPr>
      </p:pic>
      <p:sp>
        <p:nvSpPr>
          <p:cNvPr id="22530" name="灯片编号占位符 3"/>
          <p:cNvSpPr txBox="1">
            <a:spLocks noGrp="1"/>
          </p:cNvSpPr>
          <p:nvPr>
            <p:ph type="sldNum" sz="quarter" idx="12"/>
          </p:nvPr>
        </p:nvSpPr>
        <p:spPr>
          <a:xfrm>
            <a:off x="10825930" y="6223702"/>
            <a:ext cx="570728" cy="314067"/>
          </a:xfrm>
        </p:spPr>
        <p:txBody>
          <a:bodyPr vert="horz" lIns="91440" tIns="45720" rIns="91440" bIns="45720" rtlCol="0" anchor="ctr">
            <a:normAutofit/>
          </a:bodyPr>
          <a:lstStyle/>
          <a:p>
            <a:pPr indent="0">
              <a:spcBef>
                <a:spcPct val="0"/>
              </a:spcBef>
              <a:spcAft>
                <a:spcPts val="600"/>
              </a:spcAft>
              <a:buClrTx/>
              <a:buSzTx/>
              <a:buFontTx/>
              <a:buNone/>
            </a:pPr>
            <a:fld id="{9A0DB2DC-4C9A-4742-B13C-FB6460FD3503}" type="slidenum">
              <a:rPr lang="en-US" altLang="zh-CN" sz="1100">
                <a:solidFill>
                  <a:srgbClr val="898989"/>
                </a:solidFill>
                <a:latin typeface="+mn-lt"/>
                <a:ea typeface="+mn-ea"/>
              </a:rPr>
              <a:pPr indent="0">
                <a:spcBef>
                  <a:spcPct val="0"/>
                </a:spcBef>
                <a:spcAft>
                  <a:spcPts val="600"/>
                </a:spcAft>
                <a:buClrTx/>
                <a:buSzTx/>
                <a:buFontTx/>
                <a:buNone/>
              </a:pPr>
              <a:t>20</a:t>
            </a:fld>
            <a:endParaRPr lang="en-US" altLang="zh-CN" sz="1100">
              <a:solidFill>
                <a:srgbClr val="898989"/>
              </a:solidFill>
              <a:latin typeface="+mn-lt"/>
              <a:ea typeface="+mn-ea"/>
            </a:endParaRPr>
          </a:p>
        </p:txBody>
      </p:sp>
      <p:sp>
        <p:nvSpPr>
          <p:cNvPr id="48" name="标题 1"/>
          <p:cNvSpPr txBox="1"/>
          <p:nvPr/>
        </p:nvSpPr>
        <p:spPr>
          <a:xfrm>
            <a:off x="479377" y="2076450"/>
            <a:ext cx="4392488" cy="1345134"/>
          </a:xfrm>
          <a:prstGeom prst="rect">
            <a:avLst/>
          </a:prstGeom>
        </p:spPr>
        <p:txBody>
          <a:bodyPr vert="horz" lIns="91440" tIns="45720" rIns="91440" bIns="45720" rtlCol="0" anchor="ctr">
            <a:normAutofit/>
          </a:bodyPr>
          <a:lstStyle>
            <a:lvl1pPr algn="ctr" rtl="0" fontAlgn="base">
              <a:spcBef>
                <a:spcPct val="0"/>
              </a:spcBef>
              <a:spcAft>
                <a:spcPct val="0"/>
              </a:spcAft>
              <a:defRPr sz="4000" b="1">
                <a:solidFill>
                  <a:schemeClr val="tx2"/>
                </a:solidFill>
                <a:latin typeface="+mj-lt"/>
                <a:ea typeface="+mj-ea"/>
                <a:cs typeface="+mj-cs"/>
              </a:defRPr>
            </a:lvl1pPr>
            <a:lvl2pPr algn="ctr" rtl="0" fontAlgn="base">
              <a:spcBef>
                <a:spcPct val="0"/>
              </a:spcBef>
              <a:spcAft>
                <a:spcPct val="0"/>
              </a:spcAft>
              <a:defRPr sz="4000" b="1">
                <a:solidFill>
                  <a:schemeClr val="tx2"/>
                </a:solidFill>
                <a:latin typeface="Garamond" panose="02020404030301010803" pitchFamily="18" charset="0"/>
                <a:ea typeface="宋体" panose="02010600030101010101" pitchFamily="2" charset="-122"/>
              </a:defRPr>
            </a:lvl2pPr>
            <a:lvl3pPr algn="ctr" rtl="0" fontAlgn="base">
              <a:spcBef>
                <a:spcPct val="0"/>
              </a:spcBef>
              <a:spcAft>
                <a:spcPct val="0"/>
              </a:spcAft>
              <a:defRPr sz="4000" b="1">
                <a:solidFill>
                  <a:schemeClr val="tx2"/>
                </a:solidFill>
                <a:latin typeface="Garamond" panose="02020404030301010803" pitchFamily="18" charset="0"/>
                <a:ea typeface="宋体" panose="02010600030101010101" pitchFamily="2" charset="-122"/>
              </a:defRPr>
            </a:lvl3pPr>
            <a:lvl4pPr algn="ctr" rtl="0" fontAlgn="base">
              <a:spcBef>
                <a:spcPct val="0"/>
              </a:spcBef>
              <a:spcAft>
                <a:spcPct val="0"/>
              </a:spcAft>
              <a:defRPr sz="4000" b="1">
                <a:solidFill>
                  <a:schemeClr val="tx2"/>
                </a:solidFill>
                <a:latin typeface="Garamond" panose="02020404030301010803" pitchFamily="18" charset="0"/>
                <a:ea typeface="宋体" panose="02010600030101010101" pitchFamily="2" charset="-122"/>
              </a:defRPr>
            </a:lvl4pPr>
            <a:lvl5pPr algn="ctr" rtl="0" fontAlgn="base">
              <a:spcBef>
                <a:spcPct val="0"/>
              </a:spcBef>
              <a:spcAft>
                <a:spcPct val="0"/>
              </a:spcAft>
              <a:defRPr sz="4000" b="1">
                <a:solidFill>
                  <a:schemeClr val="tx2"/>
                </a:solidFill>
                <a:latin typeface="Garamond" panose="02020404030301010803" pitchFamily="18" charset="0"/>
                <a:ea typeface="宋体" panose="02010600030101010101" pitchFamily="2" charset="-122"/>
              </a:defRPr>
            </a:lvl5pPr>
            <a:lvl6pPr marL="457200" algn="ctr" rtl="0" fontAlgn="base">
              <a:spcBef>
                <a:spcPct val="0"/>
              </a:spcBef>
              <a:spcAft>
                <a:spcPct val="0"/>
              </a:spcAft>
              <a:defRPr sz="4000" b="1">
                <a:solidFill>
                  <a:schemeClr val="tx2"/>
                </a:solidFill>
                <a:latin typeface="Garamond" panose="02020404030301010803" pitchFamily="18" charset="0"/>
                <a:ea typeface="宋体" panose="02010600030101010101" pitchFamily="2" charset="-122"/>
              </a:defRPr>
            </a:lvl6pPr>
            <a:lvl7pPr marL="914400" algn="ctr" rtl="0" fontAlgn="base">
              <a:spcBef>
                <a:spcPct val="0"/>
              </a:spcBef>
              <a:spcAft>
                <a:spcPct val="0"/>
              </a:spcAft>
              <a:defRPr sz="4000" b="1">
                <a:solidFill>
                  <a:schemeClr val="tx2"/>
                </a:solidFill>
                <a:latin typeface="Garamond" panose="02020404030301010803" pitchFamily="18" charset="0"/>
                <a:ea typeface="宋体" panose="02010600030101010101" pitchFamily="2" charset="-122"/>
              </a:defRPr>
            </a:lvl7pPr>
            <a:lvl8pPr marL="1371600" algn="ctr" rtl="0" fontAlgn="base">
              <a:spcBef>
                <a:spcPct val="0"/>
              </a:spcBef>
              <a:spcAft>
                <a:spcPct val="0"/>
              </a:spcAft>
              <a:defRPr sz="4000" b="1">
                <a:solidFill>
                  <a:schemeClr val="tx2"/>
                </a:solidFill>
                <a:latin typeface="Garamond" panose="02020404030301010803" pitchFamily="18" charset="0"/>
                <a:ea typeface="宋体" panose="02010600030101010101" pitchFamily="2" charset="-122"/>
              </a:defRPr>
            </a:lvl8pPr>
            <a:lvl9pPr marL="1828800" algn="ctr" rtl="0" fontAlgn="base">
              <a:spcBef>
                <a:spcPct val="0"/>
              </a:spcBef>
              <a:spcAft>
                <a:spcPct val="0"/>
              </a:spcAft>
              <a:defRPr sz="4000" b="1">
                <a:solidFill>
                  <a:schemeClr val="tx2"/>
                </a:solidFill>
                <a:latin typeface="Garamond" panose="02020404030301010803" pitchFamily="18" charset="0"/>
                <a:ea typeface="宋体" panose="02010600030101010101" pitchFamily="2" charset="-122"/>
              </a:defRPr>
            </a:lvl9pPr>
          </a:lstStyle>
          <a:p>
            <a:pPr marL="0" marR="0" lvl="0" indent="0" fontAlgn="base">
              <a:lnSpc>
                <a:spcPct val="90000"/>
              </a:lnSpc>
              <a:spcAft>
                <a:spcPts val="600"/>
              </a:spcAft>
              <a:buClrTx/>
              <a:buSzTx/>
              <a:defRPr/>
            </a:pPr>
            <a:r>
              <a:rPr kumimoji="0" lang="en-US" altLang="zh-CN" sz="4400" b="1" i="0" u="none" strike="noStrike" kern="1200" cap="none" spc="0" normalizeH="0" baseline="0" noProof="0" dirty="0">
                <a:ln>
                  <a:noFill/>
                </a:ln>
                <a:solidFill>
                  <a:srgbClr val="C00000"/>
                </a:solidFill>
                <a:effectLst/>
                <a:uLnTx/>
                <a:uFillTx/>
                <a:latin typeface="+mj-lt"/>
                <a:ea typeface="+mj-ea"/>
                <a:cs typeface="+mj-cs"/>
              </a:rPr>
              <a:t>9.4.1  </a:t>
            </a:r>
            <a:r>
              <a:rPr kumimoji="0" lang="zh-CN" altLang="en-US" sz="4400" b="1" i="0" u="none" strike="noStrike" kern="1200" cap="none" spc="0" normalizeH="0" baseline="0" noProof="0" dirty="0">
                <a:ln>
                  <a:noFill/>
                </a:ln>
                <a:solidFill>
                  <a:srgbClr val="C00000"/>
                </a:solidFill>
                <a:effectLst/>
                <a:uLnTx/>
                <a:uFillTx/>
                <a:latin typeface="+mj-lt"/>
                <a:ea typeface="+mj-ea"/>
                <a:cs typeface="+mj-cs"/>
              </a:rPr>
              <a:t>数据类型</a:t>
            </a:r>
            <a:endParaRPr kumimoji="0" lang="en-US" altLang="zh-CN" sz="4400" b="1" i="0" u="none" strike="noStrike" kern="1200" cap="none" spc="0" normalizeH="0" baseline="0" noProof="0" dirty="0">
              <a:ln>
                <a:noFill/>
              </a:ln>
              <a:solidFill>
                <a:srgbClr val="C00000"/>
              </a:solidFill>
              <a:effectLst/>
              <a:uLnTx/>
              <a:uFillTx/>
              <a:latin typeface="+mj-lt"/>
              <a:ea typeface="+mj-ea"/>
              <a:cs typeface="+mj-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8"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559"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3555"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endParaRPr lang="zh-CN" altLang="zh-CN">
              <a:solidFill>
                <a:srgbClr val="FFFFFF"/>
              </a:solidFill>
              <a:latin typeface="+mj-lt"/>
              <a:ea typeface="+mj-ea"/>
              <a:cs typeface="+mj-cs"/>
            </a:endParaRPr>
          </a:p>
        </p:txBody>
      </p:sp>
      <p:sp>
        <p:nvSpPr>
          <p:cNvPr id="23556"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lnSpc>
                <a:spcPct val="90000"/>
              </a:lnSpc>
              <a:buSzPct val="75000"/>
            </a:pPr>
            <a:r>
              <a:rPr lang="zh-CN" altLang="en-US" sz="1700">
                <a:solidFill>
                  <a:srgbClr val="000000"/>
                </a:solidFill>
                <a:latin typeface="+mn-lt"/>
                <a:ea typeface="+mn-ea"/>
                <a:cs typeface="+mn-cs"/>
              </a:rPr>
              <a:t>记录类型</a:t>
            </a:r>
          </a:p>
          <a:p>
            <a:pPr lvl="1" eaLnBrk="1" hangingPunct="1">
              <a:lnSpc>
                <a:spcPct val="90000"/>
              </a:lnSpc>
              <a:buSzPct val="75000"/>
            </a:pPr>
            <a:r>
              <a:rPr lang="zh-CN" altLang="en-US" sz="1700">
                <a:solidFill>
                  <a:srgbClr val="000000"/>
                </a:solidFill>
                <a:latin typeface="+mn-lt"/>
                <a:ea typeface="华文仿宋" panose="02010600040101010101" pitchFamily="2" charset="-122"/>
              </a:rPr>
              <a:t>记录类型是复合类型，类似于</a:t>
            </a:r>
            <a:r>
              <a:rPr lang="en-US" altLang="zh-CN" sz="1700">
                <a:solidFill>
                  <a:srgbClr val="000000"/>
                </a:solidFill>
                <a:latin typeface="+mn-lt"/>
                <a:ea typeface="华文仿宋" panose="02010600040101010101" pitchFamily="2" charset="-122"/>
              </a:rPr>
              <a:t>C</a:t>
            </a:r>
            <a:r>
              <a:rPr lang="zh-CN" altLang="en-US" sz="1700">
                <a:solidFill>
                  <a:srgbClr val="000000"/>
                </a:solidFill>
                <a:latin typeface="+mn-lt"/>
                <a:ea typeface="华文仿宋" panose="02010600040101010101" pitchFamily="2" charset="-122"/>
              </a:rPr>
              <a:t>语言中的结构体，是一个包含若干个成员分量的复合类型。</a:t>
            </a:r>
          </a:p>
          <a:p>
            <a:pPr lvl="1" eaLnBrk="1" hangingPunct="1">
              <a:lnSpc>
                <a:spcPct val="90000"/>
              </a:lnSpc>
              <a:buSzPct val="75000"/>
            </a:pPr>
            <a:r>
              <a:rPr lang="zh-CN" altLang="en-US" sz="1700">
                <a:solidFill>
                  <a:srgbClr val="000000"/>
                </a:solidFill>
                <a:latin typeface="+mn-lt"/>
                <a:ea typeface="华文仿宋" panose="02010600040101010101" pitchFamily="2" charset="-122"/>
              </a:rPr>
              <a:t>在使用记录类型时，需要先在声明部分定义记录类型和记录类型的变量，然后在执行部分引用该记录类型变量或其成员分量。</a:t>
            </a:r>
          </a:p>
          <a:p>
            <a:pPr eaLnBrk="1" hangingPunct="1">
              <a:lnSpc>
                <a:spcPct val="90000"/>
              </a:lnSpc>
              <a:buSzPct val="75000"/>
            </a:pPr>
            <a:r>
              <a:rPr lang="zh-CN" altLang="en-US" sz="1700">
                <a:solidFill>
                  <a:srgbClr val="000000"/>
                </a:solidFill>
                <a:latin typeface="+mn-lt"/>
                <a:ea typeface="+mn-ea"/>
                <a:cs typeface="+mn-cs"/>
              </a:rPr>
              <a:t>集合类型</a:t>
            </a:r>
          </a:p>
          <a:p>
            <a:pPr lvl="1" eaLnBrk="1" hangingPunct="1">
              <a:lnSpc>
                <a:spcPct val="90000"/>
              </a:lnSpc>
              <a:buSzPct val="75000"/>
            </a:pPr>
            <a:r>
              <a:rPr lang="zh-CN" altLang="en-US" sz="1700">
                <a:solidFill>
                  <a:srgbClr val="000000"/>
                </a:solidFill>
                <a:latin typeface="+mn-lt"/>
                <a:ea typeface="华文仿宋" panose="02010600040101010101" pitchFamily="2" charset="-122"/>
              </a:rPr>
              <a:t>集合类型是复合类型，包括索引表类型、嵌套表类型和可变数组类型。</a:t>
            </a:r>
          </a:p>
          <a:p>
            <a:pPr lvl="1" eaLnBrk="1" hangingPunct="1">
              <a:lnSpc>
                <a:spcPct val="90000"/>
              </a:lnSpc>
              <a:buSzPct val="75000"/>
            </a:pPr>
            <a:r>
              <a:rPr lang="zh-CN" altLang="en-US" sz="1700">
                <a:solidFill>
                  <a:srgbClr val="000000"/>
                </a:solidFill>
                <a:latin typeface="+mn-lt"/>
                <a:ea typeface="华文仿宋" panose="02010600040101010101" pitchFamily="2" charset="-122"/>
              </a:rPr>
              <a:t>集合类型与记录类型的区别在于，记录类型中的成员分量可以是不同类型的，类似于结构体，而集合类型中所有的成员分量必须具有相同的数据类型，类似于数组。 </a:t>
            </a:r>
          </a:p>
        </p:txBody>
      </p:sp>
      <p:sp>
        <p:nvSpPr>
          <p:cNvPr id="23554"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21</a:t>
            </a:fld>
            <a:endParaRPr lang="en-US" altLang="zh-CN">
              <a:solidFill>
                <a:srgbClr val="898989"/>
              </a:solidFill>
              <a:ea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4579"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endParaRPr lang="zh-CN" altLang="zh-CN">
              <a:solidFill>
                <a:srgbClr val="FFFFFF"/>
              </a:solidFill>
              <a:latin typeface="+mj-lt"/>
              <a:ea typeface="+mj-ea"/>
              <a:cs typeface="+mj-cs"/>
            </a:endParaRPr>
          </a:p>
        </p:txBody>
      </p:sp>
      <p:sp>
        <p:nvSpPr>
          <p:cNvPr id="24580"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lnSpc>
                <a:spcPct val="90000"/>
              </a:lnSpc>
              <a:buSzPct val="75000"/>
            </a:pPr>
            <a:r>
              <a:rPr lang="en-US" altLang="zh-CN" sz="1700">
                <a:solidFill>
                  <a:srgbClr val="000000"/>
                </a:solidFill>
                <a:latin typeface="+mn-lt"/>
                <a:ea typeface="+mn-ea"/>
                <a:cs typeface="+mn-cs"/>
              </a:rPr>
              <a:t>%TYPE</a:t>
            </a:r>
            <a:r>
              <a:rPr lang="zh-CN" altLang="en-US" sz="1700">
                <a:solidFill>
                  <a:srgbClr val="000000"/>
                </a:solidFill>
                <a:latin typeface="+mn-lt"/>
                <a:ea typeface="+mn-ea"/>
                <a:cs typeface="+mn-cs"/>
              </a:rPr>
              <a:t>与</a:t>
            </a:r>
            <a:r>
              <a:rPr lang="en-US" altLang="zh-CN" sz="1700">
                <a:solidFill>
                  <a:srgbClr val="000000"/>
                </a:solidFill>
                <a:latin typeface="+mn-lt"/>
                <a:ea typeface="+mn-ea"/>
                <a:cs typeface="+mn-cs"/>
              </a:rPr>
              <a:t>%ROWTYPE</a:t>
            </a:r>
          </a:p>
          <a:p>
            <a:pPr lvl="1" eaLnBrk="1" hangingPunct="1">
              <a:lnSpc>
                <a:spcPct val="90000"/>
              </a:lnSpc>
              <a:buSzPct val="75000"/>
            </a:pPr>
            <a:r>
              <a:rPr lang="zh-CN" altLang="en-US" sz="1700">
                <a:solidFill>
                  <a:srgbClr val="000000"/>
                </a:solidFill>
                <a:latin typeface="+mn-lt"/>
                <a:ea typeface="华文仿宋" panose="02010600040101010101" pitchFamily="2" charset="-122"/>
              </a:rPr>
              <a:t>如果要定义一个类型与某个变量的数据类型或数据库表中某个列的数据类型一致（不知道该变量或列的数据类型）的变量，可以利用</a:t>
            </a:r>
            <a:r>
              <a:rPr lang="en-US" altLang="zh-CN" sz="1700">
                <a:solidFill>
                  <a:srgbClr val="000000"/>
                </a:solidFill>
                <a:latin typeface="+mn-lt"/>
                <a:ea typeface="华文仿宋" panose="02010600040101010101" pitchFamily="2" charset="-122"/>
              </a:rPr>
              <a:t>%TYPE</a:t>
            </a:r>
            <a:r>
              <a:rPr lang="zh-CN" altLang="en-US" sz="1700">
                <a:solidFill>
                  <a:srgbClr val="000000"/>
                </a:solidFill>
                <a:latin typeface="+mn-lt"/>
                <a:ea typeface="华文仿宋" panose="02010600040101010101" pitchFamily="2" charset="-122"/>
              </a:rPr>
              <a:t>来实现。</a:t>
            </a:r>
          </a:p>
          <a:p>
            <a:pPr lvl="1" eaLnBrk="1" hangingPunct="1">
              <a:lnSpc>
                <a:spcPct val="90000"/>
              </a:lnSpc>
              <a:buSzPct val="75000"/>
            </a:pPr>
            <a:r>
              <a:rPr lang="zh-CN" altLang="en-US" sz="1700">
                <a:solidFill>
                  <a:srgbClr val="000000"/>
                </a:solidFill>
                <a:latin typeface="+mn-lt"/>
                <a:ea typeface="华文仿宋" panose="02010600040101010101" pitchFamily="2" charset="-122"/>
              </a:rPr>
              <a:t>如果要定义一个与数据库中某个表结构一致的记录类型的变量，可以使用</a:t>
            </a:r>
            <a:r>
              <a:rPr lang="en-US" altLang="zh-CN" sz="1700">
                <a:solidFill>
                  <a:srgbClr val="000000"/>
                </a:solidFill>
                <a:latin typeface="+mn-lt"/>
                <a:ea typeface="华文仿宋" panose="02010600040101010101" pitchFamily="2" charset="-122"/>
              </a:rPr>
              <a:t>%ROWTYPE</a:t>
            </a:r>
            <a:r>
              <a:rPr lang="zh-CN" altLang="en-US" sz="1700">
                <a:solidFill>
                  <a:srgbClr val="000000"/>
                </a:solidFill>
                <a:latin typeface="+mn-lt"/>
                <a:ea typeface="华文仿宋" panose="02010600040101010101" pitchFamily="2" charset="-122"/>
              </a:rPr>
              <a:t>来实现。 </a:t>
            </a:r>
          </a:p>
          <a:p>
            <a:pPr eaLnBrk="1" hangingPunct="1">
              <a:lnSpc>
                <a:spcPct val="90000"/>
              </a:lnSpc>
              <a:buSzPct val="75000"/>
            </a:pPr>
            <a:r>
              <a:rPr lang="zh-CN" altLang="en-US" sz="1700">
                <a:solidFill>
                  <a:srgbClr val="000000"/>
                </a:solidFill>
                <a:latin typeface="+mn-lt"/>
                <a:ea typeface="+mn-ea"/>
                <a:cs typeface="+mn-cs"/>
              </a:rPr>
              <a:t>注意</a:t>
            </a:r>
          </a:p>
          <a:p>
            <a:pPr lvl="1" eaLnBrk="1" hangingPunct="1">
              <a:lnSpc>
                <a:spcPct val="90000"/>
              </a:lnSpc>
              <a:buSzPct val="75000"/>
            </a:pPr>
            <a:r>
              <a:rPr lang="zh-CN" altLang="en-US" sz="1700">
                <a:solidFill>
                  <a:srgbClr val="000000"/>
                </a:solidFill>
                <a:latin typeface="+mn-lt"/>
                <a:ea typeface="华文仿宋" panose="02010600040101010101" pitchFamily="2" charset="-122"/>
              </a:rPr>
              <a:t>变量的类型随参照的变量类型、数据库表列类型、表结构的变化而变化；</a:t>
            </a:r>
          </a:p>
          <a:p>
            <a:pPr lvl="1" eaLnBrk="1" hangingPunct="1">
              <a:lnSpc>
                <a:spcPct val="90000"/>
              </a:lnSpc>
              <a:buSzPct val="75000"/>
            </a:pPr>
            <a:r>
              <a:rPr lang="zh-CN" altLang="en-US" sz="1700">
                <a:solidFill>
                  <a:srgbClr val="000000"/>
                </a:solidFill>
                <a:latin typeface="+mn-lt"/>
                <a:ea typeface="华文仿宋" panose="02010600040101010101" pitchFamily="2" charset="-122"/>
              </a:rPr>
              <a:t> 如果数据库表列中有</a:t>
            </a:r>
            <a:r>
              <a:rPr lang="en-US" altLang="zh-CN" sz="1700">
                <a:solidFill>
                  <a:srgbClr val="000000"/>
                </a:solidFill>
                <a:latin typeface="+mn-lt"/>
                <a:ea typeface="华文仿宋" panose="02010600040101010101" pitchFamily="2" charset="-122"/>
              </a:rPr>
              <a:t>NOT NULL</a:t>
            </a:r>
            <a:r>
              <a:rPr lang="zh-CN" altLang="en-US" sz="1700">
                <a:solidFill>
                  <a:srgbClr val="000000"/>
                </a:solidFill>
                <a:latin typeface="+mn-lt"/>
                <a:ea typeface="华文仿宋" panose="02010600040101010101" pitchFamily="2" charset="-122"/>
              </a:rPr>
              <a:t>约束，则</a:t>
            </a:r>
            <a:r>
              <a:rPr lang="en-US" altLang="zh-CN" sz="1700">
                <a:solidFill>
                  <a:srgbClr val="000000"/>
                </a:solidFill>
                <a:latin typeface="+mn-lt"/>
                <a:ea typeface="华文仿宋" panose="02010600040101010101" pitchFamily="2" charset="-122"/>
              </a:rPr>
              <a:t>%TYPE</a:t>
            </a:r>
            <a:r>
              <a:rPr lang="zh-CN" altLang="en-US" sz="1700">
                <a:solidFill>
                  <a:srgbClr val="000000"/>
                </a:solidFill>
                <a:latin typeface="+mn-lt"/>
                <a:ea typeface="华文仿宋" panose="02010600040101010101" pitchFamily="2" charset="-122"/>
              </a:rPr>
              <a:t>与</a:t>
            </a:r>
            <a:r>
              <a:rPr lang="en-US" altLang="zh-CN" sz="1700">
                <a:solidFill>
                  <a:srgbClr val="000000"/>
                </a:solidFill>
                <a:latin typeface="+mn-lt"/>
                <a:ea typeface="华文仿宋" panose="02010600040101010101" pitchFamily="2" charset="-122"/>
              </a:rPr>
              <a:t>%ROWTYPE</a:t>
            </a:r>
            <a:r>
              <a:rPr lang="zh-CN" altLang="en-US" sz="1700">
                <a:solidFill>
                  <a:srgbClr val="000000"/>
                </a:solidFill>
                <a:latin typeface="+mn-lt"/>
                <a:ea typeface="华文仿宋" panose="02010600040101010101" pitchFamily="2" charset="-122"/>
              </a:rPr>
              <a:t>返回的数据类型没有此限制。 </a:t>
            </a:r>
          </a:p>
        </p:txBody>
      </p:sp>
      <p:sp>
        <p:nvSpPr>
          <p:cNvPr id="24578"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22</a:t>
            </a:fld>
            <a:endParaRPr lang="en-US" altLang="zh-CN">
              <a:solidFill>
                <a:srgbClr val="898989"/>
              </a:solidFill>
              <a:ea typeface="宋体" panose="02010600030101010101"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7" name="Picture 76">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5603" name="Rectangle 2"/>
          <p:cNvSpPr>
            <a:spLocks noGrp="1"/>
          </p:cNvSpPr>
          <p:nvPr>
            <p:ph type="title"/>
          </p:nvPr>
        </p:nvSpPr>
        <p:spPr>
          <a:xfrm>
            <a:off x="640079" y="2053641"/>
            <a:ext cx="3669161" cy="2760098"/>
          </a:xfrm>
        </p:spPr>
        <p:txBody>
          <a:bodyPr vert="horz" lIns="121920" tIns="60960" rIns="121920" bIns="60960">
            <a:normAutofit/>
          </a:bodyPr>
          <a:lstStyle/>
          <a:p>
            <a:pPr eaLnBrk="1" hangingPunct="1"/>
            <a:endParaRPr lang="zh-CN" altLang="zh-CN">
              <a:solidFill>
                <a:srgbClr val="FFFFFF"/>
              </a:solidFill>
              <a:latin typeface="+mj-lt"/>
              <a:ea typeface="+mj-ea"/>
              <a:cs typeface="+mj-cs"/>
            </a:endParaRPr>
          </a:p>
        </p:txBody>
      </p:sp>
      <p:sp>
        <p:nvSpPr>
          <p:cNvPr id="25604" name="Rectangle 3"/>
          <p:cNvSpPr>
            <a:spLocks noGrp="1"/>
          </p:cNvSpPr>
          <p:nvPr>
            <p:ph idx="1"/>
          </p:nvPr>
        </p:nvSpPr>
        <p:spPr>
          <a:xfrm>
            <a:off x="6090574" y="801866"/>
            <a:ext cx="5306084" cy="5230634"/>
          </a:xfrm>
        </p:spPr>
        <p:txBody>
          <a:bodyPr vert="horz" lIns="121920" tIns="60960" rIns="121920" bIns="60960" anchor="ctr">
            <a:normAutofit/>
          </a:bodyPr>
          <a:lstStyle/>
          <a:p>
            <a:pPr eaLnBrk="1" hangingPunct="1">
              <a:lnSpc>
                <a:spcPct val="90000"/>
              </a:lnSpc>
              <a:buSzPct val="75000"/>
            </a:pPr>
            <a:r>
              <a:rPr lang="en-US" altLang="zh-CN" sz="2000">
                <a:solidFill>
                  <a:srgbClr val="000000"/>
                </a:solidFill>
                <a:latin typeface="+mn-lt"/>
                <a:ea typeface="+mn-ea"/>
                <a:cs typeface="+mn-cs"/>
              </a:rPr>
              <a:t>DECLARE</a:t>
            </a:r>
          </a:p>
          <a:p>
            <a:pPr eaLnBrk="1" hangingPunct="1">
              <a:lnSpc>
                <a:spcPct val="90000"/>
              </a:lnSpc>
              <a:buSzPct val="75000"/>
            </a:pPr>
            <a:r>
              <a:rPr lang="en-US" altLang="zh-CN" sz="2000">
                <a:solidFill>
                  <a:srgbClr val="000000"/>
                </a:solidFill>
                <a:latin typeface="+mn-lt"/>
                <a:ea typeface="+mn-ea"/>
                <a:cs typeface="+mn-cs"/>
              </a:rPr>
              <a:t>  v_sal employees.salary%TYPE;</a:t>
            </a:r>
          </a:p>
          <a:p>
            <a:pPr eaLnBrk="1" hangingPunct="1">
              <a:lnSpc>
                <a:spcPct val="90000"/>
              </a:lnSpc>
              <a:buSzPct val="75000"/>
            </a:pPr>
            <a:r>
              <a:rPr lang="en-US" altLang="zh-CN" sz="2000">
                <a:solidFill>
                  <a:srgbClr val="000000"/>
                </a:solidFill>
                <a:latin typeface="+mn-lt"/>
                <a:ea typeface="+mn-ea"/>
                <a:cs typeface="+mn-cs"/>
              </a:rPr>
              <a:t>  v_emp employees%ROWTYPE;</a:t>
            </a:r>
          </a:p>
          <a:p>
            <a:pPr eaLnBrk="1" hangingPunct="1">
              <a:lnSpc>
                <a:spcPct val="90000"/>
              </a:lnSpc>
              <a:buSzPct val="75000"/>
            </a:pPr>
            <a:r>
              <a:rPr lang="en-US" altLang="zh-CN" sz="2000">
                <a:solidFill>
                  <a:srgbClr val="000000"/>
                </a:solidFill>
                <a:latin typeface="+mn-lt"/>
                <a:ea typeface="+mn-ea"/>
                <a:cs typeface="+mn-cs"/>
              </a:rPr>
              <a:t>BEGIN</a:t>
            </a:r>
          </a:p>
          <a:p>
            <a:pPr eaLnBrk="1" hangingPunct="1">
              <a:lnSpc>
                <a:spcPct val="90000"/>
              </a:lnSpc>
              <a:buSzPct val="75000"/>
            </a:pPr>
            <a:r>
              <a:rPr lang="en-US" altLang="zh-CN" sz="2000">
                <a:solidFill>
                  <a:srgbClr val="000000"/>
                </a:solidFill>
                <a:latin typeface="+mn-lt"/>
                <a:ea typeface="+mn-ea"/>
                <a:cs typeface="+mn-cs"/>
              </a:rPr>
              <a:t>  SELECT salary INTO v_sal FROM employees </a:t>
            </a:r>
          </a:p>
          <a:p>
            <a:pPr eaLnBrk="1" hangingPunct="1">
              <a:lnSpc>
                <a:spcPct val="90000"/>
              </a:lnSpc>
              <a:buSzPct val="75000"/>
            </a:pPr>
            <a:r>
              <a:rPr lang="en-US" altLang="zh-CN" sz="2000">
                <a:solidFill>
                  <a:srgbClr val="000000"/>
                </a:solidFill>
                <a:latin typeface="+mn-lt"/>
                <a:ea typeface="+mn-ea"/>
                <a:cs typeface="+mn-cs"/>
              </a:rPr>
              <a:t>  WHERE employee_id=109;</a:t>
            </a:r>
          </a:p>
          <a:p>
            <a:pPr eaLnBrk="1" hangingPunct="1">
              <a:lnSpc>
                <a:spcPct val="90000"/>
              </a:lnSpc>
              <a:buSzPct val="75000"/>
            </a:pPr>
            <a:r>
              <a:rPr lang="en-US" altLang="zh-CN" sz="2000">
                <a:solidFill>
                  <a:srgbClr val="000000"/>
                </a:solidFill>
                <a:latin typeface="+mn-lt"/>
                <a:ea typeface="+mn-ea"/>
                <a:cs typeface="+mn-cs"/>
              </a:rPr>
              <a:t>  SELECT * INTO v_emp FROM employees </a:t>
            </a:r>
          </a:p>
          <a:p>
            <a:pPr eaLnBrk="1" hangingPunct="1">
              <a:lnSpc>
                <a:spcPct val="90000"/>
              </a:lnSpc>
              <a:buSzPct val="75000"/>
            </a:pPr>
            <a:r>
              <a:rPr lang="en-US" altLang="zh-CN" sz="2000">
                <a:solidFill>
                  <a:srgbClr val="000000"/>
                </a:solidFill>
                <a:latin typeface="+mn-lt"/>
                <a:ea typeface="+mn-ea"/>
                <a:cs typeface="+mn-cs"/>
              </a:rPr>
              <a:t>  WHERE employee_id=150;</a:t>
            </a:r>
          </a:p>
          <a:p>
            <a:pPr eaLnBrk="1" hangingPunct="1">
              <a:lnSpc>
                <a:spcPct val="90000"/>
              </a:lnSpc>
              <a:buSzPct val="75000"/>
            </a:pPr>
            <a:r>
              <a:rPr lang="en-US" altLang="zh-CN" sz="2000">
                <a:solidFill>
                  <a:srgbClr val="000000"/>
                </a:solidFill>
                <a:latin typeface="+mn-lt"/>
                <a:ea typeface="+mn-ea"/>
                <a:cs typeface="+mn-cs"/>
              </a:rPr>
              <a:t>  DBMS_OUTPUT.PUT_LINE(v_sal);</a:t>
            </a:r>
          </a:p>
          <a:p>
            <a:pPr eaLnBrk="1" hangingPunct="1">
              <a:lnSpc>
                <a:spcPct val="90000"/>
              </a:lnSpc>
              <a:buSzPct val="75000"/>
            </a:pPr>
            <a:r>
              <a:rPr lang="en-US" altLang="zh-CN" sz="2000">
                <a:solidFill>
                  <a:srgbClr val="000000"/>
                </a:solidFill>
                <a:latin typeface="+mn-lt"/>
                <a:ea typeface="+mn-ea"/>
                <a:cs typeface="+mn-cs"/>
              </a:rPr>
              <a:t>  DBMS_OUTPUT.PUT_LINE(v_emp.first_name||</a:t>
            </a:r>
          </a:p>
          <a:p>
            <a:pPr eaLnBrk="1" hangingPunct="1">
              <a:lnSpc>
                <a:spcPct val="90000"/>
              </a:lnSpc>
              <a:buSzPct val="75000"/>
            </a:pPr>
            <a:r>
              <a:rPr lang="en-US" altLang="zh-CN" sz="2000">
                <a:solidFill>
                  <a:srgbClr val="000000"/>
                </a:solidFill>
                <a:latin typeface="+mn-lt"/>
                <a:ea typeface="+mn-ea"/>
                <a:cs typeface="+mn-cs"/>
              </a:rPr>
              <a:t>  v_emp.salary);</a:t>
            </a:r>
          </a:p>
          <a:p>
            <a:pPr eaLnBrk="1" hangingPunct="1">
              <a:lnSpc>
                <a:spcPct val="90000"/>
              </a:lnSpc>
              <a:buSzPct val="75000"/>
            </a:pPr>
            <a:r>
              <a:rPr lang="en-US" altLang="zh-CN" sz="2000">
                <a:solidFill>
                  <a:srgbClr val="000000"/>
                </a:solidFill>
                <a:latin typeface="+mn-lt"/>
                <a:ea typeface="+mn-ea"/>
                <a:cs typeface="+mn-cs"/>
              </a:rPr>
              <a:t>END; </a:t>
            </a:r>
          </a:p>
        </p:txBody>
      </p:sp>
      <p:sp>
        <p:nvSpPr>
          <p:cNvPr id="25602"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23</a:t>
            </a:fld>
            <a:endParaRPr lang="en-US" altLang="zh-CN">
              <a:solidFill>
                <a:srgbClr val="898989"/>
              </a:solidFill>
              <a:ea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6627"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r>
              <a:rPr lang="en-GB" altLang="zh-CN">
                <a:solidFill>
                  <a:srgbClr val="FFFFFF"/>
                </a:solidFill>
                <a:latin typeface="+mj-lt"/>
                <a:ea typeface="+mj-ea"/>
                <a:cs typeface="+mj-cs"/>
              </a:rPr>
              <a:t>9.4.2 </a:t>
            </a:r>
            <a:r>
              <a:rPr lang="zh-CN" altLang="en-US">
                <a:solidFill>
                  <a:srgbClr val="FFFFFF"/>
                </a:solidFill>
                <a:latin typeface="宋体" panose="02010600030101010101" pitchFamily="2" charset="-122"/>
                <a:ea typeface="+mj-ea"/>
                <a:cs typeface="+mj-cs"/>
              </a:rPr>
              <a:t>变量与常量</a:t>
            </a:r>
          </a:p>
        </p:txBody>
      </p:sp>
      <p:sp>
        <p:nvSpPr>
          <p:cNvPr id="26628"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buSzPct val="75000"/>
            </a:pPr>
            <a:r>
              <a:rPr lang="zh-CN" altLang="en-US" sz="2000">
                <a:solidFill>
                  <a:srgbClr val="000000"/>
                </a:solidFill>
                <a:latin typeface="+mn-lt"/>
                <a:ea typeface="+mn-ea"/>
                <a:cs typeface="+mn-cs"/>
              </a:rPr>
              <a:t>变量与常量的定义</a:t>
            </a:r>
          </a:p>
          <a:p>
            <a:pPr eaLnBrk="1" hangingPunct="1">
              <a:buSzPct val="75000"/>
            </a:pPr>
            <a:r>
              <a:rPr lang="zh-CN" altLang="en-US" sz="2000">
                <a:solidFill>
                  <a:srgbClr val="000000"/>
                </a:solidFill>
                <a:latin typeface="+mn-lt"/>
                <a:ea typeface="+mn-ea"/>
                <a:cs typeface="+mn-cs"/>
              </a:rPr>
              <a:t>变量的作用域</a:t>
            </a:r>
          </a:p>
        </p:txBody>
      </p:sp>
      <p:sp>
        <p:nvSpPr>
          <p:cNvPr id="26626"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24</a:t>
            </a:fld>
            <a:endParaRPr lang="en-US" altLang="zh-CN">
              <a:solidFill>
                <a:srgbClr val="898989"/>
              </a:solidFill>
              <a:ea typeface="宋体" panose="0201060003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5"/>
          <p:cNvSpPr txBox="1">
            <a:spLocks noGrp="1"/>
          </p:cNvSpPr>
          <p:nvPr>
            <p:ph type="sldNum" sz="quarter" idx="12"/>
          </p:nvPr>
        </p:nvSpPr>
        <p:spPr>
          <a:ln/>
        </p:spPr>
        <p:txBody>
          <a:bodyPr/>
          <a:lstStyle/>
          <a:p>
            <a:pPr marL="0" indent="0" algn="r" eaLnBrk="1" hangingPunct="1">
              <a:spcBef>
                <a:spcPct val="0"/>
              </a:spcBef>
              <a:buClrTx/>
              <a:buSzTx/>
              <a:buFontTx/>
              <a:buNone/>
            </a:pPr>
            <a:fld id="{9A0DB2DC-4C9A-4742-B13C-FB6460FD3503}" type="slidenum">
              <a:rPr lang="en-US" altLang="zh-CN" sz="1335" dirty="0">
                <a:ea typeface="宋体" panose="02010600030101010101" pitchFamily="2" charset="-122"/>
              </a:rPr>
              <a:t>25</a:t>
            </a:fld>
            <a:endParaRPr lang="en-US" altLang="zh-CN" sz="1335" dirty="0">
              <a:ea typeface="宋体" panose="02010600030101010101" pitchFamily="2" charset="-122"/>
            </a:endParaRPr>
          </a:p>
        </p:txBody>
      </p:sp>
      <p:sp>
        <p:nvSpPr>
          <p:cNvPr id="27651" name="Rectangle 2"/>
          <p:cNvSpPr/>
          <p:nvPr/>
        </p:nvSpPr>
        <p:spPr>
          <a:xfrm>
            <a:off x="1016000" y="-838200"/>
            <a:ext cx="10363200" cy="1524000"/>
          </a:xfrm>
          <a:prstGeom prst="rect">
            <a:avLst/>
          </a:prstGeom>
          <a:noFill/>
          <a:ln w="9525">
            <a:noFill/>
          </a:ln>
        </p:spPr>
        <p:txBody>
          <a:bodyPr lIns="122766" tIns="61384" rIns="122766" bIns="61384"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Char char="n"/>
              <a:defRPr sz="2800" b="1">
                <a:solidFill>
                  <a:schemeClr val="tx1"/>
                </a:solidFill>
                <a:latin typeface="+mn-lt"/>
                <a:ea typeface="华文仿宋" panose="02010600040101010101" pitchFamily="2" charset="-122"/>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p"/>
              <a:defRPr sz="2400">
                <a:solidFill>
                  <a:schemeClr val="tx1"/>
                </a:solidFill>
                <a:latin typeface="+mn-lt"/>
                <a:ea typeface="华文隶书" panose="02010800040101010101" pitchFamily="2" charset="-122"/>
              </a:defRPr>
            </a:lvl3pPr>
            <a:lvl4pPr marL="16002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j-ea"/>
              </a:defRPr>
            </a:lvl4pPr>
            <a:lvl5pPr marL="2057400" indent="-228600" algn="l" rtl="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mn-lt"/>
                <a:ea typeface="+mj-ea"/>
              </a:defRPr>
            </a:lvl5pPr>
          </a:lstStyle>
          <a:p>
            <a:pPr marL="0" lvl="0" indent="0" algn="ctr" eaLnBrk="1" hangingPunct="1">
              <a:spcBef>
                <a:spcPct val="0"/>
              </a:spcBef>
              <a:buClrTx/>
              <a:buSzTx/>
              <a:buFontTx/>
              <a:buNone/>
            </a:pPr>
            <a:r>
              <a:rPr lang="zh-CN" altLang="en-US" sz="5865" dirty="0">
                <a:solidFill>
                  <a:srgbClr val="C00000"/>
                </a:solidFill>
                <a:latin typeface="宋体" panose="02010600030101010101" pitchFamily="2" charset="-122"/>
                <a:ea typeface="宋体" panose="02010600030101010101" pitchFamily="2" charset="-122"/>
              </a:rPr>
              <a:t>变量声明</a:t>
            </a:r>
          </a:p>
        </p:txBody>
      </p:sp>
      <p:sp>
        <p:nvSpPr>
          <p:cNvPr id="27652" name="Rectangle 4"/>
          <p:cNvSpPr>
            <a:spLocks noGrp="1"/>
          </p:cNvSpPr>
          <p:nvPr>
            <p:ph type="title"/>
          </p:nvPr>
        </p:nvSpPr>
        <p:spPr>
          <a:ln/>
        </p:spPr>
        <p:txBody>
          <a:bodyPr vert="horz" wrap="square" lIns="121920" tIns="60960" rIns="121920" bIns="60960" anchor="b"/>
          <a:lstStyle/>
          <a:p>
            <a:pPr eaLnBrk="1" hangingPunct="1"/>
            <a:r>
              <a:rPr lang="zh-CN" altLang="en-US" sz="4800" dirty="0">
                <a:latin typeface="+mj-lt"/>
                <a:ea typeface="+mj-ea"/>
                <a:cs typeface="+mj-cs"/>
              </a:rPr>
              <a:t>（</a:t>
            </a:r>
            <a:r>
              <a:rPr lang="en-US" altLang="zh-CN" sz="4800" dirty="0">
                <a:latin typeface="+mj-lt"/>
                <a:ea typeface="+mj-ea"/>
                <a:cs typeface="+mj-cs"/>
              </a:rPr>
              <a:t>1</a:t>
            </a:r>
            <a:r>
              <a:rPr lang="zh-CN" altLang="en-US" sz="4800" dirty="0">
                <a:latin typeface="+mj-lt"/>
                <a:ea typeface="+mj-ea"/>
                <a:cs typeface="+mj-cs"/>
              </a:rPr>
              <a:t>）变量与常量的定义</a:t>
            </a:r>
          </a:p>
        </p:txBody>
      </p:sp>
      <p:sp>
        <p:nvSpPr>
          <p:cNvPr id="27653" name="Rectangle 5"/>
          <p:cNvSpPr>
            <a:spLocks noGrp="1"/>
          </p:cNvSpPr>
          <p:nvPr>
            <p:ph idx="1"/>
          </p:nvPr>
        </p:nvSpPr>
        <p:spPr>
          <a:ln/>
        </p:spPr>
        <p:txBody>
          <a:bodyPr vert="horz" wrap="square" lIns="121920" tIns="60960" rIns="121920" bIns="60960" anchor="t"/>
          <a:lstStyle/>
          <a:p>
            <a:pPr eaLnBrk="1" hangingPunct="1">
              <a:buSzPct val="75000"/>
            </a:pPr>
            <a:r>
              <a:rPr lang="zh-CN" altLang="en-US" dirty="0">
                <a:latin typeface="+mn-lt"/>
                <a:ea typeface="+mn-ea"/>
                <a:cs typeface="+mn-cs"/>
              </a:rPr>
              <a:t>变量定义的一般格式</a:t>
            </a:r>
          </a:p>
          <a:p>
            <a:pPr lvl="1" algn="just" eaLnBrk="1" hangingPunct="1">
              <a:buSzPct val="75000"/>
            </a:pPr>
            <a:r>
              <a:rPr lang="en-US" altLang="zh-CN" sz="2665" b="0" dirty="0">
                <a:latin typeface="+mn-lt"/>
                <a:ea typeface="华文仿宋" panose="02010600040101010101" pitchFamily="2" charset="-122"/>
              </a:rPr>
              <a:t>variable_name [CONSTANT] datatype [NOT NULL] [DEFAULT|:=expression];</a:t>
            </a:r>
          </a:p>
          <a:p>
            <a:pPr algn="just" eaLnBrk="1" hangingPunct="1">
              <a:buSzPct val="75000"/>
            </a:pPr>
            <a:r>
              <a:rPr lang="zh-CN" altLang="en-US" dirty="0">
                <a:latin typeface="+mn-lt"/>
                <a:ea typeface="+mn-ea"/>
                <a:cs typeface="+mn-cs"/>
              </a:rPr>
              <a:t>说明</a:t>
            </a:r>
          </a:p>
          <a:p>
            <a:pPr lvl="1" eaLnBrk="1" hangingPunct="1">
              <a:buSzPct val="75000"/>
            </a:pPr>
            <a:r>
              <a:rPr lang="zh-CN" altLang="en-US" sz="2665" b="0" dirty="0">
                <a:latin typeface="+mn-lt"/>
                <a:ea typeface="黑体" panose="02010609060101010101" pitchFamily="49" charset="-122"/>
              </a:rPr>
              <a:t>变量或常量名称是一个</a:t>
            </a:r>
            <a:r>
              <a:rPr lang="en-US" altLang="zh-CN" sz="2665" b="0" dirty="0">
                <a:latin typeface="+mn-lt"/>
                <a:ea typeface="黑体" panose="02010609060101010101" pitchFamily="49" charset="-122"/>
              </a:rPr>
              <a:t>PL/SQL</a:t>
            </a:r>
            <a:r>
              <a:rPr lang="zh-CN" altLang="en-US" sz="2665" b="0" dirty="0">
                <a:latin typeface="+mn-lt"/>
                <a:ea typeface="黑体" panose="02010609060101010101" pitchFamily="49" charset="-122"/>
              </a:rPr>
              <a:t>标识符，应符合标识符命名规范；</a:t>
            </a:r>
            <a:endParaRPr lang="zh-CN" altLang="en-US" sz="2665" b="0" dirty="0">
              <a:latin typeface="+mn-lt"/>
              <a:ea typeface="黑体" panose="02010609060101010101" pitchFamily="49" charset="-122"/>
              <a:sym typeface="Wingdings" panose="05000000000000000000" pitchFamily="2" charset="2"/>
            </a:endParaRPr>
          </a:p>
          <a:p>
            <a:pPr lvl="1" eaLnBrk="1" hangingPunct="1">
              <a:buSzPct val="75000"/>
            </a:pPr>
            <a:r>
              <a:rPr lang="zh-CN" altLang="en-US" sz="2665" b="0" dirty="0">
                <a:latin typeface="+mn-lt"/>
                <a:ea typeface="黑体" panose="02010609060101010101" pitchFamily="49" charset="-122"/>
              </a:rPr>
              <a:t>每行只能定义一个变量；</a:t>
            </a:r>
            <a:endParaRPr lang="zh-CN" altLang="en-US" sz="2665" b="0" dirty="0">
              <a:latin typeface="+mn-lt"/>
              <a:ea typeface="黑体" panose="02010609060101010101" pitchFamily="49" charset="-122"/>
              <a:sym typeface="Wingdings" panose="05000000000000000000" pitchFamily="2" charset="2"/>
            </a:endParaRPr>
          </a:p>
          <a:p>
            <a:pPr lvl="1" eaLnBrk="1" hangingPunct="1">
              <a:buSzPct val="75000"/>
            </a:pPr>
            <a:r>
              <a:rPr lang="zh-CN" altLang="en-US" sz="2665" b="0" dirty="0">
                <a:latin typeface="+mn-lt"/>
                <a:ea typeface="黑体" panose="02010609060101010101" pitchFamily="49" charset="-122"/>
              </a:rPr>
              <a:t>如果加上关键字</a:t>
            </a:r>
            <a:r>
              <a:rPr lang="en-US" altLang="zh-CN" sz="2665" b="0" dirty="0">
                <a:latin typeface="+mn-lt"/>
                <a:ea typeface="黑体" panose="02010609060101010101" pitchFamily="49" charset="-122"/>
              </a:rPr>
              <a:t>CONSTANT</a:t>
            </a:r>
            <a:r>
              <a:rPr lang="zh-CN" altLang="en-US" sz="2665" b="0" dirty="0">
                <a:latin typeface="+mn-lt"/>
                <a:ea typeface="黑体" panose="02010609060101010101" pitchFamily="49" charset="-122"/>
              </a:rPr>
              <a:t>，则表示所定义的是一个常量，必须为它赋初值；</a:t>
            </a:r>
            <a:endParaRPr lang="zh-CN" altLang="en-US" sz="2665" b="0" dirty="0">
              <a:latin typeface="+mn-lt"/>
              <a:ea typeface="黑体" panose="02010609060101010101" pitchFamily="49" charset="-122"/>
              <a:sym typeface="Wingdings" panose="05000000000000000000" pitchFamily="2" charset="2"/>
            </a:endParaRPr>
          </a:p>
          <a:p>
            <a:pPr lvl="1" eaLnBrk="1" hangingPunct="1">
              <a:buSzPct val="75000"/>
            </a:pPr>
            <a:r>
              <a:rPr lang="zh-CN" altLang="en-US" sz="2665" b="0" dirty="0">
                <a:latin typeface="+mn-lt"/>
                <a:ea typeface="黑体" panose="02010609060101010101" pitchFamily="49" charset="-122"/>
              </a:rPr>
              <a:t>如果定义变量时使用了</a:t>
            </a:r>
            <a:r>
              <a:rPr lang="en-US" altLang="zh-CN" sz="2665" b="0" dirty="0">
                <a:latin typeface="+mn-lt"/>
                <a:ea typeface="黑体" panose="02010609060101010101" pitchFamily="49" charset="-122"/>
              </a:rPr>
              <a:t>NOT NULL</a:t>
            </a:r>
            <a:r>
              <a:rPr lang="zh-CN" altLang="en-US" sz="2665" b="0" dirty="0">
                <a:latin typeface="+mn-lt"/>
                <a:ea typeface="黑体" panose="02010609060101010101" pitchFamily="49" charset="-122"/>
              </a:rPr>
              <a:t>关键字，则必须为变量赋初值；</a:t>
            </a:r>
            <a:endParaRPr lang="zh-CN" altLang="en-US" sz="2665" b="0" dirty="0">
              <a:latin typeface="+mn-lt"/>
              <a:ea typeface="黑体" panose="02010609060101010101" pitchFamily="49" charset="-122"/>
              <a:sym typeface="Wingdings" panose="05000000000000000000" pitchFamily="2" charset="2"/>
            </a:endParaRPr>
          </a:p>
          <a:p>
            <a:pPr lvl="1" eaLnBrk="1" hangingPunct="1">
              <a:buSzPct val="75000"/>
            </a:pPr>
            <a:r>
              <a:rPr lang="zh-CN" altLang="en-US" sz="2665" b="0" dirty="0">
                <a:latin typeface="+mn-lt"/>
                <a:ea typeface="黑体" panose="02010609060101010101" pitchFamily="49" charset="-122"/>
              </a:rPr>
              <a:t>如果变量没有赋初值，则默认为</a:t>
            </a:r>
            <a:r>
              <a:rPr lang="en-US" altLang="zh-CN" sz="2665" b="0" dirty="0">
                <a:latin typeface="+mn-lt"/>
                <a:ea typeface="黑体" panose="02010609060101010101" pitchFamily="49" charset="-122"/>
              </a:rPr>
              <a:t>NULL</a:t>
            </a:r>
            <a:r>
              <a:rPr lang="zh-CN" altLang="en-US" sz="2665" b="0" dirty="0">
                <a:latin typeface="+mn-lt"/>
                <a:ea typeface="黑体" panose="02010609060101010101" pitchFamily="49" charset="-122"/>
              </a:rPr>
              <a:t>；</a:t>
            </a:r>
            <a:endParaRPr lang="zh-CN" altLang="en-US" sz="2665" b="0" dirty="0">
              <a:latin typeface="+mn-lt"/>
              <a:ea typeface="黑体" panose="02010609060101010101" pitchFamily="49" charset="-122"/>
              <a:sym typeface="Wingdings" panose="05000000000000000000" pitchFamily="2" charset="2"/>
            </a:endParaRPr>
          </a:p>
          <a:p>
            <a:pPr lvl="1" eaLnBrk="1" hangingPunct="1">
              <a:buSzPct val="75000"/>
            </a:pPr>
            <a:r>
              <a:rPr lang="zh-CN" altLang="en-US" sz="2665" b="0" dirty="0">
                <a:latin typeface="+mn-lt"/>
                <a:ea typeface="黑体" panose="02010609060101010101" pitchFamily="49" charset="-122"/>
              </a:rPr>
              <a:t>使用</a:t>
            </a:r>
            <a:r>
              <a:rPr lang="en-US" altLang="zh-CN" sz="2665" b="0" dirty="0">
                <a:latin typeface="+mn-lt"/>
                <a:ea typeface="黑体" panose="02010609060101010101" pitchFamily="49" charset="-122"/>
              </a:rPr>
              <a:t>DEFAULT</a:t>
            </a:r>
            <a:r>
              <a:rPr lang="zh-CN" altLang="en-US" sz="2665" b="0" dirty="0">
                <a:latin typeface="+mn-lt"/>
                <a:ea typeface="黑体" panose="02010609060101010101" pitchFamily="49" charset="-122"/>
              </a:rPr>
              <a:t>或“</a:t>
            </a:r>
            <a:r>
              <a:rPr lang="en-US" altLang="zh-CN" sz="2665" b="0" dirty="0">
                <a:latin typeface="+mn-lt"/>
                <a:ea typeface="黑体" panose="02010609060101010101" pitchFamily="49" charset="-122"/>
              </a:rPr>
              <a:t>:=”</a:t>
            </a:r>
            <a:r>
              <a:rPr lang="zh-CN" altLang="en-US" sz="2665" b="0" dirty="0">
                <a:latin typeface="+mn-lt"/>
                <a:ea typeface="黑体" panose="02010609060101010101" pitchFamily="49" charset="-122"/>
              </a:rPr>
              <a:t>运算符为变量初始化。</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7" name="Picture 76">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8675" name="Rectangle 2"/>
          <p:cNvSpPr>
            <a:spLocks noGrp="1"/>
          </p:cNvSpPr>
          <p:nvPr>
            <p:ph type="title"/>
          </p:nvPr>
        </p:nvSpPr>
        <p:spPr>
          <a:xfrm>
            <a:off x="640079" y="2053641"/>
            <a:ext cx="3669161" cy="2760098"/>
          </a:xfrm>
        </p:spPr>
        <p:txBody>
          <a:bodyPr vert="horz" lIns="121920" tIns="60960" rIns="121920" bIns="60960">
            <a:normAutofit/>
          </a:bodyPr>
          <a:lstStyle/>
          <a:p>
            <a:pPr eaLnBrk="1" hangingPunct="1"/>
            <a:endParaRPr lang="zh-CN" altLang="zh-CN">
              <a:solidFill>
                <a:srgbClr val="FFFFFF"/>
              </a:solidFill>
              <a:latin typeface="+mj-lt"/>
              <a:ea typeface="+mj-ea"/>
              <a:cs typeface="+mj-cs"/>
            </a:endParaRPr>
          </a:p>
        </p:txBody>
      </p:sp>
      <p:sp>
        <p:nvSpPr>
          <p:cNvPr id="28676" name="Rectangle 3"/>
          <p:cNvSpPr>
            <a:spLocks noGrp="1"/>
          </p:cNvSpPr>
          <p:nvPr>
            <p:ph idx="1"/>
          </p:nvPr>
        </p:nvSpPr>
        <p:spPr>
          <a:xfrm>
            <a:off x="6090574" y="801866"/>
            <a:ext cx="5306084" cy="5230634"/>
          </a:xfrm>
        </p:spPr>
        <p:txBody>
          <a:bodyPr vert="horz" lIns="121920" tIns="60960" rIns="121920" bIns="60960" anchor="ctr">
            <a:normAutofit/>
          </a:bodyPr>
          <a:lstStyle/>
          <a:p>
            <a:pPr eaLnBrk="1" hangingPunct="1">
              <a:lnSpc>
                <a:spcPct val="90000"/>
              </a:lnSpc>
              <a:buSzPct val="75000"/>
            </a:pPr>
            <a:r>
              <a:rPr lang="en-US" altLang="zh-CN" sz="2000">
                <a:solidFill>
                  <a:srgbClr val="000000"/>
                </a:solidFill>
                <a:latin typeface="+mn-lt"/>
                <a:ea typeface="+mn-ea"/>
                <a:cs typeface="+mn-cs"/>
              </a:rPr>
              <a:t>DECLARE</a:t>
            </a:r>
          </a:p>
          <a:p>
            <a:pPr eaLnBrk="1" hangingPunct="1">
              <a:lnSpc>
                <a:spcPct val="90000"/>
              </a:lnSpc>
              <a:buSzPct val="75000"/>
            </a:pPr>
            <a:r>
              <a:rPr lang="en-US" altLang="zh-CN" sz="2000">
                <a:solidFill>
                  <a:srgbClr val="000000"/>
                </a:solidFill>
                <a:latin typeface="+mn-lt"/>
                <a:ea typeface="+mn-ea"/>
                <a:cs typeface="+mn-cs"/>
              </a:rPr>
              <a:t>  v1 NUMBER(4);</a:t>
            </a:r>
          </a:p>
          <a:p>
            <a:pPr eaLnBrk="1" hangingPunct="1">
              <a:lnSpc>
                <a:spcPct val="90000"/>
              </a:lnSpc>
              <a:buSzPct val="75000"/>
            </a:pPr>
            <a:r>
              <a:rPr lang="en-US" altLang="zh-CN" sz="2000">
                <a:solidFill>
                  <a:srgbClr val="000000"/>
                </a:solidFill>
                <a:latin typeface="+mn-lt"/>
                <a:ea typeface="+mn-ea"/>
                <a:cs typeface="+mn-cs"/>
              </a:rPr>
              <a:t>  v2 NUMBER(4) NOT NULL :=10;</a:t>
            </a:r>
          </a:p>
          <a:p>
            <a:pPr eaLnBrk="1" hangingPunct="1">
              <a:lnSpc>
                <a:spcPct val="90000"/>
              </a:lnSpc>
              <a:buSzPct val="75000"/>
            </a:pPr>
            <a:r>
              <a:rPr lang="en-US" altLang="zh-CN" sz="2000">
                <a:solidFill>
                  <a:srgbClr val="000000"/>
                </a:solidFill>
                <a:latin typeface="+mn-lt"/>
                <a:ea typeface="+mn-ea"/>
                <a:cs typeface="+mn-cs"/>
              </a:rPr>
              <a:t>  v3 CONSTANT NUMBER(4) DEFAULT 100;</a:t>
            </a:r>
          </a:p>
          <a:p>
            <a:pPr eaLnBrk="1" hangingPunct="1">
              <a:lnSpc>
                <a:spcPct val="90000"/>
              </a:lnSpc>
              <a:buSzPct val="75000"/>
            </a:pPr>
            <a:r>
              <a:rPr lang="en-US" altLang="zh-CN" sz="2000">
                <a:solidFill>
                  <a:srgbClr val="000000"/>
                </a:solidFill>
                <a:latin typeface="+mn-lt"/>
                <a:ea typeface="+mn-ea"/>
                <a:cs typeface="+mn-cs"/>
              </a:rPr>
              <a:t>BEGIN</a:t>
            </a:r>
          </a:p>
          <a:p>
            <a:pPr eaLnBrk="1" hangingPunct="1">
              <a:lnSpc>
                <a:spcPct val="90000"/>
              </a:lnSpc>
              <a:buSzPct val="75000"/>
            </a:pPr>
            <a:r>
              <a:rPr lang="en-US" altLang="zh-CN" sz="2000">
                <a:solidFill>
                  <a:srgbClr val="000000"/>
                </a:solidFill>
                <a:latin typeface="+mn-lt"/>
                <a:ea typeface="+mn-ea"/>
                <a:cs typeface="+mn-cs"/>
              </a:rPr>
              <a:t>  IF v1 IS NULL THEN </a:t>
            </a:r>
          </a:p>
          <a:p>
            <a:pPr eaLnBrk="1" hangingPunct="1">
              <a:lnSpc>
                <a:spcPct val="90000"/>
              </a:lnSpc>
              <a:buSzPct val="75000"/>
            </a:pPr>
            <a:r>
              <a:rPr lang="en-US" altLang="zh-CN" sz="2000">
                <a:solidFill>
                  <a:srgbClr val="000000"/>
                </a:solidFill>
                <a:latin typeface="+mn-lt"/>
                <a:ea typeface="+mn-ea"/>
                <a:cs typeface="+mn-cs"/>
              </a:rPr>
              <a:t>     DBMS_OUTPUT.PUT_LINE('V1 IS NULL! ');</a:t>
            </a:r>
          </a:p>
          <a:p>
            <a:pPr eaLnBrk="1" hangingPunct="1">
              <a:lnSpc>
                <a:spcPct val="90000"/>
              </a:lnSpc>
              <a:buSzPct val="75000"/>
            </a:pPr>
            <a:r>
              <a:rPr lang="en-US" altLang="zh-CN" sz="2000">
                <a:solidFill>
                  <a:srgbClr val="000000"/>
                </a:solidFill>
                <a:latin typeface="+mn-lt"/>
                <a:ea typeface="+mn-ea"/>
                <a:cs typeface="+mn-cs"/>
              </a:rPr>
              <a:t>  END IF;</a:t>
            </a:r>
          </a:p>
          <a:p>
            <a:pPr eaLnBrk="1" hangingPunct="1">
              <a:lnSpc>
                <a:spcPct val="90000"/>
              </a:lnSpc>
              <a:buSzPct val="75000"/>
            </a:pPr>
            <a:r>
              <a:rPr lang="en-US" altLang="zh-CN" sz="2000">
                <a:solidFill>
                  <a:srgbClr val="000000"/>
                </a:solidFill>
                <a:latin typeface="+mn-lt"/>
                <a:ea typeface="+mn-ea"/>
                <a:cs typeface="+mn-cs"/>
              </a:rPr>
              <a:t>  DBMS_OUTPUT.PUT_LINE(v2||' '||v3);</a:t>
            </a:r>
          </a:p>
          <a:p>
            <a:pPr eaLnBrk="1" hangingPunct="1">
              <a:lnSpc>
                <a:spcPct val="90000"/>
              </a:lnSpc>
              <a:buSzPct val="75000"/>
            </a:pPr>
            <a:r>
              <a:rPr lang="en-US" altLang="zh-CN" sz="2000">
                <a:solidFill>
                  <a:srgbClr val="000000"/>
                </a:solidFill>
                <a:latin typeface="+mn-lt"/>
                <a:ea typeface="+mn-ea"/>
                <a:cs typeface="+mn-cs"/>
              </a:rPr>
              <a:t>END; </a:t>
            </a:r>
          </a:p>
        </p:txBody>
      </p:sp>
      <p:sp>
        <p:nvSpPr>
          <p:cNvPr id="28674"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26</a:t>
            </a:fld>
            <a:endParaRPr lang="en-US" altLang="zh-CN">
              <a:solidFill>
                <a:srgbClr val="898989"/>
              </a:solidFill>
              <a:ea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9699"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r>
              <a:rPr lang="zh-CN" altLang="en-US">
                <a:solidFill>
                  <a:srgbClr val="FFFFFF"/>
                </a:solidFill>
                <a:latin typeface="+mj-lt"/>
                <a:ea typeface="+mj-ea"/>
                <a:cs typeface="+mj-cs"/>
              </a:rPr>
              <a:t>（</a:t>
            </a:r>
            <a:r>
              <a:rPr lang="en-US" altLang="zh-CN">
                <a:solidFill>
                  <a:srgbClr val="FFFFFF"/>
                </a:solidFill>
                <a:latin typeface="+mj-lt"/>
                <a:ea typeface="+mj-ea"/>
                <a:cs typeface="+mj-cs"/>
              </a:rPr>
              <a:t>2</a:t>
            </a:r>
            <a:r>
              <a:rPr lang="zh-CN" altLang="en-US">
                <a:solidFill>
                  <a:srgbClr val="FFFFFF"/>
                </a:solidFill>
                <a:latin typeface="+mj-lt"/>
                <a:ea typeface="+mj-ea"/>
                <a:cs typeface="+mj-cs"/>
              </a:rPr>
              <a:t>）变量的作用域</a:t>
            </a:r>
          </a:p>
        </p:txBody>
      </p:sp>
      <p:sp>
        <p:nvSpPr>
          <p:cNvPr id="29700"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buSzPct val="75000"/>
            </a:pPr>
            <a:r>
              <a:rPr lang="zh-CN" altLang="en-US" sz="2000">
                <a:solidFill>
                  <a:srgbClr val="000000"/>
                </a:solidFill>
                <a:latin typeface="+mn-lt"/>
                <a:ea typeface="+mn-ea"/>
                <a:cs typeface="+mn-cs"/>
              </a:rPr>
              <a:t>变量的作用域是指变量的有效作用范围，从变量声明开始，直到块结束。</a:t>
            </a:r>
          </a:p>
          <a:p>
            <a:pPr eaLnBrk="1" hangingPunct="1">
              <a:buSzPct val="75000"/>
            </a:pPr>
            <a:r>
              <a:rPr lang="zh-CN" altLang="en-US" sz="2000">
                <a:solidFill>
                  <a:srgbClr val="000000"/>
                </a:solidFill>
                <a:latin typeface="+mn-lt"/>
                <a:ea typeface="+mn-ea"/>
                <a:cs typeface="+mn-cs"/>
              </a:rPr>
              <a:t>如果</a:t>
            </a:r>
            <a:r>
              <a:rPr lang="en-US" altLang="zh-CN" sz="2000">
                <a:solidFill>
                  <a:srgbClr val="000000"/>
                </a:solidFill>
                <a:latin typeface="+mn-lt"/>
                <a:ea typeface="+mn-ea"/>
                <a:cs typeface="+mn-cs"/>
              </a:rPr>
              <a:t>PL/SQL</a:t>
            </a:r>
            <a:r>
              <a:rPr lang="zh-CN" altLang="en-US" sz="2000">
                <a:solidFill>
                  <a:srgbClr val="000000"/>
                </a:solidFill>
                <a:latin typeface="+mn-lt"/>
                <a:ea typeface="+mn-ea"/>
                <a:cs typeface="+mn-cs"/>
              </a:rPr>
              <a:t>块相互嵌套，则在内部块中声明的变量是局部的，只能在内部块中引用，而在外部块中声明的变量是全局的，既可以在外部块中引用，也可以在内部块中引用。</a:t>
            </a:r>
          </a:p>
          <a:p>
            <a:pPr eaLnBrk="1" hangingPunct="1">
              <a:buSzPct val="75000"/>
            </a:pPr>
            <a:r>
              <a:rPr lang="zh-CN" altLang="en-US" sz="2000">
                <a:solidFill>
                  <a:srgbClr val="000000"/>
                </a:solidFill>
                <a:latin typeface="+mn-lt"/>
                <a:ea typeface="+mn-ea"/>
                <a:cs typeface="+mn-cs"/>
              </a:rPr>
              <a:t>如果内部块与外部块中定义了同名变量，则在内部块中引用外部块的全局变量时需要使用外部块名进行标识。 </a:t>
            </a:r>
          </a:p>
        </p:txBody>
      </p:sp>
      <p:sp>
        <p:nvSpPr>
          <p:cNvPr id="29698"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27</a:t>
            </a:fld>
            <a:endParaRPr lang="en-US" altLang="zh-CN">
              <a:solidFill>
                <a:srgbClr val="898989"/>
              </a:solidFill>
              <a:ea typeface="宋体" panose="02010600030101010101"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6" name="Picture 75">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723" name="Rectangle 3"/>
          <p:cNvSpPr>
            <a:spLocks noGrp="1"/>
          </p:cNvSpPr>
          <p:nvPr>
            <p:ph idx="1"/>
          </p:nvPr>
        </p:nvSpPr>
        <p:spPr>
          <a:xfrm>
            <a:off x="6090574" y="801866"/>
            <a:ext cx="5306084" cy="5230634"/>
          </a:xfrm>
        </p:spPr>
        <p:txBody>
          <a:bodyPr vert="horz" lIns="121920" tIns="60960" rIns="121920" bIns="60960" anchor="ctr">
            <a:normAutofit/>
          </a:bodyPr>
          <a:lstStyle/>
          <a:p>
            <a:pPr eaLnBrk="1" hangingPunct="1">
              <a:lnSpc>
                <a:spcPct val="90000"/>
              </a:lnSpc>
              <a:buSzPct val="75000"/>
            </a:pPr>
            <a:r>
              <a:rPr lang="en-US" altLang="zh-CN" sz="1700">
                <a:solidFill>
                  <a:srgbClr val="000000"/>
                </a:solidFill>
                <a:latin typeface="+mn-lt"/>
                <a:ea typeface="+mn-ea"/>
                <a:cs typeface="+mn-cs"/>
              </a:rPr>
              <a:t>&lt;&lt;OUTER&gt;&gt;</a:t>
            </a:r>
          </a:p>
          <a:p>
            <a:pPr eaLnBrk="1" hangingPunct="1">
              <a:lnSpc>
                <a:spcPct val="90000"/>
              </a:lnSpc>
              <a:buSzPct val="75000"/>
            </a:pPr>
            <a:r>
              <a:rPr lang="en-US" altLang="zh-CN" sz="1700">
                <a:solidFill>
                  <a:srgbClr val="000000"/>
                </a:solidFill>
                <a:latin typeface="+mn-lt"/>
                <a:ea typeface="+mn-ea"/>
                <a:cs typeface="+mn-cs"/>
              </a:rPr>
              <a:t>DECLARE</a:t>
            </a:r>
          </a:p>
          <a:p>
            <a:pPr eaLnBrk="1" hangingPunct="1">
              <a:lnSpc>
                <a:spcPct val="90000"/>
              </a:lnSpc>
              <a:buSzPct val="75000"/>
            </a:pPr>
            <a:r>
              <a:rPr lang="en-US" altLang="zh-CN" sz="1700">
                <a:solidFill>
                  <a:srgbClr val="000000"/>
                </a:solidFill>
                <a:latin typeface="+mn-lt"/>
                <a:ea typeface="+mn-ea"/>
                <a:cs typeface="+mn-cs"/>
              </a:rPr>
              <a:t>  v_fname  CHAR(15);</a:t>
            </a:r>
          </a:p>
          <a:p>
            <a:pPr eaLnBrk="1" hangingPunct="1">
              <a:lnSpc>
                <a:spcPct val="90000"/>
              </a:lnSpc>
              <a:buSzPct val="75000"/>
            </a:pPr>
            <a:r>
              <a:rPr lang="en-US" altLang="zh-CN" sz="1700">
                <a:solidFill>
                  <a:srgbClr val="000000"/>
                </a:solidFill>
                <a:latin typeface="+mn-lt"/>
                <a:ea typeface="+mn-ea"/>
                <a:cs typeface="+mn-cs"/>
              </a:rPr>
              <a:t>  v_outer  NUMBER(5);</a:t>
            </a:r>
          </a:p>
          <a:p>
            <a:pPr eaLnBrk="1" hangingPunct="1">
              <a:lnSpc>
                <a:spcPct val="90000"/>
              </a:lnSpc>
              <a:buSzPct val="75000"/>
            </a:pPr>
            <a:r>
              <a:rPr lang="en-US" altLang="zh-CN" sz="1700">
                <a:solidFill>
                  <a:srgbClr val="000000"/>
                </a:solidFill>
                <a:latin typeface="+mn-lt"/>
                <a:ea typeface="+mn-ea"/>
                <a:cs typeface="+mn-cs"/>
              </a:rPr>
              <a:t>BEGIN</a:t>
            </a:r>
          </a:p>
          <a:p>
            <a:pPr eaLnBrk="1" hangingPunct="1">
              <a:lnSpc>
                <a:spcPct val="90000"/>
              </a:lnSpc>
              <a:buSzPct val="75000"/>
            </a:pPr>
            <a:r>
              <a:rPr lang="en-US" altLang="zh-CN" sz="1700">
                <a:solidFill>
                  <a:srgbClr val="000000"/>
                </a:solidFill>
                <a:latin typeface="+mn-lt"/>
                <a:ea typeface="+mn-ea"/>
                <a:cs typeface="+mn-cs"/>
              </a:rPr>
              <a:t>  v_outer :=10;</a:t>
            </a:r>
          </a:p>
          <a:p>
            <a:pPr eaLnBrk="1" hangingPunct="1">
              <a:lnSpc>
                <a:spcPct val="90000"/>
              </a:lnSpc>
              <a:buSzPct val="75000"/>
            </a:pPr>
            <a:r>
              <a:rPr lang="en-US" altLang="zh-CN" sz="1700">
                <a:solidFill>
                  <a:srgbClr val="000000"/>
                </a:solidFill>
                <a:latin typeface="+mn-lt"/>
                <a:ea typeface="+mn-ea"/>
                <a:cs typeface="+mn-cs"/>
              </a:rPr>
              <a:t>  DECLARE</a:t>
            </a:r>
          </a:p>
          <a:p>
            <a:pPr eaLnBrk="1" hangingPunct="1">
              <a:lnSpc>
                <a:spcPct val="90000"/>
              </a:lnSpc>
              <a:buSzPct val="75000"/>
            </a:pPr>
            <a:r>
              <a:rPr lang="en-US" altLang="zh-CN" sz="1700">
                <a:solidFill>
                  <a:srgbClr val="000000"/>
                </a:solidFill>
                <a:latin typeface="+mn-lt"/>
                <a:ea typeface="+mn-ea"/>
                <a:cs typeface="+mn-cs"/>
              </a:rPr>
              <a:t>    v_fname CHAR(20); </a:t>
            </a:r>
          </a:p>
          <a:p>
            <a:pPr eaLnBrk="1" hangingPunct="1">
              <a:lnSpc>
                <a:spcPct val="90000"/>
              </a:lnSpc>
              <a:buSzPct val="75000"/>
            </a:pPr>
            <a:r>
              <a:rPr lang="en-US" altLang="zh-CN" sz="1700">
                <a:solidFill>
                  <a:srgbClr val="000000"/>
                </a:solidFill>
                <a:latin typeface="+mn-lt"/>
                <a:ea typeface="+mn-ea"/>
                <a:cs typeface="+mn-cs"/>
              </a:rPr>
              <a:t>    v_inner DATE;</a:t>
            </a:r>
          </a:p>
          <a:p>
            <a:pPr eaLnBrk="1" hangingPunct="1">
              <a:lnSpc>
                <a:spcPct val="90000"/>
              </a:lnSpc>
              <a:buSzPct val="75000"/>
            </a:pPr>
            <a:r>
              <a:rPr lang="en-US" altLang="zh-CN" sz="1700">
                <a:solidFill>
                  <a:srgbClr val="000000"/>
                </a:solidFill>
                <a:latin typeface="+mn-lt"/>
                <a:ea typeface="+mn-ea"/>
                <a:cs typeface="+mn-cs"/>
              </a:rPr>
              <a:t>  BEGIN</a:t>
            </a:r>
          </a:p>
          <a:p>
            <a:pPr eaLnBrk="1" hangingPunct="1">
              <a:lnSpc>
                <a:spcPct val="90000"/>
              </a:lnSpc>
              <a:buSzPct val="75000"/>
            </a:pPr>
            <a:r>
              <a:rPr lang="en-US" altLang="zh-CN" sz="1700">
                <a:solidFill>
                  <a:srgbClr val="000000"/>
                </a:solidFill>
                <a:latin typeface="+mn-lt"/>
                <a:ea typeface="+mn-ea"/>
                <a:cs typeface="+mn-cs"/>
              </a:rPr>
              <a:t>    v_inner:=sysdate;</a:t>
            </a:r>
          </a:p>
          <a:p>
            <a:pPr eaLnBrk="1" hangingPunct="1">
              <a:lnSpc>
                <a:spcPct val="90000"/>
              </a:lnSpc>
              <a:buSzPct val="75000"/>
            </a:pPr>
            <a:r>
              <a:rPr lang="en-US" altLang="zh-CN" sz="1700">
                <a:solidFill>
                  <a:srgbClr val="000000"/>
                </a:solidFill>
                <a:latin typeface="+mn-lt"/>
                <a:ea typeface="+mn-ea"/>
                <a:cs typeface="+mn-cs"/>
              </a:rPr>
              <a:t>    v_fname:= 'INNER V_ENAME';</a:t>
            </a:r>
          </a:p>
          <a:p>
            <a:pPr eaLnBrk="1" hangingPunct="1">
              <a:lnSpc>
                <a:spcPct val="90000"/>
              </a:lnSpc>
              <a:buSzPct val="75000"/>
            </a:pPr>
            <a:r>
              <a:rPr lang="en-US" altLang="zh-CN" sz="1700">
                <a:solidFill>
                  <a:srgbClr val="000000"/>
                </a:solidFill>
                <a:latin typeface="+mn-lt"/>
                <a:ea typeface="+mn-ea"/>
                <a:cs typeface="+mn-cs"/>
              </a:rPr>
              <a:t>    OUTER.v_fname:= 'OUTER V_ENAME';</a:t>
            </a:r>
          </a:p>
          <a:p>
            <a:pPr eaLnBrk="1" hangingPunct="1">
              <a:lnSpc>
                <a:spcPct val="90000"/>
              </a:lnSpc>
              <a:buSzPct val="75000"/>
            </a:pPr>
            <a:r>
              <a:rPr lang="en-US" altLang="zh-CN" sz="1700">
                <a:solidFill>
                  <a:srgbClr val="000000"/>
                </a:solidFill>
                <a:latin typeface="+mn-lt"/>
                <a:ea typeface="+mn-ea"/>
                <a:cs typeface="+mn-cs"/>
              </a:rPr>
              <a:t>  END;</a:t>
            </a:r>
          </a:p>
          <a:p>
            <a:pPr eaLnBrk="1" hangingPunct="1">
              <a:lnSpc>
                <a:spcPct val="90000"/>
              </a:lnSpc>
              <a:buSzPct val="75000"/>
            </a:pPr>
            <a:r>
              <a:rPr lang="en-US" altLang="zh-CN" sz="1700">
                <a:solidFill>
                  <a:srgbClr val="000000"/>
                </a:solidFill>
                <a:latin typeface="+mn-lt"/>
                <a:ea typeface="+mn-ea"/>
                <a:cs typeface="+mn-cs"/>
              </a:rPr>
              <a:t>  DBMS_OUTPUT.PUT_LINE(v_fname);</a:t>
            </a:r>
          </a:p>
          <a:p>
            <a:pPr eaLnBrk="1" hangingPunct="1">
              <a:lnSpc>
                <a:spcPct val="90000"/>
              </a:lnSpc>
              <a:buSzPct val="75000"/>
            </a:pPr>
            <a:r>
              <a:rPr lang="en-US" altLang="zh-CN" sz="1700">
                <a:solidFill>
                  <a:srgbClr val="000000"/>
                </a:solidFill>
                <a:latin typeface="+mn-lt"/>
                <a:ea typeface="+mn-ea"/>
                <a:cs typeface="+mn-cs"/>
              </a:rPr>
              <a:t>END;</a:t>
            </a:r>
          </a:p>
        </p:txBody>
      </p:sp>
      <p:sp>
        <p:nvSpPr>
          <p:cNvPr id="30722"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28</a:t>
            </a:fld>
            <a:endParaRPr lang="en-US" altLang="zh-CN">
              <a:solidFill>
                <a:srgbClr val="898989"/>
              </a:solidFill>
              <a:ea typeface="宋体" panose="02010600030101010101" pitchFamily="2"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76EFD3D9-44F0-4267-BCC1-1613E79D82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Freeform 6">
            <a:extLst>
              <a:ext uri="{FF2B5EF4-FFF2-40B4-BE49-F238E27FC236}">
                <a16:creationId xmlns:a16="http://schemas.microsoft.com/office/drawing/2014/main" id="{A779A851-95D6-41AF-937A-B0E4B7F6FA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2164" y="900814"/>
            <a:ext cx="759618"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7">
            <a:extLst>
              <a:ext uri="{FF2B5EF4-FFF2-40B4-BE49-F238E27FC236}">
                <a16:creationId xmlns:a16="http://schemas.microsoft.com/office/drawing/2014/main" id="{953FB2E7-B6CB-429C-81EB-D9516D6D5C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4437" y="633165"/>
            <a:ext cx="482654"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Shape 78">
            <a:extLst>
              <a:ext uri="{FF2B5EF4-FFF2-40B4-BE49-F238E27FC236}">
                <a16:creationId xmlns:a16="http://schemas.microsoft.com/office/drawing/2014/main" id="{2EC40DB1-B719-4A13-9A4D-0966B4B278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4621" y="636723"/>
            <a:ext cx="4000062" cy="5257799"/>
          </a:xfrm>
          <a:custGeom>
            <a:avLst/>
            <a:gdLst>
              <a:gd name="connsiteX0" fmla="*/ 0 w 4634682"/>
              <a:gd name="connsiteY0" fmla="*/ 0 h 5257799"/>
              <a:gd name="connsiteX1" fmla="*/ 4634682 w 4634682"/>
              <a:gd name="connsiteY1" fmla="*/ 0 h 5257799"/>
              <a:gd name="connsiteX2" fmla="*/ 4634682 w 4634682"/>
              <a:gd name="connsiteY2" fmla="*/ 5257799 h 5257799"/>
              <a:gd name="connsiteX3" fmla="*/ 0 w 4634682"/>
              <a:gd name="connsiteY3" fmla="*/ 5257799 h 5257799"/>
            </a:gdLst>
            <a:ahLst/>
            <a:cxnLst>
              <a:cxn ang="0">
                <a:pos x="connsiteX0" y="connsiteY0"/>
              </a:cxn>
              <a:cxn ang="0">
                <a:pos x="connsiteX1" y="connsiteY1"/>
              </a:cxn>
              <a:cxn ang="0">
                <a:pos x="connsiteX2" y="connsiteY2"/>
              </a:cxn>
              <a:cxn ang="0">
                <a:pos x="connsiteX3" y="connsiteY3"/>
              </a:cxn>
            </a:cxnLst>
            <a:rect l="l" t="t" r="r" b="b"/>
            <a:pathLst>
              <a:path w="4634682" h="5257799">
                <a:moveTo>
                  <a:pt x="0" y="0"/>
                </a:moveTo>
                <a:lnTo>
                  <a:pt x="4634682" y="0"/>
                </a:lnTo>
                <a:lnTo>
                  <a:pt x="4634682" y="5257799"/>
                </a:lnTo>
                <a:lnTo>
                  <a:pt x="0" y="5257799"/>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747" name="Rectangle 2"/>
          <p:cNvSpPr>
            <a:spLocks noGrp="1"/>
          </p:cNvSpPr>
          <p:nvPr>
            <p:ph type="title"/>
          </p:nvPr>
        </p:nvSpPr>
        <p:spPr>
          <a:xfrm>
            <a:off x="934872" y="982272"/>
            <a:ext cx="3388419" cy="4560970"/>
          </a:xfrm>
        </p:spPr>
        <p:txBody>
          <a:bodyPr vert="horz" lIns="121920" tIns="60960" rIns="121920" bIns="60960">
            <a:normAutofit/>
          </a:bodyPr>
          <a:lstStyle/>
          <a:p>
            <a:pPr eaLnBrk="1" hangingPunct="1"/>
            <a:r>
              <a:rPr lang="en-US" altLang="zh-CN">
                <a:solidFill>
                  <a:srgbClr val="FFFFFF"/>
                </a:solidFill>
                <a:latin typeface="+mj-lt"/>
                <a:ea typeface="+mj-ea"/>
                <a:cs typeface="+mj-cs"/>
              </a:rPr>
              <a:t>9.5 PL/SQL</a:t>
            </a:r>
            <a:r>
              <a:rPr lang="zh-CN" altLang="en-US">
                <a:solidFill>
                  <a:srgbClr val="FFFFFF"/>
                </a:solidFill>
                <a:latin typeface="+mj-lt"/>
                <a:ea typeface="+mj-ea"/>
                <a:cs typeface="+mj-cs"/>
              </a:rPr>
              <a:t>中</a:t>
            </a:r>
            <a:r>
              <a:rPr lang="en-US" altLang="zh-CN">
                <a:solidFill>
                  <a:srgbClr val="FFFFFF"/>
                </a:solidFill>
                <a:latin typeface="+mj-lt"/>
                <a:ea typeface="+mj-ea"/>
                <a:cs typeface="+mj-cs"/>
              </a:rPr>
              <a:t>SQL</a:t>
            </a:r>
            <a:r>
              <a:rPr lang="zh-CN" altLang="en-US">
                <a:solidFill>
                  <a:srgbClr val="FFFFFF"/>
                </a:solidFill>
                <a:latin typeface="+mj-lt"/>
                <a:ea typeface="+mj-ea"/>
                <a:cs typeface="+mj-cs"/>
              </a:rPr>
              <a:t>语句</a:t>
            </a:r>
          </a:p>
        </p:txBody>
      </p:sp>
      <p:sp>
        <p:nvSpPr>
          <p:cNvPr id="81" name="Rectangle 8">
            <a:extLst>
              <a:ext uri="{FF2B5EF4-FFF2-40B4-BE49-F238E27FC236}">
                <a16:creationId xmlns:a16="http://schemas.microsoft.com/office/drawing/2014/main" id="{82211336-CFF3-412D-868A-6679C1004C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01782" y="1352302"/>
            <a:ext cx="6655597"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1748" name="Rectangle 3"/>
          <p:cNvSpPr>
            <a:spLocks noGrp="1"/>
          </p:cNvSpPr>
          <p:nvPr>
            <p:ph idx="1"/>
          </p:nvPr>
        </p:nvSpPr>
        <p:spPr>
          <a:xfrm>
            <a:off x="5221862" y="1719618"/>
            <a:ext cx="5948831" cy="4334629"/>
          </a:xfrm>
        </p:spPr>
        <p:txBody>
          <a:bodyPr vert="horz" lIns="121920" tIns="60960" rIns="121920" bIns="60960" anchor="ctr">
            <a:normAutofit/>
          </a:bodyPr>
          <a:lstStyle/>
          <a:p>
            <a:pPr eaLnBrk="1" hangingPunct="1">
              <a:buSzPct val="75000"/>
            </a:pPr>
            <a:r>
              <a:rPr lang="zh-CN" altLang="en-US" sz="2200">
                <a:solidFill>
                  <a:srgbClr val="FEFFFF"/>
                </a:solidFill>
                <a:latin typeface="+mn-lt"/>
                <a:ea typeface="+mn-ea"/>
                <a:cs typeface="+mn-cs"/>
              </a:rPr>
              <a:t>由于</a:t>
            </a:r>
            <a:r>
              <a:rPr lang="en-US" altLang="zh-CN" sz="2200">
                <a:solidFill>
                  <a:srgbClr val="FEFFFF"/>
                </a:solidFill>
                <a:latin typeface="+mn-lt"/>
                <a:ea typeface="+mn-ea"/>
                <a:cs typeface="+mn-cs"/>
              </a:rPr>
              <a:t>PL/SQL</a:t>
            </a:r>
            <a:r>
              <a:rPr lang="zh-CN" altLang="en-US" sz="2200">
                <a:solidFill>
                  <a:srgbClr val="FEFFFF"/>
                </a:solidFill>
                <a:latin typeface="+mn-lt"/>
                <a:ea typeface="+mn-ea"/>
                <a:cs typeface="+mn-cs"/>
              </a:rPr>
              <a:t>执行采用早期绑定，即在编译阶段对变量进行绑定，识别程序中标识符的位置，检查用户权限、数据库对象等信息，因此在</a:t>
            </a:r>
            <a:r>
              <a:rPr lang="en-US" altLang="zh-CN" sz="2200">
                <a:solidFill>
                  <a:srgbClr val="FEFFFF"/>
                </a:solidFill>
                <a:latin typeface="+mn-lt"/>
                <a:ea typeface="+mn-ea"/>
                <a:cs typeface="+mn-cs"/>
              </a:rPr>
              <a:t>PL/SQL</a:t>
            </a:r>
            <a:r>
              <a:rPr lang="zh-CN" altLang="en-US" sz="2200">
                <a:solidFill>
                  <a:srgbClr val="FEFFFF"/>
                </a:solidFill>
                <a:latin typeface="+mn-lt"/>
                <a:ea typeface="+mn-ea"/>
                <a:cs typeface="+mn-cs"/>
              </a:rPr>
              <a:t>中只允许出现</a:t>
            </a:r>
            <a:r>
              <a:rPr lang="en-US" altLang="zh-CN" sz="2200">
                <a:solidFill>
                  <a:srgbClr val="FEFFFF"/>
                </a:solidFill>
                <a:latin typeface="+mn-lt"/>
                <a:ea typeface="+mn-ea"/>
                <a:cs typeface="+mn-cs"/>
              </a:rPr>
              <a:t>: </a:t>
            </a:r>
          </a:p>
          <a:p>
            <a:pPr lvl="1" eaLnBrk="1" hangingPunct="1">
              <a:buSzPct val="75000"/>
            </a:pPr>
            <a:r>
              <a:rPr lang="en-US" altLang="zh-CN" sz="2200" b="0">
                <a:solidFill>
                  <a:srgbClr val="FEFFFF"/>
                </a:solidFill>
                <a:latin typeface="+mn-lt"/>
                <a:ea typeface="华文仿宋" panose="02010600040101010101" pitchFamily="2" charset="-122"/>
              </a:rPr>
              <a:t>SELECT </a:t>
            </a:r>
          </a:p>
          <a:p>
            <a:pPr lvl="1" eaLnBrk="1" hangingPunct="1">
              <a:buSzPct val="75000"/>
            </a:pPr>
            <a:r>
              <a:rPr lang="en-US" altLang="zh-CN" sz="2200" b="0">
                <a:solidFill>
                  <a:srgbClr val="FEFFFF"/>
                </a:solidFill>
                <a:latin typeface="+mn-lt"/>
                <a:ea typeface="华文仿宋" panose="02010600040101010101" pitchFamily="2" charset="-122"/>
              </a:rPr>
              <a:t>DML(UPDATE</a:t>
            </a:r>
            <a:r>
              <a:rPr lang="zh-CN" altLang="en-US" sz="2200" b="0">
                <a:solidFill>
                  <a:srgbClr val="FEFFFF"/>
                </a:solidFill>
                <a:latin typeface="+mn-lt"/>
                <a:ea typeface="华文仿宋" panose="02010600040101010101" pitchFamily="2" charset="-122"/>
              </a:rPr>
              <a:t>、</a:t>
            </a:r>
            <a:r>
              <a:rPr lang="en-US" altLang="zh-CN" sz="2200" b="0">
                <a:solidFill>
                  <a:srgbClr val="FEFFFF"/>
                </a:solidFill>
                <a:latin typeface="+mn-lt"/>
                <a:ea typeface="华文仿宋" panose="02010600040101010101" pitchFamily="2" charset="-122"/>
              </a:rPr>
              <a:t>DELETE</a:t>
            </a:r>
            <a:r>
              <a:rPr lang="zh-CN" altLang="en-US" sz="2200" b="0">
                <a:solidFill>
                  <a:srgbClr val="FEFFFF"/>
                </a:solidFill>
                <a:latin typeface="+mn-lt"/>
                <a:ea typeface="华文仿宋" panose="02010600040101010101" pitchFamily="2" charset="-122"/>
              </a:rPr>
              <a:t>、</a:t>
            </a:r>
            <a:r>
              <a:rPr lang="en-US" altLang="zh-CN" sz="2200" b="0">
                <a:solidFill>
                  <a:srgbClr val="FEFFFF"/>
                </a:solidFill>
                <a:latin typeface="+mn-lt"/>
                <a:ea typeface="华文仿宋" panose="02010600040101010101" pitchFamily="2" charset="-122"/>
              </a:rPr>
              <a:t>INSERT)</a:t>
            </a:r>
          </a:p>
          <a:p>
            <a:pPr lvl="1" eaLnBrk="1" hangingPunct="1">
              <a:buSzPct val="75000"/>
            </a:pPr>
            <a:r>
              <a:rPr lang="zh-CN" altLang="en-US" sz="2200" b="0">
                <a:solidFill>
                  <a:srgbClr val="FEFFFF"/>
                </a:solidFill>
                <a:latin typeface="+mn-lt"/>
                <a:ea typeface="华文仿宋" panose="02010600040101010101" pitchFamily="2" charset="-122"/>
              </a:rPr>
              <a:t>事务控制语句（</a:t>
            </a:r>
            <a:r>
              <a:rPr lang="en-US" altLang="zh-CN" sz="2200" b="0">
                <a:solidFill>
                  <a:srgbClr val="FEFFFF"/>
                </a:solidFill>
                <a:latin typeface="+mn-lt"/>
                <a:ea typeface="华文仿宋" panose="02010600040101010101" pitchFamily="2" charset="-122"/>
              </a:rPr>
              <a:t>COMMIT</a:t>
            </a:r>
            <a:r>
              <a:rPr lang="zh-CN" altLang="en-US" sz="2200" b="0">
                <a:solidFill>
                  <a:srgbClr val="FEFFFF"/>
                </a:solidFill>
                <a:latin typeface="+mn-lt"/>
                <a:ea typeface="华文仿宋" panose="02010600040101010101" pitchFamily="2" charset="-122"/>
              </a:rPr>
              <a:t>、</a:t>
            </a:r>
            <a:r>
              <a:rPr lang="en-US" altLang="zh-CN" sz="2200" b="0">
                <a:solidFill>
                  <a:srgbClr val="FEFFFF"/>
                </a:solidFill>
                <a:latin typeface="+mn-lt"/>
                <a:ea typeface="华文仿宋" panose="02010600040101010101" pitchFamily="2" charset="-122"/>
              </a:rPr>
              <a:t>ROLLBACK</a:t>
            </a:r>
            <a:r>
              <a:rPr lang="zh-CN" altLang="en-US" sz="2200" b="0">
                <a:solidFill>
                  <a:srgbClr val="FEFFFF"/>
                </a:solidFill>
                <a:latin typeface="+mn-lt"/>
                <a:ea typeface="华文仿宋" panose="02010600040101010101" pitchFamily="2" charset="-122"/>
              </a:rPr>
              <a:t>、</a:t>
            </a:r>
            <a:r>
              <a:rPr lang="en-US" altLang="zh-CN" sz="2200" b="0">
                <a:solidFill>
                  <a:srgbClr val="FEFFFF"/>
                </a:solidFill>
                <a:latin typeface="+mn-lt"/>
                <a:ea typeface="华文仿宋" panose="02010600040101010101" pitchFamily="2" charset="-122"/>
              </a:rPr>
              <a:t>SAVEPOINT</a:t>
            </a:r>
            <a:r>
              <a:rPr lang="zh-CN" altLang="en-US" sz="2200" b="0">
                <a:solidFill>
                  <a:srgbClr val="FEFFFF"/>
                </a:solidFill>
                <a:latin typeface="+mn-lt"/>
                <a:ea typeface="华文仿宋" panose="02010600040101010101" pitchFamily="2" charset="-122"/>
              </a:rPr>
              <a:t>）</a:t>
            </a:r>
          </a:p>
          <a:p>
            <a:pPr eaLnBrk="1" hangingPunct="1">
              <a:buSzPct val="75000"/>
            </a:pPr>
            <a:r>
              <a:rPr lang="zh-CN" altLang="en-US" sz="2200">
                <a:solidFill>
                  <a:srgbClr val="FEFFFF"/>
                </a:solidFill>
                <a:latin typeface="+mn-lt"/>
                <a:ea typeface="+mn-ea"/>
                <a:cs typeface="+mn-cs"/>
              </a:rPr>
              <a:t>注意</a:t>
            </a:r>
          </a:p>
          <a:p>
            <a:pPr lvl="1" eaLnBrk="1" hangingPunct="1">
              <a:buSzPct val="75000"/>
            </a:pPr>
            <a:r>
              <a:rPr lang="en-US" altLang="zh-CN" sz="2200">
                <a:solidFill>
                  <a:srgbClr val="FEFFFF"/>
                </a:solidFill>
                <a:latin typeface="+mn-lt"/>
                <a:ea typeface="华文仿宋" panose="02010600040101010101" pitchFamily="2" charset="-122"/>
              </a:rPr>
              <a:t>DDL</a:t>
            </a:r>
            <a:r>
              <a:rPr lang="zh-CN" altLang="en-US" sz="2200">
                <a:solidFill>
                  <a:srgbClr val="FEFFFF"/>
                </a:solidFill>
                <a:latin typeface="+mn-lt"/>
                <a:ea typeface="华文仿宋" panose="02010600040101010101" pitchFamily="2" charset="-122"/>
              </a:rPr>
              <a:t>语句不可以直接使用</a:t>
            </a:r>
          </a:p>
        </p:txBody>
      </p:sp>
      <p:sp>
        <p:nvSpPr>
          <p:cNvPr id="31746" name="灯片编号占位符 5"/>
          <p:cNvSpPr txBox="1">
            <a:spLocks noGrp="1"/>
          </p:cNvSpPr>
          <p:nvPr>
            <p:ph type="sldNum" sz="quarter" idx="12"/>
          </p:nvPr>
        </p:nvSpPr>
        <p:spPr>
          <a:xfrm>
            <a:off x="10707624" y="6175188"/>
            <a:ext cx="685800" cy="320040"/>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FFFFFF"/>
                </a:solidFill>
                <a:ea typeface="宋体" panose="02010600030101010101" pitchFamily="2" charset="-122"/>
              </a:rPr>
              <a:pPr marL="0" indent="0" eaLnBrk="1" hangingPunct="1">
                <a:spcBef>
                  <a:spcPct val="0"/>
                </a:spcBef>
                <a:spcAft>
                  <a:spcPts val="600"/>
                </a:spcAft>
                <a:buClrTx/>
                <a:buSzTx/>
                <a:buFontTx/>
                <a:buNone/>
              </a:pPr>
              <a:t>29</a:t>
            </a:fld>
            <a:endParaRPr lang="en-US" altLang="zh-CN">
              <a:solidFill>
                <a:srgbClr val="FFFFFF"/>
              </a:solidFill>
              <a:ea typeface="宋体" panose="02010600030101010101"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2771"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endParaRPr lang="zh-CN" altLang="zh-CN">
              <a:solidFill>
                <a:srgbClr val="FFFFFF"/>
              </a:solidFill>
              <a:latin typeface="+mj-lt"/>
              <a:ea typeface="+mj-ea"/>
              <a:cs typeface="+mj-cs"/>
            </a:endParaRPr>
          </a:p>
        </p:txBody>
      </p:sp>
      <p:sp>
        <p:nvSpPr>
          <p:cNvPr id="32772"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lnSpc>
                <a:spcPct val="90000"/>
              </a:lnSpc>
              <a:buSzPct val="75000"/>
            </a:pPr>
            <a:r>
              <a:rPr lang="zh-CN" altLang="en-US" sz="1400">
                <a:solidFill>
                  <a:srgbClr val="000000"/>
                </a:solidFill>
                <a:latin typeface="+mn-lt"/>
                <a:ea typeface="+mn-ea"/>
                <a:cs typeface="+mn-cs"/>
              </a:rPr>
              <a:t>通常，利用</a:t>
            </a:r>
            <a:r>
              <a:rPr lang="en-US" altLang="zh-CN" sz="1400">
                <a:solidFill>
                  <a:srgbClr val="000000"/>
                </a:solidFill>
                <a:latin typeface="+mn-lt"/>
                <a:ea typeface="+mn-ea"/>
                <a:cs typeface="+mn-cs"/>
              </a:rPr>
              <a:t>SQL</a:t>
            </a:r>
            <a:r>
              <a:rPr lang="zh-CN" altLang="en-US" sz="1400">
                <a:solidFill>
                  <a:srgbClr val="000000"/>
                </a:solidFill>
                <a:latin typeface="+mn-lt"/>
                <a:ea typeface="+mn-ea"/>
                <a:cs typeface="+mn-cs"/>
              </a:rPr>
              <a:t>语句对数据库进行操作时，各种相关量都在代码中以常量的形式指定，而在</a:t>
            </a:r>
            <a:r>
              <a:rPr lang="en-US" altLang="zh-CN" sz="1400">
                <a:solidFill>
                  <a:srgbClr val="000000"/>
                </a:solidFill>
                <a:latin typeface="+mn-lt"/>
                <a:ea typeface="+mn-ea"/>
                <a:cs typeface="+mn-cs"/>
              </a:rPr>
              <a:t>PL/SQL</a:t>
            </a:r>
            <a:r>
              <a:rPr lang="zh-CN" altLang="en-US" sz="1400">
                <a:solidFill>
                  <a:srgbClr val="000000"/>
                </a:solidFill>
                <a:latin typeface="+mn-lt"/>
                <a:ea typeface="+mn-ea"/>
                <a:cs typeface="+mn-cs"/>
              </a:rPr>
              <a:t>中可以通过变量动态指定各种相关量的值，从而实现对数据库的动态操作。</a:t>
            </a:r>
          </a:p>
          <a:p>
            <a:pPr eaLnBrk="1" hangingPunct="1">
              <a:lnSpc>
                <a:spcPct val="90000"/>
              </a:lnSpc>
              <a:buSzPct val="75000"/>
            </a:pPr>
            <a:endParaRPr lang="zh-CN" altLang="en-US" sz="1400">
              <a:solidFill>
                <a:srgbClr val="000000"/>
              </a:solidFill>
              <a:latin typeface="+mn-lt"/>
              <a:ea typeface="+mn-ea"/>
              <a:cs typeface="+mn-cs"/>
            </a:endParaRPr>
          </a:p>
          <a:p>
            <a:pPr eaLnBrk="1" hangingPunct="1">
              <a:lnSpc>
                <a:spcPct val="90000"/>
              </a:lnSpc>
              <a:buSzPct val="75000"/>
            </a:pPr>
            <a:r>
              <a:rPr lang="en-US" altLang="zh-CN" sz="1400">
                <a:solidFill>
                  <a:srgbClr val="000000"/>
                </a:solidFill>
                <a:latin typeface="+mn-lt"/>
                <a:ea typeface="+mn-ea"/>
                <a:cs typeface="+mn-cs"/>
              </a:rPr>
              <a:t>DECLARE </a:t>
            </a:r>
          </a:p>
          <a:p>
            <a:pPr eaLnBrk="1" hangingPunct="1">
              <a:lnSpc>
                <a:spcPct val="90000"/>
              </a:lnSpc>
              <a:buSzPct val="75000"/>
            </a:pPr>
            <a:r>
              <a:rPr lang="en-US" altLang="zh-CN" sz="1400">
                <a:solidFill>
                  <a:srgbClr val="000000"/>
                </a:solidFill>
                <a:latin typeface="+mn-lt"/>
                <a:ea typeface="+mn-ea"/>
                <a:cs typeface="+mn-cs"/>
              </a:rPr>
              <a:t>  v_empno NUMBER(4);</a:t>
            </a:r>
          </a:p>
          <a:p>
            <a:pPr eaLnBrk="1" hangingPunct="1">
              <a:lnSpc>
                <a:spcPct val="90000"/>
              </a:lnSpc>
              <a:buSzPct val="75000"/>
            </a:pPr>
            <a:r>
              <a:rPr lang="en-US" altLang="zh-CN" sz="1400">
                <a:solidFill>
                  <a:srgbClr val="000000"/>
                </a:solidFill>
                <a:latin typeface="+mn-lt"/>
                <a:ea typeface="+mn-ea"/>
                <a:cs typeface="+mn-cs"/>
              </a:rPr>
              <a:t>BEGIN</a:t>
            </a:r>
          </a:p>
          <a:p>
            <a:pPr eaLnBrk="1" hangingPunct="1">
              <a:lnSpc>
                <a:spcPct val="90000"/>
              </a:lnSpc>
              <a:buSzPct val="75000"/>
            </a:pPr>
            <a:r>
              <a:rPr lang="en-US" altLang="zh-CN" sz="1400">
                <a:solidFill>
                  <a:srgbClr val="000000"/>
                </a:solidFill>
                <a:latin typeface="+mn-lt"/>
                <a:ea typeface="+mn-ea"/>
                <a:cs typeface="+mn-cs"/>
              </a:rPr>
              <a:t>  v_empno:=&amp;x;</a:t>
            </a:r>
          </a:p>
          <a:p>
            <a:pPr eaLnBrk="1" hangingPunct="1">
              <a:lnSpc>
                <a:spcPct val="90000"/>
              </a:lnSpc>
              <a:buSzPct val="75000"/>
            </a:pPr>
            <a:r>
              <a:rPr lang="en-US" altLang="zh-CN" sz="1400">
                <a:solidFill>
                  <a:srgbClr val="000000"/>
                </a:solidFill>
                <a:latin typeface="+mn-lt"/>
                <a:ea typeface="+mn-ea"/>
                <a:cs typeface="+mn-cs"/>
              </a:rPr>
              <a:t>  UPDATE employees SET salary=salary+100 </a:t>
            </a:r>
          </a:p>
          <a:p>
            <a:pPr eaLnBrk="1" hangingPunct="1">
              <a:lnSpc>
                <a:spcPct val="90000"/>
              </a:lnSpc>
              <a:buSzPct val="75000"/>
            </a:pPr>
            <a:r>
              <a:rPr lang="en-US" altLang="zh-CN" sz="1400">
                <a:solidFill>
                  <a:srgbClr val="000000"/>
                </a:solidFill>
                <a:latin typeface="+mn-lt"/>
                <a:ea typeface="+mn-ea"/>
                <a:cs typeface="+mn-cs"/>
              </a:rPr>
              <a:t>  WHERE employee_id=v_empno;</a:t>
            </a:r>
          </a:p>
          <a:p>
            <a:pPr eaLnBrk="1" hangingPunct="1">
              <a:lnSpc>
                <a:spcPct val="90000"/>
              </a:lnSpc>
              <a:buSzPct val="75000"/>
            </a:pPr>
            <a:r>
              <a:rPr lang="en-US" altLang="zh-CN" sz="1400">
                <a:solidFill>
                  <a:srgbClr val="000000"/>
                </a:solidFill>
                <a:latin typeface="+mn-lt"/>
                <a:ea typeface="+mn-ea"/>
                <a:cs typeface="+mn-cs"/>
              </a:rPr>
              <a:t>END; </a:t>
            </a:r>
          </a:p>
        </p:txBody>
      </p:sp>
      <p:sp>
        <p:nvSpPr>
          <p:cNvPr id="32770"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30</a:t>
            </a:fld>
            <a:endParaRPr lang="en-US" altLang="zh-CN">
              <a:solidFill>
                <a:srgbClr val="898989"/>
              </a:solidFill>
              <a:ea typeface="宋体" panose="0201060003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3795"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endParaRPr lang="zh-CN" altLang="zh-CN">
              <a:solidFill>
                <a:srgbClr val="FFFFFF"/>
              </a:solidFill>
              <a:latin typeface="+mj-lt"/>
              <a:ea typeface="+mj-ea"/>
              <a:cs typeface="+mj-cs"/>
            </a:endParaRPr>
          </a:p>
        </p:txBody>
      </p:sp>
      <p:sp>
        <p:nvSpPr>
          <p:cNvPr id="33796"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buSzPct val="75000"/>
            </a:pPr>
            <a:r>
              <a:rPr lang="en-US" altLang="zh-CN" sz="2000">
                <a:solidFill>
                  <a:srgbClr val="000000"/>
                </a:solidFill>
                <a:latin typeface="+mn-lt"/>
                <a:ea typeface="+mn-ea"/>
                <a:cs typeface="+mn-cs"/>
              </a:rPr>
              <a:t>SELECT</a:t>
            </a:r>
            <a:r>
              <a:rPr lang="zh-CN" altLang="en-US" sz="2000">
                <a:solidFill>
                  <a:srgbClr val="000000"/>
                </a:solidFill>
                <a:latin typeface="+mn-lt"/>
                <a:ea typeface="+mn-ea"/>
                <a:cs typeface="+mn-cs"/>
              </a:rPr>
              <a:t>语句</a:t>
            </a:r>
          </a:p>
          <a:p>
            <a:pPr lvl="1" eaLnBrk="1" hangingPunct="1">
              <a:buSzPct val="75000"/>
            </a:pPr>
            <a:r>
              <a:rPr lang="zh-CN" altLang="en-US" sz="2000">
                <a:solidFill>
                  <a:srgbClr val="000000"/>
                </a:solidFill>
                <a:latin typeface="+mn-lt"/>
                <a:ea typeface="华文仿宋" panose="02010600040101010101" pitchFamily="2" charset="-122"/>
              </a:rPr>
              <a:t>在</a:t>
            </a:r>
            <a:r>
              <a:rPr lang="en-US" altLang="zh-CN" sz="2000">
                <a:solidFill>
                  <a:srgbClr val="000000"/>
                </a:solidFill>
                <a:latin typeface="+mn-lt"/>
                <a:ea typeface="华文仿宋" panose="02010600040101010101" pitchFamily="2" charset="-122"/>
              </a:rPr>
              <a:t>PL/SQL</a:t>
            </a:r>
            <a:r>
              <a:rPr lang="zh-CN" altLang="en-US" sz="2000">
                <a:solidFill>
                  <a:srgbClr val="000000"/>
                </a:solidFill>
                <a:latin typeface="+mn-lt"/>
                <a:ea typeface="华文仿宋" panose="02010600040101010101" pitchFamily="2" charset="-122"/>
              </a:rPr>
              <a:t>程序中，使用</a:t>
            </a:r>
            <a:r>
              <a:rPr lang="en-US" altLang="zh-CN" sz="2000">
                <a:solidFill>
                  <a:srgbClr val="000000"/>
                </a:solidFill>
                <a:latin typeface="+mn-lt"/>
                <a:ea typeface="华文仿宋" panose="02010600040101010101" pitchFamily="2" charset="-122"/>
              </a:rPr>
              <a:t>SELECT</a:t>
            </a:r>
            <a:r>
              <a:rPr lang="en-US" altLang="zh-CN" sz="2000">
                <a:solidFill>
                  <a:srgbClr val="000000"/>
                </a:solidFill>
                <a:latin typeface="华文仿宋" panose="02010600040101010101" pitchFamily="2" charset="-122"/>
                <a:ea typeface="华文仿宋" panose="02010600040101010101" pitchFamily="2" charset="-122"/>
              </a:rPr>
              <a:t>…</a:t>
            </a:r>
            <a:r>
              <a:rPr lang="en-US" altLang="zh-CN" sz="2000">
                <a:solidFill>
                  <a:srgbClr val="000000"/>
                </a:solidFill>
                <a:latin typeface="+mn-lt"/>
                <a:ea typeface="华文仿宋" panose="02010600040101010101" pitchFamily="2" charset="-122"/>
              </a:rPr>
              <a:t>INTO</a:t>
            </a:r>
            <a:r>
              <a:rPr lang="zh-CN" altLang="en-US" sz="2000">
                <a:solidFill>
                  <a:srgbClr val="000000"/>
                </a:solidFill>
                <a:latin typeface="+mn-lt"/>
                <a:ea typeface="华文仿宋" panose="02010600040101010101" pitchFamily="2" charset="-122"/>
              </a:rPr>
              <a:t>语句查询一个记录的信息。</a:t>
            </a:r>
          </a:p>
          <a:p>
            <a:pPr lvl="1" eaLnBrk="1" hangingPunct="1">
              <a:buSzPct val="75000"/>
            </a:pPr>
            <a:r>
              <a:rPr lang="zh-CN" altLang="en-US" sz="2000">
                <a:solidFill>
                  <a:srgbClr val="000000"/>
                </a:solidFill>
                <a:latin typeface="+mn-lt"/>
                <a:ea typeface="华文仿宋" panose="02010600040101010101" pitchFamily="2" charset="-122"/>
              </a:rPr>
              <a:t>其语法为：</a:t>
            </a:r>
          </a:p>
          <a:p>
            <a:pPr lvl="2" eaLnBrk="1" hangingPunct="1"/>
            <a:r>
              <a:rPr lang="en-US" altLang="zh-CN" sz="2000">
                <a:solidFill>
                  <a:srgbClr val="000000"/>
                </a:solidFill>
              </a:rPr>
              <a:t>SELECT select_list_item INTO </a:t>
            </a:r>
          </a:p>
          <a:p>
            <a:pPr lvl="2" eaLnBrk="1" hangingPunct="1"/>
            <a:r>
              <a:rPr lang="en-US" altLang="zh-CN" sz="2000">
                <a:solidFill>
                  <a:srgbClr val="000000"/>
                </a:solidFill>
              </a:rPr>
              <a:t>variable_list|record_variable </a:t>
            </a:r>
          </a:p>
          <a:p>
            <a:pPr lvl="2" eaLnBrk="1" hangingPunct="1"/>
            <a:r>
              <a:rPr lang="en-US" altLang="zh-CN" sz="2000">
                <a:solidFill>
                  <a:srgbClr val="000000"/>
                </a:solidFill>
              </a:rPr>
              <a:t>FROM table</a:t>
            </a:r>
          </a:p>
          <a:p>
            <a:pPr lvl="2" eaLnBrk="1" hangingPunct="1"/>
            <a:r>
              <a:rPr lang="en-US" altLang="zh-CN" sz="2000">
                <a:solidFill>
                  <a:srgbClr val="000000"/>
                </a:solidFill>
              </a:rPr>
              <a:t>WHERE  condition; </a:t>
            </a:r>
          </a:p>
        </p:txBody>
      </p:sp>
      <p:sp>
        <p:nvSpPr>
          <p:cNvPr id="33794"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31</a:t>
            </a:fld>
            <a:endParaRPr lang="en-US" altLang="zh-CN">
              <a:solidFill>
                <a:srgbClr val="898989"/>
              </a:solidFill>
              <a:ea typeface="宋体" panose="02010600030101010101"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7" name="Picture 76">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4819" name="Rectangle 2"/>
          <p:cNvSpPr>
            <a:spLocks noGrp="1"/>
          </p:cNvSpPr>
          <p:nvPr>
            <p:ph type="title"/>
          </p:nvPr>
        </p:nvSpPr>
        <p:spPr>
          <a:xfrm>
            <a:off x="640079" y="2053641"/>
            <a:ext cx="3669161" cy="2760098"/>
          </a:xfrm>
        </p:spPr>
        <p:txBody>
          <a:bodyPr vert="horz" lIns="121920" tIns="60960" rIns="121920" bIns="60960">
            <a:normAutofit/>
          </a:bodyPr>
          <a:lstStyle/>
          <a:p>
            <a:pPr eaLnBrk="1" hangingPunct="1"/>
            <a:endParaRPr lang="zh-CN" altLang="zh-CN">
              <a:solidFill>
                <a:srgbClr val="FFFFFF"/>
              </a:solidFill>
              <a:latin typeface="+mj-lt"/>
              <a:ea typeface="+mj-ea"/>
              <a:cs typeface="+mj-cs"/>
            </a:endParaRPr>
          </a:p>
        </p:txBody>
      </p:sp>
      <p:sp>
        <p:nvSpPr>
          <p:cNvPr id="34820" name="Rectangle 3"/>
          <p:cNvSpPr>
            <a:spLocks noGrp="1"/>
          </p:cNvSpPr>
          <p:nvPr>
            <p:ph idx="1"/>
          </p:nvPr>
        </p:nvSpPr>
        <p:spPr>
          <a:xfrm>
            <a:off x="6090574" y="801866"/>
            <a:ext cx="5306084" cy="5230634"/>
          </a:xfrm>
        </p:spPr>
        <p:txBody>
          <a:bodyPr vert="horz" lIns="121920" tIns="60960" rIns="121920" bIns="60960" anchor="ctr">
            <a:normAutofit/>
          </a:bodyPr>
          <a:lstStyle/>
          <a:p>
            <a:pPr eaLnBrk="1" hangingPunct="1">
              <a:lnSpc>
                <a:spcPct val="90000"/>
              </a:lnSpc>
              <a:buSzPct val="75000"/>
            </a:pPr>
            <a:r>
              <a:rPr lang="zh-CN" altLang="en-US" sz="1700">
                <a:solidFill>
                  <a:srgbClr val="000000"/>
                </a:solidFill>
                <a:latin typeface="+mn-lt"/>
                <a:ea typeface="+mn-ea"/>
                <a:cs typeface="+mn-cs"/>
              </a:rPr>
              <a:t>根据员工名或员工号查询员工信息，程序为：</a:t>
            </a:r>
          </a:p>
          <a:p>
            <a:pPr eaLnBrk="1" hangingPunct="1">
              <a:lnSpc>
                <a:spcPct val="90000"/>
              </a:lnSpc>
              <a:buSzPct val="75000"/>
            </a:pPr>
            <a:r>
              <a:rPr lang="en-US" altLang="zh-CN" sz="1700">
                <a:solidFill>
                  <a:srgbClr val="000000"/>
                </a:solidFill>
                <a:latin typeface="+mn-lt"/>
                <a:ea typeface="+mn-ea"/>
                <a:cs typeface="+mn-cs"/>
              </a:rPr>
              <a:t>DECLARE</a:t>
            </a:r>
          </a:p>
          <a:p>
            <a:pPr eaLnBrk="1" hangingPunct="1">
              <a:lnSpc>
                <a:spcPct val="90000"/>
              </a:lnSpc>
              <a:buSzPct val="75000"/>
            </a:pPr>
            <a:r>
              <a:rPr lang="en-US" altLang="zh-CN" sz="1700">
                <a:solidFill>
                  <a:srgbClr val="000000"/>
                </a:solidFill>
                <a:latin typeface="+mn-lt"/>
                <a:ea typeface="+mn-ea"/>
                <a:cs typeface="+mn-cs"/>
              </a:rPr>
              <a:t>  v_emp employees%ROWTYPE;</a:t>
            </a:r>
          </a:p>
          <a:p>
            <a:pPr eaLnBrk="1" hangingPunct="1">
              <a:lnSpc>
                <a:spcPct val="90000"/>
              </a:lnSpc>
              <a:buSzPct val="75000"/>
            </a:pPr>
            <a:r>
              <a:rPr lang="en-US" altLang="zh-CN" sz="1700">
                <a:solidFill>
                  <a:srgbClr val="000000"/>
                </a:solidFill>
                <a:latin typeface="+mn-lt"/>
                <a:ea typeface="+mn-ea"/>
                <a:cs typeface="+mn-cs"/>
              </a:rPr>
              <a:t>  v_lname employees.last_name%type;</a:t>
            </a:r>
          </a:p>
          <a:p>
            <a:pPr eaLnBrk="1" hangingPunct="1">
              <a:lnSpc>
                <a:spcPct val="90000"/>
              </a:lnSpc>
              <a:buSzPct val="75000"/>
            </a:pPr>
            <a:r>
              <a:rPr lang="en-US" altLang="zh-CN" sz="1700">
                <a:solidFill>
                  <a:srgbClr val="000000"/>
                </a:solidFill>
                <a:latin typeface="+mn-lt"/>
                <a:ea typeface="+mn-ea"/>
                <a:cs typeface="+mn-cs"/>
              </a:rPr>
              <a:t>  v_sal   employees.salary%type;</a:t>
            </a:r>
          </a:p>
          <a:p>
            <a:pPr eaLnBrk="1" hangingPunct="1">
              <a:lnSpc>
                <a:spcPct val="90000"/>
              </a:lnSpc>
              <a:buSzPct val="75000"/>
            </a:pPr>
            <a:r>
              <a:rPr lang="en-US" altLang="zh-CN" sz="1700">
                <a:solidFill>
                  <a:srgbClr val="000000"/>
                </a:solidFill>
                <a:latin typeface="+mn-lt"/>
                <a:ea typeface="+mn-ea"/>
                <a:cs typeface="+mn-cs"/>
              </a:rPr>
              <a:t>BEGIN</a:t>
            </a:r>
          </a:p>
          <a:p>
            <a:pPr eaLnBrk="1" hangingPunct="1">
              <a:lnSpc>
                <a:spcPct val="90000"/>
              </a:lnSpc>
              <a:buSzPct val="75000"/>
            </a:pPr>
            <a:r>
              <a:rPr lang="en-US" altLang="zh-CN" sz="1700">
                <a:solidFill>
                  <a:srgbClr val="000000"/>
                </a:solidFill>
                <a:latin typeface="+mn-lt"/>
                <a:ea typeface="+mn-ea"/>
                <a:cs typeface="+mn-cs"/>
              </a:rPr>
              <a:t>  SELECT * INTO v_emp FROM employees </a:t>
            </a:r>
          </a:p>
          <a:p>
            <a:pPr eaLnBrk="1" hangingPunct="1">
              <a:lnSpc>
                <a:spcPct val="90000"/>
              </a:lnSpc>
              <a:buSzPct val="75000"/>
            </a:pPr>
            <a:r>
              <a:rPr lang="en-US" altLang="zh-CN" sz="1700">
                <a:solidFill>
                  <a:srgbClr val="000000"/>
                </a:solidFill>
                <a:latin typeface="+mn-lt"/>
                <a:ea typeface="+mn-ea"/>
                <a:cs typeface="+mn-cs"/>
              </a:rPr>
              <a:t>  WHERE last_name='Bell';</a:t>
            </a:r>
          </a:p>
          <a:p>
            <a:pPr eaLnBrk="1" hangingPunct="1">
              <a:lnSpc>
                <a:spcPct val="90000"/>
              </a:lnSpc>
              <a:buSzPct val="75000"/>
            </a:pPr>
            <a:r>
              <a:rPr lang="en-US" altLang="zh-CN" sz="1700">
                <a:solidFill>
                  <a:srgbClr val="000000"/>
                </a:solidFill>
                <a:latin typeface="+mn-lt"/>
                <a:ea typeface="+mn-ea"/>
                <a:cs typeface="+mn-cs"/>
              </a:rPr>
              <a:t>  DBMS_OUTPUT.PUT_LINE(v_emp.employee_id||' '||</a:t>
            </a:r>
          </a:p>
          <a:p>
            <a:pPr eaLnBrk="1" hangingPunct="1">
              <a:lnSpc>
                <a:spcPct val="90000"/>
              </a:lnSpc>
              <a:buSzPct val="75000"/>
            </a:pPr>
            <a:r>
              <a:rPr lang="en-US" altLang="zh-CN" sz="1700">
                <a:solidFill>
                  <a:srgbClr val="000000"/>
                </a:solidFill>
                <a:latin typeface="+mn-lt"/>
                <a:ea typeface="+mn-ea"/>
                <a:cs typeface="+mn-cs"/>
              </a:rPr>
              <a:t>  v_emp.salary);</a:t>
            </a:r>
          </a:p>
          <a:p>
            <a:pPr eaLnBrk="1" hangingPunct="1">
              <a:lnSpc>
                <a:spcPct val="90000"/>
              </a:lnSpc>
              <a:buSzPct val="75000"/>
            </a:pPr>
            <a:r>
              <a:rPr lang="en-US" altLang="zh-CN" sz="1700">
                <a:solidFill>
                  <a:srgbClr val="000000"/>
                </a:solidFill>
                <a:latin typeface="+mn-lt"/>
                <a:ea typeface="+mn-ea"/>
                <a:cs typeface="+mn-cs"/>
              </a:rPr>
              <a:t>  SELECT last_name,salary INTO v_lname,v_sal </a:t>
            </a:r>
          </a:p>
          <a:p>
            <a:pPr eaLnBrk="1" hangingPunct="1">
              <a:lnSpc>
                <a:spcPct val="90000"/>
              </a:lnSpc>
              <a:buSzPct val="75000"/>
            </a:pPr>
            <a:r>
              <a:rPr lang="en-US" altLang="zh-CN" sz="1700">
                <a:solidFill>
                  <a:srgbClr val="000000"/>
                </a:solidFill>
                <a:latin typeface="+mn-lt"/>
                <a:ea typeface="+mn-ea"/>
                <a:cs typeface="+mn-cs"/>
              </a:rPr>
              <a:t>  FROM employees WHERE employee_id=109;</a:t>
            </a:r>
          </a:p>
          <a:p>
            <a:pPr eaLnBrk="1" hangingPunct="1">
              <a:lnSpc>
                <a:spcPct val="90000"/>
              </a:lnSpc>
              <a:buSzPct val="75000"/>
            </a:pPr>
            <a:r>
              <a:rPr lang="en-US" altLang="zh-CN" sz="1700">
                <a:solidFill>
                  <a:srgbClr val="000000"/>
                </a:solidFill>
                <a:latin typeface="+mn-lt"/>
                <a:ea typeface="+mn-ea"/>
                <a:cs typeface="+mn-cs"/>
              </a:rPr>
              <a:t>  DBMS_OUTPUT.PUT_LINE(v_lname||' '||v_sal);</a:t>
            </a:r>
          </a:p>
          <a:p>
            <a:pPr eaLnBrk="1" hangingPunct="1">
              <a:lnSpc>
                <a:spcPct val="90000"/>
              </a:lnSpc>
              <a:buSzPct val="75000"/>
            </a:pPr>
            <a:r>
              <a:rPr lang="en-US" altLang="zh-CN" sz="1700">
                <a:solidFill>
                  <a:srgbClr val="000000"/>
                </a:solidFill>
                <a:latin typeface="+mn-lt"/>
                <a:ea typeface="+mn-ea"/>
                <a:cs typeface="+mn-cs"/>
              </a:rPr>
              <a:t>END; </a:t>
            </a:r>
          </a:p>
        </p:txBody>
      </p:sp>
      <p:sp>
        <p:nvSpPr>
          <p:cNvPr id="34818"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32</a:t>
            </a:fld>
            <a:endParaRPr lang="en-US" altLang="zh-CN">
              <a:solidFill>
                <a:srgbClr val="898989"/>
              </a:solidFill>
              <a:ea typeface="宋体" panose="02010600030101010101" pitchFamily="2"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5843"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endParaRPr lang="zh-CN" altLang="zh-CN">
              <a:solidFill>
                <a:srgbClr val="FFFFFF"/>
              </a:solidFill>
              <a:latin typeface="+mj-lt"/>
              <a:ea typeface="+mj-ea"/>
              <a:cs typeface="+mj-cs"/>
            </a:endParaRPr>
          </a:p>
        </p:txBody>
      </p:sp>
      <p:sp>
        <p:nvSpPr>
          <p:cNvPr id="35844"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buSzPct val="75000"/>
            </a:pPr>
            <a:r>
              <a:rPr lang="zh-CN" altLang="en-US" sz="2000">
                <a:solidFill>
                  <a:srgbClr val="000000"/>
                </a:solidFill>
                <a:latin typeface="+mn-lt"/>
                <a:ea typeface="+mn-ea"/>
                <a:cs typeface="+mn-cs"/>
              </a:rPr>
              <a:t>注意：</a:t>
            </a:r>
          </a:p>
          <a:p>
            <a:pPr lvl="1" eaLnBrk="1" hangingPunct="1">
              <a:buSzPct val="75000"/>
            </a:pPr>
            <a:r>
              <a:rPr lang="en-US" altLang="zh-CN" sz="2000">
                <a:solidFill>
                  <a:srgbClr val="000000"/>
                </a:solidFill>
                <a:latin typeface="+mn-lt"/>
                <a:ea typeface="华文仿宋" panose="02010600040101010101" pitchFamily="2" charset="-122"/>
              </a:rPr>
              <a:t>SELECT</a:t>
            </a:r>
            <a:r>
              <a:rPr lang="en-US" altLang="zh-CN" sz="2000">
                <a:solidFill>
                  <a:srgbClr val="000000"/>
                </a:solidFill>
                <a:latin typeface="华文仿宋" panose="02010600040101010101" pitchFamily="2" charset="-122"/>
                <a:ea typeface="华文仿宋" panose="02010600040101010101" pitchFamily="2" charset="-122"/>
              </a:rPr>
              <a:t>…</a:t>
            </a:r>
            <a:r>
              <a:rPr lang="en-US" altLang="zh-CN" sz="2000">
                <a:solidFill>
                  <a:srgbClr val="000000"/>
                </a:solidFill>
                <a:latin typeface="+mn-lt"/>
                <a:ea typeface="华文仿宋" panose="02010600040101010101" pitchFamily="2" charset="-122"/>
              </a:rPr>
              <a:t>INTO</a:t>
            </a:r>
            <a:r>
              <a:rPr lang="zh-CN" altLang="en-US" sz="2000">
                <a:solidFill>
                  <a:srgbClr val="000000"/>
                </a:solidFill>
                <a:latin typeface="+mn-lt"/>
                <a:ea typeface="华文仿宋" panose="02010600040101010101" pitchFamily="2" charset="-122"/>
              </a:rPr>
              <a:t>语句只能查询一个记录的信息，如果没有查询到任何数据，会产生</a:t>
            </a:r>
            <a:r>
              <a:rPr lang="en-US" altLang="zh-CN" sz="2000">
                <a:solidFill>
                  <a:srgbClr val="000000"/>
                </a:solidFill>
                <a:latin typeface="+mn-lt"/>
                <a:ea typeface="华文仿宋" panose="02010600040101010101" pitchFamily="2" charset="-122"/>
              </a:rPr>
              <a:t>NO_DATA_FOUND</a:t>
            </a:r>
            <a:r>
              <a:rPr lang="zh-CN" altLang="en-US" sz="2000">
                <a:solidFill>
                  <a:srgbClr val="000000"/>
                </a:solidFill>
                <a:latin typeface="+mn-lt"/>
                <a:ea typeface="华文仿宋" panose="02010600040101010101" pitchFamily="2" charset="-122"/>
              </a:rPr>
              <a:t>异常；如果查询到多个记录，则会产生</a:t>
            </a:r>
            <a:r>
              <a:rPr lang="en-US" altLang="zh-CN" sz="2000">
                <a:solidFill>
                  <a:srgbClr val="000000"/>
                </a:solidFill>
                <a:latin typeface="+mn-lt"/>
                <a:ea typeface="华文仿宋" panose="02010600040101010101" pitchFamily="2" charset="-122"/>
              </a:rPr>
              <a:t>TOO_MANY_ROWS</a:t>
            </a:r>
            <a:r>
              <a:rPr lang="zh-CN" altLang="en-US" sz="2000">
                <a:solidFill>
                  <a:srgbClr val="000000"/>
                </a:solidFill>
                <a:latin typeface="+mn-lt"/>
                <a:ea typeface="华文仿宋" panose="02010600040101010101" pitchFamily="2" charset="-122"/>
              </a:rPr>
              <a:t>异常。</a:t>
            </a:r>
          </a:p>
          <a:p>
            <a:pPr lvl="1" eaLnBrk="1" hangingPunct="1">
              <a:buSzPct val="75000"/>
            </a:pPr>
            <a:r>
              <a:rPr lang="en-US" altLang="zh-CN" sz="2000">
                <a:solidFill>
                  <a:srgbClr val="000000"/>
                </a:solidFill>
                <a:latin typeface="+mn-lt"/>
                <a:ea typeface="华文仿宋" panose="02010600040101010101" pitchFamily="2" charset="-122"/>
              </a:rPr>
              <a:t>INTO</a:t>
            </a:r>
            <a:r>
              <a:rPr lang="zh-CN" altLang="en-US" sz="2000">
                <a:solidFill>
                  <a:srgbClr val="000000"/>
                </a:solidFill>
                <a:latin typeface="+mn-lt"/>
                <a:ea typeface="华文仿宋" panose="02010600040101010101" pitchFamily="2" charset="-122"/>
              </a:rPr>
              <a:t>句子后的变量用于接收查询的结果，变量的个数、顺序应该与查询的目标数据相匹配，也可以是记录类型的变量。</a:t>
            </a:r>
          </a:p>
          <a:p>
            <a:pPr eaLnBrk="1" hangingPunct="1">
              <a:buSzPct val="75000"/>
            </a:pPr>
            <a:endParaRPr lang="en-US" altLang="zh-CN" sz="2000">
              <a:solidFill>
                <a:srgbClr val="000000"/>
              </a:solidFill>
              <a:latin typeface="+mn-lt"/>
              <a:ea typeface="+mn-ea"/>
              <a:cs typeface="+mn-cs"/>
            </a:endParaRPr>
          </a:p>
        </p:txBody>
      </p:sp>
      <p:sp>
        <p:nvSpPr>
          <p:cNvPr id="35842"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33</a:t>
            </a:fld>
            <a:endParaRPr lang="en-US" altLang="zh-CN">
              <a:solidFill>
                <a:srgbClr val="898989"/>
              </a:solidFill>
              <a:ea typeface="宋体" panose="02010600030101010101" pitchFamily="2"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5"/>
          <p:cNvSpPr txBox="1">
            <a:spLocks noGrp="1"/>
          </p:cNvSpPr>
          <p:nvPr>
            <p:ph type="sldNum" sz="quarter" idx="12"/>
          </p:nvPr>
        </p:nvSpPr>
        <p:spPr>
          <a:ln/>
        </p:spPr>
        <p:txBody>
          <a:bodyPr/>
          <a:lstStyle/>
          <a:p>
            <a:pPr marL="0" indent="0" algn="r" eaLnBrk="1" hangingPunct="1">
              <a:spcBef>
                <a:spcPct val="0"/>
              </a:spcBef>
              <a:buClrTx/>
              <a:buSzTx/>
              <a:buFontTx/>
              <a:buNone/>
            </a:pPr>
            <a:fld id="{9A0DB2DC-4C9A-4742-B13C-FB6460FD3503}" type="slidenum">
              <a:rPr lang="en-US" altLang="zh-CN" sz="1335" dirty="0">
                <a:ea typeface="宋体" panose="02010600030101010101" pitchFamily="2" charset="-122"/>
              </a:rPr>
              <a:t>34</a:t>
            </a:fld>
            <a:endParaRPr lang="en-US" altLang="zh-CN" sz="1335" dirty="0">
              <a:ea typeface="宋体" panose="02010600030101010101" pitchFamily="2" charset="-122"/>
            </a:endParaRPr>
          </a:p>
        </p:txBody>
      </p:sp>
      <p:sp>
        <p:nvSpPr>
          <p:cNvPr id="36867" name="Rectangle 2"/>
          <p:cNvSpPr>
            <a:spLocks noGrp="1"/>
          </p:cNvSpPr>
          <p:nvPr>
            <p:ph type="title"/>
          </p:nvPr>
        </p:nvSpPr>
        <p:spPr>
          <a:ln/>
        </p:spPr>
        <p:txBody>
          <a:bodyPr vert="horz" wrap="square" lIns="121920" tIns="60960" rIns="121920" bIns="60960" anchor="b"/>
          <a:lstStyle/>
          <a:p>
            <a:pPr eaLnBrk="1" hangingPunct="1"/>
            <a:endParaRPr lang="zh-CN" altLang="zh-CN" dirty="0">
              <a:latin typeface="+mj-lt"/>
              <a:ea typeface="+mj-ea"/>
              <a:cs typeface="+mj-cs"/>
            </a:endParaRPr>
          </a:p>
        </p:txBody>
      </p:sp>
      <p:sp>
        <p:nvSpPr>
          <p:cNvPr id="36868" name="Rectangle 3"/>
          <p:cNvSpPr>
            <a:spLocks noGrp="1"/>
          </p:cNvSpPr>
          <p:nvPr>
            <p:ph idx="1"/>
          </p:nvPr>
        </p:nvSpPr>
        <p:spPr>
          <a:xfrm>
            <a:off x="609600" y="990600"/>
            <a:ext cx="10972800" cy="6565900"/>
          </a:xfrm>
          <a:ln/>
        </p:spPr>
        <p:txBody>
          <a:bodyPr vert="horz" wrap="square" lIns="121920" tIns="60960" rIns="121920" bIns="60960" anchor="t"/>
          <a:lstStyle/>
          <a:p>
            <a:pPr eaLnBrk="1" hangingPunct="1">
              <a:lnSpc>
                <a:spcPct val="80000"/>
              </a:lnSpc>
              <a:buSzPct val="75000"/>
            </a:pPr>
            <a:r>
              <a:rPr lang="zh-CN" altLang="en-US" sz="3735" dirty="0">
                <a:latin typeface="+mn-lt"/>
                <a:ea typeface="+mn-ea"/>
                <a:cs typeface="+mn-cs"/>
              </a:rPr>
              <a:t>用</a:t>
            </a:r>
            <a:r>
              <a:rPr lang="en-US" altLang="zh-CN" sz="3735" dirty="0">
                <a:latin typeface="+mn-lt"/>
                <a:ea typeface="+mn-ea"/>
                <a:cs typeface="+mn-cs"/>
              </a:rPr>
              <a:t>SELECT</a:t>
            </a:r>
            <a:r>
              <a:rPr lang="en-US" altLang="zh-CN" sz="3735" dirty="0">
                <a:latin typeface="Arial" panose="020B0604020202020204" pitchFamily="34" charset="0"/>
                <a:ea typeface="+mn-ea"/>
                <a:cs typeface="+mn-cs"/>
              </a:rPr>
              <a:t>…</a:t>
            </a:r>
            <a:r>
              <a:rPr lang="en-US" altLang="zh-CN" sz="3735" dirty="0">
                <a:latin typeface="+mn-lt"/>
                <a:ea typeface="+mn-ea"/>
                <a:cs typeface="+mn-cs"/>
              </a:rPr>
              <a:t>INTO</a:t>
            </a:r>
            <a:r>
              <a:rPr lang="zh-CN" altLang="en-US" sz="3735" dirty="0">
                <a:latin typeface="+mn-lt"/>
                <a:ea typeface="+mn-ea"/>
                <a:cs typeface="+mn-cs"/>
              </a:rPr>
              <a:t>语句查询</a:t>
            </a:r>
            <a:r>
              <a:rPr lang="en-US" altLang="zh-CN" sz="3735" dirty="0">
                <a:latin typeface="+mn-lt"/>
                <a:ea typeface="+mn-ea"/>
                <a:cs typeface="+mn-cs"/>
              </a:rPr>
              <a:t>50</a:t>
            </a:r>
            <a:r>
              <a:rPr lang="zh-CN" altLang="en-US" sz="3735" dirty="0">
                <a:latin typeface="+mn-lt"/>
                <a:ea typeface="+mn-ea"/>
                <a:cs typeface="+mn-cs"/>
              </a:rPr>
              <a:t>号部门所有员工信息。</a:t>
            </a:r>
          </a:p>
          <a:p>
            <a:pPr eaLnBrk="1" hangingPunct="1">
              <a:lnSpc>
                <a:spcPct val="80000"/>
              </a:lnSpc>
              <a:buSzPct val="75000"/>
            </a:pPr>
            <a:endParaRPr lang="zh-CN" altLang="en-US" dirty="0">
              <a:latin typeface="+mn-lt"/>
              <a:ea typeface="+mn-ea"/>
              <a:cs typeface="+mn-cs"/>
            </a:endParaRPr>
          </a:p>
          <a:p>
            <a:pPr eaLnBrk="1" hangingPunct="1">
              <a:lnSpc>
                <a:spcPct val="80000"/>
              </a:lnSpc>
              <a:buSzPct val="75000"/>
            </a:pPr>
            <a:r>
              <a:rPr lang="en-US" altLang="zh-CN" sz="2665" dirty="0">
                <a:latin typeface="+mn-lt"/>
                <a:ea typeface="+mn-ea"/>
                <a:cs typeface="+mn-cs"/>
              </a:rPr>
              <a:t>DECLARE</a:t>
            </a:r>
          </a:p>
          <a:p>
            <a:pPr eaLnBrk="1" hangingPunct="1">
              <a:lnSpc>
                <a:spcPct val="80000"/>
              </a:lnSpc>
              <a:buSzPct val="75000"/>
            </a:pPr>
            <a:r>
              <a:rPr lang="en-US" altLang="zh-CN" sz="2665" dirty="0">
                <a:latin typeface="+mn-lt"/>
                <a:ea typeface="+mn-ea"/>
                <a:cs typeface="+mn-cs"/>
              </a:rPr>
              <a:t>   v_emp employees%ROWTYPE;</a:t>
            </a:r>
          </a:p>
          <a:p>
            <a:pPr eaLnBrk="1" hangingPunct="1">
              <a:lnSpc>
                <a:spcPct val="80000"/>
              </a:lnSpc>
              <a:buSzPct val="75000"/>
            </a:pPr>
            <a:r>
              <a:rPr lang="en-US" altLang="zh-CN" sz="2665" dirty="0">
                <a:latin typeface="+mn-lt"/>
                <a:ea typeface="+mn-ea"/>
                <a:cs typeface="+mn-cs"/>
              </a:rPr>
              <a:t> BEGIN</a:t>
            </a:r>
          </a:p>
          <a:p>
            <a:pPr eaLnBrk="1" hangingPunct="1">
              <a:lnSpc>
                <a:spcPct val="80000"/>
              </a:lnSpc>
              <a:buSzPct val="75000"/>
            </a:pPr>
            <a:r>
              <a:rPr lang="en-US" altLang="zh-CN" sz="2665" dirty="0">
                <a:latin typeface="+mn-lt"/>
                <a:ea typeface="+mn-ea"/>
                <a:cs typeface="+mn-cs"/>
              </a:rPr>
              <a:t>   SELECT * INTO v_emp FROM employees </a:t>
            </a:r>
          </a:p>
          <a:p>
            <a:pPr eaLnBrk="1" hangingPunct="1">
              <a:lnSpc>
                <a:spcPct val="80000"/>
              </a:lnSpc>
              <a:buSzPct val="75000"/>
            </a:pPr>
            <a:r>
              <a:rPr lang="en-US" altLang="zh-CN" sz="2665" dirty="0">
                <a:latin typeface="+mn-lt"/>
                <a:ea typeface="+mn-ea"/>
                <a:cs typeface="+mn-cs"/>
              </a:rPr>
              <a:t>   WHERE department_id=50;</a:t>
            </a:r>
          </a:p>
          <a:p>
            <a:pPr eaLnBrk="1" hangingPunct="1">
              <a:lnSpc>
                <a:spcPct val="80000"/>
              </a:lnSpc>
              <a:buSzPct val="75000"/>
            </a:pPr>
            <a:r>
              <a:rPr lang="en-US" altLang="zh-CN" sz="2665" dirty="0">
                <a:latin typeface="+mn-lt"/>
                <a:ea typeface="+mn-ea"/>
                <a:cs typeface="+mn-cs"/>
              </a:rPr>
              <a:t> END;</a:t>
            </a:r>
            <a:r>
              <a:rPr lang="en-US" altLang="zh-CN" sz="4800" dirty="0">
                <a:latin typeface="+mn-lt"/>
                <a:ea typeface="+mn-ea"/>
                <a:cs typeface="+mn-cs"/>
              </a:rPr>
              <a:t> </a:t>
            </a:r>
          </a:p>
          <a:p>
            <a:pPr eaLnBrk="1" hangingPunct="1">
              <a:lnSpc>
                <a:spcPct val="80000"/>
              </a:lnSpc>
              <a:buSzPct val="75000"/>
            </a:pPr>
            <a:r>
              <a:rPr lang="en-US" altLang="zh-CN" dirty="0">
                <a:latin typeface="+mn-lt"/>
                <a:ea typeface="+mn-ea"/>
                <a:cs typeface="+mn-cs"/>
              </a:rPr>
              <a:t>*</a:t>
            </a:r>
          </a:p>
          <a:p>
            <a:pPr eaLnBrk="1" hangingPunct="1">
              <a:lnSpc>
                <a:spcPct val="80000"/>
              </a:lnSpc>
              <a:buSzPct val="75000"/>
            </a:pPr>
            <a:r>
              <a:rPr lang="en-US" altLang="zh-CN" dirty="0">
                <a:latin typeface="+mn-lt"/>
                <a:ea typeface="+mn-ea"/>
                <a:cs typeface="+mn-cs"/>
              </a:rPr>
              <a:t>ERROR </a:t>
            </a:r>
            <a:r>
              <a:rPr lang="zh-CN" altLang="en-US" dirty="0">
                <a:latin typeface="+mn-lt"/>
                <a:ea typeface="+mn-ea"/>
                <a:cs typeface="+mn-cs"/>
              </a:rPr>
              <a:t>位于第 </a:t>
            </a:r>
            <a:r>
              <a:rPr lang="en-US" altLang="zh-CN" dirty="0">
                <a:latin typeface="+mn-lt"/>
                <a:ea typeface="+mn-ea"/>
                <a:cs typeface="+mn-cs"/>
              </a:rPr>
              <a:t>1 </a:t>
            </a:r>
            <a:r>
              <a:rPr lang="zh-CN" altLang="en-US" dirty="0">
                <a:latin typeface="+mn-lt"/>
                <a:ea typeface="+mn-ea"/>
                <a:cs typeface="+mn-cs"/>
              </a:rPr>
              <a:t>行</a:t>
            </a:r>
            <a:r>
              <a:rPr lang="en-US" altLang="zh-CN" dirty="0">
                <a:latin typeface="+mn-lt"/>
                <a:ea typeface="+mn-ea"/>
                <a:cs typeface="+mn-cs"/>
              </a:rPr>
              <a:t>:</a:t>
            </a:r>
          </a:p>
          <a:p>
            <a:pPr eaLnBrk="1" hangingPunct="1">
              <a:lnSpc>
                <a:spcPct val="80000"/>
              </a:lnSpc>
              <a:buSzPct val="75000"/>
            </a:pPr>
            <a:r>
              <a:rPr lang="en-US" altLang="zh-CN" dirty="0">
                <a:latin typeface="+mn-lt"/>
                <a:ea typeface="+mn-ea"/>
                <a:cs typeface="+mn-cs"/>
              </a:rPr>
              <a:t>ORA-01422: </a:t>
            </a:r>
            <a:r>
              <a:rPr lang="zh-CN" altLang="en-US" dirty="0">
                <a:latin typeface="+mn-lt"/>
                <a:ea typeface="+mn-ea"/>
                <a:cs typeface="+mn-cs"/>
              </a:rPr>
              <a:t>实际返回的行数超出请求的行数</a:t>
            </a:r>
          </a:p>
          <a:p>
            <a:pPr eaLnBrk="1" hangingPunct="1">
              <a:lnSpc>
                <a:spcPct val="80000"/>
              </a:lnSpc>
              <a:buSzPct val="75000"/>
            </a:pPr>
            <a:r>
              <a:rPr lang="en-US" altLang="zh-CN" dirty="0">
                <a:latin typeface="+mn-lt"/>
                <a:ea typeface="+mn-ea"/>
                <a:cs typeface="+mn-cs"/>
              </a:rPr>
              <a:t>ORA-06512: </a:t>
            </a:r>
            <a:r>
              <a:rPr lang="zh-CN" altLang="en-US" dirty="0">
                <a:latin typeface="+mn-lt"/>
                <a:ea typeface="+mn-ea"/>
                <a:cs typeface="+mn-cs"/>
              </a:rPr>
              <a:t>在</a:t>
            </a:r>
            <a:r>
              <a:rPr lang="en-US" altLang="zh-CN" dirty="0">
                <a:latin typeface="+mn-lt"/>
                <a:ea typeface="+mn-ea"/>
                <a:cs typeface="+mn-cs"/>
              </a:rPr>
              <a:t>line 4</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6" name="Picture 75">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7891" name="Rectangle 3"/>
          <p:cNvSpPr>
            <a:spLocks noGrp="1"/>
          </p:cNvSpPr>
          <p:nvPr>
            <p:ph idx="1"/>
          </p:nvPr>
        </p:nvSpPr>
        <p:spPr>
          <a:xfrm>
            <a:off x="6090574" y="801866"/>
            <a:ext cx="5306084" cy="5230634"/>
          </a:xfrm>
        </p:spPr>
        <p:txBody>
          <a:bodyPr vert="horz" lIns="121920" tIns="60960" rIns="121920" bIns="60960" anchor="ctr">
            <a:normAutofit/>
          </a:bodyPr>
          <a:lstStyle/>
          <a:p>
            <a:pPr eaLnBrk="1" hangingPunct="1">
              <a:lnSpc>
                <a:spcPct val="90000"/>
              </a:lnSpc>
              <a:buSzPct val="75000"/>
            </a:pPr>
            <a:r>
              <a:rPr lang="en-US" altLang="zh-CN" sz="1500">
                <a:solidFill>
                  <a:srgbClr val="000000"/>
                </a:solidFill>
                <a:latin typeface="+mn-lt"/>
                <a:ea typeface="+mn-ea"/>
                <a:cs typeface="+mn-cs"/>
              </a:rPr>
              <a:t>DML</a:t>
            </a:r>
            <a:r>
              <a:rPr lang="zh-CN" altLang="en-US" sz="1500">
                <a:solidFill>
                  <a:srgbClr val="000000"/>
                </a:solidFill>
                <a:latin typeface="+mn-lt"/>
                <a:ea typeface="+mn-ea"/>
                <a:cs typeface="+mn-cs"/>
              </a:rPr>
              <a:t>语句</a:t>
            </a:r>
          </a:p>
          <a:p>
            <a:pPr lvl="1" eaLnBrk="1" hangingPunct="1">
              <a:lnSpc>
                <a:spcPct val="90000"/>
              </a:lnSpc>
              <a:buSzPct val="75000"/>
            </a:pPr>
            <a:r>
              <a:rPr lang="en-US" altLang="zh-CN" sz="1500">
                <a:solidFill>
                  <a:srgbClr val="000000"/>
                </a:solidFill>
                <a:latin typeface="+mn-lt"/>
                <a:ea typeface="华文仿宋" panose="02010600040101010101" pitchFamily="2" charset="-122"/>
              </a:rPr>
              <a:t>PL/SQL</a:t>
            </a:r>
            <a:r>
              <a:rPr lang="zh-CN" altLang="en-US" sz="1500">
                <a:solidFill>
                  <a:srgbClr val="000000"/>
                </a:solidFill>
                <a:latin typeface="+mn-lt"/>
                <a:ea typeface="华文仿宋" panose="02010600040101010101" pitchFamily="2" charset="-122"/>
              </a:rPr>
              <a:t>中</a:t>
            </a:r>
            <a:r>
              <a:rPr lang="en-US" altLang="zh-CN" sz="1500">
                <a:solidFill>
                  <a:srgbClr val="000000"/>
                </a:solidFill>
                <a:latin typeface="+mn-lt"/>
                <a:ea typeface="华文仿宋" panose="02010600040101010101" pitchFamily="2" charset="-122"/>
              </a:rPr>
              <a:t>DML</a:t>
            </a:r>
            <a:r>
              <a:rPr lang="zh-CN" altLang="en-US" sz="1500">
                <a:solidFill>
                  <a:srgbClr val="000000"/>
                </a:solidFill>
                <a:latin typeface="+mn-lt"/>
                <a:ea typeface="华文仿宋" panose="02010600040101010101" pitchFamily="2" charset="-122"/>
              </a:rPr>
              <a:t>语句对标准</a:t>
            </a:r>
            <a:r>
              <a:rPr lang="en-US" altLang="zh-CN" sz="1500">
                <a:solidFill>
                  <a:srgbClr val="000000"/>
                </a:solidFill>
                <a:latin typeface="+mn-lt"/>
                <a:ea typeface="华文仿宋" panose="02010600040101010101" pitchFamily="2" charset="-122"/>
              </a:rPr>
              <a:t>SQL</a:t>
            </a:r>
            <a:r>
              <a:rPr lang="zh-CN" altLang="en-US" sz="1500">
                <a:solidFill>
                  <a:srgbClr val="000000"/>
                </a:solidFill>
                <a:latin typeface="+mn-lt"/>
                <a:ea typeface="华文仿宋" panose="02010600040101010101" pitchFamily="2" charset="-122"/>
              </a:rPr>
              <a:t>语句中的</a:t>
            </a:r>
            <a:r>
              <a:rPr lang="en-US" altLang="zh-CN" sz="1500">
                <a:solidFill>
                  <a:srgbClr val="000000"/>
                </a:solidFill>
                <a:latin typeface="+mn-lt"/>
                <a:ea typeface="华文仿宋" panose="02010600040101010101" pitchFamily="2" charset="-122"/>
              </a:rPr>
              <a:t>DML</a:t>
            </a:r>
            <a:r>
              <a:rPr lang="zh-CN" altLang="en-US" sz="1500">
                <a:solidFill>
                  <a:srgbClr val="000000"/>
                </a:solidFill>
                <a:latin typeface="+mn-lt"/>
                <a:ea typeface="华文仿宋" panose="02010600040101010101" pitchFamily="2" charset="-122"/>
              </a:rPr>
              <a:t>语句进行了扩展，允许使用变量。</a:t>
            </a:r>
          </a:p>
          <a:p>
            <a:pPr lvl="1" eaLnBrk="1" hangingPunct="1">
              <a:lnSpc>
                <a:spcPct val="90000"/>
              </a:lnSpc>
              <a:buSzPct val="75000"/>
            </a:pPr>
            <a:r>
              <a:rPr lang="en-US" altLang="zh-CN" sz="1500">
                <a:solidFill>
                  <a:srgbClr val="000000"/>
                </a:solidFill>
                <a:latin typeface="+mn-lt"/>
                <a:ea typeface="华文仿宋" panose="02010600040101010101" pitchFamily="2" charset="-122"/>
              </a:rPr>
              <a:t>DECLARE</a:t>
            </a:r>
          </a:p>
          <a:p>
            <a:pPr lvl="1" eaLnBrk="1" hangingPunct="1">
              <a:lnSpc>
                <a:spcPct val="90000"/>
              </a:lnSpc>
              <a:buSzPct val="75000"/>
            </a:pPr>
            <a:r>
              <a:rPr lang="en-US" altLang="zh-CN" sz="1500">
                <a:solidFill>
                  <a:srgbClr val="000000"/>
                </a:solidFill>
                <a:latin typeface="+mn-lt"/>
                <a:ea typeface="华文仿宋" panose="02010600040101010101" pitchFamily="2" charset="-122"/>
              </a:rPr>
              <a:t>  v_empno employees.employee_id%TYPE :=500;</a:t>
            </a:r>
          </a:p>
          <a:p>
            <a:pPr lvl="1" eaLnBrk="1" hangingPunct="1">
              <a:lnSpc>
                <a:spcPct val="90000"/>
              </a:lnSpc>
              <a:buSzPct val="75000"/>
            </a:pPr>
            <a:r>
              <a:rPr lang="en-US" altLang="zh-CN" sz="1500">
                <a:solidFill>
                  <a:srgbClr val="000000"/>
                </a:solidFill>
                <a:latin typeface="+mn-lt"/>
                <a:ea typeface="华文仿宋" panose="02010600040101010101" pitchFamily="2" charset="-122"/>
              </a:rPr>
              <a:t>BEGIN</a:t>
            </a:r>
          </a:p>
          <a:p>
            <a:pPr lvl="1" eaLnBrk="1" hangingPunct="1">
              <a:lnSpc>
                <a:spcPct val="90000"/>
              </a:lnSpc>
              <a:buSzPct val="75000"/>
            </a:pPr>
            <a:r>
              <a:rPr lang="en-US" altLang="zh-CN" sz="1500">
                <a:solidFill>
                  <a:srgbClr val="000000"/>
                </a:solidFill>
                <a:latin typeface="+mn-lt"/>
                <a:ea typeface="华文仿宋" panose="02010600040101010101" pitchFamily="2" charset="-122"/>
              </a:rPr>
              <a:t>  INSERT INTO employees(employee_id,last_name,</a:t>
            </a:r>
          </a:p>
          <a:p>
            <a:pPr lvl="1" eaLnBrk="1" hangingPunct="1">
              <a:lnSpc>
                <a:spcPct val="90000"/>
              </a:lnSpc>
              <a:buSzPct val="75000"/>
            </a:pPr>
            <a:r>
              <a:rPr lang="en-US" altLang="zh-CN" sz="1500">
                <a:solidFill>
                  <a:srgbClr val="000000"/>
                </a:solidFill>
                <a:latin typeface="+mn-lt"/>
                <a:ea typeface="华文仿宋" panose="02010600040101010101" pitchFamily="2" charset="-122"/>
              </a:rPr>
              <a:t>   email,hire_date,job_id)</a:t>
            </a:r>
          </a:p>
          <a:p>
            <a:pPr lvl="1" eaLnBrk="1" hangingPunct="1">
              <a:lnSpc>
                <a:spcPct val="90000"/>
              </a:lnSpc>
              <a:buSzPct val="75000"/>
            </a:pPr>
            <a:r>
              <a:rPr lang="en-US" altLang="zh-CN" sz="1500">
                <a:solidFill>
                  <a:srgbClr val="000000"/>
                </a:solidFill>
                <a:latin typeface="+mn-lt"/>
                <a:ea typeface="华文仿宋" panose="02010600040101010101" pitchFamily="2" charset="-122"/>
              </a:rPr>
              <a:t>  VALUES(v_empno,'Wang','wx@sian.com',</a:t>
            </a:r>
          </a:p>
          <a:p>
            <a:pPr lvl="1" eaLnBrk="1" hangingPunct="1">
              <a:lnSpc>
                <a:spcPct val="90000"/>
              </a:lnSpc>
              <a:buSzPct val="75000"/>
            </a:pPr>
            <a:r>
              <a:rPr lang="en-US" altLang="zh-CN" sz="1500">
                <a:solidFill>
                  <a:srgbClr val="000000"/>
                </a:solidFill>
                <a:latin typeface="+mn-lt"/>
                <a:ea typeface="华文仿宋" panose="02010600040101010101" pitchFamily="2" charset="-122"/>
              </a:rPr>
              <a:t>  sysdate,'PU_MAN');</a:t>
            </a:r>
          </a:p>
          <a:p>
            <a:pPr lvl="1" eaLnBrk="1" hangingPunct="1">
              <a:lnSpc>
                <a:spcPct val="90000"/>
              </a:lnSpc>
              <a:buSzPct val="75000"/>
            </a:pPr>
            <a:r>
              <a:rPr lang="en-US" altLang="zh-CN" sz="1500">
                <a:solidFill>
                  <a:srgbClr val="000000"/>
                </a:solidFill>
                <a:latin typeface="+mn-lt"/>
                <a:ea typeface="华文仿宋" panose="02010600040101010101" pitchFamily="2" charset="-122"/>
              </a:rPr>
              <a:t>  UPDATE employees SET salary=salary+100 </a:t>
            </a:r>
          </a:p>
          <a:p>
            <a:pPr lvl="1" eaLnBrk="1" hangingPunct="1">
              <a:lnSpc>
                <a:spcPct val="90000"/>
              </a:lnSpc>
              <a:buSzPct val="75000"/>
            </a:pPr>
            <a:r>
              <a:rPr lang="en-US" altLang="zh-CN" sz="1500">
                <a:solidFill>
                  <a:srgbClr val="000000"/>
                </a:solidFill>
                <a:latin typeface="+mn-lt"/>
                <a:ea typeface="华文仿宋" panose="02010600040101010101" pitchFamily="2" charset="-122"/>
              </a:rPr>
              <a:t>  WHERE employee_id=v_empno;</a:t>
            </a:r>
          </a:p>
          <a:p>
            <a:pPr lvl="1" eaLnBrk="1" hangingPunct="1">
              <a:lnSpc>
                <a:spcPct val="90000"/>
              </a:lnSpc>
              <a:buSzPct val="75000"/>
            </a:pPr>
            <a:r>
              <a:rPr lang="en-US" altLang="zh-CN" sz="1500">
                <a:solidFill>
                  <a:srgbClr val="000000"/>
                </a:solidFill>
                <a:latin typeface="+mn-lt"/>
                <a:ea typeface="华文仿宋" panose="02010600040101010101" pitchFamily="2" charset="-122"/>
              </a:rPr>
              <a:t>  DELETE FROM employees </a:t>
            </a:r>
          </a:p>
          <a:p>
            <a:pPr lvl="1" eaLnBrk="1" hangingPunct="1">
              <a:lnSpc>
                <a:spcPct val="90000"/>
              </a:lnSpc>
              <a:buSzPct val="75000"/>
            </a:pPr>
            <a:r>
              <a:rPr lang="en-US" altLang="zh-CN" sz="1500">
                <a:solidFill>
                  <a:srgbClr val="000000"/>
                </a:solidFill>
                <a:latin typeface="+mn-lt"/>
                <a:ea typeface="华文仿宋" panose="02010600040101010101" pitchFamily="2" charset="-122"/>
              </a:rPr>
              <a:t>  WHERE employee_id=v_empno;</a:t>
            </a:r>
          </a:p>
          <a:p>
            <a:pPr lvl="1" eaLnBrk="1" hangingPunct="1">
              <a:lnSpc>
                <a:spcPct val="90000"/>
              </a:lnSpc>
              <a:buSzPct val="75000"/>
            </a:pPr>
            <a:r>
              <a:rPr lang="en-US" altLang="zh-CN" sz="1500">
                <a:solidFill>
                  <a:srgbClr val="000000"/>
                </a:solidFill>
                <a:latin typeface="+mn-lt"/>
                <a:ea typeface="华文仿宋" panose="02010600040101010101" pitchFamily="2" charset="-122"/>
              </a:rPr>
              <a:t>END; </a:t>
            </a:r>
          </a:p>
        </p:txBody>
      </p:sp>
      <p:sp>
        <p:nvSpPr>
          <p:cNvPr id="37890"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35</a:t>
            </a:fld>
            <a:endParaRPr lang="en-US" altLang="zh-CN">
              <a:solidFill>
                <a:srgbClr val="898989"/>
              </a:solidFill>
              <a:ea typeface="宋体" panose="02010600030101010101"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76EFD3D9-44F0-4267-BCC1-1613E79D82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Freeform 6">
            <a:extLst>
              <a:ext uri="{FF2B5EF4-FFF2-40B4-BE49-F238E27FC236}">
                <a16:creationId xmlns:a16="http://schemas.microsoft.com/office/drawing/2014/main" id="{A779A851-95D6-41AF-937A-B0E4B7F6FA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2164" y="900814"/>
            <a:ext cx="759618"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7">
            <a:extLst>
              <a:ext uri="{FF2B5EF4-FFF2-40B4-BE49-F238E27FC236}">
                <a16:creationId xmlns:a16="http://schemas.microsoft.com/office/drawing/2014/main" id="{953FB2E7-B6CB-429C-81EB-D9516D6D5C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4437" y="633165"/>
            <a:ext cx="482654"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Shape 78">
            <a:extLst>
              <a:ext uri="{FF2B5EF4-FFF2-40B4-BE49-F238E27FC236}">
                <a16:creationId xmlns:a16="http://schemas.microsoft.com/office/drawing/2014/main" id="{2EC40DB1-B719-4A13-9A4D-0966B4B278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4621" y="636723"/>
            <a:ext cx="4000062" cy="5257799"/>
          </a:xfrm>
          <a:custGeom>
            <a:avLst/>
            <a:gdLst>
              <a:gd name="connsiteX0" fmla="*/ 0 w 4634682"/>
              <a:gd name="connsiteY0" fmla="*/ 0 h 5257799"/>
              <a:gd name="connsiteX1" fmla="*/ 4634682 w 4634682"/>
              <a:gd name="connsiteY1" fmla="*/ 0 h 5257799"/>
              <a:gd name="connsiteX2" fmla="*/ 4634682 w 4634682"/>
              <a:gd name="connsiteY2" fmla="*/ 5257799 h 5257799"/>
              <a:gd name="connsiteX3" fmla="*/ 0 w 4634682"/>
              <a:gd name="connsiteY3" fmla="*/ 5257799 h 5257799"/>
            </a:gdLst>
            <a:ahLst/>
            <a:cxnLst>
              <a:cxn ang="0">
                <a:pos x="connsiteX0" y="connsiteY0"/>
              </a:cxn>
              <a:cxn ang="0">
                <a:pos x="connsiteX1" y="connsiteY1"/>
              </a:cxn>
              <a:cxn ang="0">
                <a:pos x="connsiteX2" y="connsiteY2"/>
              </a:cxn>
              <a:cxn ang="0">
                <a:pos x="connsiteX3" y="connsiteY3"/>
              </a:cxn>
            </a:cxnLst>
            <a:rect l="l" t="t" r="r" b="b"/>
            <a:pathLst>
              <a:path w="4634682" h="5257799">
                <a:moveTo>
                  <a:pt x="0" y="0"/>
                </a:moveTo>
                <a:lnTo>
                  <a:pt x="4634682" y="0"/>
                </a:lnTo>
                <a:lnTo>
                  <a:pt x="4634682" y="5257799"/>
                </a:lnTo>
                <a:lnTo>
                  <a:pt x="0" y="5257799"/>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8915" name="Rectangle 2"/>
          <p:cNvSpPr>
            <a:spLocks noGrp="1"/>
          </p:cNvSpPr>
          <p:nvPr>
            <p:ph type="title"/>
          </p:nvPr>
        </p:nvSpPr>
        <p:spPr>
          <a:xfrm>
            <a:off x="934872" y="982272"/>
            <a:ext cx="3388419" cy="4560970"/>
          </a:xfrm>
        </p:spPr>
        <p:txBody>
          <a:bodyPr vert="horz" lIns="121920" tIns="60960" rIns="121920" bIns="60960">
            <a:normAutofit/>
          </a:bodyPr>
          <a:lstStyle/>
          <a:p>
            <a:pPr eaLnBrk="1" hangingPunct="1"/>
            <a:r>
              <a:rPr lang="en-US" altLang="zh-CN">
                <a:solidFill>
                  <a:srgbClr val="FFFFFF"/>
                </a:solidFill>
                <a:latin typeface="宋体" panose="02010600030101010101" pitchFamily="2" charset="-122"/>
                <a:ea typeface="+mj-ea"/>
                <a:cs typeface="+mj-cs"/>
              </a:rPr>
              <a:t>9.6</a:t>
            </a:r>
            <a:r>
              <a:rPr lang="zh-CN" altLang="en-US">
                <a:solidFill>
                  <a:srgbClr val="FFFFFF"/>
                </a:solidFill>
                <a:latin typeface="宋体" panose="02010600030101010101" pitchFamily="2" charset="-122"/>
                <a:ea typeface="+mj-ea"/>
                <a:cs typeface="+mj-cs"/>
              </a:rPr>
              <a:t>控制结构 </a:t>
            </a:r>
          </a:p>
        </p:txBody>
      </p:sp>
      <p:sp>
        <p:nvSpPr>
          <p:cNvPr id="81" name="Rectangle 8">
            <a:extLst>
              <a:ext uri="{FF2B5EF4-FFF2-40B4-BE49-F238E27FC236}">
                <a16:creationId xmlns:a16="http://schemas.microsoft.com/office/drawing/2014/main" id="{82211336-CFF3-412D-868A-6679C1004C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01782" y="1352302"/>
            <a:ext cx="6655597"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8916" name="Rectangle 3"/>
          <p:cNvSpPr>
            <a:spLocks noGrp="1"/>
          </p:cNvSpPr>
          <p:nvPr>
            <p:ph idx="1"/>
          </p:nvPr>
        </p:nvSpPr>
        <p:spPr>
          <a:xfrm>
            <a:off x="5221862" y="1719618"/>
            <a:ext cx="5948831" cy="4334629"/>
          </a:xfrm>
        </p:spPr>
        <p:txBody>
          <a:bodyPr vert="horz" lIns="121920" tIns="60960" rIns="121920" bIns="60960" anchor="ctr">
            <a:normAutofit/>
          </a:bodyPr>
          <a:lstStyle/>
          <a:p>
            <a:pPr eaLnBrk="1" hangingPunct="1">
              <a:buSzPct val="75000"/>
            </a:pPr>
            <a:r>
              <a:rPr lang="zh-CN" altLang="en-US" sz="2400">
                <a:solidFill>
                  <a:srgbClr val="FEFFFF"/>
                </a:solidFill>
                <a:latin typeface="+mn-lt"/>
                <a:ea typeface="+mn-ea"/>
                <a:cs typeface="+mn-cs"/>
              </a:rPr>
              <a:t>选择结构</a:t>
            </a:r>
            <a:endParaRPr lang="zh-CN" altLang="en-US" sz="2400">
              <a:solidFill>
                <a:srgbClr val="FEFFFF"/>
              </a:solidFill>
              <a:latin typeface="宋体" panose="02010600030101010101" pitchFamily="2" charset="-122"/>
              <a:ea typeface="+mn-ea"/>
              <a:cs typeface="+mn-cs"/>
            </a:endParaRPr>
          </a:p>
          <a:p>
            <a:pPr eaLnBrk="1" hangingPunct="1">
              <a:buSzPct val="75000"/>
            </a:pPr>
            <a:r>
              <a:rPr lang="zh-CN" altLang="en-US" sz="2400">
                <a:solidFill>
                  <a:srgbClr val="FEFFFF"/>
                </a:solidFill>
                <a:latin typeface="+mn-lt"/>
                <a:ea typeface="+mn-ea"/>
                <a:cs typeface="+mn-cs"/>
              </a:rPr>
              <a:t>循环结构</a:t>
            </a:r>
            <a:endParaRPr lang="zh-CN" altLang="en-US" sz="2400">
              <a:solidFill>
                <a:srgbClr val="FEFFFF"/>
              </a:solidFill>
              <a:latin typeface="宋体" panose="02010600030101010101" pitchFamily="2" charset="-122"/>
              <a:ea typeface="+mn-ea"/>
              <a:cs typeface="+mn-cs"/>
            </a:endParaRPr>
          </a:p>
          <a:p>
            <a:pPr eaLnBrk="1" hangingPunct="1">
              <a:buSzPct val="75000"/>
            </a:pPr>
            <a:r>
              <a:rPr lang="zh-CN" altLang="en-US" sz="2400">
                <a:solidFill>
                  <a:srgbClr val="FEFFFF"/>
                </a:solidFill>
                <a:latin typeface="+mn-lt"/>
                <a:ea typeface="+mn-ea"/>
                <a:cs typeface="+mn-cs"/>
              </a:rPr>
              <a:t>跳转结构</a:t>
            </a:r>
            <a:endParaRPr lang="zh-CN" altLang="en-US" sz="2400">
              <a:solidFill>
                <a:srgbClr val="FEFFFF"/>
              </a:solidFill>
              <a:latin typeface="宋体" panose="02010600030101010101" pitchFamily="2" charset="-122"/>
              <a:ea typeface="+mn-ea"/>
              <a:cs typeface="+mn-cs"/>
            </a:endParaRPr>
          </a:p>
          <a:p>
            <a:pPr eaLnBrk="1" hangingPunct="1">
              <a:buSzPct val="75000"/>
            </a:pPr>
            <a:endParaRPr lang="en-US" altLang="zh-CN" sz="2400">
              <a:solidFill>
                <a:srgbClr val="FEFFFF"/>
              </a:solidFill>
              <a:latin typeface="宋体" panose="02010600030101010101" pitchFamily="2" charset="-122"/>
              <a:ea typeface="+mn-ea"/>
              <a:cs typeface="+mn-cs"/>
            </a:endParaRPr>
          </a:p>
        </p:txBody>
      </p:sp>
      <p:sp>
        <p:nvSpPr>
          <p:cNvPr id="38914" name="灯片编号占位符 5"/>
          <p:cNvSpPr txBox="1">
            <a:spLocks noGrp="1"/>
          </p:cNvSpPr>
          <p:nvPr>
            <p:ph type="sldNum" sz="quarter" idx="12"/>
          </p:nvPr>
        </p:nvSpPr>
        <p:spPr>
          <a:xfrm>
            <a:off x="10707624" y="6175188"/>
            <a:ext cx="685800" cy="320040"/>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FFFFFF"/>
                </a:solidFill>
                <a:ea typeface="宋体" panose="02010600030101010101" pitchFamily="2" charset="-122"/>
              </a:rPr>
              <a:pPr marL="0" indent="0" eaLnBrk="1" hangingPunct="1">
                <a:spcBef>
                  <a:spcPct val="0"/>
                </a:spcBef>
                <a:spcAft>
                  <a:spcPts val="600"/>
                </a:spcAft>
                <a:buClrTx/>
                <a:buSzTx/>
                <a:buFontTx/>
                <a:buNone/>
              </a:pPr>
              <a:t>36</a:t>
            </a:fld>
            <a:endParaRPr lang="en-US" altLang="zh-CN">
              <a:solidFill>
                <a:srgbClr val="FFFFFF"/>
              </a:solidFill>
              <a:ea typeface="宋体" panose="02010600030101010101" pitchFamily="2"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9939"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r>
              <a:rPr lang="en-GB" altLang="zh-CN">
                <a:solidFill>
                  <a:srgbClr val="FFFFFF"/>
                </a:solidFill>
                <a:latin typeface="+mj-lt"/>
                <a:ea typeface="+mj-ea"/>
                <a:cs typeface="+mj-cs"/>
              </a:rPr>
              <a:t>9.6.1</a:t>
            </a:r>
            <a:r>
              <a:rPr lang="zh-CN" altLang="en-GB">
                <a:solidFill>
                  <a:srgbClr val="FFFFFF"/>
                </a:solidFill>
                <a:latin typeface="+mj-lt"/>
                <a:ea typeface="+mj-ea"/>
                <a:cs typeface="+mj-cs"/>
              </a:rPr>
              <a:t>选择结构</a:t>
            </a:r>
            <a:endParaRPr lang="zh-CN" altLang="en-US">
              <a:solidFill>
                <a:srgbClr val="FFFFFF"/>
              </a:solidFill>
              <a:latin typeface="+mj-lt"/>
              <a:ea typeface="+mj-ea"/>
              <a:cs typeface="+mj-cs"/>
            </a:endParaRPr>
          </a:p>
        </p:txBody>
      </p:sp>
      <p:sp>
        <p:nvSpPr>
          <p:cNvPr id="39940"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buSzPct val="75000"/>
            </a:pPr>
            <a:r>
              <a:rPr lang="en-US" altLang="zh-CN" sz="2000">
                <a:solidFill>
                  <a:srgbClr val="000000"/>
                </a:solidFill>
                <a:latin typeface="+mn-lt"/>
                <a:ea typeface="+mn-ea"/>
                <a:cs typeface="+mn-cs"/>
              </a:rPr>
              <a:t>IF</a:t>
            </a:r>
            <a:r>
              <a:rPr lang="zh-CN" altLang="en-US" sz="2000">
                <a:solidFill>
                  <a:srgbClr val="000000"/>
                </a:solidFill>
                <a:latin typeface="+mn-lt"/>
                <a:ea typeface="+mn-ea"/>
                <a:cs typeface="+mn-cs"/>
              </a:rPr>
              <a:t>语句</a:t>
            </a:r>
          </a:p>
          <a:p>
            <a:pPr eaLnBrk="1" hangingPunct="1">
              <a:buSzPct val="75000"/>
            </a:pPr>
            <a:r>
              <a:rPr lang="en-US" altLang="zh-CN" sz="2000">
                <a:solidFill>
                  <a:srgbClr val="000000"/>
                </a:solidFill>
                <a:latin typeface="+mn-lt"/>
                <a:ea typeface="+mn-ea"/>
                <a:cs typeface="+mn-cs"/>
              </a:rPr>
              <a:t>CASE</a:t>
            </a:r>
            <a:r>
              <a:rPr lang="zh-CN" altLang="en-US" sz="2000">
                <a:solidFill>
                  <a:srgbClr val="000000"/>
                </a:solidFill>
                <a:latin typeface="+mn-lt"/>
                <a:ea typeface="+mn-ea"/>
                <a:cs typeface="+mn-cs"/>
              </a:rPr>
              <a:t>语句</a:t>
            </a:r>
          </a:p>
        </p:txBody>
      </p:sp>
      <p:sp>
        <p:nvSpPr>
          <p:cNvPr id="39938"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37</a:t>
            </a:fld>
            <a:endParaRPr lang="en-US" altLang="zh-CN">
              <a:solidFill>
                <a:srgbClr val="898989"/>
              </a:solidFill>
              <a:ea typeface="宋体" panose="02010600030101010101" pitchFamily="2"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0963"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r>
              <a:rPr lang="zh-CN" altLang="en-US">
                <a:solidFill>
                  <a:srgbClr val="FFFFFF"/>
                </a:solidFill>
                <a:latin typeface="+mj-lt"/>
                <a:ea typeface="+mj-ea"/>
                <a:cs typeface="+mj-cs"/>
              </a:rPr>
              <a:t>（</a:t>
            </a:r>
            <a:r>
              <a:rPr lang="en-US" altLang="zh-CN">
                <a:solidFill>
                  <a:srgbClr val="FFFFFF"/>
                </a:solidFill>
                <a:latin typeface="+mj-lt"/>
                <a:ea typeface="+mj-ea"/>
                <a:cs typeface="+mj-cs"/>
              </a:rPr>
              <a:t>1</a:t>
            </a:r>
            <a:r>
              <a:rPr lang="zh-CN" altLang="en-US">
                <a:solidFill>
                  <a:srgbClr val="FFFFFF"/>
                </a:solidFill>
                <a:latin typeface="+mj-lt"/>
                <a:ea typeface="+mj-ea"/>
                <a:cs typeface="+mj-cs"/>
              </a:rPr>
              <a:t>）</a:t>
            </a:r>
            <a:r>
              <a:rPr lang="en-US" altLang="zh-CN">
                <a:solidFill>
                  <a:srgbClr val="FFFFFF"/>
                </a:solidFill>
                <a:latin typeface="+mj-lt"/>
                <a:ea typeface="+mj-ea"/>
                <a:cs typeface="+mj-cs"/>
              </a:rPr>
              <a:t>IF</a:t>
            </a:r>
            <a:r>
              <a:rPr lang="zh-CN" altLang="en-US">
                <a:solidFill>
                  <a:srgbClr val="FFFFFF"/>
                </a:solidFill>
                <a:latin typeface="+mj-lt"/>
                <a:ea typeface="+mj-ea"/>
                <a:cs typeface="+mj-cs"/>
              </a:rPr>
              <a:t>语句</a:t>
            </a:r>
          </a:p>
        </p:txBody>
      </p:sp>
      <p:sp>
        <p:nvSpPr>
          <p:cNvPr id="40964" name="Rectangle 3"/>
          <p:cNvSpPr>
            <a:spLocks noGrp="1"/>
          </p:cNvSpPr>
          <p:nvPr>
            <p:ph idx="1"/>
          </p:nvPr>
        </p:nvSpPr>
        <p:spPr>
          <a:xfrm>
            <a:off x="1179226" y="3092970"/>
            <a:ext cx="9833548" cy="2693976"/>
          </a:xfrm>
        </p:spPr>
        <p:txBody>
          <a:bodyPr vert="horz" lIns="121920" tIns="60960" rIns="121920" bIns="60960">
            <a:normAutofit/>
          </a:bodyPr>
          <a:lstStyle/>
          <a:p>
            <a:pPr marL="609600" indent="-609600" eaLnBrk="1" hangingPunct="1">
              <a:lnSpc>
                <a:spcPct val="90000"/>
              </a:lnSpc>
              <a:buSzPct val="75000"/>
            </a:pPr>
            <a:r>
              <a:rPr lang="zh-CN" altLang="en-US" sz="1900" b="1">
                <a:solidFill>
                  <a:srgbClr val="000000"/>
                </a:solidFill>
                <a:latin typeface="+mn-lt"/>
                <a:ea typeface="+mn-ea"/>
                <a:cs typeface="+mn-cs"/>
              </a:rPr>
              <a:t>语法</a:t>
            </a:r>
          </a:p>
          <a:p>
            <a:pPr marL="990600" lvl="1" indent="-533400" eaLnBrk="1" hangingPunct="1">
              <a:lnSpc>
                <a:spcPct val="90000"/>
              </a:lnSpc>
              <a:buSzPct val="75000"/>
            </a:pPr>
            <a:r>
              <a:rPr lang="en-US" altLang="zh-CN" sz="1900" b="0">
                <a:solidFill>
                  <a:srgbClr val="000000"/>
                </a:solidFill>
                <a:latin typeface="+mn-lt"/>
                <a:ea typeface="华文仿宋" panose="02010600040101010101" pitchFamily="2" charset="-122"/>
              </a:rPr>
              <a:t>IF condition1 THEN statements1;</a:t>
            </a:r>
          </a:p>
          <a:p>
            <a:pPr marL="990600" lvl="1" indent="-533400" eaLnBrk="1" hangingPunct="1">
              <a:lnSpc>
                <a:spcPct val="90000"/>
              </a:lnSpc>
              <a:buSzPct val="75000"/>
            </a:pPr>
            <a:r>
              <a:rPr lang="en-US" altLang="zh-CN" sz="1900" b="0">
                <a:solidFill>
                  <a:srgbClr val="000000"/>
                </a:solidFill>
                <a:latin typeface="+mn-lt"/>
                <a:ea typeface="华文仿宋" panose="02010600040101010101" pitchFamily="2" charset="-122"/>
              </a:rPr>
              <a:t>[ELSIF condition2 THEN statements2;]</a:t>
            </a:r>
            <a:endParaRPr lang="en-GB" altLang="zh-CN" sz="1900" b="0">
              <a:solidFill>
                <a:srgbClr val="000000"/>
              </a:solidFill>
              <a:latin typeface="+mn-lt"/>
              <a:ea typeface="华文仿宋" panose="02010600040101010101" pitchFamily="2" charset="-122"/>
            </a:endParaRPr>
          </a:p>
          <a:p>
            <a:pPr marL="990600" lvl="1" indent="-533400" eaLnBrk="1" hangingPunct="1">
              <a:lnSpc>
                <a:spcPct val="90000"/>
              </a:lnSpc>
              <a:buSzPct val="75000"/>
            </a:pPr>
            <a:r>
              <a:rPr lang="en-GB" altLang="zh-CN" sz="1900" b="0">
                <a:solidFill>
                  <a:srgbClr val="000000"/>
                </a:solidFill>
                <a:latin typeface="华文仿宋" panose="02010600040101010101" pitchFamily="2" charset="-122"/>
                <a:ea typeface="华文仿宋" panose="02010600040101010101" pitchFamily="2" charset="-122"/>
              </a:rPr>
              <a:t>……</a:t>
            </a:r>
            <a:endParaRPr lang="en-US" altLang="zh-CN" sz="1900" b="0">
              <a:solidFill>
                <a:srgbClr val="000000"/>
              </a:solidFill>
              <a:latin typeface="+mn-lt"/>
              <a:ea typeface="华文仿宋" panose="02010600040101010101" pitchFamily="2" charset="-122"/>
            </a:endParaRPr>
          </a:p>
          <a:p>
            <a:pPr marL="990600" lvl="1" indent="-533400" eaLnBrk="1" hangingPunct="1">
              <a:lnSpc>
                <a:spcPct val="90000"/>
              </a:lnSpc>
              <a:buSzPct val="75000"/>
            </a:pPr>
            <a:r>
              <a:rPr lang="en-US" altLang="zh-CN" sz="1900" b="0">
                <a:solidFill>
                  <a:srgbClr val="000000"/>
                </a:solidFill>
                <a:latin typeface="+mn-lt"/>
                <a:ea typeface="华文仿宋" panose="02010600040101010101" pitchFamily="2" charset="-122"/>
              </a:rPr>
              <a:t>[ELSE else_statements];</a:t>
            </a:r>
          </a:p>
          <a:p>
            <a:pPr marL="990600" lvl="1" indent="-533400" eaLnBrk="1" hangingPunct="1">
              <a:lnSpc>
                <a:spcPct val="90000"/>
              </a:lnSpc>
              <a:buSzPct val="75000"/>
            </a:pPr>
            <a:r>
              <a:rPr lang="en-US" altLang="zh-CN" sz="1900" b="0">
                <a:solidFill>
                  <a:srgbClr val="000000"/>
                </a:solidFill>
                <a:latin typeface="+mn-lt"/>
                <a:ea typeface="华文仿宋" panose="02010600040101010101" pitchFamily="2" charset="-122"/>
              </a:rPr>
              <a:t>END IF;</a:t>
            </a:r>
            <a:r>
              <a:rPr lang="en-US" altLang="zh-CN" sz="1900">
                <a:solidFill>
                  <a:srgbClr val="000000"/>
                </a:solidFill>
                <a:latin typeface="+mn-lt"/>
                <a:ea typeface="华文仿宋" panose="02010600040101010101" pitchFamily="2" charset="-122"/>
              </a:rPr>
              <a:t> </a:t>
            </a:r>
            <a:endParaRPr lang="en-US" altLang="zh-CN" sz="1900" b="0">
              <a:solidFill>
                <a:srgbClr val="000000"/>
              </a:solidFill>
              <a:latin typeface="+mn-lt"/>
              <a:ea typeface="华文仿宋" panose="02010600040101010101" pitchFamily="2" charset="-122"/>
            </a:endParaRPr>
          </a:p>
          <a:p>
            <a:pPr marL="609600" indent="-609600" eaLnBrk="1" hangingPunct="1">
              <a:lnSpc>
                <a:spcPct val="90000"/>
              </a:lnSpc>
              <a:buSzPct val="75000"/>
            </a:pPr>
            <a:r>
              <a:rPr lang="zh-CN" altLang="en-US" sz="1900" b="1">
                <a:solidFill>
                  <a:srgbClr val="000000"/>
                </a:solidFill>
                <a:latin typeface="+mn-lt"/>
                <a:ea typeface="+mn-ea"/>
                <a:cs typeface="+mn-cs"/>
              </a:rPr>
              <a:t>注意</a:t>
            </a:r>
          </a:p>
          <a:p>
            <a:pPr marL="990600" lvl="1" indent="-533400" eaLnBrk="1" hangingPunct="1">
              <a:lnSpc>
                <a:spcPct val="90000"/>
              </a:lnSpc>
              <a:buSzPct val="75000"/>
            </a:pPr>
            <a:r>
              <a:rPr lang="zh-CN" altLang="en-US" sz="1900" b="0">
                <a:solidFill>
                  <a:srgbClr val="000000"/>
                </a:solidFill>
                <a:latin typeface="黑体" panose="02010609060101010101" pitchFamily="49" charset="-122"/>
                <a:ea typeface="黑体" panose="02010609060101010101" pitchFamily="49" charset="-122"/>
              </a:rPr>
              <a:t>条件是一个布尔型变量或表达式，取值只能是</a:t>
            </a:r>
            <a:r>
              <a:rPr lang="en-US" altLang="zh-CN" sz="1900" b="0">
                <a:solidFill>
                  <a:srgbClr val="000000"/>
                </a:solidFill>
                <a:latin typeface="黑体" panose="02010609060101010101" pitchFamily="49" charset="-122"/>
                <a:ea typeface="黑体" panose="02010609060101010101" pitchFamily="49" charset="-122"/>
              </a:rPr>
              <a:t>TRUE</a:t>
            </a:r>
            <a:r>
              <a:rPr lang="zh-CN" altLang="en-US" sz="1900" b="0">
                <a:solidFill>
                  <a:srgbClr val="000000"/>
                </a:solidFill>
                <a:latin typeface="黑体" panose="02010609060101010101" pitchFamily="49" charset="-122"/>
                <a:ea typeface="黑体" panose="02010609060101010101" pitchFamily="49" charset="-122"/>
              </a:rPr>
              <a:t>，</a:t>
            </a:r>
            <a:r>
              <a:rPr lang="en-US" altLang="zh-CN" sz="1900" b="0">
                <a:solidFill>
                  <a:srgbClr val="000000"/>
                </a:solidFill>
                <a:latin typeface="黑体" panose="02010609060101010101" pitchFamily="49" charset="-122"/>
                <a:ea typeface="黑体" panose="02010609060101010101" pitchFamily="49" charset="-122"/>
              </a:rPr>
              <a:t>FALSE</a:t>
            </a:r>
            <a:r>
              <a:rPr lang="zh-CN" altLang="en-US" sz="1900" b="0">
                <a:solidFill>
                  <a:srgbClr val="000000"/>
                </a:solidFill>
                <a:latin typeface="黑体" panose="02010609060101010101" pitchFamily="49" charset="-122"/>
                <a:ea typeface="黑体" panose="02010609060101010101" pitchFamily="49" charset="-122"/>
              </a:rPr>
              <a:t>，</a:t>
            </a:r>
            <a:r>
              <a:rPr lang="en-US" altLang="zh-CN" sz="1900" b="0">
                <a:solidFill>
                  <a:srgbClr val="000000"/>
                </a:solidFill>
                <a:latin typeface="黑体" panose="02010609060101010101" pitchFamily="49" charset="-122"/>
                <a:ea typeface="黑体" panose="02010609060101010101" pitchFamily="49" charset="-122"/>
              </a:rPr>
              <a:t>NULL</a:t>
            </a:r>
            <a:r>
              <a:rPr lang="zh-CN" altLang="en-US" sz="1900" b="0">
                <a:solidFill>
                  <a:srgbClr val="000000"/>
                </a:solidFill>
                <a:latin typeface="黑体" panose="02010609060101010101" pitchFamily="49" charset="-122"/>
                <a:ea typeface="黑体" panose="02010609060101010101" pitchFamily="49" charset="-122"/>
              </a:rPr>
              <a:t>。</a:t>
            </a:r>
          </a:p>
        </p:txBody>
      </p:sp>
      <p:sp>
        <p:nvSpPr>
          <p:cNvPr id="40962"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38</a:t>
            </a:fld>
            <a:endParaRPr lang="en-US" altLang="zh-CN">
              <a:solidFill>
                <a:srgbClr val="898989"/>
              </a:solidFill>
              <a:ea typeface="宋体" panose="02010600030101010101" pitchFamily="2"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1987"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endParaRPr lang="zh-CN" altLang="zh-CN">
              <a:solidFill>
                <a:srgbClr val="FFFFFF"/>
              </a:solidFill>
              <a:latin typeface="+mj-lt"/>
              <a:ea typeface="+mj-ea"/>
              <a:cs typeface="+mj-cs"/>
            </a:endParaRPr>
          </a:p>
        </p:txBody>
      </p:sp>
      <p:sp>
        <p:nvSpPr>
          <p:cNvPr id="41988"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buSzPct val="75000"/>
            </a:pPr>
            <a:r>
              <a:rPr lang="zh-CN" altLang="en-US" sz="2000">
                <a:solidFill>
                  <a:srgbClr val="000000"/>
                </a:solidFill>
                <a:latin typeface="+mn-lt"/>
                <a:ea typeface="+mn-ea"/>
                <a:cs typeface="+mn-cs"/>
              </a:rPr>
              <a:t>输入一个员工号，修改该员工的工资，如果该员工为</a:t>
            </a:r>
            <a:r>
              <a:rPr lang="en-US" altLang="zh-CN" sz="2000">
                <a:solidFill>
                  <a:srgbClr val="000000"/>
                </a:solidFill>
                <a:latin typeface="+mn-lt"/>
                <a:ea typeface="+mn-ea"/>
                <a:cs typeface="+mn-cs"/>
              </a:rPr>
              <a:t>10</a:t>
            </a:r>
            <a:r>
              <a:rPr lang="zh-CN" altLang="en-US" sz="2000">
                <a:solidFill>
                  <a:srgbClr val="000000"/>
                </a:solidFill>
                <a:latin typeface="+mn-lt"/>
                <a:ea typeface="+mn-ea"/>
                <a:cs typeface="+mn-cs"/>
              </a:rPr>
              <a:t>号部门，则工资增加</a:t>
            </a:r>
            <a:r>
              <a:rPr lang="en-US" altLang="zh-CN" sz="2000">
                <a:solidFill>
                  <a:srgbClr val="000000"/>
                </a:solidFill>
                <a:latin typeface="+mn-lt"/>
                <a:ea typeface="+mn-ea"/>
                <a:cs typeface="+mn-cs"/>
              </a:rPr>
              <a:t>100</a:t>
            </a:r>
            <a:r>
              <a:rPr lang="zh-CN" altLang="en-US" sz="2000">
                <a:solidFill>
                  <a:srgbClr val="000000"/>
                </a:solidFill>
                <a:latin typeface="+mn-lt"/>
                <a:ea typeface="+mn-ea"/>
                <a:cs typeface="+mn-cs"/>
              </a:rPr>
              <a:t>；若为</a:t>
            </a:r>
            <a:r>
              <a:rPr lang="en-US" altLang="zh-CN" sz="2000">
                <a:solidFill>
                  <a:srgbClr val="000000"/>
                </a:solidFill>
                <a:latin typeface="+mn-lt"/>
                <a:ea typeface="+mn-ea"/>
                <a:cs typeface="+mn-cs"/>
              </a:rPr>
              <a:t>20</a:t>
            </a:r>
            <a:r>
              <a:rPr lang="zh-CN" altLang="en-US" sz="2000">
                <a:solidFill>
                  <a:srgbClr val="000000"/>
                </a:solidFill>
                <a:latin typeface="+mn-lt"/>
                <a:ea typeface="+mn-ea"/>
                <a:cs typeface="+mn-cs"/>
              </a:rPr>
              <a:t>号部门，则工资增加</a:t>
            </a:r>
            <a:r>
              <a:rPr lang="en-US" altLang="zh-CN" sz="2000">
                <a:solidFill>
                  <a:srgbClr val="000000"/>
                </a:solidFill>
                <a:latin typeface="+mn-lt"/>
                <a:ea typeface="+mn-ea"/>
                <a:cs typeface="+mn-cs"/>
              </a:rPr>
              <a:t>150</a:t>
            </a:r>
            <a:r>
              <a:rPr lang="zh-CN" altLang="en-US" sz="2000">
                <a:solidFill>
                  <a:srgbClr val="000000"/>
                </a:solidFill>
                <a:latin typeface="+mn-lt"/>
                <a:ea typeface="+mn-ea"/>
                <a:cs typeface="+mn-cs"/>
              </a:rPr>
              <a:t>；若为</a:t>
            </a:r>
            <a:r>
              <a:rPr lang="en-US" altLang="zh-CN" sz="2000">
                <a:solidFill>
                  <a:srgbClr val="000000"/>
                </a:solidFill>
                <a:latin typeface="+mn-lt"/>
                <a:ea typeface="+mn-ea"/>
                <a:cs typeface="+mn-cs"/>
              </a:rPr>
              <a:t>30</a:t>
            </a:r>
            <a:r>
              <a:rPr lang="zh-CN" altLang="en-US" sz="2000">
                <a:solidFill>
                  <a:srgbClr val="000000"/>
                </a:solidFill>
                <a:latin typeface="+mn-lt"/>
                <a:ea typeface="+mn-ea"/>
                <a:cs typeface="+mn-cs"/>
              </a:rPr>
              <a:t>号部门，则工资增加</a:t>
            </a:r>
            <a:r>
              <a:rPr lang="en-US" altLang="zh-CN" sz="2000">
                <a:solidFill>
                  <a:srgbClr val="000000"/>
                </a:solidFill>
                <a:latin typeface="+mn-lt"/>
                <a:ea typeface="+mn-ea"/>
                <a:cs typeface="+mn-cs"/>
              </a:rPr>
              <a:t>200</a:t>
            </a:r>
            <a:r>
              <a:rPr lang="zh-CN" altLang="en-US" sz="2000">
                <a:solidFill>
                  <a:srgbClr val="000000"/>
                </a:solidFill>
                <a:latin typeface="+mn-lt"/>
                <a:ea typeface="+mn-ea"/>
                <a:cs typeface="+mn-cs"/>
              </a:rPr>
              <a:t>；否则增加</a:t>
            </a:r>
            <a:r>
              <a:rPr lang="en-US" altLang="zh-CN" sz="2000">
                <a:solidFill>
                  <a:srgbClr val="000000"/>
                </a:solidFill>
                <a:latin typeface="+mn-lt"/>
                <a:ea typeface="+mn-ea"/>
                <a:cs typeface="+mn-cs"/>
              </a:rPr>
              <a:t>300</a:t>
            </a:r>
            <a:r>
              <a:rPr lang="zh-CN" altLang="en-US" sz="2000">
                <a:solidFill>
                  <a:srgbClr val="000000"/>
                </a:solidFill>
                <a:latin typeface="+mn-lt"/>
                <a:ea typeface="+mn-ea"/>
                <a:cs typeface="+mn-cs"/>
              </a:rPr>
              <a:t>。  </a:t>
            </a:r>
          </a:p>
        </p:txBody>
      </p:sp>
      <p:sp>
        <p:nvSpPr>
          <p:cNvPr id="41986"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39</a:t>
            </a:fld>
            <a:endParaRPr lang="en-US" altLang="zh-CN">
              <a:solidFill>
                <a:srgbClr val="898989"/>
              </a:solidFill>
              <a:ea typeface="宋体" panose="02010600030101010101"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6" name="Picture 75">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3011" name="Rectangle 3"/>
          <p:cNvSpPr>
            <a:spLocks noGrp="1"/>
          </p:cNvSpPr>
          <p:nvPr>
            <p:ph idx="1"/>
          </p:nvPr>
        </p:nvSpPr>
        <p:spPr>
          <a:xfrm>
            <a:off x="6090574" y="801866"/>
            <a:ext cx="5306084" cy="5230634"/>
          </a:xfrm>
        </p:spPr>
        <p:txBody>
          <a:bodyPr vert="horz" lIns="121920" tIns="60960" rIns="121920" bIns="60960" anchor="ctr">
            <a:normAutofit/>
          </a:bodyPr>
          <a:lstStyle/>
          <a:p>
            <a:pPr eaLnBrk="1" hangingPunct="1">
              <a:lnSpc>
                <a:spcPct val="90000"/>
              </a:lnSpc>
              <a:buSzPct val="75000"/>
            </a:pPr>
            <a:r>
              <a:rPr lang="en-US" altLang="zh-CN" sz="1500">
                <a:solidFill>
                  <a:srgbClr val="000000"/>
                </a:solidFill>
                <a:latin typeface="+mn-lt"/>
                <a:ea typeface="+mn-ea"/>
                <a:cs typeface="+mn-cs"/>
              </a:rPr>
              <a:t>DECLARE</a:t>
            </a:r>
          </a:p>
          <a:p>
            <a:pPr eaLnBrk="1" hangingPunct="1">
              <a:lnSpc>
                <a:spcPct val="90000"/>
              </a:lnSpc>
              <a:buSzPct val="75000"/>
            </a:pPr>
            <a:r>
              <a:rPr lang="en-US" altLang="zh-CN" sz="1500">
                <a:solidFill>
                  <a:srgbClr val="000000"/>
                </a:solidFill>
                <a:latin typeface="+mn-lt"/>
                <a:ea typeface="+mn-ea"/>
                <a:cs typeface="+mn-cs"/>
              </a:rPr>
              <a:t>  v_deptno employees.department_id%type;</a:t>
            </a:r>
          </a:p>
          <a:p>
            <a:pPr eaLnBrk="1" hangingPunct="1">
              <a:lnSpc>
                <a:spcPct val="90000"/>
              </a:lnSpc>
              <a:buSzPct val="75000"/>
            </a:pPr>
            <a:r>
              <a:rPr lang="en-US" altLang="zh-CN" sz="1500">
                <a:solidFill>
                  <a:srgbClr val="000000"/>
                </a:solidFill>
                <a:latin typeface="+mn-lt"/>
                <a:ea typeface="+mn-ea"/>
                <a:cs typeface="+mn-cs"/>
              </a:rPr>
              <a:t>  v_increment NUMBER(4);</a:t>
            </a:r>
          </a:p>
          <a:p>
            <a:pPr eaLnBrk="1" hangingPunct="1">
              <a:lnSpc>
                <a:spcPct val="90000"/>
              </a:lnSpc>
              <a:buSzPct val="75000"/>
            </a:pPr>
            <a:r>
              <a:rPr lang="en-US" altLang="zh-CN" sz="1500">
                <a:solidFill>
                  <a:srgbClr val="000000"/>
                </a:solidFill>
                <a:latin typeface="+mn-lt"/>
                <a:ea typeface="+mn-ea"/>
                <a:cs typeface="+mn-cs"/>
              </a:rPr>
              <a:t>  v_empno  employees.employee_id%type;</a:t>
            </a:r>
          </a:p>
          <a:p>
            <a:pPr eaLnBrk="1" hangingPunct="1">
              <a:lnSpc>
                <a:spcPct val="90000"/>
              </a:lnSpc>
              <a:buSzPct val="75000"/>
            </a:pPr>
            <a:r>
              <a:rPr lang="en-US" altLang="zh-CN" sz="1500">
                <a:solidFill>
                  <a:srgbClr val="000000"/>
                </a:solidFill>
                <a:latin typeface="+mn-lt"/>
                <a:ea typeface="+mn-ea"/>
                <a:cs typeface="+mn-cs"/>
              </a:rPr>
              <a:t>BEGIN</a:t>
            </a:r>
          </a:p>
          <a:p>
            <a:pPr eaLnBrk="1" hangingPunct="1">
              <a:lnSpc>
                <a:spcPct val="90000"/>
              </a:lnSpc>
              <a:buSzPct val="75000"/>
            </a:pPr>
            <a:r>
              <a:rPr lang="en-US" altLang="zh-CN" sz="1500">
                <a:solidFill>
                  <a:srgbClr val="000000"/>
                </a:solidFill>
                <a:latin typeface="+mn-lt"/>
                <a:ea typeface="+mn-ea"/>
                <a:cs typeface="+mn-cs"/>
              </a:rPr>
              <a:t>  v_empno:=&amp;x;</a:t>
            </a:r>
          </a:p>
          <a:p>
            <a:pPr eaLnBrk="1" hangingPunct="1">
              <a:lnSpc>
                <a:spcPct val="90000"/>
              </a:lnSpc>
              <a:buSzPct val="75000"/>
            </a:pPr>
            <a:r>
              <a:rPr lang="en-US" altLang="zh-CN" sz="1500">
                <a:solidFill>
                  <a:srgbClr val="000000"/>
                </a:solidFill>
                <a:latin typeface="+mn-lt"/>
                <a:ea typeface="+mn-ea"/>
                <a:cs typeface="+mn-cs"/>
              </a:rPr>
              <a:t>  SELECT department_id INTO v_deptno </a:t>
            </a:r>
          </a:p>
          <a:p>
            <a:pPr eaLnBrk="1" hangingPunct="1">
              <a:lnSpc>
                <a:spcPct val="90000"/>
              </a:lnSpc>
              <a:buSzPct val="75000"/>
            </a:pPr>
            <a:r>
              <a:rPr lang="en-US" altLang="zh-CN" sz="1500">
                <a:solidFill>
                  <a:srgbClr val="000000"/>
                </a:solidFill>
                <a:latin typeface="+mn-lt"/>
                <a:ea typeface="+mn-ea"/>
                <a:cs typeface="+mn-cs"/>
              </a:rPr>
              <a:t>  FROM employees WHERE employee_id=v_empno;</a:t>
            </a:r>
          </a:p>
          <a:p>
            <a:pPr eaLnBrk="1" hangingPunct="1">
              <a:lnSpc>
                <a:spcPct val="90000"/>
              </a:lnSpc>
              <a:buSzPct val="75000"/>
            </a:pPr>
            <a:r>
              <a:rPr lang="en-US" altLang="zh-CN" sz="1500">
                <a:solidFill>
                  <a:srgbClr val="000000"/>
                </a:solidFill>
                <a:latin typeface="+mn-lt"/>
                <a:ea typeface="+mn-ea"/>
                <a:cs typeface="+mn-cs"/>
              </a:rPr>
              <a:t>  IF v_deptno=10 THEN v_increment:=100;</a:t>
            </a:r>
          </a:p>
          <a:p>
            <a:pPr eaLnBrk="1" hangingPunct="1">
              <a:lnSpc>
                <a:spcPct val="90000"/>
              </a:lnSpc>
              <a:buSzPct val="75000"/>
            </a:pPr>
            <a:r>
              <a:rPr lang="en-US" altLang="zh-CN" sz="1500">
                <a:solidFill>
                  <a:srgbClr val="000000"/>
                </a:solidFill>
                <a:latin typeface="+mn-lt"/>
                <a:ea typeface="+mn-ea"/>
                <a:cs typeface="+mn-cs"/>
              </a:rPr>
              <a:t>  ELSIF v_deptno=20 THEN v_increment:=150;</a:t>
            </a:r>
          </a:p>
          <a:p>
            <a:pPr eaLnBrk="1" hangingPunct="1">
              <a:lnSpc>
                <a:spcPct val="90000"/>
              </a:lnSpc>
              <a:buSzPct val="75000"/>
            </a:pPr>
            <a:r>
              <a:rPr lang="en-US" altLang="zh-CN" sz="1500">
                <a:solidFill>
                  <a:srgbClr val="000000"/>
                </a:solidFill>
                <a:latin typeface="+mn-lt"/>
                <a:ea typeface="+mn-ea"/>
                <a:cs typeface="+mn-cs"/>
              </a:rPr>
              <a:t>  ELSIF v_deptno=30 THEN v_increment:=200;</a:t>
            </a:r>
          </a:p>
          <a:p>
            <a:pPr eaLnBrk="1" hangingPunct="1">
              <a:lnSpc>
                <a:spcPct val="90000"/>
              </a:lnSpc>
              <a:buSzPct val="75000"/>
            </a:pPr>
            <a:r>
              <a:rPr lang="en-US" altLang="zh-CN" sz="1500">
                <a:solidFill>
                  <a:srgbClr val="000000"/>
                </a:solidFill>
                <a:latin typeface="+mn-lt"/>
                <a:ea typeface="+mn-ea"/>
                <a:cs typeface="+mn-cs"/>
              </a:rPr>
              <a:t>  ELSE  v_increment:=300;</a:t>
            </a:r>
          </a:p>
          <a:p>
            <a:pPr eaLnBrk="1" hangingPunct="1">
              <a:lnSpc>
                <a:spcPct val="90000"/>
              </a:lnSpc>
              <a:buSzPct val="75000"/>
            </a:pPr>
            <a:r>
              <a:rPr lang="en-US" altLang="zh-CN" sz="1500">
                <a:solidFill>
                  <a:srgbClr val="000000"/>
                </a:solidFill>
                <a:latin typeface="+mn-lt"/>
                <a:ea typeface="+mn-ea"/>
                <a:cs typeface="+mn-cs"/>
              </a:rPr>
              <a:t>  END IF;</a:t>
            </a:r>
          </a:p>
          <a:p>
            <a:pPr eaLnBrk="1" hangingPunct="1">
              <a:lnSpc>
                <a:spcPct val="90000"/>
              </a:lnSpc>
              <a:buSzPct val="75000"/>
            </a:pPr>
            <a:r>
              <a:rPr lang="en-US" altLang="zh-CN" sz="1500">
                <a:solidFill>
                  <a:srgbClr val="000000"/>
                </a:solidFill>
                <a:latin typeface="+mn-lt"/>
                <a:ea typeface="+mn-ea"/>
                <a:cs typeface="+mn-cs"/>
              </a:rPr>
              <a:t>  UPDATE employees SET salary=salary+v_increment </a:t>
            </a:r>
          </a:p>
          <a:p>
            <a:pPr eaLnBrk="1" hangingPunct="1">
              <a:lnSpc>
                <a:spcPct val="90000"/>
              </a:lnSpc>
              <a:buSzPct val="75000"/>
            </a:pPr>
            <a:r>
              <a:rPr lang="en-US" altLang="zh-CN" sz="1500">
                <a:solidFill>
                  <a:srgbClr val="000000"/>
                </a:solidFill>
                <a:latin typeface="+mn-lt"/>
                <a:ea typeface="+mn-ea"/>
                <a:cs typeface="+mn-cs"/>
              </a:rPr>
              <a:t>  WHERE employee_id=v_empno;</a:t>
            </a:r>
          </a:p>
          <a:p>
            <a:pPr eaLnBrk="1" hangingPunct="1">
              <a:lnSpc>
                <a:spcPct val="90000"/>
              </a:lnSpc>
              <a:buSzPct val="75000"/>
            </a:pPr>
            <a:r>
              <a:rPr lang="en-US" altLang="zh-CN" sz="1500">
                <a:solidFill>
                  <a:srgbClr val="000000"/>
                </a:solidFill>
                <a:latin typeface="+mn-lt"/>
                <a:ea typeface="+mn-ea"/>
                <a:cs typeface="+mn-cs"/>
              </a:rPr>
              <a:t>END; </a:t>
            </a:r>
          </a:p>
        </p:txBody>
      </p:sp>
      <p:sp>
        <p:nvSpPr>
          <p:cNvPr id="43010"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40</a:t>
            </a:fld>
            <a:endParaRPr lang="en-US" altLang="zh-CN">
              <a:solidFill>
                <a:srgbClr val="898989"/>
              </a:solidFill>
              <a:ea typeface="宋体" panose="0201060003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4035"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endParaRPr lang="zh-CN" altLang="zh-CN">
              <a:solidFill>
                <a:srgbClr val="FFFFFF"/>
              </a:solidFill>
              <a:latin typeface="+mj-lt"/>
              <a:ea typeface="+mj-ea"/>
              <a:cs typeface="+mj-cs"/>
            </a:endParaRPr>
          </a:p>
        </p:txBody>
      </p:sp>
      <p:sp>
        <p:nvSpPr>
          <p:cNvPr id="44036"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buSzPct val="75000"/>
            </a:pPr>
            <a:r>
              <a:rPr lang="zh-CN" altLang="en-US" sz="2000">
                <a:solidFill>
                  <a:srgbClr val="000000"/>
                </a:solidFill>
                <a:latin typeface="+mn-lt"/>
                <a:ea typeface="+mn-ea"/>
                <a:cs typeface="+mn-cs"/>
              </a:rPr>
              <a:t>由于</a:t>
            </a:r>
            <a:r>
              <a:rPr lang="en-US" altLang="zh-CN" sz="2000">
                <a:solidFill>
                  <a:srgbClr val="000000"/>
                </a:solidFill>
                <a:latin typeface="+mn-lt"/>
                <a:ea typeface="+mn-ea"/>
                <a:cs typeface="+mn-cs"/>
              </a:rPr>
              <a:t>PL/SQL</a:t>
            </a:r>
            <a:r>
              <a:rPr lang="zh-CN" altLang="en-US" sz="2000">
                <a:solidFill>
                  <a:srgbClr val="000000"/>
                </a:solidFill>
                <a:latin typeface="+mn-lt"/>
                <a:ea typeface="+mn-ea"/>
                <a:cs typeface="+mn-cs"/>
              </a:rPr>
              <a:t>中的逻辑运算结果有</a:t>
            </a:r>
            <a:r>
              <a:rPr lang="en-US" altLang="zh-CN" sz="2000">
                <a:solidFill>
                  <a:srgbClr val="000000"/>
                </a:solidFill>
                <a:latin typeface="+mn-lt"/>
                <a:ea typeface="+mn-ea"/>
                <a:cs typeface="+mn-cs"/>
              </a:rPr>
              <a:t>TRUE</a:t>
            </a:r>
            <a:r>
              <a:rPr lang="zh-CN" altLang="en-US" sz="2000">
                <a:solidFill>
                  <a:srgbClr val="000000"/>
                </a:solidFill>
                <a:latin typeface="+mn-lt"/>
                <a:ea typeface="+mn-ea"/>
                <a:cs typeface="+mn-cs"/>
              </a:rPr>
              <a:t>，</a:t>
            </a:r>
            <a:r>
              <a:rPr lang="en-US" altLang="zh-CN" sz="2000">
                <a:solidFill>
                  <a:srgbClr val="000000"/>
                </a:solidFill>
                <a:latin typeface="+mn-lt"/>
                <a:ea typeface="+mn-ea"/>
                <a:cs typeface="+mn-cs"/>
              </a:rPr>
              <a:t>FALSE</a:t>
            </a:r>
            <a:r>
              <a:rPr lang="zh-CN" altLang="en-US" sz="2000">
                <a:solidFill>
                  <a:srgbClr val="000000"/>
                </a:solidFill>
                <a:latin typeface="+mn-lt"/>
                <a:ea typeface="+mn-ea"/>
                <a:cs typeface="+mn-cs"/>
              </a:rPr>
              <a:t>和</a:t>
            </a:r>
            <a:r>
              <a:rPr lang="en-US" altLang="zh-CN" sz="2000">
                <a:solidFill>
                  <a:srgbClr val="000000"/>
                </a:solidFill>
                <a:latin typeface="+mn-lt"/>
                <a:ea typeface="+mn-ea"/>
                <a:cs typeface="+mn-cs"/>
              </a:rPr>
              <a:t>NULL</a:t>
            </a:r>
            <a:r>
              <a:rPr lang="zh-CN" altLang="en-US" sz="2000">
                <a:solidFill>
                  <a:srgbClr val="000000"/>
                </a:solidFill>
                <a:latin typeface="+mn-lt"/>
                <a:ea typeface="+mn-ea"/>
                <a:cs typeface="+mn-cs"/>
              </a:rPr>
              <a:t>三种，因此在进行选择条件判断时，要考虑条件为</a:t>
            </a:r>
            <a:r>
              <a:rPr lang="en-US" altLang="zh-CN" sz="2000">
                <a:solidFill>
                  <a:srgbClr val="000000"/>
                </a:solidFill>
                <a:latin typeface="+mn-lt"/>
                <a:ea typeface="+mn-ea"/>
                <a:cs typeface="+mn-cs"/>
              </a:rPr>
              <a:t>NULL</a:t>
            </a:r>
            <a:r>
              <a:rPr lang="zh-CN" altLang="en-US" sz="2000">
                <a:solidFill>
                  <a:srgbClr val="000000"/>
                </a:solidFill>
                <a:latin typeface="+mn-lt"/>
                <a:ea typeface="+mn-ea"/>
                <a:cs typeface="+mn-cs"/>
              </a:rPr>
              <a:t>的情况。例如，下面两个程序，如果不考虑条件为</a:t>
            </a:r>
            <a:r>
              <a:rPr lang="en-US" altLang="zh-CN" sz="2000">
                <a:solidFill>
                  <a:srgbClr val="000000"/>
                </a:solidFill>
                <a:latin typeface="+mn-lt"/>
                <a:ea typeface="+mn-ea"/>
                <a:cs typeface="+mn-cs"/>
              </a:rPr>
              <a:t>NULL</a:t>
            </a:r>
            <a:r>
              <a:rPr lang="zh-CN" altLang="en-US" sz="2000">
                <a:solidFill>
                  <a:srgbClr val="000000"/>
                </a:solidFill>
                <a:latin typeface="+mn-lt"/>
                <a:ea typeface="+mn-ea"/>
                <a:cs typeface="+mn-cs"/>
              </a:rPr>
              <a:t>的情况，则运行结果是一致的，但是若考虑条件为</a:t>
            </a:r>
            <a:r>
              <a:rPr lang="en-US" altLang="zh-CN" sz="2000">
                <a:solidFill>
                  <a:srgbClr val="000000"/>
                </a:solidFill>
                <a:latin typeface="+mn-lt"/>
                <a:ea typeface="+mn-ea"/>
                <a:cs typeface="+mn-cs"/>
              </a:rPr>
              <a:t>NULL</a:t>
            </a:r>
            <a:r>
              <a:rPr lang="zh-CN" altLang="en-US" sz="2000">
                <a:solidFill>
                  <a:srgbClr val="000000"/>
                </a:solidFill>
                <a:latin typeface="+mn-lt"/>
                <a:ea typeface="+mn-ea"/>
                <a:cs typeface="+mn-cs"/>
              </a:rPr>
              <a:t>的情况，则结果就不同了。 </a:t>
            </a:r>
          </a:p>
        </p:txBody>
      </p:sp>
      <p:sp>
        <p:nvSpPr>
          <p:cNvPr id="44034"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41</a:t>
            </a:fld>
            <a:endParaRPr lang="en-US" altLang="zh-CN">
              <a:solidFill>
                <a:srgbClr val="898989"/>
              </a:solidFill>
              <a:ea typeface="宋体" panose="02010600030101010101" pitchFamily="2"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059" name="Rectangle 4"/>
          <p:cNvSpPr>
            <a:spLocks noGrp="1"/>
          </p:cNvSpPr>
          <p:nvPr>
            <p:ph type="title"/>
          </p:nvPr>
        </p:nvSpPr>
        <p:spPr>
          <a:xfrm>
            <a:off x="645858" y="5110423"/>
            <a:ext cx="10906061" cy="671540"/>
          </a:xfrm>
          <a:noFill/>
        </p:spPr>
        <p:txBody>
          <a:bodyPr vert="horz" lIns="91440" tIns="45720" rIns="91440" bIns="45720" rtlCol="0" anchor="ctr">
            <a:normAutofit fontScale="90000"/>
          </a:bodyPr>
          <a:lstStyle/>
          <a:p>
            <a:pPr eaLnBrk="1" hangingPunct="1">
              <a:lnSpc>
                <a:spcPct val="90000"/>
              </a:lnSpc>
            </a:pPr>
            <a:endParaRPr lang="en-US" altLang="zh-CN" sz="4800" kern="1200">
              <a:solidFill>
                <a:schemeClr val="tx1"/>
              </a:solidFill>
            </a:endParaRPr>
          </a:p>
        </p:txBody>
      </p:sp>
      <p:sp>
        <p:nvSpPr>
          <p:cNvPr id="45062" name="Rectangle 136">
            <a:extLst>
              <a:ext uri="{FF2B5EF4-FFF2-40B4-BE49-F238E27FC236}">
                <a16:creationId xmlns:a16="http://schemas.microsoft.com/office/drawing/2014/main" id="{71FC7D98-7B8B-402A-90FC-F027482F21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2" cy="4822479"/>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ounded Rectangle 28">
            <a:extLst>
              <a:ext uri="{FF2B5EF4-FFF2-40B4-BE49-F238E27FC236}">
                <a16:creationId xmlns:a16="http://schemas.microsoft.com/office/drawing/2014/main" id="{AD7356EA-285B-4E5D-8FEC-104659A4F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04562" y="640091"/>
            <a:ext cx="8182876" cy="3881110"/>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5060" name="Picture 5" descr="366"/>
          <p:cNvPicPr>
            <a:picLocks noChangeAspect="1"/>
          </p:cNvPicPr>
          <p:nvPr/>
        </p:nvPicPr>
        <p:blipFill rotWithShape="1">
          <a:blip r:embed="rId2"/>
          <a:srcRect r="1" b="9003"/>
          <a:stretch/>
        </p:blipFill>
        <p:spPr>
          <a:xfrm>
            <a:off x="2170029" y="804672"/>
            <a:ext cx="7851943" cy="3554676"/>
          </a:xfrm>
          <a:prstGeom prst="rect">
            <a:avLst/>
          </a:prstGeom>
          <a:noFill/>
          <a:effectLst/>
        </p:spPr>
      </p:pic>
      <p:sp>
        <p:nvSpPr>
          <p:cNvPr id="45058" name="灯片编号占位符 4"/>
          <p:cNvSpPr txBox="1">
            <a:spLocks noGrp="1"/>
          </p:cNvSpPr>
          <p:nvPr>
            <p:ph type="sldNum" sz="quarter" idx="12"/>
          </p:nvPr>
        </p:nvSpPr>
        <p:spPr>
          <a:xfrm>
            <a:off x="8613648" y="6356350"/>
            <a:ext cx="2743200" cy="365125"/>
          </a:xfrm>
          <a:noFill/>
        </p:spPr>
        <p:txBody>
          <a:bodyPr vert="horz" lIns="91440" tIns="45720" rIns="91440" bIns="45720" rtlCol="0" anchor="ctr">
            <a:normAutofit/>
          </a:bodyPr>
          <a:lstStyle/>
          <a:p>
            <a:pPr fontAlgn="auto">
              <a:spcBef>
                <a:spcPts val="0"/>
              </a:spcBef>
              <a:spcAft>
                <a:spcPts val="600"/>
              </a:spcAft>
              <a:defRPr/>
            </a:pPr>
            <a:fld id="{9A0DB2DC-4C9A-4742-B13C-FB6460FD3503}" type="slidenum">
              <a:rPr lang="en-US" altLang="zh-CN" sz="1200">
                <a:solidFill>
                  <a:srgbClr val="898989"/>
                </a:solidFill>
                <a:latin typeface="Calibri" panose="020F0502020204030204"/>
                <a:ea typeface="+mn-ea"/>
              </a:rPr>
              <a:pPr fontAlgn="auto">
                <a:spcBef>
                  <a:spcPts val="0"/>
                </a:spcBef>
                <a:spcAft>
                  <a:spcPts val="600"/>
                </a:spcAft>
                <a:defRPr/>
              </a:pPr>
              <a:t>42</a:t>
            </a:fld>
            <a:endParaRPr lang="en-US" altLang="zh-CN" sz="1200">
              <a:solidFill>
                <a:srgbClr val="898989"/>
              </a:solidFill>
              <a:latin typeface="Calibri" panose="020F0502020204030204"/>
              <a:ea typeface="+mn-e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 name="Rectangle 73">
            <a:extLst>
              <a:ext uri="{FF2B5EF4-FFF2-40B4-BE49-F238E27FC236}">
                <a16:creationId xmlns:a16="http://schemas.microsoft.com/office/drawing/2014/main" id="{EBF87945-A001-489F-9D9B-7D9435F0B9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8639" y="347471"/>
            <a:ext cx="11100816" cy="18013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083" name="Rectangle 2"/>
          <p:cNvSpPr>
            <a:spLocks noGrp="1"/>
          </p:cNvSpPr>
          <p:nvPr>
            <p:ph type="title"/>
          </p:nvPr>
        </p:nvSpPr>
        <p:spPr>
          <a:xfrm>
            <a:off x="838200" y="585216"/>
            <a:ext cx="10515600" cy="1325563"/>
          </a:xfrm>
        </p:spPr>
        <p:txBody>
          <a:bodyPr vert="horz" lIns="121920" tIns="60960" rIns="121920" bIns="60960">
            <a:normAutofit/>
          </a:bodyPr>
          <a:lstStyle/>
          <a:p>
            <a:pPr eaLnBrk="1" hangingPunct="1"/>
            <a:endParaRPr lang="zh-CN" altLang="zh-CN">
              <a:solidFill>
                <a:srgbClr val="FFFFFF"/>
              </a:solidFill>
              <a:latin typeface="+mj-lt"/>
              <a:ea typeface="+mj-ea"/>
              <a:cs typeface="+mj-cs"/>
            </a:endParaRPr>
          </a:p>
        </p:txBody>
      </p:sp>
      <p:pic>
        <p:nvPicPr>
          <p:cNvPr id="46085" name="Picture 4" descr="366A"/>
          <p:cNvPicPr>
            <a:picLocks noChangeAspect="1"/>
          </p:cNvPicPr>
          <p:nvPr/>
        </p:nvPicPr>
        <p:blipFill rotWithShape="1">
          <a:blip r:embed="rId2"/>
          <a:srcRect t="761" r="3" b="1421"/>
          <a:stretch/>
        </p:blipFill>
        <p:spPr>
          <a:xfrm>
            <a:off x="841248" y="2516777"/>
            <a:ext cx="6236208" cy="3660185"/>
          </a:xfrm>
          <a:prstGeom prst="rect">
            <a:avLst/>
          </a:prstGeom>
          <a:noFill/>
        </p:spPr>
      </p:pic>
      <p:sp>
        <p:nvSpPr>
          <p:cNvPr id="46084" name="Rectangle 3"/>
          <p:cNvSpPr>
            <a:spLocks noGrp="1"/>
          </p:cNvSpPr>
          <p:nvPr>
            <p:ph idx="1"/>
          </p:nvPr>
        </p:nvSpPr>
        <p:spPr>
          <a:xfrm>
            <a:off x="7546848" y="2516777"/>
            <a:ext cx="3803904" cy="3660185"/>
          </a:xfrm>
        </p:spPr>
        <p:txBody>
          <a:bodyPr vert="horz" lIns="121920" tIns="60960" rIns="121920" bIns="60960" anchor="ctr">
            <a:normAutofit/>
          </a:bodyPr>
          <a:lstStyle/>
          <a:p>
            <a:pPr eaLnBrk="1" hangingPunct="1">
              <a:buSzPct val="75000"/>
            </a:pPr>
            <a:r>
              <a:rPr lang="zh-CN" altLang="en-US" sz="2200">
                <a:latin typeface="+mn-lt"/>
                <a:ea typeface="+mn-ea"/>
                <a:cs typeface="+mn-cs"/>
              </a:rPr>
              <a:t>为了避免条件为</a:t>
            </a:r>
            <a:r>
              <a:rPr lang="en-US" altLang="zh-CN" sz="2200">
                <a:latin typeface="+mn-lt"/>
                <a:ea typeface="+mn-ea"/>
                <a:cs typeface="+mn-cs"/>
              </a:rPr>
              <a:t>NULL</a:t>
            </a:r>
            <a:r>
              <a:rPr lang="zh-CN" altLang="en-US" sz="2200">
                <a:latin typeface="+mn-lt"/>
                <a:ea typeface="+mn-ea"/>
                <a:cs typeface="+mn-cs"/>
              </a:rPr>
              <a:t>时出现歧义，应该在程序中进行条件是否为</a:t>
            </a:r>
            <a:r>
              <a:rPr lang="en-US" altLang="zh-CN" sz="2200">
                <a:latin typeface="+mn-lt"/>
                <a:ea typeface="+mn-ea"/>
                <a:cs typeface="+mn-cs"/>
              </a:rPr>
              <a:t>NULL</a:t>
            </a:r>
            <a:r>
              <a:rPr lang="zh-CN" altLang="en-US" sz="2200">
                <a:latin typeface="+mn-lt"/>
                <a:ea typeface="+mn-ea"/>
                <a:cs typeface="+mn-cs"/>
              </a:rPr>
              <a:t>的检查。 </a:t>
            </a:r>
          </a:p>
        </p:txBody>
      </p:sp>
      <p:sp>
        <p:nvSpPr>
          <p:cNvPr id="46082" name="灯片编号占位符 5"/>
          <p:cNvSpPr txBox="1">
            <a:spLocks noGrp="1"/>
          </p:cNvSpPr>
          <p:nvPr>
            <p:ph type="sldNum" sz="quarter" idx="12"/>
          </p:nvPr>
        </p:nvSpPr>
        <p:spPr>
          <a:xfrm>
            <a:off x="8610600" y="6356350"/>
            <a:ext cx="2743200" cy="365125"/>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dirty="0">
                <a:ea typeface="宋体" panose="02010600030101010101" pitchFamily="2" charset="-122"/>
              </a:rPr>
              <a:pPr marL="0" indent="0" eaLnBrk="1" hangingPunct="1">
                <a:spcBef>
                  <a:spcPct val="0"/>
                </a:spcBef>
                <a:spcAft>
                  <a:spcPts val="600"/>
                </a:spcAft>
                <a:buClrTx/>
                <a:buSzTx/>
                <a:buFontTx/>
                <a:buNone/>
              </a:pPr>
              <a:t>43</a:t>
            </a:fld>
            <a:endParaRPr lang="en-US" altLang="zh-CN">
              <a:ea typeface="宋体" panose="0201060003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7107"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r>
              <a:rPr lang="zh-CN" altLang="en-US">
                <a:solidFill>
                  <a:srgbClr val="FFFFFF"/>
                </a:solidFill>
                <a:latin typeface="+mj-lt"/>
                <a:ea typeface="+mj-ea"/>
                <a:cs typeface="+mj-cs"/>
              </a:rPr>
              <a:t>（</a:t>
            </a:r>
            <a:r>
              <a:rPr lang="en-US" altLang="zh-CN">
                <a:solidFill>
                  <a:srgbClr val="FFFFFF"/>
                </a:solidFill>
                <a:latin typeface="+mj-lt"/>
                <a:ea typeface="+mj-ea"/>
                <a:cs typeface="+mj-cs"/>
              </a:rPr>
              <a:t>2</a:t>
            </a:r>
            <a:r>
              <a:rPr lang="zh-CN" altLang="en-US">
                <a:solidFill>
                  <a:srgbClr val="FFFFFF"/>
                </a:solidFill>
                <a:latin typeface="+mj-lt"/>
                <a:ea typeface="+mj-ea"/>
                <a:cs typeface="+mj-cs"/>
              </a:rPr>
              <a:t>）</a:t>
            </a:r>
            <a:r>
              <a:rPr lang="en-US" altLang="zh-CN">
                <a:solidFill>
                  <a:srgbClr val="FFFFFF"/>
                </a:solidFill>
                <a:latin typeface="+mj-lt"/>
                <a:ea typeface="+mj-ea"/>
                <a:cs typeface="+mj-cs"/>
              </a:rPr>
              <a:t>CASE</a:t>
            </a:r>
            <a:r>
              <a:rPr lang="zh-CN" altLang="en-US">
                <a:solidFill>
                  <a:srgbClr val="FFFFFF"/>
                </a:solidFill>
                <a:latin typeface="+mj-lt"/>
                <a:ea typeface="+mj-ea"/>
                <a:cs typeface="+mj-cs"/>
              </a:rPr>
              <a:t>语句</a:t>
            </a:r>
          </a:p>
        </p:txBody>
      </p:sp>
      <p:sp>
        <p:nvSpPr>
          <p:cNvPr id="47108"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lnSpc>
                <a:spcPct val="90000"/>
              </a:lnSpc>
              <a:buClr>
                <a:srgbClr val="020202"/>
              </a:buClr>
              <a:buSzPct val="75000"/>
            </a:pPr>
            <a:r>
              <a:rPr lang="zh-CN" altLang="en-US" sz="1400">
                <a:solidFill>
                  <a:srgbClr val="000000"/>
                </a:solidFill>
                <a:latin typeface="+mn-lt"/>
                <a:ea typeface="+mn-ea"/>
                <a:cs typeface="+mn-cs"/>
              </a:rPr>
              <a:t>基本语法</a:t>
            </a:r>
          </a:p>
          <a:p>
            <a:pPr lvl="1" eaLnBrk="1" hangingPunct="1">
              <a:lnSpc>
                <a:spcPct val="90000"/>
              </a:lnSpc>
              <a:buSzPct val="75000"/>
            </a:pPr>
            <a:r>
              <a:rPr lang="en-US" altLang="zh-CN" sz="1400">
                <a:solidFill>
                  <a:srgbClr val="000000"/>
                </a:solidFill>
                <a:latin typeface="+mn-lt"/>
                <a:ea typeface="华文仿宋" panose="02010600040101010101" pitchFamily="2" charset="-122"/>
              </a:rPr>
              <a:t>CASE</a:t>
            </a:r>
          </a:p>
          <a:p>
            <a:pPr lvl="1" eaLnBrk="1" hangingPunct="1">
              <a:lnSpc>
                <a:spcPct val="90000"/>
              </a:lnSpc>
              <a:buSzPct val="75000"/>
            </a:pPr>
            <a:r>
              <a:rPr lang="en-US" altLang="zh-CN" sz="1400">
                <a:solidFill>
                  <a:srgbClr val="000000"/>
                </a:solidFill>
                <a:latin typeface="+mn-lt"/>
                <a:ea typeface="华文仿宋" panose="02010600040101010101" pitchFamily="2" charset="-122"/>
              </a:rPr>
              <a:t>      WHEN condition1 THEN statements1;</a:t>
            </a:r>
          </a:p>
          <a:p>
            <a:pPr lvl="1" eaLnBrk="1" hangingPunct="1">
              <a:lnSpc>
                <a:spcPct val="90000"/>
              </a:lnSpc>
              <a:buSzPct val="75000"/>
            </a:pPr>
            <a:r>
              <a:rPr lang="en-US" altLang="zh-CN" sz="1400">
                <a:solidFill>
                  <a:srgbClr val="000000"/>
                </a:solidFill>
                <a:latin typeface="+mn-lt"/>
                <a:ea typeface="华文仿宋" panose="02010600040101010101" pitchFamily="2" charset="-122"/>
              </a:rPr>
              <a:t>      WHEN condition2 THEN statements2;</a:t>
            </a:r>
          </a:p>
          <a:p>
            <a:pPr lvl="1" eaLnBrk="1" hangingPunct="1">
              <a:lnSpc>
                <a:spcPct val="90000"/>
              </a:lnSpc>
              <a:buSzPct val="75000"/>
            </a:pPr>
            <a:r>
              <a:rPr lang="en-US" altLang="zh-CN" sz="1400">
                <a:solidFill>
                  <a:srgbClr val="000000"/>
                </a:solidFill>
                <a:latin typeface="+mn-lt"/>
                <a:ea typeface="华文仿宋" panose="02010600040101010101" pitchFamily="2" charset="-122"/>
              </a:rPr>
              <a:t>      </a:t>
            </a:r>
            <a:r>
              <a:rPr lang="en-GB" altLang="zh-CN" sz="1400">
                <a:solidFill>
                  <a:srgbClr val="000000"/>
                </a:solidFill>
                <a:latin typeface="华文仿宋" panose="02010600040101010101" pitchFamily="2" charset="-122"/>
                <a:ea typeface="华文仿宋" panose="02010600040101010101" pitchFamily="2" charset="-122"/>
              </a:rPr>
              <a:t>……</a:t>
            </a:r>
            <a:endParaRPr lang="en-US" altLang="zh-CN" sz="1400">
              <a:solidFill>
                <a:srgbClr val="000000"/>
              </a:solidFill>
              <a:latin typeface="+mn-lt"/>
              <a:ea typeface="华文仿宋" panose="02010600040101010101" pitchFamily="2" charset="-122"/>
            </a:endParaRPr>
          </a:p>
          <a:p>
            <a:pPr lvl="1" eaLnBrk="1" hangingPunct="1">
              <a:lnSpc>
                <a:spcPct val="90000"/>
              </a:lnSpc>
              <a:buSzPct val="75000"/>
            </a:pPr>
            <a:r>
              <a:rPr lang="en-US" altLang="zh-CN" sz="1400">
                <a:solidFill>
                  <a:srgbClr val="000000"/>
                </a:solidFill>
                <a:latin typeface="+mn-lt"/>
                <a:ea typeface="华文仿宋" panose="02010600040101010101" pitchFamily="2" charset="-122"/>
              </a:rPr>
              <a:t>      WHEN conditionn THEN statementsn;</a:t>
            </a:r>
          </a:p>
          <a:p>
            <a:pPr lvl="1" eaLnBrk="1" hangingPunct="1">
              <a:lnSpc>
                <a:spcPct val="90000"/>
              </a:lnSpc>
              <a:buSzPct val="75000"/>
            </a:pPr>
            <a:r>
              <a:rPr lang="en-US" altLang="zh-CN" sz="1400">
                <a:solidFill>
                  <a:srgbClr val="000000"/>
                </a:solidFill>
                <a:latin typeface="+mn-lt"/>
                <a:ea typeface="华文仿宋" panose="02010600040101010101" pitchFamily="2" charset="-122"/>
              </a:rPr>
              <a:t>      [ELSE    else_statements;]</a:t>
            </a:r>
          </a:p>
          <a:p>
            <a:pPr lvl="1" eaLnBrk="1" hangingPunct="1">
              <a:lnSpc>
                <a:spcPct val="90000"/>
              </a:lnSpc>
              <a:buSzPct val="75000"/>
            </a:pPr>
            <a:r>
              <a:rPr lang="en-US" altLang="zh-CN" sz="1400">
                <a:solidFill>
                  <a:srgbClr val="000000"/>
                </a:solidFill>
                <a:latin typeface="+mn-lt"/>
                <a:ea typeface="华文仿宋" panose="02010600040101010101" pitchFamily="2" charset="-122"/>
              </a:rPr>
              <a:t>END CASE;</a:t>
            </a:r>
          </a:p>
          <a:p>
            <a:pPr eaLnBrk="1" hangingPunct="1">
              <a:lnSpc>
                <a:spcPct val="90000"/>
              </a:lnSpc>
              <a:buSzPct val="75000"/>
            </a:pPr>
            <a:r>
              <a:rPr lang="zh-CN" altLang="en-US" sz="1400">
                <a:solidFill>
                  <a:srgbClr val="000000"/>
                </a:solidFill>
                <a:latin typeface="+mn-lt"/>
                <a:ea typeface="+mn-ea"/>
                <a:cs typeface="+mn-cs"/>
              </a:rPr>
              <a:t>注意 </a:t>
            </a:r>
          </a:p>
          <a:p>
            <a:pPr lvl="1" eaLnBrk="1" hangingPunct="1">
              <a:lnSpc>
                <a:spcPct val="90000"/>
              </a:lnSpc>
              <a:buSzPct val="75000"/>
            </a:pPr>
            <a:r>
              <a:rPr lang="zh-CN" altLang="en-US" sz="1400">
                <a:solidFill>
                  <a:srgbClr val="000000"/>
                </a:solidFill>
                <a:latin typeface="+mn-lt"/>
                <a:ea typeface="华文仿宋" panose="02010600040101010101" pitchFamily="2" charset="-122"/>
              </a:rPr>
              <a:t>在</a:t>
            </a:r>
            <a:r>
              <a:rPr lang="en-US" altLang="zh-CN" sz="1400">
                <a:solidFill>
                  <a:srgbClr val="000000"/>
                </a:solidFill>
                <a:latin typeface="+mn-lt"/>
                <a:ea typeface="华文仿宋" panose="02010600040101010101" pitchFamily="2" charset="-122"/>
              </a:rPr>
              <a:t>CASE</a:t>
            </a:r>
            <a:r>
              <a:rPr lang="zh-CN" altLang="en-US" sz="1400">
                <a:solidFill>
                  <a:srgbClr val="000000"/>
                </a:solidFill>
                <a:latin typeface="+mn-lt"/>
                <a:ea typeface="华文仿宋" panose="02010600040101010101" pitchFamily="2" charset="-122"/>
              </a:rPr>
              <a:t>语句中，当第一个</a:t>
            </a:r>
            <a:r>
              <a:rPr lang="en-US" altLang="zh-CN" sz="1400">
                <a:solidFill>
                  <a:srgbClr val="000000"/>
                </a:solidFill>
                <a:latin typeface="+mn-lt"/>
                <a:ea typeface="华文仿宋" panose="02010600040101010101" pitchFamily="2" charset="-122"/>
              </a:rPr>
              <a:t>WHEN</a:t>
            </a:r>
            <a:r>
              <a:rPr lang="zh-CN" altLang="en-US" sz="1400">
                <a:solidFill>
                  <a:srgbClr val="000000"/>
                </a:solidFill>
                <a:latin typeface="+mn-lt"/>
                <a:ea typeface="华文仿宋" panose="02010600040101010101" pitchFamily="2" charset="-122"/>
              </a:rPr>
              <a:t>条件为真时，执行其后的操作，操作完后结束</a:t>
            </a:r>
            <a:r>
              <a:rPr lang="en-US" altLang="zh-CN" sz="1400">
                <a:solidFill>
                  <a:srgbClr val="000000"/>
                </a:solidFill>
                <a:latin typeface="+mn-lt"/>
                <a:ea typeface="华文仿宋" panose="02010600040101010101" pitchFamily="2" charset="-122"/>
              </a:rPr>
              <a:t>CASE</a:t>
            </a:r>
            <a:r>
              <a:rPr lang="zh-CN" altLang="en-US" sz="1400">
                <a:solidFill>
                  <a:srgbClr val="000000"/>
                </a:solidFill>
                <a:latin typeface="+mn-lt"/>
                <a:ea typeface="华文仿宋" panose="02010600040101010101" pitchFamily="2" charset="-122"/>
              </a:rPr>
              <a:t>语句。其他的</a:t>
            </a:r>
            <a:r>
              <a:rPr lang="en-US" altLang="zh-CN" sz="1400">
                <a:solidFill>
                  <a:srgbClr val="000000"/>
                </a:solidFill>
                <a:latin typeface="+mn-lt"/>
                <a:ea typeface="华文仿宋" panose="02010600040101010101" pitchFamily="2" charset="-122"/>
              </a:rPr>
              <a:t>WHEN</a:t>
            </a:r>
            <a:r>
              <a:rPr lang="zh-CN" altLang="en-US" sz="1400">
                <a:solidFill>
                  <a:srgbClr val="000000"/>
                </a:solidFill>
                <a:latin typeface="+mn-lt"/>
                <a:ea typeface="华文仿宋" panose="02010600040101010101" pitchFamily="2" charset="-122"/>
              </a:rPr>
              <a:t>条件不再判断，其后的操作也不执行。 </a:t>
            </a:r>
          </a:p>
        </p:txBody>
      </p:sp>
      <p:sp>
        <p:nvSpPr>
          <p:cNvPr id="47106"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44</a:t>
            </a:fld>
            <a:endParaRPr lang="en-US" altLang="zh-CN">
              <a:solidFill>
                <a:srgbClr val="898989"/>
              </a:solidFill>
              <a:ea typeface="宋体" panose="02010600030101010101" pitchFamily="2"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8131"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endParaRPr lang="zh-CN" altLang="zh-CN">
              <a:solidFill>
                <a:srgbClr val="FFFFFF"/>
              </a:solidFill>
              <a:latin typeface="+mj-lt"/>
              <a:ea typeface="+mj-ea"/>
              <a:cs typeface="+mj-cs"/>
            </a:endParaRPr>
          </a:p>
        </p:txBody>
      </p:sp>
      <p:sp>
        <p:nvSpPr>
          <p:cNvPr id="48132"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buSzPct val="75000"/>
            </a:pPr>
            <a:r>
              <a:rPr lang="zh-CN" altLang="en-US" sz="2000">
                <a:solidFill>
                  <a:srgbClr val="000000"/>
                </a:solidFill>
                <a:latin typeface="+mn-lt"/>
                <a:ea typeface="+mn-ea"/>
                <a:cs typeface="+mn-cs"/>
              </a:rPr>
              <a:t>根据输入的员工号，修改该员工工资。如果该员工工资低于</a:t>
            </a:r>
            <a:r>
              <a:rPr lang="en-US" altLang="zh-CN" sz="2000">
                <a:solidFill>
                  <a:srgbClr val="000000"/>
                </a:solidFill>
                <a:latin typeface="+mn-lt"/>
                <a:ea typeface="+mn-ea"/>
                <a:cs typeface="+mn-cs"/>
              </a:rPr>
              <a:t>1000</a:t>
            </a:r>
            <a:r>
              <a:rPr lang="zh-CN" altLang="en-US" sz="2000">
                <a:solidFill>
                  <a:srgbClr val="000000"/>
                </a:solidFill>
                <a:latin typeface="+mn-lt"/>
                <a:ea typeface="+mn-ea"/>
                <a:cs typeface="+mn-cs"/>
              </a:rPr>
              <a:t>，则工资增加</a:t>
            </a:r>
            <a:r>
              <a:rPr lang="en-US" altLang="zh-CN" sz="2000">
                <a:solidFill>
                  <a:srgbClr val="000000"/>
                </a:solidFill>
                <a:latin typeface="+mn-lt"/>
                <a:ea typeface="+mn-ea"/>
                <a:cs typeface="+mn-cs"/>
              </a:rPr>
              <a:t>200</a:t>
            </a:r>
            <a:r>
              <a:rPr lang="zh-CN" altLang="en-US" sz="2000">
                <a:solidFill>
                  <a:srgbClr val="000000"/>
                </a:solidFill>
                <a:latin typeface="+mn-lt"/>
                <a:ea typeface="+mn-ea"/>
                <a:cs typeface="+mn-cs"/>
              </a:rPr>
              <a:t>；如果工资在</a:t>
            </a:r>
            <a:r>
              <a:rPr lang="en-US" altLang="zh-CN" sz="2000">
                <a:solidFill>
                  <a:srgbClr val="000000"/>
                </a:solidFill>
                <a:latin typeface="+mn-lt"/>
                <a:ea typeface="+mn-ea"/>
                <a:cs typeface="+mn-cs"/>
              </a:rPr>
              <a:t>1000</a:t>
            </a:r>
            <a:r>
              <a:rPr lang="zh-CN" altLang="en-US" sz="2000">
                <a:solidFill>
                  <a:srgbClr val="000000"/>
                </a:solidFill>
                <a:latin typeface="+mn-lt"/>
                <a:ea typeface="+mn-ea"/>
                <a:cs typeface="+mn-cs"/>
              </a:rPr>
              <a:t>～</a:t>
            </a:r>
            <a:r>
              <a:rPr lang="en-US" altLang="zh-CN" sz="2000">
                <a:solidFill>
                  <a:srgbClr val="000000"/>
                </a:solidFill>
                <a:latin typeface="+mn-lt"/>
                <a:ea typeface="+mn-ea"/>
                <a:cs typeface="+mn-cs"/>
              </a:rPr>
              <a:t>2000</a:t>
            </a:r>
            <a:r>
              <a:rPr lang="zh-CN" altLang="en-US" sz="2000">
                <a:solidFill>
                  <a:srgbClr val="000000"/>
                </a:solidFill>
                <a:latin typeface="+mn-lt"/>
                <a:ea typeface="+mn-ea"/>
                <a:cs typeface="+mn-cs"/>
              </a:rPr>
              <a:t>之间，则增加</a:t>
            </a:r>
            <a:r>
              <a:rPr lang="en-US" altLang="zh-CN" sz="2000">
                <a:solidFill>
                  <a:srgbClr val="000000"/>
                </a:solidFill>
                <a:latin typeface="+mn-lt"/>
                <a:ea typeface="+mn-ea"/>
                <a:cs typeface="+mn-cs"/>
              </a:rPr>
              <a:t>150</a:t>
            </a:r>
            <a:r>
              <a:rPr lang="zh-CN" altLang="en-US" sz="2000">
                <a:solidFill>
                  <a:srgbClr val="000000"/>
                </a:solidFill>
                <a:latin typeface="+mn-lt"/>
                <a:ea typeface="+mn-ea"/>
                <a:cs typeface="+mn-cs"/>
              </a:rPr>
              <a:t>；如果工资在</a:t>
            </a:r>
            <a:r>
              <a:rPr lang="en-US" altLang="zh-CN" sz="2000">
                <a:solidFill>
                  <a:srgbClr val="000000"/>
                </a:solidFill>
                <a:latin typeface="+mn-lt"/>
                <a:ea typeface="+mn-ea"/>
                <a:cs typeface="+mn-cs"/>
              </a:rPr>
              <a:t>2000</a:t>
            </a:r>
            <a:r>
              <a:rPr lang="zh-CN" altLang="en-US" sz="2000">
                <a:solidFill>
                  <a:srgbClr val="000000"/>
                </a:solidFill>
                <a:latin typeface="+mn-lt"/>
                <a:ea typeface="+mn-ea"/>
                <a:cs typeface="+mn-cs"/>
              </a:rPr>
              <a:t>～</a:t>
            </a:r>
            <a:r>
              <a:rPr lang="en-US" altLang="zh-CN" sz="2000">
                <a:solidFill>
                  <a:srgbClr val="000000"/>
                </a:solidFill>
                <a:latin typeface="+mn-lt"/>
                <a:ea typeface="+mn-ea"/>
                <a:cs typeface="+mn-cs"/>
              </a:rPr>
              <a:t>3000</a:t>
            </a:r>
            <a:r>
              <a:rPr lang="zh-CN" altLang="en-US" sz="2000">
                <a:solidFill>
                  <a:srgbClr val="000000"/>
                </a:solidFill>
                <a:latin typeface="+mn-lt"/>
                <a:ea typeface="+mn-ea"/>
                <a:cs typeface="+mn-cs"/>
              </a:rPr>
              <a:t>之间，则增加</a:t>
            </a:r>
            <a:r>
              <a:rPr lang="en-US" altLang="zh-CN" sz="2000">
                <a:solidFill>
                  <a:srgbClr val="000000"/>
                </a:solidFill>
                <a:latin typeface="+mn-lt"/>
                <a:ea typeface="+mn-ea"/>
                <a:cs typeface="+mn-cs"/>
              </a:rPr>
              <a:t>100</a:t>
            </a:r>
            <a:r>
              <a:rPr lang="zh-CN" altLang="en-US" sz="2000">
                <a:solidFill>
                  <a:srgbClr val="000000"/>
                </a:solidFill>
                <a:latin typeface="+mn-lt"/>
                <a:ea typeface="+mn-ea"/>
                <a:cs typeface="+mn-cs"/>
              </a:rPr>
              <a:t>；否则增加</a:t>
            </a:r>
            <a:r>
              <a:rPr lang="en-US" altLang="zh-CN" sz="2000">
                <a:solidFill>
                  <a:srgbClr val="000000"/>
                </a:solidFill>
                <a:latin typeface="+mn-lt"/>
                <a:ea typeface="+mn-ea"/>
                <a:cs typeface="+mn-cs"/>
              </a:rPr>
              <a:t>50</a:t>
            </a:r>
            <a:r>
              <a:rPr lang="zh-CN" altLang="en-US" sz="2000">
                <a:solidFill>
                  <a:srgbClr val="000000"/>
                </a:solidFill>
                <a:latin typeface="+mn-lt"/>
                <a:ea typeface="+mn-ea"/>
                <a:cs typeface="+mn-cs"/>
              </a:rPr>
              <a:t>。 </a:t>
            </a:r>
          </a:p>
        </p:txBody>
      </p:sp>
      <p:sp>
        <p:nvSpPr>
          <p:cNvPr id="48130"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45</a:t>
            </a:fld>
            <a:endParaRPr lang="en-US" altLang="zh-CN">
              <a:solidFill>
                <a:srgbClr val="898989"/>
              </a:solidFill>
              <a:ea typeface="宋体" panose="02010600030101010101" pitchFamily="2"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7" name="Picture 76">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9155" name="Rectangle 2"/>
          <p:cNvSpPr>
            <a:spLocks noGrp="1"/>
          </p:cNvSpPr>
          <p:nvPr>
            <p:ph type="title"/>
          </p:nvPr>
        </p:nvSpPr>
        <p:spPr>
          <a:xfrm>
            <a:off x="640079" y="2053641"/>
            <a:ext cx="3669161" cy="2760098"/>
          </a:xfrm>
        </p:spPr>
        <p:txBody>
          <a:bodyPr vert="horz" lIns="121920" tIns="60960" rIns="121920" bIns="60960">
            <a:normAutofit/>
          </a:bodyPr>
          <a:lstStyle/>
          <a:p>
            <a:pPr eaLnBrk="1" hangingPunct="1"/>
            <a:endParaRPr lang="zh-CN" altLang="zh-CN">
              <a:solidFill>
                <a:srgbClr val="FFFFFF"/>
              </a:solidFill>
              <a:latin typeface="+mj-lt"/>
              <a:ea typeface="+mj-ea"/>
              <a:cs typeface="+mj-cs"/>
            </a:endParaRPr>
          </a:p>
        </p:txBody>
      </p:sp>
      <p:sp>
        <p:nvSpPr>
          <p:cNvPr id="49156" name="Rectangle 3"/>
          <p:cNvSpPr>
            <a:spLocks noGrp="1"/>
          </p:cNvSpPr>
          <p:nvPr>
            <p:ph idx="1"/>
          </p:nvPr>
        </p:nvSpPr>
        <p:spPr>
          <a:xfrm>
            <a:off x="6090574" y="801866"/>
            <a:ext cx="5306084" cy="5230634"/>
          </a:xfrm>
        </p:spPr>
        <p:txBody>
          <a:bodyPr vert="horz" lIns="121920" tIns="60960" rIns="121920" bIns="60960" anchor="ctr">
            <a:normAutofit/>
          </a:bodyPr>
          <a:lstStyle/>
          <a:p>
            <a:pPr eaLnBrk="1" hangingPunct="1">
              <a:lnSpc>
                <a:spcPct val="90000"/>
              </a:lnSpc>
              <a:buSzPct val="75000"/>
            </a:pPr>
            <a:r>
              <a:rPr lang="en-US" altLang="zh-CN" sz="1500">
                <a:solidFill>
                  <a:srgbClr val="000000"/>
                </a:solidFill>
                <a:latin typeface="+mn-lt"/>
                <a:ea typeface="+mn-ea"/>
                <a:cs typeface="+mn-cs"/>
              </a:rPr>
              <a:t>DECLARE</a:t>
            </a:r>
          </a:p>
          <a:p>
            <a:pPr eaLnBrk="1" hangingPunct="1">
              <a:lnSpc>
                <a:spcPct val="90000"/>
              </a:lnSpc>
              <a:buSzPct val="75000"/>
            </a:pPr>
            <a:r>
              <a:rPr lang="en-US" altLang="zh-CN" sz="1500">
                <a:solidFill>
                  <a:srgbClr val="000000"/>
                </a:solidFill>
                <a:latin typeface="+mn-lt"/>
                <a:ea typeface="+mn-ea"/>
                <a:cs typeface="+mn-cs"/>
              </a:rPr>
              <a:t>  v_sal employees.salary%type;</a:t>
            </a:r>
          </a:p>
          <a:p>
            <a:pPr eaLnBrk="1" hangingPunct="1">
              <a:lnSpc>
                <a:spcPct val="90000"/>
              </a:lnSpc>
              <a:buSzPct val="75000"/>
            </a:pPr>
            <a:r>
              <a:rPr lang="en-US" altLang="zh-CN" sz="1500">
                <a:solidFill>
                  <a:srgbClr val="000000"/>
                </a:solidFill>
                <a:latin typeface="+mn-lt"/>
                <a:ea typeface="+mn-ea"/>
                <a:cs typeface="+mn-cs"/>
              </a:rPr>
              <a:t>  v_increment NUMBER(4);</a:t>
            </a:r>
          </a:p>
          <a:p>
            <a:pPr eaLnBrk="1" hangingPunct="1">
              <a:lnSpc>
                <a:spcPct val="90000"/>
              </a:lnSpc>
              <a:buSzPct val="75000"/>
            </a:pPr>
            <a:r>
              <a:rPr lang="en-US" altLang="zh-CN" sz="1500">
                <a:solidFill>
                  <a:srgbClr val="000000"/>
                </a:solidFill>
                <a:latin typeface="+mn-lt"/>
                <a:ea typeface="+mn-ea"/>
                <a:cs typeface="+mn-cs"/>
              </a:rPr>
              <a:t>  v_empno  employees.employee_id%type;</a:t>
            </a:r>
          </a:p>
          <a:p>
            <a:pPr eaLnBrk="1" hangingPunct="1">
              <a:lnSpc>
                <a:spcPct val="90000"/>
              </a:lnSpc>
              <a:buSzPct val="75000"/>
            </a:pPr>
            <a:r>
              <a:rPr lang="en-US" altLang="zh-CN" sz="1500">
                <a:solidFill>
                  <a:srgbClr val="000000"/>
                </a:solidFill>
                <a:latin typeface="+mn-lt"/>
                <a:ea typeface="+mn-ea"/>
                <a:cs typeface="+mn-cs"/>
              </a:rPr>
              <a:t>BEGIN</a:t>
            </a:r>
          </a:p>
          <a:p>
            <a:pPr eaLnBrk="1" hangingPunct="1">
              <a:lnSpc>
                <a:spcPct val="90000"/>
              </a:lnSpc>
              <a:buSzPct val="75000"/>
            </a:pPr>
            <a:r>
              <a:rPr lang="en-US" altLang="zh-CN" sz="1500">
                <a:solidFill>
                  <a:srgbClr val="000000"/>
                </a:solidFill>
                <a:latin typeface="+mn-lt"/>
                <a:ea typeface="+mn-ea"/>
                <a:cs typeface="+mn-cs"/>
              </a:rPr>
              <a:t>  v_empno:=&amp;x;</a:t>
            </a:r>
          </a:p>
          <a:p>
            <a:pPr eaLnBrk="1" hangingPunct="1">
              <a:lnSpc>
                <a:spcPct val="90000"/>
              </a:lnSpc>
              <a:buSzPct val="75000"/>
            </a:pPr>
            <a:r>
              <a:rPr lang="en-US" altLang="zh-CN" sz="1500">
                <a:solidFill>
                  <a:srgbClr val="000000"/>
                </a:solidFill>
                <a:latin typeface="+mn-lt"/>
                <a:ea typeface="+mn-ea"/>
                <a:cs typeface="+mn-cs"/>
              </a:rPr>
              <a:t>  SELECT salary INTO v_sal FROM employees </a:t>
            </a:r>
          </a:p>
          <a:p>
            <a:pPr eaLnBrk="1" hangingPunct="1">
              <a:lnSpc>
                <a:spcPct val="90000"/>
              </a:lnSpc>
              <a:buSzPct val="75000"/>
            </a:pPr>
            <a:r>
              <a:rPr lang="en-US" altLang="zh-CN" sz="1500">
                <a:solidFill>
                  <a:srgbClr val="000000"/>
                </a:solidFill>
                <a:latin typeface="+mn-lt"/>
                <a:ea typeface="+mn-ea"/>
                <a:cs typeface="+mn-cs"/>
              </a:rPr>
              <a:t>  WHERE employee_id=v_empno;</a:t>
            </a:r>
          </a:p>
          <a:p>
            <a:pPr eaLnBrk="1" hangingPunct="1">
              <a:lnSpc>
                <a:spcPct val="90000"/>
              </a:lnSpc>
              <a:buSzPct val="75000"/>
            </a:pPr>
            <a:r>
              <a:rPr lang="en-US" altLang="zh-CN" sz="1500">
                <a:solidFill>
                  <a:srgbClr val="000000"/>
                </a:solidFill>
                <a:latin typeface="+mn-lt"/>
                <a:ea typeface="+mn-ea"/>
                <a:cs typeface="+mn-cs"/>
              </a:rPr>
              <a:t>  CASE   </a:t>
            </a:r>
          </a:p>
          <a:p>
            <a:pPr eaLnBrk="1" hangingPunct="1">
              <a:lnSpc>
                <a:spcPct val="90000"/>
              </a:lnSpc>
              <a:buSzPct val="75000"/>
            </a:pPr>
            <a:r>
              <a:rPr lang="en-US" altLang="zh-CN" sz="1500">
                <a:solidFill>
                  <a:srgbClr val="000000"/>
                </a:solidFill>
                <a:latin typeface="+mn-lt"/>
                <a:ea typeface="+mn-ea"/>
                <a:cs typeface="+mn-cs"/>
              </a:rPr>
              <a:t>     WHEN v_sal&lt;1000 THEN v_increment:=200;</a:t>
            </a:r>
          </a:p>
          <a:p>
            <a:pPr eaLnBrk="1" hangingPunct="1">
              <a:lnSpc>
                <a:spcPct val="90000"/>
              </a:lnSpc>
              <a:buSzPct val="75000"/>
            </a:pPr>
            <a:r>
              <a:rPr lang="en-US" altLang="zh-CN" sz="1500">
                <a:solidFill>
                  <a:srgbClr val="000000"/>
                </a:solidFill>
                <a:latin typeface="+mn-lt"/>
                <a:ea typeface="+mn-ea"/>
                <a:cs typeface="+mn-cs"/>
              </a:rPr>
              <a:t>     WHEN v_sal&lt;2000 THEN v_increment:=150;</a:t>
            </a:r>
          </a:p>
          <a:p>
            <a:pPr eaLnBrk="1" hangingPunct="1">
              <a:lnSpc>
                <a:spcPct val="90000"/>
              </a:lnSpc>
              <a:buSzPct val="75000"/>
            </a:pPr>
            <a:r>
              <a:rPr lang="en-US" altLang="zh-CN" sz="1500">
                <a:solidFill>
                  <a:srgbClr val="000000"/>
                </a:solidFill>
                <a:latin typeface="+mn-lt"/>
                <a:ea typeface="+mn-ea"/>
                <a:cs typeface="+mn-cs"/>
              </a:rPr>
              <a:t>     WHEN v_sal&lt;3000 THEN v_increment:=100;</a:t>
            </a:r>
          </a:p>
          <a:p>
            <a:pPr eaLnBrk="1" hangingPunct="1">
              <a:lnSpc>
                <a:spcPct val="90000"/>
              </a:lnSpc>
              <a:buSzPct val="75000"/>
            </a:pPr>
            <a:r>
              <a:rPr lang="en-US" altLang="zh-CN" sz="1500">
                <a:solidFill>
                  <a:srgbClr val="000000"/>
                </a:solidFill>
                <a:latin typeface="+mn-lt"/>
                <a:ea typeface="+mn-ea"/>
                <a:cs typeface="+mn-cs"/>
              </a:rPr>
              <a:t>     ELSE  v_increment:=50;</a:t>
            </a:r>
          </a:p>
          <a:p>
            <a:pPr eaLnBrk="1" hangingPunct="1">
              <a:lnSpc>
                <a:spcPct val="90000"/>
              </a:lnSpc>
              <a:buSzPct val="75000"/>
            </a:pPr>
            <a:r>
              <a:rPr lang="en-US" altLang="zh-CN" sz="1500">
                <a:solidFill>
                  <a:srgbClr val="000000"/>
                </a:solidFill>
                <a:latin typeface="+mn-lt"/>
                <a:ea typeface="+mn-ea"/>
                <a:cs typeface="+mn-cs"/>
              </a:rPr>
              <a:t>  END CASE;</a:t>
            </a:r>
          </a:p>
          <a:p>
            <a:pPr eaLnBrk="1" hangingPunct="1">
              <a:lnSpc>
                <a:spcPct val="90000"/>
              </a:lnSpc>
              <a:buSzPct val="75000"/>
            </a:pPr>
            <a:r>
              <a:rPr lang="en-US" altLang="zh-CN" sz="1500">
                <a:solidFill>
                  <a:srgbClr val="000000"/>
                </a:solidFill>
                <a:latin typeface="+mn-lt"/>
                <a:ea typeface="+mn-ea"/>
                <a:cs typeface="+mn-cs"/>
              </a:rPr>
              <a:t>  UPDATE employees SET salary=salary+v_increment </a:t>
            </a:r>
          </a:p>
          <a:p>
            <a:pPr eaLnBrk="1" hangingPunct="1">
              <a:lnSpc>
                <a:spcPct val="90000"/>
              </a:lnSpc>
              <a:buSzPct val="75000"/>
            </a:pPr>
            <a:r>
              <a:rPr lang="en-US" altLang="zh-CN" sz="1500">
                <a:solidFill>
                  <a:srgbClr val="000000"/>
                </a:solidFill>
                <a:latin typeface="+mn-lt"/>
                <a:ea typeface="+mn-ea"/>
                <a:cs typeface="+mn-cs"/>
              </a:rPr>
              <a:t>  WHERE employee_id=v_empno;</a:t>
            </a:r>
          </a:p>
          <a:p>
            <a:pPr eaLnBrk="1" hangingPunct="1">
              <a:lnSpc>
                <a:spcPct val="90000"/>
              </a:lnSpc>
              <a:buSzPct val="75000"/>
            </a:pPr>
            <a:r>
              <a:rPr lang="en-US" altLang="zh-CN" sz="1500">
                <a:solidFill>
                  <a:srgbClr val="000000"/>
                </a:solidFill>
                <a:latin typeface="+mn-lt"/>
                <a:ea typeface="+mn-ea"/>
                <a:cs typeface="+mn-cs"/>
              </a:rPr>
              <a:t>END; </a:t>
            </a:r>
          </a:p>
        </p:txBody>
      </p:sp>
      <p:sp>
        <p:nvSpPr>
          <p:cNvPr id="49154"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46</a:t>
            </a:fld>
            <a:endParaRPr lang="en-US" altLang="zh-CN">
              <a:solidFill>
                <a:srgbClr val="898989"/>
              </a:solidFill>
              <a:ea typeface="宋体" panose="02010600030101010101" pitchFamily="2"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0179"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endParaRPr lang="zh-CN" altLang="zh-CN">
              <a:solidFill>
                <a:srgbClr val="FFFFFF"/>
              </a:solidFill>
              <a:latin typeface="+mj-lt"/>
              <a:ea typeface="+mj-ea"/>
              <a:cs typeface="+mj-cs"/>
            </a:endParaRPr>
          </a:p>
        </p:txBody>
      </p:sp>
      <p:sp>
        <p:nvSpPr>
          <p:cNvPr id="50180" name="Rectangle 3"/>
          <p:cNvSpPr>
            <a:spLocks noGrp="1"/>
          </p:cNvSpPr>
          <p:nvPr>
            <p:ph idx="1"/>
          </p:nvPr>
        </p:nvSpPr>
        <p:spPr>
          <a:xfrm>
            <a:off x="1179226" y="3092970"/>
            <a:ext cx="9833548" cy="2693976"/>
          </a:xfrm>
        </p:spPr>
        <p:txBody>
          <a:bodyPr vert="horz" lIns="121920" tIns="60960" rIns="121920" bIns="60960">
            <a:normAutofit/>
          </a:bodyPr>
          <a:lstStyle/>
          <a:p>
            <a:pPr marL="609600" indent="-609600" eaLnBrk="1" hangingPunct="1">
              <a:lnSpc>
                <a:spcPct val="90000"/>
              </a:lnSpc>
              <a:buClr>
                <a:srgbClr val="020202"/>
              </a:buClr>
              <a:buSzPct val="75000"/>
            </a:pPr>
            <a:r>
              <a:rPr lang="zh-CN" altLang="en-US" sz="1900">
                <a:solidFill>
                  <a:srgbClr val="000000"/>
                </a:solidFill>
                <a:latin typeface="+mn-lt"/>
                <a:ea typeface="+mn-ea"/>
                <a:cs typeface="+mn-cs"/>
              </a:rPr>
              <a:t>等值比较的</a:t>
            </a:r>
            <a:r>
              <a:rPr lang="en-US" altLang="zh-CN" sz="1900">
                <a:solidFill>
                  <a:srgbClr val="000000"/>
                </a:solidFill>
                <a:latin typeface="+mn-lt"/>
                <a:ea typeface="+mn-ea"/>
                <a:cs typeface="+mn-cs"/>
              </a:rPr>
              <a:t>CASE</a:t>
            </a:r>
            <a:r>
              <a:rPr lang="zh-CN" altLang="en-US" sz="1900">
                <a:solidFill>
                  <a:srgbClr val="000000"/>
                </a:solidFill>
                <a:latin typeface="+mn-lt"/>
                <a:ea typeface="+mn-ea"/>
                <a:cs typeface="+mn-cs"/>
              </a:rPr>
              <a:t>语句基本语法</a:t>
            </a:r>
          </a:p>
          <a:p>
            <a:pPr marL="990600" lvl="1" indent="-533400" eaLnBrk="1" hangingPunct="1">
              <a:lnSpc>
                <a:spcPct val="90000"/>
              </a:lnSpc>
              <a:buSzPct val="75000"/>
            </a:pPr>
            <a:r>
              <a:rPr lang="en-US" altLang="zh-CN" sz="1900" b="0">
                <a:solidFill>
                  <a:srgbClr val="000000"/>
                </a:solidFill>
                <a:latin typeface="+mn-lt"/>
                <a:ea typeface="华文仿宋" panose="02010600040101010101" pitchFamily="2" charset="-122"/>
              </a:rPr>
              <a:t>CASE test_value</a:t>
            </a:r>
          </a:p>
          <a:p>
            <a:pPr marL="990600" lvl="1" indent="-533400" eaLnBrk="1" hangingPunct="1">
              <a:lnSpc>
                <a:spcPct val="90000"/>
              </a:lnSpc>
              <a:buSzPct val="75000"/>
            </a:pPr>
            <a:r>
              <a:rPr lang="en-US" altLang="zh-CN" sz="1900" b="0">
                <a:solidFill>
                  <a:srgbClr val="000000"/>
                </a:solidFill>
                <a:latin typeface="+mn-lt"/>
                <a:ea typeface="华文仿宋" panose="02010600040101010101" pitchFamily="2" charset="-122"/>
              </a:rPr>
              <a:t>    WHEN value1 THEN statements1;</a:t>
            </a:r>
          </a:p>
          <a:p>
            <a:pPr marL="990600" lvl="1" indent="-533400" eaLnBrk="1" hangingPunct="1">
              <a:lnSpc>
                <a:spcPct val="90000"/>
              </a:lnSpc>
              <a:buSzPct val="75000"/>
            </a:pPr>
            <a:r>
              <a:rPr lang="en-US" altLang="zh-CN" sz="1900" b="0">
                <a:solidFill>
                  <a:srgbClr val="000000"/>
                </a:solidFill>
                <a:latin typeface="+mn-lt"/>
                <a:ea typeface="华文仿宋" panose="02010600040101010101" pitchFamily="2" charset="-122"/>
              </a:rPr>
              <a:t>    WHEN value2 THEN statements2;</a:t>
            </a:r>
          </a:p>
          <a:p>
            <a:pPr marL="990600" lvl="1" indent="-533400" eaLnBrk="1" hangingPunct="1">
              <a:lnSpc>
                <a:spcPct val="90000"/>
              </a:lnSpc>
              <a:buSzPct val="75000"/>
            </a:pPr>
            <a:r>
              <a:rPr lang="en-US" altLang="zh-CN" sz="1900" b="0">
                <a:solidFill>
                  <a:srgbClr val="000000"/>
                </a:solidFill>
                <a:latin typeface="+mn-lt"/>
                <a:ea typeface="华文仿宋" panose="02010600040101010101" pitchFamily="2" charset="-122"/>
              </a:rPr>
              <a:t>    </a:t>
            </a:r>
            <a:r>
              <a:rPr lang="en-GB" altLang="zh-CN" sz="1900" b="0">
                <a:solidFill>
                  <a:srgbClr val="000000"/>
                </a:solidFill>
                <a:latin typeface="华文仿宋" panose="02010600040101010101" pitchFamily="2" charset="-122"/>
                <a:ea typeface="华文仿宋" panose="02010600040101010101" pitchFamily="2" charset="-122"/>
              </a:rPr>
              <a:t>……</a:t>
            </a:r>
            <a:endParaRPr lang="en-US" altLang="zh-CN" sz="1900" b="0">
              <a:solidFill>
                <a:srgbClr val="000000"/>
              </a:solidFill>
              <a:latin typeface="+mn-lt"/>
              <a:ea typeface="华文仿宋" panose="02010600040101010101" pitchFamily="2" charset="-122"/>
            </a:endParaRPr>
          </a:p>
          <a:p>
            <a:pPr marL="990600" lvl="1" indent="-533400" eaLnBrk="1" hangingPunct="1">
              <a:lnSpc>
                <a:spcPct val="90000"/>
              </a:lnSpc>
              <a:buSzPct val="75000"/>
            </a:pPr>
            <a:r>
              <a:rPr lang="en-US" altLang="zh-CN" sz="1900" b="0">
                <a:solidFill>
                  <a:srgbClr val="000000"/>
                </a:solidFill>
                <a:latin typeface="+mn-lt"/>
                <a:ea typeface="华文仿宋" panose="02010600040101010101" pitchFamily="2" charset="-122"/>
              </a:rPr>
              <a:t>    WHEN valuen THEN statementsn;</a:t>
            </a:r>
          </a:p>
          <a:p>
            <a:pPr marL="990600" lvl="1" indent="-533400" eaLnBrk="1" hangingPunct="1">
              <a:lnSpc>
                <a:spcPct val="90000"/>
              </a:lnSpc>
              <a:buSzPct val="75000"/>
            </a:pPr>
            <a:r>
              <a:rPr lang="en-US" altLang="zh-CN" sz="1900" b="0">
                <a:solidFill>
                  <a:srgbClr val="000000"/>
                </a:solidFill>
                <a:latin typeface="+mn-lt"/>
                <a:ea typeface="华文仿宋" panose="02010600040101010101" pitchFamily="2" charset="-122"/>
              </a:rPr>
              <a:t>    [ELSE    else_ statements;]</a:t>
            </a:r>
          </a:p>
          <a:p>
            <a:pPr marL="990600" lvl="1" indent="-533400" eaLnBrk="1" hangingPunct="1">
              <a:lnSpc>
                <a:spcPct val="90000"/>
              </a:lnSpc>
              <a:buSzPct val="75000"/>
            </a:pPr>
            <a:r>
              <a:rPr lang="en-US" altLang="zh-CN" sz="1900" b="0">
                <a:solidFill>
                  <a:srgbClr val="000000"/>
                </a:solidFill>
                <a:latin typeface="+mn-lt"/>
                <a:ea typeface="华文仿宋" panose="02010600040101010101" pitchFamily="2" charset="-122"/>
              </a:rPr>
              <a:t>END CASE;</a:t>
            </a:r>
            <a:r>
              <a:rPr lang="en-US" altLang="zh-CN" sz="1900">
                <a:solidFill>
                  <a:srgbClr val="000000"/>
                </a:solidFill>
                <a:latin typeface="+mn-lt"/>
                <a:ea typeface="华文仿宋" panose="02010600040101010101" pitchFamily="2" charset="-122"/>
              </a:rPr>
              <a:t> </a:t>
            </a:r>
          </a:p>
        </p:txBody>
      </p:sp>
      <p:sp>
        <p:nvSpPr>
          <p:cNvPr id="50178"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47</a:t>
            </a:fld>
            <a:endParaRPr lang="en-US" altLang="zh-CN">
              <a:solidFill>
                <a:srgbClr val="898989"/>
              </a:solidFill>
              <a:ea typeface="宋体" panose="02010600030101010101" pitchFamily="2"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6" name="Picture 75">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1203" name="Rectangle 3"/>
          <p:cNvSpPr>
            <a:spLocks noGrp="1"/>
          </p:cNvSpPr>
          <p:nvPr>
            <p:ph idx="1"/>
          </p:nvPr>
        </p:nvSpPr>
        <p:spPr>
          <a:xfrm>
            <a:off x="6090574" y="801866"/>
            <a:ext cx="5306084" cy="5230634"/>
          </a:xfrm>
        </p:spPr>
        <p:txBody>
          <a:bodyPr vert="horz" lIns="121920" tIns="60960" rIns="121920" bIns="60960" anchor="ctr">
            <a:normAutofit/>
          </a:bodyPr>
          <a:lstStyle/>
          <a:p>
            <a:pPr eaLnBrk="1" hangingPunct="1">
              <a:lnSpc>
                <a:spcPct val="90000"/>
              </a:lnSpc>
              <a:buSzPct val="75000"/>
            </a:pPr>
            <a:r>
              <a:rPr lang="en-US" altLang="zh-CN" sz="1500">
                <a:solidFill>
                  <a:srgbClr val="000000"/>
                </a:solidFill>
                <a:latin typeface="+mn-lt"/>
                <a:ea typeface="+mn-ea"/>
                <a:cs typeface="+mn-cs"/>
              </a:rPr>
              <a:t>DECLARE</a:t>
            </a:r>
          </a:p>
          <a:p>
            <a:pPr eaLnBrk="1" hangingPunct="1">
              <a:lnSpc>
                <a:spcPct val="90000"/>
              </a:lnSpc>
              <a:buSzPct val="75000"/>
            </a:pPr>
            <a:r>
              <a:rPr lang="en-US" altLang="zh-CN" sz="1500">
                <a:solidFill>
                  <a:srgbClr val="000000"/>
                </a:solidFill>
                <a:latin typeface="+mn-lt"/>
                <a:ea typeface="+mn-ea"/>
                <a:cs typeface="+mn-cs"/>
              </a:rPr>
              <a:t>  v_deptno employees.department_id%type;</a:t>
            </a:r>
          </a:p>
          <a:p>
            <a:pPr eaLnBrk="1" hangingPunct="1">
              <a:lnSpc>
                <a:spcPct val="90000"/>
              </a:lnSpc>
              <a:buSzPct val="75000"/>
            </a:pPr>
            <a:r>
              <a:rPr lang="en-US" altLang="zh-CN" sz="1500">
                <a:solidFill>
                  <a:srgbClr val="000000"/>
                </a:solidFill>
                <a:latin typeface="+mn-lt"/>
                <a:ea typeface="+mn-ea"/>
                <a:cs typeface="+mn-cs"/>
              </a:rPr>
              <a:t>  v_increment NUMBER(4);</a:t>
            </a:r>
          </a:p>
          <a:p>
            <a:pPr eaLnBrk="1" hangingPunct="1">
              <a:lnSpc>
                <a:spcPct val="90000"/>
              </a:lnSpc>
              <a:buSzPct val="75000"/>
            </a:pPr>
            <a:r>
              <a:rPr lang="en-US" altLang="zh-CN" sz="1500">
                <a:solidFill>
                  <a:srgbClr val="000000"/>
                </a:solidFill>
                <a:latin typeface="+mn-lt"/>
                <a:ea typeface="+mn-ea"/>
                <a:cs typeface="+mn-cs"/>
              </a:rPr>
              <a:t>  v_empno  employees.employee_id%type;</a:t>
            </a:r>
          </a:p>
          <a:p>
            <a:pPr eaLnBrk="1" hangingPunct="1">
              <a:lnSpc>
                <a:spcPct val="90000"/>
              </a:lnSpc>
              <a:buSzPct val="75000"/>
            </a:pPr>
            <a:r>
              <a:rPr lang="en-US" altLang="zh-CN" sz="1500">
                <a:solidFill>
                  <a:srgbClr val="000000"/>
                </a:solidFill>
                <a:latin typeface="+mn-lt"/>
                <a:ea typeface="+mn-ea"/>
                <a:cs typeface="+mn-cs"/>
              </a:rPr>
              <a:t>BEGIN</a:t>
            </a:r>
          </a:p>
          <a:p>
            <a:pPr eaLnBrk="1" hangingPunct="1">
              <a:lnSpc>
                <a:spcPct val="90000"/>
              </a:lnSpc>
              <a:buSzPct val="75000"/>
            </a:pPr>
            <a:r>
              <a:rPr lang="en-US" altLang="zh-CN" sz="1500">
                <a:solidFill>
                  <a:srgbClr val="000000"/>
                </a:solidFill>
                <a:latin typeface="+mn-lt"/>
                <a:ea typeface="+mn-ea"/>
                <a:cs typeface="+mn-cs"/>
              </a:rPr>
              <a:t>  v_empno:=&amp;x;</a:t>
            </a:r>
          </a:p>
          <a:p>
            <a:pPr eaLnBrk="1" hangingPunct="1">
              <a:lnSpc>
                <a:spcPct val="90000"/>
              </a:lnSpc>
              <a:buSzPct val="75000"/>
            </a:pPr>
            <a:r>
              <a:rPr lang="en-US" altLang="zh-CN" sz="1500">
                <a:solidFill>
                  <a:srgbClr val="000000"/>
                </a:solidFill>
                <a:latin typeface="+mn-lt"/>
                <a:ea typeface="+mn-ea"/>
                <a:cs typeface="+mn-cs"/>
              </a:rPr>
              <a:t>  SELECT department_id INTO v_deptno FROM employees </a:t>
            </a:r>
          </a:p>
          <a:p>
            <a:pPr eaLnBrk="1" hangingPunct="1">
              <a:lnSpc>
                <a:spcPct val="90000"/>
              </a:lnSpc>
              <a:buSzPct val="75000"/>
            </a:pPr>
            <a:r>
              <a:rPr lang="en-US" altLang="zh-CN" sz="1500">
                <a:solidFill>
                  <a:srgbClr val="000000"/>
                </a:solidFill>
                <a:latin typeface="+mn-lt"/>
                <a:ea typeface="+mn-ea"/>
                <a:cs typeface="+mn-cs"/>
              </a:rPr>
              <a:t>  WHERE employee_id=v_empno;</a:t>
            </a:r>
          </a:p>
          <a:p>
            <a:pPr eaLnBrk="1" hangingPunct="1">
              <a:lnSpc>
                <a:spcPct val="90000"/>
              </a:lnSpc>
              <a:buSzPct val="75000"/>
            </a:pPr>
            <a:r>
              <a:rPr lang="en-US" altLang="zh-CN" sz="1500">
                <a:solidFill>
                  <a:srgbClr val="000000"/>
                </a:solidFill>
                <a:latin typeface="+mn-lt"/>
                <a:ea typeface="+mn-ea"/>
                <a:cs typeface="+mn-cs"/>
              </a:rPr>
              <a:t>  CASE v_deptno  </a:t>
            </a:r>
          </a:p>
          <a:p>
            <a:pPr eaLnBrk="1" hangingPunct="1">
              <a:lnSpc>
                <a:spcPct val="90000"/>
              </a:lnSpc>
              <a:buSzPct val="75000"/>
            </a:pPr>
            <a:r>
              <a:rPr lang="en-US" altLang="zh-CN" sz="1500">
                <a:solidFill>
                  <a:srgbClr val="000000"/>
                </a:solidFill>
                <a:latin typeface="+mn-lt"/>
                <a:ea typeface="+mn-ea"/>
                <a:cs typeface="+mn-cs"/>
              </a:rPr>
              <a:t>    WHEN 10 THEN v_increment:=100;</a:t>
            </a:r>
          </a:p>
          <a:p>
            <a:pPr eaLnBrk="1" hangingPunct="1">
              <a:lnSpc>
                <a:spcPct val="90000"/>
              </a:lnSpc>
              <a:buSzPct val="75000"/>
            </a:pPr>
            <a:r>
              <a:rPr lang="en-US" altLang="zh-CN" sz="1500">
                <a:solidFill>
                  <a:srgbClr val="000000"/>
                </a:solidFill>
                <a:latin typeface="+mn-lt"/>
                <a:ea typeface="+mn-ea"/>
                <a:cs typeface="+mn-cs"/>
              </a:rPr>
              <a:t>    WHEN 20 THEN v_increment:=150;</a:t>
            </a:r>
          </a:p>
          <a:p>
            <a:pPr eaLnBrk="1" hangingPunct="1">
              <a:lnSpc>
                <a:spcPct val="90000"/>
              </a:lnSpc>
              <a:buSzPct val="75000"/>
            </a:pPr>
            <a:r>
              <a:rPr lang="en-US" altLang="zh-CN" sz="1500">
                <a:solidFill>
                  <a:srgbClr val="000000"/>
                </a:solidFill>
                <a:latin typeface="+mn-lt"/>
                <a:ea typeface="+mn-ea"/>
                <a:cs typeface="+mn-cs"/>
              </a:rPr>
              <a:t>    WHEN 30 THEN v_increment:=200;</a:t>
            </a:r>
          </a:p>
          <a:p>
            <a:pPr eaLnBrk="1" hangingPunct="1">
              <a:lnSpc>
                <a:spcPct val="90000"/>
              </a:lnSpc>
              <a:buSzPct val="75000"/>
            </a:pPr>
            <a:r>
              <a:rPr lang="en-US" altLang="zh-CN" sz="1500">
                <a:solidFill>
                  <a:srgbClr val="000000"/>
                </a:solidFill>
                <a:latin typeface="+mn-lt"/>
                <a:ea typeface="+mn-ea"/>
                <a:cs typeface="+mn-cs"/>
              </a:rPr>
              <a:t>    ELSE  v_increment:=300;</a:t>
            </a:r>
          </a:p>
          <a:p>
            <a:pPr eaLnBrk="1" hangingPunct="1">
              <a:lnSpc>
                <a:spcPct val="90000"/>
              </a:lnSpc>
              <a:buSzPct val="75000"/>
            </a:pPr>
            <a:r>
              <a:rPr lang="en-US" altLang="zh-CN" sz="1500">
                <a:solidFill>
                  <a:srgbClr val="000000"/>
                </a:solidFill>
                <a:latin typeface="+mn-lt"/>
                <a:ea typeface="+mn-ea"/>
                <a:cs typeface="+mn-cs"/>
              </a:rPr>
              <a:t> END CASE;</a:t>
            </a:r>
          </a:p>
          <a:p>
            <a:pPr eaLnBrk="1" hangingPunct="1">
              <a:lnSpc>
                <a:spcPct val="90000"/>
              </a:lnSpc>
              <a:buSzPct val="75000"/>
            </a:pPr>
            <a:r>
              <a:rPr lang="en-US" altLang="zh-CN" sz="1500">
                <a:solidFill>
                  <a:srgbClr val="000000"/>
                </a:solidFill>
                <a:latin typeface="+mn-lt"/>
                <a:ea typeface="+mn-ea"/>
                <a:cs typeface="+mn-cs"/>
              </a:rPr>
              <a:t> UPDATE employees SET salary=salary+v_increment </a:t>
            </a:r>
          </a:p>
          <a:p>
            <a:pPr eaLnBrk="1" hangingPunct="1">
              <a:lnSpc>
                <a:spcPct val="90000"/>
              </a:lnSpc>
              <a:buSzPct val="75000"/>
            </a:pPr>
            <a:r>
              <a:rPr lang="en-US" altLang="zh-CN" sz="1500">
                <a:solidFill>
                  <a:srgbClr val="000000"/>
                </a:solidFill>
                <a:latin typeface="+mn-lt"/>
                <a:ea typeface="+mn-ea"/>
                <a:cs typeface="+mn-cs"/>
              </a:rPr>
              <a:t> WHERE employee_id=v_empno; </a:t>
            </a:r>
          </a:p>
          <a:p>
            <a:pPr eaLnBrk="1" hangingPunct="1">
              <a:lnSpc>
                <a:spcPct val="90000"/>
              </a:lnSpc>
              <a:buSzPct val="75000"/>
            </a:pPr>
            <a:r>
              <a:rPr lang="en-US" altLang="zh-CN" sz="1500">
                <a:solidFill>
                  <a:srgbClr val="000000"/>
                </a:solidFill>
                <a:latin typeface="+mn-lt"/>
                <a:ea typeface="+mn-ea"/>
                <a:cs typeface="+mn-cs"/>
              </a:rPr>
              <a:t>END; </a:t>
            </a:r>
          </a:p>
        </p:txBody>
      </p:sp>
      <p:sp>
        <p:nvSpPr>
          <p:cNvPr id="51202"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48</a:t>
            </a:fld>
            <a:endParaRPr lang="en-US" altLang="zh-CN">
              <a:solidFill>
                <a:srgbClr val="898989"/>
              </a:solidFill>
              <a:ea typeface="宋体" panose="02010600030101010101" pitchFamily="2"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2227"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r>
              <a:rPr lang="en-GB" altLang="zh-CN">
                <a:solidFill>
                  <a:srgbClr val="FFFFFF"/>
                </a:solidFill>
                <a:latin typeface="+mj-lt"/>
                <a:ea typeface="+mj-ea"/>
                <a:cs typeface="+mj-cs"/>
              </a:rPr>
              <a:t>9.6.2</a:t>
            </a:r>
            <a:r>
              <a:rPr lang="zh-CN" altLang="en-GB">
                <a:solidFill>
                  <a:srgbClr val="FFFFFF"/>
                </a:solidFill>
                <a:latin typeface="+mj-lt"/>
                <a:ea typeface="+mj-ea"/>
                <a:cs typeface="+mj-cs"/>
              </a:rPr>
              <a:t>循环结构</a:t>
            </a:r>
            <a:endParaRPr lang="zh-CN" altLang="en-US">
              <a:solidFill>
                <a:srgbClr val="FFFFFF"/>
              </a:solidFill>
              <a:latin typeface="+mj-lt"/>
              <a:ea typeface="+mj-ea"/>
              <a:cs typeface="+mj-cs"/>
            </a:endParaRPr>
          </a:p>
        </p:txBody>
      </p:sp>
      <p:sp>
        <p:nvSpPr>
          <p:cNvPr id="52228"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buSzPct val="75000"/>
            </a:pPr>
            <a:r>
              <a:rPr lang="zh-CN" altLang="en-US" sz="2000">
                <a:solidFill>
                  <a:srgbClr val="000000"/>
                </a:solidFill>
                <a:latin typeface="+mn-lt"/>
                <a:ea typeface="+mn-ea"/>
                <a:cs typeface="+mn-cs"/>
              </a:rPr>
              <a:t>简单循环</a:t>
            </a:r>
          </a:p>
          <a:p>
            <a:pPr eaLnBrk="1" hangingPunct="1">
              <a:buSzPct val="75000"/>
            </a:pPr>
            <a:r>
              <a:rPr lang="en-US" altLang="zh-CN" sz="2000">
                <a:solidFill>
                  <a:srgbClr val="000000"/>
                </a:solidFill>
                <a:latin typeface="+mn-lt"/>
                <a:ea typeface="+mn-ea"/>
                <a:cs typeface="+mn-cs"/>
              </a:rPr>
              <a:t>WHILE</a:t>
            </a:r>
            <a:r>
              <a:rPr lang="zh-CN" altLang="en-US" sz="2000">
                <a:solidFill>
                  <a:srgbClr val="000000"/>
                </a:solidFill>
                <a:latin typeface="+mn-lt"/>
                <a:ea typeface="+mn-ea"/>
                <a:cs typeface="+mn-cs"/>
              </a:rPr>
              <a:t>循环</a:t>
            </a:r>
          </a:p>
          <a:p>
            <a:pPr eaLnBrk="1" hangingPunct="1">
              <a:buSzPct val="75000"/>
            </a:pPr>
            <a:r>
              <a:rPr lang="en-US" altLang="zh-CN" sz="2000">
                <a:solidFill>
                  <a:srgbClr val="000000"/>
                </a:solidFill>
                <a:latin typeface="+mn-lt"/>
                <a:ea typeface="+mn-ea"/>
                <a:cs typeface="+mn-cs"/>
              </a:rPr>
              <a:t>FOR</a:t>
            </a:r>
            <a:r>
              <a:rPr lang="zh-CN" altLang="en-US" sz="2000">
                <a:solidFill>
                  <a:srgbClr val="000000"/>
                </a:solidFill>
                <a:latin typeface="+mn-lt"/>
                <a:ea typeface="+mn-ea"/>
                <a:cs typeface="+mn-cs"/>
              </a:rPr>
              <a:t>循环</a:t>
            </a:r>
          </a:p>
        </p:txBody>
      </p:sp>
      <p:sp>
        <p:nvSpPr>
          <p:cNvPr id="52226"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49</a:t>
            </a:fld>
            <a:endParaRPr lang="en-US" altLang="zh-CN">
              <a:solidFill>
                <a:srgbClr val="898989"/>
              </a:solidFill>
              <a:ea typeface="宋体" panose="02010600030101010101" pitchFamily="2"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3251"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r>
              <a:rPr lang="zh-CN" altLang="en-US">
                <a:solidFill>
                  <a:srgbClr val="FFFFFF"/>
                </a:solidFill>
                <a:latin typeface="+mj-lt"/>
                <a:ea typeface="+mj-ea"/>
                <a:cs typeface="+mj-cs"/>
              </a:rPr>
              <a:t>（</a:t>
            </a:r>
            <a:r>
              <a:rPr lang="en-US" altLang="zh-CN">
                <a:solidFill>
                  <a:srgbClr val="FFFFFF"/>
                </a:solidFill>
                <a:latin typeface="+mj-lt"/>
                <a:ea typeface="+mj-ea"/>
                <a:cs typeface="+mj-cs"/>
              </a:rPr>
              <a:t>1</a:t>
            </a:r>
            <a:r>
              <a:rPr lang="zh-CN" altLang="en-US">
                <a:solidFill>
                  <a:srgbClr val="FFFFFF"/>
                </a:solidFill>
                <a:latin typeface="+mj-lt"/>
                <a:ea typeface="+mj-ea"/>
                <a:cs typeface="+mj-cs"/>
              </a:rPr>
              <a:t>）简单循环</a:t>
            </a:r>
          </a:p>
        </p:txBody>
      </p:sp>
      <p:sp>
        <p:nvSpPr>
          <p:cNvPr id="53252"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lnSpc>
                <a:spcPct val="90000"/>
              </a:lnSpc>
              <a:buSzPct val="75000"/>
            </a:pPr>
            <a:r>
              <a:rPr lang="zh-CN" altLang="en-US" sz="1900">
                <a:solidFill>
                  <a:srgbClr val="000000"/>
                </a:solidFill>
                <a:latin typeface="+mn-lt"/>
                <a:ea typeface="+mn-ea"/>
                <a:cs typeface="+mn-cs"/>
              </a:rPr>
              <a:t>语法</a:t>
            </a:r>
          </a:p>
          <a:p>
            <a:pPr lvl="1" eaLnBrk="1" hangingPunct="1">
              <a:lnSpc>
                <a:spcPct val="90000"/>
              </a:lnSpc>
              <a:buSzPct val="75000"/>
            </a:pPr>
            <a:r>
              <a:rPr lang="zh-CN" altLang="en-US" sz="1900">
                <a:solidFill>
                  <a:srgbClr val="000000"/>
                </a:solidFill>
                <a:latin typeface="+mn-lt"/>
                <a:ea typeface="华文仿宋" panose="02010600040101010101" pitchFamily="2" charset="-122"/>
              </a:rPr>
              <a:t> </a:t>
            </a:r>
            <a:r>
              <a:rPr lang="en-US" altLang="zh-CN" sz="1900" b="0">
                <a:solidFill>
                  <a:srgbClr val="000000"/>
                </a:solidFill>
                <a:latin typeface="+mn-lt"/>
                <a:ea typeface="华文仿宋" panose="02010600040101010101" pitchFamily="2" charset="-122"/>
              </a:rPr>
              <a:t>LOOP</a:t>
            </a:r>
          </a:p>
          <a:p>
            <a:pPr lvl="1" eaLnBrk="1" hangingPunct="1">
              <a:lnSpc>
                <a:spcPct val="90000"/>
              </a:lnSpc>
              <a:buSzPct val="75000"/>
            </a:pPr>
            <a:r>
              <a:rPr lang="en-US" altLang="zh-CN" sz="1900" b="0">
                <a:solidFill>
                  <a:srgbClr val="000000"/>
                </a:solidFill>
                <a:latin typeface="+mn-lt"/>
                <a:ea typeface="华文仿宋" panose="02010600040101010101" pitchFamily="2" charset="-122"/>
              </a:rPr>
              <a:t>       sequence_of_statement;</a:t>
            </a:r>
          </a:p>
          <a:p>
            <a:pPr lvl="1" eaLnBrk="1" hangingPunct="1">
              <a:lnSpc>
                <a:spcPct val="90000"/>
              </a:lnSpc>
              <a:buSzPct val="75000"/>
            </a:pPr>
            <a:r>
              <a:rPr lang="en-US" altLang="zh-CN" sz="1900" b="0">
                <a:solidFill>
                  <a:srgbClr val="000000"/>
                </a:solidFill>
                <a:latin typeface="+mn-lt"/>
                <a:ea typeface="华文仿宋" panose="02010600040101010101" pitchFamily="2" charset="-122"/>
              </a:rPr>
              <a:t>       EXIT [WHEN condition] ;</a:t>
            </a:r>
          </a:p>
          <a:p>
            <a:pPr lvl="1" eaLnBrk="1" hangingPunct="1">
              <a:lnSpc>
                <a:spcPct val="90000"/>
              </a:lnSpc>
              <a:buSzPct val="75000"/>
            </a:pPr>
            <a:r>
              <a:rPr lang="en-US" altLang="zh-CN" sz="1900" b="0">
                <a:solidFill>
                  <a:srgbClr val="000000"/>
                </a:solidFill>
                <a:latin typeface="+mn-lt"/>
                <a:ea typeface="华文仿宋" panose="02010600040101010101" pitchFamily="2" charset="-122"/>
              </a:rPr>
              <a:t>        …….</a:t>
            </a:r>
          </a:p>
          <a:p>
            <a:pPr lvl="1" eaLnBrk="1" hangingPunct="1">
              <a:lnSpc>
                <a:spcPct val="90000"/>
              </a:lnSpc>
              <a:buSzPct val="75000"/>
            </a:pPr>
            <a:r>
              <a:rPr lang="en-US" altLang="zh-CN" sz="1900" b="0">
                <a:solidFill>
                  <a:srgbClr val="000000"/>
                </a:solidFill>
                <a:latin typeface="+mn-lt"/>
                <a:ea typeface="华文仿宋" panose="02010600040101010101" pitchFamily="2" charset="-122"/>
              </a:rPr>
              <a:t>END LOOP;</a:t>
            </a:r>
          </a:p>
          <a:p>
            <a:pPr eaLnBrk="1" hangingPunct="1">
              <a:lnSpc>
                <a:spcPct val="90000"/>
              </a:lnSpc>
              <a:buSzPct val="75000"/>
            </a:pPr>
            <a:r>
              <a:rPr lang="zh-CN" altLang="en-US" sz="1900">
                <a:solidFill>
                  <a:srgbClr val="000000"/>
                </a:solidFill>
                <a:latin typeface="+mn-lt"/>
                <a:ea typeface="+mn-ea"/>
                <a:cs typeface="+mn-cs"/>
              </a:rPr>
              <a:t>注意</a:t>
            </a:r>
          </a:p>
          <a:p>
            <a:pPr lvl="1" eaLnBrk="1" hangingPunct="1">
              <a:lnSpc>
                <a:spcPct val="90000"/>
              </a:lnSpc>
              <a:buSzPct val="75000"/>
            </a:pPr>
            <a:r>
              <a:rPr lang="zh-CN" altLang="en-US" sz="1900">
                <a:solidFill>
                  <a:srgbClr val="000000"/>
                </a:solidFill>
                <a:latin typeface="+mn-lt"/>
                <a:ea typeface="华文仿宋" panose="02010600040101010101" pitchFamily="2" charset="-122"/>
              </a:rPr>
              <a:t>在循环体中一定要包含</a:t>
            </a:r>
            <a:r>
              <a:rPr lang="en-US" altLang="zh-CN" sz="1900">
                <a:solidFill>
                  <a:srgbClr val="000000"/>
                </a:solidFill>
                <a:latin typeface="+mn-lt"/>
                <a:ea typeface="华文仿宋" panose="02010600040101010101" pitchFamily="2" charset="-122"/>
              </a:rPr>
              <a:t>EXIT</a:t>
            </a:r>
            <a:r>
              <a:rPr lang="zh-CN" altLang="en-US" sz="1900">
                <a:solidFill>
                  <a:srgbClr val="000000"/>
                </a:solidFill>
                <a:latin typeface="+mn-lt"/>
                <a:ea typeface="华文仿宋" panose="02010600040101010101" pitchFamily="2" charset="-122"/>
              </a:rPr>
              <a:t>语句，否则程序进入死循环 </a:t>
            </a:r>
          </a:p>
        </p:txBody>
      </p:sp>
      <p:sp>
        <p:nvSpPr>
          <p:cNvPr id="53250"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50</a:t>
            </a:fld>
            <a:endParaRPr lang="en-US" altLang="zh-CN">
              <a:solidFill>
                <a:srgbClr val="898989"/>
              </a:solidFill>
              <a:ea typeface="宋体" panose="02010600030101010101" pitchFamily="2"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0" name="Picture 139">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4275" name="Rectangle 2"/>
          <p:cNvSpPr>
            <a:spLocks noGrp="1"/>
          </p:cNvSpPr>
          <p:nvPr>
            <p:ph type="title"/>
          </p:nvPr>
        </p:nvSpPr>
        <p:spPr>
          <a:xfrm>
            <a:off x="640079" y="2053641"/>
            <a:ext cx="3669161" cy="2760098"/>
          </a:xfrm>
        </p:spPr>
        <p:txBody>
          <a:bodyPr vert="horz" lIns="121920" tIns="60960" rIns="121920" bIns="60960">
            <a:normAutofit/>
          </a:bodyPr>
          <a:lstStyle/>
          <a:p>
            <a:pPr eaLnBrk="1" hangingPunct="1"/>
            <a:endParaRPr lang="zh-CN" altLang="zh-CN">
              <a:solidFill>
                <a:srgbClr val="FFFFFF"/>
              </a:solidFill>
              <a:latin typeface="+mj-lt"/>
              <a:ea typeface="+mj-ea"/>
              <a:cs typeface="+mj-cs"/>
            </a:endParaRPr>
          </a:p>
        </p:txBody>
      </p:sp>
      <p:sp>
        <p:nvSpPr>
          <p:cNvPr id="371715" name="Rectangle 3"/>
          <p:cNvSpPr>
            <a:spLocks noGrp="1" noChangeArrowheads="1"/>
          </p:cNvSpPr>
          <p:nvPr>
            <p:ph idx="1"/>
          </p:nvPr>
        </p:nvSpPr>
        <p:spPr>
          <a:xfrm>
            <a:off x="6090574" y="801866"/>
            <a:ext cx="5306084" cy="5230634"/>
          </a:xfrm>
        </p:spPr>
        <p:txBody>
          <a:bodyPr vert="horz" lIns="121920" tIns="60960" rIns="121920" bIns="60960" numCol="1" anchor="ctr" anchorCtr="0" compatLnSpc="1">
            <a:normAutofit/>
          </a:bodyPr>
          <a:lstStyle/>
          <a:p>
            <a:pPr marL="457200" marR="0" lvl="0" indent="-457200" defTabSz="914400" rtl="0" eaLnBrk="1" fontAlgn="base" latinLnBrk="0" hangingPunct="1">
              <a:lnSpc>
                <a:spcPct val="90000"/>
              </a:lnSpc>
              <a:spcBef>
                <a:spcPct val="20000"/>
              </a:spcBef>
              <a:spcAft>
                <a:spcPct val="0"/>
              </a:spcAft>
              <a:buClr>
                <a:schemeClr val="bg2"/>
              </a:buClr>
              <a:buSzPct val="75000"/>
              <a:buFont typeface="Wingdings" panose="05000000000000000000" pitchFamily="2" charset="2"/>
              <a:buChar char="l"/>
              <a:defRPr/>
            </a:pPr>
            <a:r>
              <a:rPr kumimoji="0" lang="zh-CN" altLang="zh-CN" sz="1700" b="0" i="0" u="none" strike="noStrike" kern="0" cap="none" spc="0" normalizeH="0" baseline="0" noProof="0">
                <a:ln>
                  <a:noFill/>
                </a:ln>
                <a:solidFill>
                  <a:srgbClr val="000000"/>
                </a:solidFill>
                <a:effectLst/>
                <a:uLnTx/>
                <a:uFillTx/>
                <a:latin typeface="+mn-lt"/>
                <a:ea typeface="+mn-ea"/>
                <a:cs typeface="+mn-cs"/>
              </a:rPr>
              <a:t>利用简单循环求</a:t>
            </a:r>
            <a:r>
              <a:rPr kumimoji="0" lang="en-US" altLang="zh-CN" sz="1700" b="0" i="0" u="none" strike="noStrike" kern="0" cap="none" spc="0" normalizeH="0" baseline="0" noProof="0">
                <a:ln>
                  <a:noFill/>
                </a:ln>
                <a:solidFill>
                  <a:srgbClr val="000000"/>
                </a:solidFill>
                <a:effectLst/>
                <a:uLnTx/>
                <a:uFillTx/>
                <a:latin typeface="+mn-lt"/>
                <a:ea typeface="+mn-ea"/>
                <a:cs typeface="+mn-cs"/>
              </a:rPr>
              <a:t>1</a:t>
            </a:r>
            <a:r>
              <a:rPr kumimoji="0" lang="zh-CN" altLang="zh-CN" sz="1700" b="0" i="0" u="none" strike="noStrike" kern="0" cap="none" spc="0" normalizeH="0" baseline="0" noProof="0">
                <a:ln>
                  <a:noFill/>
                </a:ln>
                <a:solidFill>
                  <a:srgbClr val="000000"/>
                </a:solidFill>
                <a:effectLst/>
                <a:uLnTx/>
                <a:uFillTx/>
                <a:latin typeface="+mn-lt"/>
                <a:ea typeface="+mn-ea"/>
                <a:cs typeface="+mn-cs"/>
              </a:rPr>
              <a:t>～</a:t>
            </a:r>
            <a:r>
              <a:rPr kumimoji="0" lang="en-US" altLang="zh-CN" sz="1700" b="0" i="0" u="none" strike="noStrike" kern="0" cap="none" spc="0" normalizeH="0" baseline="0" noProof="0">
                <a:ln>
                  <a:noFill/>
                </a:ln>
                <a:solidFill>
                  <a:srgbClr val="000000"/>
                </a:solidFill>
                <a:effectLst/>
                <a:uLnTx/>
                <a:uFillTx/>
                <a:latin typeface="+mn-lt"/>
                <a:ea typeface="+mn-ea"/>
                <a:cs typeface="+mn-cs"/>
              </a:rPr>
              <a:t>100</a:t>
            </a:r>
            <a:r>
              <a:rPr kumimoji="0" lang="zh-CN" altLang="zh-CN" sz="1700" b="0" i="0" u="none" strike="noStrike" kern="0" cap="none" spc="0" normalizeH="0" baseline="0" noProof="0">
                <a:ln>
                  <a:noFill/>
                </a:ln>
                <a:solidFill>
                  <a:srgbClr val="000000"/>
                </a:solidFill>
                <a:effectLst/>
                <a:uLnTx/>
                <a:uFillTx/>
                <a:latin typeface="+mn-lt"/>
                <a:ea typeface="+mn-ea"/>
                <a:cs typeface="+mn-cs"/>
              </a:rPr>
              <a:t>之间偶数的和。</a:t>
            </a:r>
          </a:p>
          <a:p>
            <a:pPr marL="914400" marR="0" lvl="1" indent="-457200" defTabSz="914400" rtl="0" eaLnBrk="1" fontAlgn="base" latinLnBrk="0" hangingPunct="1">
              <a:lnSpc>
                <a:spcPct val="90000"/>
              </a:lnSpc>
              <a:spcBef>
                <a:spcPct val="20000"/>
              </a:spcBef>
              <a:spcAft>
                <a:spcPct val="0"/>
              </a:spcAft>
              <a:buClr>
                <a:schemeClr val="tx2"/>
              </a:buClr>
              <a:buSzPct val="75000"/>
              <a:buFont typeface="Verdana" panose="020B0604030504040204" pitchFamily="34" charset="0"/>
              <a:buChar char="—"/>
              <a:defRPr/>
            </a:pPr>
            <a:r>
              <a:rPr kumimoji="0" lang="en-US" altLang="zh-CN" sz="1700" b="1" i="0" u="none" strike="noStrike" kern="0" cap="none" spc="0" normalizeH="0" baseline="0" noProof="0">
                <a:ln>
                  <a:noFill/>
                </a:ln>
                <a:solidFill>
                  <a:srgbClr val="000000"/>
                </a:solidFill>
                <a:effectLst/>
                <a:uLnTx/>
                <a:uFillTx/>
                <a:latin typeface="+mn-lt"/>
                <a:ea typeface="+mn-ea"/>
                <a:cs typeface="+mn-cs"/>
              </a:rPr>
              <a:t>DECLARE</a:t>
            </a:r>
            <a:endParaRPr kumimoji="0" lang="zh-CN" altLang="zh-CN" sz="1700" b="1" i="0" u="none" strike="noStrike" kern="0" cap="none" spc="0" normalizeH="0" baseline="0" noProof="0">
              <a:ln>
                <a:noFill/>
              </a:ln>
              <a:solidFill>
                <a:srgbClr val="000000"/>
              </a:solidFill>
              <a:effectLst/>
              <a:uLnTx/>
              <a:uFillTx/>
              <a:latin typeface="+mn-lt"/>
              <a:ea typeface="+mn-ea"/>
              <a:cs typeface="+mn-cs"/>
            </a:endParaRPr>
          </a:p>
          <a:p>
            <a:pPr marL="914400" marR="0" lvl="1" indent="-457200" defTabSz="914400" rtl="0" eaLnBrk="1" fontAlgn="base" latinLnBrk="0" hangingPunct="1">
              <a:lnSpc>
                <a:spcPct val="90000"/>
              </a:lnSpc>
              <a:spcBef>
                <a:spcPct val="20000"/>
              </a:spcBef>
              <a:spcAft>
                <a:spcPct val="0"/>
              </a:spcAft>
              <a:buClr>
                <a:schemeClr val="tx2"/>
              </a:buClr>
              <a:buSzPct val="75000"/>
              <a:buFont typeface="Verdana" panose="020B0604030504040204" pitchFamily="34" charset="0"/>
              <a:buChar char="—"/>
              <a:defRPr/>
            </a:pPr>
            <a:r>
              <a:rPr kumimoji="0" lang="en-US" altLang="zh-CN" sz="1700" b="1" i="0" u="none" strike="noStrike" kern="0" cap="none" spc="0" normalizeH="0" baseline="0" noProof="0">
                <a:ln>
                  <a:noFill/>
                </a:ln>
                <a:solidFill>
                  <a:srgbClr val="000000"/>
                </a:solidFill>
                <a:effectLst/>
                <a:uLnTx/>
                <a:uFillTx/>
                <a:latin typeface="+mn-lt"/>
                <a:ea typeface="+mn-ea"/>
                <a:cs typeface="+mn-cs"/>
              </a:rPr>
              <a:t>  v_counter BINARY_INTEGER :=1;</a:t>
            </a:r>
            <a:endParaRPr kumimoji="0" lang="zh-CN" altLang="zh-CN" sz="1700" b="1" i="0" u="none" strike="noStrike" kern="0" cap="none" spc="0" normalizeH="0" baseline="0" noProof="0">
              <a:ln>
                <a:noFill/>
              </a:ln>
              <a:solidFill>
                <a:srgbClr val="000000"/>
              </a:solidFill>
              <a:effectLst/>
              <a:uLnTx/>
              <a:uFillTx/>
              <a:latin typeface="+mn-lt"/>
              <a:ea typeface="+mn-ea"/>
              <a:cs typeface="+mn-cs"/>
            </a:endParaRPr>
          </a:p>
          <a:p>
            <a:pPr marL="914400" marR="0" lvl="1" indent="-457200" defTabSz="914400" rtl="0" eaLnBrk="1" fontAlgn="base" latinLnBrk="0" hangingPunct="1">
              <a:lnSpc>
                <a:spcPct val="90000"/>
              </a:lnSpc>
              <a:spcBef>
                <a:spcPct val="20000"/>
              </a:spcBef>
              <a:spcAft>
                <a:spcPct val="0"/>
              </a:spcAft>
              <a:buClr>
                <a:schemeClr val="tx2"/>
              </a:buClr>
              <a:buSzPct val="75000"/>
              <a:buFont typeface="Verdana" panose="020B0604030504040204" pitchFamily="34" charset="0"/>
              <a:buChar char="—"/>
              <a:defRPr/>
            </a:pPr>
            <a:r>
              <a:rPr kumimoji="0" lang="en-US" altLang="zh-CN" sz="1700" b="1" i="0" u="none" strike="noStrike" kern="0" cap="none" spc="0" normalizeH="0" baseline="0" noProof="0">
                <a:ln>
                  <a:noFill/>
                </a:ln>
                <a:solidFill>
                  <a:srgbClr val="000000"/>
                </a:solidFill>
                <a:effectLst/>
                <a:uLnTx/>
                <a:uFillTx/>
                <a:latin typeface="+mn-lt"/>
                <a:ea typeface="+mn-ea"/>
                <a:cs typeface="+mn-cs"/>
              </a:rPr>
              <a:t>  v_sum NUMBER :=0;</a:t>
            </a:r>
            <a:endParaRPr kumimoji="0" lang="zh-CN" altLang="zh-CN" sz="1700" b="1" i="0" u="none" strike="noStrike" kern="0" cap="none" spc="0" normalizeH="0" baseline="0" noProof="0">
              <a:ln>
                <a:noFill/>
              </a:ln>
              <a:solidFill>
                <a:srgbClr val="000000"/>
              </a:solidFill>
              <a:effectLst/>
              <a:uLnTx/>
              <a:uFillTx/>
              <a:latin typeface="+mn-lt"/>
              <a:ea typeface="+mn-ea"/>
              <a:cs typeface="+mn-cs"/>
            </a:endParaRPr>
          </a:p>
          <a:p>
            <a:pPr marL="914400" marR="0" lvl="1" indent="-457200" defTabSz="914400" rtl="0" eaLnBrk="1" fontAlgn="base" latinLnBrk="0" hangingPunct="1">
              <a:lnSpc>
                <a:spcPct val="90000"/>
              </a:lnSpc>
              <a:spcBef>
                <a:spcPct val="20000"/>
              </a:spcBef>
              <a:spcAft>
                <a:spcPct val="0"/>
              </a:spcAft>
              <a:buClr>
                <a:schemeClr val="tx2"/>
              </a:buClr>
              <a:buSzPct val="75000"/>
              <a:buFont typeface="Verdana" panose="020B0604030504040204" pitchFamily="34" charset="0"/>
              <a:buChar char="—"/>
              <a:defRPr/>
            </a:pPr>
            <a:r>
              <a:rPr kumimoji="0" lang="en-US" altLang="zh-CN" sz="1700" b="1" i="0" u="none" strike="noStrike" kern="0" cap="none" spc="0" normalizeH="0" baseline="0" noProof="0">
                <a:ln>
                  <a:noFill/>
                </a:ln>
                <a:solidFill>
                  <a:srgbClr val="000000"/>
                </a:solidFill>
                <a:effectLst/>
                <a:uLnTx/>
                <a:uFillTx/>
                <a:latin typeface="+mn-lt"/>
                <a:ea typeface="+mn-ea"/>
                <a:cs typeface="+mn-cs"/>
              </a:rPr>
              <a:t>BEGIN</a:t>
            </a:r>
            <a:endParaRPr kumimoji="0" lang="zh-CN" altLang="zh-CN" sz="1700" b="1" i="0" u="none" strike="noStrike" kern="0" cap="none" spc="0" normalizeH="0" baseline="0" noProof="0">
              <a:ln>
                <a:noFill/>
              </a:ln>
              <a:solidFill>
                <a:srgbClr val="000000"/>
              </a:solidFill>
              <a:effectLst/>
              <a:uLnTx/>
              <a:uFillTx/>
              <a:latin typeface="+mn-lt"/>
              <a:ea typeface="+mn-ea"/>
              <a:cs typeface="+mn-cs"/>
            </a:endParaRPr>
          </a:p>
          <a:p>
            <a:pPr marL="914400" marR="0" lvl="1" indent="-457200" defTabSz="914400" rtl="0" eaLnBrk="1" fontAlgn="base" latinLnBrk="0" hangingPunct="1">
              <a:lnSpc>
                <a:spcPct val="90000"/>
              </a:lnSpc>
              <a:spcBef>
                <a:spcPct val="20000"/>
              </a:spcBef>
              <a:spcAft>
                <a:spcPct val="0"/>
              </a:spcAft>
              <a:buClr>
                <a:schemeClr val="tx2"/>
              </a:buClr>
              <a:buSzPct val="75000"/>
              <a:buFont typeface="Verdana" panose="020B0604030504040204" pitchFamily="34" charset="0"/>
              <a:buChar char="—"/>
              <a:defRPr/>
            </a:pPr>
            <a:r>
              <a:rPr kumimoji="0" lang="en-US" altLang="zh-CN" sz="1700" b="1" i="0" u="none" strike="noStrike" kern="0" cap="none" spc="0" normalizeH="0" baseline="0" noProof="0">
                <a:ln>
                  <a:noFill/>
                </a:ln>
                <a:solidFill>
                  <a:srgbClr val="000000"/>
                </a:solidFill>
                <a:effectLst/>
                <a:uLnTx/>
                <a:uFillTx/>
                <a:latin typeface="+mn-lt"/>
                <a:ea typeface="+mn-ea"/>
                <a:cs typeface="+mn-cs"/>
              </a:rPr>
              <a:t>  LOOP</a:t>
            </a:r>
            <a:endParaRPr kumimoji="0" lang="zh-CN" altLang="zh-CN" sz="1700" b="1" i="0" u="none" strike="noStrike" kern="0" cap="none" spc="0" normalizeH="0" baseline="0" noProof="0">
              <a:ln>
                <a:noFill/>
              </a:ln>
              <a:solidFill>
                <a:srgbClr val="000000"/>
              </a:solidFill>
              <a:effectLst/>
              <a:uLnTx/>
              <a:uFillTx/>
              <a:latin typeface="+mn-lt"/>
              <a:ea typeface="+mn-ea"/>
              <a:cs typeface="+mn-cs"/>
            </a:endParaRPr>
          </a:p>
          <a:p>
            <a:pPr marL="914400" marR="0" lvl="1" indent="-457200" defTabSz="914400" rtl="0" eaLnBrk="1" fontAlgn="base" latinLnBrk="0" hangingPunct="1">
              <a:lnSpc>
                <a:spcPct val="90000"/>
              </a:lnSpc>
              <a:spcBef>
                <a:spcPct val="20000"/>
              </a:spcBef>
              <a:spcAft>
                <a:spcPct val="0"/>
              </a:spcAft>
              <a:buClr>
                <a:schemeClr val="tx2"/>
              </a:buClr>
              <a:buSzPct val="75000"/>
              <a:buFont typeface="Verdana" panose="020B0604030504040204" pitchFamily="34" charset="0"/>
              <a:buChar char="—"/>
              <a:defRPr/>
            </a:pPr>
            <a:r>
              <a:rPr kumimoji="0" lang="en-US" altLang="zh-CN" sz="1700" b="1" i="0" u="none" strike="noStrike" kern="0" cap="none" spc="0" normalizeH="0" baseline="0" noProof="0">
                <a:ln>
                  <a:noFill/>
                </a:ln>
                <a:solidFill>
                  <a:srgbClr val="000000"/>
                </a:solidFill>
                <a:effectLst/>
                <a:uLnTx/>
                <a:uFillTx/>
                <a:latin typeface="+mn-lt"/>
                <a:ea typeface="+mn-ea"/>
                <a:cs typeface="+mn-cs"/>
              </a:rPr>
              <a:t>    IF mod(v_counter,2)=0 THEN</a:t>
            </a:r>
            <a:endParaRPr kumimoji="0" lang="zh-CN" altLang="zh-CN" sz="1700" b="1" i="0" u="none" strike="noStrike" kern="0" cap="none" spc="0" normalizeH="0" baseline="0" noProof="0">
              <a:ln>
                <a:noFill/>
              </a:ln>
              <a:solidFill>
                <a:srgbClr val="000000"/>
              </a:solidFill>
              <a:effectLst/>
              <a:uLnTx/>
              <a:uFillTx/>
              <a:latin typeface="+mn-lt"/>
              <a:ea typeface="+mn-ea"/>
              <a:cs typeface="+mn-cs"/>
            </a:endParaRPr>
          </a:p>
          <a:p>
            <a:pPr marL="914400" marR="0" lvl="1" indent="-457200" defTabSz="914400" rtl="0" eaLnBrk="1" fontAlgn="base" latinLnBrk="0" hangingPunct="1">
              <a:lnSpc>
                <a:spcPct val="90000"/>
              </a:lnSpc>
              <a:spcBef>
                <a:spcPct val="20000"/>
              </a:spcBef>
              <a:spcAft>
                <a:spcPct val="0"/>
              </a:spcAft>
              <a:buClr>
                <a:schemeClr val="tx2"/>
              </a:buClr>
              <a:buSzPct val="75000"/>
              <a:buFont typeface="Verdana" panose="020B0604030504040204" pitchFamily="34" charset="0"/>
              <a:buChar char="—"/>
              <a:defRPr/>
            </a:pPr>
            <a:r>
              <a:rPr kumimoji="0" lang="en-US" altLang="zh-CN" sz="1700" b="1" i="0" u="none" strike="noStrike" kern="0" cap="none" spc="0" normalizeH="0" baseline="0" noProof="0">
                <a:ln>
                  <a:noFill/>
                </a:ln>
                <a:solidFill>
                  <a:srgbClr val="000000"/>
                </a:solidFill>
                <a:effectLst/>
                <a:uLnTx/>
                <a:uFillTx/>
                <a:latin typeface="+mn-lt"/>
                <a:ea typeface="+mn-ea"/>
                <a:cs typeface="+mn-cs"/>
              </a:rPr>
              <a:t>      v_sum:=v_sum+v_counter;</a:t>
            </a:r>
            <a:endParaRPr kumimoji="0" lang="zh-CN" altLang="zh-CN" sz="1700" b="1" i="0" u="none" strike="noStrike" kern="0" cap="none" spc="0" normalizeH="0" baseline="0" noProof="0">
              <a:ln>
                <a:noFill/>
              </a:ln>
              <a:solidFill>
                <a:srgbClr val="000000"/>
              </a:solidFill>
              <a:effectLst/>
              <a:uLnTx/>
              <a:uFillTx/>
              <a:latin typeface="+mn-lt"/>
              <a:ea typeface="+mn-ea"/>
              <a:cs typeface="+mn-cs"/>
            </a:endParaRPr>
          </a:p>
          <a:p>
            <a:pPr marL="914400" marR="0" lvl="1" indent="-457200" defTabSz="914400" rtl="0" eaLnBrk="1" fontAlgn="base" latinLnBrk="0" hangingPunct="1">
              <a:lnSpc>
                <a:spcPct val="90000"/>
              </a:lnSpc>
              <a:spcBef>
                <a:spcPct val="20000"/>
              </a:spcBef>
              <a:spcAft>
                <a:spcPct val="0"/>
              </a:spcAft>
              <a:buClr>
                <a:schemeClr val="tx2"/>
              </a:buClr>
              <a:buSzPct val="75000"/>
              <a:buFont typeface="Verdana" panose="020B0604030504040204" pitchFamily="34" charset="0"/>
              <a:buChar char="—"/>
              <a:defRPr/>
            </a:pPr>
            <a:r>
              <a:rPr kumimoji="0" lang="en-US" altLang="zh-CN" sz="1700" b="1" i="0" u="none" strike="noStrike" kern="0" cap="none" spc="0" normalizeH="0" baseline="0" noProof="0">
                <a:ln>
                  <a:noFill/>
                </a:ln>
                <a:solidFill>
                  <a:srgbClr val="000000"/>
                </a:solidFill>
                <a:effectLst/>
                <a:uLnTx/>
                <a:uFillTx/>
                <a:latin typeface="+mn-lt"/>
                <a:ea typeface="+mn-ea"/>
                <a:cs typeface="+mn-cs"/>
              </a:rPr>
              <a:t>    END IF;</a:t>
            </a:r>
            <a:endParaRPr kumimoji="0" lang="zh-CN" altLang="zh-CN" sz="1700" b="1" i="0" u="none" strike="noStrike" kern="0" cap="none" spc="0" normalizeH="0" baseline="0" noProof="0">
              <a:ln>
                <a:noFill/>
              </a:ln>
              <a:solidFill>
                <a:srgbClr val="000000"/>
              </a:solidFill>
              <a:effectLst/>
              <a:uLnTx/>
              <a:uFillTx/>
              <a:latin typeface="+mn-lt"/>
              <a:ea typeface="+mn-ea"/>
              <a:cs typeface="+mn-cs"/>
            </a:endParaRPr>
          </a:p>
          <a:p>
            <a:pPr marL="914400" marR="0" lvl="1" indent="-457200" defTabSz="914400" rtl="0" eaLnBrk="1" fontAlgn="base" latinLnBrk="0" hangingPunct="1">
              <a:lnSpc>
                <a:spcPct val="90000"/>
              </a:lnSpc>
              <a:spcBef>
                <a:spcPct val="20000"/>
              </a:spcBef>
              <a:spcAft>
                <a:spcPct val="0"/>
              </a:spcAft>
              <a:buClr>
                <a:schemeClr val="tx2"/>
              </a:buClr>
              <a:buSzPct val="75000"/>
              <a:buFont typeface="Verdana" panose="020B0604030504040204" pitchFamily="34" charset="0"/>
              <a:buChar char="—"/>
              <a:defRPr/>
            </a:pPr>
            <a:r>
              <a:rPr kumimoji="0" lang="en-US" altLang="zh-CN" sz="1700" b="1" i="0" u="none" strike="noStrike" kern="0" cap="none" spc="0" normalizeH="0" baseline="0" noProof="0">
                <a:ln>
                  <a:noFill/>
                </a:ln>
                <a:solidFill>
                  <a:srgbClr val="000000"/>
                </a:solidFill>
                <a:effectLst/>
                <a:uLnTx/>
                <a:uFillTx/>
                <a:latin typeface="+mn-lt"/>
                <a:ea typeface="+mn-ea"/>
                <a:cs typeface="+mn-cs"/>
              </a:rPr>
              <a:t>    v_counter := v_counter + 1;</a:t>
            </a:r>
            <a:endParaRPr kumimoji="0" lang="zh-CN" altLang="zh-CN" sz="1700" b="1" i="0" u="none" strike="noStrike" kern="0" cap="none" spc="0" normalizeH="0" baseline="0" noProof="0">
              <a:ln>
                <a:noFill/>
              </a:ln>
              <a:solidFill>
                <a:srgbClr val="000000"/>
              </a:solidFill>
              <a:effectLst/>
              <a:uLnTx/>
              <a:uFillTx/>
              <a:latin typeface="+mn-lt"/>
              <a:ea typeface="+mn-ea"/>
              <a:cs typeface="+mn-cs"/>
            </a:endParaRPr>
          </a:p>
          <a:p>
            <a:pPr marL="914400" marR="0" lvl="1" indent="-457200" defTabSz="914400" rtl="0" eaLnBrk="1" fontAlgn="base" latinLnBrk="0" hangingPunct="1">
              <a:lnSpc>
                <a:spcPct val="90000"/>
              </a:lnSpc>
              <a:spcBef>
                <a:spcPct val="20000"/>
              </a:spcBef>
              <a:spcAft>
                <a:spcPct val="0"/>
              </a:spcAft>
              <a:buClr>
                <a:schemeClr val="tx2"/>
              </a:buClr>
              <a:buSzPct val="75000"/>
              <a:buFont typeface="Verdana" panose="020B0604030504040204" pitchFamily="34" charset="0"/>
              <a:buChar char="—"/>
              <a:defRPr/>
            </a:pPr>
            <a:r>
              <a:rPr kumimoji="0" lang="en-US" altLang="zh-CN" sz="1700" b="1" i="0" u="none" strike="noStrike" kern="0" cap="none" spc="0" normalizeH="0" baseline="0" noProof="0">
                <a:ln>
                  <a:noFill/>
                </a:ln>
                <a:solidFill>
                  <a:srgbClr val="000000"/>
                </a:solidFill>
                <a:effectLst/>
                <a:uLnTx/>
                <a:uFillTx/>
                <a:latin typeface="+mn-lt"/>
                <a:ea typeface="+mn-ea"/>
                <a:cs typeface="+mn-cs"/>
              </a:rPr>
              <a:t>    EXIT WHEN v_counter&gt;100;</a:t>
            </a:r>
            <a:endParaRPr kumimoji="0" lang="zh-CN" altLang="zh-CN" sz="1700" b="1" i="0" u="none" strike="noStrike" kern="0" cap="none" spc="0" normalizeH="0" baseline="0" noProof="0">
              <a:ln>
                <a:noFill/>
              </a:ln>
              <a:solidFill>
                <a:srgbClr val="000000"/>
              </a:solidFill>
              <a:effectLst/>
              <a:uLnTx/>
              <a:uFillTx/>
              <a:latin typeface="+mn-lt"/>
              <a:ea typeface="+mn-ea"/>
              <a:cs typeface="+mn-cs"/>
            </a:endParaRPr>
          </a:p>
          <a:p>
            <a:pPr marL="914400" marR="0" lvl="1" indent="-457200" defTabSz="914400" rtl="0" eaLnBrk="1" fontAlgn="base" latinLnBrk="0" hangingPunct="1">
              <a:lnSpc>
                <a:spcPct val="90000"/>
              </a:lnSpc>
              <a:spcBef>
                <a:spcPct val="20000"/>
              </a:spcBef>
              <a:spcAft>
                <a:spcPct val="0"/>
              </a:spcAft>
              <a:buClr>
                <a:schemeClr val="tx2"/>
              </a:buClr>
              <a:buSzPct val="75000"/>
              <a:buFont typeface="Verdana" panose="020B0604030504040204" pitchFamily="34" charset="0"/>
              <a:buChar char="—"/>
              <a:defRPr/>
            </a:pPr>
            <a:r>
              <a:rPr kumimoji="0" lang="en-US" altLang="zh-CN" sz="1700" b="1" i="0" u="none" strike="noStrike" kern="0" cap="none" spc="0" normalizeH="0" baseline="0" noProof="0">
                <a:ln>
                  <a:noFill/>
                </a:ln>
                <a:solidFill>
                  <a:srgbClr val="000000"/>
                </a:solidFill>
                <a:effectLst/>
                <a:uLnTx/>
                <a:uFillTx/>
                <a:latin typeface="+mn-lt"/>
                <a:ea typeface="+mn-ea"/>
                <a:cs typeface="+mn-cs"/>
              </a:rPr>
              <a:t>  END LOOP;</a:t>
            </a:r>
            <a:endParaRPr kumimoji="0" lang="zh-CN" altLang="zh-CN" sz="1700" b="1" i="0" u="none" strike="noStrike" kern="0" cap="none" spc="0" normalizeH="0" baseline="0" noProof="0">
              <a:ln>
                <a:noFill/>
              </a:ln>
              <a:solidFill>
                <a:srgbClr val="000000"/>
              </a:solidFill>
              <a:effectLst/>
              <a:uLnTx/>
              <a:uFillTx/>
              <a:latin typeface="+mn-lt"/>
              <a:ea typeface="+mn-ea"/>
              <a:cs typeface="+mn-cs"/>
            </a:endParaRPr>
          </a:p>
          <a:p>
            <a:pPr marL="914400" marR="0" lvl="1" indent="-457200" defTabSz="914400" rtl="0" eaLnBrk="1" fontAlgn="base" latinLnBrk="0" hangingPunct="1">
              <a:lnSpc>
                <a:spcPct val="90000"/>
              </a:lnSpc>
              <a:spcBef>
                <a:spcPct val="20000"/>
              </a:spcBef>
              <a:spcAft>
                <a:spcPct val="0"/>
              </a:spcAft>
              <a:buClr>
                <a:schemeClr val="tx2"/>
              </a:buClr>
              <a:buSzPct val="75000"/>
              <a:buFont typeface="Verdana" panose="020B0604030504040204" pitchFamily="34" charset="0"/>
              <a:buChar char="—"/>
              <a:defRPr/>
            </a:pPr>
            <a:r>
              <a:rPr kumimoji="0" lang="en-US" altLang="zh-CN" sz="1700" b="1" i="0" u="none" strike="noStrike" kern="0" cap="none" spc="0" normalizeH="0" baseline="0" noProof="0">
                <a:ln>
                  <a:noFill/>
                </a:ln>
                <a:solidFill>
                  <a:srgbClr val="000000"/>
                </a:solidFill>
                <a:effectLst/>
                <a:uLnTx/>
                <a:uFillTx/>
                <a:latin typeface="+mn-lt"/>
                <a:ea typeface="+mn-ea"/>
                <a:cs typeface="+mn-cs"/>
              </a:rPr>
              <a:t>  DBMS_OUTPUT.PUT_LINE(v_sum);</a:t>
            </a:r>
            <a:endParaRPr kumimoji="0" lang="zh-CN" altLang="zh-CN" sz="1700" b="1" i="0" u="none" strike="noStrike" kern="0" cap="none" spc="0" normalizeH="0" baseline="0" noProof="0">
              <a:ln>
                <a:noFill/>
              </a:ln>
              <a:solidFill>
                <a:srgbClr val="000000"/>
              </a:solidFill>
              <a:effectLst/>
              <a:uLnTx/>
              <a:uFillTx/>
              <a:latin typeface="+mn-lt"/>
              <a:ea typeface="+mn-ea"/>
              <a:cs typeface="+mn-cs"/>
            </a:endParaRPr>
          </a:p>
          <a:p>
            <a:pPr marL="914400" marR="0" lvl="1" indent="-457200" defTabSz="914400" rtl="0" eaLnBrk="1" fontAlgn="base" latinLnBrk="0" hangingPunct="1">
              <a:lnSpc>
                <a:spcPct val="90000"/>
              </a:lnSpc>
              <a:spcBef>
                <a:spcPct val="20000"/>
              </a:spcBef>
              <a:spcAft>
                <a:spcPct val="0"/>
              </a:spcAft>
              <a:buClr>
                <a:schemeClr val="tx2"/>
              </a:buClr>
              <a:buSzPct val="75000"/>
              <a:buFont typeface="Verdana" panose="020B0604030504040204" pitchFamily="34" charset="0"/>
              <a:buChar char="—"/>
              <a:defRPr/>
            </a:pPr>
            <a:r>
              <a:rPr kumimoji="0" lang="en-US" altLang="zh-CN" sz="1700" b="1" i="0" u="none" strike="noStrike" kern="0" cap="none" spc="0" normalizeH="0" baseline="0" noProof="0">
                <a:ln>
                  <a:noFill/>
                </a:ln>
                <a:solidFill>
                  <a:srgbClr val="000000"/>
                </a:solidFill>
                <a:effectLst/>
                <a:uLnTx/>
                <a:uFillTx/>
                <a:latin typeface="+mn-lt"/>
                <a:ea typeface="+mn-ea"/>
                <a:cs typeface="+mn-cs"/>
              </a:rPr>
              <a:t>END;</a:t>
            </a:r>
          </a:p>
        </p:txBody>
      </p:sp>
      <p:sp>
        <p:nvSpPr>
          <p:cNvPr id="54274"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51</a:t>
            </a:fld>
            <a:endParaRPr lang="en-US" altLang="zh-CN">
              <a:solidFill>
                <a:srgbClr val="898989"/>
              </a:solidFill>
              <a:ea typeface="宋体" panose="02010600030101010101" pitchFamily="2"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5299"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r>
              <a:rPr lang="zh-CN" altLang="en-US">
                <a:solidFill>
                  <a:srgbClr val="FFFFFF"/>
                </a:solidFill>
                <a:latin typeface="+mj-lt"/>
                <a:ea typeface="+mj-ea"/>
                <a:cs typeface="+mj-cs"/>
              </a:rPr>
              <a:t>（</a:t>
            </a:r>
            <a:r>
              <a:rPr lang="en-US" altLang="zh-CN">
                <a:solidFill>
                  <a:srgbClr val="FFFFFF"/>
                </a:solidFill>
                <a:latin typeface="+mj-lt"/>
                <a:ea typeface="+mj-ea"/>
                <a:cs typeface="+mj-cs"/>
              </a:rPr>
              <a:t>2</a:t>
            </a:r>
            <a:r>
              <a:rPr lang="zh-CN" altLang="en-US">
                <a:solidFill>
                  <a:srgbClr val="FFFFFF"/>
                </a:solidFill>
                <a:latin typeface="+mj-lt"/>
                <a:ea typeface="+mj-ea"/>
                <a:cs typeface="+mj-cs"/>
              </a:rPr>
              <a:t>）</a:t>
            </a:r>
            <a:r>
              <a:rPr lang="en-US" altLang="zh-CN">
                <a:solidFill>
                  <a:srgbClr val="FFFFFF"/>
                </a:solidFill>
                <a:latin typeface="+mj-lt"/>
                <a:ea typeface="+mj-ea"/>
                <a:cs typeface="+mj-cs"/>
              </a:rPr>
              <a:t>WHILE</a:t>
            </a:r>
            <a:r>
              <a:rPr lang="zh-CN" altLang="en-US">
                <a:solidFill>
                  <a:srgbClr val="FFFFFF"/>
                </a:solidFill>
                <a:latin typeface="+mj-lt"/>
                <a:ea typeface="+mj-ea"/>
                <a:cs typeface="+mj-cs"/>
              </a:rPr>
              <a:t>循环</a:t>
            </a:r>
          </a:p>
        </p:txBody>
      </p:sp>
      <p:sp>
        <p:nvSpPr>
          <p:cNvPr id="55300"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buSzPct val="75000"/>
            </a:pPr>
            <a:r>
              <a:rPr lang="zh-CN" altLang="en-US" sz="2000">
                <a:solidFill>
                  <a:srgbClr val="000000"/>
                </a:solidFill>
                <a:latin typeface="+mn-lt"/>
                <a:ea typeface="+mn-ea"/>
                <a:cs typeface="+mn-cs"/>
              </a:rPr>
              <a:t>基本语法</a:t>
            </a:r>
          </a:p>
          <a:p>
            <a:pPr lvl="1" eaLnBrk="1" hangingPunct="1">
              <a:buSzPct val="75000"/>
            </a:pPr>
            <a:r>
              <a:rPr lang="en-US" altLang="zh-CN" sz="2000" b="0">
                <a:solidFill>
                  <a:srgbClr val="000000"/>
                </a:solidFill>
                <a:latin typeface="+mn-lt"/>
                <a:ea typeface="华文仿宋" panose="02010600040101010101" pitchFamily="2" charset="-122"/>
              </a:rPr>
              <a:t>WHILE condition LOOP </a:t>
            </a:r>
          </a:p>
          <a:p>
            <a:pPr lvl="1" eaLnBrk="1" hangingPunct="1">
              <a:buSzPct val="75000"/>
            </a:pPr>
            <a:r>
              <a:rPr lang="en-US" altLang="zh-CN" sz="2000" b="0">
                <a:solidFill>
                  <a:srgbClr val="000000"/>
                </a:solidFill>
                <a:latin typeface="+mn-lt"/>
                <a:ea typeface="华文仿宋" panose="02010600040101010101" pitchFamily="2" charset="-122"/>
              </a:rPr>
              <a:t>    sequence_of_statement;</a:t>
            </a:r>
          </a:p>
          <a:p>
            <a:pPr lvl="1" eaLnBrk="1" hangingPunct="1">
              <a:buSzPct val="75000"/>
            </a:pPr>
            <a:r>
              <a:rPr lang="en-US" altLang="zh-CN" sz="2000" b="0">
                <a:solidFill>
                  <a:srgbClr val="000000"/>
                </a:solidFill>
                <a:latin typeface="+mn-lt"/>
                <a:ea typeface="华文仿宋" panose="02010600040101010101" pitchFamily="2" charset="-122"/>
              </a:rPr>
              <a:t>END LOOP;</a:t>
            </a:r>
            <a:r>
              <a:rPr lang="en-US" altLang="zh-CN" sz="2000">
                <a:solidFill>
                  <a:srgbClr val="000000"/>
                </a:solidFill>
                <a:latin typeface="+mn-lt"/>
                <a:ea typeface="华文仿宋" panose="02010600040101010101" pitchFamily="2" charset="-122"/>
              </a:rPr>
              <a:t> </a:t>
            </a:r>
          </a:p>
        </p:txBody>
      </p:sp>
      <p:sp>
        <p:nvSpPr>
          <p:cNvPr id="55298"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52</a:t>
            </a:fld>
            <a:endParaRPr lang="en-US" altLang="zh-CN">
              <a:solidFill>
                <a:srgbClr val="898989"/>
              </a:solidFill>
              <a:ea typeface="宋体" panose="02010600030101010101" pitchFamily="2"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7" name="Picture 76">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72739" name="Rectangle 3"/>
          <p:cNvSpPr>
            <a:spLocks noGrp="1" noChangeArrowheads="1"/>
          </p:cNvSpPr>
          <p:nvPr>
            <p:ph idx="1"/>
          </p:nvPr>
        </p:nvSpPr>
        <p:spPr>
          <a:xfrm>
            <a:off x="6090574" y="801866"/>
            <a:ext cx="5306084" cy="5230634"/>
          </a:xfrm>
        </p:spPr>
        <p:txBody>
          <a:bodyPr vert="horz" lIns="121920" tIns="60960" rIns="121920" bIns="60960" numCol="1" anchor="ctr" anchorCtr="0" compatLnSpc="1">
            <a:normAutofit/>
          </a:bodyPr>
          <a:lstStyle/>
          <a:p>
            <a:pPr marL="457200" marR="0" lvl="0" indent="-457200" defTabSz="914400" rtl="0" eaLnBrk="1" fontAlgn="base" latinLnBrk="0" hangingPunct="1">
              <a:lnSpc>
                <a:spcPct val="90000"/>
              </a:lnSpc>
              <a:spcBef>
                <a:spcPct val="20000"/>
              </a:spcBef>
              <a:spcAft>
                <a:spcPct val="0"/>
              </a:spcAft>
              <a:buClr>
                <a:schemeClr val="bg2"/>
              </a:buClr>
              <a:buSzPct val="75000"/>
              <a:buFont typeface="Wingdings" panose="05000000000000000000" pitchFamily="2" charset="2"/>
              <a:buChar char="l"/>
              <a:defRPr/>
            </a:pPr>
            <a:r>
              <a:rPr kumimoji="0" lang="zh-CN" altLang="zh-CN" sz="1700" b="0" i="0" u="none" strike="noStrike" kern="0" cap="none" spc="0" normalizeH="0" baseline="0" noProof="0">
                <a:ln>
                  <a:noFill/>
                </a:ln>
                <a:solidFill>
                  <a:srgbClr val="000000"/>
                </a:solidFill>
                <a:effectLst/>
                <a:uLnTx/>
                <a:uFillTx/>
                <a:latin typeface="+mn-lt"/>
                <a:ea typeface="+mn-ea"/>
                <a:cs typeface="+mn-cs"/>
              </a:rPr>
              <a:t>利用</a:t>
            </a:r>
            <a:r>
              <a:rPr kumimoji="0" lang="en-US" altLang="zh-CN" sz="1700" b="0" i="0" u="none" strike="noStrike" kern="0" cap="none" spc="0" normalizeH="0" baseline="0" noProof="0">
                <a:ln>
                  <a:noFill/>
                </a:ln>
                <a:solidFill>
                  <a:srgbClr val="000000"/>
                </a:solidFill>
                <a:effectLst/>
                <a:uLnTx/>
                <a:uFillTx/>
                <a:latin typeface="+mn-lt"/>
                <a:ea typeface="+mn-ea"/>
                <a:cs typeface="+mn-cs"/>
              </a:rPr>
              <a:t>WHILE</a:t>
            </a:r>
            <a:r>
              <a:rPr kumimoji="0" lang="zh-CN" altLang="zh-CN" sz="1700" b="0" i="0" u="none" strike="noStrike" kern="0" cap="none" spc="0" normalizeH="0" baseline="0" noProof="0">
                <a:ln>
                  <a:noFill/>
                </a:ln>
                <a:solidFill>
                  <a:srgbClr val="000000"/>
                </a:solidFill>
                <a:effectLst/>
                <a:uLnTx/>
                <a:uFillTx/>
                <a:latin typeface="+mn-lt"/>
                <a:ea typeface="+mn-ea"/>
                <a:cs typeface="+mn-cs"/>
              </a:rPr>
              <a:t>循环求</a:t>
            </a:r>
            <a:r>
              <a:rPr kumimoji="0" lang="en-US" altLang="zh-CN" sz="1700" b="0" i="0" u="none" strike="noStrike" kern="0" cap="none" spc="0" normalizeH="0" baseline="0" noProof="0">
                <a:ln>
                  <a:noFill/>
                </a:ln>
                <a:solidFill>
                  <a:srgbClr val="000000"/>
                </a:solidFill>
                <a:effectLst/>
                <a:uLnTx/>
                <a:uFillTx/>
                <a:latin typeface="+mn-lt"/>
                <a:ea typeface="+mn-ea"/>
                <a:cs typeface="+mn-cs"/>
              </a:rPr>
              <a:t>1</a:t>
            </a:r>
            <a:r>
              <a:rPr kumimoji="0" lang="zh-CN" altLang="zh-CN" sz="1700" b="0" i="0" u="none" strike="noStrike" kern="0" cap="none" spc="0" normalizeH="0" baseline="0" noProof="0">
                <a:ln>
                  <a:noFill/>
                </a:ln>
                <a:solidFill>
                  <a:srgbClr val="000000"/>
                </a:solidFill>
                <a:effectLst/>
                <a:uLnTx/>
                <a:uFillTx/>
                <a:latin typeface="+mn-lt"/>
                <a:ea typeface="+mn-ea"/>
                <a:cs typeface="+mn-cs"/>
              </a:rPr>
              <a:t>～</a:t>
            </a:r>
            <a:r>
              <a:rPr kumimoji="0" lang="en-US" altLang="zh-CN" sz="1700" b="0" i="0" u="none" strike="noStrike" kern="0" cap="none" spc="0" normalizeH="0" baseline="0" noProof="0">
                <a:ln>
                  <a:noFill/>
                </a:ln>
                <a:solidFill>
                  <a:srgbClr val="000000"/>
                </a:solidFill>
                <a:effectLst/>
                <a:uLnTx/>
                <a:uFillTx/>
                <a:latin typeface="+mn-lt"/>
                <a:ea typeface="+mn-ea"/>
                <a:cs typeface="+mn-cs"/>
              </a:rPr>
              <a:t>100</a:t>
            </a:r>
            <a:r>
              <a:rPr kumimoji="0" lang="zh-CN" altLang="zh-CN" sz="1700" b="0" i="0" u="none" strike="noStrike" kern="0" cap="none" spc="0" normalizeH="0" baseline="0" noProof="0">
                <a:ln>
                  <a:noFill/>
                </a:ln>
                <a:solidFill>
                  <a:srgbClr val="000000"/>
                </a:solidFill>
                <a:effectLst/>
                <a:uLnTx/>
                <a:uFillTx/>
                <a:latin typeface="+mn-lt"/>
                <a:ea typeface="+mn-ea"/>
                <a:cs typeface="+mn-cs"/>
              </a:rPr>
              <a:t>之间偶数的和。</a:t>
            </a:r>
          </a:p>
          <a:p>
            <a:pPr marL="914400" marR="0" lvl="1" indent="-457200" defTabSz="914400" rtl="0" eaLnBrk="1" fontAlgn="base" latinLnBrk="0" hangingPunct="1">
              <a:lnSpc>
                <a:spcPct val="90000"/>
              </a:lnSpc>
              <a:spcBef>
                <a:spcPct val="20000"/>
              </a:spcBef>
              <a:spcAft>
                <a:spcPct val="0"/>
              </a:spcAft>
              <a:buClr>
                <a:schemeClr val="tx2"/>
              </a:buClr>
              <a:buSzPct val="75000"/>
              <a:buFont typeface="Verdana" panose="020B0604030504040204" pitchFamily="34" charset="0"/>
              <a:buChar char="—"/>
              <a:defRPr/>
            </a:pPr>
            <a:r>
              <a:rPr kumimoji="0" lang="en-US" altLang="zh-CN" sz="1700" b="1" i="0" u="none" strike="noStrike" kern="0" cap="none" spc="0" normalizeH="0" baseline="0" noProof="0">
                <a:ln>
                  <a:noFill/>
                </a:ln>
                <a:solidFill>
                  <a:srgbClr val="000000"/>
                </a:solidFill>
                <a:effectLst/>
                <a:uLnTx/>
                <a:uFillTx/>
                <a:latin typeface="+mn-lt"/>
                <a:ea typeface="+mn-ea"/>
                <a:cs typeface="+mn-cs"/>
              </a:rPr>
              <a:t>DECLARE</a:t>
            </a:r>
            <a:endParaRPr kumimoji="0" lang="zh-CN" altLang="zh-CN" sz="1700" b="1" i="0" u="none" strike="noStrike" kern="0" cap="none" spc="0" normalizeH="0" baseline="0" noProof="0">
              <a:ln>
                <a:noFill/>
              </a:ln>
              <a:solidFill>
                <a:srgbClr val="000000"/>
              </a:solidFill>
              <a:effectLst/>
              <a:uLnTx/>
              <a:uFillTx/>
              <a:latin typeface="+mn-lt"/>
              <a:ea typeface="+mn-ea"/>
              <a:cs typeface="+mn-cs"/>
            </a:endParaRPr>
          </a:p>
          <a:p>
            <a:pPr marL="914400" marR="0" lvl="1" indent="-457200" defTabSz="914400" rtl="0" eaLnBrk="1" fontAlgn="base" latinLnBrk="0" hangingPunct="1">
              <a:lnSpc>
                <a:spcPct val="90000"/>
              </a:lnSpc>
              <a:spcBef>
                <a:spcPct val="20000"/>
              </a:spcBef>
              <a:spcAft>
                <a:spcPct val="0"/>
              </a:spcAft>
              <a:buClr>
                <a:schemeClr val="tx2"/>
              </a:buClr>
              <a:buSzPct val="75000"/>
              <a:buFont typeface="Verdana" panose="020B0604030504040204" pitchFamily="34" charset="0"/>
              <a:buChar char="—"/>
              <a:defRPr/>
            </a:pPr>
            <a:r>
              <a:rPr kumimoji="0" lang="en-US" altLang="zh-CN" sz="1700" b="1" i="0" u="none" strike="noStrike" kern="0" cap="none" spc="0" normalizeH="0" baseline="0" noProof="0">
                <a:ln>
                  <a:noFill/>
                </a:ln>
                <a:solidFill>
                  <a:srgbClr val="000000"/>
                </a:solidFill>
                <a:effectLst/>
                <a:uLnTx/>
                <a:uFillTx/>
                <a:latin typeface="+mn-lt"/>
                <a:ea typeface="+mn-ea"/>
                <a:cs typeface="+mn-cs"/>
              </a:rPr>
              <a:t>  v_counter BINARY_INTEGER :=1;</a:t>
            </a:r>
            <a:endParaRPr kumimoji="0" lang="zh-CN" altLang="zh-CN" sz="1700" b="1" i="0" u="none" strike="noStrike" kern="0" cap="none" spc="0" normalizeH="0" baseline="0" noProof="0">
              <a:ln>
                <a:noFill/>
              </a:ln>
              <a:solidFill>
                <a:srgbClr val="000000"/>
              </a:solidFill>
              <a:effectLst/>
              <a:uLnTx/>
              <a:uFillTx/>
              <a:latin typeface="+mn-lt"/>
              <a:ea typeface="+mn-ea"/>
              <a:cs typeface="+mn-cs"/>
            </a:endParaRPr>
          </a:p>
          <a:p>
            <a:pPr marL="914400" marR="0" lvl="1" indent="-457200" defTabSz="914400" rtl="0" eaLnBrk="1" fontAlgn="base" latinLnBrk="0" hangingPunct="1">
              <a:lnSpc>
                <a:spcPct val="90000"/>
              </a:lnSpc>
              <a:spcBef>
                <a:spcPct val="20000"/>
              </a:spcBef>
              <a:spcAft>
                <a:spcPct val="0"/>
              </a:spcAft>
              <a:buClr>
                <a:schemeClr val="tx2"/>
              </a:buClr>
              <a:buSzPct val="75000"/>
              <a:buFont typeface="Verdana" panose="020B0604030504040204" pitchFamily="34" charset="0"/>
              <a:buChar char="—"/>
              <a:defRPr/>
            </a:pPr>
            <a:r>
              <a:rPr kumimoji="0" lang="en-US" altLang="zh-CN" sz="1700" b="1" i="0" u="none" strike="noStrike" kern="0" cap="none" spc="0" normalizeH="0" baseline="0" noProof="0">
                <a:ln>
                  <a:noFill/>
                </a:ln>
                <a:solidFill>
                  <a:srgbClr val="000000"/>
                </a:solidFill>
                <a:effectLst/>
                <a:uLnTx/>
                <a:uFillTx/>
                <a:latin typeface="+mn-lt"/>
                <a:ea typeface="+mn-ea"/>
                <a:cs typeface="+mn-cs"/>
              </a:rPr>
              <a:t>  v_sum NUMBER :=0;</a:t>
            </a:r>
            <a:endParaRPr kumimoji="0" lang="zh-CN" altLang="zh-CN" sz="1700" b="1" i="0" u="none" strike="noStrike" kern="0" cap="none" spc="0" normalizeH="0" baseline="0" noProof="0">
              <a:ln>
                <a:noFill/>
              </a:ln>
              <a:solidFill>
                <a:srgbClr val="000000"/>
              </a:solidFill>
              <a:effectLst/>
              <a:uLnTx/>
              <a:uFillTx/>
              <a:latin typeface="+mn-lt"/>
              <a:ea typeface="+mn-ea"/>
              <a:cs typeface="+mn-cs"/>
            </a:endParaRPr>
          </a:p>
          <a:p>
            <a:pPr marL="914400" marR="0" lvl="1" indent="-457200" defTabSz="914400" rtl="0" eaLnBrk="1" fontAlgn="base" latinLnBrk="0" hangingPunct="1">
              <a:lnSpc>
                <a:spcPct val="90000"/>
              </a:lnSpc>
              <a:spcBef>
                <a:spcPct val="20000"/>
              </a:spcBef>
              <a:spcAft>
                <a:spcPct val="0"/>
              </a:spcAft>
              <a:buClr>
                <a:schemeClr val="tx2"/>
              </a:buClr>
              <a:buSzPct val="75000"/>
              <a:buFont typeface="Verdana" panose="020B0604030504040204" pitchFamily="34" charset="0"/>
              <a:buChar char="—"/>
              <a:defRPr/>
            </a:pPr>
            <a:r>
              <a:rPr kumimoji="0" lang="en-US" altLang="zh-CN" sz="1700" b="1" i="0" u="none" strike="noStrike" kern="0" cap="none" spc="0" normalizeH="0" baseline="0" noProof="0">
                <a:ln>
                  <a:noFill/>
                </a:ln>
                <a:solidFill>
                  <a:srgbClr val="000000"/>
                </a:solidFill>
                <a:effectLst/>
                <a:uLnTx/>
                <a:uFillTx/>
                <a:latin typeface="+mn-lt"/>
                <a:ea typeface="+mn-ea"/>
                <a:cs typeface="+mn-cs"/>
              </a:rPr>
              <a:t>BEGIN</a:t>
            </a:r>
            <a:endParaRPr kumimoji="0" lang="zh-CN" altLang="zh-CN" sz="1700" b="1" i="0" u="none" strike="noStrike" kern="0" cap="none" spc="0" normalizeH="0" baseline="0" noProof="0">
              <a:ln>
                <a:noFill/>
              </a:ln>
              <a:solidFill>
                <a:srgbClr val="000000"/>
              </a:solidFill>
              <a:effectLst/>
              <a:uLnTx/>
              <a:uFillTx/>
              <a:latin typeface="+mn-lt"/>
              <a:ea typeface="+mn-ea"/>
              <a:cs typeface="+mn-cs"/>
            </a:endParaRPr>
          </a:p>
          <a:p>
            <a:pPr marL="914400" marR="0" lvl="1" indent="-457200" defTabSz="914400" rtl="0" eaLnBrk="1" fontAlgn="base" latinLnBrk="0" hangingPunct="1">
              <a:lnSpc>
                <a:spcPct val="90000"/>
              </a:lnSpc>
              <a:spcBef>
                <a:spcPct val="20000"/>
              </a:spcBef>
              <a:spcAft>
                <a:spcPct val="0"/>
              </a:spcAft>
              <a:buClr>
                <a:schemeClr val="tx2"/>
              </a:buClr>
              <a:buSzPct val="75000"/>
              <a:buFont typeface="Verdana" panose="020B0604030504040204" pitchFamily="34" charset="0"/>
              <a:buChar char="—"/>
              <a:defRPr/>
            </a:pPr>
            <a:r>
              <a:rPr kumimoji="0" lang="en-US" altLang="zh-CN" sz="1700" b="1" i="0" u="none" strike="noStrike" kern="0" cap="none" spc="0" normalizeH="0" baseline="0" noProof="0">
                <a:ln>
                  <a:noFill/>
                </a:ln>
                <a:solidFill>
                  <a:srgbClr val="000000"/>
                </a:solidFill>
                <a:effectLst/>
                <a:uLnTx/>
                <a:uFillTx/>
                <a:latin typeface="+mn-lt"/>
                <a:ea typeface="+mn-ea"/>
                <a:cs typeface="+mn-cs"/>
              </a:rPr>
              <a:t>  WHILE v_counter &lt;= 100 LOOP</a:t>
            </a:r>
            <a:endParaRPr kumimoji="0" lang="zh-CN" altLang="zh-CN" sz="1700" b="1" i="0" u="none" strike="noStrike" kern="0" cap="none" spc="0" normalizeH="0" baseline="0" noProof="0">
              <a:ln>
                <a:noFill/>
              </a:ln>
              <a:solidFill>
                <a:srgbClr val="000000"/>
              </a:solidFill>
              <a:effectLst/>
              <a:uLnTx/>
              <a:uFillTx/>
              <a:latin typeface="+mn-lt"/>
              <a:ea typeface="+mn-ea"/>
              <a:cs typeface="+mn-cs"/>
            </a:endParaRPr>
          </a:p>
          <a:p>
            <a:pPr marL="914400" marR="0" lvl="1" indent="-457200" defTabSz="914400" rtl="0" eaLnBrk="1" fontAlgn="base" latinLnBrk="0" hangingPunct="1">
              <a:lnSpc>
                <a:spcPct val="90000"/>
              </a:lnSpc>
              <a:spcBef>
                <a:spcPct val="20000"/>
              </a:spcBef>
              <a:spcAft>
                <a:spcPct val="0"/>
              </a:spcAft>
              <a:buClr>
                <a:schemeClr val="tx2"/>
              </a:buClr>
              <a:buSzPct val="75000"/>
              <a:buFont typeface="Verdana" panose="020B0604030504040204" pitchFamily="34" charset="0"/>
              <a:buChar char="—"/>
              <a:defRPr/>
            </a:pPr>
            <a:r>
              <a:rPr kumimoji="0" lang="en-US" altLang="zh-CN" sz="1700" b="1" i="0" u="none" strike="noStrike" kern="0" cap="none" spc="0" normalizeH="0" baseline="0" noProof="0">
                <a:ln>
                  <a:noFill/>
                </a:ln>
                <a:solidFill>
                  <a:srgbClr val="000000"/>
                </a:solidFill>
                <a:effectLst/>
                <a:uLnTx/>
                <a:uFillTx/>
                <a:latin typeface="+mn-lt"/>
                <a:ea typeface="+mn-ea"/>
                <a:cs typeface="+mn-cs"/>
              </a:rPr>
              <a:t>    IF mod(v_counter,2)=0 THEN</a:t>
            </a:r>
            <a:endParaRPr kumimoji="0" lang="zh-CN" altLang="zh-CN" sz="1700" b="1" i="0" u="none" strike="noStrike" kern="0" cap="none" spc="0" normalizeH="0" baseline="0" noProof="0">
              <a:ln>
                <a:noFill/>
              </a:ln>
              <a:solidFill>
                <a:srgbClr val="000000"/>
              </a:solidFill>
              <a:effectLst/>
              <a:uLnTx/>
              <a:uFillTx/>
              <a:latin typeface="+mn-lt"/>
              <a:ea typeface="+mn-ea"/>
              <a:cs typeface="+mn-cs"/>
            </a:endParaRPr>
          </a:p>
          <a:p>
            <a:pPr marL="914400" marR="0" lvl="1" indent="-457200" defTabSz="914400" rtl="0" eaLnBrk="1" fontAlgn="base" latinLnBrk="0" hangingPunct="1">
              <a:lnSpc>
                <a:spcPct val="90000"/>
              </a:lnSpc>
              <a:spcBef>
                <a:spcPct val="20000"/>
              </a:spcBef>
              <a:spcAft>
                <a:spcPct val="0"/>
              </a:spcAft>
              <a:buClr>
                <a:schemeClr val="tx2"/>
              </a:buClr>
              <a:buSzPct val="75000"/>
              <a:buFont typeface="Verdana" panose="020B0604030504040204" pitchFamily="34" charset="0"/>
              <a:buChar char="—"/>
              <a:defRPr/>
            </a:pPr>
            <a:r>
              <a:rPr kumimoji="0" lang="en-US" altLang="zh-CN" sz="1700" b="1" i="0" u="none" strike="noStrike" kern="0" cap="none" spc="0" normalizeH="0" baseline="0" noProof="0">
                <a:ln>
                  <a:noFill/>
                </a:ln>
                <a:solidFill>
                  <a:srgbClr val="000000"/>
                </a:solidFill>
                <a:effectLst/>
                <a:uLnTx/>
                <a:uFillTx/>
                <a:latin typeface="+mn-lt"/>
                <a:ea typeface="+mn-ea"/>
                <a:cs typeface="+mn-cs"/>
              </a:rPr>
              <a:t>      v_sum:=v_sum+v_counter;</a:t>
            </a:r>
            <a:endParaRPr kumimoji="0" lang="zh-CN" altLang="zh-CN" sz="1700" b="1" i="0" u="none" strike="noStrike" kern="0" cap="none" spc="0" normalizeH="0" baseline="0" noProof="0">
              <a:ln>
                <a:noFill/>
              </a:ln>
              <a:solidFill>
                <a:srgbClr val="000000"/>
              </a:solidFill>
              <a:effectLst/>
              <a:uLnTx/>
              <a:uFillTx/>
              <a:latin typeface="+mn-lt"/>
              <a:ea typeface="+mn-ea"/>
              <a:cs typeface="+mn-cs"/>
            </a:endParaRPr>
          </a:p>
          <a:p>
            <a:pPr marL="914400" marR="0" lvl="1" indent="-457200" defTabSz="914400" rtl="0" eaLnBrk="1" fontAlgn="base" latinLnBrk="0" hangingPunct="1">
              <a:lnSpc>
                <a:spcPct val="90000"/>
              </a:lnSpc>
              <a:spcBef>
                <a:spcPct val="20000"/>
              </a:spcBef>
              <a:spcAft>
                <a:spcPct val="0"/>
              </a:spcAft>
              <a:buClr>
                <a:schemeClr val="tx2"/>
              </a:buClr>
              <a:buSzPct val="75000"/>
              <a:buFont typeface="Verdana" panose="020B0604030504040204" pitchFamily="34" charset="0"/>
              <a:buChar char="—"/>
              <a:defRPr/>
            </a:pPr>
            <a:r>
              <a:rPr kumimoji="0" lang="en-US" altLang="zh-CN" sz="1700" b="1" i="0" u="none" strike="noStrike" kern="0" cap="none" spc="0" normalizeH="0" baseline="0" noProof="0">
                <a:ln>
                  <a:noFill/>
                </a:ln>
                <a:solidFill>
                  <a:srgbClr val="000000"/>
                </a:solidFill>
                <a:effectLst/>
                <a:uLnTx/>
                <a:uFillTx/>
                <a:latin typeface="+mn-lt"/>
                <a:ea typeface="+mn-ea"/>
                <a:cs typeface="+mn-cs"/>
              </a:rPr>
              <a:t>    END IF;</a:t>
            </a:r>
            <a:endParaRPr kumimoji="0" lang="zh-CN" altLang="zh-CN" sz="1700" b="1" i="0" u="none" strike="noStrike" kern="0" cap="none" spc="0" normalizeH="0" baseline="0" noProof="0">
              <a:ln>
                <a:noFill/>
              </a:ln>
              <a:solidFill>
                <a:srgbClr val="000000"/>
              </a:solidFill>
              <a:effectLst/>
              <a:uLnTx/>
              <a:uFillTx/>
              <a:latin typeface="+mn-lt"/>
              <a:ea typeface="+mn-ea"/>
              <a:cs typeface="+mn-cs"/>
            </a:endParaRPr>
          </a:p>
          <a:p>
            <a:pPr marL="914400" marR="0" lvl="1" indent="-457200" defTabSz="914400" rtl="0" eaLnBrk="1" fontAlgn="base" latinLnBrk="0" hangingPunct="1">
              <a:lnSpc>
                <a:spcPct val="90000"/>
              </a:lnSpc>
              <a:spcBef>
                <a:spcPct val="20000"/>
              </a:spcBef>
              <a:spcAft>
                <a:spcPct val="0"/>
              </a:spcAft>
              <a:buClr>
                <a:schemeClr val="tx2"/>
              </a:buClr>
              <a:buSzPct val="75000"/>
              <a:buFont typeface="Verdana" panose="020B0604030504040204" pitchFamily="34" charset="0"/>
              <a:buChar char="—"/>
              <a:defRPr/>
            </a:pPr>
            <a:r>
              <a:rPr kumimoji="0" lang="en-US" altLang="zh-CN" sz="1700" b="1" i="0" u="none" strike="noStrike" kern="0" cap="none" spc="0" normalizeH="0" baseline="0" noProof="0">
                <a:ln>
                  <a:noFill/>
                </a:ln>
                <a:solidFill>
                  <a:srgbClr val="000000"/>
                </a:solidFill>
                <a:effectLst/>
                <a:uLnTx/>
                <a:uFillTx/>
                <a:latin typeface="+mn-lt"/>
                <a:ea typeface="+mn-ea"/>
                <a:cs typeface="+mn-cs"/>
              </a:rPr>
              <a:t>    v_counter := v_counter + 1;    </a:t>
            </a:r>
            <a:endParaRPr kumimoji="0" lang="zh-CN" altLang="zh-CN" sz="1700" b="1" i="0" u="none" strike="noStrike" kern="0" cap="none" spc="0" normalizeH="0" baseline="0" noProof="0">
              <a:ln>
                <a:noFill/>
              </a:ln>
              <a:solidFill>
                <a:srgbClr val="000000"/>
              </a:solidFill>
              <a:effectLst/>
              <a:uLnTx/>
              <a:uFillTx/>
              <a:latin typeface="+mn-lt"/>
              <a:ea typeface="+mn-ea"/>
              <a:cs typeface="+mn-cs"/>
            </a:endParaRPr>
          </a:p>
          <a:p>
            <a:pPr marL="914400" marR="0" lvl="1" indent="-457200" defTabSz="914400" rtl="0" eaLnBrk="1" fontAlgn="base" latinLnBrk="0" hangingPunct="1">
              <a:lnSpc>
                <a:spcPct val="90000"/>
              </a:lnSpc>
              <a:spcBef>
                <a:spcPct val="20000"/>
              </a:spcBef>
              <a:spcAft>
                <a:spcPct val="0"/>
              </a:spcAft>
              <a:buClr>
                <a:schemeClr val="tx2"/>
              </a:buClr>
              <a:buSzPct val="75000"/>
              <a:buFont typeface="Verdana" panose="020B0604030504040204" pitchFamily="34" charset="0"/>
              <a:buChar char="—"/>
              <a:defRPr/>
            </a:pPr>
            <a:r>
              <a:rPr kumimoji="0" lang="en-US" altLang="zh-CN" sz="1700" b="1" i="0" u="none" strike="noStrike" kern="0" cap="none" spc="0" normalizeH="0" baseline="0" noProof="0">
                <a:ln>
                  <a:noFill/>
                </a:ln>
                <a:solidFill>
                  <a:srgbClr val="000000"/>
                </a:solidFill>
                <a:effectLst/>
                <a:uLnTx/>
                <a:uFillTx/>
                <a:latin typeface="+mn-lt"/>
                <a:ea typeface="+mn-ea"/>
                <a:cs typeface="+mn-cs"/>
              </a:rPr>
              <a:t>  END LOOP;</a:t>
            </a:r>
            <a:endParaRPr kumimoji="0" lang="zh-CN" altLang="zh-CN" sz="1700" b="1" i="0" u="none" strike="noStrike" kern="0" cap="none" spc="0" normalizeH="0" baseline="0" noProof="0">
              <a:ln>
                <a:noFill/>
              </a:ln>
              <a:solidFill>
                <a:srgbClr val="000000"/>
              </a:solidFill>
              <a:effectLst/>
              <a:uLnTx/>
              <a:uFillTx/>
              <a:latin typeface="+mn-lt"/>
              <a:ea typeface="+mn-ea"/>
              <a:cs typeface="+mn-cs"/>
            </a:endParaRPr>
          </a:p>
          <a:p>
            <a:pPr marL="914400" marR="0" lvl="1" indent="-457200" defTabSz="914400" rtl="0" eaLnBrk="1" fontAlgn="base" latinLnBrk="0" hangingPunct="1">
              <a:lnSpc>
                <a:spcPct val="90000"/>
              </a:lnSpc>
              <a:spcBef>
                <a:spcPct val="20000"/>
              </a:spcBef>
              <a:spcAft>
                <a:spcPct val="0"/>
              </a:spcAft>
              <a:buClr>
                <a:schemeClr val="tx2"/>
              </a:buClr>
              <a:buSzPct val="75000"/>
              <a:buFont typeface="Verdana" panose="020B0604030504040204" pitchFamily="34" charset="0"/>
              <a:buChar char="—"/>
              <a:defRPr/>
            </a:pPr>
            <a:r>
              <a:rPr kumimoji="0" lang="en-US" altLang="zh-CN" sz="1700" b="1" i="0" u="none" strike="noStrike" kern="0" cap="none" spc="0" normalizeH="0" baseline="0" noProof="0">
                <a:ln>
                  <a:noFill/>
                </a:ln>
                <a:solidFill>
                  <a:srgbClr val="000000"/>
                </a:solidFill>
                <a:effectLst/>
                <a:uLnTx/>
                <a:uFillTx/>
                <a:latin typeface="+mn-lt"/>
                <a:ea typeface="+mn-ea"/>
                <a:cs typeface="+mn-cs"/>
              </a:rPr>
              <a:t>  DBMS_OUTPUT.PUT_LINE(v_sum);</a:t>
            </a:r>
            <a:endParaRPr kumimoji="0" lang="zh-CN" altLang="zh-CN" sz="1700" b="1" i="0" u="none" strike="noStrike" kern="0" cap="none" spc="0" normalizeH="0" baseline="0" noProof="0">
              <a:ln>
                <a:noFill/>
              </a:ln>
              <a:solidFill>
                <a:srgbClr val="000000"/>
              </a:solidFill>
              <a:effectLst/>
              <a:uLnTx/>
              <a:uFillTx/>
              <a:latin typeface="+mn-lt"/>
              <a:ea typeface="+mn-ea"/>
              <a:cs typeface="+mn-cs"/>
            </a:endParaRPr>
          </a:p>
          <a:p>
            <a:pPr marL="914400" marR="0" lvl="1" indent="-457200" defTabSz="914400" rtl="0" eaLnBrk="1" fontAlgn="base" latinLnBrk="0" hangingPunct="1">
              <a:lnSpc>
                <a:spcPct val="90000"/>
              </a:lnSpc>
              <a:spcBef>
                <a:spcPct val="20000"/>
              </a:spcBef>
              <a:spcAft>
                <a:spcPct val="0"/>
              </a:spcAft>
              <a:buClr>
                <a:schemeClr val="tx2"/>
              </a:buClr>
              <a:buSzPct val="75000"/>
              <a:buFont typeface="Verdana" panose="020B0604030504040204" pitchFamily="34" charset="0"/>
              <a:buChar char="—"/>
              <a:defRPr/>
            </a:pPr>
            <a:r>
              <a:rPr kumimoji="0" lang="en-US" altLang="zh-CN" sz="1700" b="1" i="0" u="none" strike="noStrike" kern="0" cap="none" spc="0" normalizeH="0" baseline="0" noProof="0">
                <a:ln>
                  <a:noFill/>
                </a:ln>
                <a:solidFill>
                  <a:srgbClr val="000000"/>
                </a:solidFill>
                <a:effectLst/>
                <a:uLnTx/>
                <a:uFillTx/>
                <a:latin typeface="+mn-lt"/>
                <a:ea typeface="+mn-ea"/>
                <a:cs typeface="+mn-cs"/>
              </a:rPr>
              <a:t>END; </a:t>
            </a:r>
          </a:p>
        </p:txBody>
      </p:sp>
      <p:sp>
        <p:nvSpPr>
          <p:cNvPr id="56322"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53</a:t>
            </a:fld>
            <a:endParaRPr lang="en-US" altLang="zh-CN">
              <a:solidFill>
                <a:srgbClr val="898989"/>
              </a:solidFill>
              <a:ea typeface="宋体" panose="02010600030101010101" pitchFamily="2"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7347"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r>
              <a:rPr lang="zh-CN" altLang="en-US">
                <a:solidFill>
                  <a:srgbClr val="FFFFFF"/>
                </a:solidFill>
                <a:latin typeface="+mj-lt"/>
                <a:ea typeface="+mj-ea"/>
                <a:cs typeface="+mj-cs"/>
              </a:rPr>
              <a:t>（</a:t>
            </a:r>
            <a:r>
              <a:rPr lang="en-US" altLang="zh-CN">
                <a:solidFill>
                  <a:srgbClr val="FFFFFF"/>
                </a:solidFill>
                <a:latin typeface="+mj-lt"/>
                <a:ea typeface="+mj-ea"/>
                <a:cs typeface="+mj-cs"/>
              </a:rPr>
              <a:t>3</a:t>
            </a:r>
            <a:r>
              <a:rPr lang="zh-CN" altLang="en-US">
                <a:solidFill>
                  <a:srgbClr val="FFFFFF"/>
                </a:solidFill>
                <a:latin typeface="+mj-lt"/>
                <a:ea typeface="+mj-ea"/>
                <a:cs typeface="+mj-cs"/>
              </a:rPr>
              <a:t>）</a:t>
            </a:r>
            <a:r>
              <a:rPr lang="en-US" altLang="zh-CN">
                <a:solidFill>
                  <a:srgbClr val="FFFFFF"/>
                </a:solidFill>
                <a:latin typeface="+mj-lt"/>
                <a:ea typeface="+mj-ea"/>
                <a:cs typeface="+mj-cs"/>
              </a:rPr>
              <a:t>FOR</a:t>
            </a:r>
            <a:r>
              <a:rPr lang="zh-CN" altLang="en-US">
                <a:solidFill>
                  <a:srgbClr val="FFFFFF"/>
                </a:solidFill>
                <a:latin typeface="+mj-lt"/>
                <a:ea typeface="+mj-ea"/>
                <a:cs typeface="+mj-cs"/>
              </a:rPr>
              <a:t>循环</a:t>
            </a:r>
          </a:p>
        </p:txBody>
      </p:sp>
      <p:sp>
        <p:nvSpPr>
          <p:cNvPr id="57348"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lnSpc>
                <a:spcPct val="90000"/>
              </a:lnSpc>
              <a:buSzPct val="75000"/>
            </a:pPr>
            <a:r>
              <a:rPr lang="zh-CN" altLang="en-US" sz="1400">
                <a:solidFill>
                  <a:srgbClr val="000000"/>
                </a:solidFill>
                <a:latin typeface="+mn-lt"/>
                <a:ea typeface="+mn-ea"/>
                <a:cs typeface="+mn-cs"/>
              </a:rPr>
              <a:t>基本语法</a:t>
            </a:r>
          </a:p>
          <a:p>
            <a:pPr lvl="1" eaLnBrk="1" hangingPunct="1">
              <a:lnSpc>
                <a:spcPct val="90000"/>
              </a:lnSpc>
              <a:buSzPct val="75000"/>
            </a:pPr>
            <a:r>
              <a:rPr lang="en-US" altLang="zh-CN" sz="1400">
                <a:solidFill>
                  <a:srgbClr val="000000"/>
                </a:solidFill>
                <a:latin typeface="+mn-lt"/>
                <a:ea typeface="华文仿宋" panose="02010600040101010101" pitchFamily="2" charset="-122"/>
              </a:rPr>
              <a:t>FOR loop_counter IN [REVERSE]   </a:t>
            </a:r>
          </a:p>
          <a:p>
            <a:pPr lvl="1" eaLnBrk="1" hangingPunct="1">
              <a:lnSpc>
                <a:spcPct val="90000"/>
              </a:lnSpc>
              <a:buSzPct val="75000"/>
            </a:pPr>
            <a:r>
              <a:rPr lang="en-US" altLang="zh-CN" sz="1400">
                <a:solidFill>
                  <a:srgbClr val="000000"/>
                </a:solidFill>
                <a:latin typeface="+mn-lt"/>
                <a:ea typeface="华文仿宋" panose="02010600040101010101" pitchFamily="2" charset="-122"/>
              </a:rPr>
              <a:t>                                        low_bound..high_bound</a:t>
            </a:r>
          </a:p>
          <a:p>
            <a:pPr lvl="1" eaLnBrk="1" hangingPunct="1">
              <a:lnSpc>
                <a:spcPct val="90000"/>
              </a:lnSpc>
              <a:buSzPct val="75000"/>
            </a:pPr>
            <a:r>
              <a:rPr lang="en-US" altLang="zh-CN" sz="1400">
                <a:solidFill>
                  <a:srgbClr val="000000"/>
                </a:solidFill>
                <a:latin typeface="+mn-lt"/>
                <a:ea typeface="华文仿宋" panose="02010600040101010101" pitchFamily="2" charset="-122"/>
              </a:rPr>
              <a:t>LOOP</a:t>
            </a:r>
          </a:p>
          <a:p>
            <a:pPr lvl="1" eaLnBrk="1" hangingPunct="1">
              <a:lnSpc>
                <a:spcPct val="90000"/>
              </a:lnSpc>
              <a:buSzPct val="75000"/>
            </a:pPr>
            <a:r>
              <a:rPr lang="en-US" altLang="zh-CN" sz="1400">
                <a:solidFill>
                  <a:srgbClr val="000000"/>
                </a:solidFill>
                <a:latin typeface="+mn-lt"/>
                <a:ea typeface="华文仿宋" panose="02010600040101010101" pitchFamily="2" charset="-122"/>
              </a:rPr>
              <a:t>       sequence_of_statement;</a:t>
            </a:r>
          </a:p>
          <a:p>
            <a:pPr lvl="1" eaLnBrk="1" hangingPunct="1">
              <a:lnSpc>
                <a:spcPct val="90000"/>
              </a:lnSpc>
              <a:buSzPct val="75000"/>
            </a:pPr>
            <a:r>
              <a:rPr lang="en-US" altLang="zh-CN" sz="1400">
                <a:solidFill>
                  <a:srgbClr val="000000"/>
                </a:solidFill>
                <a:latin typeface="+mn-lt"/>
                <a:ea typeface="华文仿宋" panose="02010600040101010101" pitchFamily="2" charset="-122"/>
              </a:rPr>
              <a:t>END LOOP;</a:t>
            </a:r>
          </a:p>
          <a:p>
            <a:pPr eaLnBrk="1" hangingPunct="1">
              <a:lnSpc>
                <a:spcPct val="90000"/>
              </a:lnSpc>
              <a:buSzPct val="75000"/>
            </a:pPr>
            <a:r>
              <a:rPr lang="zh-CN" altLang="en-US" sz="1400">
                <a:solidFill>
                  <a:srgbClr val="000000"/>
                </a:solidFill>
                <a:latin typeface="+mn-lt"/>
                <a:ea typeface="+mn-ea"/>
                <a:cs typeface="+mn-cs"/>
              </a:rPr>
              <a:t>注意：</a:t>
            </a:r>
          </a:p>
          <a:p>
            <a:pPr lvl="1" eaLnBrk="1" hangingPunct="1">
              <a:lnSpc>
                <a:spcPct val="90000"/>
              </a:lnSpc>
              <a:buSzPct val="75000"/>
            </a:pPr>
            <a:r>
              <a:rPr lang="zh-CN" altLang="en-US" sz="1400">
                <a:solidFill>
                  <a:srgbClr val="000000"/>
                </a:solidFill>
                <a:latin typeface="宋体" panose="02010600030101010101" pitchFamily="2" charset="-122"/>
                <a:ea typeface="宋体" panose="02010600030101010101" pitchFamily="2" charset="-122"/>
              </a:rPr>
              <a:t>循环变量不需要显式定义，系统隐含地将它声明为</a:t>
            </a:r>
            <a:r>
              <a:rPr lang="en-US" altLang="zh-CN" sz="1400">
                <a:solidFill>
                  <a:srgbClr val="000000"/>
                </a:solidFill>
                <a:latin typeface="宋体" panose="02010600030101010101" pitchFamily="2" charset="-122"/>
                <a:ea typeface="宋体" panose="02010600030101010101" pitchFamily="2" charset="-122"/>
              </a:rPr>
              <a:t>BINARY_INTEGER</a:t>
            </a:r>
            <a:r>
              <a:rPr lang="zh-CN" altLang="en-US" sz="1400">
                <a:solidFill>
                  <a:srgbClr val="000000"/>
                </a:solidFill>
                <a:latin typeface="宋体" panose="02010600030101010101" pitchFamily="2" charset="-122"/>
                <a:ea typeface="宋体" panose="02010600030101010101" pitchFamily="2" charset="-122"/>
              </a:rPr>
              <a:t>变量；</a:t>
            </a:r>
          </a:p>
          <a:p>
            <a:pPr lvl="1" eaLnBrk="1" hangingPunct="1">
              <a:lnSpc>
                <a:spcPct val="90000"/>
              </a:lnSpc>
              <a:buSzPct val="75000"/>
            </a:pPr>
            <a:r>
              <a:rPr lang="zh-CN" altLang="en-US" sz="1400">
                <a:solidFill>
                  <a:srgbClr val="000000"/>
                </a:solidFill>
                <a:latin typeface="宋体" panose="02010600030101010101" pitchFamily="2" charset="-122"/>
                <a:ea typeface="宋体" panose="02010600030101010101" pitchFamily="2" charset="-122"/>
              </a:rPr>
              <a:t>系统默认时，循环变量从下界往上界递增计数，如果使用</a:t>
            </a:r>
            <a:r>
              <a:rPr lang="en-US" altLang="zh-CN" sz="1400">
                <a:solidFill>
                  <a:srgbClr val="000000"/>
                </a:solidFill>
                <a:latin typeface="宋体" panose="02010600030101010101" pitchFamily="2" charset="-122"/>
                <a:ea typeface="宋体" panose="02010600030101010101" pitchFamily="2" charset="-122"/>
              </a:rPr>
              <a:t>REVERSE</a:t>
            </a:r>
            <a:r>
              <a:rPr lang="zh-CN" altLang="en-US" sz="1400">
                <a:solidFill>
                  <a:srgbClr val="000000"/>
                </a:solidFill>
                <a:latin typeface="宋体" panose="02010600030101010101" pitchFamily="2" charset="-122"/>
                <a:ea typeface="宋体" panose="02010600030101010101" pitchFamily="2" charset="-122"/>
              </a:rPr>
              <a:t>关键字，则表示循环变量从上界向下界递减计数；</a:t>
            </a:r>
          </a:p>
          <a:p>
            <a:pPr lvl="1" eaLnBrk="1" hangingPunct="1">
              <a:lnSpc>
                <a:spcPct val="90000"/>
              </a:lnSpc>
              <a:buSzPct val="75000"/>
            </a:pPr>
            <a:r>
              <a:rPr lang="zh-CN" altLang="en-US" sz="1400">
                <a:solidFill>
                  <a:srgbClr val="000000"/>
                </a:solidFill>
                <a:latin typeface="宋体" panose="02010600030101010101" pitchFamily="2" charset="-122"/>
                <a:ea typeface="宋体" panose="02010600030101010101" pitchFamily="2" charset="-122"/>
              </a:rPr>
              <a:t>循环变量只能在循环体中使用，不能在循环体外使用。</a:t>
            </a:r>
          </a:p>
        </p:txBody>
      </p:sp>
      <p:sp>
        <p:nvSpPr>
          <p:cNvPr id="57346"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54</a:t>
            </a:fld>
            <a:endParaRPr lang="en-US" altLang="zh-CN">
              <a:solidFill>
                <a:srgbClr val="898989"/>
              </a:solidFill>
              <a:ea typeface="宋体" panose="02010600030101010101" pitchFamily="2"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6" name="Rectangle 135">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8" name="Picture 137">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8371"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endParaRPr lang="zh-CN" altLang="zh-CN">
              <a:solidFill>
                <a:srgbClr val="FFFFFF"/>
              </a:solidFill>
              <a:latin typeface="+mj-lt"/>
              <a:ea typeface="+mj-ea"/>
              <a:cs typeface="+mj-cs"/>
            </a:endParaRPr>
          </a:p>
        </p:txBody>
      </p:sp>
      <p:sp>
        <p:nvSpPr>
          <p:cNvPr id="373763" name="Rectangle 3"/>
          <p:cNvSpPr>
            <a:spLocks noGrp="1" noChangeArrowheads="1"/>
          </p:cNvSpPr>
          <p:nvPr>
            <p:ph idx="1"/>
          </p:nvPr>
        </p:nvSpPr>
        <p:spPr>
          <a:xfrm>
            <a:off x="1179226" y="3092970"/>
            <a:ext cx="9833548" cy="2693976"/>
          </a:xfrm>
        </p:spPr>
        <p:txBody>
          <a:bodyPr vert="horz" lIns="121920" tIns="60960" rIns="121920" bIns="60960" numCol="1" anchorCtr="0" compatLnSpc="1">
            <a:normAutofit/>
          </a:bodyPr>
          <a:lstStyle/>
          <a:p>
            <a:pPr marL="457200" marR="0" lvl="0" indent="-457200" defTabSz="914400" rtl="0" eaLnBrk="1" fontAlgn="base" latinLnBrk="0" hangingPunct="1">
              <a:lnSpc>
                <a:spcPct val="90000"/>
              </a:lnSpc>
              <a:spcBef>
                <a:spcPct val="20000"/>
              </a:spcBef>
              <a:spcAft>
                <a:spcPct val="0"/>
              </a:spcAft>
              <a:buClr>
                <a:schemeClr val="bg2"/>
              </a:buClr>
              <a:buSzPct val="75000"/>
              <a:buFont typeface="Wingdings" panose="05000000000000000000" pitchFamily="2" charset="2"/>
              <a:buChar char="l"/>
              <a:defRPr/>
            </a:pPr>
            <a:r>
              <a:rPr kumimoji="0" lang="zh-CN" altLang="zh-CN" sz="1400" b="0" i="0" u="none" strike="noStrike" kern="0" cap="none" spc="0" normalizeH="0" baseline="0" noProof="0">
                <a:ln>
                  <a:noFill/>
                </a:ln>
                <a:solidFill>
                  <a:srgbClr val="000000"/>
                </a:solidFill>
                <a:effectLst/>
                <a:uLnTx/>
                <a:uFillTx/>
                <a:latin typeface="+mn-lt"/>
                <a:ea typeface="+mn-ea"/>
                <a:cs typeface="+mn-cs"/>
              </a:rPr>
              <a:t>利用</a:t>
            </a:r>
            <a:r>
              <a:rPr kumimoji="0" lang="en-US" altLang="zh-CN" sz="1400" b="0" i="0" u="none" strike="noStrike" kern="0" cap="none" spc="0" normalizeH="0" baseline="0" noProof="0">
                <a:ln>
                  <a:noFill/>
                </a:ln>
                <a:solidFill>
                  <a:srgbClr val="000000"/>
                </a:solidFill>
                <a:effectLst/>
                <a:uLnTx/>
                <a:uFillTx/>
                <a:latin typeface="+mn-lt"/>
                <a:ea typeface="+mn-ea"/>
                <a:cs typeface="+mn-cs"/>
              </a:rPr>
              <a:t>FOR</a:t>
            </a:r>
            <a:r>
              <a:rPr kumimoji="0" lang="zh-CN" altLang="zh-CN" sz="1400" b="0" i="0" u="none" strike="noStrike" kern="0" cap="none" spc="0" normalizeH="0" baseline="0" noProof="0">
                <a:ln>
                  <a:noFill/>
                </a:ln>
                <a:solidFill>
                  <a:srgbClr val="000000"/>
                </a:solidFill>
                <a:effectLst/>
                <a:uLnTx/>
                <a:uFillTx/>
                <a:latin typeface="+mn-lt"/>
                <a:ea typeface="+mn-ea"/>
                <a:cs typeface="+mn-cs"/>
              </a:rPr>
              <a:t>循环求</a:t>
            </a:r>
            <a:r>
              <a:rPr kumimoji="0" lang="en-US" altLang="zh-CN" sz="1400" b="0" i="0" u="none" strike="noStrike" kern="0" cap="none" spc="0" normalizeH="0" baseline="0" noProof="0">
                <a:ln>
                  <a:noFill/>
                </a:ln>
                <a:solidFill>
                  <a:srgbClr val="000000"/>
                </a:solidFill>
                <a:effectLst/>
                <a:uLnTx/>
                <a:uFillTx/>
                <a:latin typeface="+mn-lt"/>
                <a:ea typeface="+mn-ea"/>
                <a:cs typeface="+mn-cs"/>
              </a:rPr>
              <a:t>1</a:t>
            </a:r>
            <a:r>
              <a:rPr kumimoji="0" lang="zh-CN" altLang="zh-CN" sz="1400" b="0" i="0" u="none" strike="noStrike" kern="0" cap="none" spc="0" normalizeH="0" baseline="0" noProof="0">
                <a:ln>
                  <a:noFill/>
                </a:ln>
                <a:solidFill>
                  <a:srgbClr val="000000"/>
                </a:solidFill>
                <a:effectLst/>
                <a:uLnTx/>
                <a:uFillTx/>
                <a:latin typeface="+mn-lt"/>
                <a:ea typeface="+mn-ea"/>
                <a:cs typeface="+mn-cs"/>
              </a:rPr>
              <a:t>～</a:t>
            </a:r>
            <a:r>
              <a:rPr kumimoji="0" lang="en-US" altLang="zh-CN" sz="1400" b="0" i="0" u="none" strike="noStrike" kern="0" cap="none" spc="0" normalizeH="0" baseline="0" noProof="0">
                <a:ln>
                  <a:noFill/>
                </a:ln>
                <a:solidFill>
                  <a:srgbClr val="000000"/>
                </a:solidFill>
                <a:effectLst/>
                <a:uLnTx/>
                <a:uFillTx/>
                <a:latin typeface="+mn-lt"/>
                <a:ea typeface="+mn-ea"/>
                <a:cs typeface="+mn-cs"/>
              </a:rPr>
              <a:t>100</a:t>
            </a:r>
            <a:r>
              <a:rPr kumimoji="0" lang="zh-CN" altLang="zh-CN" sz="1400" b="0" i="0" u="none" strike="noStrike" kern="0" cap="none" spc="0" normalizeH="0" baseline="0" noProof="0">
                <a:ln>
                  <a:noFill/>
                </a:ln>
                <a:solidFill>
                  <a:srgbClr val="000000"/>
                </a:solidFill>
                <a:effectLst/>
                <a:uLnTx/>
                <a:uFillTx/>
                <a:latin typeface="+mn-lt"/>
                <a:ea typeface="+mn-ea"/>
                <a:cs typeface="+mn-cs"/>
              </a:rPr>
              <a:t>之间偶数的和。</a:t>
            </a:r>
          </a:p>
          <a:p>
            <a:pPr marL="914400" marR="0" lvl="1" indent="-457200" defTabSz="914400" rtl="0" eaLnBrk="1" fontAlgn="base" latinLnBrk="0" hangingPunct="1">
              <a:lnSpc>
                <a:spcPct val="90000"/>
              </a:lnSpc>
              <a:spcBef>
                <a:spcPct val="20000"/>
              </a:spcBef>
              <a:spcAft>
                <a:spcPct val="0"/>
              </a:spcAft>
              <a:buClr>
                <a:schemeClr val="tx2"/>
              </a:buClr>
              <a:buSzPct val="75000"/>
              <a:buFont typeface="Verdana" panose="020B0604030504040204" pitchFamily="34" charset="0"/>
              <a:buChar char="—"/>
              <a:defRPr/>
            </a:pPr>
            <a:r>
              <a:rPr kumimoji="0" lang="en-US" altLang="zh-CN" sz="1400" b="1" i="0" u="none" strike="noStrike" kern="0" cap="none" spc="0" normalizeH="0" baseline="0" noProof="0">
                <a:ln>
                  <a:noFill/>
                </a:ln>
                <a:solidFill>
                  <a:srgbClr val="000000"/>
                </a:solidFill>
                <a:effectLst/>
                <a:uLnTx/>
                <a:uFillTx/>
                <a:latin typeface="+mn-lt"/>
                <a:ea typeface="+mn-ea"/>
                <a:cs typeface="+mn-cs"/>
              </a:rPr>
              <a:t>DECLARE</a:t>
            </a:r>
            <a:endParaRPr kumimoji="0" lang="zh-CN" altLang="zh-CN" sz="1400" b="1" i="0" u="none" strike="noStrike" kern="0" cap="none" spc="0" normalizeH="0" baseline="0" noProof="0">
              <a:ln>
                <a:noFill/>
              </a:ln>
              <a:solidFill>
                <a:srgbClr val="000000"/>
              </a:solidFill>
              <a:effectLst/>
              <a:uLnTx/>
              <a:uFillTx/>
              <a:latin typeface="+mn-lt"/>
              <a:ea typeface="+mn-ea"/>
              <a:cs typeface="+mn-cs"/>
            </a:endParaRPr>
          </a:p>
          <a:p>
            <a:pPr marL="914400" marR="0" lvl="1" indent="-457200" defTabSz="914400" rtl="0" eaLnBrk="1" fontAlgn="base" latinLnBrk="0" hangingPunct="1">
              <a:lnSpc>
                <a:spcPct val="90000"/>
              </a:lnSpc>
              <a:spcBef>
                <a:spcPct val="20000"/>
              </a:spcBef>
              <a:spcAft>
                <a:spcPct val="0"/>
              </a:spcAft>
              <a:buClr>
                <a:schemeClr val="tx2"/>
              </a:buClr>
              <a:buSzPct val="75000"/>
              <a:buFont typeface="Verdana" panose="020B0604030504040204" pitchFamily="34" charset="0"/>
              <a:buChar char="—"/>
              <a:defRPr/>
            </a:pPr>
            <a:r>
              <a:rPr kumimoji="0" lang="en-US" altLang="zh-CN" sz="1400" b="1" i="0" u="none" strike="noStrike" kern="0" cap="none" spc="0" normalizeH="0" baseline="0" noProof="0">
                <a:ln>
                  <a:noFill/>
                </a:ln>
                <a:solidFill>
                  <a:srgbClr val="000000"/>
                </a:solidFill>
                <a:effectLst/>
                <a:uLnTx/>
                <a:uFillTx/>
                <a:latin typeface="+mn-lt"/>
                <a:ea typeface="+mn-ea"/>
                <a:cs typeface="+mn-cs"/>
              </a:rPr>
              <a:t>v_sum NUMBER :=0;</a:t>
            </a:r>
            <a:endParaRPr kumimoji="0" lang="zh-CN" altLang="zh-CN" sz="1400" b="1" i="0" u="none" strike="noStrike" kern="0" cap="none" spc="0" normalizeH="0" baseline="0" noProof="0">
              <a:ln>
                <a:noFill/>
              </a:ln>
              <a:solidFill>
                <a:srgbClr val="000000"/>
              </a:solidFill>
              <a:effectLst/>
              <a:uLnTx/>
              <a:uFillTx/>
              <a:latin typeface="+mn-lt"/>
              <a:ea typeface="+mn-ea"/>
              <a:cs typeface="+mn-cs"/>
            </a:endParaRPr>
          </a:p>
          <a:p>
            <a:pPr marL="914400" marR="0" lvl="1" indent="-457200" defTabSz="914400" rtl="0" eaLnBrk="1" fontAlgn="base" latinLnBrk="0" hangingPunct="1">
              <a:lnSpc>
                <a:spcPct val="90000"/>
              </a:lnSpc>
              <a:spcBef>
                <a:spcPct val="20000"/>
              </a:spcBef>
              <a:spcAft>
                <a:spcPct val="0"/>
              </a:spcAft>
              <a:buClr>
                <a:schemeClr val="tx2"/>
              </a:buClr>
              <a:buSzPct val="75000"/>
              <a:buFont typeface="Verdana" panose="020B0604030504040204" pitchFamily="34" charset="0"/>
              <a:buChar char="—"/>
              <a:defRPr/>
            </a:pPr>
            <a:r>
              <a:rPr kumimoji="0" lang="en-US" altLang="zh-CN" sz="1400" b="1" i="0" u="none" strike="noStrike" kern="0" cap="none" spc="0" normalizeH="0" baseline="0" noProof="0">
                <a:ln>
                  <a:noFill/>
                </a:ln>
                <a:solidFill>
                  <a:srgbClr val="000000"/>
                </a:solidFill>
                <a:effectLst/>
                <a:uLnTx/>
                <a:uFillTx/>
                <a:latin typeface="+mn-lt"/>
                <a:ea typeface="+mn-ea"/>
                <a:cs typeface="+mn-cs"/>
              </a:rPr>
              <a:t>BEGIN</a:t>
            </a:r>
            <a:endParaRPr kumimoji="0" lang="zh-CN" altLang="zh-CN" sz="1400" b="1" i="0" u="none" strike="noStrike" kern="0" cap="none" spc="0" normalizeH="0" baseline="0" noProof="0">
              <a:ln>
                <a:noFill/>
              </a:ln>
              <a:solidFill>
                <a:srgbClr val="000000"/>
              </a:solidFill>
              <a:effectLst/>
              <a:uLnTx/>
              <a:uFillTx/>
              <a:latin typeface="+mn-lt"/>
              <a:ea typeface="+mn-ea"/>
              <a:cs typeface="+mn-cs"/>
            </a:endParaRPr>
          </a:p>
          <a:p>
            <a:pPr marL="914400" marR="0" lvl="1" indent="-457200" defTabSz="914400" rtl="0" eaLnBrk="1" fontAlgn="base" latinLnBrk="0" hangingPunct="1">
              <a:lnSpc>
                <a:spcPct val="90000"/>
              </a:lnSpc>
              <a:spcBef>
                <a:spcPct val="20000"/>
              </a:spcBef>
              <a:spcAft>
                <a:spcPct val="0"/>
              </a:spcAft>
              <a:buClr>
                <a:schemeClr val="tx2"/>
              </a:buClr>
              <a:buSzPct val="75000"/>
              <a:buFont typeface="Verdana" panose="020B0604030504040204" pitchFamily="34" charset="0"/>
              <a:buChar char="—"/>
              <a:defRPr/>
            </a:pPr>
            <a:r>
              <a:rPr kumimoji="0" lang="en-US" altLang="zh-CN" sz="1400" b="1" i="0" u="none" strike="noStrike" kern="0" cap="none" spc="0" normalizeH="0" baseline="0" noProof="0">
                <a:ln>
                  <a:noFill/>
                </a:ln>
                <a:solidFill>
                  <a:srgbClr val="000000"/>
                </a:solidFill>
                <a:effectLst/>
                <a:uLnTx/>
                <a:uFillTx/>
                <a:latin typeface="+mn-lt"/>
                <a:ea typeface="+mn-ea"/>
                <a:cs typeface="+mn-cs"/>
              </a:rPr>
              <a:t>FOR v_counter IN 1..100 LOOP</a:t>
            </a:r>
            <a:endParaRPr kumimoji="0" lang="zh-CN" altLang="zh-CN" sz="1400" b="1" i="0" u="none" strike="noStrike" kern="0" cap="none" spc="0" normalizeH="0" baseline="0" noProof="0">
              <a:ln>
                <a:noFill/>
              </a:ln>
              <a:solidFill>
                <a:srgbClr val="000000"/>
              </a:solidFill>
              <a:effectLst/>
              <a:uLnTx/>
              <a:uFillTx/>
              <a:latin typeface="+mn-lt"/>
              <a:ea typeface="+mn-ea"/>
              <a:cs typeface="+mn-cs"/>
            </a:endParaRPr>
          </a:p>
          <a:p>
            <a:pPr marL="914400" marR="0" lvl="1" indent="-457200" defTabSz="914400" rtl="0" eaLnBrk="1" fontAlgn="base" latinLnBrk="0" hangingPunct="1">
              <a:lnSpc>
                <a:spcPct val="90000"/>
              </a:lnSpc>
              <a:spcBef>
                <a:spcPct val="20000"/>
              </a:spcBef>
              <a:spcAft>
                <a:spcPct val="0"/>
              </a:spcAft>
              <a:buClr>
                <a:schemeClr val="tx2"/>
              </a:buClr>
              <a:buSzPct val="75000"/>
              <a:buFont typeface="Verdana" panose="020B0604030504040204" pitchFamily="34" charset="0"/>
              <a:buChar char="—"/>
              <a:defRPr/>
            </a:pPr>
            <a:r>
              <a:rPr kumimoji="0" lang="en-US" altLang="zh-CN" sz="1400" b="1" i="0" u="none" strike="noStrike" kern="0" cap="none" spc="0" normalizeH="0" baseline="0" noProof="0">
                <a:ln>
                  <a:noFill/>
                </a:ln>
                <a:solidFill>
                  <a:srgbClr val="000000"/>
                </a:solidFill>
                <a:effectLst/>
                <a:uLnTx/>
                <a:uFillTx/>
                <a:latin typeface="+mn-lt"/>
                <a:ea typeface="+mn-ea"/>
                <a:cs typeface="+mn-cs"/>
              </a:rPr>
              <a:t>IF mod(v_counter,2)=0 THEN</a:t>
            </a:r>
            <a:endParaRPr kumimoji="0" lang="zh-CN" altLang="zh-CN" sz="1400" b="1" i="0" u="none" strike="noStrike" kern="0" cap="none" spc="0" normalizeH="0" baseline="0" noProof="0">
              <a:ln>
                <a:noFill/>
              </a:ln>
              <a:solidFill>
                <a:srgbClr val="000000"/>
              </a:solidFill>
              <a:effectLst/>
              <a:uLnTx/>
              <a:uFillTx/>
              <a:latin typeface="+mn-lt"/>
              <a:ea typeface="+mn-ea"/>
              <a:cs typeface="+mn-cs"/>
            </a:endParaRPr>
          </a:p>
          <a:p>
            <a:pPr marL="914400" marR="0" lvl="1" indent="-457200" defTabSz="914400" rtl="0" eaLnBrk="1" fontAlgn="base" latinLnBrk="0" hangingPunct="1">
              <a:lnSpc>
                <a:spcPct val="90000"/>
              </a:lnSpc>
              <a:spcBef>
                <a:spcPct val="20000"/>
              </a:spcBef>
              <a:spcAft>
                <a:spcPct val="0"/>
              </a:spcAft>
              <a:buClr>
                <a:schemeClr val="tx2"/>
              </a:buClr>
              <a:buSzPct val="75000"/>
              <a:buFont typeface="Verdana" panose="020B0604030504040204" pitchFamily="34" charset="0"/>
              <a:buChar char="—"/>
              <a:defRPr/>
            </a:pPr>
            <a:r>
              <a:rPr kumimoji="0" lang="en-US" altLang="zh-CN" sz="1400" b="1" i="0" u="none" strike="noStrike" kern="0" cap="none" spc="0" normalizeH="0" baseline="0" noProof="0">
                <a:ln>
                  <a:noFill/>
                </a:ln>
                <a:solidFill>
                  <a:srgbClr val="000000"/>
                </a:solidFill>
                <a:effectLst/>
                <a:uLnTx/>
                <a:uFillTx/>
                <a:latin typeface="+mn-lt"/>
                <a:ea typeface="+mn-ea"/>
                <a:cs typeface="+mn-cs"/>
              </a:rPr>
              <a:t>v_sum:=v_sum+v_counter;</a:t>
            </a:r>
            <a:endParaRPr kumimoji="0" lang="zh-CN" altLang="zh-CN" sz="1400" b="1" i="0" u="none" strike="noStrike" kern="0" cap="none" spc="0" normalizeH="0" baseline="0" noProof="0">
              <a:ln>
                <a:noFill/>
              </a:ln>
              <a:solidFill>
                <a:srgbClr val="000000"/>
              </a:solidFill>
              <a:effectLst/>
              <a:uLnTx/>
              <a:uFillTx/>
              <a:latin typeface="+mn-lt"/>
              <a:ea typeface="+mn-ea"/>
              <a:cs typeface="+mn-cs"/>
            </a:endParaRPr>
          </a:p>
          <a:p>
            <a:pPr marL="914400" marR="0" lvl="1" indent="-457200" defTabSz="914400" rtl="0" eaLnBrk="1" fontAlgn="base" latinLnBrk="0" hangingPunct="1">
              <a:lnSpc>
                <a:spcPct val="90000"/>
              </a:lnSpc>
              <a:spcBef>
                <a:spcPct val="20000"/>
              </a:spcBef>
              <a:spcAft>
                <a:spcPct val="0"/>
              </a:spcAft>
              <a:buClr>
                <a:schemeClr val="tx2"/>
              </a:buClr>
              <a:buSzPct val="75000"/>
              <a:buFont typeface="Verdana" panose="020B0604030504040204" pitchFamily="34" charset="0"/>
              <a:buChar char="—"/>
              <a:defRPr/>
            </a:pPr>
            <a:r>
              <a:rPr kumimoji="0" lang="en-US" altLang="zh-CN" sz="1400" b="1" i="0" u="none" strike="noStrike" kern="0" cap="none" spc="0" normalizeH="0" baseline="0" noProof="0">
                <a:ln>
                  <a:noFill/>
                </a:ln>
                <a:solidFill>
                  <a:srgbClr val="000000"/>
                </a:solidFill>
                <a:effectLst/>
                <a:uLnTx/>
                <a:uFillTx/>
                <a:latin typeface="+mn-lt"/>
                <a:ea typeface="+mn-ea"/>
                <a:cs typeface="+mn-cs"/>
              </a:rPr>
              <a:t>END IF;</a:t>
            </a:r>
            <a:endParaRPr kumimoji="0" lang="zh-CN" altLang="zh-CN" sz="1400" b="1" i="0" u="none" strike="noStrike" kern="0" cap="none" spc="0" normalizeH="0" baseline="0" noProof="0">
              <a:ln>
                <a:noFill/>
              </a:ln>
              <a:solidFill>
                <a:srgbClr val="000000"/>
              </a:solidFill>
              <a:effectLst/>
              <a:uLnTx/>
              <a:uFillTx/>
              <a:latin typeface="+mn-lt"/>
              <a:ea typeface="+mn-ea"/>
              <a:cs typeface="+mn-cs"/>
            </a:endParaRPr>
          </a:p>
          <a:p>
            <a:pPr marL="914400" marR="0" lvl="1" indent="-457200" defTabSz="914400" rtl="0" eaLnBrk="1" fontAlgn="base" latinLnBrk="0" hangingPunct="1">
              <a:lnSpc>
                <a:spcPct val="90000"/>
              </a:lnSpc>
              <a:spcBef>
                <a:spcPct val="20000"/>
              </a:spcBef>
              <a:spcAft>
                <a:spcPct val="0"/>
              </a:spcAft>
              <a:buClr>
                <a:schemeClr val="tx2"/>
              </a:buClr>
              <a:buSzPct val="75000"/>
              <a:buFont typeface="Verdana" panose="020B0604030504040204" pitchFamily="34" charset="0"/>
              <a:buChar char="—"/>
              <a:defRPr/>
            </a:pPr>
            <a:r>
              <a:rPr kumimoji="0" lang="en-US" altLang="zh-CN" sz="1400" b="1" i="0" u="none" strike="noStrike" kern="0" cap="none" spc="0" normalizeH="0" baseline="0" noProof="0">
                <a:ln>
                  <a:noFill/>
                </a:ln>
                <a:solidFill>
                  <a:srgbClr val="000000"/>
                </a:solidFill>
                <a:effectLst/>
                <a:uLnTx/>
                <a:uFillTx/>
                <a:latin typeface="+mn-lt"/>
                <a:ea typeface="+mn-ea"/>
                <a:cs typeface="+mn-cs"/>
              </a:rPr>
              <a:t>END LOOP;</a:t>
            </a:r>
            <a:endParaRPr kumimoji="0" lang="zh-CN" altLang="zh-CN" sz="1400" b="1" i="0" u="none" strike="noStrike" kern="0" cap="none" spc="0" normalizeH="0" baseline="0" noProof="0">
              <a:ln>
                <a:noFill/>
              </a:ln>
              <a:solidFill>
                <a:srgbClr val="000000"/>
              </a:solidFill>
              <a:effectLst/>
              <a:uLnTx/>
              <a:uFillTx/>
              <a:latin typeface="+mn-lt"/>
              <a:ea typeface="+mn-ea"/>
              <a:cs typeface="+mn-cs"/>
            </a:endParaRPr>
          </a:p>
          <a:p>
            <a:pPr marL="914400" marR="0" lvl="1" indent="-457200" defTabSz="914400" rtl="0" eaLnBrk="1" fontAlgn="base" latinLnBrk="0" hangingPunct="1">
              <a:lnSpc>
                <a:spcPct val="90000"/>
              </a:lnSpc>
              <a:spcBef>
                <a:spcPct val="20000"/>
              </a:spcBef>
              <a:spcAft>
                <a:spcPct val="0"/>
              </a:spcAft>
              <a:buClr>
                <a:schemeClr val="tx2"/>
              </a:buClr>
              <a:buSzPct val="75000"/>
              <a:buFont typeface="Verdana" panose="020B0604030504040204" pitchFamily="34" charset="0"/>
              <a:buChar char="—"/>
              <a:defRPr/>
            </a:pPr>
            <a:r>
              <a:rPr kumimoji="0" lang="en-US" altLang="zh-CN" sz="1400" b="1" i="0" u="none" strike="noStrike" kern="0" cap="none" spc="0" normalizeH="0" baseline="0" noProof="0">
                <a:ln>
                  <a:noFill/>
                </a:ln>
                <a:solidFill>
                  <a:srgbClr val="000000"/>
                </a:solidFill>
                <a:effectLst/>
                <a:uLnTx/>
                <a:uFillTx/>
                <a:latin typeface="+mn-lt"/>
                <a:ea typeface="+mn-ea"/>
                <a:cs typeface="+mn-cs"/>
              </a:rPr>
              <a:t>DBMS_OUTPUT.PUT_LINE(v_sum);</a:t>
            </a:r>
            <a:endParaRPr kumimoji="0" lang="zh-CN" altLang="zh-CN" sz="1400" b="1" i="0" u="none" strike="noStrike" kern="0" cap="none" spc="0" normalizeH="0" baseline="0" noProof="0">
              <a:ln>
                <a:noFill/>
              </a:ln>
              <a:solidFill>
                <a:srgbClr val="000000"/>
              </a:solidFill>
              <a:effectLst/>
              <a:uLnTx/>
              <a:uFillTx/>
              <a:latin typeface="+mn-lt"/>
              <a:ea typeface="+mn-ea"/>
              <a:cs typeface="+mn-cs"/>
            </a:endParaRPr>
          </a:p>
          <a:p>
            <a:pPr marL="914400" marR="0" lvl="1" indent="-457200" defTabSz="914400" rtl="0" eaLnBrk="1" fontAlgn="base" latinLnBrk="0" hangingPunct="1">
              <a:lnSpc>
                <a:spcPct val="90000"/>
              </a:lnSpc>
              <a:spcBef>
                <a:spcPct val="20000"/>
              </a:spcBef>
              <a:spcAft>
                <a:spcPct val="0"/>
              </a:spcAft>
              <a:buClr>
                <a:schemeClr val="tx2"/>
              </a:buClr>
              <a:buSzPct val="75000"/>
              <a:buFont typeface="Verdana" panose="020B0604030504040204" pitchFamily="34" charset="0"/>
              <a:buChar char="—"/>
              <a:defRPr/>
            </a:pPr>
            <a:r>
              <a:rPr kumimoji="0" lang="en-US" altLang="zh-CN" sz="1400" b="1" i="0" u="none" strike="noStrike" kern="0" cap="none" spc="0" normalizeH="0" baseline="0" noProof="0">
                <a:ln>
                  <a:noFill/>
                </a:ln>
                <a:solidFill>
                  <a:srgbClr val="000000"/>
                </a:solidFill>
                <a:effectLst/>
                <a:uLnTx/>
                <a:uFillTx/>
                <a:latin typeface="+mn-lt"/>
                <a:ea typeface="+mn-ea"/>
                <a:cs typeface="+mn-cs"/>
              </a:rPr>
              <a:t>END; </a:t>
            </a:r>
          </a:p>
        </p:txBody>
      </p:sp>
      <p:sp>
        <p:nvSpPr>
          <p:cNvPr id="58370"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55</a:t>
            </a:fld>
            <a:endParaRPr lang="en-US" altLang="zh-CN">
              <a:solidFill>
                <a:srgbClr val="898989"/>
              </a:solidFill>
              <a:ea typeface="宋体" panose="02010600030101010101" pitchFamily="2"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9395"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r>
              <a:rPr lang="en-GB" altLang="zh-CN">
                <a:solidFill>
                  <a:srgbClr val="FFFFFF"/>
                </a:solidFill>
                <a:latin typeface="+mj-lt"/>
                <a:ea typeface="+mj-ea"/>
                <a:cs typeface="+mj-cs"/>
              </a:rPr>
              <a:t>9.6.3</a:t>
            </a:r>
            <a:r>
              <a:rPr lang="zh-CN" altLang="en-GB">
                <a:solidFill>
                  <a:srgbClr val="FFFFFF"/>
                </a:solidFill>
                <a:latin typeface="+mj-lt"/>
                <a:ea typeface="+mj-ea"/>
                <a:cs typeface="+mj-cs"/>
              </a:rPr>
              <a:t>跳转结构</a:t>
            </a:r>
            <a:endParaRPr lang="zh-CN" altLang="en-US">
              <a:solidFill>
                <a:srgbClr val="FFFFFF"/>
              </a:solidFill>
              <a:latin typeface="+mj-lt"/>
              <a:ea typeface="+mj-ea"/>
              <a:cs typeface="+mj-cs"/>
            </a:endParaRPr>
          </a:p>
        </p:txBody>
      </p:sp>
      <p:sp>
        <p:nvSpPr>
          <p:cNvPr id="59396" name="Rectangle 3"/>
          <p:cNvSpPr>
            <a:spLocks noGrp="1"/>
          </p:cNvSpPr>
          <p:nvPr>
            <p:ph idx="1"/>
          </p:nvPr>
        </p:nvSpPr>
        <p:spPr>
          <a:xfrm>
            <a:off x="1179226" y="3092970"/>
            <a:ext cx="9833548" cy="2693976"/>
          </a:xfrm>
        </p:spPr>
        <p:txBody>
          <a:bodyPr vert="horz" lIns="121920" tIns="60960" rIns="121920" bIns="60960">
            <a:normAutofit/>
          </a:bodyPr>
          <a:lstStyle/>
          <a:p>
            <a:pPr lvl="1" eaLnBrk="1" hangingPunct="1">
              <a:lnSpc>
                <a:spcPct val="90000"/>
              </a:lnSpc>
              <a:buClr>
                <a:schemeClr val="bg2"/>
              </a:buClr>
              <a:buSzPct val="75000"/>
              <a:buFont typeface="Wingdings" panose="05000000000000000000" pitchFamily="2" charset="2"/>
              <a:buChar char="p"/>
            </a:pPr>
            <a:r>
              <a:rPr lang="zh-CN" altLang="en-US" sz="1700" b="0">
                <a:solidFill>
                  <a:srgbClr val="000000"/>
                </a:solidFill>
                <a:latin typeface="+mn-lt"/>
                <a:ea typeface="黑体" panose="02010609060101010101" pitchFamily="49" charset="-122"/>
              </a:rPr>
              <a:t>语法格式：</a:t>
            </a:r>
          </a:p>
          <a:p>
            <a:pPr lvl="2" eaLnBrk="1" hangingPunct="1">
              <a:lnSpc>
                <a:spcPct val="90000"/>
              </a:lnSpc>
              <a:buClr>
                <a:schemeClr val="bg2"/>
              </a:buClr>
            </a:pPr>
            <a:r>
              <a:rPr lang="en-US" altLang="zh-CN" sz="1700" b="1">
                <a:solidFill>
                  <a:srgbClr val="000000"/>
                </a:solidFill>
                <a:latin typeface="宋体" panose="02010600030101010101" pitchFamily="2" charset="-122"/>
                <a:ea typeface="宋体" panose="02010600030101010101" pitchFamily="2" charset="-122"/>
              </a:rPr>
              <a:t>《</a:t>
            </a:r>
            <a:r>
              <a:rPr lang="zh-CN" altLang="en-US" sz="1700" b="1">
                <a:solidFill>
                  <a:srgbClr val="000000"/>
                </a:solidFill>
                <a:latin typeface="宋体" panose="02010600030101010101" pitchFamily="2" charset="-122"/>
                <a:ea typeface="宋体" panose="02010600030101010101" pitchFamily="2" charset="-122"/>
              </a:rPr>
              <a:t>标号</a:t>
            </a:r>
            <a:r>
              <a:rPr lang="en-US" altLang="zh-CN" sz="1700" b="1">
                <a:solidFill>
                  <a:srgbClr val="000000"/>
                </a:solidFill>
                <a:latin typeface="宋体" panose="02010600030101010101" pitchFamily="2" charset="-122"/>
                <a:ea typeface="宋体" panose="02010600030101010101" pitchFamily="2" charset="-122"/>
              </a:rPr>
              <a:t>》</a:t>
            </a:r>
          </a:p>
          <a:p>
            <a:pPr lvl="2" eaLnBrk="1" hangingPunct="1">
              <a:lnSpc>
                <a:spcPct val="90000"/>
              </a:lnSpc>
              <a:buClr>
                <a:schemeClr val="bg2"/>
              </a:buClr>
            </a:pPr>
            <a:r>
              <a:rPr lang="en-US" altLang="zh-CN" sz="1700" b="1">
                <a:solidFill>
                  <a:srgbClr val="000000"/>
                </a:solidFill>
                <a:latin typeface="宋体" panose="02010600030101010101" pitchFamily="2" charset="-122"/>
                <a:ea typeface="宋体" panose="02010600030101010101" pitchFamily="2" charset="-122"/>
              </a:rPr>
              <a:t>  …</a:t>
            </a:r>
          </a:p>
          <a:p>
            <a:pPr lvl="2" eaLnBrk="1" hangingPunct="1">
              <a:lnSpc>
                <a:spcPct val="90000"/>
              </a:lnSpc>
              <a:buClr>
                <a:schemeClr val="bg2"/>
              </a:buClr>
            </a:pPr>
            <a:r>
              <a:rPr lang="en-US" altLang="zh-CN" sz="1700" b="1">
                <a:solidFill>
                  <a:srgbClr val="000000"/>
                </a:solidFill>
                <a:latin typeface="宋体" panose="02010600030101010101" pitchFamily="2" charset="-122"/>
                <a:ea typeface="宋体" panose="02010600030101010101" pitchFamily="2" charset="-122"/>
              </a:rPr>
              <a:t>  GOTO </a:t>
            </a:r>
            <a:r>
              <a:rPr lang="zh-CN" altLang="en-US" sz="1700" b="1">
                <a:solidFill>
                  <a:srgbClr val="000000"/>
                </a:solidFill>
                <a:latin typeface="宋体" panose="02010600030101010101" pitchFamily="2" charset="-122"/>
                <a:ea typeface="宋体" panose="02010600030101010101" pitchFamily="2" charset="-122"/>
              </a:rPr>
              <a:t>标号；</a:t>
            </a:r>
          </a:p>
          <a:p>
            <a:pPr lvl="1" eaLnBrk="1" hangingPunct="1">
              <a:lnSpc>
                <a:spcPct val="90000"/>
              </a:lnSpc>
              <a:buClr>
                <a:schemeClr val="bg2"/>
              </a:buClr>
              <a:buSzPct val="75000"/>
              <a:buFont typeface="Wingdings" panose="05000000000000000000" pitchFamily="2" charset="2"/>
              <a:buChar char="p"/>
            </a:pPr>
            <a:r>
              <a:rPr lang="zh-CN" altLang="en-US" sz="1700" b="0">
                <a:solidFill>
                  <a:srgbClr val="000000"/>
                </a:solidFill>
                <a:latin typeface="+mn-lt"/>
                <a:ea typeface="黑体" panose="02010609060101010101" pitchFamily="49" charset="-122"/>
              </a:rPr>
              <a:t>说明：</a:t>
            </a:r>
          </a:p>
          <a:p>
            <a:pPr lvl="2" eaLnBrk="1" hangingPunct="1">
              <a:lnSpc>
                <a:spcPct val="90000"/>
              </a:lnSpc>
            </a:pPr>
            <a:r>
              <a:rPr lang="zh-CN" altLang="en-US" sz="1700" b="1">
                <a:solidFill>
                  <a:srgbClr val="000000"/>
                </a:solidFill>
                <a:latin typeface="宋体" panose="02010600030101010101" pitchFamily="2" charset="-122"/>
                <a:ea typeface="宋体" panose="02010600030101010101" pitchFamily="2" charset="-122"/>
              </a:rPr>
              <a:t>块内可以跳转，内层块可以跳到外层块，但外层块不能跳到内层。</a:t>
            </a:r>
          </a:p>
          <a:p>
            <a:pPr lvl="2" eaLnBrk="1" hangingPunct="1">
              <a:lnSpc>
                <a:spcPct val="90000"/>
              </a:lnSpc>
            </a:pPr>
            <a:r>
              <a:rPr lang="en-US" altLang="zh-CN" sz="1700" b="1">
                <a:solidFill>
                  <a:srgbClr val="000000"/>
                </a:solidFill>
                <a:latin typeface="宋体" panose="02010600030101010101" pitchFamily="2" charset="-122"/>
                <a:ea typeface="宋体" panose="02010600030101010101" pitchFamily="2" charset="-122"/>
              </a:rPr>
              <a:t>IF</a:t>
            </a:r>
            <a:r>
              <a:rPr lang="zh-CN" altLang="en-US" sz="1700" b="1">
                <a:solidFill>
                  <a:srgbClr val="000000"/>
                </a:solidFill>
                <a:latin typeface="宋体" panose="02010600030101010101" pitchFamily="2" charset="-122"/>
                <a:ea typeface="宋体" panose="02010600030101010101" pitchFamily="2" charset="-122"/>
              </a:rPr>
              <a:t>语句不能跳入。不能从循环体外跳入循环体内。不能从子程序外部跳到子程序中。</a:t>
            </a:r>
          </a:p>
          <a:p>
            <a:pPr lvl="2" eaLnBrk="1" hangingPunct="1">
              <a:lnSpc>
                <a:spcPct val="90000"/>
              </a:lnSpc>
            </a:pPr>
            <a:r>
              <a:rPr lang="zh-CN" altLang="en-US" sz="1700" b="1">
                <a:solidFill>
                  <a:srgbClr val="000000"/>
                </a:solidFill>
                <a:latin typeface="宋体" panose="02010600030101010101" pitchFamily="2" charset="-122"/>
                <a:ea typeface="宋体" panose="02010600030101010101" pitchFamily="2" charset="-122"/>
              </a:rPr>
              <a:t>由于</a:t>
            </a:r>
            <a:r>
              <a:rPr lang="en-US" altLang="zh-CN" sz="1700" b="1">
                <a:solidFill>
                  <a:srgbClr val="000000"/>
                </a:solidFill>
                <a:latin typeface="宋体" panose="02010600030101010101" pitchFamily="2" charset="-122"/>
                <a:ea typeface="宋体" panose="02010600030101010101" pitchFamily="2" charset="-122"/>
              </a:rPr>
              <a:t>goto</a:t>
            </a:r>
            <a:r>
              <a:rPr lang="zh-CN" altLang="en-US" sz="1700" b="1">
                <a:solidFill>
                  <a:srgbClr val="000000"/>
                </a:solidFill>
                <a:latin typeface="宋体" panose="02010600030101010101" pitchFamily="2" charset="-122"/>
                <a:ea typeface="宋体" panose="02010600030101010101" pitchFamily="2" charset="-122"/>
              </a:rPr>
              <a:t>语句的缺点，建议尽量少用甚至不用</a:t>
            </a:r>
            <a:r>
              <a:rPr lang="en-US" altLang="zh-CN" sz="1700" b="1">
                <a:solidFill>
                  <a:srgbClr val="000000"/>
                </a:solidFill>
                <a:latin typeface="宋体" panose="02010600030101010101" pitchFamily="2" charset="-122"/>
                <a:ea typeface="宋体" panose="02010600030101010101" pitchFamily="2" charset="-122"/>
              </a:rPr>
              <a:t>goto</a:t>
            </a:r>
            <a:r>
              <a:rPr lang="zh-CN" altLang="en-US" sz="1700" b="1">
                <a:solidFill>
                  <a:srgbClr val="000000"/>
                </a:solidFill>
                <a:latin typeface="宋体" panose="02010600030101010101" pitchFamily="2" charset="-122"/>
                <a:ea typeface="宋体" panose="02010600030101010101" pitchFamily="2" charset="-122"/>
              </a:rPr>
              <a:t>语句。</a:t>
            </a:r>
            <a:r>
              <a:rPr lang="zh-CN" altLang="en-US" sz="1700" b="1">
                <a:solidFill>
                  <a:srgbClr val="000000"/>
                </a:solidFill>
                <a:latin typeface="黑体" panose="02010609060101010101" pitchFamily="49" charset="-122"/>
                <a:ea typeface="黑体" panose="02010609060101010101" pitchFamily="49" charset="-122"/>
              </a:rPr>
              <a:t> </a:t>
            </a:r>
          </a:p>
        </p:txBody>
      </p:sp>
      <p:sp>
        <p:nvSpPr>
          <p:cNvPr id="59394"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56</a:t>
            </a:fld>
            <a:endParaRPr lang="en-US" altLang="zh-CN">
              <a:solidFill>
                <a:srgbClr val="898989"/>
              </a:solidFill>
              <a:ea typeface="宋体" panose="02010600030101010101" pitchFamily="2"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6" name="Picture 75">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0419" name="Rectangle 3"/>
          <p:cNvSpPr>
            <a:spLocks noGrp="1"/>
          </p:cNvSpPr>
          <p:nvPr>
            <p:ph idx="1"/>
          </p:nvPr>
        </p:nvSpPr>
        <p:spPr>
          <a:xfrm>
            <a:off x="6090574" y="801866"/>
            <a:ext cx="5306084" cy="5230634"/>
          </a:xfrm>
        </p:spPr>
        <p:txBody>
          <a:bodyPr vert="horz" lIns="121920" tIns="60960" rIns="121920" bIns="60960" anchor="ctr">
            <a:normAutofit/>
          </a:bodyPr>
          <a:lstStyle/>
          <a:p>
            <a:pPr eaLnBrk="1" hangingPunct="1">
              <a:buSzPct val="75000"/>
            </a:pPr>
            <a:r>
              <a:rPr lang="en-US" altLang="zh-CN" sz="2200">
                <a:solidFill>
                  <a:srgbClr val="000000"/>
                </a:solidFill>
                <a:latin typeface="+mn-lt"/>
                <a:ea typeface="+mn-ea"/>
                <a:cs typeface="+mn-cs"/>
              </a:rPr>
              <a:t>DECLARE</a:t>
            </a:r>
          </a:p>
          <a:p>
            <a:pPr eaLnBrk="1" hangingPunct="1">
              <a:buSzPct val="75000"/>
            </a:pPr>
            <a:r>
              <a:rPr lang="en-US" altLang="zh-CN" sz="2200">
                <a:solidFill>
                  <a:srgbClr val="000000"/>
                </a:solidFill>
                <a:latin typeface="+mn-lt"/>
                <a:ea typeface="+mn-ea"/>
                <a:cs typeface="+mn-cs"/>
              </a:rPr>
              <a:t>   v_counter BINARY_INTEGER :=1;</a:t>
            </a:r>
          </a:p>
          <a:p>
            <a:pPr eaLnBrk="1" hangingPunct="1">
              <a:buSzPct val="75000"/>
            </a:pPr>
            <a:r>
              <a:rPr lang="en-US" altLang="zh-CN" sz="2200">
                <a:solidFill>
                  <a:srgbClr val="000000"/>
                </a:solidFill>
                <a:latin typeface="+mn-lt"/>
                <a:ea typeface="+mn-ea"/>
                <a:cs typeface="+mn-cs"/>
              </a:rPr>
              <a:t>BEGIN</a:t>
            </a:r>
          </a:p>
          <a:p>
            <a:pPr eaLnBrk="1" hangingPunct="1">
              <a:buSzPct val="75000"/>
            </a:pPr>
            <a:r>
              <a:rPr lang="en-US" altLang="zh-CN" sz="2200">
                <a:solidFill>
                  <a:srgbClr val="000000"/>
                </a:solidFill>
                <a:latin typeface="+mn-lt"/>
                <a:ea typeface="+mn-ea"/>
                <a:cs typeface="+mn-cs"/>
              </a:rPr>
              <a:t>   &lt;&lt;LABEL&gt;&gt;</a:t>
            </a:r>
          </a:p>
          <a:p>
            <a:pPr eaLnBrk="1" hangingPunct="1">
              <a:buSzPct val="75000"/>
            </a:pPr>
            <a:r>
              <a:rPr lang="en-US" altLang="zh-CN" sz="2200">
                <a:solidFill>
                  <a:srgbClr val="000000"/>
                </a:solidFill>
                <a:latin typeface="+mn-lt"/>
                <a:ea typeface="+mn-ea"/>
                <a:cs typeface="+mn-cs"/>
              </a:rPr>
              <a:t>   INSERT INTO temp_table VALUES (v_counter, 'Loop index');</a:t>
            </a:r>
          </a:p>
          <a:p>
            <a:pPr eaLnBrk="1" hangingPunct="1">
              <a:buSzPct val="75000"/>
            </a:pPr>
            <a:r>
              <a:rPr lang="en-US" altLang="zh-CN" sz="2200">
                <a:solidFill>
                  <a:srgbClr val="000000"/>
                </a:solidFill>
                <a:latin typeface="+mn-lt"/>
                <a:ea typeface="+mn-ea"/>
                <a:cs typeface="+mn-cs"/>
              </a:rPr>
              <a:t>   v_counter := v_Counter + 1;</a:t>
            </a:r>
          </a:p>
          <a:p>
            <a:pPr eaLnBrk="1" hangingPunct="1">
              <a:buSzPct val="75000"/>
            </a:pPr>
            <a:r>
              <a:rPr lang="en-US" altLang="zh-CN" sz="2200">
                <a:solidFill>
                  <a:srgbClr val="000000"/>
                </a:solidFill>
                <a:latin typeface="+mn-lt"/>
                <a:ea typeface="+mn-ea"/>
                <a:cs typeface="+mn-cs"/>
              </a:rPr>
              <a:t>   IF v_counter&lt;=50 THEN</a:t>
            </a:r>
          </a:p>
          <a:p>
            <a:pPr eaLnBrk="1" hangingPunct="1">
              <a:buSzPct val="75000"/>
            </a:pPr>
            <a:r>
              <a:rPr lang="en-US" altLang="zh-CN" sz="2200">
                <a:solidFill>
                  <a:srgbClr val="000000"/>
                </a:solidFill>
                <a:latin typeface="+mn-lt"/>
                <a:ea typeface="+mn-ea"/>
                <a:cs typeface="+mn-cs"/>
              </a:rPr>
              <a:t>         GOTO  LABEL;</a:t>
            </a:r>
          </a:p>
          <a:p>
            <a:pPr eaLnBrk="1" hangingPunct="1">
              <a:buSzPct val="75000"/>
            </a:pPr>
            <a:r>
              <a:rPr lang="en-US" altLang="zh-CN" sz="2200">
                <a:solidFill>
                  <a:srgbClr val="000000"/>
                </a:solidFill>
                <a:latin typeface="+mn-lt"/>
                <a:ea typeface="+mn-ea"/>
                <a:cs typeface="+mn-cs"/>
              </a:rPr>
              <a:t>   END IF;</a:t>
            </a:r>
          </a:p>
          <a:p>
            <a:pPr eaLnBrk="1" hangingPunct="1">
              <a:buSzPct val="75000"/>
            </a:pPr>
            <a:r>
              <a:rPr lang="en-US" altLang="zh-CN" sz="2200">
                <a:solidFill>
                  <a:srgbClr val="000000"/>
                </a:solidFill>
                <a:latin typeface="+mn-lt"/>
                <a:ea typeface="+mn-ea"/>
                <a:cs typeface="+mn-cs"/>
              </a:rPr>
              <a:t>END; </a:t>
            </a:r>
          </a:p>
        </p:txBody>
      </p:sp>
      <p:sp>
        <p:nvSpPr>
          <p:cNvPr id="60418"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57</a:t>
            </a:fld>
            <a:endParaRPr lang="en-US" altLang="zh-CN">
              <a:solidFill>
                <a:srgbClr val="898989"/>
              </a:solidFill>
              <a:ea typeface="宋体" panose="02010600030101010101" pitchFamily="2"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76EFD3D9-44F0-4267-BCC1-1613E79D82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Freeform 6">
            <a:extLst>
              <a:ext uri="{FF2B5EF4-FFF2-40B4-BE49-F238E27FC236}">
                <a16:creationId xmlns:a16="http://schemas.microsoft.com/office/drawing/2014/main" id="{A779A851-95D6-41AF-937A-B0E4B7F6FA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2164" y="900814"/>
            <a:ext cx="759618"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7">
            <a:extLst>
              <a:ext uri="{FF2B5EF4-FFF2-40B4-BE49-F238E27FC236}">
                <a16:creationId xmlns:a16="http://schemas.microsoft.com/office/drawing/2014/main" id="{953FB2E7-B6CB-429C-81EB-D9516D6D5C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4437" y="633165"/>
            <a:ext cx="482654"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Shape 78">
            <a:extLst>
              <a:ext uri="{FF2B5EF4-FFF2-40B4-BE49-F238E27FC236}">
                <a16:creationId xmlns:a16="http://schemas.microsoft.com/office/drawing/2014/main" id="{2EC40DB1-B719-4A13-9A4D-0966B4B278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4621" y="636723"/>
            <a:ext cx="4000062" cy="5257799"/>
          </a:xfrm>
          <a:custGeom>
            <a:avLst/>
            <a:gdLst>
              <a:gd name="connsiteX0" fmla="*/ 0 w 4634682"/>
              <a:gd name="connsiteY0" fmla="*/ 0 h 5257799"/>
              <a:gd name="connsiteX1" fmla="*/ 4634682 w 4634682"/>
              <a:gd name="connsiteY1" fmla="*/ 0 h 5257799"/>
              <a:gd name="connsiteX2" fmla="*/ 4634682 w 4634682"/>
              <a:gd name="connsiteY2" fmla="*/ 5257799 h 5257799"/>
              <a:gd name="connsiteX3" fmla="*/ 0 w 4634682"/>
              <a:gd name="connsiteY3" fmla="*/ 5257799 h 5257799"/>
            </a:gdLst>
            <a:ahLst/>
            <a:cxnLst>
              <a:cxn ang="0">
                <a:pos x="connsiteX0" y="connsiteY0"/>
              </a:cxn>
              <a:cxn ang="0">
                <a:pos x="connsiteX1" y="connsiteY1"/>
              </a:cxn>
              <a:cxn ang="0">
                <a:pos x="connsiteX2" y="connsiteY2"/>
              </a:cxn>
              <a:cxn ang="0">
                <a:pos x="connsiteX3" y="connsiteY3"/>
              </a:cxn>
            </a:cxnLst>
            <a:rect l="l" t="t" r="r" b="b"/>
            <a:pathLst>
              <a:path w="4634682" h="5257799">
                <a:moveTo>
                  <a:pt x="0" y="0"/>
                </a:moveTo>
                <a:lnTo>
                  <a:pt x="4634682" y="0"/>
                </a:lnTo>
                <a:lnTo>
                  <a:pt x="4634682" y="5257799"/>
                </a:lnTo>
                <a:lnTo>
                  <a:pt x="0" y="5257799"/>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1443" name="Rectangle 2"/>
          <p:cNvSpPr>
            <a:spLocks noGrp="1"/>
          </p:cNvSpPr>
          <p:nvPr>
            <p:ph type="title"/>
          </p:nvPr>
        </p:nvSpPr>
        <p:spPr>
          <a:xfrm>
            <a:off x="934872" y="982272"/>
            <a:ext cx="3388419" cy="4560970"/>
          </a:xfrm>
        </p:spPr>
        <p:txBody>
          <a:bodyPr vert="horz" lIns="121920" tIns="60960" rIns="121920" bIns="60960">
            <a:normAutofit/>
          </a:bodyPr>
          <a:lstStyle/>
          <a:p>
            <a:pPr eaLnBrk="1" hangingPunct="1"/>
            <a:r>
              <a:rPr lang="en-US" altLang="zh-CN">
                <a:solidFill>
                  <a:srgbClr val="FFFFFF"/>
                </a:solidFill>
                <a:latin typeface="宋体" panose="02010600030101010101" pitchFamily="2" charset="-122"/>
                <a:ea typeface="+mj-ea"/>
                <a:cs typeface="+mj-cs"/>
              </a:rPr>
              <a:t>9.7 </a:t>
            </a:r>
            <a:r>
              <a:rPr lang="zh-CN" altLang="en-US">
                <a:solidFill>
                  <a:srgbClr val="FFFFFF"/>
                </a:solidFill>
                <a:latin typeface="宋体" panose="02010600030101010101" pitchFamily="2" charset="-122"/>
                <a:ea typeface="+mj-ea"/>
                <a:cs typeface="+mj-cs"/>
              </a:rPr>
              <a:t>游标</a:t>
            </a:r>
            <a:endParaRPr lang="zh-CN" altLang="en-US">
              <a:solidFill>
                <a:srgbClr val="FFFFFF"/>
              </a:solidFill>
              <a:latin typeface="+mj-lt"/>
              <a:ea typeface="+mj-ea"/>
              <a:cs typeface="+mj-cs"/>
            </a:endParaRPr>
          </a:p>
        </p:txBody>
      </p:sp>
      <p:sp>
        <p:nvSpPr>
          <p:cNvPr id="81" name="Rectangle 8">
            <a:extLst>
              <a:ext uri="{FF2B5EF4-FFF2-40B4-BE49-F238E27FC236}">
                <a16:creationId xmlns:a16="http://schemas.microsoft.com/office/drawing/2014/main" id="{82211336-CFF3-412D-868A-6679C1004C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01782" y="1352302"/>
            <a:ext cx="6655597"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61444" name="Rectangle 3"/>
          <p:cNvSpPr>
            <a:spLocks noGrp="1"/>
          </p:cNvSpPr>
          <p:nvPr>
            <p:ph idx="1"/>
          </p:nvPr>
        </p:nvSpPr>
        <p:spPr>
          <a:xfrm>
            <a:off x="5221862" y="1719618"/>
            <a:ext cx="5948831" cy="4334629"/>
          </a:xfrm>
        </p:spPr>
        <p:txBody>
          <a:bodyPr vert="horz" lIns="121920" tIns="60960" rIns="121920" bIns="60960" anchor="ctr">
            <a:normAutofit/>
          </a:bodyPr>
          <a:lstStyle/>
          <a:p>
            <a:pPr eaLnBrk="1" hangingPunct="1">
              <a:buSzPct val="75000"/>
            </a:pPr>
            <a:r>
              <a:rPr lang="zh-CN" altLang="en-US" sz="2400">
                <a:solidFill>
                  <a:srgbClr val="FEFFFF"/>
                </a:solidFill>
                <a:latin typeface="宋体" panose="02010600030101010101" pitchFamily="2" charset="-122"/>
                <a:ea typeface="+mn-ea"/>
                <a:cs typeface="+mn-cs"/>
              </a:rPr>
              <a:t>游标的概念及分类 </a:t>
            </a:r>
          </a:p>
          <a:p>
            <a:pPr eaLnBrk="1" hangingPunct="1">
              <a:buSzPct val="75000"/>
            </a:pPr>
            <a:r>
              <a:rPr lang="zh-CN" altLang="en-US" sz="2400">
                <a:solidFill>
                  <a:srgbClr val="FEFFFF"/>
                </a:solidFill>
                <a:latin typeface="宋体" panose="02010600030101010101" pitchFamily="2" charset="-122"/>
                <a:ea typeface="+mn-ea"/>
                <a:cs typeface="+mn-cs"/>
              </a:rPr>
              <a:t>显式游标操作过程</a:t>
            </a:r>
            <a:endParaRPr lang="en-US" altLang="zh-CN" sz="2400">
              <a:solidFill>
                <a:srgbClr val="FEFFFF"/>
              </a:solidFill>
              <a:latin typeface="宋体" panose="02010600030101010101" pitchFamily="2" charset="-122"/>
              <a:ea typeface="+mn-ea"/>
              <a:cs typeface="+mn-cs"/>
            </a:endParaRPr>
          </a:p>
          <a:p>
            <a:pPr eaLnBrk="1" hangingPunct="1">
              <a:buSzPct val="75000"/>
            </a:pPr>
            <a:r>
              <a:rPr lang="zh-CN" altLang="en-US" sz="2400">
                <a:solidFill>
                  <a:srgbClr val="FEFFFF"/>
                </a:solidFill>
                <a:latin typeface="宋体" panose="02010600030101010101" pitchFamily="2" charset="-122"/>
                <a:ea typeface="+mn-ea"/>
                <a:cs typeface="+mn-cs"/>
              </a:rPr>
              <a:t>显式游标属性</a:t>
            </a:r>
            <a:endParaRPr lang="en-US" altLang="zh-CN" sz="2400">
              <a:solidFill>
                <a:srgbClr val="FEFFFF"/>
              </a:solidFill>
              <a:latin typeface="宋体" panose="02010600030101010101" pitchFamily="2" charset="-122"/>
              <a:ea typeface="+mn-ea"/>
              <a:cs typeface="+mn-cs"/>
            </a:endParaRPr>
          </a:p>
          <a:p>
            <a:pPr eaLnBrk="1" hangingPunct="1">
              <a:buSzPct val="75000"/>
            </a:pPr>
            <a:r>
              <a:rPr lang="zh-CN" altLang="en-US" sz="2400">
                <a:solidFill>
                  <a:srgbClr val="FEFFFF"/>
                </a:solidFill>
                <a:latin typeface="宋体" panose="02010600030101010101" pitchFamily="2" charset="-122"/>
                <a:ea typeface="+mn-ea"/>
                <a:cs typeface="+mn-cs"/>
              </a:rPr>
              <a:t>显式游标的检索</a:t>
            </a:r>
          </a:p>
          <a:p>
            <a:pPr eaLnBrk="1" hangingPunct="1">
              <a:buSzPct val="75000"/>
            </a:pPr>
            <a:r>
              <a:rPr lang="zh-CN" altLang="en-US" sz="2400">
                <a:solidFill>
                  <a:srgbClr val="FEFFFF"/>
                </a:solidFill>
                <a:latin typeface="宋体" panose="02010600030101010101" pitchFamily="2" charset="-122"/>
                <a:ea typeface="+mn-ea"/>
                <a:cs typeface="+mn-cs"/>
              </a:rPr>
              <a:t>隐式游标</a:t>
            </a:r>
          </a:p>
          <a:p>
            <a:pPr eaLnBrk="1" hangingPunct="1">
              <a:buSzPct val="75000"/>
            </a:pPr>
            <a:r>
              <a:rPr lang="zh-CN" altLang="en-GB" sz="2400">
                <a:solidFill>
                  <a:srgbClr val="FEFFFF"/>
                </a:solidFill>
                <a:latin typeface="宋体" panose="02010600030101010101" pitchFamily="2" charset="-122"/>
                <a:ea typeface="+mn-ea"/>
                <a:cs typeface="+mn-cs"/>
              </a:rPr>
              <a:t>游标变量</a:t>
            </a:r>
            <a:r>
              <a:rPr lang="zh-CN" altLang="en-GB" sz="2400">
                <a:solidFill>
                  <a:srgbClr val="FEFFFF"/>
                </a:solidFill>
                <a:latin typeface="+mn-lt"/>
                <a:ea typeface="+mn-ea"/>
                <a:cs typeface="+mn-cs"/>
              </a:rPr>
              <a:t> </a:t>
            </a:r>
            <a:endParaRPr lang="zh-CN" altLang="en-US" sz="2400">
              <a:solidFill>
                <a:srgbClr val="FEFFFF"/>
              </a:solidFill>
              <a:latin typeface="+mn-lt"/>
              <a:ea typeface="+mn-ea"/>
              <a:cs typeface="+mn-cs"/>
            </a:endParaRPr>
          </a:p>
        </p:txBody>
      </p:sp>
      <p:sp>
        <p:nvSpPr>
          <p:cNvPr id="61442" name="灯片编号占位符 5"/>
          <p:cNvSpPr txBox="1">
            <a:spLocks noGrp="1"/>
          </p:cNvSpPr>
          <p:nvPr>
            <p:ph type="sldNum" sz="quarter" idx="12"/>
          </p:nvPr>
        </p:nvSpPr>
        <p:spPr>
          <a:xfrm>
            <a:off x="10707624" y="6175188"/>
            <a:ext cx="685800" cy="320040"/>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FFFFFF"/>
                </a:solidFill>
                <a:ea typeface="宋体" panose="02010600030101010101" pitchFamily="2" charset="-122"/>
              </a:rPr>
              <a:pPr marL="0" indent="0" eaLnBrk="1" hangingPunct="1">
                <a:spcBef>
                  <a:spcPct val="0"/>
                </a:spcBef>
                <a:spcAft>
                  <a:spcPts val="600"/>
                </a:spcAft>
                <a:buClrTx/>
                <a:buSzTx/>
                <a:buFontTx/>
                <a:buNone/>
              </a:pPr>
              <a:t>58</a:t>
            </a:fld>
            <a:endParaRPr lang="en-US" altLang="zh-CN">
              <a:solidFill>
                <a:srgbClr val="FFFFFF"/>
              </a:solidFill>
              <a:ea typeface="宋体" panose="02010600030101010101" pitchFamily="2"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3" name="Rectangle 82">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62467" name="Rectangle 2"/>
          <p:cNvSpPr>
            <a:spLocks noGrp="1"/>
          </p:cNvSpPr>
          <p:nvPr>
            <p:ph type="title"/>
          </p:nvPr>
        </p:nvSpPr>
        <p:spPr>
          <a:xfrm>
            <a:off x="958506" y="800392"/>
            <a:ext cx="10264697" cy="1212102"/>
          </a:xfrm>
        </p:spPr>
        <p:txBody>
          <a:bodyPr vert="horz" lIns="121920" tIns="60960" rIns="121920" bIns="60960">
            <a:normAutofit/>
          </a:bodyPr>
          <a:lstStyle/>
          <a:p>
            <a:pPr eaLnBrk="1" hangingPunct="1"/>
            <a:r>
              <a:rPr lang="en-US" altLang="zh-CN" dirty="0">
                <a:solidFill>
                  <a:srgbClr val="FFFFFF"/>
                </a:solidFill>
                <a:latin typeface="+mj-lt"/>
                <a:ea typeface="+mj-ea"/>
                <a:cs typeface="+mj-cs"/>
              </a:rPr>
              <a:t>9.7.1  </a:t>
            </a:r>
            <a:r>
              <a:rPr lang="zh-CN" altLang="zh-CN" dirty="0">
                <a:solidFill>
                  <a:srgbClr val="FFFFFF"/>
                </a:solidFill>
                <a:latin typeface="+mj-lt"/>
                <a:ea typeface="+mj-ea"/>
                <a:cs typeface="+mj-cs"/>
              </a:rPr>
              <a:t>游标的概念与分类</a:t>
            </a:r>
          </a:p>
        </p:txBody>
      </p:sp>
      <p:sp>
        <p:nvSpPr>
          <p:cNvPr id="62468" name="Rectangle 3"/>
          <p:cNvSpPr>
            <a:spLocks noGrp="1"/>
          </p:cNvSpPr>
          <p:nvPr>
            <p:ph idx="1"/>
          </p:nvPr>
        </p:nvSpPr>
        <p:spPr>
          <a:xfrm>
            <a:off x="1367624" y="2490436"/>
            <a:ext cx="9708995" cy="3567173"/>
          </a:xfrm>
        </p:spPr>
        <p:txBody>
          <a:bodyPr vert="horz" lIns="121920" tIns="60960" rIns="121920" bIns="60960" anchor="ctr">
            <a:normAutofit/>
          </a:bodyPr>
          <a:lstStyle/>
          <a:p>
            <a:pPr eaLnBrk="1" hangingPunct="1">
              <a:buSzPct val="75000"/>
            </a:pPr>
            <a:r>
              <a:rPr lang="zh-CN" altLang="en-US" sz="2400">
                <a:latin typeface="+mn-lt"/>
                <a:ea typeface="+mn-ea"/>
                <a:cs typeface="+mn-cs"/>
              </a:rPr>
              <a:t>游标的</a:t>
            </a:r>
            <a:r>
              <a:rPr lang="zh-CN" altLang="en-GB" sz="2400">
                <a:latin typeface="+mn-lt"/>
                <a:ea typeface="+mn-ea"/>
                <a:cs typeface="+mn-cs"/>
              </a:rPr>
              <a:t>概念</a:t>
            </a:r>
          </a:p>
          <a:p>
            <a:pPr lvl="1" eaLnBrk="1" hangingPunct="1">
              <a:buSzPct val="75000"/>
            </a:pPr>
            <a:r>
              <a:rPr lang="zh-CN" altLang="en-US" sz="2400">
                <a:latin typeface="+mn-lt"/>
                <a:ea typeface="华文仿宋" panose="02010600040101010101" pitchFamily="2" charset="-122"/>
              </a:rPr>
              <a:t>游标（</a:t>
            </a:r>
            <a:r>
              <a:rPr lang="en-US" altLang="zh-CN" sz="2400">
                <a:latin typeface="+mn-lt"/>
                <a:ea typeface="华文仿宋" panose="02010600040101010101" pitchFamily="2" charset="-122"/>
              </a:rPr>
              <a:t>CURSOR</a:t>
            </a:r>
            <a:r>
              <a:rPr lang="zh-CN" altLang="en-US" sz="2400">
                <a:latin typeface="+mn-lt"/>
                <a:ea typeface="华文仿宋" panose="02010600040101010101" pitchFamily="2" charset="-122"/>
              </a:rPr>
              <a:t>）是</a:t>
            </a:r>
            <a:r>
              <a:rPr lang="en-US" altLang="zh-CN" sz="2400">
                <a:latin typeface="+mn-lt"/>
                <a:ea typeface="华文仿宋" panose="02010600040101010101" pitchFamily="2" charset="-122"/>
              </a:rPr>
              <a:t>Oracle</a:t>
            </a:r>
            <a:r>
              <a:rPr lang="zh-CN" altLang="en-US" sz="2400">
                <a:latin typeface="+mn-lt"/>
                <a:ea typeface="华文仿宋" panose="02010600040101010101" pitchFamily="2" charset="-122"/>
              </a:rPr>
              <a:t>系统在内存中开辟的一个工作区，在其中存放</a:t>
            </a:r>
            <a:r>
              <a:rPr lang="en-US" altLang="zh-CN" sz="2400">
                <a:latin typeface="+mn-lt"/>
                <a:ea typeface="华文仿宋" panose="02010600040101010101" pitchFamily="2" charset="-122"/>
              </a:rPr>
              <a:t>SELECT</a:t>
            </a:r>
            <a:r>
              <a:rPr lang="zh-CN" altLang="en-US" sz="2400">
                <a:latin typeface="+mn-lt"/>
                <a:ea typeface="华文仿宋" panose="02010600040101010101" pitchFamily="2" charset="-122"/>
              </a:rPr>
              <a:t>语句返回的查询结果。</a:t>
            </a:r>
          </a:p>
          <a:p>
            <a:pPr lvl="1" eaLnBrk="1" hangingPunct="1">
              <a:buSzPct val="75000"/>
            </a:pPr>
            <a:r>
              <a:rPr lang="zh-CN" altLang="en-US" sz="2400">
                <a:latin typeface="+mn-lt"/>
                <a:ea typeface="华文仿宋" panose="02010600040101010101" pitchFamily="2" charset="-122"/>
              </a:rPr>
              <a:t>使用游标时，</a:t>
            </a:r>
            <a:r>
              <a:rPr lang="en-US" altLang="zh-CN" sz="2400">
                <a:latin typeface="+mn-lt"/>
                <a:ea typeface="华文仿宋" panose="02010600040101010101" pitchFamily="2" charset="-122"/>
              </a:rPr>
              <a:t>SELECT</a:t>
            </a:r>
            <a:r>
              <a:rPr lang="zh-CN" altLang="en-US" sz="2400">
                <a:latin typeface="+mn-lt"/>
                <a:ea typeface="华文仿宋" panose="02010600040101010101" pitchFamily="2" charset="-122"/>
              </a:rPr>
              <a:t>语句查询的结果可以是单条记录，多条记录，也可以是零条记录。</a:t>
            </a:r>
          </a:p>
          <a:p>
            <a:pPr lvl="1" eaLnBrk="1" hangingPunct="1">
              <a:buSzPct val="75000"/>
            </a:pPr>
            <a:r>
              <a:rPr lang="zh-CN" altLang="en-US" sz="2400">
                <a:latin typeface="+mn-lt"/>
                <a:ea typeface="华文仿宋" panose="02010600040101010101" pitchFamily="2" charset="-122"/>
              </a:rPr>
              <a:t>游标工作区中，存在着一个指针（</a:t>
            </a:r>
            <a:r>
              <a:rPr lang="en-US" altLang="zh-CN" sz="2400">
                <a:latin typeface="+mn-lt"/>
                <a:ea typeface="华文仿宋" panose="02010600040101010101" pitchFamily="2" charset="-122"/>
              </a:rPr>
              <a:t>POINTER</a:t>
            </a:r>
            <a:r>
              <a:rPr lang="zh-CN" altLang="en-US" sz="2400">
                <a:latin typeface="+mn-lt"/>
                <a:ea typeface="华文仿宋" panose="02010600040101010101" pitchFamily="2" charset="-122"/>
              </a:rPr>
              <a:t>）</a:t>
            </a:r>
            <a:r>
              <a:rPr lang="en-US" altLang="zh-CN" sz="2400">
                <a:latin typeface="+mn-lt"/>
                <a:ea typeface="华文仿宋" panose="02010600040101010101" pitchFamily="2" charset="-122"/>
              </a:rPr>
              <a:t>,</a:t>
            </a:r>
            <a:r>
              <a:rPr lang="zh-CN" altLang="en-US" sz="2400">
                <a:latin typeface="+mn-lt"/>
                <a:ea typeface="华文仿宋" panose="02010600040101010101" pitchFamily="2" charset="-122"/>
              </a:rPr>
              <a:t>在初始状态它指向查询结果的首记录。</a:t>
            </a:r>
          </a:p>
        </p:txBody>
      </p:sp>
      <p:sp>
        <p:nvSpPr>
          <p:cNvPr id="62466" name="灯片编号占位符 5"/>
          <p:cNvSpPr txBox="1">
            <a:spLocks noGrp="1"/>
          </p:cNvSpPr>
          <p:nvPr>
            <p:ph type="sldNum" sz="quarter" idx="12"/>
          </p:nvPr>
        </p:nvSpPr>
        <p:spPr>
          <a:xfrm>
            <a:off x="10707624" y="6382512"/>
            <a:ext cx="685800" cy="320040"/>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ea typeface="宋体" panose="02010600030101010101" pitchFamily="2" charset="-122"/>
              </a:rPr>
              <a:pPr marL="0" indent="0" eaLnBrk="1" hangingPunct="1">
                <a:spcBef>
                  <a:spcPct val="0"/>
                </a:spcBef>
                <a:spcAft>
                  <a:spcPts val="600"/>
                </a:spcAft>
                <a:buClrTx/>
                <a:buSzTx/>
                <a:buFontTx/>
                <a:buNone/>
              </a:pPr>
              <a:t>59</a:t>
            </a:fld>
            <a:endParaRPr lang="en-US" altLang="zh-CN">
              <a:ea typeface="宋体" panose="02010600030101010101" pitchFamily="2"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3491"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endParaRPr lang="zh-CN" altLang="zh-CN">
              <a:solidFill>
                <a:srgbClr val="FFFFFF"/>
              </a:solidFill>
              <a:latin typeface="+mj-lt"/>
              <a:ea typeface="+mj-ea"/>
              <a:cs typeface="+mj-cs"/>
            </a:endParaRPr>
          </a:p>
        </p:txBody>
      </p:sp>
      <p:sp>
        <p:nvSpPr>
          <p:cNvPr id="63492"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buSzPct val="75000"/>
            </a:pPr>
            <a:r>
              <a:rPr lang="zh-CN" altLang="en-US" sz="2000">
                <a:solidFill>
                  <a:srgbClr val="000000"/>
                </a:solidFill>
                <a:latin typeface="+mn-lt"/>
                <a:ea typeface="+mn-ea"/>
                <a:cs typeface="+mn-cs"/>
              </a:rPr>
              <a:t>游标的分类</a:t>
            </a:r>
          </a:p>
          <a:p>
            <a:pPr lvl="1" eaLnBrk="1" hangingPunct="1">
              <a:buSzPct val="75000"/>
            </a:pPr>
            <a:r>
              <a:rPr lang="zh-CN" altLang="en-US" sz="2000">
                <a:solidFill>
                  <a:srgbClr val="000000"/>
                </a:solidFill>
                <a:latin typeface="黑体" panose="02010609060101010101" pitchFamily="49" charset="-122"/>
                <a:ea typeface="黑体" panose="02010609060101010101" pitchFamily="49" charset="-122"/>
              </a:rPr>
              <a:t>显式游标</a:t>
            </a:r>
          </a:p>
          <a:p>
            <a:pPr lvl="2" eaLnBrk="1" hangingPunct="1">
              <a:buFont typeface="Wingdings" panose="05000000000000000000" pitchFamily="2" charset="2"/>
              <a:buChar char="q"/>
            </a:pPr>
            <a:r>
              <a:rPr lang="zh-CN" altLang="en-US" sz="2000">
                <a:solidFill>
                  <a:srgbClr val="000000"/>
                </a:solidFill>
                <a:latin typeface="黑体" panose="02010609060101010101" pitchFamily="49" charset="-122"/>
                <a:ea typeface="黑体" panose="02010609060101010101" pitchFamily="49" charset="-122"/>
              </a:rPr>
              <a:t>由用户定义、操作，用于处理返回多行数据的</a:t>
            </a:r>
            <a:r>
              <a:rPr lang="en-US" altLang="zh-CN" sz="2000">
                <a:solidFill>
                  <a:srgbClr val="000000"/>
                </a:solidFill>
                <a:latin typeface="黑体" panose="02010609060101010101" pitchFamily="49" charset="-122"/>
                <a:ea typeface="黑体" panose="02010609060101010101" pitchFamily="49" charset="-122"/>
              </a:rPr>
              <a:t>SELECT</a:t>
            </a:r>
            <a:r>
              <a:rPr lang="zh-CN" altLang="en-US" sz="2000">
                <a:solidFill>
                  <a:srgbClr val="000000"/>
                </a:solidFill>
                <a:latin typeface="黑体" panose="02010609060101010101" pitchFamily="49" charset="-122"/>
                <a:ea typeface="黑体" panose="02010609060101010101" pitchFamily="49" charset="-122"/>
              </a:rPr>
              <a:t>查询。</a:t>
            </a:r>
          </a:p>
          <a:p>
            <a:pPr lvl="1" eaLnBrk="1" hangingPunct="1">
              <a:buSzPct val="75000"/>
            </a:pPr>
            <a:r>
              <a:rPr lang="zh-CN" altLang="en-US" sz="2000">
                <a:solidFill>
                  <a:srgbClr val="000000"/>
                </a:solidFill>
                <a:latin typeface="黑体" panose="02010609060101010101" pitchFamily="49" charset="-122"/>
                <a:ea typeface="黑体" panose="02010609060101010101" pitchFamily="49" charset="-122"/>
              </a:rPr>
              <a:t>隐式游标</a:t>
            </a:r>
          </a:p>
          <a:p>
            <a:pPr lvl="2" eaLnBrk="1" hangingPunct="1">
              <a:buFont typeface="Wingdings" panose="05000000000000000000" pitchFamily="2" charset="2"/>
              <a:buChar char="q"/>
            </a:pPr>
            <a:r>
              <a:rPr lang="zh-CN" altLang="en-US" sz="2000">
                <a:solidFill>
                  <a:srgbClr val="000000"/>
                </a:solidFill>
                <a:latin typeface="黑体" panose="02010609060101010101" pitchFamily="49" charset="-122"/>
                <a:ea typeface="黑体" panose="02010609060101010101" pitchFamily="49" charset="-122"/>
              </a:rPr>
              <a:t>由系统自动进行操作，用于处理</a:t>
            </a:r>
            <a:r>
              <a:rPr lang="en-US" altLang="zh-CN" sz="2000">
                <a:solidFill>
                  <a:srgbClr val="000000"/>
                </a:solidFill>
                <a:latin typeface="黑体" panose="02010609060101010101" pitchFamily="49" charset="-122"/>
                <a:ea typeface="黑体" panose="02010609060101010101" pitchFamily="49" charset="-122"/>
              </a:rPr>
              <a:t>DML</a:t>
            </a:r>
            <a:r>
              <a:rPr lang="zh-CN" altLang="en-US" sz="2000">
                <a:solidFill>
                  <a:srgbClr val="000000"/>
                </a:solidFill>
                <a:latin typeface="黑体" panose="02010609060101010101" pitchFamily="49" charset="-122"/>
                <a:ea typeface="黑体" panose="02010609060101010101" pitchFamily="49" charset="-122"/>
              </a:rPr>
              <a:t>语句和返回单行数据的</a:t>
            </a:r>
            <a:r>
              <a:rPr lang="en-US" altLang="zh-CN" sz="2000">
                <a:solidFill>
                  <a:srgbClr val="000000"/>
                </a:solidFill>
                <a:latin typeface="黑体" panose="02010609060101010101" pitchFamily="49" charset="-122"/>
                <a:ea typeface="黑体" panose="02010609060101010101" pitchFamily="49" charset="-122"/>
              </a:rPr>
              <a:t>SELECT</a:t>
            </a:r>
            <a:r>
              <a:rPr lang="zh-CN" altLang="en-US" sz="2000">
                <a:solidFill>
                  <a:srgbClr val="000000"/>
                </a:solidFill>
                <a:latin typeface="黑体" panose="02010609060101010101" pitchFamily="49" charset="-122"/>
                <a:ea typeface="黑体" panose="02010609060101010101" pitchFamily="49" charset="-122"/>
              </a:rPr>
              <a:t>查询。</a:t>
            </a:r>
            <a:r>
              <a:rPr lang="zh-CN" altLang="en-US" sz="2000">
                <a:solidFill>
                  <a:srgbClr val="000000"/>
                </a:solidFill>
              </a:rPr>
              <a:t>          </a:t>
            </a:r>
          </a:p>
        </p:txBody>
      </p:sp>
      <p:sp>
        <p:nvSpPr>
          <p:cNvPr id="63490"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60</a:t>
            </a:fld>
            <a:endParaRPr lang="en-US" altLang="zh-CN">
              <a:solidFill>
                <a:srgbClr val="898989"/>
              </a:solidFill>
              <a:ea typeface="宋体" panose="02010600030101010101" pitchFamily="2"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4523" name="Rectangle 81">
            <a:extLst>
              <a:ext uri="{FF2B5EF4-FFF2-40B4-BE49-F238E27FC236}">
                <a16:creationId xmlns:a16="http://schemas.microsoft.com/office/drawing/2014/main" id="{91CC89A3-857A-4D53-ADCB-0A14B4B40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517" name="Rectangle 4"/>
          <p:cNvSpPr>
            <a:spLocks noGrp="1"/>
          </p:cNvSpPr>
          <p:nvPr>
            <p:ph type="title"/>
          </p:nvPr>
        </p:nvSpPr>
        <p:spPr>
          <a:xfrm>
            <a:off x="838199" y="545747"/>
            <a:ext cx="5162891" cy="2785952"/>
          </a:xfrm>
        </p:spPr>
        <p:txBody>
          <a:bodyPr vert="horz" lIns="121920" tIns="60960" rIns="121920" bIns="60960" anchor="ctr">
            <a:normAutofit/>
          </a:bodyPr>
          <a:lstStyle/>
          <a:p>
            <a:pPr eaLnBrk="1" hangingPunct="1"/>
            <a:r>
              <a:rPr lang="en-US" altLang="zh-CN">
                <a:latin typeface="+mj-lt"/>
                <a:ea typeface="+mj-ea"/>
                <a:cs typeface="+mj-cs"/>
              </a:rPr>
              <a:t>9.7.2  </a:t>
            </a:r>
            <a:r>
              <a:rPr lang="zh-CN" altLang="zh-CN">
                <a:latin typeface="+mj-lt"/>
                <a:ea typeface="+mj-ea"/>
                <a:cs typeface="+mj-cs"/>
              </a:rPr>
              <a:t>显式游标操作过程</a:t>
            </a:r>
            <a:endParaRPr lang="zh-CN" altLang="en-US">
              <a:latin typeface="+mj-lt"/>
              <a:ea typeface="+mj-ea"/>
              <a:cs typeface="+mj-cs"/>
            </a:endParaRPr>
          </a:p>
        </p:txBody>
      </p:sp>
      <p:sp>
        <p:nvSpPr>
          <p:cNvPr id="64518" name="Rectangle 5"/>
          <p:cNvSpPr>
            <a:spLocks noGrp="1"/>
          </p:cNvSpPr>
          <p:nvPr>
            <p:ph idx="1"/>
          </p:nvPr>
        </p:nvSpPr>
        <p:spPr>
          <a:xfrm>
            <a:off x="6190910" y="545747"/>
            <a:ext cx="4992906" cy="2785953"/>
          </a:xfrm>
        </p:spPr>
        <p:txBody>
          <a:bodyPr vert="horz" lIns="121920" tIns="60960" rIns="121920" bIns="60960" anchor="ctr">
            <a:normAutofit/>
          </a:bodyPr>
          <a:lstStyle/>
          <a:p>
            <a:pPr eaLnBrk="1" hangingPunct="1">
              <a:lnSpc>
                <a:spcPct val="90000"/>
              </a:lnSpc>
              <a:buSzPct val="75000"/>
            </a:pPr>
            <a:r>
              <a:rPr lang="zh-CN" altLang="en-US" sz="1700">
                <a:latin typeface="+mn-lt"/>
                <a:ea typeface="+mn-ea"/>
                <a:cs typeface="+mn-cs"/>
              </a:rPr>
              <a:t>步骤</a:t>
            </a:r>
          </a:p>
          <a:p>
            <a:pPr eaLnBrk="1" hangingPunct="1">
              <a:lnSpc>
                <a:spcPct val="90000"/>
              </a:lnSpc>
              <a:buSzPct val="75000"/>
            </a:pPr>
            <a:endParaRPr lang="zh-CN" altLang="en-US" sz="1700">
              <a:latin typeface="+mn-lt"/>
              <a:ea typeface="+mn-ea"/>
              <a:cs typeface="+mn-cs"/>
            </a:endParaRPr>
          </a:p>
          <a:p>
            <a:pPr eaLnBrk="1" hangingPunct="1">
              <a:lnSpc>
                <a:spcPct val="90000"/>
              </a:lnSpc>
              <a:buSzPct val="75000"/>
            </a:pPr>
            <a:endParaRPr lang="zh-CN" altLang="en-US" sz="1700">
              <a:latin typeface="+mn-lt"/>
              <a:ea typeface="+mn-ea"/>
              <a:cs typeface="+mn-cs"/>
            </a:endParaRPr>
          </a:p>
          <a:p>
            <a:pPr eaLnBrk="1" hangingPunct="1">
              <a:lnSpc>
                <a:spcPct val="90000"/>
              </a:lnSpc>
              <a:buSzPct val="75000"/>
            </a:pPr>
            <a:endParaRPr lang="zh-CN" altLang="en-US" sz="1700">
              <a:latin typeface="+mn-lt"/>
              <a:ea typeface="+mn-ea"/>
              <a:cs typeface="+mn-cs"/>
            </a:endParaRPr>
          </a:p>
          <a:p>
            <a:pPr eaLnBrk="1" hangingPunct="1">
              <a:lnSpc>
                <a:spcPct val="90000"/>
              </a:lnSpc>
              <a:buSzPct val="75000"/>
            </a:pPr>
            <a:endParaRPr lang="zh-CN" altLang="en-US" sz="1700">
              <a:latin typeface="+mn-lt"/>
              <a:ea typeface="+mn-ea"/>
              <a:cs typeface="+mn-cs"/>
            </a:endParaRPr>
          </a:p>
          <a:p>
            <a:pPr lvl="1" eaLnBrk="1" hangingPunct="1">
              <a:lnSpc>
                <a:spcPct val="90000"/>
              </a:lnSpc>
              <a:buSzPct val="75000"/>
            </a:pPr>
            <a:r>
              <a:rPr lang="zh-CN" altLang="en-US" sz="1700">
                <a:latin typeface="+mn-lt"/>
                <a:ea typeface="华文仿宋" panose="02010600040101010101" pitchFamily="2" charset="-122"/>
              </a:rPr>
              <a:t>定义游标</a:t>
            </a:r>
          </a:p>
          <a:p>
            <a:pPr lvl="1" eaLnBrk="1" hangingPunct="1">
              <a:lnSpc>
                <a:spcPct val="90000"/>
              </a:lnSpc>
              <a:buSzPct val="75000"/>
            </a:pPr>
            <a:r>
              <a:rPr lang="zh-CN" altLang="en-US" sz="1700">
                <a:latin typeface="+mn-lt"/>
                <a:ea typeface="华文仿宋" panose="02010600040101010101" pitchFamily="2" charset="-122"/>
              </a:rPr>
              <a:t>打开游标</a:t>
            </a:r>
          </a:p>
          <a:p>
            <a:pPr lvl="1" eaLnBrk="1" hangingPunct="1">
              <a:lnSpc>
                <a:spcPct val="90000"/>
              </a:lnSpc>
              <a:buSzPct val="75000"/>
            </a:pPr>
            <a:r>
              <a:rPr lang="zh-CN" altLang="en-US" sz="1700">
                <a:latin typeface="+mn-lt"/>
                <a:ea typeface="华文仿宋" panose="02010600040101010101" pitchFamily="2" charset="-122"/>
              </a:rPr>
              <a:t>检索游标</a:t>
            </a:r>
          </a:p>
          <a:p>
            <a:pPr lvl="1" eaLnBrk="1" hangingPunct="1">
              <a:lnSpc>
                <a:spcPct val="90000"/>
              </a:lnSpc>
              <a:buSzPct val="75000"/>
            </a:pPr>
            <a:r>
              <a:rPr lang="zh-CN" altLang="en-US" sz="1700">
                <a:latin typeface="+mn-lt"/>
                <a:ea typeface="华文仿宋" panose="02010600040101010101" pitchFamily="2" charset="-122"/>
              </a:rPr>
              <a:t>关闭游标</a:t>
            </a:r>
          </a:p>
        </p:txBody>
      </p:sp>
      <p:pic>
        <p:nvPicPr>
          <p:cNvPr id="64519" name="Picture 6" descr="p3"/>
          <p:cNvPicPr>
            <a:picLocks noChangeAspect="1"/>
          </p:cNvPicPr>
          <p:nvPr/>
        </p:nvPicPr>
        <p:blipFill rotWithShape="1">
          <a:blip r:embed="rId2"/>
          <a:srcRect l="12587" r="25234" b="-1"/>
          <a:stretch/>
        </p:blipFill>
        <p:spPr>
          <a:xfrm>
            <a:off x="182881" y="3526300"/>
            <a:ext cx="11834494" cy="3157668"/>
          </a:xfrm>
          <a:prstGeom prst="rect">
            <a:avLst/>
          </a:prstGeom>
          <a:noFill/>
        </p:spPr>
      </p:pic>
      <p:sp>
        <p:nvSpPr>
          <p:cNvPr id="64514" name="灯片编号占位符 5"/>
          <p:cNvSpPr txBox="1">
            <a:spLocks noGrp="1"/>
          </p:cNvSpPr>
          <p:nvPr>
            <p:ph type="sldNum" sz="quarter" idx="12"/>
          </p:nvPr>
        </p:nvSpPr>
        <p:spPr>
          <a:xfrm>
            <a:off x="8610600" y="6356350"/>
            <a:ext cx="2743200" cy="365125"/>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FFFFFF"/>
                </a:solidFill>
                <a:ea typeface="宋体" panose="02010600030101010101" pitchFamily="2" charset="-122"/>
              </a:rPr>
              <a:pPr marL="0" indent="0" eaLnBrk="1" hangingPunct="1">
                <a:spcBef>
                  <a:spcPct val="0"/>
                </a:spcBef>
                <a:spcAft>
                  <a:spcPts val="600"/>
                </a:spcAft>
                <a:buClrTx/>
                <a:buSzTx/>
                <a:buFontTx/>
                <a:buNone/>
              </a:pPr>
              <a:t>61</a:t>
            </a:fld>
            <a:endParaRPr lang="en-US" altLang="zh-CN">
              <a:solidFill>
                <a:srgbClr val="FFFFFF"/>
              </a:solidFill>
              <a:ea typeface="宋体" panose="02010600030101010101" pitchFamily="2" charset="-122"/>
            </a:endParaRPr>
          </a:p>
        </p:txBody>
      </p:sp>
      <p:sp>
        <p:nvSpPr>
          <p:cNvPr id="64515" name="Rectangle 2"/>
          <p:cNvSpPr/>
          <p:nvPr/>
        </p:nvSpPr>
        <p:spPr>
          <a:xfrm>
            <a:off x="912284" y="-122767"/>
            <a:ext cx="10363200" cy="914400"/>
          </a:xfrm>
          <a:prstGeom prst="rect">
            <a:avLst/>
          </a:prstGeom>
          <a:noFill/>
          <a:ln w="9525">
            <a:noFill/>
          </a:ln>
        </p:spPr>
        <p:txBody>
          <a:bodyPr lIns="122766" tIns="61384" rIns="122766" bIns="61384" anchor="ct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Char char="n"/>
              <a:defRPr sz="2800" b="1">
                <a:solidFill>
                  <a:schemeClr val="tx1"/>
                </a:solidFill>
                <a:latin typeface="+mn-lt"/>
                <a:ea typeface="华文仿宋" panose="02010600040101010101" pitchFamily="2" charset="-122"/>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p"/>
              <a:defRPr sz="2400">
                <a:solidFill>
                  <a:schemeClr val="tx1"/>
                </a:solidFill>
                <a:latin typeface="+mn-lt"/>
                <a:ea typeface="华文隶书" panose="02010800040101010101" pitchFamily="2" charset="-122"/>
              </a:defRPr>
            </a:lvl3pPr>
            <a:lvl4pPr marL="16002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j-ea"/>
              </a:defRPr>
            </a:lvl4pPr>
            <a:lvl5pPr marL="2057400" indent="-228600" algn="l" rtl="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mn-lt"/>
                <a:ea typeface="+mj-ea"/>
              </a:defRPr>
            </a:lvl5pPr>
          </a:lstStyle>
          <a:p>
            <a:pPr marL="0" lvl="0" indent="0" algn="ctr" eaLnBrk="1" hangingPunct="1">
              <a:spcBef>
                <a:spcPct val="0"/>
              </a:spcBef>
              <a:buClrTx/>
              <a:buSzTx/>
              <a:buFontTx/>
              <a:buNone/>
            </a:pPr>
            <a:endParaRPr lang="zh-CN" altLang="zh-CN" sz="5865" dirty="0">
              <a:latin typeface="Times New Roman" panose="02020603050405020304" pitchFamily="18" charset="0"/>
              <a:ea typeface="宋体" panose="02010600030101010101" pitchFamily="2" charset="-122"/>
            </a:endParaRPr>
          </a:p>
        </p:txBody>
      </p:sp>
      <p:sp>
        <p:nvSpPr>
          <p:cNvPr id="64516" name="Rectangle 3"/>
          <p:cNvSpPr/>
          <p:nvPr/>
        </p:nvSpPr>
        <p:spPr>
          <a:xfrm>
            <a:off x="1016000" y="1028700"/>
            <a:ext cx="10871200" cy="6565900"/>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Char char="n"/>
              <a:defRPr sz="2800" b="1">
                <a:solidFill>
                  <a:schemeClr val="tx1"/>
                </a:solidFill>
                <a:latin typeface="+mn-lt"/>
                <a:ea typeface="华文仿宋" panose="02010600040101010101" pitchFamily="2" charset="-122"/>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p"/>
              <a:defRPr sz="2400">
                <a:solidFill>
                  <a:schemeClr val="tx1"/>
                </a:solidFill>
                <a:latin typeface="+mn-lt"/>
                <a:ea typeface="华文隶书" panose="02010800040101010101" pitchFamily="2" charset="-122"/>
              </a:defRPr>
            </a:lvl3pPr>
            <a:lvl4pPr marL="16002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j-ea"/>
              </a:defRPr>
            </a:lvl4pPr>
            <a:lvl5pPr marL="2057400" indent="-228600" algn="l" rtl="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mn-lt"/>
                <a:ea typeface="+mj-ea"/>
              </a:defRPr>
            </a:lvl5pPr>
          </a:lstStyle>
          <a:p>
            <a:pPr marL="342900" lvl="0" indent="-342900" eaLnBrk="1" hangingPunct="1">
              <a:buClr>
                <a:schemeClr val="accent2"/>
              </a:buClr>
              <a:buSzPct val="80000"/>
              <a:buChar char="l"/>
            </a:pPr>
            <a:endParaRPr lang="en-US" altLang="zh-CN" sz="3735" dirty="0">
              <a:latin typeface="Times New Roman" panose="02020603050405020304" pitchFamily="18" charset="0"/>
              <a:ea typeface="宋体" panose="02010600030101010101" pitchFamily="2" charset="-122"/>
            </a:endParaRPr>
          </a:p>
          <a:p>
            <a:pPr marL="342900" lvl="0" indent="-342900" eaLnBrk="1" hangingPunct="1">
              <a:buClr>
                <a:schemeClr val="accent2"/>
              </a:buClr>
              <a:buSzPct val="80000"/>
              <a:buChar char="l"/>
            </a:pPr>
            <a:endParaRPr lang="en-US" altLang="zh-CN" sz="3735" dirty="0">
              <a:latin typeface="Times New Roman" panose="02020603050405020304" pitchFamily="18" charset="0"/>
              <a:ea typeface="宋体" panose="02010600030101010101" pitchFamily="2"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5539"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endParaRPr lang="zh-CN" altLang="zh-CN" b="0">
              <a:solidFill>
                <a:srgbClr val="FFFFFF"/>
              </a:solidFill>
              <a:latin typeface="+mj-lt"/>
              <a:ea typeface="+mj-ea"/>
              <a:cs typeface="+mj-cs"/>
            </a:endParaRPr>
          </a:p>
        </p:txBody>
      </p:sp>
      <p:sp>
        <p:nvSpPr>
          <p:cNvPr id="65540"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lnSpc>
                <a:spcPct val="90000"/>
              </a:lnSpc>
              <a:buSzPct val="75000"/>
            </a:pPr>
            <a:r>
              <a:rPr lang="zh-CN" altLang="en-US" sz="1900">
                <a:solidFill>
                  <a:srgbClr val="000000"/>
                </a:solidFill>
                <a:latin typeface="+mn-lt"/>
                <a:ea typeface="+mn-ea"/>
                <a:cs typeface="+mn-cs"/>
              </a:rPr>
              <a:t>定义游标</a:t>
            </a:r>
          </a:p>
          <a:p>
            <a:pPr lvl="1" eaLnBrk="1" hangingPunct="1">
              <a:lnSpc>
                <a:spcPct val="90000"/>
              </a:lnSpc>
              <a:buSzPct val="75000"/>
            </a:pPr>
            <a:r>
              <a:rPr lang="zh-CN" altLang="en-US" sz="1900">
                <a:solidFill>
                  <a:srgbClr val="000000"/>
                </a:solidFill>
                <a:latin typeface="+mn-lt"/>
                <a:ea typeface="华文仿宋" panose="02010600040101010101" pitchFamily="2" charset="-122"/>
              </a:rPr>
              <a:t>语法</a:t>
            </a:r>
          </a:p>
          <a:p>
            <a:pPr lvl="2" eaLnBrk="1" hangingPunct="1">
              <a:lnSpc>
                <a:spcPct val="90000"/>
              </a:lnSpc>
            </a:pPr>
            <a:r>
              <a:rPr lang="en-US" altLang="zh-CN" sz="1900">
                <a:solidFill>
                  <a:srgbClr val="000000"/>
                </a:solidFill>
              </a:rPr>
              <a:t>CURSOR cursor_name IS select_statement ;</a:t>
            </a:r>
          </a:p>
          <a:p>
            <a:pPr lvl="1" eaLnBrk="1" hangingPunct="1">
              <a:lnSpc>
                <a:spcPct val="90000"/>
              </a:lnSpc>
              <a:buSzPct val="75000"/>
            </a:pPr>
            <a:r>
              <a:rPr lang="zh-CN" altLang="en-US" sz="1900">
                <a:solidFill>
                  <a:srgbClr val="000000"/>
                </a:solidFill>
                <a:latin typeface="+mn-lt"/>
                <a:ea typeface="华文仿宋" panose="02010600040101010101" pitchFamily="2" charset="-122"/>
              </a:rPr>
              <a:t>说明</a:t>
            </a:r>
          </a:p>
          <a:p>
            <a:pPr lvl="2" eaLnBrk="1" hangingPunct="1">
              <a:lnSpc>
                <a:spcPct val="90000"/>
              </a:lnSpc>
            </a:pPr>
            <a:r>
              <a:rPr lang="zh-CN" altLang="en-US" sz="1900">
                <a:solidFill>
                  <a:srgbClr val="000000"/>
                </a:solidFill>
                <a:latin typeface="宋体" panose="02010600030101010101" pitchFamily="2" charset="-122"/>
                <a:ea typeface="宋体" panose="02010600030101010101" pitchFamily="2" charset="-122"/>
              </a:rPr>
              <a:t>游标必须在</a:t>
            </a:r>
            <a:r>
              <a:rPr lang="en-US" altLang="zh-CN" sz="1900">
                <a:solidFill>
                  <a:srgbClr val="000000"/>
                </a:solidFill>
                <a:latin typeface="宋体" panose="02010600030101010101" pitchFamily="2" charset="-122"/>
                <a:ea typeface="宋体" panose="02010600030101010101" pitchFamily="2" charset="-122"/>
              </a:rPr>
              <a:t>PL/SQL</a:t>
            </a:r>
            <a:r>
              <a:rPr lang="zh-CN" altLang="en-US" sz="1900">
                <a:solidFill>
                  <a:srgbClr val="000000"/>
                </a:solidFill>
                <a:latin typeface="宋体" panose="02010600030101010101" pitchFamily="2" charset="-122"/>
                <a:ea typeface="宋体" panose="02010600030101010101" pitchFamily="2" charset="-122"/>
              </a:rPr>
              <a:t>块的声明部分进行定义；</a:t>
            </a:r>
          </a:p>
          <a:p>
            <a:pPr lvl="2" eaLnBrk="1" hangingPunct="1">
              <a:lnSpc>
                <a:spcPct val="90000"/>
              </a:lnSpc>
            </a:pPr>
            <a:r>
              <a:rPr lang="zh-CN" altLang="en-US" sz="1900">
                <a:solidFill>
                  <a:srgbClr val="000000"/>
                </a:solidFill>
                <a:latin typeface="宋体" panose="02010600030101010101" pitchFamily="2" charset="-122"/>
                <a:ea typeface="宋体" panose="02010600030101010101" pitchFamily="2" charset="-122"/>
              </a:rPr>
              <a:t>游标定义时可以引用</a:t>
            </a:r>
            <a:r>
              <a:rPr lang="en-US" altLang="zh-CN" sz="1900">
                <a:solidFill>
                  <a:srgbClr val="000000"/>
                </a:solidFill>
                <a:latin typeface="宋体" panose="02010600030101010101" pitchFamily="2" charset="-122"/>
                <a:ea typeface="宋体" panose="02010600030101010101" pitchFamily="2" charset="-122"/>
              </a:rPr>
              <a:t>PL/SQL</a:t>
            </a:r>
            <a:r>
              <a:rPr lang="zh-CN" altLang="en-US" sz="1900">
                <a:solidFill>
                  <a:srgbClr val="000000"/>
                </a:solidFill>
                <a:latin typeface="宋体" panose="02010600030101010101" pitchFamily="2" charset="-122"/>
                <a:ea typeface="宋体" panose="02010600030101010101" pitchFamily="2" charset="-122"/>
              </a:rPr>
              <a:t>变量，但变量必须在游标定义之前定义；</a:t>
            </a:r>
          </a:p>
          <a:p>
            <a:pPr lvl="2" eaLnBrk="1" hangingPunct="1">
              <a:lnSpc>
                <a:spcPct val="90000"/>
              </a:lnSpc>
            </a:pPr>
            <a:r>
              <a:rPr lang="zh-CN" altLang="en-US" sz="1900">
                <a:solidFill>
                  <a:srgbClr val="000000"/>
                </a:solidFill>
                <a:latin typeface="宋体" panose="02010600030101010101" pitchFamily="2" charset="-122"/>
                <a:ea typeface="宋体" panose="02010600030101010101" pitchFamily="2" charset="-122"/>
              </a:rPr>
              <a:t>定义游标时并没有生成数据，只是将定义信息保存到数据字典中；</a:t>
            </a:r>
          </a:p>
          <a:p>
            <a:pPr lvl="2" eaLnBrk="1" hangingPunct="1">
              <a:lnSpc>
                <a:spcPct val="90000"/>
              </a:lnSpc>
            </a:pPr>
            <a:r>
              <a:rPr lang="zh-CN" altLang="en-US" sz="1900">
                <a:solidFill>
                  <a:srgbClr val="000000"/>
                </a:solidFill>
                <a:latin typeface="宋体" panose="02010600030101010101" pitchFamily="2" charset="-122"/>
                <a:ea typeface="宋体" panose="02010600030101010101" pitchFamily="2" charset="-122"/>
              </a:rPr>
              <a:t>游标定义后，可以使用</a:t>
            </a:r>
            <a:r>
              <a:rPr lang="en-US" altLang="zh-CN" sz="1900">
                <a:solidFill>
                  <a:srgbClr val="000000"/>
                </a:solidFill>
                <a:latin typeface="宋体" panose="02010600030101010101" pitchFamily="2" charset="-122"/>
                <a:ea typeface="宋体" panose="02010600030101010101" pitchFamily="2" charset="-122"/>
              </a:rPr>
              <a:t>cursor_name%ROWTYPE</a:t>
            </a:r>
            <a:r>
              <a:rPr lang="zh-CN" altLang="en-US" sz="1900">
                <a:solidFill>
                  <a:srgbClr val="000000"/>
                </a:solidFill>
                <a:latin typeface="宋体" panose="02010600030101010101" pitchFamily="2" charset="-122"/>
                <a:ea typeface="宋体" panose="02010600030101010101" pitchFamily="2" charset="-122"/>
              </a:rPr>
              <a:t>定义游标类型变量。</a:t>
            </a:r>
          </a:p>
        </p:txBody>
      </p:sp>
      <p:sp>
        <p:nvSpPr>
          <p:cNvPr id="65538"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62</a:t>
            </a:fld>
            <a:endParaRPr lang="en-US" altLang="zh-CN">
              <a:solidFill>
                <a:srgbClr val="898989"/>
              </a:solidFill>
              <a:ea typeface="宋体" panose="02010600030101010101" pitchFamily="2"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6563"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endParaRPr lang="zh-CN" altLang="zh-CN">
              <a:solidFill>
                <a:srgbClr val="FFFFFF"/>
              </a:solidFill>
              <a:latin typeface="+mj-lt"/>
              <a:ea typeface="+mj-ea"/>
              <a:cs typeface="+mj-cs"/>
            </a:endParaRPr>
          </a:p>
        </p:txBody>
      </p:sp>
      <p:sp>
        <p:nvSpPr>
          <p:cNvPr id="66564"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lnSpc>
                <a:spcPct val="90000"/>
              </a:lnSpc>
              <a:buSzPct val="75000"/>
            </a:pPr>
            <a:r>
              <a:rPr lang="zh-CN" altLang="en-US" sz="1700">
                <a:solidFill>
                  <a:srgbClr val="000000"/>
                </a:solidFill>
                <a:latin typeface="+mn-lt"/>
                <a:ea typeface="+mn-ea"/>
                <a:cs typeface="+mn-cs"/>
              </a:rPr>
              <a:t>打开游标</a:t>
            </a:r>
          </a:p>
          <a:p>
            <a:pPr lvl="1" eaLnBrk="1" hangingPunct="1">
              <a:lnSpc>
                <a:spcPct val="90000"/>
              </a:lnSpc>
              <a:buSzPct val="75000"/>
            </a:pPr>
            <a:r>
              <a:rPr lang="zh-CN" altLang="en-US" sz="1700">
                <a:solidFill>
                  <a:srgbClr val="000000"/>
                </a:solidFill>
                <a:latin typeface="+mn-lt"/>
                <a:ea typeface="华文仿宋" panose="02010600040101010101" pitchFamily="2" charset="-122"/>
              </a:rPr>
              <a:t>语法</a:t>
            </a:r>
          </a:p>
          <a:p>
            <a:pPr lvl="2" eaLnBrk="1" hangingPunct="1">
              <a:lnSpc>
                <a:spcPct val="90000"/>
              </a:lnSpc>
            </a:pPr>
            <a:r>
              <a:rPr lang="en-US" altLang="zh-CN" sz="1700">
                <a:solidFill>
                  <a:srgbClr val="000000"/>
                </a:solidFill>
              </a:rPr>
              <a:t>OPEN cursor_name; </a:t>
            </a:r>
          </a:p>
          <a:p>
            <a:pPr lvl="1" eaLnBrk="1" hangingPunct="1">
              <a:lnSpc>
                <a:spcPct val="90000"/>
              </a:lnSpc>
              <a:buSzPct val="75000"/>
            </a:pPr>
            <a:r>
              <a:rPr lang="zh-CN" altLang="en-US" sz="1700">
                <a:solidFill>
                  <a:srgbClr val="000000"/>
                </a:solidFill>
                <a:latin typeface="+mn-lt"/>
                <a:ea typeface="华文仿宋" panose="02010600040101010101" pitchFamily="2" charset="-122"/>
              </a:rPr>
              <a:t>说明</a:t>
            </a:r>
          </a:p>
          <a:p>
            <a:pPr lvl="2" eaLnBrk="1" hangingPunct="1">
              <a:lnSpc>
                <a:spcPct val="90000"/>
              </a:lnSpc>
            </a:pPr>
            <a:r>
              <a:rPr lang="zh-CN" altLang="en-US" sz="1700">
                <a:solidFill>
                  <a:srgbClr val="000000"/>
                </a:solidFill>
                <a:latin typeface="黑体" panose="02010609060101010101" pitchFamily="49" charset="-122"/>
                <a:ea typeface="黑体" panose="02010609060101010101" pitchFamily="49" charset="-122"/>
              </a:rPr>
              <a:t>检查变量的值</a:t>
            </a:r>
          </a:p>
          <a:p>
            <a:pPr lvl="2" eaLnBrk="1" hangingPunct="1">
              <a:lnSpc>
                <a:spcPct val="90000"/>
              </a:lnSpc>
            </a:pPr>
            <a:r>
              <a:rPr lang="zh-CN" altLang="en-US" sz="1700">
                <a:solidFill>
                  <a:srgbClr val="000000"/>
                </a:solidFill>
                <a:latin typeface="黑体" panose="02010609060101010101" pitchFamily="49" charset="-122"/>
                <a:ea typeface="黑体" panose="02010609060101010101" pitchFamily="49" charset="-122"/>
              </a:rPr>
              <a:t>执行游标定义时对应的</a:t>
            </a:r>
            <a:r>
              <a:rPr lang="en-US" altLang="zh-CN" sz="1700">
                <a:solidFill>
                  <a:srgbClr val="000000"/>
                </a:solidFill>
                <a:latin typeface="黑体" panose="02010609060101010101" pitchFamily="49" charset="-122"/>
                <a:ea typeface="黑体" panose="02010609060101010101" pitchFamily="49" charset="-122"/>
              </a:rPr>
              <a:t>SELECT</a:t>
            </a:r>
            <a:r>
              <a:rPr lang="zh-CN" altLang="en-US" sz="1700">
                <a:solidFill>
                  <a:srgbClr val="000000"/>
                </a:solidFill>
                <a:latin typeface="黑体" panose="02010609060101010101" pitchFamily="49" charset="-122"/>
                <a:ea typeface="黑体" panose="02010609060101010101" pitchFamily="49" charset="-122"/>
              </a:rPr>
              <a:t>语句，将查询结果检索到工作区中。</a:t>
            </a:r>
          </a:p>
          <a:p>
            <a:pPr lvl="2" eaLnBrk="1" hangingPunct="1">
              <a:lnSpc>
                <a:spcPct val="90000"/>
              </a:lnSpc>
            </a:pPr>
            <a:r>
              <a:rPr lang="zh-CN" altLang="en-US" sz="1700">
                <a:solidFill>
                  <a:srgbClr val="000000"/>
                </a:solidFill>
                <a:latin typeface="黑体" panose="02010609060101010101" pitchFamily="49" charset="-122"/>
                <a:ea typeface="黑体" panose="02010609060101010101" pitchFamily="49" charset="-122"/>
              </a:rPr>
              <a:t>游标指针指向第一个元组</a:t>
            </a:r>
          </a:p>
          <a:p>
            <a:pPr lvl="2" eaLnBrk="1" hangingPunct="1">
              <a:lnSpc>
                <a:spcPct val="90000"/>
              </a:lnSpc>
            </a:pPr>
            <a:r>
              <a:rPr lang="zh-CN" altLang="en-US" sz="1700">
                <a:solidFill>
                  <a:srgbClr val="000000"/>
                </a:solidFill>
                <a:latin typeface="黑体" panose="02010609060101010101" pitchFamily="49" charset="-122"/>
                <a:ea typeface="黑体" panose="02010609060101010101" pitchFamily="49" charset="-122"/>
              </a:rPr>
              <a:t>一旦游标打开，就无法再次打开，除非先关闭</a:t>
            </a:r>
          </a:p>
          <a:p>
            <a:pPr lvl="2" eaLnBrk="1" hangingPunct="1">
              <a:lnSpc>
                <a:spcPct val="90000"/>
              </a:lnSpc>
            </a:pPr>
            <a:r>
              <a:rPr lang="zh-CN" altLang="en-US" sz="1700">
                <a:solidFill>
                  <a:srgbClr val="000000"/>
                </a:solidFill>
                <a:latin typeface="黑体" panose="02010609060101010101" pitchFamily="49" charset="-122"/>
                <a:ea typeface="黑体" panose="02010609060101010101" pitchFamily="49" charset="-122"/>
              </a:rPr>
              <a:t>如果游标定义中的变量值发生变化，则只能在下次打开游标时才起作用。</a:t>
            </a:r>
          </a:p>
          <a:p>
            <a:pPr eaLnBrk="1" hangingPunct="1">
              <a:lnSpc>
                <a:spcPct val="90000"/>
              </a:lnSpc>
              <a:buSzPct val="75000"/>
            </a:pPr>
            <a:endParaRPr lang="en-US" altLang="zh-CN" sz="1700">
              <a:solidFill>
                <a:srgbClr val="000000"/>
              </a:solidFill>
              <a:latin typeface="黑体" panose="02010609060101010101" pitchFamily="49" charset="-122"/>
              <a:ea typeface="+mn-ea"/>
              <a:cs typeface="+mn-cs"/>
            </a:endParaRPr>
          </a:p>
        </p:txBody>
      </p:sp>
      <p:sp>
        <p:nvSpPr>
          <p:cNvPr id="66562"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63</a:t>
            </a:fld>
            <a:endParaRPr lang="en-US" altLang="zh-CN">
              <a:solidFill>
                <a:srgbClr val="898989"/>
              </a:solidFill>
              <a:ea typeface="宋体" panose="02010600030101010101" pitchFamily="2"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7587" name="Rectangle 6"/>
          <p:cNvSpPr>
            <a:spLocks noGrp="1"/>
          </p:cNvSpPr>
          <p:nvPr>
            <p:ph type="title"/>
          </p:nvPr>
        </p:nvSpPr>
        <p:spPr>
          <a:xfrm>
            <a:off x="1179226" y="826680"/>
            <a:ext cx="9833548" cy="1325563"/>
          </a:xfrm>
        </p:spPr>
        <p:txBody>
          <a:bodyPr vert="horz" lIns="121920" tIns="60960" rIns="121920" bIns="60960">
            <a:normAutofit/>
          </a:bodyPr>
          <a:lstStyle/>
          <a:p>
            <a:pPr eaLnBrk="1" hangingPunct="1"/>
            <a:endParaRPr lang="zh-CN" altLang="zh-CN">
              <a:solidFill>
                <a:srgbClr val="FFFFFF"/>
              </a:solidFill>
              <a:latin typeface="+mj-lt"/>
              <a:ea typeface="+mj-ea"/>
              <a:cs typeface="+mj-cs"/>
            </a:endParaRPr>
          </a:p>
        </p:txBody>
      </p:sp>
      <p:sp>
        <p:nvSpPr>
          <p:cNvPr id="67588" name="Rectangle 7"/>
          <p:cNvSpPr>
            <a:spLocks noGrp="1"/>
          </p:cNvSpPr>
          <p:nvPr>
            <p:ph idx="1"/>
          </p:nvPr>
        </p:nvSpPr>
        <p:spPr>
          <a:xfrm>
            <a:off x="1179226" y="3092970"/>
            <a:ext cx="9833548" cy="2693976"/>
          </a:xfrm>
        </p:spPr>
        <p:txBody>
          <a:bodyPr vert="horz" lIns="121920" tIns="60960" rIns="121920" bIns="60960">
            <a:normAutofit/>
          </a:bodyPr>
          <a:lstStyle/>
          <a:p>
            <a:pPr eaLnBrk="1" hangingPunct="1">
              <a:lnSpc>
                <a:spcPct val="90000"/>
              </a:lnSpc>
              <a:buSzPct val="75000"/>
            </a:pPr>
            <a:r>
              <a:rPr lang="zh-CN" altLang="en-US" sz="1400">
                <a:solidFill>
                  <a:srgbClr val="000000"/>
                </a:solidFill>
                <a:latin typeface="+mn-lt"/>
                <a:ea typeface="+mn-ea"/>
                <a:cs typeface="+mn-cs"/>
              </a:rPr>
              <a:t>检索游标</a:t>
            </a:r>
          </a:p>
          <a:p>
            <a:pPr lvl="1" eaLnBrk="1" hangingPunct="1">
              <a:lnSpc>
                <a:spcPct val="90000"/>
              </a:lnSpc>
              <a:buSzPct val="75000"/>
            </a:pPr>
            <a:r>
              <a:rPr lang="zh-CN" altLang="en-US" sz="1400">
                <a:solidFill>
                  <a:srgbClr val="000000"/>
                </a:solidFill>
                <a:latin typeface="+mn-lt"/>
                <a:ea typeface="华文仿宋" panose="02010600040101010101" pitchFamily="2" charset="-122"/>
              </a:rPr>
              <a:t>语法格式</a:t>
            </a:r>
          </a:p>
          <a:p>
            <a:pPr lvl="2" eaLnBrk="1" hangingPunct="1">
              <a:lnSpc>
                <a:spcPct val="90000"/>
              </a:lnSpc>
            </a:pPr>
            <a:r>
              <a:rPr lang="en-US" altLang="zh-CN" sz="1400">
                <a:solidFill>
                  <a:srgbClr val="000000"/>
                </a:solidFill>
              </a:rPr>
              <a:t>FETCH cursor_name INTO </a:t>
            </a:r>
          </a:p>
          <a:p>
            <a:pPr lvl="2" eaLnBrk="1" hangingPunct="1">
              <a:lnSpc>
                <a:spcPct val="90000"/>
              </a:lnSpc>
              <a:buNone/>
            </a:pPr>
            <a:r>
              <a:rPr lang="en-US" altLang="zh-CN" sz="1400">
                <a:solidFill>
                  <a:srgbClr val="000000"/>
                </a:solidFill>
              </a:rPr>
              <a:t>  variable_list|record_variable; </a:t>
            </a:r>
            <a:endParaRPr lang="en-US" altLang="zh-CN" sz="1400" b="1">
              <a:solidFill>
                <a:srgbClr val="000000"/>
              </a:solidFill>
            </a:endParaRPr>
          </a:p>
          <a:p>
            <a:pPr lvl="1" eaLnBrk="1" hangingPunct="1">
              <a:lnSpc>
                <a:spcPct val="90000"/>
              </a:lnSpc>
              <a:buSzPct val="75000"/>
            </a:pPr>
            <a:r>
              <a:rPr lang="zh-CN" altLang="en-US" sz="1400">
                <a:solidFill>
                  <a:srgbClr val="000000"/>
                </a:solidFill>
                <a:latin typeface="+mn-lt"/>
                <a:ea typeface="华文仿宋" panose="02010600040101010101" pitchFamily="2" charset="-122"/>
              </a:rPr>
              <a:t>说明</a:t>
            </a:r>
          </a:p>
          <a:p>
            <a:pPr lvl="2" eaLnBrk="1" hangingPunct="1">
              <a:lnSpc>
                <a:spcPct val="90000"/>
              </a:lnSpc>
            </a:pPr>
            <a:r>
              <a:rPr lang="zh-CN" altLang="en-US" sz="1400">
                <a:solidFill>
                  <a:srgbClr val="000000"/>
                </a:solidFill>
                <a:latin typeface="黑体" panose="02010609060101010101" pitchFamily="49" charset="-122"/>
                <a:ea typeface="黑体" panose="02010609060101010101" pitchFamily="49" charset="-122"/>
              </a:rPr>
              <a:t>在使用</a:t>
            </a:r>
            <a:r>
              <a:rPr lang="en-US" altLang="zh-CN" sz="1400">
                <a:solidFill>
                  <a:srgbClr val="000000"/>
                </a:solidFill>
                <a:latin typeface="黑体" panose="02010609060101010101" pitchFamily="49" charset="-122"/>
                <a:ea typeface="黑体" panose="02010609060101010101" pitchFamily="49" charset="-122"/>
              </a:rPr>
              <a:t>FETCH</a:t>
            </a:r>
            <a:r>
              <a:rPr lang="zh-CN" altLang="en-US" sz="1400">
                <a:solidFill>
                  <a:srgbClr val="000000"/>
                </a:solidFill>
                <a:latin typeface="黑体" panose="02010609060101010101" pitchFamily="49" charset="-122"/>
                <a:ea typeface="黑体" panose="02010609060101010101" pitchFamily="49" charset="-122"/>
              </a:rPr>
              <a:t>语句之前必须先打开游标</a:t>
            </a:r>
          </a:p>
          <a:p>
            <a:pPr lvl="2" eaLnBrk="1" hangingPunct="1">
              <a:lnSpc>
                <a:spcPct val="90000"/>
              </a:lnSpc>
            </a:pPr>
            <a:r>
              <a:rPr lang="zh-CN" altLang="en-US" sz="1400">
                <a:solidFill>
                  <a:srgbClr val="000000"/>
                </a:solidFill>
                <a:latin typeface="黑体" panose="02010609060101010101" pitchFamily="49" charset="-122"/>
                <a:ea typeface="黑体" panose="02010609060101010101" pitchFamily="49" charset="-122"/>
              </a:rPr>
              <a:t>对游标第一次使用</a:t>
            </a:r>
            <a:r>
              <a:rPr lang="en-US" altLang="zh-CN" sz="1400">
                <a:solidFill>
                  <a:srgbClr val="000000"/>
                </a:solidFill>
                <a:latin typeface="黑体" panose="02010609060101010101" pitchFamily="49" charset="-122"/>
                <a:ea typeface="黑体" panose="02010609060101010101" pitchFamily="49" charset="-122"/>
              </a:rPr>
              <a:t>FETCH</a:t>
            </a:r>
            <a:r>
              <a:rPr lang="zh-CN" altLang="en-US" sz="1400">
                <a:solidFill>
                  <a:srgbClr val="000000"/>
                </a:solidFill>
                <a:latin typeface="黑体" panose="02010609060101010101" pitchFamily="49" charset="-122"/>
                <a:ea typeface="黑体" panose="02010609060101010101" pitchFamily="49" charset="-122"/>
              </a:rPr>
              <a:t>语句时，游标指针指向第一条记录，因此操作的对象是第一条记录，使用后，游标指针指向下一条记录。</a:t>
            </a:r>
          </a:p>
          <a:p>
            <a:pPr lvl="2" eaLnBrk="1" hangingPunct="1">
              <a:lnSpc>
                <a:spcPct val="90000"/>
              </a:lnSpc>
            </a:pPr>
            <a:r>
              <a:rPr lang="zh-CN" altLang="en-US" sz="1400">
                <a:solidFill>
                  <a:srgbClr val="000000"/>
                </a:solidFill>
                <a:latin typeface="黑体" panose="02010609060101010101" pitchFamily="49" charset="-122"/>
                <a:ea typeface="黑体" panose="02010609060101010101" pitchFamily="49" charset="-122"/>
              </a:rPr>
              <a:t>游标指针只能向下移动，不能回退</a:t>
            </a:r>
          </a:p>
          <a:p>
            <a:pPr lvl="2" eaLnBrk="1" hangingPunct="1">
              <a:lnSpc>
                <a:spcPct val="90000"/>
              </a:lnSpc>
            </a:pPr>
            <a:r>
              <a:rPr lang="en-US" altLang="zh-CN" sz="1400">
                <a:solidFill>
                  <a:srgbClr val="000000"/>
                </a:solidFill>
                <a:latin typeface="黑体" panose="02010609060101010101" pitchFamily="49" charset="-122"/>
                <a:ea typeface="黑体" panose="02010609060101010101" pitchFamily="49" charset="-122"/>
              </a:rPr>
              <a:t>INTO</a:t>
            </a:r>
            <a:r>
              <a:rPr lang="zh-CN" altLang="en-US" sz="1400">
                <a:solidFill>
                  <a:srgbClr val="000000"/>
                </a:solidFill>
                <a:latin typeface="黑体" panose="02010609060101010101" pitchFamily="49" charset="-122"/>
                <a:ea typeface="黑体" panose="02010609060101010101" pitchFamily="49" charset="-122"/>
              </a:rPr>
              <a:t>子句中的变量个数、顺序、数据类型必须与工作区中每行记录的字段数、顺序以及数据类型一一对应</a:t>
            </a:r>
            <a:r>
              <a:rPr lang="zh-CN" altLang="en-US" sz="1400" b="1">
                <a:solidFill>
                  <a:srgbClr val="000000"/>
                </a:solidFill>
                <a:latin typeface="黑体" panose="02010609060101010101" pitchFamily="49" charset="-122"/>
                <a:ea typeface="黑体" panose="02010609060101010101" pitchFamily="49" charset="-122"/>
              </a:rPr>
              <a:t>。</a:t>
            </a:r>
          </a:p>
        </p:txBody>
      </p:sp>
      <p:sp>
        <p:nvSpPr>
          <p:cNvPr id="67586"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64</a:t>
            </a:fld>
            <a:endParaRPr lang="en-US" altLang="zh-CN">
              <a:solidFill>
                <a:srgbClr val="898989"/>
              </a:solidFill>
              <a:ea typeface="宋体" panose="02010600030101010101" pitchFamily="2"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8611"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endParaRPr lang="zh-CN" altLang="zh-CN">
              <a:solidFill>
                <a:srgbClr val="FFFFFF"/>
              </a:solidFill>
              <a:latin typeface="+mj-lt"/>
              <a:ea typeface="+mj-ea"/>
              <a:cs typeface="+mj-cs"/>
            </a:endParaRPr>
          </a:p>
        </p:txBody>
      </p:sp>
      <p:sp>
        <p:nvSpPr>
          <p:cNvPr id="68612"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buSzPct val="75000"/>
            </a:pPr>
            <a:r>
              <a:rPr lang="zh-CN" altLang="en-US" sz="2000">
                <a:solidFill>
                  <a:srgbClr val="000000"/>
                </a:solidFill>
                <a:latin typeface="+mn-lt"/>
                <a:ea typeface="+mn-ea"/>
                <a:cs typeface="+mn-cs"/>
              </a:rPr>
              <a:t>关闭游标</a:t>
            </a:r>
          </a:p>
          <a:p>
            <a:pPr lvl="1" eaLnBrk="1" hangingPunct="1">
              <a:buSzPct val="75000"/>
            </a:pPr>
            <a:r>
              <a:rPr lang="zh-CN" altLang="en-US" sz="2000">
                <a:solidFill>
                  <a:srgbClr val="000000"/>
                </a:solidFill>
                <a:latin typeface="+mn-lt"/>
                <a:ea typeface="华文仿宋" panose="02010600040101010101" pitchFamily="2" charset="-122"/>
              </a:rPr>
              <a:t>语法格式</a:t>
            </a:r>
          </a:p>
          <a:p>
            <a:pPr lvl="2" eaLnBrk="1" hangingPunct="1"/>
            <a:r>
              <a:rPr lang="zh-CN" altLang="en-US" sz="2000">
                <a:solidFill>
                  <a:srgbClr val="000000"/>
                </a:solidFill>
              </a:rPr>
              <a:t>  </a:t>
            </a:r>
            <a:r>
              <a:rPr lang="en-US" altLang="zh-CN" sz="2000">
                <a:solidFill>
                  <a:srgbClr val="000000"/>
                </a:solidFill>
              </a:rPr>
              <a:t>CLOSE cursor_name; </a:t>
            </a:r>
          </a:p>
          <a:p>
            <a:pPr lvl="1" eaLnBrk="1" hangingPunct="1">
              <a:buSzPct val="75000"/>
            </a:pPr>
            <a:r>
              <a:rPr lang="zh-CN" altLang="en-US" sz="2000">
                <a:solidFill>
                  <a:srgbClr val="000000"/>
                </a:solidFill>
                <a:latin typeface="+mn-lt"/>
                <a:ea typeface="华文仿宋" panose="02010600040101010101" pitchFamily="2" charset="-122"/>
              </a:rPr>
              <a:t>说明</a:t>
            </a:r>
          </a:p>
          <a:p>
            <a:pPr lvl="2" eaLnBrk="1" hangingPunct="1"/>
            <a:r>
              <a:rPr lang="zh-CN" altLang="en-US" sz="2000">
                <a:solidFill>
                  <a:srgbClr val="000000"/>
                </a:solidFill>
                <a:ea typeface="黑体" panose="02010609060101010101" pitchFamily="49" charset="-122"/>
              </a:rPr>
              <a:t>游标所对应的内存工作区变为无效，释放与游标相关的系统资源。</a:t>
            </a:r>
          </a:p>
        </p:txBody>
      </p:sp>
      <p:sp>
        <p:nvSpPr>
          <p:cNvPr id="68610"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65</a:t>
            </a:fld>
            <a:endParaRPr lang="en-US" altLang="zh-CN">
              <a:solidFill>
                <a:srgbClr val="898989"/>
              </a:solidFill>
              <a:ea typeface="宋体" panose="02010600030101010101" pitchFamily="2"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2" name="Rectangle 71">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4" name="Picture 73">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9635"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buSzPct val="75000"/>
            </a:pPr>
            <a:r>
              <a:rPr lang="zh-CN" altLang="en-US" sz="2000">
                <a:solidFill>
                  <a:srgbClr val="000000"/>
                </a:solidFill>
                <a:latin typeface="+mn-lt"/>
                <a:ea typeface="+mn-ea"/>
                <a:cs typeface="+mn-cs"/>
              </a:rPr>
              <a:t>根据输入的部门号查询某个部门的员工信息，部门号在程序运行时指定。 </a:t>
            </a:r>
          </a:p>
        </p:txBody>
      </p:sp>
      <p:sp>
        <p:nvSpPr>
          <p:cNvPr id="69634"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66</a:t>
            </a:fld>
            <a:endParaRPr lang="en-US" altLang="zh-CN">
              <a:solidFill>
                <a:srgbClr val="898989"/>
              </a:solidFill>
              <a:ea typeface="宋体" panose="02010600030101010101" pitchFamily="2"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6" name="Picture 75">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0659" name="Rectangle 3"/>
          <p:cNvSpPr>
            <a:spLocks noGrp="1"/>
          </p:cNvSpPr>
          <p:nvPr>
            <p:ph idx="1"/>
          </p:nvPr>
        </p:nvSpPr>
        <p:spPr>
          <a:xfrm>
            <a:off x="6090574" y="801866"/>
            <a:ext cx="5306084" cy="5230634"/>
          </a:xfrm>
        </p:spPr>
        <p:txBody>
          <a:bodyPr vert="horz" lIns="121920" tIns="60960" rIns="121920" bIns="60960" anchor="ctr">
            <a:normAutofit/>
          </a:bodyPr>
          <a:lstStyle/>
          <a:p>
            <a:pPr eaLnBrk="1" hangingPunct="1">
              <a:lnSpc>
                <a:spcPct val="90000"/>
              </a:lnSpc>
              <a:buSzPct val="75000"/>
            </a:pPr>
            <a:r>
              <a:rPr lang="en-US" altLang="zh-CN" sz="1300">
                <a:solidFill>
                  <a:srgbClr val="000000"/>
                </a:solidFill>
                <a:latin typeface="+mn-lt"/>
                <a:ea typeface="+mn-ea"/>
                <a:cs typeface="+mn-cs"/>
              </a:rPr>
              <a:t>DECLARE</a:t>
            </a:r>
          </a:p>
          <a:p>
            <a:pPr eaLnBrk="1" hangingPunct="1">
              <a:lnSpc>
                <a:spcPct val="90000"/>
              </a:lnSpc>
              <a:buSzPct val="75000"/>
            </a:pPr>
            <a:r>
              <a:rPr lang="en-US" altLang="zh-CN" sz="1300">
                <a:solidFill>
                  <a:srgbClr val="000000"/>
                </a:solidFill>
                <a:latin typeface="+mn-lt"/>
                <a:ea typeface="+mn-ea"/>
                <a:cs typeface="+mn-cs"/>
              </a:rPr>
              <a:t>  v_deptno employees.department_id%TYPE;</a:t>
            </a:r>
          </a:p>
          <a:p>
            <a:pPr eaLnBrk="1" hangingPunct="1">
              <a:lnSpc>
                <a:spcPct val="90000"/>
              </a:lnSpc>
              <a:buSzPct val="75000"/>
            </a:pPr>
            <a:r>
              <a:rPr lang="en-US" altLang="zh-CN" sz="1300">
                <a:solidFill>
                  <a:srgbClr val="000000"/>
                </a:solidFill>
                <a:latin typeface="+mn-lt"/>
                <a:ea typeface="+mn-ea"/>
                <a:cs typeface="+mn-cs"/>
              </a:rPr>
              <a:t>  CURSOR c_emp IS SELECT * FROM employees </a:t>
            </a:r>
          </a:p>
          <a:p>
            <a:pPr eaLnBrk="1" hangingPunct="1">
              <a:lnSpc>
                <a:spcPct val="90000"/>
              </a:lnSpc>
              <a:buSzPct val="75000"/>
            </a:pPr>
            <a:r>
              <a:rPr lang="en-US" altLang="zh-CN" sz="1300">
                <a:solidFill>
                  <a:srgbClr val="000000"/>
                </a:solidFill>
                <a:latin typeface="+mn-lt"/>
                <a:ea typeface="+mn-ea"/>
                <a:cs typeface="+mn-cs"/>
              </a:rPr>
              <a:t>                              WHERE department_id=v_deptno;</a:t>
            </a:r>
          </a:p>
          <a:p>
            <a:pPr eaLnBrk="1" hangingPunct="1">
              <a:lnSpc>
                <a:spcPct val="90000"/>
              </a:lnSpc>
              <a:buSzPct val="75000"/>
            </a:pPr>
            <a:r>
              <a:rPr lang="en-US" altLang="zh-CN" sz="1300">
                <a:solidFill>
                  <a:srgbClr val="000000"/>
                </a:solidFill>
                <a:latin typeface="+mn-lt"/>
                <a:ea typeface="+mn-ea"/>
                <a:cs typeface="+mn-cs"/>
              </a:rPr>
              <a:t>  v_emp c_emp%ROWTYPE;</a:t>
            </a:r>
          </a:p>
          <a:p>
            <a:pPr eaLnBrk="1" hangingPunct="1">
              <a:lnSpc>
                <a:spcPct val="90000"/>
              </a:lnSpc>
              <a:buSzPct val="75000"/>
            </a:pPr>
            <a:r>
              <a:rPr lang="en-US" altLang="zh-CN" sz="1300">
                <a:solidFill>
                  <a:srgbClr val="000000"/>
                </a:solidFill>
                <a:latin typeface="+mn-lt"/>
                <a:ea typeface="+mn-ea"/>
                <a:cs typeface="+mn-cs"/>
              </a:rPr>
              <a:t>BEGIN</a:t>
            </a:r>
          </a:p>
          <a:p>
            <a:pPr eaLnBrk="1" hangingPunct="1">
              <a:lnSpc>
                <a:spcPct val="90000"/>
              </a:lnSpc>
              <a:buSzPct val="75000"/>
            </a:pPr>
            <a:r>
              <a:rPr lang="en-US" altLang="zh-CN" sz="1300">
                <a:solidFill>
                  <a:srgbClr val="000000"/>
                </a:solidFill>
                <a:latin typeface="+mn-lt"/>
                <a:ea typeface="+mn-ea"/>
                <a:cs typeface="+mn-cs"/>
              </a:rPr>
              <a:t>  v_deptno:=&amp;x;</a:t>
            </a:r>
          </a:p>
          <a:p>
            <a:pPr eaLnBrk="1" hangingPunct="1">
              <a:lnSpc>
                <a:spcPct val="90000"/>
              </a:lnSpc>
              <a:buSzPct val="75000"/>
            </a:pPr>
            <a:r>
              <a:rPr lang="en-US" altLang="zh-CN" sz="1300">
                <a:solidFill>
                  <a:srgbClr val="000000"/>
                </a:solidFill>
                <a:latin typeface="+mn-lt"/>
                <a:ea typeface="+mn-ea"/>
                <a:cs typeface="+mn-cs"/>
              </a:rPr>
              <a:t>  OPEN c_emp;</a:t>
            </a:r>
          </a:p>
          <a:p>
            <a:pPr eaLnBrk="1" hangingPunct="1">
              <a:lnSpc>
                <a:spcPct val="90000"/>
              </a:lnSpc>
              <a:buSzPct val="75000"/>
            </a:pPr>
            <a:r>
              <a:rPr lang="en-US" altLang="zh-CN" sz="1300">
                <a:solidFill>
                  <a:srgbClr val="000000"/>
                </a:solidFill>
                <a:latin typeface="+mn-lt"/>
                <a:ea typeface="+mn-ea"/>
                <a:cs typeface="+mn-cs"/>
              </a:rPr>
              <a:t>  LOOP</a:t>
            </a:r>
          </a:p>
          <a:p>
            <a:pPr eaLnBrk="1" hangingPunct="1">
              <a:lnSpc>
                <a:spcPct val="90000"/>
              </a:lnSpc>
              <a:buSzPct val="75000"/>
            </a:pPr>
            <a:r>
              <a:rPr lang="en-US" altLang="zh-CN" sz="1300">
                <a:solidFill>
                  <a:srgbClr val="000000"/>
                </a:solidFill>
                <a:latin typeface="+mn-lt"/>
                <a:ea typeface="+mn-ea"/>
                <a:cs typeface="+mn-cs"/>
              </a:rPr>
              <a:t>     FETCH c_emp INTO v_emp;</a:t>
            </a:r>
          </a:p>
          <a:p>
            <a:pPr eaLnBrk="1" hangingPunct="1">
              <a:lnSpc>
                <a:spcPct val="90000"/>
              </a:lnSpc>
              <a:buSzPct val="75000"/>
            </a:pPr>
            <a:r>
              <a:rPr lang="en-US" altLang="zh-CN" sz="1300">
                <a:solidFill>
                  <a:srgbClr val="000000"/>
                </a:solidFill>
                <a:latin typeface="+mn-lt"/>
                <a:ea typeface="+mn-ea"/>
                <a:cs typeface="+mn-cs"/>
              </a:rPr>
              <a:t>     EXIT WHEN c_emp%NOTFOUND;</a:t>
            </a:r>
          </a:p>
          <a:p>
            <a:pPr eaLnBrk="1" hangingPunct="1">
              <a:lnSpc>
                <a:spcPct val="90000"/>
              </a:lnSpc>
              <a:buSzPct val="75000"/>
            </a:pPr>
            <a:r>
              <a:rPr lang="en-US" altLang="zh-CN" sz="1300">
                <a:solidFill>
                  <a:srgbClr val="000000"/>
                </a:solidFill>
                <a:latin typeface="+mn-lt"/>
                <a:ea typeface="+mn-ea"/>
                <a:cs typeface="+mn-cs"/>
              </a:rPr>
              <a:t>     DBMS_OUTPUT.PUT_LINE(v_emp.employee_id||' '||  </a:t>
            </a:r>
          </a:p>
          <a:p>
            <a:pPr eaLnBrk="1" hangingPunct="1">
              <a:lnSpc>
                <a:spcPct val="90000"/>
              </a:lnSpc>
              <a:buSzPct val="75000"/>
            </a:pPr>
            <a:r>
              <a:rPr lang="en-US" altLang="zh-CN" sz="1300">
                <a:solidFill>
                  <a:srgbClr val="000000"/>
                </a:solidFill>
                <a:latin typeface="+mn-lt"/>
                <a:ea typeface="+mn-ea"/>
                <a:cs typeface="+mn-cs"/>
              </a:rPr>
              <a:t>            v_emp.first_name||' '|| v_emp.last_name||' '||</a:t>
            </a:r>
          </a:p>
          <a:p>
            <a:pPr eaLnBrk="1" hangingPunct="1">
              <a:lnSpc>
                <a:spcPct val="90000"/>
              </a:lnSpc>
              <a:buSzPct val="75000"/>
            </a:pPr>
            <a:r>
              <a:rPr lang="en-US" altLang="zh-CN" sz="1300">
                <a:solidFill>
                  <a:srgbClr val="000000"/>
                </a:solidFill>
                <a:latin typeface="+mn-lt"/>
                <a:ea typeface="+mn-ea"/>
                <a:cs typeface="+mn-cs"/>
              </a:rPr>
              <a:t>            v_emp.salary ||'  '|| v_deptno);  </a:t>
            </a:r>
          </a:p>
          <a:p>
            <a:pPr eaLnBrk="1" hangingPunct="1">
              <a:lnSpc>
                <a:spcPct val="90000"/>
              </a:lnSpc>
              <a:buSzPct val="75000"/>
            </a:pPr>
            <a:r>
              <a:rPr lang="en-US" altLang="zh-CN" sz="1300">
                <a:solidFill>
                  <a:srgbClr val="000000"/>
                </a:solidFill>
                <a:latin typeface="+mn-lt"/>
                <a:ea typeface="+mn-ea"/>
                <a:cs typeface="+mn-cs"/>
              </a:rPr>
              <a:t>  END LOOP;</a:t>
            </a:r>
          </a:p>
          <a:p>
            <a:pPr eaLnBrk="1" hangingPunct="1">
              <a:lnSpc>
                <a:spcPct val="90000"/>
              </a:lnSpc>
              <a:buSzPct val="75000"/>
            </a:pPr>
            <a:r>
              <a:rPr lang="en-US" altLang="zh-CN" sz="1300">
                <a:solidFill>
                  <a:srgbClr val="000000"/>
                </a:solidFill>
                <a:latin typeface="+mn-lt"/>
                <a:ea typeface="+mn-ea"/>
                <a:cs typeface="+mn-cs"/>
              </a:rPr>
              <a:t>  CLOSE c_emp;</a:t>
            </a:r>
          </a:p>
          <a:p>
            <a:pPr eaLnBrk="1" hangingPunct="1">
              <a:lnSpc>
                <a:spcPct val="90000"/>
              </a:lnSpc>
              <a:buSzPct val="75000"/>
            </a:pPr>
            <a:r>
              <a:rPr lang="en-US" altLang="zh-CN" sz="1300">
                <a:solidFill>
                  <a:srgbClr val="000000"/>
                </a:solidFill>
                <a:latin typeface="+mn-lt"/>
                <a:ea typeface="+mn-ea"/>
                <a:cs typeface="+mn-cs"/>
              </a:rPr>
              <a:t>END; </a:t>
            </a:r>
          </a:p>
        </p:txBody>
      </p:sp>
      <p:sp>
        <p:nvSpPr>
          <p:cNvPr id="70658"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67</a:t>
            </a:fld>
            <a:endParaRPr lang="en-US" altLang="zh-CN">
              <a:solidFill>
                <a:srgbClr val="898989"/>
              </a:solidFill>
              <a:ea typeface="宋体" panose="02010600030101010101" pitchFamily="2"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1683"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r>
              <a:rPr lang="en-US" altLang="zh-CN">
                <a:solidFill>
                  <a:srgbClr val="FFFFFF"/>
                </a:solidFill>
                <a:latin typeface="+mj-lt"/>
                <a:ea typeface="+mj-ea"/>
                <a:cs typeface="+mj-cs"/>
              </a:rPr>
              <a:t>9.7.3  </a:t>
            </a:r>
            <a:r>
              <a:rPr lang="zh-CN" altLang="zh-CN">
                <a:solidFill>
                  <a:srgbClr val="FFFFFF"/>
                </a:solidFill>
                <a:latin typeface="+mj-lt"/>
                <a:ea typeface="+mj-ea"/>
                <a:cs typeface="+mj-cs"/>
              </a:rPr>
              <a:t>显式游标属性</a:t>
            </a:r>
          </a:p>
        </p:txBody>
      </p:sp>
      <p:sp>
        <p:nvSpPr>
          <p:cNvPr id="71684"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lnSpc>
                <a:spcPct val="90000"/>
              </a:lnSpc>
              <a:buSzPct val="75000"/>
            </a:pPr>
            <a:r>
              <a:rPr lang="en-US" altLang="zh-CN" sz="1400">
                <a:solidFill>
                  <a:srgbClr val="000000"/>
                </a:solidFill>
                <a:latin typeface="+mn-lt"/>
                <a:ea typeface="+mn-ea"/>
                <a:cs typeface="+mn-cs"/>
              </a:rPr>
              <a:t>%ISOPEN</a:t>
            </a:r>
          </a:p>
          <a:p>
            <a:pPr lvl="1" eaLnBrk="1" hangingPunct="1">
              <a:lnSpc>
                <a:spcPct val="90000"/>
              </a:lnSpc>
              <a:buSzPct val="75000"/>
            </a:pPr>
            <a:r>
              <a:rPr lang="zh-CN" altLang="en-US" sz="1400" b="0">
                <a:solidFill>
                  <a:srgbClr val="000000"/>
                </a:solidFill>
                <a:latin typeface="+mn-lt"/>
                <a:ea typeface="华文仿宋" panose="02010600040101010101" pitchFamily="2" charset="-122"/>
              </a:rPr>
              <a:t>布尔型。如果游标已经打开，返回</a:t>
            </a:r>
            <a:r>
              <a:rPr lang="en-US" altLang="zh-CN" sz="1400" b="0">
                <a:solidFill>
                  <a:srgbClr val="000000"/>
                </a:solidFill>
                <a:latin typeface="+mn-lt"/>
                <a:ea typeface="华文仿宋" panose="02010600040101010101" pitchFamily="2" charset="-122"/>
              </a:rPr>
              <a:t>TRUE,</a:t>
            </a:r>
            <a:r>
              <a:rPr lang="zh-CN" altLang="en-US" sz="1400" b="0">
                <a:solidFill>
                  <a:srgbClr val="000000"/>
                </a:solidFill>
                <a:latin typeface="+mn-lt"/>
                <a:ea typeface="华文仿宋" panose="02010600040101010101" pitchFamily="2" charset="-122"/>
              </a:rPr>
              <a:t>否则为</a:t>
            </a:r>
            <a:r>
              <a:rPr lang="en-US" altLang="zh-CN" sz="1400" b="0">
                <a:solidFill>
                  <a:srgbClr val="000000"/>
                </a:solidFill>
                <a:latin typeface="+mn-lt"/>
                <a:ea typeface="华文仿宋" panose="02010600040101010101" pitchFamily="2" charset="-122"/>
              </a:rPr>
              <a:t>FALSE</a:t>
            </a:r>
            <a:r>
              <a:rPr lang="zh-CN" altLang="en-US" sz="1400" b="0">
                <a:solidFill>
                  <a:srgbClr val="000000"/>
                </a:solidFill>
                <a:latin typeface="+mn-lt"/>
                <a:ea typeface="华文仿宋" panose="02010600040101010101" pitchFamily="2" charset="-122"/>
              </a:rPr>
              <a:t>。</a:t>
            </a:r>
          </a:p>
          <a:p>
            <a:pPr eaLnBrk="1" hangingPunct="1">
              <a:lnSpc>
                <a:spcPct val="90000"/>
              </a:lnSpc>
              <a:buSzPct val="75000"/>
            </a:pPr>
            <a:r>
              <a:rPr lang="en-US" altLang="zh-CN" sz="1400">
                <a:solidFill>
                  <a:srgbClr val="000000"/>
                </a:solidFill>
                <a:latin typeface="+mn-lt"/>
                <a:ea typeface="+mn-ea"/>
                <a:cs typeface="+mn-cs"/>
              </a:rPr>
              <a:t>%FOUND</a:t>
            </a:r>
          </a:p>
          <a:p>
            <a:pPr lvl="1" eaLnBrk="1" hangingPunct="1">
              <a:lnSpc>
                <a:spcPct val="90000"/>
              </a:lnSpc>
              <a:buSzPct val="75000"/>
            </a:pPr>
            <a:r>
              <a:rPr lang="zh-CN" altLang="en-US" sz="1400" b="0">
                <a:solidFill>
                  <a:srgbClr val="000000"/>
                </a:solidFill>
                <a:latin typeface="+mn-lt"/>
                <a:ea typeface="华文仿宋" panose="02010600040101010101" pitchFamily="2" charset="-122"/>
              </a:rPr>
              <a:t>布尔型，如果最近一次使用</a:t>
            </a:r>
            <a:r>
              <a:rPr lang="en-US" altLang="zh-CN" sz="1400" b="0">
                <a:solidFill>
                  <a:srgbClr val="000000"/>
                </a:solidFill>
                <a:latin typeface="+mn-lt"/>
                <a:ea typeface="华文仿宋" panose="02010600040101010101" pitchFamily="2" charset="-122"/>
              </a:rPr>
              <a:t>FETCH</a:t>
            </a:r>
            <a:r>
              <a:rPr lang="zh-CN" altLang="en-US" sz="1400" b="0">
                <a:solidFill>
                  <a:srgbClr val="000000"/>
                </a:solidFill>
                <a:latin typeface="+mn-lt"/>
                <a:ea typeface="华文仿宋" panose="02010600040101010101" pitchFamily="2" charset="-122"/>
              </a:rPr>
              <a:t>语句，有返回结果则为</a:t>
            </a:r>
            <a:r>
              <a:rPr lang="en-US" altLang="zh-CN" sz="1400" b="0">
                <a:solidFill>
                  <a:srgbClr val="000000"/>
                </a:solidFill>
                <a:latin typeface="+mn-lt"/>
                <a:ea typeface="华文仿宋" panose="02010600040101010101" pitchFamily="2" charset="-122"/>
              </a:rPr>
              <a:t>TRUE,</a:t>
            </a:r>
            <a:r>
              <a:rPr lang="zh-CN" altLang="en-US" sz="1400" b="0">
                <a:solidFill>
                  <a:srgbClr val="000000"/>
                </a:solidFill>
                <a:latin typeface="+mn-lt"/>
                <a:ea typeface="华文仿宋" panose="02010600040101010101" pitchFamily="2" charset="-122"/>
              </a:rPr>
              <a:t>否则为</a:t>
            </a:r>
            <a:r>
              <a:rPr lang="en-US" altLang="zh-CN" sz="1400" b="0">
                <a:solidFill>
                  <a:srgbClr val="000000"/>
                </a:solidFill>
                <a:latin typeface="+mn-lt"/>
                <a:ea typeface="华文仿宋" panose="02010600040101010101" pitchFamily="2" charset="-122"/>
              </a:rPr>
              <a:t>FALSE;</a:t>
            </a:r>
          </a:p>
          <a:p>
            <a:pPr eaLnBrk="1" hangingPunct="1">
              <a:lnSpc>
                <a:spcPct val="90000"/>
              </a:lnSpc>
              <a:buSzPct val="75000"/>
            </a:pPr>
            <a:r>
              <a:rPr lang="en-US" altLang="zh-CN" sz="1400">
                <a:solidFill>
                  <a:srgbClr val="000000"/>
                </a:solidFill>
                <a:latin typeface="+mn-lt"/>
                <a:ea typeface="+mn-ea"/>
                <a:cs typeface="+mn-cs"/>
              </a:rPr>
              <a:t>%NOTFOUND</a:t>
            </a:r>
          </a:p>
          <a:p>
            <a:pPr lvl="1" eaLnBrk="1" hangingPunct="1">
              <a:lnSpc>
                <a:spcPct val="90000"/>
              </a:lnSpc>
              <a:buSzPct val="75000"/>
            </a:pPr>
            <a:r>
              <a:rPr lang="zh-CN" altLang="en-US" sz="1400" b="0">
                <a:solidFill>
                  <a:srgbClr val="000000"/>
                </a:solidFill>
                <a:latin typeface="+mn-lt"/>
                <a:ea typeface="华文仿宋" panose="02010600040101010101" pitchFamily="2" charset="-122"/>
              </a:rPr>
              <a:t>布尔型，如果最近一次使用</a:t>
            </a:r>
            <a:r>
              <a:rPr lang="en-US" altLang="zh-CN" sz="1400" b="0">
                <a:solidFill>
                  <a:srgbClr val="000000"/>
                </a:solidFill>
                <a:latin typeface="+mn-lt"/>
                <a:ea typeface="华文仿宋" panose="02010600040101010101" pitchFamily="2" charset="-122"/>
              </a:rPr>
              <a:t>FETCH</a:t>
            </a:r>
            <a:r>
              <a:rPr lang="zh-CN" altLang="en-US" sz="1400" b="0">
                <a:solidFill>
                  <a:srgbClr val="000000"/>
                </a:solidFill>
                <a:latin typeface="+mn-lt"/>
                <a:ea typeface="华文仿宋" panose="02010600040101010101" pitchFamily="2" charset="-122"/>
              </a:rPr>
              <a:t>语句</a:t>
            </a:r>
            <a:r>
              <a:rPr lang="en-US" altLang="zh-CN" sz="1400" b="0">
                <a:solidFill>
                  <a:srgbClr val="000000"/>
                </a:solidFill>
                <a:latin typeface="+mn-lt"/>
                <a:ea typeface="华文仿宋" panose="02010600040101010101" pitchFamily="2" charset="-122"/>
              </a:rPr>
              <a:t>,</a:t>
            </a:r>
            <a:r>
              <a:rPr lang="zh-CN" altLang="en-US" sz="1400" b="0">
                <a:solidFill>
                  <a:srgbClr val="000000"/>
                </a:solidFill>
                <a:latin typeface="+mn-lt"/>
                <a:ea typeface="华文仿宋" panose="02010600040101010101" pitchFamily="2" charset="-122"/>
              </a:rPr>
              <a:t>没有返回结果则为</a:t>
            </a:r>
            <a:r>
              <a:rPr lang="en-US" altLang="zh-CN" sz="1400" b="0">
                <a:solidFill>
                  <a:srgbClr val="000000"/>
                </a:solidFill>
                <a:latin typeface="+mn-lt"/>
                <a:ea typeface="华文仿宋" panose="02010600040101010101" pitchFamily="2" charset="-122"/>
              </a:rPr>
              <a:t>TRUE,</a:t>
            </a:r>
            <a:r>
              <a:rPr lang="zh-CN" altLang="en-US" sz="1400" b="0">
                <a:solidFill>
                  <a:srgbClr val="000000"/>
                </a:solidFill>
                <a:latin typeface="+mn-lt"/>
                <a:ea typeface="华文仿宋" panose="02010600040101010101" pitchFamily="2" charset="-122"/>
              </a:rPr>
              <a:t>否则为</a:t>
            </a:r>
            <a:r>
              <a:rPr lang="en-US" altLang="zh-CN" sz="1400" b="0">
                <a:solidFill>
                  <a:srgbClr val="000000"/>
                </a:solidFill>
                <a:latin typeface="+mn-lt"/>
                <a:ea typeface="华文仿宋" panose="02010600040101010101" pitchFamily="2" charset="-122"/>
              </a:rPr>
              <a:t>FALSE;</a:t>
            </a:r>
          </a:p>
          <a:p>
            <a:pPr eaLnBrk="1" hangingPunct="1">
              <a:lnSpc>
                <a:spcPct val="90000"/>
              </a:lnSpc>
              <a:buSzPct val="75000"/>
            </a:pPr>
            <a:r>
              <a:rPr lang="en-US" altLang="zh-CN" sz="1400">
                <a:solidFill>
                  <a:srgbClr val="000000"/>
                </a:solidFill>
                <a:latin typeface="+mn-lt"/>
                <a:ea typeface="+mn-ea"/>
                <a:cs typeface="+mn-cs"/>
              </a:rPr>
              <a:t>%ROWCOUNT</a:t>
            </a:r>
          </a:p>
          <a:p>
            <a:pPr lvl="1" eaLnBrk="1" hangingPunct="1">
              <a:lnSpc>
                <a:spcPct val="90000"/>
              </a:lnSpc>
              <a:buSzPct val="75000"/>
            </a:pPr>
            <a:r>
              <a:rPr lang="zh-CN" altLang="en-US" sz="1400" b="0">
                <a:solidFill>
                  <a:srgbClr val="000000"/>
                </a:solidFill>
                <a:latin typeface="+mn-lt"/>
                <a:ea typeface="华文仿宋" panose="02010600040101010101" pitchFamily="2" charset="-122"/>
              </a:rPr>
              <a:t>数值型，返回到目前为止从游标缓冲区检索的元组数。</a:t>
            </a:r>
          </a:p>
          <a:p>
            <a:pPr eaLnBrk="1" hangingPunct="1">
              <a:lnSpc>
                <a:spcPct val="90000"/>
              </a:lnSpc>
              <a:buSzPct val="75000"/>
            </a:pPr>
            <a:r>
              <a:rPr lang="en-US" altLang="zh-CN" sz="1400">
                <a:solidFill>
                  <a:srgbClr val="000000"/>
                </a:solidFill>
                <a:latin typeface="+mn-lt"/>
                <a:ea typeface="+mn-ea"/>
                <a:cs typeface="+mn-cs"/>
              </a:rPr>
              <a:t>%BULK_ROWCOUNT</a:t>
            </a:r>
            <a:r>
              <a:rPr lang="zh-CN" altLang="en-US" sz="1400">
                <a:solidFill>
                  <a:srgbClr val="000000"/>
                </a:solidFill>
                <a:latin typeface="+mn-lt"/>
                <a:ea typeface="+mn-ea"/>
                <a:cs typeface="+mn-cs"/>
              </a:rPr>
              <a:t>（</a:t>
            </a:r>
            <a:r>
              <a:rPr lang="en-US" altLang="zh-CN" sz="1400">
                <a:solidFill>
                  <a:srgbClr val="000000"/>
                </a:solidFill>
                <a:latin typeface="+mn-lt"/>
                <a:ea typeface="+mn-ea"/>
                <a:cs typeface="+mn-cs"/>
              </a:rPr>
              <a:t>i</a:t>
            </a:r>
            <a:r>
              <a:rPr lang="zh-CN" altLang="en-US" sz="1400">
                <a:solidFill>
                  <a:srgbClr val="000000"/>
                </a:solidFill>
                <a:latin typeface="+mn-lt"/>
                <a:ea typeface="+mn-ea"/>
                <a:cs typeface="+mn-cs"/>
              </a:rPr>
              <a:t>）</a:t>
            </a:r>
          </a:p>
          <a:p>
            <a:pPr lvl="1" eaLnBrk="1" hangingPunct="1">
              <a:lnSpc>
                <a:spcPct val="90000"/>
              </a:lnSpc>
              <a:buSzPct val="75000"/>
            </a:pPr>
            <a:r>
              <a:rPr lang="zh-CN" altLang="en-US" sz="1400" b="0">
                <a:solidFill>
                  <a:srgbClr val="000000"/>
                </a:solidFill>
                <a:latin typeface="+mn-lt"/>
                <a:ea typeface="华文仿宋" panose="02010600040101010101" pitchFamily="2" charset="-122"/>
              </a:rPr>
              <a:t>数值型，用于取得</a:t>
            </a:r>
            <a:r>
              <a:rPr lang="en-US" altLang="zh-CN" sz="1400" b="0">
                <a:solidFill>
                  <a:srgbClr val="000000"/>
                </a:solidFill>
                <a:latin typeface="+mn-lt"/>
                <a:ea typeface="华文仿宋" panose="02010600040101010101" pitchFamily="2" charset="-122"/>
              </a:rPr>
              <a:t>FORALL</a:t>
            </a:r>
            <a:r>
              <a:rPr lang="zh-CN" altLang="en-US" sz="1400" b="0">
                <a:solidFill>
                  <a:srgbClr val="000000"/>
                </a:solidFill>
                <a:latin typeface="+mn-lt"/>
                <a:ea typeface="华文仿宋" panose="02010600040101010101" pitchFamily="2" charset="-122"/>
              </a:rPr>
              <a:t>语句执行批绑定操作时第</a:t>
            </a:r>
            <a:r>
              <a:rPr lang="en-US" altLang="zh-CN" sz="1400" b="0">
                <a:solidFill>
                  <a:srgbClr val="000000"/>
                </a:solidFill>
                <a:latin typeface="+mn-lt"/>
                <a:ea typeface="华文仿宋" panose="02010600040101010101" pitchFamily="2" charset="-122"/>
              </a:rPr>
              <a:t>i</a:t>
            </a:r>
            <a:r>
              <a:rPr lang="zh-CN" altLang="en-US" sz="1400" b="0">
                <a:solidFill>
                  <a:srgbClr val="000000"/>
                </a:solidFill>
                <a:latin typeface="+mn-lt"/>
                <a:ea typeface="华文仿宋" panose="02010600040101010101" pitchFamily="2" charset="-122"/>
              </a:rPr>
              <a:t>个元素所影响的行数。</a:t>
            </a:r>
          </a:p>
        </p:txBody>
      </p:sp>
      <p:sp>
        <p:nvSpPr>
          <p:cNvPr id="71682"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68</a:t>
            </a:fld>
            <a:endParaRPr lang="en-US" altLang="zh-CN">
              <a:solidFill>
                <a:srgbClr val="898989"/>
              </a:solidFill>
              <a:ea typeface="宋体" panose="02010600030101010101" pitchFamily="2"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2707"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r>
              <a:rPr lang="en-US" altLang="zh-CN">
                <a:solidFill>
                  <a:srgbClr val="FFFFFF"/>
                </a:solidFill>
                <a:latin typeface="+mj-lt"/>
                <a:ea typeface="+mj-ea"/>
                <a:cs typeface="+mj-cs"/>
              </a:rPr>
              <a:t>9.7.4  </a:t>
            </a:r>
            <a:r>
              <a:rPr lang="zh-CN" altLang="zh-CN">
                <a:solidFill>
                  <a:srgbClr val="FFFFFF"/>
                </a:solidFill>
                <a:latin typeface="+mj-lt"/>
                <a:ea typeface="+mj-ea"/>
                <a:cs typeface="+mj-cs"/>
              </a:rPr>
              <a:t>显式游标的检索</a:t>
            </a:r>
          </a:p>
        </p:txBody>
      </p:sp>
      <p:sp>
        <p:nvSpPr>
          <p:cNvPr id="72708"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buSzPct val="75000"/>
            </a:pPr>
            <a:r>
              <a:rPr lang="zh-CN" altLang="en-US" sz="2000">
                <a:solidFill>
                  <a:srgbClr val="000000"/>
                </a:solidFill>
                <a:latin typeface="+mn-lt"/>
                <a:ea typeface="+mn-ea"/>
                <a:cs typeface="+mn-cs"/>
              </a:rPr>
              <a:t>利用简单循环检索游标</a:t>
            </a:r>
          </a:p>
          <a:p>
            <a:pPr eaLnBrk="1" hangingPunct="1">
              <a:buSzPct val="75000"/>
            </a:pPr>
            <a:r>
              <a:rPr lang="zh-CN" altLang="en-US" sz="2000">
                <a:solidFill>
                  <a:srgbClr val="000000"/>
                </a:solidFill>
                <a:latin typeface="+mn-lt"/>
                <a:ea typeface="+mn-ea"/>
                <a:cs typeface="+mn-cs"/>
              </a:rPr>
              <a:t>利用</a:t>
            </a:r>
            <a:r>
              <a:rPr lang="en-US" altLang="zh-CN" sz="2000">
                <a:solidFill>
                  <a:srgbClr val="000000"/>
                </a:solidFill>
                <a:latin typeface="+mn-lt"/>
                <a:ea typeface="+mn-ea"/>
                <a:cs typeface="+mn-cs"/>
              </a:rPr>
              <a:t>WHILE</a:t>
            </a:r>
            <a:r>
              <a:rPr lang="zh-CN" altLang="en-US" sz="2000">
                <a:solidFill>
                  <a:srgbClr val="000000"/>
                </a:solidFill>
                <a:latin typeface="+mn-lt"/>
                <a:ea typeface="+mn-ea"/>
                <a:cs typeface="+mn-cs"/>
              </a:rPr>
              <a:t>循环检索游标</a:t>
            </a:r>
          </a:p>
          <a:p>
            <a:pPr eaLnBrk="1" hangingPunct="1">
              <a:buSzPct val="75000"/>
            </a:pPr>
            <a:r>
              <a:rPr lang="zh-CN" altLang="en-US" sz="2000">
                <a:solidFill>
                  <a:srgbClr val="000000"/>
                </a:solidFill>
                <a:latin typeface="+mn-lt"/>
                <a:ea typeface="+mn-ea"/>
                <a:cs typeface="+mn-cs"/>
              </a:rPr>
              <a:t>利用</a:t>
            </a:r>
            <a:r>
              <a:rPr lang="en-US" altLang="zh-CN" sz="2000">
                <a:solidFill>
                  <a:srgbClr val="000000"/>
                </a:solidFill>
                <a:latin typeface="+mn-lt"/>
                <a:ea typeface="+mn-ea"/>
                <a:cs typeface="+mn-cs"/>
              </a:rPr>
              <a:t>FOR</a:t>
            </a:r>
            <a:r>
              <a:rPr lang="zh-CN" altLang="en-US" sz="2000">
                <a:solidFill>
                  <a:srgbClr val="000000"/>
                </a:solidFill>
                <a:latin typeface="+mn-lt"/>
                <a:ea typeface="+mn-ea"/>
                <a:cs typeface="+mn-cs"/>
              </a:rPr>
              <a:t>循环检索游标</a:t>
            </a:r>
          </a:p>
        </p:txBody>
      </p:sp>
      <p:sp>
        <p:nvSpPr>
          <p:cNvPr id="72706"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69</a:t>
            </a:fld>
            <a:endParaRPr lang="en-US" altLang="zh-CN">
              <a:solidFill>
                <a:srgbClr val="898989"/>
              </a:solidFill>
              <a:ea typeface="宋体" panose="02010600030101010101" pitchFamily="2"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3731"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endParaRPr lang="zh-CN" altLang="zh-CN">
              <a:solidFill>
                <a:srgbClr val="FFFFFF"/>
              </a:solidFill>
              <a:latin typeface="+mj-lt"/>
              <a:ea typeface="+mj-ea"/>
              <a:cs typeface="+mj-cs"/>
            </a:endParaRPr>
          </a:p>
        </p:txBody>
      </p:sp>
      <p:sp>
        <p:nvSpPr>
          <p:cNvPr id="73732"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lnSpc>
                <a:spcPct val="90000"/>
              </a:lnSpc>
              <a:buSzPct val="75000"/>
            </a:pPr>
            <a:r>
              <a:rPr lang="zh-CN" altLang="en-US" sz="1000">
                <a:solidFill>
                  <a:srgbClr val="000000"/>
                </a:solidFill>
                <a:latin typeface="+mn-lt"/>
                <a:ea typeface="+mn-ea"/>
                <a:cs typeface="+mn-cs"/>
              </a:rPr>
              <a:t>利用简单循环检索游标</a:t>
            </a:r>
          </a:p>
          <a:p>
            <a:pPr lvl="1" eaLnBrk="1" hangingPunct="1">
              <a:lnSpc>
                <a:spcPct val="90000"/>
              </a:lnSpc>
              <a:buSzPct val="75000"/>
            </a:pPr>
            <a:r>
              <a:rPr lang="zh-CN" altLang="en-US" sz="1000">
                <a:solidFill>
                  <a:srgbClr val="000000"/>
                </a:solidFill>
                <a:latin typeface="+mn-lt"/>
                <a:ea typeface="华文仿宋" panose="02010600040101010101" pitchFamily="2" charset="-122"/>
              </a:rPr>
              <a:t>语法</a:t>
            </a:r>
          </a:p>
          <a:p>
            <a:pPr lvl="2" eaLnBrk="1" hangingPunct="1">
              <a:lnSpc>
                <a:spcPct val="90000"/>
              </a:lnSpc>
            </a:pPr>
            <a:r>
              <a:rPr lang="en-US" altLang="zh-CN" sz="1000">
                <a:solidFill>
                  <a:srgbClr val="000000"/>
                </a:solidFill>
              </a:rPr>
              <a:t>DECLARE</a:t>
            </a:r>
          </a:p>
          <a:p>
            <a:pPr lvl="2" eaLnBrk="1" hangingPunct="1">
              <a:lnSpc>
                <a:spcPct val="90000"/>
              </a:lnSpc>
            </a:pPr>
            <a:r>
              <a:rPr lang="en-US" altLang="zh-CN" sz="1000">
                <a:solidFill>
                  <a:srgbClr val="000000"/>
                </a:solidFill>
              </a:rPr>
              <a:t>   CURSOR cursor_name IS SELECT</a:t>
            </a:r>
            <a:r>
              <a:rPr lang="en-GB" altLang="zh-CN" sz="1000">
                <a:solidFill>
                  <a:srgbClr val="000000"/>
                </a:solidFill>
                <a:latin typeface="华文仿宋" panose="02010600040101010101" pitchFamily="2" charset="-122"/>
              </a:rPr>
              <a:t>…</a:t>
            </a:r>
            <a:r>
              <a:rPr lang="en-US" altLang="zh-CN" sz="1000">
                <a:solidFill>
                  <a:srgbClr val="000000"/>
                </a:solidFill>
              </a:rPr>
              <a:t>;</a:t>
            </a:r>
          </a:p>
          <a:p>
            <a:pPr lvl="2" eaLnBrk="1" hangingPunct="1">
              <a:lnSpc>
                <a:spcPct val="90000"/>
              </a:lnSpc>
            </a:pPr>
            <a:r>
              <a:rPr lang="en-US" altLang="zh-CN" sz="1000">
                <a:solidFill>
                  <a:srgbClr val="000000"/>
                </a:solidFill>
              </a:rPr>
              <a:t>BEGIN</a:t>
            </a:r>
          </a:p>
          <a:p>
            <a:pPr lvl="2" eaLnBrk="1" hangingPunct="1">
              <a:lnSpc>
                <a:spcPct val="90000"/>
              </a:lnSpc>
            </a:pPr>
            <a:r>
              <a:rPr lang="en-US" altLang="zh-CN" sz="1000">
                <a:solidFill>
                  <a:srgbClr val="000000"/>
                </a:solidFill>
              </a:rPr>
              <a:t>   OPEN cursor_name;</a:t>
            </a:r>
          </a:p>
          <a:p>
            <a:pPr lvl="2" eaLnBrk="1" hangingPunct="1">
              <a:lnSpc>
                <a:spcPct val="90000"/>
              </a:lnSpc>
            </a:pPr>
            <a:r>
              <a:rPr lang="en-US" altLang="zh-CN" sz="1000">
                <a:solidFill>
                  <a:srgbClr val="000000"/>
                </a:solidFill>
              </a:rPr>
              <a:t>   LOOP</a:t>
            </a:r>
          </a:p>
          <a:p>
            <a:pPr lvl="2" eaLnBrk="1" hangingPunct="1">
              <a:lnSpc>
                <a:spcPct val="90000"/>
              </a:lnSpc>
            </a:pPr>
            <a:r>
              <a:rPr lang="en-US" altLang="zh-CN" sz="1000">
                <a:solidFill>
                  <a:srgbClr val="000000"/>
                </a:solidFill>
              </a:rPr>
              <a:t>      FETCH</a:t>
            </a:r>
            <a:r>
              <a:rPr lang="en-GB" altLang="zh-CN" sz="1000">
                <a:solidFill>
                  <a:srgbClr val="000000"/>
                </a:solidFill>
                <a:latin typeface="华文仿宋" panose="02010600040101010101" pitchFamily="2" charset="-122"/>
              </a:rPr>
              <a:t>…</a:t>
            </a:r>
            <a:r>
              <a:rPr lang="en-US" altLang="zh-CN" sz="1000">
                <a:solidFill>
                  <a:srgbClr val="000000"/>
                </a:solidFill>
              </a:rPr>
              <a:t>INTO</a:t>
            </a:r>
            <a:r>
              <a:rPr lang="en-GB" altLang="zh-CN" sz="1000">
                <a:solidFill>
                  <a:srgbClr val="000000"/>
                </a:solidFill>
                <a:latin typeface="华文仿宋" panose="02010600040101010101" pitchFamily="2" charset="-122"/>
              </a:rPr>
              <a:t>…</a:t>
            </a:r>
            <a:r>
              <a:rPr lang="en-US" altLang="zh-CN" sz="1000">
                <a:solidFill>
                  <a:srgbClr val="000000"/>
                </a:solidFill>
              </a:rPr>
              <a:t>;</a:t>
            </a:r>
          </a:p>
          <a:p>
            <a:pPr lvl="2" eaLnBrk="1" hangingPunct="1">
              <a:lnSpc>
                <a:spcPct val="90000"/>
              </a:lnSpc>
            </a:pPr>
            <a:r>
              <a:rPr lang="en-US" altLang="zh-CN" sz="1000">
                <a:solidFill>
                  <a:srgbClr val="000000"/>
                </a:solidFill>
              </a:rPr>
              <a:t>EXIT WHEN cursor_name%NOTFOUND;</a:t>
            </a:r>
            <a:endParaRPr lang="en-GB" altLang="zh-CN" sz="1000">
              <a:solidFill>
                <a:srgbClr val="000000"/>
              </a:solidFill>
            </a:endParaRPr>
          </a:p>
          <a:p>
            <a:pPr lvl="2" eaLnBrk="1" hangingPunct="1">
              <a:lnSpc>
                <a:spcPct val="90000"/>
              </a:lnSpc>
            </a:pPr>
            <a:r>
              <a:rPr lang="en-GB" altLang="zh-CN" sz="1000">
                <a:solidFill>
                  <a:srgbClr val="000000"/>
                </a:solidFill>
                <a:latin typeface="华文仿宋" panose="02010600040101010101" pitchFamily="2" charset="-122"/>
              </a:rPr>
              <a:t>……</a:t>
            </a:r>
            <a:endParaRPr lang="en-US" altLang="zh-CN" sz="1000">
              <a:solidFill>
                <a:srgbClr val="000000"/>
              </a:solidFill>
            </a:endParaRPr>
          </a:p>
          <a:p>
            <a:pPr lvl="2" eaLnBrk="1" hangingPunct="1">
              <a:lnSpc>
                <a:spcPct val="90000"/>
              </a:lnSpc>
            </a:pPr>
            <a:r>
              <a:rPr lang="en-US" altLang="zh-CN" sz="1000">
                <a:solidFill>
                  <a:srgbClr val="000000"/>
                </a:solidFill>
              </a:rPr>
              <a:t>   END LOOP;</a:t>
            </a:r>
          </a:p>
          <a:p>
            <a:pPr lvl="2" eaLnBrk="1" hangingPunct="1">
              <a:lnSpc>
                <a:spcPct val="90000"/>
              </a:lnSpc>
            </a:pPr>
            <a:r>
              <a:rPr lang="en-US" altLang="zh-CN" sz="1000">
                <a:solidFill>
                  <a:srgbClr val="000000"/>
                </a:solidFill>
              </a:rPr>
              <a:t>   CLOSE cursor_name;</a:t>
            </a:r>
          </a:p>
          <a:p>
            <a:pPr lvl="2" eaLnBrk="1" hangingPunct="1">
              <a:lnSpc>
                <a:spcPct val="90000"/>
              </a:lnSpc>
            </a:pPr>
            <a:r>
              <a:rPr lang="en-US" altLang="zh-CN" sz="1000">
                <a:solidFill>
                  <a:srgbClr val="000000"/>
                </a:solidFill>
              </a:rPr>
              <a:t>END; </a:t>
            </a:r>
          </a:p>
          <a:p>
            <a:pPr lvl="1" eaLnBrk="1" hangingPunct="1">
              <a:lnSpc>
                <a:spcPct val="90000"/>
              </a:lnSpc>
              <a:buSzPct val="75000"/>
            </a:pPr>
            <a:r>
              <a:rPr lang="zh-CN" altLang="en-US" sz="1000">
                <a:solidFill>
                  <a:srgbClr val="000000"/>
                </a:solidFill>
                <a:latin typeface="+mn-lt"/>
                <a:ea typeface="华文仿宋" panose="02010600040101010101" pitchFamily="2" charset="-122"/>
              </a:rPr>
              <a:t>注意</a:t>
            </a:r>
          </a:p>
          <a:p>
            <a:pPr lvl="2" eaLnBrk="1" hangingPunct="1">
              <a:lnSpc>
                <a:spcPct val="90000"/>
              </a:lnSpc>
            </a:pPr>
            <a:r>
              <a:rPr lang="en-US" altLang="zh-CN" sz="1000">
                <a:solidFill>
                  <a:srgbClr val="000000"/>
                </a:solidFill>
                <a:ea typeface="黑体" panose="02010609060101010101" pitchFamily="49" charset="-122"/>
              </a:rPr>
              <a:t>EXIT WHEN</a:t>
            </a:r>
            <a:r>
              <a:rPr lang="zh-CN" altLang="en-US" sz="1000">
                <a:solidFill>
                  <a:srgbClr val="000000"/>
                </a:solidFill>
                <a:ea typeface="黑体" panose="02010609060101010101" pitchFamily="49" charset="-122"/>
              </a:rPr>
              <a:t>子句应该是</a:t>
            </a:r>
            <a:r>
              <a:rPr lang="en-US" altLang="zh-CN" sz="1000">
                <a:solidFill>
                  <a:srgbClr val="000000"/>
                </a:solidFill>
                <a:ea typeface="黑体" panose="02010609060101010101" pitchFamily="49" charset="-122"/>
              </a:rPr>
              <a:t>FETCH…INTO</a:t>
            </a:r>
            <a:r>
              <a:rPr lang="zh-CN" altLang="en-US" sz="1000">
                <a:solidFill>
                  <a:srgbClr val="000000"/>
                </a:solidFill>
                <a:ea typeface="黑体" panose="02010609060101010101" pitchFamily="49" charset="-122"/>
              </a:rPr>
              <a:t>语句的下一条语句。</a:t>
            </a:r>
            <a:r>
              <a:rPr lang="zh-CN" altLang="en-US" sz="1000">
                <a:solidFill>
                  <a:srgbClr val="000000"/>
                </a:solidFill>
              </a:rPr>
              <a:t> </a:t>
            </a:r>
          </a:p>
          <a:p>
            <a:pPr lvl="3" eaLnBrk="1" hangingPunct="1">
              <a:lnSpc>
                <a:spcPct val="90000"/>
              </a:lnSpc>
            </a:pPr>
            <a:endParaRPr lang="en-US" altLang="zh-CN" sz="1000">
              <a:solidFill>
                <a:srgbClr val="000000"/>
              </a:solidFill>
            </a:endParaRPr>
          </a:p>
        </p:txBody>
      </p:sp>
      <p:sp>
        <p:nvSpPr>
          <p:cNvPr id="73730"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70</a:t>
            </a:fld>
            <a:endParaRPr lang="en-US" altLang="zh-CN">
              <a:solidFill>
                <a:srgbClr val="898989"/>
              </a:solidFill>
              <a:ea typeface="宋体" panose="02010600030101010101" pitchFamily="2" charset="-12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6" name="Picture 75">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4755" name="Rectangle 3"/>
          <p:cNvSpPr>
            <a:spLocks noGrp="1"/>
          </p:cNvSpPr>
          <p:nvPr>
            <p:ph idx="1"/>
          </p:nvPr>
        </p:nvSpPr>
        <p:spPr>
          <a:xfrm>
            <a:off x="6090574" y="801866"/>
            <a:ext cx="5306084" cy="5230634"/>
          </a:xfrm>
        </p:spPr>
        <p:txBody>
          <a:bodyPr vert="horz" lIns="121920" tIns="60960" rIns="121920" bIns="60960" anchor="ctr">
            <a:normAutofit/>
          </a:bodyPr>
          <a:lstStyle/>
          <a:p>
            <a:pPr eaLnBrk="1" hangingPunct="1">
              <a:lnSpc>
                <a:spcPct val="90000"/>
              </a:lnSpc>
              <a:buSzPct val="75000"/>
            </a:pPr>
            <a:r>
              <a:rPr lang="zh-CN" altLang="en-US" sz="1500">
                <a:solidFill>
                  <a:srgbClr val="000000"/>
                </a:solidFill>
                <a:latin typeface="+mn-lt"/>
                <a:ea typeface="+mn-ea"/>
                <a:cs typeface="+mn-cs"/>
              </a:rPr>
              <a:t>利用简单循环统计并输出各个部门的平均工资。</a:t>
            </a:r>
          </a:p>
          <a:p>
            <a:pPr eaLnBrk="1" hangingPunct="1">
              <a:lnSpc>
                <a:spcPct val="90000"/>
              </a:lnSpc>
              <a:buSzPct val="75000"/>
            </a:pPr>
            <a:r>
              <a:rPr lang="en-US" altLang="zh-CN" sz="1500">
                <a:solidFill>
                  <a:srgbClr val="000000"/>
                </a:solidFill>
                <a:latin typeface="+mn-lt"/>
                <a:ea typeface="+mn-ea"/>
                <a:cs typeface="+mn-cs"/>
              </a:rPr>
              <a:t>DECLARE</a:t>
            </a:r>
          </a:p>
          <a:p>
            <a:pPr eaLnBrk="1" hangingPunct="1">
              <a:lnSpc>
                <a:spcPct val="90000"/>
              </a:lnSpc>
              <a:buSzPct val="75000"/>
            </a:pPr>
            <a:r>
              <a:rPr lang="en-US" altLang="zh-CN" sz="1500">
                <a:solidFill>
                  <a:srgbClr val="000000"/>
                </a:solidFill>
                <a:latin typeface="+mn-lt"/>
                <a:ea typeface="+mn-ea"/>
                <a:cs typeface="+mn-cs"/>
              </a:rPr>
              <a:t>  CURSOR c_dept_stat IS SELECT department_id,</a:t>
            </a:r>
          </a:p>
          <a:p>
            <a:pPr eaLnBrk="1" hangingPunct="1">
              <a:lnSpc>
                <a:spcPct val="90000"/>
              </a:lnSpc>
              <a:buSzPct val="75000"/>
            </a:pPr>
            <a:r>
              <a:rPr lang="en-US" altLang="zh-CN" sz="1500">
                <a:solidFill>
                  <a:srgbClr val="000000"/>
                </a:solidFill>
                <a:latin typeface="+mn-lt"/>
                <a:ea typeface="+mn-ea"/>
                <a:cs typeface="+mn-cs"/>
              </a:rPr>
              <a:t>   avg(salary) avgsal FROM employees </a:t>
            </a:r>
          </a:p>
          <a:p>
            <a:pPr eaLnBrk="1" hangingPunct="1">
              <a:lnSpc>
                <a:spcPct val="90000"/>
              </a:lnSpc>
              <a:buSzPct val="75000"/>
            </a:pPr>
            <a:r>
              <a:rPr lang="en-US" altLang="zh-CN" sz="1500">
                <a:solidFill>
                  <a:srgbClr val="000000"/>
                </a:solidFill>
                <a:latin typeface="+mn-lt"/>
                <a:ea typeface="+mn-ea"/>
                <a:cs typeface="+mn-cs"/>
              </a:rPr>
              <a:t>  GROUP BY department_id;</a:t>
            </a:r>
          </a:p>
          <a:p>
            <a:pPr eaLnBrk="1" hangingPunct="1">
              <a:lnSpc>
                <a:spcPct val="90000"/>
              </a:lnSpc>
              <a:buSzPct val="75000"/>
            </a:pPr>
            <a:r>
              <a:rPr lang="en-US" altLang="zh-CN" sz="1500">
                <a:solidFill>
                  <a:srgbClr val="000000"/>
                </a:solidFill>
                <a:latin typeface="+mn-lt"/>
                <a:ea typeface="+mn-ea"/>
                <a:cs typeface="+mn-cs"/>
              </a:rPr>
              <a:t>  v_dept c_dept_stat%ROWTYPE;</a:t>
            </a:r>
          </a:p>
          <a:p>
            <a:pPr eaLnBrk="1" hangingPunct="1">
              <a:lnSpc>
                <a:spcPct val="90000"/>
              </a:lnSpc>
              <a:buSzPct val="75000"/>
            </a:pPr>
            <a:r>
              <a:rPr lang="en-US" altLang="zh-CN" sz="1500">
                <a:solidFill>
                  <a:srgbClr val="000000"/>
                </a:solidFill>
                <a:latin typeface="+mn-lt"/>
                <a:ea typeface="+mn-ea"/>
                <a:cs typeface="+mn-cs"/>
              </a:rPr>
              <a:t>BEGIN</a:t>
            </a:r>
          </a:p>
          <a:p>
            <a:pPr eaLnBrk="1" hangingPunct="1">
              <a:lnSpc>
                <a:spcPct val="90000"/>
              </a:lnSpc>
              <a:buSzPct val="75000"/>
            </a:pPr>
            <a:r>
              <a:rPr lang="en-US" altLang="zh-CN" sz="1500">
                <a:solidFill>
                  <a:srgbClr val="000000"/>
                </a:solidFill>
                <a:latin typeface="+mn-lt"/>
                <a:ea typeface="+mn-ea"/>
                <a:cs typeface="+mn-cs"/>
              </a:rPr>
              <a:t>  OPEN c_dept_stat;</a:t>
            </a:r>
          </a:p>
          <a:p>
            <a:pPr eaLnBrk="1" hangingPunct="1">
              <a:lnSpc>
                <a:spcPct val="90000"/>
              </a:lnSpc>
              <a:buSzPct val="75000"/>
            </a:pPr>
            <a:r>
              <a:rPr lang="en-US" altLang="zh-CN" sz="1500">
                <a:solidFill>
                  <a:srgbClr val="000000"/>
                </a:solidFill>
                <a:latin typeface="+mn-lt"/>
                <a:ea typeface="+mn-ea"/>
                <a:cs typeface="+mn-cs"/>
              </a:rPr>
              <a:t>  LOOP</a:t>
            </a:r>
          </a:p>
          <a:p>
            <a:pPr eaLnBrk="1" hangingPunct="1">
              <a:lnSpc>
                <a:spcPct val="90000"/>
              </a:lnSpc>
              <a:buSzPct val="75000"/>
            </a:pPr>
            <a:r>
              <a:rPr lang="en-US" altLang="zh-CN" sz="1500">
                <a:solidFill>
                  <a:srgbClr val="000000"/>
                </a:solidFill>
                <a:latin typeface="+mn-lt"/>
                <a:ea typeface="+mn-ea"/>
                <a:cs typeface="+mn-cs"/>
              </a:rPr>
              <a:t>    FETCH c_dept_stat INTO v_dept;</a:t>
            </a:r>
          </a:p>
          <a:p>
            <a:pPr eaLnBrk="1" hangingPunct="1">
              <a:lnSpc>
                <a:spcPct val="90000"/>
              </a:lnSpc>
              <a:buSzPct val="75000"/>
            </a:pPr>
            <a:r>
              <a:rPr lang="en-US" altLang="zh-CN" sz="1500">
                <a:solidFill>
                  <a:srgbClr val="000000"/>
                </a:solidFill>
                <a:latin typeface="+mn-lt"/>
                <a:ea typeface="+mn-ea"/>
                <a:cs typeface="+mn-cs"/>
              </a:rPr>
              <a:t>    EXIT WHEN c_dept_stat%NOTFOUND;</a:t>
            </a:r>
          </a:p>
          <a:p>
            <a:pPr eaLnBrk="1" hangingPunct="1">
              <a:lnSpc>
                <a:spcPct val="90000"/>
              </a:lnSpc>
              <a:buSzPct val="75000"/>
            </a:pPr>
            <a:r>
              <a:rPr lang="en-US" altLang="zh-CN" sz="1500">
                <a:solidFill>
                  <a:srgbClr val="000000"/>
                </a:solidFill>
                <a:latin typeface="+mn-lt"/>
                <a:ea typeface="+mn-ea"/>
                <a:cs typeface="+mn-cs"/>
              </a:rPr>
              <a:t>  DBMS_OUTPUT.PUT_LINE(v_dept.department_id||' '||</a:t>
            </a:r>
          </a:p>
          <a:p>
            <a:pPr eaLnBrk="1" hangingPunct="1">
              <a:lnSpc>
                <a:spcPct val="90000"/>
              </a:lnSpc>
              <a:buSzPct val="75000"/>
            </a:pPr>
            <a:r>
              <a:rPr lang="en-US" altLang="zh-CN" sz="1500">
                <a:solidFill>
                  <a:srgbClr val="000000"/>
                </a:solidFill>
                <a:latin typeface="+mn-lt"/>
                <a:ea typeface="+mn-ea"/>
                <a:cs typeface="+mn-cs"/>
              </a:rPr>
              <a:t>                                         v_dept.avgsal);</a:t>
            </a:r>
          </a:p>
          <a:p>
            <a:pPr eaLnBrk="1" hangingPunct="1">
              <a:lnSpc>
                <a:spcPct val="90000"/>
              </a:lnSpc>
              <a:buSzPct val="75000"/>
            </a:pPr>
            <a:r>
              <a:rPr lang="en-US" altLang="zh-CN" sz="1500">
                <a:solidFill>
                  <a:srgbClr val="000000"/>
                </a:solidFill>
                <a:latin typeface="+mn-lt"/>
                <a:ea typeface="+mn-ea"/>
                <a:cs typeface="+mn-cs"/>
              </a:rPr>
              <a:t>END LOOP;</a:t>
            </a:r>
          </a:p>
          <a:p>
            <a:pPr eaLnBrk="1" hangingPunct="1">
              <a:lnSpc>
                <a:spcPct val="90000"/>
              </a:lnSpc>
              <a:buSzPct val="75000"/>
            </a:pPr>
            <a:r>
              <a:rPr lang="en-US" altLang="zh-CN" sz="1500">
                <a:solidFill>
                  <a:srgbClr val="000000"/>
                </a:solidFill>
                <a:latin typeface="+mn-lt"/>
                <a:ea typeface="+mn-ea"/>
                <a:cs typeface="+mn-cs"/>
              </a:rPr>
              <a:t>CLOSE c_dept_stat;</a:t>
            </a:r>
          </a:p>
          <a:p>
            <a:pPr eaLnBrk="1" hangingPunct="1">
              <a:lnSpc>
                <a:spcPct val="90000"/>
              </a:lnSpc>
              <a:buSzPct val="75000"/>
            </a:pPr>
            <a:r>
              <a:rPr lang="en-US" altLang="zh-CN" sz="1500">
                <a:solidFill>
                  <a:srgbClr val="000000"/>
                </a:solidFill>
                <a:latin typeface="+mn-lt"/>
                <a:ea typeface="+mn-ea"/>
                <a:cs typeface="+mn-cs"/>
              </a:rPr>
              <a:t>END; </a:t>
            </a:r>
          </a:p>
        </p:txBody>
      </p:sp>
      <p:sp>
        <p:nvSpPr>
          <p:cNvPr id="74754"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71</a:t>
            </a:fld>
            <a:endParaRPr lang="en-US" altLang="zh-CN">
              <a:solidFill>
                <a:srgbClr val="898989"/>
              </a:solidFill>
              <a:ea typeface="宋体" panose="02010600030101010101" pitchFamily="2"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7" name="Picture 76">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5779" name="Rectangle 2"/>
          <p:cNvSpPr>
            <a:spLocks noGrp="1"/>
          </p:cNvSpPr>
          <p:nvPr>
            <p:ph type="title"/>
          </p:nvPr>
        </p:nvSpPr>
        <p:spPr>
          <a:xfrm>
            <a:off x="640079" y="2053641"/>
            <a:ext cx="3669161" cy="2760098"/>
          </a:xfrm>
        </p:spPr>
        <p:txBody>
          <a:bodyPr vert="horz" lIns="121920" tIns="60960" rIns="121920" bIns="60960">
            <a:normAutofit/>
          </a:bodyPr>
          <a:lstStyle/>
          <a:p>
            <a:pPr eaLnBrk="1" hangingPunct="1"/>
            <a:endParaRPr lang="zh-CN" altLang="zh-CN">
              <a:solidFill>
                <a:srgbClr val="FFFFFF"/>
              </a:solidFill>
              <a:latin typeface="+mj-lt"/>
              <a:ea typeface="+mj-ea"/>
              <a:cs typeface="+mj-cs"/>
            </a:endParaRPr>
          </a:p>
        </p:txBody>
      </p:sp>
      <p:sp>
        <p:nvSpPr>
          <p:cNvPr id="75780" name="Rectangle 3"/>
          <p:cNvSpPr>
            <a:spLocks noGrp="1"/>
          </p:cNvSpPr>
          <p:nvPr>
            <p:ph idx="1"/>
          </p:nvPr>
        </p:nvSpPr>
        <p:spPr>
          <a:xfrm>
            <a:off x="6090574" y="801866"/>
            <a:ext cx="5306084" cy="5230634"/>
          </a:xfrm>
        </p:spPr>
        <p:txBody>
          <a:bodyPr vert="horz" lIns="121920" tIns="60960" rIns="121920" bIns="60960" anchor="ctr">
            <a:normAutofit/>
          </a:bodyPr>
          <a:lstStyle/>
          <a:p>
            <a:pPr eaLnBrk="1" hangingPunct="1">
              <a:lnSpc>
                <a:spcPct val="90000"/>
              </a:lnSpc>
              <a:buSzPct val="75000"/>
            </a:pPr>
            <a:r>
              <a:rPr lang="zh-CN" altLang="en-US" sz="1700">
                <a:solidFill>
                  <a:srgbClr val="000000"/>
                </a:solidFill>
                <a:latin typeface="+mn-lt"/>
                <a:ea typeface="+mn-ea"/>
                <a:cs typeface="+mn-cs"/>
              </a:rPr>
              <a:t>利用</a:t>
            </a:r>
            <a:r>
              <a:rPr lang="en-US" altLang="zh-CN" sz="1700">
                <a:solidFill>
                  <a:srgbClr val="000000"/>
                </a:solidFill>
                <a:latin typeface="+mn-lt"/>
                <a:ea typeface="+mn-ea"/>
                <a:cs typeface="+mn-cs"/>
              </a:rPr>
              <a:t>WHILE</a:t>
            </a:r>
            <a:r>
              <a:rPr lang="zh-CN" altLang="en-US" sz="1700">
                <a:solidFill>
                  <a:srgbClr val="000000"/>
                </a:solidFill>
                <a:latin typeface="+mn-lt"/>
                <a:ea typeface="+mn-ea"/>
                <a:cs typeface="+mn-cs"/>
              </a:rPr>
              <a:t>循环检索游标</a:t>
            </a:r>
          </a:p>
          <a:p>
            <a:pPr lvl="1" eaLnBrk="1" hangingPunct="1">
              <a:lnSpc>
                <a:spcPct val="90000"/>
              </a:lnSpc>
              <a:buSzPct val="75000"/>
            </a:pPr>
            <a:r>
              <a:rPr lang="zh-CN" altLang="en-US" sz="1700">
                <a:solidFill>
                  <a:srgbClr val="000000"/>
                </a:solidFill>
                <a:latin typeface="+mn-lt"/>
                <a:ea typeface="华文仿宋" panose="02010600040101010101" pitchFamily="2" charset="-122"/>
              </a:rPr>
              <a:t>语法</a:t>
            </a:r>
          </a:p>
          <a:p>
            <a:pPr lvl="2" eaLnBrk="1" hangingPunct="1">
              <a:lnSpc>
                <a:spcPct val="90000"/>
              </a:lnSpc>
            </a:pPr>
            <a:r>
              <a:rPr lang="en-US" altLang="zh-CN" sz="1700">
                <a:solidFill>
                  <a:srgbClr val="000000"/>
                </a:solidFill>
              </a:rPr>
              <a:t>DECLARE</a:t>
            </a:r>
          </a:p>
          <a:p>
            <a:pPr lvl="2" eaLnBrk="1" hangingPunct="1">
              <a:lnSpc>
                <a:spcPct val="90000"/>
              </a:lnSpc>
            </a:pPr>
            <a:r>
              <a:rPr lang="en-US" altLang="zh-CN" sz="1700">
                <a:solidFill>
                  <a:srgbClr val="000000"/>
                </a:solidFill>
              </a:rPr>
              <a:t>CURSOR cursor_name IS SELECT</a:t>
            </a:r>
            <a:r>
              <a:rPr lang="en-US" altLang="zh-CN" sz="1700">
                <a:solidFill>
                  <a:srgbClr val="000000"/>
                </a:solidFill>
                <a:latin typeface="华文仿宋" panose="02010600040101010101" pitchFamily="2" charset="-122"/>
              </a:rPr>
              <a:t>…</a:t>
            </a:r>
            <a:r>
              <a:rPr lang="en-US" altLang="zh-CN" sz="1700">
                <a:solidFill>
                  <a:srgbClr val="000000"/>
                </a:solidFill>
              </a:rPr>
              <a:t>;</a:t>
            </a:r>
          </a:p>
          <a:p>
            <a:pPr lvl="2" eaLnBrk="1" hangingPunct="1">
              <a:lnSpc>
                <a:spcPct val="90000"/>
              </a:lnSpc>
            </a:pPr>
            <a:r>
              <a:rPr lang="en-US" altLang="zh-CN" sz="1700">
                <a:solidFill>
                  <a:srgbClr val="000000"/>
                </a:solidFill>
              </a:rPr>
              <a:t>BEGIN</a:t>
            </a:r>
          </a:p>
          <a:p>
            <a:pPr lvl="2" eaLnBrk="1" hangingPunct="1">
              <a:lnSpc>
                <a:spcPct val="90000"/>
              </a:lnSpc>
            </a:pPr>
            <a:r>
              <a:rPr lang="en-US" altLang="zh-CN" sz="1700">
                <a:solidFill>
                  <a:srgbClr val="000000"/>
                </a:solidFill>
              </a:rPr>
              <a:t>OPEN cursor_name;</a:t>
            </a:r>
          </a:p>
          <a:p>
            <a:pPr lvl="2" eaLnBrk="1" hangingPunct="1">
              <a:lnSpc>
                <a:spcPct val="90000"/>
              </a:lnSpc>
            </a:pPr>
            <a:r>
              <a:rPr lang="en-US" altLang="zh-CN" sz="1700">
                <a:solidFill>
                  <a:srgbClr val="000000"/>
                </a:solidFill>
              </a:rPr>
              <a:t>FETCH</a:t>
            </a:r>
            <a:r>
              <a:rPr lang="en-GB" altLang="zh-CN" sz="1700">
                <a:solidFill>
                  <a:srgbClr val="000000"/>
                </a:solidFill>
                <a:latin typeface="华文仿宋" panose="02010600040101010101" pitchFamily="2" charset="-122"/>
              </a:rPr>
              <a:t>…</a:t>
            </a:r>
            <a:r>
              <a:rPr lang="en-US" altLang="zh-CN" sz="1700">
                <a:solidFill>
                  <a:srgbClr val="000000"/>
                </a:solidFill>
              </a:rPr>
              <a:t>INTO</a:t>
            </a:r>
            <a:r>
              <a:rPr lang="en-GB" altLang="zh-CN" sz="1700">
                <a:solidFill>
                  <a:srgbClr val="000000"/>
                </a:solidFill>
                <a:latin typeface="华文仿宋" panose="02010600040101010101" pitchFamily="2" charset="-122"/>
              </a:rPr>
              <a:t>…</a:t>
            </a:r>
            <a:r>
              <a:rPr lang="en-US" altLang="zh-CN" sz="1700">
                <a:solidFill>
                  <a:srgbClr val="000000"/>
                </a:solidFill>
              </a:rPr>
              <a:t>;</a:t>
            </a:r>
          </a:p>
          <a:p>
            <a:pPr lvl="2" eaLnBrk="1" hangingPunct="1">
              <a:lnSpc>
                <a:spcPct val="90000"/>
              </a:lnSpc>
            </a:pPr>
            <a:r>
              <a:rPr lang="en-US" altLang="zh-CN" sz="1700">
                <a:solidFill>
                  <a:srgbClr val="000000"/>
                </a:solidFill>
              </a:rPr>
              <a:t>WHILE cursor_name%FOUND LOOP</a:t>
            </a:r>
          </a:p>
          <a:p>
            <a:pPr lvl="2" eaLnBrk="1" hangingPunct="1">
              <a:lnSpc>
                <a:spcPct val="90000"/>
              </a:lnSpc>
            </a:pPr>
            <a:r>
              <a:rPr lang="en-US" altLang="zh-CN" sz="1700">
                <a:solidFill>
                  <a:srgbClr val="000000"/>
                </a:solidFill>
              </a:rPr>
              <a:t>FETCH</a:t>
            </a:r>
            <a:r>
              <a:rPr lang="en-GB" altLang="zh-CN" sz="1700">
                <a:solidFill>
                  <a:srgbClr val="000000"/>
                </a:solidFill>
                <a:latin typeface="华文仿宋" panose="02010600040101010101" pitchFamily="2" charset="-122"/>
              </a:rPr>
              <a:t>…</a:t>
            </a:r>
            <a:r>
              <a:rPr lang="en-US" altLang="zh-CN" sz="1700">
                <a:solidFill>
                  <a:srgbClr val="000000"/>
                </a:solidFill>
              </a:rPr>
              <a:t>INTO</a:t>
            </a:r>
            <a:r>
              <a:rPr lang="en-GB" altLang="zh-CN" sz="1700">
                <a:solidFill>
                  <a:srgbClr val="000000"/>
                </a:solidFill>
                <a:latin typeface="华文仿宋" panose="02010600040101010101" pitchFamily="2" charset="-122"/>
              </a:rPr>
              <a:t>…</a:t>
            </a:r>
            <a:r>
              <a:rPr lang="en-US" altLang="zh-CN" sz="1700">
                <a:solidFill>
                  <a:srgbClr val="000000"/>
                </a:solidFill>
              </a:rPr>
              <a:t>;</a:t>
            </a:r>
            <a:endParaRPr lang="en-GB" altLang="zh-CN" sz="1700">
              <a:solidFill>
                <a:srgbClr val="000000"/>
              </a:solidFill>
            </a:endParaRPr>
          </a:p>
          <a:p>
            <a:pPr lvl="2" eaLnBrk="1" hangingPunct="1">
              <a:lnSpc>
                <a:spcPct val="90000"/>
              </a:lnSpc>
            </a:pPr>
            <a:r>
              <a:rPr lang="en-GB" altLang="zh-CN" sz="1700">
                <a:solidFill>
                  <a:srgbClr val="000000"/>
                </a:solidFill>
                <a:latin typeface="华文仿宋" panose="02010600040101010101" pitchFamily="2" charset="-122"/>
              </a:rPr>
              <a:t>……</a:t>
            </a:r>
            <a:endParaRPr lang="en-US" altLang="zh-CN" sz="1700">
              <a:solidFill>
                <a:srgbClr val="000000"/>
              </a:solidFill>
            </a:endParaRPr>
          </a:p>
          <a:p>
            <a:pPr lvl="2" eaLnBrk="1" hangingPunct="1">
              <a:lnSpc>
                <a:spcPct val="90000"/>
              </a:lnSpc>
            </a:pPr>
            <a:r>
              <a:rPr lang="en-US" altLang="zh-CN" sz="1700">
                <a:solidFill>
                  <a:srgbClr val="000000"/>
                </a:solidFill>
              </a:rPr>
              <a:t>END LOOP;</a:t>
            </a:r>
          </a:p>
          <a:p>
            <a:pPr lvl="2" eaLnBrk="1" hangingPunct="1">
              <a:lnSpc>
                <a:spcPct val="90000"/>
              </a:lnSpc>
            </a:pPr>
            <a:r>
              <a:rPr lang="en-US" altLang="zh-CN" sz="1700">
                <a:solidFill>
                  <a:srgbClr val="000000"/>
                </a:solidFill>
              </a:rPr>
              <a:t>CLOSE cursor;</a:t>
            </a:r>
          </a:p>
          <a:p>
            <a:pPr lvl="2" eaLnBrk="1" hangingPunct="1">
              <a:lnSpc>
                <a:spcPct val="90000"/>
              </a:lnSpc>
            </a:pPr>
            <a:r>
              <a:rPr lang="en-US" altLang="zh-CN" sz="1700">
                <a:solidFill>
                  <a:srgbClr val="000000"/>
                </a:solidFill>
              </a:rPr>
              <a:t>END;</a:t>
            </a:r>
          </a:p>
          <a:p>
            <a:pPr lvl="1" eaLnBrk="1" hangingPunct="1">
              <a:lnSpc>
                <a:spcPct val="90000"/>
              </a:lnSpc>
              <a:buSzPct val="75000"/>
            </a:pPr>
            <a:r>
              <a:rPr lang="zh-CN" altLang="en-US" sz="1700">
                <a:solidFill>
                  <a:srgbClr val="000000"/>
                </a:solidFill>
                <a:latin typeface="+mn-lt"/>
                <a:ea typeface="华文仿宋" panose="02010600040101010101" pitchFamily="2" charset="-122"/>
              </a:rPr>
              <a:t>注意</a:t>
            </a:r>
          </a:p>
          <a:p>
            <a:pPr lvl="2" eaLnBrk="1" hangingPunct="1">
              <a:lnSpc>
                <a:spcPct val="90000"/>
              </a:lnSpc>
            </a:pPr>
            <a:r>
              <a:rPr lang="zh-CN" altLang="en-US" sz="1700">
                <a:solidFill>
                  <a:srgbClr val="000000"/>
                </a:solidFill>
                <a:ea typeface="黑体" panose="02010609060101010101" pitchFamily="49" charset="-122"/>
              </a:rPr>
              <a:t>在循环体外进行一次</a:t>
            </a:r>
            <a:r>
              <a:rPr lang="en-US" altLang="zh-CN" sz="1700">
                <a:solidFill>
                  <a:srgbClr val="000000"/>
                </a:solidFill>
                <a:ea typeface="黑体" panose="02010609060101010101" pitchFamily="49" charset="-122"/>
              </a:rPr>
              <a:t>FETCH</a:t>
            </a:r>
            <a:r>
              <a:rPr lang="zh-CN" altLang="en-US" sz="1700">
                <a:solidFill>
                  <a:srgbClr val="000000"/>
                </a:solidFill>
                <a:ea typeface="黑体" panose="02010609060101010101" pitchFamily="49" charset="-122"/>
              </a:rPr>
              <a:t>操作，作为第一次循环的条件。</a:t>
            </a:r>
          </a:p>
        </p:txBody>
      </p:sp>
      <p:sp>
        <p:nvSpPr>
          <p:cNvPr id="75778"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72</a:t>
            </a:fld>
            <a:endParaRPr lang="en-US" altLang="zh-CN">
              <a:solidFill>
                <a:srgbClr val="898989"/>
              </a:solidFill>
              <a:ea typeface="宋体" panose="02010600030101010101" pitchFamily="2"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6" name="Picture 75">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6803" name="Rectangle 3"/>
          <p:cNvSpPr>
            <a:spLocks noGrp="1"/>
          </p:cNvSpPr>
          <p:nvPr>
            <p:ph idx="1"/>
          </p:nvPr>
        </p:nvSpPr>
        <p:spPr>
          <a:xfrm>
            <a:off x="6090574" y="801866"/>
            <a:ext cx="5306084" cy="5230634"/>
          </a:xfrm>
        </p:spPr>
        <p:txBody>
          <a:bodyPr vert="horz" lIns="121920" tIns="60960" rIns="121920" bIns="60960" anchor="ctr">
            <a:normAutofit/>
          </a:bodyPr>
          <a:lstStyle/>
          <a:p>
            <a:pPr eaLnBrk="1" hangingPunct="1">
              <a:lnSpc>
                <a:spcPct val="90000"/>
              </a:lnSpc>
              <a:buSzPct val="75000"/>
            </a:pPr>
            <a:r>
              <a:rPr lang="zh-CN" altLang="en-US" sz="1500">
                <a:solidFill>
                  <a:srgbClr val="000000"/>
                </a:solidFill>
                <a:latin typeface="+mn-lt"/>
                <a:ea typeface="+mn-ea"/>
                <a:cs typeface="+mn-cs"/>
              </a:rPr>
              <a:t>利用</a:t>
            </a:r>
            <a:r>
              <a:rPr lang="en-US" altLang="zh-CN" sz="1500">
                <a:solidFill>
                  <a:srgbClr val="000000"/>
                </a:solidFill>
                <a:latin typeface="+mn-lt"/>
                <a:ea typeface="+mn-ea"/>
                <a:cs typeface="+mn-cs"/>
              </a:rPr>
              <a:t>WHILE</a:t>
            </a:r>
            <a:r>
              <a:rPr lang="zh-CN" altLang="en-US" sz="1500">
                <a:solidFill>
                  <a:srgbClr val="000000"/>
                </a:solidFill>
                <a:latin typeface="+mn-lt"/>
                <a:ea typeface="+mn-ea"/>
                <a:cs typeface="+mn-cs"/>
              </a:rPr>
              <a:t>循环统计并输出各个部门的平均工资。</a:t>
            </a:r>
          </a:p>
          <a:p>
            <a:pPr eaLnBrk="1" hangingPunct="1">
              <a:lnSpc>
                <a:spcPct val="90000"/>
              </a:lnSpc>
              <a:buSzPct val="75000"/>
            </a:pPr>
            <a:r>
              <a:rPr lang="en-US" altLang="zh-CN" sz="1500">
                <a:solidFill>
                  <a:srgbClr val="000000"/>
                </a:solidFill>
                <a:latin typeface="+mn-lt"/>
                <a:ea typeface="+mn-ea"/>
                <a:cs typeface="+mn-cs"/>
              </a:rPr>
              <a:t>DECLARE</a:t>
            </a:r>
          </a:p>
          <a:p>
            <a:pPr eaLnBrk="1" hangingPunct="1">
              <a:lnSpc>
                <a:spcPct val="90000"/>
              </a:lnSpc>
              <a:buSzPct val="75000"/>
            </a:pPr>
            <a:r>
              <a:rPr lang="en-US" altLang="zh-CN" sz="1500">
                <a:solidFill>
                  <a:srgbClr val="000000"/>
                </a:solidFill>
                <a:latin typeface="+mn-lt"/>
                <a:ea typeface="+mn-ea"/>
                <a:cs typeface="+mn-cs"/>
              </a:rPr>
              <a:t>  CURSOR c_dept_stat IS SELECT department_id,</a:t>
            </a:r>
          </a:p>
          <a:p>
            <a:pPr eaLnBrk="1" hangingPunct="1">
              <a:lnSpc>
                <a:spcPct val="90000"/>
              </a:lnSpc>
              <a:buSzPct val="75000"/>
            </a:pPr>
            <a:r>
              <a:rPr lang="en-US" altLang="zh-CN" sz="1500">
                <a:solidFill>
                  <a:srgbClr val="000000"/>
                </a:solidFill>
                <a:latin typeface="+mn-lt"/>
                <a:ea typeface="+mn-ea"/>
                <a:cs typeface="+mn-cs"/>
              </a:rPr>
              <a:t>  avg(salary) avgsal FROM employees </a:t>
            </a:r>
          </a:p>
          <a:p>
            <a:pPr eaLnBrk="1" hangingPunct="1">
              <a:lnSpc>
                <a:spcPct val="90000"/>
              </a:lnSpc>
              <a:buSzPct val="75000"/>
            </a:pPr>
            <a:r>
              <a:rPr lang="en-US" altLang="zh-CN" sz="1500">
                <a:solidFill>
                  <a:srgbClr val="000000"/>
                </a:solidFill>
                <a:latin typeface="+mn-lt"/>
                <a:ea typeface="+mn-ea"/>
                <a:cs typeface="+mn-cs"/>
              </a:rPr>
              <a:t>  GROUP BY department_id;</a:t>
            </a:r>
          </a:p>
          <a:p>
            <a:pPr eaLnBrk="1" hangingPunct="1">
              <a:lnSpc>
                <a:spcPct val="90000"/>
              </a:lnSpc>
              <a:buSzPct val="75000"/>
            </a:pPr>
            <a:r>
              <a:rPr lang="en-US" altLang="zh-CN" sz="1500">
                <a:solidFill>
                  <a:srgbClr val="000000"/>
                </a:solidFill>
                <a:latin typeface="+mn-lt"/>
                <a:ea typeface="+mn-ea"/>
                <a:cs typeface="+mn-cs"/>
              </a:rPr>
              <a:t>  v_dept c_dept_stat%ROWTYPE;</a:t>
            </a:r>
          </a:p>
          <a:p>
            <a:pPr eaLnBrk="1" hangingPunct="1">
              <a:lnSpc>
                <a:spcPct val="90000"/>
              </a:lnSpc>
              <a:buSzPct val="75000"/>
            </a:pPr>
            <a:r>
              <a:rPr lang="en-US" altLang="zh-CN" sz="1500">
                <a:solidFill>
                  <a:srgbClr val="000000"/>
                </a:solidFill>
                <a:latin typeface="+mn-lt"/>
                <a:ea typeface="+mn-ea"/>
                <a:cs typeface="+mn-cs"/>
              </a:rPr>
              <a:t>BEGIN</a:t>
            </a:r>
          </a:p>
          <a:p>
            <a:pPr eaLnBrk="1" hangingPunct="1">
              <a:lnSpc>
                <a:spcPct val="90000"/>
              </a:lnSpc>
              <a:buSzPct val="75000"/>
            </a:pPr>
            <a:r>
              <a:rPr lang="en-US" altLang="zh-CN" sz="1500">
                <a:solidFill>
                  <a:srgbClr val="000000"/>
                </a:solidFill>
                <a:latin typeface="+mn-lt"/>
                <a:ea typeface="+mn-ea"/>
                <a:cs typeface="+mn-cs"/>
              </a:rPr>
              <a:t>  OPEN c_dept_stat;</a:t>
            </a:r>
          </a:p>
          <a:p>
            <a:pPr eaLnBrk="1" hangingPunct="1">
              <a:lnSpc>
                <a:spcPct val="90000"/>
              </a:lnSpc>
              <a:buSzPct val="75000"/>
            </a:pPr>
            <a:r>
              <a:rPr lang="en-US" altLang="zh-CN" sz="1500">
                <a:solidFill>
                  <a:srgbClr val="000000"/>
                </a:solidFill>
                <a:latin typeface="+mn-lt"/>
                <a:ea typeface="+mn-ea"/>
                <a:cs typeface="+mn-cs"/>
              </a:rPr>
              <a:t>  FETCH c_dept_stat INTO v_dept; </a:t>
            </a:r>
          </a:p>
          <a:p>
            <a:pPr eaLnBrk="1" hangingPunct="1">
              <a:lnSpc>
                <a:spcPct val="90000"/>
              </a:lnSpc>
              <a:buSzPct val="75000"/>
            </a:pPr>
            <a:r>
              <a:rPr lang="en-US" altLang="zh-CN" sz="1500">
                <a:solidFill>
                  <a:srgbClr val="000000"/>
                </a:solidFill>
                <a:latin typeface="+mn-lt"/>
                <a:ea typeface="+mn-ea"/>
                <a:cs typeface="+mn-cs"/>
              </a:rPr>
              <a:t>  WHILE c_dept_stat%FOUND LOOP</a:t>
            </a:r>
          </a:p>
          <a:p>
            <a:pPr eaLnBrk="1" hangingPunct="1">
              <a:lnSpc>
                <a:spcPct val="90000"/>
              </a:lnSpc>
              <a:buSzPct val="75000"/>
            </a:pPr>
            <a:r>
              <a:rPr lang="en-US" altLang="zh-CN" sz="1500">
                <a:solidFill>
                  <a:srgbClr val="000000"/>
                </a:solidFill>
                <a:latin typeface="+mn-lt"/>
                <a:ea typeface="+mn-ea"/>
                <a:cs typeface="+mn-cs"/>
              </a:rPr>
              <a:t>    DBMS_OUTPUT.PUT_LINE(v_dept.department_id||' '||</a:t>
            </a:r>
          </a:p>
          <a:p>
            <a:pPr eaLnBrk="1" hangingPunct="1">
              <a:lnSpc>
                <a:spcPct val="90000"/>
              </a:lnSpc>
              <a:buSzPct val="75000"/>
            </a:pPr>
            <a:r>
              <a:rPr lang="en-US" altLang="zh-CN" sz="1500">
                <a:solidFill>
                  <a:srgbClr val="000000"/>
                </a:solidFill>
                <a:latin typeface="+mn-lt"/>
                <a:ea typeface="+mn-ea"/>
                <a:cs typeface="+mn-cs"/>
              </a:rPr>
              <a:t>                                           v_dept.avgsal);</a:t>
            </a:r>
          </a:p>
          <a:p>
            <a:pPr eaLnBrk="1" hangingPunct="1">
              <a:lnSpc>
                <a:spcPct val="90000"/>
              </a:lnSpc>
              <a:buSzPct val="75000"/>
            </a:pPr>
            <a:r>
              <a:rPr lang="en-US" altLang="zh-CN" sz="1500">
                <a:solidFill>
                  <a:srgbClr val="000000"/>
                </a:solidFill>
                <a:latin typeface="+mn-lt"/>
                <a:ea typeface="+mn-ea"/>
                <a:cs typeface="+mn-cs"/>
              </a:rPr>
              <a:t>    FETCH c_dept_stat INTO v_dept;</a:t>
            </a:r>
          </a:p>
          <a:p>
            <a:pPr eaLnBrk="1" hangingPunct="1">
              <a:lnSpc>
                <a:spcPct val="90000"/>
              </a:lnSpc>
              <a:buSzPct val="75000"/>
            </a:pPr>
            <a:r>
              <a:rPr lang="en-US" altLang="zh-CN" sz="1500">
                <a:solidFill>
                  <a:srgbClr val="000000"/>
                </a:solidFill>
                <a:latin typeface="+mn-lt"/>
                <a:ea typeface="+mn-ea"/>
                <a:cs typeface="+mn-cs"/>
              </a:rPr>
              <a:t>  END LOOP;</a:t>
            </a:r>
          </a:p>
          <a:p>
            <a:pPr eaLnBrk="1" hangingPunct="1">
              <a:lnSpc>
                <a:spcPct val="90000"/>
              </a:lnSpc>
              <a:buSzPct val="75000"/>
            </a:pPr>
            <a:r>
              <a:rPr lang="en-US" altLang="zh-CN" sz="1500">
                <a:solidFill>
                  <a:srgbClr val="000000"/>
                </a:solidFill>
                <a:latin typeface="+mn-lt"/>
                <a:ea typeface="+mn-ea"/>
                <a:cs typeface="+mn-cs"/>
              </a:rPr>
              <a:t>  CLOSE c_dept_stat;</a:t>
            </a:r>
          </a:p>
          <a:p>
            <a:pPr eaLnBrk="1" hangingPunct="1">
              <a:lnSpc>
                <a:spcPct val="90000"/>
              </a:lnSpc>
              <a:buSzPct val="75000"/>
            </a:pPr>
            <a:r>
              <a:rPr lang="en-US" altLang="zh-CN" sz="1500">
                <a:solidFill>
                  <a:srgbClr val="000000"/>
                </a:solidFill>
                <a:latin typeface="+mn-lt"/>
                <a:ea typeface="+mn-ea"/>
                <a:cs typeface="+mn-cs"/>
              </a:rPr>
              <a:t>END; </a:t>
            </a:r>
          </a:p>
        </p:txBody>
      </p:sp>
      <p:sp>
        <p:nvSpPr>
          <p:cNvPr id="76802"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73</a:t>
            </a:fld>
            <a:endParaRPr lang="en-US" altLang="zh-CN">
              <a:solidFill>
                <a:srgbClr val="898989"/>
              </a:solidFill>
              <a:ea typeface="宋体" panose="02010600030101010101" pitchFamily="2" charset="-122"/>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7827"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endParaRPr lang="zh-CN" altLang="zh-CN">
              <a:solidFill>
                <a:srgbClr val="FFFFFF"/>
              </a:solidFill>
              <a:latin typeface="+mj-lt"/>
              <a:ea typeface="+mj-ea"/>
              <a:cs typeface="+mj-cs"/>
            </a:endParaRPr>
          </a:p>
        </p:txBody>
      </p:sp>
      <p:sp>
        <p:nvSpPr>
          <p:cNvPr id="77828"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lnSpc>
                <a:spcPct val="90000"/>
              </a:lnSpc>
              <a:buSzPct val="75000"/>
            </a:pPr>
            <a:r>
              <a:rPr lang="zh-CN" altLang="en-US" sz="1700">
                <a:solidFill>
                  <a:srgbClr val="000000"/>
                </a:solidFill>
                <a:latin typeface="+mn-lt"/>
                <a:ea typeface="+mn-ea"/>
                <a:cs typeface="+mn-cs"/>
              </a:rPr>
              <a:t>利用</a:t>
            </a:r>
            <a:r>
              <a:rPr lang="en-US" altLang="zh-CN" sz="1700">
                <a:solidFill>
                  <a:srgbClr val="000000"/>
                </a:solidFill>
                <a:latin typeface="+mn-lt"/>
                <a:ea typeface="+mn-ea"/>
                <a:cs typeface="+mn-cs"/>
              </a:rPr>
              <a:t>FOR</a:t>
            </a:r>
            <a:r>
              <a:rPr lang="zh-CN" altLang="en-US" sz="1700">
                <a:solidFill>
                  <a:srgbClr val="000000"/>
                </a:solidFill>
                <a:latin typeface="+mn-lt"/>
                <a:ea typeface="+mn-ea"/>
                <a:cs typeface="+mn-cs"/>
              </a:rPr>
              <a:t>循环检索游标</a:t>
            </a:r>
          </a:p>
          <a:p>
            <a:pPr lvl="1" eaLnBrk="1" hangingPunct="1">
              <a:lnSpc>
                <a:spcPct val="90000"/>
              </a:lnSpc>
              <a:buSzPct val="75000"/>
            </a:pPr>
            <a:r>
              <a:rPr lang="zh-CN" altLang="en-US" sz="1700">
                <a:solidFill>
                  <a:srgbClr val="000000"/>
                </a:solidFill>
                <a:latin typeface="+mn-lt"/>
                <a:ea typeface="华文仿宋" panose="02010600040101010101" pitchFamily="2" charset="-122"/>
              </a:rPr>
              <a:t>语法</a:t>
            </a:r>
          </a:p>
          <a:p>
            <a:pPr lvl="2" eaLnBrk="1" hangingPunct="1">
              <a:lnSpc>
                <a:spcPct val="90000"/>
              </a:lnSpc>
            </a:pPr>
            <a:r>
              <a:rPr lang="en-US" altLang="zh-CN" sz="1700">
                <a:solidFill>
                  <a:srgbClr val="000000"/>
                </a:solidFill>
              </a:rPr>
              <a:t>DECLARE</a:t>
            </a:r>
          </a:p>
          <a:p>
            <a:pPr lvl="2" eaLnBrk="1" hangingPunct="1">
              <a:lnSpc>
                <a:spcPct val="90000"/>
              </a:lnSpc>
            </a:pPr>
            <a:r>
              <a:rPr lang="en-US" altLang="zh-CN" sz="1700">
                <a:solidFill>
                  <a:srgbClr val="000000"/>
                </a:solidFill>
              </a:rPr>
              <a:t>CURSOR cursor_name IS SELECT</a:t>
            </a:r>
            <a:r>
              <a:rPr lang="en-GB" altLang="zh-CN" sz="1700">
                <a:solidFill>
                  <a:srgbClr val="000000"/>
                </a:solidFill>
                <a:latin typeface="华文仿宋" panose="02010600040101010101" pitchFamily="2" charset="-122"/>
              </a:rPr>
              <a:t>…</a:t>
            </a:r>
            <a:r>
              <a:rPr lang="en-US" altLang="zh-CN" sz="1700">
                <a:solidFill>
                  <a:srgbClr val="000000"/>
                </a:solidFill>
              </a:rPr>
              <a:t>;</a:t>
            </a:r>
          </a:p>
          <a:p>
            <a:pPr lvl="2" eaLnBrk="1" hangingPunct="1">
              <a:lnSpc>
                <a:spcPct val="90000"/>
              </a:lnSpc>
            </a:pPr>
            <a:r>
              <a:rPr lang="en-US" altLang="zh-CN" sz="1700">
                <a:solidFill>
                  <a:srgbClr val="000000"/>
                </a:solidFill>
              </a:rPr>
              <a:t>BEGIN</a:t>
            </a:r>
          </a:p>
          <a:p>
            <a:pPr lvl="2" eaLnBrk="1" hangingPunct="1">
              <a:lnSpc>
                <a:spcPct val="90000"/>
              </a:lnSpc>
            </a:pPr>
            <a:r>
              <a:rPr lang="en-US" altLang="zh-CN" sz="1700">
                <a:solidFill>
                  <a:srgbClr val="000000"/>
                </a:solidFill>
              </a:rPr>
              <a:t>FOR loop_variable IN cursor_name LOOP</a:t>
            </a:r>
          </a:p>
          <a:p>
            <a:pPr lvl="2" eaLnBrk="1" hangingPunct="1">
              <a:lnSpc>
                <a:spcPct val="90000"/>
              </a:lnSpc>
            </a:pPr>
            <a:r>
              <a:rPr lang="en-US" altLang="zh-CN" sz="1700">
                <a:solidFill>
                  <a:srgbClr val="000000"/>
                </a:solidFill>
              </a:rPr>
              <a:t>  </a:t>
            </a:r>
            <a:r>
              <a:rPr lang="en-GB" altLang="zh-CN" sz="1700">
                <a:solidFill>
                  <a:srgbClr val="000000"/>
                </a:solidFill>
                <a:latin typeface="华文仿宋" panose="02010600040101010101" pitchFamily="2" charset="-122"/>
              </a:rPr>
              <a:t>……</a:t>
            </a:r>
            <a:endParaRPr lang="en-US" altLang="zh-CN" sz="1700">
              <a:solidFill>
                <a:srgbClr val="000000"/>
              </a:solidFill>
            </a:endParaRPr>
          </a:p>
          <a:p>
            <a:pPr lvl="2" eaLnBrk="1" hangingPunct="1">
              <a:lnSpc>
                <a:spcPct val="90000"/>
              </a:lnSpc>
            </a:pPr>
            <a:r>
              <a:rPr lang="en-US" altLang="zh-CN" sz="1700">
                <a:solidFill>
                  <a:srgbClr val="000000"/>
                </a:solidFill>
              </a:rPr>
              <a:t>END LOOP;</a:t>
            </a:r>
          </a:p>
          <a:p>
            <a:pPr lvl="2" eaLnBrk="1" hangingPunct="1">
              <a:lnSpc>
                <a:spcPct val="90000"/>
              </a:lnSpc>
            </a:pPr>
            <a:r>
              <a:rPr lang="en-US" altLang="zh-CN" sz="1700">
                <a:solidFill>
                  <a:srgbClr val="000000"/>
                </a:solidFill>
              </a:rPr>
              <a:t>END; </a:t>
            </a:r>
          </a:p>
        </p:txBody>
      </p:sp>
      <p:sp>
        <p:nvSpPr>
          <p:cNvPr id="77826"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74</a:t>
            </a:fld>
            <a:endParaRPr lang="en-US" altLang="zh-CN">
              <a:solidFill>
                <a:srgbClr val="898989"/>
              </a:solidFill>
              <a:ea typeface="宋体" panose="02010600030101010101" pitchFamily="2"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8851"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endParaRPr lang="zh-CN" altLang="zh-CN">
              <a:solidFill>
                <a:srgbClr val="FFFFFF"/>
              </a:solidFill>
              <a:latin typeface="+mj-lt"/>
              <a:ea typeface="+mj-ea"/>
              <a:cs typeface="+mj-cs"/>
            </a:endParaRPr>
          </a:p>
        </p:txBody>
      </p:sp>
      <p:sp>
        <p:nvSpPr>
          <p:cNvPr id="78852"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buSzPct val="75000"/>
            </a:pPr>
            <a:r>
              <a:rPr lang="zh-CN" altLang="en-US" sz="2000">
                <a:solidFill>
                  <a:srgbClr val="000000"/>
                </a:solidFill>
                <a:latin typeface="+mn-lt"/>
                <a:ea typeface="+mn-ea"/>
                <a:cs typeface="+mn-cs"/>
              </a:rPr>
              <a:t>系统隐含地定义了一个数据类型为</a:t>
            </a:r>
            <a:r>
              <a:rPr lang="en-US" altLang="zh-CN" sz="2000">
                <a:solidFill>
                  <a:srgbClr val="000000"/>
                </a:solidFill>
                <a:latin typeface="+mn-lt"/>
                <a:ea typeface="+mn-ea"/>
                <a:cs typeface="+mn-cs"/>
              </a:rPr>
              <a:t>%ROWTYPE</a:t>
            </a:r>
            <a:r>
              <a:rPr lang="zh-CN" altLang="en-US" sz="2000">
                <a:solidFill>
                  <a:srgbClr val="000000"/>
                </a:solidFill>
                <a:latin typeface="+mn-lt"/>
                <a:ea typeface="+mn-ea"/>
                <a:cs typeface="+mn-cs"/>
              </a:rPr>
              <a:t>的变量，并以此作为循环的计算器。</a:t>
            </a:r>
          </a:p>
          <a:p>
            <a:pPr eaLnBrk="1" hangingPunct="1">
              <a:buSzPct val="75000"/>
            </a:pPr>
            <a:r>
              <a:rPr lang="zh-CN" altLang="en-US" sz="2000">
                <a:solidFill>
                  <a:srgbClr val="000000"/>
                </a:solidFill>
                <a:latin typeface="+mn-lt"/>
                <a:ea typeface="+mn-ea"/>
                <a:cs typeface="+mn-cs"/>
              </a:rPr>
              <a:t>系统自动打开游标，不用显式地使用</a:t>
            </a:r>
            <a:r>
              <a:rPr lang="en-US" altLang="zh-CN" sz="2000">
                <a:solidFill>
                  <a:srgbClr val="000000"/>
                </a:solidFill>
                <a:latin typeface="+mn-lt"/>
                <a:ea typeface="+mn-ea"/>
                <a:cs typeface="+mn-cs"/>
              </a:rPr>
              <a:t>OPEN</a:t>
            </a:r>
            <a:r>
              <a:rPr lang="zh-CN" altLang="en-US" sz="2000">
                <a:solidFill>
                  <a:srgbClr val="000000"/>
                </a:solidFill>
                <a:latin typeface="+mn-lt"/>
                <a:ea typeface="+mn-ea"/>
                <a:cs typeface="+mn-cs"/>
              </a:rPr>
              <a:t>语句打开；</a:t>
            </a:r>
          </a:p>
          <a:p>
            <a:pPr eaLnBrk="1" hangingPunct="1">
              <a:buSzPct val="75000"/>
            </a:pPr>
            <a:r>
              <a:rPr lang="zh-CN" altLang="en-US" sz="2000">
                <a:solidFill>
                  <a:srgbClr val="000000"/>
                </a:solidFill>
                <a:latin typeface="+mn-lt"/>
                <a:ea typeface="+mn-ea"/>
                <a:cs typeface="+mn-cs"/>
              </a:rPr>
              <a:t>系统重复地自动从游标工作区中提取数据并放入计数器变量中。</a:t>
            </a:r>
          </a:p>
          <a:p>
            <a:pPr eaLnBrk="1" hangingPunct="1">
              <a:buSzPct val="75000"/>
            </a:pPr>
            <a:r>
              <a:rPr lang="zh-CN" altLang="en-US" sz="2000">
                <a:solidFill>
                  <a:srgbClr val="000000"/>
                </a:solidFill>
                <a:latin typeface="+mn-lt"/>
                <a:ea typeface="+mn-ea"/>
                <a:cs typeface="+mn-cs"/>
              </a:rPr>
              <a:t>系统自动进行</a:t>
            </a:r>
            <a:r>
              <a:rPr lang="en-US" altLang="zh-CN" sz="2000">
                <a:solidFill>
                  <a:srgbClr val="000000"/>
                </a:solidFill>
                <a:latin typeface="+mn-lt"/>
                <a:ea typeface="+mn-ea"/>
                <a:cs typeface="+mn-cs"/>
              </a:rPr>
              <a:t>%FOUND</a:t>
            </a:r>
            <a:r>
              <a:rPr lang="zh-CN" altLang="en-US" sz="2000">
                <a:solidFill>
                  <a:srgbClr val="000000"/>
                </a:solidFill>
                <a:latin typeface="+mn-lt"/>
                <a:ea typeface="+mn-ea"/>
                <a:cs typeface="+mn-cs"/>
              </a:rPr>
              <a:t>属性检查以确定是否有数据</a:t>
            </a:r>
          </a:p>
          <a:p>
            <a:pPr eaLnBrk="1" hangingPunct="1">
              <a:buSzPct val="75000"/>
            </a:pPr>
            <a:r>
              <a:rPr lang="zh-CN" altLang="en-US" sz="2000">
                <a:solidFill>
                  <a:srgbClr val="000000"/>
                </a:solidFill>
                <a:latin typeface="+mn-lt"/>
                <a:ea typeface="+mn-ea"/>
                <a:cs typeface="+mn-cs"/>
              </a:rPr>
              <a:t>当游标工作区中所有的记录都被提取完毕或循环中断时，系统自动地关闭游标。</a:t>
            </a:r>
          </a:p>
        </p:txBody>
      </p:sp>
      <p:sp>
        <p:nvSpPr>
          <p:cNvPr id="78850"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75</a:t>
            </a:fld>
            <a:endParaRPr lang="en-US" altLang="zh-CN">
              <a:solidFill>
                <a:srgbClr val="898989"/>
              </a:solidFill>
              <a:ea typeface="宋体" panose="02010600030101010101" pitchFamily="2"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9875"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endParaRPr lang="zh-CN" altLang="zh-CN">
              <a:solidFill>
                <a:srgbClr val="FFFFFF"/>
              </a:solidFill>
              <a:latin typeface="+mj-lt"/>
              <a:ea typeface="+mj-ea"/>
              <a:cs typeface="+mj-cs"/>
            </a:endParaRPr>
          </a:p>
        </p:txBody>
      </p:sp>
      <p:sp>
        <p:nvSpPr>
          <p:cNvPr id="79876"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lnSpc>
                <a:spcPct val="90000"/>
              </a:lnSpc>
              <a:buSzPct val="75000"/>
            </a:pPr>
            <a:r>
              <a:rPr lang="zh-CN" altLang="en-US" sz="1400">
                <a:solidFill>
                  <a:srgbClr val="000000"/>
                </a:solidFill>
                <a:latin typeface="+mn-lt"/>
                <a:ea typeface="+mn-ea"/>
                <a:cs typeface="+mn-cs"/>
              </a:rPr>
              <a:t>利用</a:t>
            </a:r>
            <a:r>
              <a:rPr lang="en-US" altLang="zh-CN" sz="1400">
                <a:solidFill>
                  <a:srgbClr val="000000"/>
                </a:solidFill>
                <a:latin typeface="+mn-lt"/>
                <a:ea typeface="+mn-ea"/>
                <a:cs typeface="+mn-cs"/>
              </a:rPr>
              <a:t>FOR</a:t>
            </a:r>
            <a:r>
              <a:rPr lang="zh-CN" altLang="en-US" sz="1400">
                <a:solidFill>
                  <a:srgbClr val="000000"/>
                </a:solidFill>
                <a:latin typeface="+mn-lt"/>
                <a:ea typeface="+mn-ea"/>
                <a:cs typeface="+mn-cs"/>
              </a:rPr>
              <a:t>循环统计并输出各个部门的平均工资。</a:t>
            </a:r>
          </a:p>
          <a:p>
            <a:pPr eaLnBrk="1" hangingPunct="1">
              <a:lnSpc>
                <a:spcPct val="90000"/>
              </a:lnSpc>
              <a:buSzPct val="75000"/>
            </a:pPr>
            <a:r>
              <a:rPr lang="en-US" altLang="zh-CN" sz="1400">
                <a:solidFill>
                  <a:srgbClr val="000000"/>
                </a:solidFill>
                <a:latin typeface="+mn-lt"/>
                <a:ea typeface="+mn-ea"/>
                <a:cs typeface="+mn-cs"/>
              </a:rPr>
              <a:t>DECLARE</a:t>
            </a:r>
          </a:p>
          <a:p>
            <a:pPr eaLnBrk="1" hangingPunct="1">
              <a:lnSpc>
                <a:spcPct val="90000"/>
              </a:lnSpc>
              <a:buSzPct val="75000"/>
            </a:pPr>
            <a:r>
              <a:rPr lang="en-US" altLang="zh-CN" sz="1400">
                <a:solidFill>
                  <a:srgbClr val="000000"/>
                </a:solidFill>
                <a:latin typeface="+mn-lt"/>
                <a:ea typeface="+mn-ea"/>
                <a:cs typeface="+mn-cs"/>
              </a:rPr>
              <a:t>  CURSOR c_dept_stat IS </a:t>
            </a:r>
          </a:p>
          <a:p>
            <a:pPr eaLnBrk="1" hangingPunct="1">
              <a:lnSpc>
                <a:spcPct val="90000"/>
              </a:lnSpc>
              <a:buSzPct val="75000"/>
            </a:pPr>
            <a:r>
              <a:rPr lang="en-US" altLang="zh-CN" sz="1400">
                <a:solidFill>
                  <a:srgbClr val="000000"/>
                </a:solidFill>
                <a:latin typeface="+mn-lt"/>
                <a:ea typeface="+mn-ea"/>
                <a:cs typeface="+mn-cs"/>
              </a:rPr>
              <a:t>  SELECT department_id,avg(salary) avgsal</a:t>
            </a:r>
          </a:p>
          <a:p>
            <a:pPr eaLnBrk="1" hangingPunct="1">
              <a:lnSpc>
                <a:spcPct val="90000"/>
              </a:lnSpc>
              <a:buSzPct val="75000"/>
            </a:pPr>
            <a:r>
              <a:rPr lang="en-US" altLang="zh-CN" sz="1400">
                <a:solidFill>
                  <a:srgbClr val="000000"/>
                </a:solidFill>
                <a:latin typeface="+mn-lt"/>
                <a:ea typeface="+mn-ea"/>
                <a:cs typeface="+mn-cs"/>
              </a:rPr>
              <a:t>  FROM employees GROUP BY department_id;</a:t>
            </a:r>
          </a:p>
          <a:p>
            <a:pPr eaLnBrk="1" hangingPunct="1">
              <a:lnSpc>
                <a:spcPct val="90000"/>
              </a:lnSpc>
              <a:buSzPct val="75000"/>
            </a:pPr>
            <a:r>
              <a:rPr lang="en-US" altLang="zh-CN" sz="1400">
                <a:solidFill>
                  <a:srgbClr val="000000"/>
                </a:solidFill>
                <a:latin typeface="+mn-lt"/>
                <a:ea typeface="+mn-ea"/>
                <a:cs typeface="+mn-cs"/>
              </a:rPr>
              <a:t>BEGIN</a:t>
            </a:r>
          </a:p>
          <a:p>
            <a:pPr eaLnBrk="1" hangingPunct="1">
              <a:lnSpc>
                <a:spcPct val="90000"/>
              </a:lnSpc>
              <a:buSzPct val="75000"/>
            </a:pPr>
            <a:r>
              <a:rPr lang="en-US" altLang="zh-CN" sz="1400">
                <a:solidFill>
                  <a:srgbClr val="000000"/>
                </a:solidFill>
                <a:latin typeface="+mn-lt"/>
                <a:ea typeface="+mn-ea"/>
                <a:cs typeface="+mn-cs"/>
              </a:rPr>
              <a:t>  FOR v_dept IN c_dept_stat LOOP</a:t>
            </a:r>
          </a:p>
          <a:p>
            <a:pPr eaLnBrk="1" hangingPunct="1">
              <a:lnSpc>
                <a:spcPct val="90000"/>
              </a:lnSpc>
              <a:buSzPct val="75000"/>
            </a:pPr>
            <a:r>
              <a:rPr lang="en-US" altLang="zh-CN" sz="1400">
                <a:solidFill>
                  <a:srgbClr val="000000"/>
                </a:solidFill>
                <a:latin typeface="+mn-lt"/>
                <a:ea typeface="+mn-ea"/>
                <a:cs typeface="+mn-cs"/>
              </a:rPr>
              <a:t>    DBMS_OUTPUT.PUT_LINE(v_dept.department_id||' '||</a:t>
            </a:r>
          </a:p>
          <a:p>
            <a:pPr eaLnBrk="1" hangingPunct="1">
              <a:lnSpc>
                <a:spcPct val="90000"/>
              </a:lnSpc>
              <a:buSzPct val="75000"/>
            </a:pPr>
            <a:r>
              <a:rPr lang="en-US" altLang="zh-CN" sz="1400">
                <a:solidFill>
                  <a:srgbClr val="000000"/>
                </a:solidFill>
                <a:latin typeface="+mn-lt"/>
                <a:ea typeface="+mn-ea"/>
                <a:cs typeface="+mn-cs"/>
              </a:rPr>
              <a:t>                                           v_dept.avgsal);</a:t>
            </a:r>
          </a:p>
          <a:p>
            <a:pPr eaLnBrk="1" hangingPunct="1">
              <a:lnSpc>
                <a:spcPct val="90000"/>
              </a:lnSpc>
              <a:buSzPct val="75000"/>
            </a:pPr>
            <a:r>
              <a:rPr lang="en-US" altLang="zh-CN" sz="1400">
                <a:solidFill>
                  <a:srgbClr val="000000"/>
                </a:solidFill>
                <a:latin typeface="+mn-lt"/>
                <a:ea typeface="+mn-ea"/>
                <a:cs typeface="+mn-cs"/>
              </a:rPr>
              <a:t>  END LOOP; </a:t>
            </a:r>
          </a:p>
          <a:p>
            <a:pPr eaLnBrk="1" hangingPunct="1">
              <a:lnSpc>
                <a:spcPct val="90000"/>
              </a:lnSpc>
              <a:buSzPct val="75000"/>
            </a:pPr>
            <a:r>
              <a:rPr lang="en-US" altLang="zh-CN" sz="1400">
                <a:solidFill>
                  <a:srgbClr val="000000"/>
                </a:solidFill>
                <a:latin typeface="+mn-lt"/>
                <a:ea typeface="+mn-ea"/>
                <a:cs typeface="+mn-cs"/>
              </a:rPr>
              <a:t>END; </a:t>
            </a:r>
          </a:p>
        </p:txBody>
      </p:sp>
      <p:sp>
        <p:nvSpPr>
          <p:cNvPr id="79874"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76</a:t>
            </a:fld>
            <a:endParaRPr lang="en-US" altLang="zh-CN">
              <a:solidFill>
                <a:srgbClr val="898989"/>
              </a:solidFill>
              <a:ea typeface="宋体" panose="02010600030101010101" pitchFamily="2" charset="-12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2" name="Rectangle 71">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4" name="Picture 73">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0899"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lnSpc>
                <a:spcPct val="90000"/>
              </a:lnSpc>
              <a:buSzPct val="75000"/>
            </a:pPr>
            <a:r>
              <a:rPr lang="zh-CN" altLang="en-US" sz="1400">
                <a:solidFill>
                  <a:srgbClr val="000000"/>
                </a:solidFill>
                <a:latin typeface="+mn-lt"/>
                <a:ea typeface="+mn-ea"/>
                <a:cs typeface="+mn-cs"/>
              </a:rPr>
              <a:t>由于用</a:t>
            </a:r>
            <a:r>
              <a:rPr lang="en-US" altLang="zh-CN" sz="1400">
                <a:solidFill>
                  <a:srgbClr val="000000"/>
                </a:solidFill>
                <a:latin typeface="+mn-lt"/>
                <a:ea typeface="+mn-ea"/>
                <a:cs typeface="+mn-cs"/>
              </a:rPr>
              <a:t>FOR</a:t>
            </a:r>
            <a:r>
              <a:rPr lang="zh-CN" altLang="en-US" sz="1400">
                <a:solidFill>
                  <a:srgbClr val="000000"/>
                </a:solidFill>
                <a:latin typeface="+mn-lt"/>
                <a:ea typeface="+mn-ea"/>
                <a:cs typeface="+mn-cs"/>
              </a:rPr>
              <a:t>循环检索游标时，游标的打开、数据的检索、是否检索到数据的判断以及游标的关闭都是自动进行的，因此，可以不在声明部分定义游标，而在</a:t>
            </a:r>
            <a:r>
              <a:rPr lang="en-US" altLang="zh-CN" sz="1400">
                <a:solidFill>
                  <a:srgbClr val="000000"/>
                </a:solidFill>
                <a:latin typeface="+mn-lt"/>
                <a:ea typeface="+mn-ea"/>
                <a:cs typeface="+mn-cs"/>
              </a:rPr>
              <a:t>FOR</a:t>
            </a:r>
            <a:r>
              <a:rPr lang="zh-CN" altLang="en-US" sz="1400">
                <a:solidFill>
                  <a:srgbClr val="000000"/>
                </a:solidFill>
                <a:latin typeface="+mn-lt"/>
                <a:ea typeface="+mn-ea"/>
                <a:cs typeface="+mn-cs"/>
              </a:rPr>
              <a:t>语句中直接使用子查询。</a:t>
            </a:r>
          </a:p>
          <a:p>
            <a:pPr eaLnBrk="1" hangingPunct="1">
              <a:lnSpc>
                <a:spcPct val="90000"/>
              </a:lnSpc>
              <a:buSzPct val="75000"/>
            </a:pPr>
            <a:endParaRPr lang="zh-CN" altLang="en-US" sz="1400">
              <a:solidFill>
                <a:srgbClr val="000000"/>
              </a:solidFill>
              <a:latin typeface="+mn-lt"/>
              <a:ea typeface="+mn-ea"/>
              <a:cs typeface="+mn-cs"/>
            </a:endParaRPr>
          </a:p>
          <a:p>
            <a:pPr eaLnBrk="1" hangingPunct="1">
              <a:lnSpc>
                <a:spcPct val="90000"/>
              </a:lnSpc>
              <a:buSzPct val="75000"/>
            </a:pPr>
            <a:r>
              <a:rPr lang="en-US" altLang="zh-CN" sz="1400" b="1">
                <a:solidFill>
                  <a:srgbClr val="000000"/>
                </a:solidFill>
                <a:latin typeface="+mn-lt"/>
                <a:ea typeface="+mn-ea"/>
                <a:cs typeface="+mn-cs"/>
              </a:rPr>
              <a:t>BEGIN</a:t>
            </a:r>
          </a:p>
          <a:p>
            <a:pPr eaLnBrk="1" hangingPunct="1">
              <a:lnSpc>
                <a:spcPct val="90000"/>
              </a:lnSpc>
              <a:buSzPct val="75000"/>
            </a:pPr>
            <a:r>
              <a:rPr lang="en-US" altLang="zh-CN" sz="1400" b="1">
                <a:solidFill>
                  <a:srgbClr val="000000"/>
                </a:solidFill>
                <a:latin typeface="+mn-lt"/>
                <a:ea typeface="+mn-ea"/>
                <a:cs typeface="+mn-cs"/>
              </a:rPr>
              <a:t>  FOR v_dept IN  (SELECT department_id,</a:t>
            </a:r>
          </a:p>
          <a:p>
            <a:pPr eaLnBrk="1" hangingPunct="1">
              <a:lnSpc>
                <a:spcPct val="90000"/>
              </a:lnSpc>
              <a:buSzPct val="75000"/>
            </a:pPr>
            <a:r>
              <a:rPr lang="en-US" altLang="zh-CN" sz="1400" b="1">
                <a:solidFill>
                  <a:srgbClr val="000000"/>
                </a:solidFill>
                <a:latin typeface="+mn-lt"/>
                <a:ea typeface="+mn-ea"/>
                <a:cs typeface="+mn-cs"/>
              </a:rPr>
              <a:t>    avg(salary)  avgsal FROM employees </a:t>
            </a:r>
          </a:p>
          <a:p>
            <a:pPr eaLnBrk="1" hangingPunct="1">
              <a:lnSpc>
                <a:spcPct val="90000"/>
              </a:lnSpc>
              <a:buSzPct val="75000"/>
            </a:pPr>
            <a:r>
              <a:rPr lang="en-US" altLang="zh-CN" sz="1400" b="1">
                <a:solidFill>
                  <a:srgbClr val="000000"/>
                </a:solidFill>
                <a:latin typeface="+mn-lt"/>
                <a:ea typeface="+mn-ea"/>
                <a:cs typeface="+mn-cs"/>
              </a:rPr>
              <a:t>    GROUP BY department_id)  LOOP</a:t>
            </a:r>
          </a:p>
          <a:p>
            <a:pPr eaLnBrk="1" hangingPunct="1">
              <a:lnSpc>
                <a:spcPct val="90000"/>
              </a:lnSpc>
              <a:buSzPct val="75000"/>
            </a:pPr>
            <a:r>
              <a:rPr lang="en-US" altLang="zh-CN" sz="1400" b="1">
                <a:solidFill>
                  <a:srgbClr val="000000"/>
                </a:solidFill>
                <a:latin typeface="+mn-lt"/>
                <a:ea typeface="+mn-ea"/>
                <a:cs typeface="+mn-cs"/>
              </a:rPr>
              <a:t>    DBMS_OUTPUT.PUT_LINE(v_dept.department_id</a:t>
            </a:r>
          </a:p>
          <a:p>
            <a:pPr eaLnBrk="1" hangingPunct="1">
              <a:lnSpc>
                <a:spcPct val="90000"/>
              </a:lnSpc>
              <a:buSzPct val="75000"/>
            </a:pPr>
            <a:r>
              <a:rPr lang="en-US" altLang="zh-CN" sz="1400" b="1">
                <a:solidFill>
                  <a:srgbClr val="000000"/>
                </a:solidFill>
                <a:latin typeface="+mn-lt"/>
                <a:ea typeface="+mn-ea"/>
                <a:cs typeface="+mn-cs"/>
              </a:rPr>
              <a:t>    ||' '||v_dept.avgsal);</a:t>
            </a:r>
          </a:p>
          <a:p>
            <a:pPr eaLnBrk="1" hangingPunct="1">
              <a:lnSpc>
                <a:spcPct val="90000"/>
              </a:lnSpc>
              <a:buSzPct val="75000"/>
            </a:pPr>
            <a:r>
              <a:rPr lang="en-US" altLang="zh-CN" sz="1400" b="1">
                <a:solidFill>
                  <a:srgbClr val="000000"/>
                </a:solidFill>
                <a:latin typeface="+mn-lt"/>
                <a:ea typeface="+mn-ea"/>
                <a:cs typeface="+mn-cs"/>
              </a:rPr>
              <a:t>  END LOOP; </a:t>
            </a:r>
          </a:p>
          <a:p>
            <a:pPr eaLnBrk="1" hangingPunct="1">
              <a:lnSpc>
                <a:spcPct val="90000"/>
              </a:lnSpc>
              <a:buSzPct val="75000"/>
            </a:pPr>
            <a:r>
              <a:rPr lang="en-US" altLang="zh-CN" sz="1400" b="1">
                <a:solidFill>
                  <a:srgbClr val="000000"/>
                </a:solidFill>
                <a:latin typeface="+mn-lt"/>
                <a:ea typeface="+mn-ea"/>
                <a:cs typeface="+mn-cs"/>
              </a:rPr>
              <a:t>END;</a:t>
            </a:r>
            <a:r>
              <a:rPr lang="en-US" altLang="zh-CN" sz="1400">
                <a:solidFill>
                  <a:srgbClr val="000000"/>
                </a:solidFill>
                <a:latin typeface="+mn-lt"/>
                <a:ea typeface="+mn-ea"/>
                <a:cs typeface="+mn-cs"/>
              </a:rPr>
              <a:t> </a:t>
            </a:r>
            <a:endParaRPr lang="en-US" altLang="zh-CN" sz="1400" b="1">
              <a:solidFill>
                <a:srgbClr val="000000"/>
              </a:solidFill>
              <a:latin typeface="+mn-lt"/>
              <a:ea typeface="+mn-ea"/>
              <a:cs typeface="+mn-cs"/>
            </a:endParaRPr>
          </a:p>
          <a:p>
            <a:pPr eaLnBrk="1" hangingPunct="1">
              <a:lnSpc>
                <a:spcPct val="90000"/>
              </a:lnSpc>
              <a:buSzPct val="75000"/>
            </a:pPr>
            <a:endParaRPr lang="en-US" altLang="zh-CN" sz="1400">
              <a:solidFill>
                <a:srgbClr val="000000"/>
              </a:solidFill>
              <a:latin typeface="+mn-lt"/>
              <a:ea typeface="+mn-ea"/>
              <a:cs typeface="+mn-cs"/>
            </a:endParaRPr>
          </a:p>
        </p:txBody>
      </p:sp>
      <p:sp>
        <p:nvSpPr>
          <p:cNvPr id="80898"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77</a:t>
            </a:fld>
            <a:endParaRPr lang="en-US" altLang="zh-CN">
              <a:solidFill>
                <a:srgbClr val="898989"/>
              </a:solidFill>
              <a:ea typeface="宋体" panose="02010600030101010101" pitchFamily="2"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1923"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r>
              <a:rPr lang="en-GB" altLang="zh-CN">
                <a:solidFill>
                  <a:srgbClr val="FFFFFF"/>
                </a:solidFill>
                <a:latin typeface="+mj-lt"/>
                <a:ea typeface="+mj-ea"/>
                <a:cs typeface="+mj-cs"/>
              </a:rPr>
              <a:t>9.7.5 </a:t>
            </a:r>
            <a:r>
              <a:rPr lang="zh-CN" altLang="en-US">
                <a:solidFill>
                  <a:srgbClr val="FFFFFF"/>
                </a:solidFill>
                <a:latin typeface="+mj-lt"/>
                <a:ea typeface="+mj-ea"/>
                <a:cs typeface="+mj-cs"/>
              </a:rPr>
              <a:t>隐式游标</a:t>
            </a:r>
          </a:p>
        </p:txBody>
      </p:sp>
      <p:sp>
        <p:nvSpPr>
          <p:cNvPr id="81924"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buSzPct val="75000"/>
            </a:pPr>
            <a:r>
              <a:rPr lang="zh-CN" altLang="en-US" sz="2000">
                <a:solidFill>
                  <a:srgbClr val="000000"/>
                </a:solidFill>
                <a:latin typeface="+mn-lt"/>
                <a:ea typeface="+mn-ea"/>
                <a:cs typeface="+mn-cs"/>
              </a:rPr>
              <a:t>概念</a:t>
            </a:r>
          </a:p>
          <a:p>
            <a:pPr lvl="1" eaLnBrk="1" hangingPunct="1">
              <a:buSzPct val="75000"/>
            </a:pPr>
            <a:r>
              <a:rPr lang="zh-CN" altLang="en-US" sz="2000">
                <a:solidFill>
                  <a:srgbClr val="000000"/>
                </a:solidFill>
                <a:latin typeface="+mn-lt"/>
                <a:ea typeface="华文仿宋" panose="02010600040101010101" pitchFamily="2" charset="-122"/>
              </a:rPr>
              <a:t>所有的</a:t>
            </a:r>
            <a:r>
              <a:rPr lang="en-US" altLang="zh-CN" sz="2000">
                <a:solidFill>
                  <a:srgbClr val="000000"/>
                </a:solidFill>
                <a:latin typeface="+mn-lt"/>
                <a:ea typeface="华文仿宋" panose="02010600040101010101" pitchFamily="2" charset="-122"/>
              </a:rPr>
              <a:t>SQL</a:t>
            </a:r>
            <a:r>
              <a:rPr lang="zh-CN" altLang="en-US" sz="2000">
                <a:solidFill>
                  <a:srgbClr val="000000"/>
                </a:solidFill>
                <a:latin typeface="+mn-lt"/>
                <a:ea typeface="华文仿宋" panose="02010600040101010101" pitchFamily="2" charset="-122"/>
              </a:rPr>
              <a:t>语句都有一个执行的缓冲区，隐式游标就是指向该缓冲区的指针，由系统隐含地打开、处理和关闭。隐式游标又称为</a:t>
            </a:r>
            <a:r>
              <a:rPr lang="en-US" altLang="zh-CN" sz="2000">
                <a:solidFill>
                  <a:srgbClr val="000000"/>
                </a:solidFill>
                <a:latin typeface="+mn-lt"/>
                <a:ea typeface="华文仿宋" panose="02010600040101010101" pitchFamily="2" charset="-122"/>
              </a:rPr>
              <a:t>SQL</a:t>
            </a:r>
            <a:r>
              <a:rPr lang="zh-CN" altLang="en-US" sz="2000">
                <a:solidFill>
                  <a:srgbClr val="000000"/>
                </a:solidFill>
                <a:latin typeface="+mn-lt"/>
                <a:ea typeface="华文仿宋" panose="02010600040101010101" pitchFamily="2" charset="-122"/>
              </a:rPr>
              <a:t>游标。</a:t>
            </a:r>
          </a:p>
          <a:p>
            <a:pPr lvl="1" eaLnBrk="1" hangingPunct="1">
              <a:buSzPct val="75000"/>
            </a:pPr>
            <a:r>
              <a:rPr lang="zh-CN" altLang="en-US" sz="2000">
                <a:solidFill>
                  <a:srgbClr val="000000"/>
                </a:solidFill>
                <a:latin typeface="+mn-lt"/>
                <a:ea typeface="华文仿宋" panose="02010600040101010101" pitchFamily="2" charset="-122"/>
              </a:rPr>
              <a:t>隐式游标主要用于处理</a:t>
            </a:r>
            <a:r>
              <a:rPr lang="en-US" altLang="zh-CN" sz="2000">
                <a:solidFill>
                  <a:srgbClr val="000000"/>
                </a:solidFill>
                <a:latin typeface="+mn-lt"/>
                <a:ea typeface="华文仿宋" panose="02010600040101010101" pitchFamily="2" charset="-122"/>
              </a:rPr>
              <a:t>INSERT</a:t>
            </a:r>
            <a:r>
              <a:rPr lang="zh-CN" altLang="en-US" sz="2000">
                <a:solidFill>
                  <a:srgbClr val="000000"/>
                </a:solidFill>
                <a:latin typeface="+mn-lt"/>
                <a:ea typeface="华文仿宋" panose="02010600040101010101" pitchFamily="2" charset="-122"/>
              </a:rPr>
              <a:t>、</a:t>
            </a:r>
            <a:r>
              <a:rPr lang="en-US" altLang="zh-CN" sz="2000">
                <a:solidFill>
                  <a:srgbClr val="000000"/>
                </a:solidFill>
                <a:latin typeface="+mn-lt"/>
                <a:ea typeface="华文仿宋" panose="02010600040101010101" pitchFamily="2" charset="-122"/>
              </a:rPr>
              <a:t>UPDATE</a:t>
            </a:r>
            <a:r>
              <a:rPr lang="zh-CN" altLang="en-US" sz="2000">
                <a:solidFill>
                  <a:srgbClr val="000000"/>
                </a:solidFill>
                <a:latin typeface="+mn-lt"/>
                <a:ea typeface="华文仿宋" panose="02010600040101010101" pitchFamily="2" charset="-122"/>
              </a:rPr>
              <a:t>，</a:t>
            </a:r>
            <a:r>
              <a:rPr lang="en-US" altLang="zh-CN" sz="2000">
                <a:solidFill>
                  <a:srgbClr val="000000"/>
                </a:solidFill>
                <a:latin typeface="+mn-lt"/>
                <a:ea typeface="华文仿宋" panose="02010600040101010101" pitchFamily="2" charset="-122"/>
              </a:rPr>
              <a:t>DELETE</a:t>
            </a:r>
            <a:r>
              <a:rPr lang="zh-CN" altLang="en-US" sz="2000">
                <a:solidFill>
                  <a:srgbClr val="000000"/>
                </a:solidFill>
                <a:latin typeface="+mn-lt"/>
                <a:ea typeface="华文仿宋" panose="02010600040101010101" pitchFamily="2" charset="-122"/>
              </a:rPr>
              <a:t>以及单行的</a:t>
            </a:r>
            <a:r>
              <a:rPr lang="en-US" altLang="zh-CN" sz="2000">
                <a:solidFill>
                  <a:srgbClr val="000000"/>
                </a:solidFill>
                <a:latin typeface="+mn-lt"/>
                <a:ea typeface="华文仿宋" panose="02010600040101010101" pitchFamily="2" charset="-122"/>
              </a:rPr>
              <a:t>SELECT</a:t>
            </a:r>
            <a:r>
              <a:rPr lang="en-US" altLang="zh-CN" sz="2000">
                <a:solidFill>
                  <a:srgbClr val="000000"/>
                </a:solidFill>
                <a:latin typeface="华文仿宋" panose="02010600040101010101" pitchFamily="2" charset="-122"/>
                <a:ea typeface="华文仿宋" panose="02010600040101010101" pitchFamily="2" charset="-122"/>
              </a:rPr>
              <a:t>…</a:t>
            </a:r>
            <a:r>
              <a:rPr lang="en-US" altLang="zh-CN" sz="2000">
                <a:solidFill>
                  <a:srgbClr val="000000"/>
                </a:solidFill>
                <a:latin typeface="+mn-lt"/>
                <a:ea typeface="华文仿宋" panose="02010600040101010101" pitchFamily="2" charset="-122"/>
              </a:rPr>
              <a:t>INTO</a:t>
            </a:r>
            <a:r>
              <a:rPr lang="zh-CN" altLang="en-US" sz="2000">
                <a:solidFill>
                  <a:srgbClr val="000000"/>
                </a:solidFill>
                <a:latin typeface="+mn-lt"/>
                <a:ea typeface="华文仿宋" panose="02010600040101010101" pitchFamily="2" charset="-122"/>
              </a:rPr>
              <a:t>语句，没有</a:t>
            </a:r>
            <a:r>
              <a:rPr lang="en-US" altLang="zh-CN" sz="2000">
                <a:solidFill>
                  <a:srgbClr val="000000"/>
                </a:solidFill>
                <a:latin typeface="+mn-lt"/>
                <a:ea typeface="华文仿宋" panose="02010600040101010101" pitchFamily="2" charset="-122"/>
              </a:rPr>
              <a:t>OPEN</a:t>
            </a:r>
            <a:r>
              <a:rPr lang="zh-CN" altLang="en-US" sz="2000">
                <a:solidFill>
                  <a:srgbClr val="000000"/>
                </a:solidFill>
                <a:latin typeface="+mn-lt"/>
                <a:ea typeface="华文仿宋" panose="02010600040101010101" pitchFamily="2" charset="-122"/>
              </a:rPr>
              <a:t>，</a:t>
            </a:r>
            <a:r>
              <a:rPr lang="en-US" altLang="zh-CN" sz="2000">
                <a:solidFill>
                  <a:srgbClr val="000000"/>
                </a:solidFill>
                <a:latin typeface="+mn-lt"/>
                <a:ea typeface="华文仿宋" panose="02010600040101010101" pitchFamily="2" charset="-122"/>
              </a:rPr>
              <a:t>FETCH</a:t>
            </a:r>
            <a:r>
              <a:rPr lang="zh-CN" altLang="en-US" sz="2000">
                <a:solidFill>
                  <a:srgbClr val="000000"/>
                </a:solidFill>
                <a:latin typeface="+mn-lt"/>
                <a:ea typeface="华文仿宋" panose="02010600040101010101" pitchFamily="2" charset="-122"/>
              </a:rPr>
              <a:t>，</a:t>
            </a:r>
            <a:r>
              <a:rPr lang="en-US" altLang="zh-CN" sz="2000">
                <a:solidFill>
                  <a:srgbClr val="000000"/>
                </a:solidFill>
                <a:latin typeface="+mn-lt"/>
                <a:ea typeface="华文仿宋" panose="02010600040101010101" pitchFamily="2" charset="-122"/>
              </a:rPr>
              <a:t>CLOSE</a:t>
            </a:r>
            <a:r>
              <a:rPr lang="zh-CN" altLang="en-US" sz="2000">
                <a:solidFill>
                  <a:srgbClr val="000000"/>
                </a:solidFill>
                <a:latin typeface="+mn-lt"/>
                <a:ea typeface="华文仿宋" panose="02010600040101010101" pitchFamily="2" charset="-122"/>
              </a:rPr>
              <a:t>等操作命令。</a:t>
            </a:r>
          </a:p>
        </p:txBody>
      </p:sp>
      <p:sp>
        <p:nvSpPr>
          <p:cNvPr id="81922"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78</a:t>
            </a:fld>
            <a:endParaRPr lang="en-US" altLang="zh-CN">
              <a:solidFill>
                <a:srgbClr val="898989"/>
              </a:solidFill>
              <a:ea typeface="宋体" panose="02010600030101010101" pitchFamily="2" charset="-12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2947"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endParaRPr lang="zh-CN" altLang="zh-CN">
              <a:solidFill>
                <a:srgbClr val="FFFFFF"/>
              </a:solidFill>
              <a:latin typeface="+mj-lt"/>
              <a:ea typeface="+mj-ea"/>
              <a:cs typeface="+mj-cs"/>
            </a:endParaRPr>
          </a:p>
        </p:txBody>
      </p:sp>
      <p:sp>
        <p:nvSpPr>
          <p:cNvPr id="82948"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buSzPct val="75000"/>
            </a:pPr>
            <a:r>
              <a:rPr lang="zh-CN" altLang="en-US" sz="1900">
                <a:solidFill>
                  <a:srgbClr val="000000"/>
                </a:solidFill>
                <a:latin typeface="+mn-lt"/>
                <a:ea typeface="+mn-ea"/>
                <a:cs typeface="+mn-cs"/>
              </a:rPr>
              <a:t>隐式游标属性</a:t>
            </a:r>
          </a:p>
          <a:p>
            <a:pPr lvl="1" eaLnBrk="1" hangingPunct="1">
              <a:buSzPct val="75000"/>
            </a:pPr>
            <a:r>
              <a:rPr lang="en-US" altLang="zh-CN" sz="1900" b="0">
                <a:solidFill>
                  <a:srgbClr val="000000"/>
                </a:solidFill>
                <a:latin typeface="+mn-lt"/>
                <a:ea typeface="黑体" panose="02010609060101010101" pitchFamily="49" charset="-122"/>
              </a:rPr>
              <a:t>SQL%ISOPEN</a:t>
            </a:r>
            <a:r>
              <a:rPr lang="zh-CN" altLang="en-US" sz="1900" b="0">
                <a:solidFill>
                  <a:srgbClr val="000000"/>
                </a:solidFill>
                <a:latin typeface="+mn-lt"/>
                <a:ea typeface="黑体" panose="02010609060101010101" pitchFamily="49" charset="-122"/>
              </a:rPr>
              <a:t>：布尔型值，判断隐式游标是否已经打开。对用户而言，该属性值始终为</a:t>
            </a:r>
            <a:r>
              <a:rPr lang="en-US" altLang="zh-CN" sz="1900" b="0">
                <a:solidFill>
                  <a:srgbClr val="000000"/>
                </a:solidFill>
                <a:latin typeface="+mn-lt"/>
                <a:ea typeface="黑体" panose="02010609060101010101" pitchFamily="49" charset="-122"/>
              </a:rPr>
              <a:t>FALSE</a:t>
            </a:r>
            <a:r>
              <a:rPr lang="zh-CN" altLang="en-US" sz="1900" b="0">
                <a:solidFill>
                  <a:srgbClr val="000000"/>
                </a:solidFill>
                <a:latin typeface="+mn-lt"/>
                <a:ea typeface="黑体" panose="02010609060101010101" pitchFamily="49" charset="-122"/>
              </a:rPr>
              <a:t>，因为操作时系统自动打开，操作完后立即自动关闭。</a:t>
            </a:r>
          </a:p>
          <a:p>
            <a:pPr lvl="1" eaLnBrk="1" hangingPunct="1">
              <a:buSzPct val="75000"/>
            </a:pPr>
            <a:r>
              <a:rPr lang="en-US" altLang="zh-CN" sz="1900" b="0">
                <a:solidFill>
                  <a:srgbClr val="000000"/>
                </a:solidFill>
                <a:latin typeface="+mn-lt"/>
                <a:ea typeface="黑体" panose="02010609060101010101" pitchFamily="49" charset="-122"/>
              </a:rPr>
              <a:t>SQL%FOUND</a:t>
            </a:r>
            <a:r>
              <a:rPr lang="zh-CN" altLang="en-US" sz="1900" b="0">
                <a:solidFill>
                  <a:srgbClr val="000000"/>
                </a:solidFill>
                <a:latin typeface="+mn-lt"/>
                <a:ea typeface="黑体" panose="02010609060101010101" pitchFamily="49" charset="-122"/>
              </a:rPr>
              <a:t>：布尔型值，判断当前的操作是否会对数据库产生影响。如果有数据的插入、删除、修改或查询到数据，则返回</a:t>
            </a:r>
            <a:r>
              <a:rPr lang="en-US" altLang="zh-CN" sz="1900" b="0">
                <a:solidFill>
                  <a:srgbClr val="000000"/>
                </a:solidFill>
                <a:latin typeface="+mn-lt"/>
                <a:ea typeface="黑体" panose="02010609060101010101" pitchFamily="49" charset="-122"/>
              </a:rPr>
              <a:t>TRUE</a:t>
            </a:r>
            <a:r>
              <a:rPr lang="zh-CN" altLang="en-US" sz="1900" b="0">
                <a:solidFill>
                  <a:srgbClr val="000000"/>
                </a:solidFill>
                <a:latin typeface="+mn-lt"/>
                <a:ea typeface="黑体" panose="02010609060101010101" pitchFamily="49" charset="-122"/>
              </a:rPr>
              <a:t>，否则返回</a:t>
            </a:r>
            <a:r>
              <a:rPr lang="en-US" altLang="zh-CN" sz="1900" b="0">
                <a:solidFill>
                  <a:srgbClr val="000000"/>
                </a:solidFill>
                <a:latin typeface="+mn-lt"/>
                <a:ea typeface="黑体" panose="02010609060101010101" pitchFamily="49" charset="-122"/>
              </a:rPr>
              <a:t>FALSE</a:t>
            </a:r>
            <a:r>
              <a:rPr lang="zh-CN" altLang="en-US" sz="1900" b="0">
                <a:solidFill>
                  <a:srgbClr val="000000"/>
                </a:solidFill>
                <a:latin typeface="+mn-lt"/>
                <a:ea typeface="黑体" panose="02010609060101010101" pitchFamily="49" charset="-122"/>
              </a:rPr>
              <a:t>。</a:t>
            </a:r>
          </a:p>
          <a:p>
            <a:pPr lvl="1" eaLnBrk="1" hangingPunct="1">
              <a:buSzPct val="75000"/>
            </a:pPr>
            <a:r>
              <a:rPr lang="en-US" altLang="zh-CN" sz="1900" b="0">
                <a:solidFill>
                  <a:srgbClr val="000000"/>
                </a:solidFill>
                <a:latin typeface="+mn-lt"/>
                <a:ea typeface="黑体" panose="02010609060101010101" pitchFamily="49" charset="-122"/>
              </a:rPr>
              <a:t>SQL%NOTFOUND</a:t>
            </a:r>
            <a:r>
              <a:rPr lang="zh-CN" altLang="en-US" sz="1900" b="0">
                <a:solidFill>
                  <a:srgbClr val="000000"/>
                </a:solidFill>
                <a:latin typeface="+mn-lt"/>
                <a:ea typeface="黑体" panose="02010609060101010101" pitchFamily="49" charset="-122"/>
              </a:rPr>
              <a:t>：布尔型值，判断当前的操作是否对数据库产生影响。如果没有数据的插入、删除、修改或没有查询到数据，则返回</a:t>
            </a:r>
            <a:r>
              <a:rPr lang="en-US" altLang="zh-CN" sz="1900" b="0">
                <a:solidFill>
                  <a:srgbClr val="000000"/>
                </a:solidFill>
                <a:latin typeface="+mn-lt"/>
                <a:ea typeface="黑体" panose="02010609060101010101" pitchFamily="49" charset="-122"/>
              </a:rPr>
              <a:t>TRUE</a:t>
            </a:r>
            <a:r>
              <a:rPr lang="zh-CN" altLang="en-US" sz="1900" b="0">
                <a:solidFill>
                  <a:srgbClr val="000000"/>
                </a:solidFill>
                <a:latin typeface="+mn-lt"/>
                <a:ea typeface="黑体" panose="02010609060101010101" pitchFamily="49" charset="-122"/>
              </a:rPr>
              <a:t>，否则返回</a:t>
            </a:r>
            <a:r>
              <a:rPr lang="en-US" altLang="zh-CN" sz="1900" b="0">
                <a:solidFill>
                  <a:srgbClr val="000000"/>
                </a:solidFill>
                <a:latin typeface="+mn-lt"/>
                <a:ea typeface="黑体" panose="02010609060101010101" pitchFamily="49" charset="-122"/>
              </a:rPr>
              <a:t>FALSE</a:t>
            </a:r>
            <a:r>
              <a:rPr lang="zh-CN" altLang="en-US" sz="1900" b="0">
                <a:solidFill>
                  <a:srgbClr val="000000"/>
                </a:solidFill>
                <a:latin typeface="+mn-lt"/>
                <a:ea typeface="黑体" panose="02010609060101010101" pitchFamily="49" charset="-122"/>
              </a:rPr>
              <a:t>。</a:t>
            </a:r>
          </a:p>
          <a:p>
            <a:pPr lvl="1" eaLnBrk="1" hangingPunct="1">
              <a:buSzPct val="75000"/>
            </a:pPr>
            <a:r>
              <a:rPr lang="en-US" altLang="zh-CN" sz="1900" b="0">
                <a:solidFill>
                  <a:srgbClr val="000000"/>
                </a:solidFill>
                <a:latin typeface="+mn-lt"/>
                <a:ea typeface="黑体" panose="02010609060101010101" pitchFamily="49" charset="-122"/>
              </a:rPr>
              <a:t>SQL%ROWCOUNT</a:t>
            </a:r>
            <a:r>
              <a:rPr lang="zh-CN" altLang="en-US" sz="1900" b="0">
                <a:solidFill>
                  <a:srgbClr val="000000"/>
                </a:solidFill>
                <a:latin typeface="+mn-lt"/>
                <a:ea typeface="黑体" panose="02010609060101010101" pitchFamily="49" charset="-122"/>
              </a:rPr>
              <a:t>：数值型，返回当前操作所涉及的数据库中的行数。</a:t>
            </a:r>
          </a:p>
          <a:p>
            <a:pPr eaLnBrk="1" hangingPunct="1">
              <a:buSzPct val="75000"/>
            </a:pPr>
            <a:endParaRPr lang="en-US" altLang="zh-CN" sz="1900">
              <a:solidFill>
                <a:srgbClr val="000000"/>
              </a:solidFill>
              <a:latin typeface="+mn-lt"/>
              <a:ea typeface="+mn-ea"/>
              <a:cs typeface="+mn-cs"/>
            </a:endParaRPr>
          </a:p>
        </p:txBody>
      </p:sp>
      <p:sp>
        <p:nvSpPr>
          <p:cNvPr id="82946"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79</a:t>
            </a:fld>
            <a:endParaRPr lang="en-US" altLang="zh-CN">
              <a:solidFill>
                <a:srgbClr val="898989"/>
              </a:solidFill>
              <a:ea typeface="宋体" panose="02010600030101010101" pitchFamily="2"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3971"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endParaRPr lang="zh-CN" altLang="zh-CN">
              <a:solidFill>
                <a:srgbClr val="FFFFFF"/>
              </a:solidFill>
              <a:latin typeface="+mj-lt"/>
              <a:ea typeface="+mj-ea"/>
              <a:cs typeface="+mj-cs"/>
            </a:endParaRPr>
          </a:p>
        </p:txBody>
      </p:sp>
      <p:sp>
        <p:nvSpPr>
          <p:cNvPr id="83972"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buSzPct val="75000"/>
            </a:pPr>
            <a:r>
              <a:rPr lang="zh-CN" altLang="en-US" sz="2000">
                <a:solidFill>
                  <a:srgbClr val="000000"/>
                </a:solidFill>
                <a:latin typeface="+mn-lt"/>
                <a:ea typeface="+mn-ea"/>
                <a:cs typeface="+mn-cs"/>
              </a:rPr>
              <a:t>修改员工号为</a:t>
            </a:r>
            <a:r>
              <a:rPr lang="en-US" altLang="zh-CN" sz="2000">
                <a:solidFill>
                  <a:srgbClr val="000000"/>
                </a:solidFill>
                <a:latin typeface="+mn-lt"/>
                <a:ea typeface="+mn-ea"/>
                <a:cs typeface="+mn-cs"/>
              </a:rPr>
              <a:t>1000</a:t>
            </a:r>
            <a:r>
              <a:rPr lang="zh-CN" altLang="en-US" sz="2000">
                <a:solidFill>
                  <a:srgbClr val="000000"/>
                </a:solidFill>
                <a:latin typeface="+mn-lt"/>
                <a:ea typeface="+mn-ea"/>
                <a:cs typeface="+mn-cs"/>
              </a:rPr>
              <a:t>的员工工资，将其工资增加</a:t>
            </a:r>
            <a:r>
              <a:rPr lang="en-US" altLang="zh-CN" sz="2000">
                <a:solidFill>
                  <a:srgbClr val="000000"/>
                </a:solidFill>
                <a:latin typeface="+mn-lt"/>
                <a:ea typeface="+mn-ea"/>
                <a:cs typeface="+mn-cs"/>
              </a:rPr>
              <a:t>100</a:t>
            </a:r>
            <a:r>
              <a:rPr lang="zh-CN" altLang="en-US" sz="2000">
                <a:solidFill>
                  <a:srgbClr val="000000"/>
                </a:solidFill>
                <a:latin typeface="+mn-lt"/>
                <a:ea typeface="+mn-ea"/>
                <a:cs typeface="+mn-cs"/>
              </a:rPr>
              <a:t>。如果该员工不存在，则向</a:t>
            </a:r>
            <a:r>
              <a:rPr lang="en-US" altLang="zh-CN" sz="2000">
                <a:solidFill>
                  <a:srgbClr val="000000"/>
                </a:solidFill>
                <a:latin typeface="+mn-lt"/>
                <a:ea typeface="+mn-ea"/>
                <a:cs typeface="+mn-cs"/>
              </a:rPr>
              <a:t>employees</a:t>
            </a:r>
            <a:r>
              <a:rPr lang="zh-CN" altLang="en-US" sz="2000">
                <a:solidFill>
                  <a:srgbClr val="000000"/>
                </a:solidFill>
                <a:latin typeface="+mn-lt"/>
                <a:ea typeface="+mn-ea"/>
                <a:cs typeface="+mn-cs"/>
              </a:rPr>
              <a:t>表中插入一个员工号为</a:t>
            </a:r>
            <a:r>
              <a:rPr lang="en-US" altLang="zh-CN" sz="2000">
                <a:solidFill>
                  <a:srgbClr val="000000"/>
                </a:solidFill>
                <a:latin typeface="+mn-lt"/>
                <a:ea typeface="+mn-ea"/>
                <a:cs typeface="+mn-cs"/>
              </a:rPr>
              <a:t>1000</a:t>
            </a:r>
            <a:r>
              <a:rPr lang="zh-CN" altLang="en-US" sz="2000">
                <a:solidFill>
                  <a:srgbClr val="000000"/>
                </a:solidFill>
                <a:latin typeface="+mn-lt"/>
                <a:ea typeface="+mn-ea"/>
                <a:cs typeface="+mn-cs"/>
              </a:rPr>
              <a:t>，工资为</a:t>
            </a:r>
            <a:r>
              <a:rPr lang="en-US" altLang="zh-CN" sz="2000">
                <a:solidFill>
                  <a:srgbClr val="000000"/>
                </a:solidFill>
                <a:latin typeface="+mn-lt"/>
                <a:ea typeface="+mn-ea"/>
                <a:cs typeface="+mn-cs"/>
              </a:rPr>
              <a:t>1500</a:t>
            </a:r>
            <a:r>
              <a:rPr lang="zh-CN" altLang="en-US" sz="2000">
                <a:solidFill>
                  <a:srgbClr val="000000"/>
                </a:solidFill>
                <a:latin typeface="+mn-lt"/>
                <a:ea typeface="+mn-ea"/>
                <a:cs typeface="+mn-cs"/>
              </a:rPr>
              <a:t>的员工。</a:t>
            </a:r>
          </a:p>
          <a:p>
            <a:pPr lvl="1" eaLnBrk="1" hangingPunct="1">
              <a:buSzPct val="75000"/>
            </a:pPr>
            <a:endParaRPr lang="en-US" altLang="zh-CN" sz="2000">
              <a:solidFill>
                <a:srgbClr val="000000"/>
              </a:solidFill>
              <a:latin typeface="+mn-lt"/>
              <a:ea typeface="华文仿宋" panose="02010600040101010101" pitchFamily="2" charset="-122"/>
            </a:endParaRPr>
          </a:p>
        </p:txBody>
      </p:sp>
      <p:sp>
        <p:nvSpPr>
          <p:cNvPr id="83970"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80</a:t>
            </a:fld>
            <a:endParaRPr lang="en-US" altLang="zh-CN">
              <a:solidFill>
                <a:srgbClr val="898989"/>
              </a:solidFill>
              <a:ea typeface="宋体" panose="02010600030101010101" pitchFamily="2" charset="-12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7" name="Picture 76">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4995" name="Rectangle 2"/>
          <p:cNvSpPr>
            <a:spLocks noGrp="1"/>
          </p:cNvSpPr>
          <p:nvPr>
            <p:ph type="title"/>
          </p:nvPr>
        </p:nvSpPr>
        <p:spPr>
          <a:xfrm>
            <a:off x="640079" y="2053641"/>
            <a:ext cx="3669161" cy="2760098"/>
          </a:xfrm>
        </p:spPr>
        <p:txBody>
          <a:bodyPr vert="horz" lIns="121920" tIns="60960" rIns="121920" bIns="60960">
            <a:normAutofit/>
          </a:bodyPr>
          <a:lstStyle/>
          <a:p>
            <a:pPr eaLnBrk="1" hangingPunct="1"/>
            <a:endParaRPr lang="zh-CN" altLang="zh-CN">
              <a:solidFill>
                <a:srgbClr val="FFFFFF"/>
              </a:solidFill>
              <a:latin typeface="+mj-lt"/>
              <a:ea typeface="+mj-ea"/>
              <a:cs typeface="+mj-cs"/>
            </a:endParaRPr>
          </a:p>
        </p:txBody>
      </p:sp>
      <p:sp>
        <p:nvSpPr>
          <p:cNvPr id="84996" name="Rectangle 3"/>
          <p:cNvSpPr>
            <a:spLocks noGrp="1"/>
          </p:cNvSpPr>
          <p:nvPr>
            <p:ph idx="1"/>
          </p:nvPr>
        </p:nvSpPr>
        <p:spPr>
          <a:xfrm>
            <a:off x="6090574" y="801866"/>
            <a:ext cx="5306084" cy="5230634"/>
          </a:xfrm>
        </p:spPr>
        <p:txBody>
          <a:bodyPr vert="horz" lIns="121920" tIns="60960" rIns="121920" bIns="60960" anchor="ctr">
            <a:normAutofit/>
          </a:bodyPr>
          <a:lstStyle/>
          <a:p>
            <a:pPr eaLnBrk="1" hangingPunct="1">
              <a:lnSpc>
                <a:spcPct val="90000"/>
              </a:lnSpc>
              <a:buSzPct val="75000"/>
            </a:pPr>
            <a:r>
              <a:rPr lang="en-US" altLang="zh-CN" sz="1900">
                <a:solidFill>
                  <a:srgbClr val="000000"/>
                </a:solidFill>
                <a:latin typeface="+mn-lt"/>
                <a:ea typeface="+mn-ea"/>
                <a:cs typeface="+mn-cs"/>
              </a:rPr>
              <a:t>BEGIN</a:t>
            </a:r>
          </a:p>
          <a:p>
            <a:pPr eaLnBrk="1" hangingPunct="1">
              <a:lnSpc>
                <a:spcPct val="90000"/>
              </a:lnSpc>
              <a:buSzPct val="75000"/>
            </a:pPr>
            <a:r>
              <a:rPr lang="en-US" altLang="zh-CN" sz="1900">
                <a:solidFill>
                  <a:srgbClr val="000000"/>
                </a:solidFill>
                <a:latin typeface="+mn-lt"/>
                <a:ea typeface="+mn-ea"/>
                <a:cs typeface="+mn-cs"/>
              </a:rPr>
              <a:t>  UPDATE employees SET salary=salary+100 </a:t>
            </a:r>
          </a:p>
          <a:p>
            <a:pPr eaLnBrk="1" hangingPunct="1">
              <a:lnSpc>
                <a:spcPct val="90000"/>
              </a:lnSpc>
              <a:buSzPct val="75000"/>
            </a:pPr>
            <a:r>
              <a:rPr lang="en-US" altLang="zh-CN" sz="1900">
                <a:solidFill>
                  <a:srgbClr val="000000"/>
                </a:solidFill>
                <a:latin typeface="+mn-lt"/>
                <a:ea typeface="+mn-ea"/>
                <a:cs typeface="+mn-cs"/>
              </a:rPr>
              <a:t>  WHERE employee_id=1000;</a:t>
            </a:r>
          </a:p>
          <a:p>
            <a:pPr eaLnBrk="1" hangingPunct="1">
              <a:lnSpc>
                <a:spcPct val="90000"/>
              </a:lnSpc>
              <a:buSzPct val="75000"/>
            </a:pPr>
            <a:r>
              <a:rPr lang="en-US" altLang="zh-CN" sz="1900">
                <a:solidFill>
                  <a:srgbClr val="000000"/>
                </a:solidFill>
                <a:latin typeface="+mn-lt"/>
                <a:ea typeface="+mn-ea"/>
                <a:cs typeface="+mn-cs"/>
              </a:rPr>
              <a:t>  IF SQL%NOTFOUND THEN</a:t>
            </a:r>
          </a:p>
          <a:p>
            <a:pPr eaLnBrk="1" hangingPunct="1">
              <a:lnSpc>
                <a:spcPct val="90000"/>
              </a:lnSpc>
              <a:buSzPct val="75000"/>
            </a:pPr>
            <a:r>
              <a:rPr lang="en-US" altLang="zh-CN" sz="1900">
                <a:solidFill>
                  <a:srgbClr val="000000"/>
                </a:solidFill>
                <a:latin typeface="+mn-lt"/>
                <a:ea typeface="+mn-ea"/>
                <a:cs typeface="+mn-cs"/>
              </a:rPr>
              <a:t>   INSERT INTO employees(employee_id,first_name,</a:t>
            </a:r>
          </a:p>
          <a:p>
            <a:pPr eaLnBrk="1" hangingPunct="1">
              <a:lnSpc>
                <a:spcPct val="90000"/>
              </a:lnSpc>
              <a:buSzPct val="75000"/>
            </a:pPr>
            <a:r>
              <a:rPr lang="en-US" altLang="zh-CN" sz="1900">
                <a:solidFill>
                  <a:srgbClr val="000000"/>
                </a:solidFill>
                <a:latin typeface="+mn-lt"/>
                <a:ea typeface="+mn-ea"/>
                <a:cs typeface="+mn-cs"/>
              </a:rPr>
              <a:t>   last_name,email,hire_date,job_id,department_id)</a:t>
            </a:r>
          </a:p>
          <a:p>
            <a:pPr eaLnBrk="1" hangingPunct="1">
              <a:lnSpc>
                <a:spcPct val="90000"/>
              </a:lnSpc>
              <a:buSzPct val="75000"/>
            </a:pPr>
            <a:r>
              <a:rPr lang="en-US" altLang="zh-CN" sz="1900">
                <a:solidFill>
                  <a:srgbClr val="000000"/>
                </a:solidFill>
                <a:latin typeface="+mn-lt"/>
                <a:ea typeface="+mn-ea"/>
                <a:cs typeface="+mn-cs"/>
              </a:rPr>
              <a:t>   VALUES(employees_seq.nextval, 'san','zhang',</a:t>
            </a:r>
          </a:p>
          <a:p>
            <a:pPr eaLnBrk="1" hangingPunct="1">
              <a:lnSpc>
                <a:spcPct val="90000"/>
              </a:lnSpc>
              <a:buSzPct val="75000"/>
            </a:pPr>
            <a:r>
              <a:rPr lang="en-US" altLang="zh-CN" sz="1900">
                <a:solidFill>
                  <a:srgbClr val="000000"/>
                </a:solidFill>
                <a:latin typeface="+mn-lt"/>
                <a:ea typeface="+mn-ea"/>
                <a:cs typeface="+mn-cs"/>
              </a:rPr>
              <a:t>   'zs@neusoft.edu.cn',sysdate,'AC_ACCOUNT',200);</a:t>
            </a:r>
          </a:p>
          <a:p>
            <a:pPr eaLnBrk="1" hangingPunct="1">
              <a:lnSpc>
                <a:spcPct val="90000"/>
              </a:lnSpc>
              <a:buSzPct val="75000"/>
            </a:pPr>
            <a:r>
              <a:rPr lang="en-US" altLang="zh-CN" sz="1900">
                <a:solidFill>
                  <a:srgbClr val="000000"/>
                </a:solidFill>
                <a:latin typeface="+mn-lt"/>
                <a:ea typeface="+mn-ea"/>
                <a:cs typeface="+mn-cs"/>
              </a:rPr>
              <a:t>  END IF;</a:t>
            </a:r>
          </a:p>
          <a:p>
            <a:pPr eaLnBrk="1" hangingPunct="1">
              <a:lnSpc>
                <a:spcPct val="90000"/>
              </a:lnSpc>
              <a:buSzPct val="75000"/>
            </a:pPr>
            <a:r>
              <a:rPr lang="en-US" altLang="zh-CN" sz="1900">
                <a:solidFill>
                  <a:srgbClr val="000000"/>
                </a:solidFill>
                <a:latin typeface="+mn-lt"/>
                <a:ea typeface="+mn-ea"/>
                <a:cs typeface="+mn-cs"/>
              </a:rPr>
              <a:t>END;</a:t>
            </a:r>
          </a:p>
          <a:p>
            <a:pPr eaLnBrk="1" hangingPunct="1">
              <a:lnSpc>
                <a:spcPct val="90000"/>
              </a:lnSpc>
              <a:buSzPct val="75000"/>
            </a:pPr>
            <a:endParaRPr lang="en-US" altLang="zh-CN" sz="1900">
              <a:solidFill>
                <a:srgbClr val="000000"/>
              </a:solidFill>
              <a:latin typeface="+mn-lt"/>
              <a:ea typeface="+mn-ea"/>
              <a:cs typeface="+mn-cs"/>
            </a:endParaRPr>
          </a:p>
        </p:txBody>
      </p:sp>
      <p:sp>
        <p:nvSpPr>
          <p:cNvPr id="84994"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81</a:t>
            </a:fld>
            <a:endParaRPr lang="en-US" altLang="zh-CN">
              <a:solidFill>
                <a:srgbClr val="898989"/>
              </a:solidFill>
              <a:ea typeface="宋体" panose="02010600030101010101" pitchFamily="2" charset="-12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2" name="Rectangle 71">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4" name="Picture 73">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6019"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lnSpc>
                <a:spcPct val="90000"/>
              </a:lnSpc>
              <a:buSzPct val="75000"/>
            </a:pPr>
            <a:endParaRPr lang="en-US" altLang="zh-CN" sz="1100">
              <a:solidFill>
                <a:srgbClr val="000000"/>
              </a:solidFill>
              <a:latin typeface="+mn-lt"/>
              <a:ea typeface="+mn-ea"/>
              <a:cs typeface="+mn-cs"/>
            </a:endParaRPr>
          </a:p>
          <a:p>
            <a:pPr eaLnBrk="1" hangingPunct="1">
              <a:lnSpc>
                <a:spcPct val="90000"/>
              </a:lnSpc>
              <a:buSzPct val="75000"/>
            </a:pPr>
            <a:endParaRPr lang="en-US" altLang="zh-CN" sz="1100">
              <a:solidFill>
                <a:srgbClr val="000000"/>
              </a:solidFill>
              <a:latin typeface="+mn-lt"/>
              <a:ea typeface="+mn-ea"/>
              <a:cs typeface="+mn-cs"/>
            </a:endParaRPr>
          </a:p>
          <a:p>
            <a:pPr eaLnBrk="1" hangingPunct="1">
              <a:lnSpc>
                <a:spcPct val="90000"/>
              </a:lnSpc>
              <a:buSzPct val="75000"/>
            </a:pPr>
            <a:r>
              <a:rPr lang="en-US" altLang="zh-CN" sz="1100">
                <a:solidFill>
                  <a:srgbClr val="000000"/>
                </a:solidFill>
                <a:latin typeface="+mn-lt"/>
                <a:ea typeface="+mn-ea"/>
                <a:cs typeface="+mn-cs"/>
              </a:rPr>
              <a:t>BEGIN</a:t>
            </a:r>
          </a:p>
          <a:p>
            <a:pPr eaLnBrk="1" hangingPunct="1">
              <a:lnSpc>
                <a:spcPct val="90000"/>
              </a:lnSpc>
              <a:buSzPct val="75000"/>
            </a:pPr>
            <a:r>
              <a:rPr lang="en-US" altLang="zh-CN" sz="1100">
                <a:solidFill>
                  <a:srgbClr val="000000"/>
                </a:solidFill>
                <a:latin typeface="+mn-lt"/>
                <a:ea typeface="+mn-ea"/>
                <a:cs typeface="+mn-cs"/>
              </a:rPr>
              <a:t>  UPDATE employees SET salary=salary+100 </a:t>
            </a:r>
          </a:p>
          <a:p>
            <a:pPr eaLnBrk="1" hangingPunct="1">
              <a:lnSpc>
                <a:spcPct val="90000"/>
              </a:lnSpc>
              <a:buSzPct val="75000"/>
            </a:pPr>
            <a:r>
              <a:rPr lang="en-US" altLang="zh-CN" sz="1100">
                <a:solidFill>
                  <a:srgbClr val="000000"/>
                </a:solidFill>
                <a:latin typeface="+mn-lt"/>
                <a:ea typeface="+mn-ea"/>
                <a:cs typeface="+mn-cs"/>
              </a:rPr>
              <a:t>  WHERE employee_id=1000;</a:t>
            </a:r>
          </a:p>
          <a:p>
            <a:pPr eaLnBrk="1" hangingPunct="1">
              <a:lnSpc>
                <a:spcPct val="90000"/>
              </a:lnSpc>
              <a:buSzPct val="75000"/>
            </a:pPr>
            <a:r>
              <a:rPr lang="en-US" altLang="zh-CN" sz="1100">
                <a:solidFill>
                  <a:srgbClr val="000000"/>
                </a:solidFill>
                <a:latin typeface="+mn-lt"/>
                <a:ea typeface="+mn-ea"/>
                <a:cs typeface="+mn-cs"/>
              </a:rPr>
              <a:t>  IF SQL%ROWCOUNT=0 THEN</a:t>
            </a:r>
          </a:p>
          <a:p>
            <a:pPr eaLnBrk="1" hangingPunct="1">
              <a:lnSpc>
                <a:spcPct val="90000"/>
              </a:lnSpc>
              <a:buSzPct val="75000"/>
            </a:pPr>
            <a:r>
              <a:rPr lang="en-US" altLang="zh-CN" sz="1100">
                <a:solidFill>
                  <a:srgbClr val="000000"/>
                </a:solidFill>
                <a:latin typeface="+mn-lt"/>
                <a:ea typeface="+mn-ea"/>
                <a:cs typeface="+mn-cs"/>
              </a:rPr>
              <a:t>  INSERT INTO employees(employee_id,first_name,</a:t>
            </a:r>
          </a:p>
          <a:p>
            <a:pPr eaLnBrk="1" hangingPunct="1">
              <a:lnSpc>
                <a:spcPct val="90000"/>
              </a:lnSpc>
              <a:buSzPct val="75000"/>
            </a:pPr>
            <a:r>
              <a:rPr lang="en-US" altLang="zh-CN" sz="1100">
                <a:solidFill>
                  <a:srgbClr val="000000"/>
                </a:solidFill>
                <a:latin typeface="+mn-lt"/>
                <a:ea typeface="+mn-ea"/>
                <a:cs typeface="+mn-cs"/>
              </a:rPr>
              <a:t>   last_name,email,  hire_date,job_id,department_id)</a:t>
            </a:r>
          </a:p>
          <a:p>
            <a:pPr eaLnBrk="1" hangingPunct="1">
              <a:lnSpc>
                <a:spcPct val="90000"/>
              </a:lnSpc>
              <a:buSzPct val="75000"/>
            </a:pPr>
            <a:r>
              <a:rPr lang="en-US" altLang="zh-CN" sz="1100">
                <a:solidFill>
                  <a:srgbClr val="000000"/>
                </a:solidFill>
                <a:latin typeface="+mn-lt"/>
                <a:ea typeface="+mn-ea"/>
                <a:cs typeface="+mn-cs"/>
              </a:rPr>
              <a:t>  VALUES(employees_seq.nextval, 'san','zhang',</a:t>
            </a:r>
          </a:p>
          <a:p>
            <a:pPr eaLnBrk="1" hangingPunct="1">
              <a:lnSpc>
                <a:spcPct val="90000"/>
              </a:lnSpc>
              <a:buSzPct val="75000"/>
            </a:pPr>
            <a:r>
              <a:rPr lang="en-US" altLang="zh-CN" sz="1100">
                <a:solidFill>
                  <a:srgbClr val="000000"/>
                </a:solidFill>
                <a:latin typeface="+mn-lt"/>
                <a:ea typeface="+mn-ea"/>
                <a:cs typeface="+mn-cs"/>
              </a:rPr>
              <a:t>  'zs@neusoft.edu.cn',sysdate,'AC_ACCOUNT',200);</a:t>
            </a:r>
          </a:p>
          <a:p>
            <a:pPr eaLnBrk="1" hangingPunct="1">
              <a:lnSpc>
                <a:spcPct val="90000"/>
              </a:lnSpc>
              <a:buSzPct val="75000"/>
            </a:pPr>
            <a:r>
              <a:rPr lang="en-US" altLang="zh-CN" sz="1100">
                <a:solidFill>
                  <a:srgbClr val="000000"/>
                </a:solidFill>
                <a:latin typeface="+mn-lt"/>
                <a:ea typeface="+mn-ea"/>
                <a:cs typeface="+mn-cs"/>
              </a:rPr>
              <a:t>  END IF;</a:t>
            </a:r>
          </a:p>
          <a:p>
            <a:pPr eaLnBrk="1" hangingPunct="1">
              <a:lnSpc>
                <a:spcPct val="90000"/>
              </a:lnSpc>
              <a:buSzPct val="75000"/>
            </a:pPr>
            <a:r>
              <a:rPr lang="en-US" altLang="zh-CN" sz="1100">
                <a:solidFill>
                  <a:srgbClr val="000000"/>
                </a:solidFill>
                <a:latin typeface="+mn-lt"/>
                <a:ea typeface="+mn-ea"/>
                <a:cs typeface="+mn-cs"/>
              </a:rPr>
              <a:t>END; </a:t>
            </a:r>
          </a:p>
        </p:txBody>
      </p:sp>
      <p:sp>
        <p:nvSpPr>
          <p:cNvPr id="86018"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82</a:t>
            </a:fld>
            <a:endParaRPr lang="en-US" altLang="zh-CN">
              <a:solidFill>
                <a:srgbClr val="898989"/>
              </a:solidFill>
              <a:ea typeface="宋体" panose="02010600030101010101" pitchFamily="2" charset="-122"/>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7043"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r>
              <a:rPr lang="en-GB" altLang="zh-CN">
                <a:solidFill>
                  <a:srgbClr val="FFFFFF"/>
                </a:solidFill>
                <a:latin typeface="+mj-lt"/>
                <a:ea typeface="+mj-ea"/>
                <a:cs typeface="+mj-cs"/>
              </a:rPr>
              <a:t>9.7.6  </a:t>
            </a:r>
            <a:r>
              <a:rPr lang="zh-CN" altLang="en-GB">
                <a:solidFill>
                  <a:srgbClr val="FFFFFF"/>
                </a:solidFill>
                <a:latin typeface="+mj-lt"/>
                <a:ea typeface="+mj-ea"/>
                <a:cs typeface="+mj-cs"/>
              </a:rPr>
              <a:t>游标变量</a:t>
            </a:r>
            <a:endParaRPr lang="zh-CN" altLang="en-US">
              <a:solidFill>
                <a:srgbClr val="FFFFFF"/>
              </a:solidFill>
              <a:latin typeface="+mj-lt"/>
              <a:ea typeface="+mj-ea"/>
              <a:cs typeface="+mj-cs"/>
            </a:endParaRPr>
          </a:p>
        </p:txBody>
      </p:sp>
      <p:sp>
        <p:nvSpPr>
          <p:cNvPr id="87044"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lnSpc>
                <a:spcPct val="90000"/>
              </a:lnSpc>
              <a:buSzPct val="75000"/>
            </a:pPr>
            <a:r>
              <a:rPr lang="zh-CN" altLang="en-US" sz="1700">
                <a:solidFill>
                  <a:srgbClr val="000000"/>
                </a:solidFill>
                <a:latin typeface="+mn-lt"/>
                <a:ea typeface="+mn-ea"/>
                <a:cs typeface="+mn-cs"/>
              </a:rPr>
              <a:t>概念</a:t>
            </a:r>
          </a:p>
          <a:p>
            <a:pPr lvl="1" eaLnBrk="1" hangingPunct="1">
              <a:lnSpc>
                <a:spcPct val="90000"/>
              </a:lnSpc>
              <a:buSzPct val="75000"/>
            </a:pPr>
            <a:r>
              <a:rPr lang="zh-CN" altLang="en-US" sz="1700">
                <a:solidFill>
                  <a:srgbClr val="000000"/>
                </a:solidFill>
                <a:latin typeface="+mn-lt"/>
                <a:ea typeface="华文仿宋" panose="02010600040101010101" pitchFamily="2" charset="-122"/>
              </a:rPr>
              <a:t>游标变量是一个指向多行查询结果集的指针，不与特定的查询绑定，因此具有非常大的灵活性，可以在打开游标变量时定义查询，可以返回不同结构的结果集 </a:t>
            </a:r>
          </a:p>
          <a:p>
            <a:pPr eaLnBrk="1" hangingPunct="1">
              <a:lnSpc>
                <a:spcPct val="90000"/>
              </a:lnSpc>
              <a:buSzPct val="75000"/>
            </a:pPr>
            <a:r>
              <a:rPr lang="zh-CN" altLang="en-US" sz="1700">
                <a:solidFill>
                  <a:srgbClr val="000000"/>
                </a:solidFill>
                <a:latin typeface="+mn-lt"/>
                <a:ea typeface="+mn-ea"/>
                <a:cs typeface="+mn-cs"/>
              </a:rPr>
              <a:t>使用游标变量包括 </a:t>
            </a:r>
          </a:p>
          <a:p>
            <a:pPr lvl="1" eaLnBrk="1" hangingPunct="1">
              <a:lnSpc>
                <a:spcPct val="90000"/>
              </a:lnSpc>
              <a:buSzPct val="75000"/>
            </a:pPr>
            <a:r>
              <a:rPr lang="zh-CN" altLang="en-US" sz="1700">
                <a:solidFill>
                  <a:srgbClr val="000000"/>
                </a:solidFill>
                <a:latin typeface="+mn-lt"/>
                <a:ea typeface="华文仿宋" panose="02010600040101010101" pitchFamily="2" charset="-122"/>
              </a:rPr>
              <a:t>游标引用类型（</a:t>
            </a:r>
            <a:r>
              <a:rPr lang="en-US" altLang="zh-CN" sz="1700">
                <a:solidFill>
                  <a:srgbClr val="000000"/>
                </a:solidFill>
                <a:latin typeface="+mn-lt"/>
                <a:ea typeface="华文仿宋" panose="02010600040101010101" pitchFamily="2" charset="-122"/>
              </a:rPr>
              <a:t>REF CURSOR</a:t>
            </a:r>
            <a:r>
              <a:rPr lang="zh-CN" altLang="en-US" sz="1700">
                <a:solidFill>
                  <a:srgbClr val="000000"/>
                </a:solidFill>
                <a:latin typeface="+mn-lt"/>
                <a:ea typeface="华文仿宋" panose="02010600040101010101" pitchFamily="2" charset="-122"/>
              </a:rPr>
              <a:t>）</a:t>
            </a:r>
          </a:p>
          <a:p>
            <a:pPr lvl="1" eaLnBrk="1" hangingPunct="1">
              <a:lnSpc>
                <a:spcPct val="90000"/>
              </a:lnSpc>
              <a:buSzPct val="75000"/>
            </a:pPr>
            <a:r>
              <a:rPr lang="zh-CN" altLang="en-US" sz="1700">
                <a:solidFill>
                  <a:srgbClr val="000000"/>
                </a:solidFill>
                <a:latin typeface="+mn-lt"/>
                <a:ea typeface="华文仿宋" panose="02010600040101010101" pitchFamily="2" charset="-122"/>
              </a:rPr>
              <a:t>声明游标变量</a:t>
            </a:r>
          </a:p>
          <a:p>
            <a:pPr lvl="1" eaLnBrk="1" hangingPunct="1">
              <a:lnSpc>
                <a:spcPct val="90000"/>
              </a:lnSpc>
              <a:buSzPct val="75000"/>
            </a:pPr>
            <a:r>
              <a:rPr lang="zh-CN" altLang="en-US" sz="1700">
                <a:solidFill>
                  <a:srgbClr val="000000"/>
                </a:solidFill>
                <a:latin typeface="+mn-lt"/>
                <a:ea typeface="华文仿宋" panose="02010600040101010101" pitchFamily="2" charset="-122"/>
              </a:rPr>
              <a:t>打开游标变量</a:t>
            </a:r>
          </a:p>
          <a:p>
            <a:pPr lvl="1" eaLnBrk="1" hangingPunct="1">
              <a:lnSpc>
                <a:spcPct val="90000"/>
              </a:lnSpc>
              <a:buSzPct val="75000"/>
            </a:pPr>
            <a:r>
              <a:rPr lang="zh-CN" altLang="en-US" sz="1700">
                <a:solidFill>
                  <a:srgbClr val="000000"/>
                </a:solidFill>
                <a:latin typeface="+mn-lt"/>
                <a:ea typeface="华文仿宋" panose="02010600040101010101" pitchFamily="2" charset="-122"/>
              </a:rPr>
              <a:t>检索游标变量</a:t>
            </a:r>
          </a:p>
          <a:p>
            <a:pPr lvl="1" eaLnBrk="1" hangingPunct="1">
              <a:lnSpc>
                <a:spcPct val="90000"/>
              </a:lnSpc>
              <a:buSzPct val="75000"/>
            </a:pPr>
            <a:r>
              <a:rPr lang="zh-CN" altLang="en-US" sz="1700">
                <a:solidFill>
                  <a:srgbClr val="000000"/>
                </a:solidFill>
                <a:latin typeface="+mn-lt"/>
                <a:ea typeface="华文仿宋" panose="02010600040101010101" pitchFamily="2" charset="-122"/>
              </a:rPr>
              <a:t>关闭游标变量 </a:t>
            </a:r>
          </a:p>
        </p:txBody>
      </p:sp>
      <p:sp>
        <p:nvSpPr>
          <p:cNvPr id="87042"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83</a:t>
            </a:fld>
            <a:endParaRPr lang="en-US" altLang="zh-CN">
              <a:solidFill>
                <a:srgbClr val="898989"/>
              </a:solidFill>
              <a:ea typeface="宋体" panose="02010600030101010101" pitchFamily="2" charset="-122"/>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8067"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r>
              <a:rPr lang="zh-CN" altLang="en-US">
                <a:solidFill>
                  <a:srgbClr val="FFFFFF"/>
                </a:solidFill>
                <a:latin typeface="+mj-lt"/>
                <a:ea typeface="+mj-ea"/>
                <a:cs typeface="+mj-cs"/>
              </a:rPr>
              <a:t>（</a:t>
            </a:r>
            <a:r>
              <a:rPr lang="en-US" altLang="zh-CN">
                <a:solidFill>
                  <a:srgbClr val="FFFFFF"/>
                </a:solidFill>
                <a:latin typeface="+mj-lt"/>
                <a:ea typeface="+mj-ea"/>
                <a:cs typeface="+mj-cs"/>
              </a:rPr>
              <a:t>1</a:t>
            </a:r>
            <a:r>
              <a:rPr lang="zh-CN" altLang="en-US">
                <a:solidFill>
                  <a:srgbClr val="FFFFFF"/>
                </a:solidFill>
                <a:latin typeface="+mj-lt"/>
                <a:ea typeface="+mj-ea"/>
                <a:cs typeface="+mj-cs"/>
              </a:rPr>
              <a:t>）定义游标引用类型及游标变量 </a:t>
            </a:r>
          </a:p>
        </p:txBody>
      </p:sp>
      <p:sp>
        <p:nvSpPr>
          <p:cNvPr id="88068"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buSzPct val="75000"/>
            </a:pPr>
            <a:r>
              <a:rPr lang="zh-CN" altLang="en-US" sz="2000">
                <a:solidFill>
                  <a:srgbClr val="000000"/>
                </a:solidFill>
                <a:latin typeface="+mn-lt"/>
                <a:ea typeface="+mn-ea"/>
                <a:cs typeface="+mn-cs"/>
              </a:rPr>
              <a:t>语法</a:t>
            </a:r>
          </a:p>
          <a:p>
            <a:pPr lvl="1" eaLnBrk="1" hangingPunct="1">
              <a:buSzPct val="75000"/>
            </a:pPr>
            <a:r>
              <a:rPr lang="en-US" altLang="zh-CN" sz="2000" b="0">
                <a:solidFill>
                  <a:srgbClr val="000000"/>
                </a:solidFill>
                <a:latin typeface="+mn-lt"/>
                <a:ea typeface="华文仿宋" panose="02010600040101010101" pitchFamily="2" charset="-122"/>
              </a:rPr>
              <a:t>TYPE ref_cursor_type_name IS REF CURSOR [RETURN return_type]</a:t>
            </a:r>
          </a:p>
          <a:p>
            <a:pPr lvl="1" eaLnBrk="1" hangingPunct="1">
              <a:buSzPct val="75000"/>
            </a:pPr>
            <a:r>
              <a:rPr lang="en-US" altLang="zh-CN" sz="2000" b="0">
                <a:solidFill>
                  <a:srgbClr val="000000"/>
                </a:solidFill>
                <a:latin typeface="+mn-lt"/>
                <a:ea typeface="华文仿宋" panose="02010600040101010101" pitchFamily="2" charset="-122"/>
              </a:rPr>
              <a:t>RETURN</a:t>
            </a:r>
            <a:r>
              <a:rPr lang="zh-CN" altLang="en-US" sz="2000" b="0">
                <a:solidFill>
                  <a:srgbClr val="000000"/>
                </a:solidFill>
                <a:latin typeface="+mn-lt"/>
                <a:ea typeface="华文仿宋" panose="02010600040101010101" pitchFamily="2" charset="-122"/>
              </a:rPr>
              <a:t>子句用于指定定义的游标类型返回结果集的类型，该类型必须是记录类型。如果定义游标引用类型时带有</a:t>
            </a:r>
            <a:r>
              <a:rPr lang="en-US" altLang="zh-CN" sz="2000" b="0">
                <a:solidFill>
                  <a:srgbClr val="000000"/>
                </a:solidFill>
                <a:latin typeface="+mn-lt"/>
                <a:ea typeface="华文仿宋" panose="02010600040101010101" pitchFamily="2" charset="-122"/>
              </a:rPr>
              <a:t>RETURN</a:t>
            </a:r>
            <a:r>
              <a:rPr lang="zh-CN" altLang="en-US" sz="2000" b="0">
                <a:solidFill>
                  <a:srgbClr val="000000"/>
                </a:solidFill>
                <a:latin typeface="+mn-lt"/>
                <a:ea typeface="华文仿宋" panose="02010600040101010101" pitchFamily="2" charset="-122"/>
              </a:rPr>
              <a:t>子句，则用其定义的变量称为强游标变量，否则称为弱游标变量。</a:t>
            </a:r>
          </a:p>
          <a:p>
            <a:pPr eaLnBrk="1" hangingPunct="1">
              <a:buSzPct val="75000"/>
            </a:pPr>
            <a:r>
              <a:rPr lang="zh-CN" altLang="en-US" sz="2000">
                <a:solidFill>
                  <a:srgbClr val="000000"/>
                </a:solidFill>
                <a:latin typeface="+mn-lt"/>
                <a:ea typeface="+mn-ea"/>
                <a:cs typeface="+mn-cs"/>
              </a:rPr>
              <a:t>在</a:t>
            </a:r>
            <a:r>
              <a:rPr lang="en-US" altLang="zh-CN" sz="2000">
                <a:solidFill>
                  <a:srgbClr val="000000"/>
                </a:solidFill>
                <a:latin typeface="+mn-lt"/>
                <a:ea typeface="+mn-ea"/>
                <a:cs typeface="+mn-cs"/>
              </a:rPr>
              <a:t>Oracle 11g</a:t>
            </a:r>
            <a:r>
              <a:rPr lang="zh-CN" altLang="en-US" sz="2000">
                <a:solidFill>
                  <a:srgbClr val="000000"/>
                </a:solidFill>
                <a:latin typeface="+mn-lt"/>
                <a:ea typeface="+mn-ea"/>
                <a:cs typeface="+mn-cs"/>
              </a:rPr>
              <a:t>中，系统预定义了一个游标引用类型，称为</a:t>
            </a:r>
            <a:r>
              <a:rPr lang="en-US" altLang="zh-CN" sz="2000">
                <a:solidFill>
                  <a:srgbClr val="000000"/>
                </a:solidFill>
                <a:latin typeface="+mn-lt"/>
                <a:ea typeface="+mn-ea"/>
                <a:cs typeface="+mn-cs"/>
              </a:rPr>
              <a:t>SYS_REFCURSOR</a:t>
            </a:r>
            <a:r>
              <a:rPr lang="zh-CN" altLang="en-US" sz="2000">
                <a:solidFill>
                  <a:srgbClr val="000000"/>
                </a:solidFill>
                <a:latin typeface="+mn-lt"/>
                <a:ea typeface="+mn-ea"/>
                <a:cs typeface="+mn-cs"/>
              </a:rPr>
              <a:t>，可以直接使用它定义游标变量。 </a:t>
            </a:r>
          </a:p>
        </p:txBody>
      </p:sp>
      <p:sp>
        <p:nvSpPr>
          <p:cNvPr id="88066"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84</a:t>
            </a:fld>
            <a:endParaRPr lang="en-US" altLang="zh-CN">
              <a:solidFill>
                <a:srgbClr val="898989"/>
              </a:solidFill>
              <a:ea typeface="宋体" panose="02010600030101010101" pitchFamily="2" charset="-122"/>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7" name="Picture 76">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9091" name="Rectangle 2"/>
          <p:cNvSpPr>
            <a:spLocks noGrp="1"/>
          </p:cNvSpPr>
          <p:nvPr>
            <p:ph type="title"/>
          </p:nvPr>
        </p:nvSpPr>
        <p:spPr>
          <a:xfrm>
            <a:off x="640079" y="2053641"/>
            <a:ext cx="3669161" cy="2760098"/>
          </a:xfrm>
        </p:spPr>
        <p:txBody>
          <a:bodyPr vert="horz" lIns="121920" tIns="60960" rIns="121920" bIns="60960">
            <a:normAutofit/>
          </a:bodyPr>
          <a:lstStyle/>
          <a:p>
            <a:pPr eaLnBrk="1" hangingPunct="1"/>
            <a:endParaRPr lang="zh-CN" altLang="zh-CN">
              <a:solidFill>
                <a:srgbClr val="FFFFFF"/>
              </a:solidFill>
              <a:latin typeface="+mj-lt"/>
              <a:ea typeface="+mj-ea"/>
              <a:cs typeface="+mj-cs"/>
            </a:endParaRPr>
          </a:p>
        </p:txBody>
      </p:sp>
      <p:sp>
        <p:nvSpPr>
          <p:cNvPr id="89092" name="Rectangle 3"/>
          <p:cNvSpPr>
            <a:spLocks noGrp="1"/>
          </p:cNvSpPr>
          <p:nvPr>
            <p:ph idx="1"/>
          </p:nvPr>
        </p:nvSpPr>
        <p:spPr>
          <a:xfrm>
            <a:off x="6090574" y="801866"/>
            <a:ext cx="5306084" cy="5230634"/>
          </a:xfrm>
        </p:spPr>
        <p:txBody>
          <a:bodyPr vert="horz" lIns="121920" tIns="60960" rIns="121920" bIns="60960" anchor="ctr">
            <a:normAutofit/>
          </a:bodyPr>
          <a:lstStyle/>
          <a:p>
            <a:pPr eaLnBrk="1" hangingPunct="1">
              <a:lnSpc>
                <a:spcPct val="90000"/>
              </a:lnSpc>
              <a:buSzPct val="75000"/>
            </a:pPr>
            <a:r>
              <a:rPr lang="zh-CN" altLang="en-US" sz="2200">
                <a:solidFill>
                  <a:srgbClr val="000000"/>
                </a:solidFill>
                <a:latin typeface="+mn-lt"/>
                <a:ea typeface="+mn-ea"/>
                <a:cs typeface="+mn-cs"/>
              </a:rPr>
              <a:t>语法</a:t>
            </a:r>
          </a:p>
          <a:p>
            <a:pPr lvl="1" eaLnBrk="1" hangingPunct="1">
              <a:lnSpc>
                <a:spcPct val="90000"/>
              </a:lnSpc>
              <a:buSzPct val="75000"/>
            </a:pPr>
            <a:r>
              <a:rPr lang="en-US" altLang="zh-CN" sz="2200" b="0">
                <a:solidFill>
                  <a:srgbClr val="000000"/>
                </a:solidFill>
                <a:latin typeface="+mn-lt"/>
                <a:ea typeface="华文仿宋" panose="02010600040101010101" pitchFamily="2" charset="-122"/>
              </a:rPr>
              <a:t>ref_cursor_type_name variable_name;</a:t>
            </a:r>
          </a:p>
          <a:p>
            <a:pPr eaLnBrk="1" hangingPunct="1">
              <a:lnSpc>
                <a:spcPct val="90000"/>
              </a:lnSpc>
              <a:buSzPct val="75000"/>
            </a:pPr>
            <a:r>
              <a:rPr lang="zh-CN" altLang="en-US" sz="2200">
                <a:solidFill>
                  <a:srgbClr val="000000"/>
                </a:solidFill>
                <a:latin typeface="+mn-lt"/>
                <a:ea typeface="+mn-ea"/>
                <a:cs typeface="+mn-cs"/>
              </a:rPr>
              <a:t>例如</a:t>
            </a:r>
          </a:p>
          <a:p>
            <a:pPr lvl="1" eaLnBrk="1" hangingPunct="1">
              <a:lnSpc>
                <a:spcPct val="90000"/>
              </a:lnSpc>
              <a:buSzPct val="75000"/>
            </a:pPr>
            <a:r>
              <a:rPr lang="en-US" altLang="zh-CN" sz="2200" b="0">
                <a:solidFill>
                  <a:srgbClr val="000000"/>
                </a:solidFill>
                <a:latin typeface="+mn-lt"/>
                <a:ea typeface="华文仿宋" panose="02010600040101010101" pitchFamily="2" charset="-122"/>
              </a:rPr>
              <a:t>TYPE emp_cursor_type IS REF CURSOR </a:t>
            </a:r>
          </a:p>
          <a:p>
            <a:pPr lvl="1" eaLnBrk="1" hangingPunct="1">
              <a:lnSpc>
                <a:spcPct val="90000"/>
              </a:lnSpc>
              <a:buSzPct val="75000"/>
              <a:buFont typeface="Wingdings" panose="05000000000000000000" pitchFamily="2" charset="2"/>
              <a:buNone/>
            </a:pPr>
            <a:r>
              <a:rPr lang="en-US" altLang="zh-CN" sz="2200" b="0">
                <a:solidFill>
                  <a:srgbClr val="000000"/>
                </a:solidFill>
                <a:latin typeface="+mn-lt"/>
                <a:ea typeface="华文仿宋" panose="02010600040101010101" pitchFamily="2" charset="-122"/>
              </a:rPr>
              <a:t>               RETURN emp%ROWTYPE;</a:t>
            </a:r>
          </a:p>
          <a:p>
            <a:pPr lvl="1" eaLnBrk="1" hangingPunct="1">
              <a:lnSpc>
                <a:spcPct val="90000"/>
              </a:lnSpc>
              <a:buSzPct val="75000"/>
            </a:pPr>
            <a:r>
              <a:rPr lang="en-US" altLang="zh-CN" sz="2200" b="0">
                <a:solidFill>
                  <a:srgbClr val="000000"/>
                </a:solidFill>
                <a:latin typeface="+mn-lt"/>
                <a:ea typeface="华文仿宋" panose="02010600040101010101" pitchFamily="2" charset="-122"/>
              </a:rPr>
              <a:t>TYPE general_cursor_type IS REF CURSOR;</a:t>
            </a:r>
          </a:p>
          <a:p>
            <a:pPr lvl="1" eaLnBrk="1" hangingPunct="1">
              <a:lnSpc>
                <a:spcPct val="90000"/>
              </a:lnSpc>
              <a:buSzPct val="75000"/>
            </a:pPr>
            <a:r>
              <a:rPr lang="en-US" altLang="zh-CN" sz="2200" b="0">
                <a:solidFill>
                  <a:srgbClr val="000000"/>
                </a:solidFill>
                <a:latin typeface="+mn-lt"/>
                <a:ea typeface="华文仿宋" panose="02010600040101010101" pitchFamily="2" charset="-122"/>
              </a:rPr>
              <a:t>v_emp emp_cursor_type;</a:t>
            </a:r>
          </a:p>
          <a:p>
            <a:pPr lvl="1" eaLnBrk="1" hangingPunct="1">
              <a:lnSpc>
                <a:spcPct val="90000"/>
              </a:lnSpc>
              <a:buSzPct val="75000"/>
            </a:pPr>
            <a:r>
              <a:rPr lang="en-US" altLang="zh-CN" sz="2200" b="0">
                <a:solidFill>
                  <a:srgbClr val="000000"/>
                </a:solidFill>
                <a:latin typeface="+mn-lt"/>
                <a:ea typeface="华文仿宋" panose="02010600040101010101" pitchFamily="2" charset="-122"/>
              </a:rPr>
              <a:t>v_general general_cursor_type;</a:t>
            </a:r>
          </a:p>
          <a:p>
            <a:pPr lvl="1" eaLnBrk="1" hangingPunct="1">
              <a:lnSpc>
                <a:spcPct val="90000"/>
              </a:lnSpc>
              <a:buSzPct val="75000"/>
            </a:pPr>
            <a:r>
              <a:rPr lang="en-US" altLang="zh-CN" sz="2200" b="0">
                <a:solidFill>
                  <a:srgbClr val="000000"/>
                </a:solidFill>
                <a:latin typeface="+mn-lt"/>
                <a:ea typeface="华文仿宋" panose="02010600040101010101" pitchFamily="2" charset="-122"/>
              </a:rPr>
              <a:t>my_cursor SYS_REFCURSOR;</a:t>
            </a:r>
          </a:p>
        </p:txBody>
      </p:sp>
      <p:sp>
        <p:nvSpPr>
          <p:cNvPr id="89090"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85</a:t>
            </a:fld>
            <a:endParaRPr lang="en-US" altLang="zh-CN">
              <a:solidFill>
                <a:srgbClr val="898989"/>
              </a:solidFill>
              <a:ea typeface="宋体" panose="02010600030101010101" pitchFamily="2" charset="-122"/>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0115"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r>
              <a:rPr lang="zh-CN" altLang="en-US">
                <a:solidFill>
                  <a:srgbClr val="FFFFFF"/>
                </a:solidFill>
                <a:latin typeface="+mj-lt"/>
                <a:ea typeface="+mj-ea"/>
                <a:cs typeface="+mj-cs"/>
              </a:rPr>
              <a:t>（</a:t>
            </a:r>
            <a:r>
              <a:rPr lang="en-US" altLang="zh-CN">
                <a:solidFill>
                  <a:srgbClr val="FFFFFF"/>
                </a:solidFill>
                <a:latin typeface="+mj-lt"/>
                <a:ea typeface="+mj-ea"/>
                <a:cs typeface="+mj-cs"/>
              </a:rPr>
              <a:t>2</a:t>
            </a:r>
            <a:r>
              <a:rPr lang="zh-CN" altLang="en-US">
                <a:solidFill>
                  <a:srgbClr val="FFFFFF"/>
                </a:solidFill>
                <a:latin typeface="+mj-lt"/>
                <a:ea typeface="+mj-ea"/>
                <a:cs typeface="+mj-cs"/>
              </a:rPr>
              <a:t>）打开游标变量</a:t>
            </a:r>
          </a:p>
        </p:txBody>
      </p:sp>
      <p:sp>
        <p:nvSpPr>
          <p:cNvPr id="90116"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lnSpc>
                <a:spcPct val="90000"/>
              </a:lnSpc>
              <a:buSzPct val="75000"/>
            </a:pPr>
            <a:r>
              <a:rPr lang="zh-CN" altLang="en-US" sz="1400">
                <a:solidFill>
                  <a:srgbClr val="000000"/>
                </a:solidFill>
                <a:latin typeface="+mn-lt"/>
                <a:ea typeface="+mn-ea"/>
                <a:cs typeface="+mn-cs"/>
              </a:rPr>
              <a:t>语法</a:t>
            </a:r>
          </a:p>
          <a:p>
            <a:pPr lvl="1" eaLnBrk="1" hangingPunct="1">
              <a:lnSpc>
                <a:spcPct val="90000"/>
              </a:lnSpc>
              <a:buSzPct val="75000"/>
            </a:pPr>
            <a:r>
              <a:rPr lang="en-US" altLang="zh-CN" sz="1400">
                <a:solidFill>
                  <a:srgbClr val="000000"/>
                </a:solidFill>
                <a:latin typeface="+mn-lt"/>
                <a:ea typeface="华文仿宋" panose="02010600040101010101" pitchFamily="2" charset="-122"/>
              </a:rPr>
              <a:t>OPEN cursor_variable FOR select_statement;</a:t>
            </a:r>
          </a:p>
          <a:p>
            <a:pPr eaLnBrk="1" hangingPunct="1">
              <a:lnSpc>
                <a:spcPct val="90000"/>
              </a:lnSpc>
              <a:buSzPct val="75000"/>
            </a:pPr>
            <a:r>
              <a:rPr lang="zh-CN" altLang="en-US" sz="1400">
                <a:solidFill>
                  <a:srgbClr val="000000"/>
                </a:solidFill>
                <a:latin typeface="+mn-lt"/>
                <a:ea typeface="+mn-ea"/>
                <a:cs typeface="+mn-cs"/>
              </a:rPr>
              <a:t>注意</a:t>
            </a:r>
          </a:p>
          <a:p>
            <a:pPr lvl="1" eaLnBrk="1" hangingPunct="1">
              <a:lnSpc>
                <a:spcPct val="90000"/>
              </a:lnSpc>
              <a:buSzPct val="75000"/>
            </a:pPr>
            <a:r>
              <a:rPr lang="zh-CN" altLang="en-US" sz="1400">
                <a:solidFill>
                  <a:srgbClr val="000000"/>
                </a:solidFill>
                <a:latin typeface="+mn-lt"/>
                <a:ea typeface="华文仿宋" panose="02010600040101010101" pitchFamily="2" charset="-122"/>
              </a:rPr>
              <a:t>如果打开的游标变量是强游标变量，则查询语句的返回类型必须与游标引用类型定义中</a:t>
            </a:r>
            <a:r>
              <a:rPr lang="en-US" altLang="zh-CN" sz="1400">
                <a:solidFill>
                  <a:srgbClr val="000000"/>
                </a:solidFill>
                <a:latin typeface="+mn-lt"/>
                <a:ea typeface="华文仿宋" panose="02010600040101010101" pitchFamily="2" charset="-122"/>
              </a:rPr>
              <a:t>RETURN</a:t>
            </a:r>
            <a:r>
              <a:rPr lang="zh-CN" altLang="en-US" sz="1400">
                <a:solidFill>
                  <a:srgbClr val="000000"/>
                </a:solidFill>
                <a:latin typeface="+mn-lt"/>
                <a:ea typeface="华文仿宋" panose="02010600040101010101" pitchFamily="2" charset="-122"/>
              </a:rPr>
              <a:t>子句指定的返回类型相匹配。</a:t>
            </a:r>
          </a:p>
          <a:p>
            <a:pPr eaLnBrk="1" hangingPunct="1">
              <a:lnSpc>
                <a:spcPct val="90000"/>
              </a:lnSpc>
              <a:buSzPct val="75000"/>
            </a:pPr>
            <a:r>
              <a:rPr lang="zh-CN" altLang="en-US" sz="1400">
                <a:solidFill>
                  <a:srgbClr val="000000"/>
                </a:solidFill>
                <a:latin typeface="+mn-lt"/>
                <a:ea typeface="+mn-ea"/>
                <a:cs typeface="+mn-cs"/>
              </a:rPr>
              <a:t>例如</a:t>
            </a:r>
          </a:p>
          <a:p>
            <a:pPr lvl="1" eaLnBrk="1" hangingPunct="1">
              <a:lnSpc>
                <a:spcPct val="90000"/>
              </a:lnSpc>
              <a:buSzPct val="75000"/>
            </a:pPr>
            <a:r>
              <a:rPr lang="en-US" altLang="zh-CN" sz="1400">
                <a:solidFill>
                  <a:srgbClr val="000000"/>
                </a:solidFill>
                <a:latin typeface="+mn-lt"/>
                <a:ea typeface="华文仿宋" panose="02010600040101010101" pitchFamily="2" charset="-122"/>
              </a:rPr>
              <a:t>TYPE emp_cursor_type IS REF CURSOR RETURN employees%ROWTYPE;</a:t>
            </a:r>
          </a:p>
          <a:p>
            <a:pPr lvl="1" eaLnBrk="1" hangingPunct="1">
              <a:lnSpc>
                <a:spcPct val="90000"/>
              </a:lnSpc>
              <a:buSzPct val="75000"/>
            </a:pPr>
            <a:r>
              <a:rPr lang="en-US" altLang="zh-CN" sz="1400">
                <a:solidFill>
                  <a:srgbClr val="000000"/>
                </a:solidFill>
                <a:latin typeface="+mn-lt"/>
                <a:ea typeface="华文仿宋" panose="02010600040101010101" pitchFamily="2" charset="-122"/>
              </a:rPr>
              <a:t>TYPE general_cursor_type IS REF CURSOR;</a:t>
            </a:r>
          </a:p>
          <a:p>
            <a:pPr lvl="1" eaLnBrk="1" hangingPunct="1">
              <a:lnSpc>
                <a:spcPct val="90000"/>
              </a:lnSpc>
              <a:buSzPct val="75000"/>
            </a:pPr>
            <a:r>
              <a:rPr lang="en-US" altLang="zh-CN" sz="1400">
                <a:solidFill>
                  <a:srgbClr val="000000"/>
                </a:solidFill>
                <a:latin typeface="+mn-lt"/>
                <a:ea typeface="华文仿宋" panose="02010600040101010101" pitchFamily="2" charset="-122"/>
              </a:rPr>
              <a:t>v_emp emp_cursor_type;</a:t>
            </a:r>
          </a:p>
          <a:p>
            <a:pPr lvl="1" eaLnBrk="1" hangingPunct="1">
              <a:lnSpc>
                <a:spcPct val="90000"/>
              </a:lnSpc>
              <a:buSzPct val="75000"/>
            </a:pPr>
            <a:r>
              <a:rPr lang="en-US" altLang="zh-CN" sz="1400">
                <a:solidFill>
                  <a:srgbClr val="000000"/>
                </a:solidFill>
                <a:latin typeface="+mn-lt"/>
                <a:ea typeface="华文仿宋" panose="02010600040101010101" pitchFamily="2" charset="-122"/>
              </a:rPr>
              <a:t>v_general general_cursor_type;</a:t>
            </a:r>
          </a:p>
          <a:p>
            <a:pPr lvl="1" eaLnBrk="1" hangingPunct="1">
              <a:lnSpc>
                <a:spcPct val="90000"/>
              </a:lnSpc>
              <a:buSzPct val="75000"/>
            </a:pPr>
            <a:r>
              <a:rPr lang="en-US" altLang="zh-CN" sz="1400">
                <a:solidFill>
                  <a:srgbClr val="000000"/>
                </a:solidFill>
                <a:latin typeface="+mn-lt"/>
                <a:ea typeface="华文仿宋" panose="02010600040101010101" pitchFamily="2" charset="-122"/>
              </a:rPr>
              <a:t>my_cursor SYS_REFCURSOR; </a:t>
            </a:r>
          </a:p>
        </p:txBody>
      </p:sp>
      <p:sp>
        <p:nvSpPr>
          <p:cNvPr id="90114"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86</a:t>
            </a:fld>
            <a:endParaRPr lang="en-US" altLang="zh-CN">
              <a:solidFill>
                <a:srgbClr val="898989"/>
              </a:solidFill>
              <a:ea typeface="宋体" panose="02010600030101010101" pitchFamily="2" charset="-122"/>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1139"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r>
              <a:rPr lang="zh-CN" altLang="en-US">
                <a:solidFill>
                  <a:srgbClr val="FFFFFF"/>
                </a:solidFill>
                <a:latin typeface="+mj-lt"/>
                <a:ea typeface="+mj-ea"/>
                <a:cs typeface="+mj-cs"/>
              </a:rPr>
              <a:t>（</a:t>
            </a:r>
            <a:r>
              <a:rPr lang="en-US" altLang="zh-CN">
                <a:solidFill>
                  <a:srgbClr val="FFFFFF"/>
                </a:solidFill>
                <a:latin typeface="+mj-lt"/>
                <a:ea typeface="+mj-ea"/>
                <a:cs typeface="+mj-cs"/>
              </a:rPr>
              <a:t>3</a:t>
            </a:r>
            <a:r>
              <a:rPr lang="zh-CN" altLang="en-US">
                <a:solidFill>
                  <a:srgbClr val="FFFFFF"/>
                </a:solidFill>
                <a:latin typeface="+mj-lt"/>
                <a:ea typeface="+mj-ea"/>
                <a:cs typeface="+mj-cs"/>
              </a:rPr>
              <a:t>）检索游标变量</a:t>
            </a:r>
          </a:p>
        </p:txBody>
      </p:sp>
      <p:sp>
        <p:nvSpPr>
          <p:cNvPr id="91140"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lnSpc>
                <a:spcPct val="90000"/>
              </a:lnSpc>
              <a:buSzPct val="75000"/>
            </a:pPr>
            <a:r>
              <a:rPr lang="zh-CN" altLang="en-US" sz="1900">
                <a:solidFill>
                  <a:srgbClr val="000000"/>
                </a:solidFill>
                <a:latin typeface="+mn-lt"/>
                <a:ea typeface="+mn-ea"/>
                <a:cs typeface="+mn-cs"/>
              </a:rPr>
              <a:t>语法</a:t>
            </a:r>
          </a:p>
          <a:p>
            <a:pPr lvl="1" eaLnBrk="1" hangingPunct="1">
              <a:lnSpc>
                <a:spcPct val="90000"/>
              </a:lnSpc>
              <a:buSzPct val="75000"/>
            </a:pPr>
            <a:r>
              <a:rPr lang="en-US" altLang="zh-CN" sz="1900">
                <a:solidFill>
                  <a:srgbClr val="000000"/>
                </a:solidFill>
                <a:latin typeface="+mn-lt"/>
                <a:ea typeface="华文仿宋" panose="02010600040101010101" pitchFamily="2" charset="-122"/>
              </a:rPr>
              <a:t>LOOP</a:t>
            </a:r>
          </a:p>
          <a:p>
            <a:pPr lvl="1" eaLnBrk="1" hangingPunct="1">
              <a:lnSpc>
                <a:spcPct val="90000"/>
              </a:lnSpc>
              <a:buSzPct val="75000"/>
            </a:pPr>
            <a:r>
              <a:rPr lang="en-US" altLang="zh-CN" sz="1900">
                <a:solidFill>
                  <a:srgbClr val="000000"/>
                </a:solidFill>
                <a:latin typeface="+mn-lt"/>
                <a:ea typeface="华文仿宋" panose="02010600040101010101" pitchFamily="2" charset="-122"/>
              </a:rPr>
              <a:t>FETCH cursor_variable INTO variable1, variable2, </a:t>
            </a:r>
            <a:r>
              <a:rPr lang="en-US" altLang="zh-CN" sz="1900">
                <a:solidFill>
                  <a:srgbClr val="000000"/>
                </a:solidFill>
                <a:latin typeface="华文仿宋" panose="02010600040101010101" pitchFamily="2" charset="-122"/>
                <a:ea typeface="华文仿宋" panose="02010600040101010101" pitchFamily="2" charset="-122"/>
              </a:rPr>
              <a:t>…</a:t>
            </a:r>
            <a:r>
              <a:rPr lang="en-US" altLang="zh-CN" sz="1900">
                <a:solidFill>
                  <a:srgbClr val="000000"/>
                </a:solidFill>
                <a:latin typeface="+mn-lt"/>
                <a:ea typeface="华文仿宋" panose="02010600040101010101" pitchFamily="2" charset="-122"/>
              </a:rPr>
              <a:t>;</a:t>
            </a:r>
          </a:p>
          <a:p>
            <a:pPr lvl="1" eaLnBrk="1" hangingPunct="1">
              <a:lnSpc>
                <a:spcPct val="90000"/>
              </a:lnSpc>
              <a:buSzPct val="75000"/>
            </a:pPr>
            <a:r>
              <a:rPr lang="en-US" altLang="zh-CN" sz="1900">
                <a:solidFill>
                  <a:srgbClr val="000000"/>
                </a:solidFill>
                <a:latin typeface="+mn-lt"/>
                <a:ea typeface="华文仿宋" panose="02010600040101010101" pitchFamily="2" charset="-122"/>
              </a:rPr>
              <a:t>EXIT WHEN cursor_variable%NOTFOUND;</a:t>
            </a:r>
          </a:p>
          <a:p>
            <a:pPr lvl="1" eaLnBrk="1" hangingPunct="1">
              <a:lnSpc>
                <a:spcPct val="90000"/>
              </a:lnSpc>
              <a:buSzPct val="75000"/>
            </a:pPr>
            <a:r>
              <a:rPr lang="en-US" altLang="zh-CN" sz="1900">
                <a:solidFill>
                  <a:srgbClr val="000000"/>
                </a:solidFill>
                <a:latin typeface="华文仿宋" panose="02010600040101010101" pitchFamily="2" charset="-122"/>
                <a:ea typeface="华文仿宋" panose="02010600040101010101" pitchFamily="2" charset="-122"/>
              </a:rPr>
              <a:t>……</a:t>
            </a:r>
            <a:endParaRPr lang="en-US" altLang="zh-CN" sz="1900">
              <a:solidFill>
                <a:srgbClr val="000000"/>
              </a:solidFill>
              <a:latin typeface="+mn-lt"/>
              <a:ea typeface="华文仿宋" panose="02010600040101010101" pitchFamily="2" charset="-122"/>
            </a:endParaRPr>
          </a:p>
          <a:p>
            <a:pPr lvl="1" eaLnBrk="1" hangingPunct="1">
              <a:lnSpc>
                <a:spcPct val="90000"/>
              </a:lnSpc>
              <a:buSzPct val="75000"/>
            </a:pPr>
            <a:r>
              <a:rPr lang="en-US" altLang="zh-CN" sz="1900">
                <a:solidFill>
                  <a:srgbClr val="000000"/>
                </a:solidFill>
                <a:latin typeface="+mn-lt"/>
                <a:ea typeface="华文仿宋" panose="02010600040101010101" pitchFamily="2" charset="-122"/>
              </a:rPr>
              <a:t>END LOOP; </a:t>
            </a:r>
          </a:p>
          <a:p>
            <a:pPr eaLnBrk="1" hangingPunct="1">
              <a:lnSpc>
                <a:spcPct val="90000"/>
              </a:lnSpc>
              <a:buSzPct val="75000"/>
            </a:pPr>
            <a:r>
              <a:rPr lang="zh-CN" altLang="en-US" sz="1900">
                <a:solidFill>
                  <a:srgbClr val="000000"/>
                </a:solidFill>
                <a:latin typeface="+mn-lt"/>
                <a:ea typeface="+mn-ea"/>
                <a:cs typeface="+mn-cs"/>
              </a:rPr>
              <a:t>注意</a:t>
            </a:r>
          </a:p>
          <a:p>
            <a:pPr lvl="1" eaLnBrk="1" hangingPunct="1">
              <a:lnSpc>
                <a:spcPct val="90000"/>
              </a:lnSpc>
              <a:buSzPct val="75000"/>
            </a:pPr>
            <a:r>
              <a:rPr lang="zh-CN" altLang="en-US" sz="1900">
                <a:solidFill>
                  <a:srgbClr val="000000"/>
                </a:solidFill>
                <a:latin typeface="+mn-lt"/>
                <a:ea typeface="华文仿宋" panose="02010600040101010101" pitchFamily="2" charset="-122"/>
              </a:rPr>
              <a:t>检索游标变量时只能使用简单循环或</a:t>
            </a:r>
            <a:r>
              <a:rPr lang="en-US" altLang="zh-CN" sz="1900">
                <a:solidFill>
                  <a:srgbClr val="000000"/>
                </a:solidFill>
                <a:latin typeface="+mn-lt"/>
                <a:ea typeface="华文仿宋" panose="02010600040101010101" pitchFamily="2" charset="-122"/>
              </a:rPr>
              <a:t>WHILE</a:t>
            </a:r>
            <a:r>
              <a:rPr lang="zh-CN" altLang="en-US" sz="1900">
                <a:solidFill>
                  <a:srgbClr val="000000"/>
                </a:solidFill>
                <a:latin typeface="+mn-lt"/>
                <a:ea typeface="华文仿宋" panose="02010600040101010101" pitchFamily="2" charset="-122"/>
              </a:rPr>
              <a:t>循环，不能采用</a:t>
            </a:r>
            <a:r>
              <a:rPr lang="en-US" altLang="zh-CN" sz="1900">
                <a:solidFill>
                  <a:srgbClr val="000000"/>
                </a:solidFill>
                <a:latin typeface="+mn-lt"/>
                <a:ea typeface="华文仿宋" panose="02010600040101010101" pitchFamily="2" charset="-122"/>
              </a:rPr>
              <a:t>FOR</a:t>
            </a:r>
            <a:r>
              <a:rPr lang="zh-CN" altLang="en-US" sz="1900">
                <a:solidFill>
                  <a:srgbClr val="000000"/>
                </a:solidFill>
                <a:latin typeface="+mn-lt"/>
                <a:ea typeface="华文仿宋" panose="02010600040101010101" pitchFamily="2" charset="-122"/>
              </a:rPr>
              <a:t>循环。</a:t>
            </a:r>
          </a:p>
        </p:txBody>
      </p:sp>
      <p:sp>
        <p:nvSpPr>
          <p:cNvPr id="91138"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87</a:t>
            </a:fld>
            <a:endParaRPr lang="en-US" altLang="zh-CN">
              <a:solidFill>
                <a:srgbClr val="898989"/>
              </a:solidFill>
              <a:ea typeface="宋体" panose="02010600030101010101" pitchFamily="2" charset="-122"/>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2163"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r>
              <a:rPr lang="zh-CN" altLang="en-US">
                <a:solidFill>
                  <a:srgbClr val="FFFFFF"/>
                </a:solidFill>
                <a:latin typeface="+mj-lt"/>
                <a:ea typeface="+mj-ea"/>
                <a:cs typeface="+mj-cs"/>
              </a:rPr>
              <a:t>（</a:t>
            </a:r>
            <a:r>
              <a:rPr lang="en-US" altLang="zh-CN">
                <a:solidFill>
                  <a:srgbClr val="FFFFFF"/>
                </a:solidFill>
                <a:latin typeface="+mj-lt"/>
                <a:ea typeface="+mj-ea"/>
                <a:cs typeface="+mj-cs"/>
              </a:rPr>
              <a:t>4</a:t>
            </a:r>
            <a:r>
              <a:rPr lang="zh-CN" altLang="en-US">
                <a:solidFill>
                  <a:srgbClr val="FFFFFF"/>
                </a:solidFill>
                <a:latin typeface="+mj-lt"/>
                <a:ea typeface="+mj-ea"/>
                <a:cs typeface="+mj-cs"/>
              </a:rPr>
              <a:t>）关闭游标变量</a:t>
            </a:r>
          </a:p>
        </p:txBody>
      </p:sp>
      <p:sp>
        <p:nvSpPr>
          <p:cNvPr id="92164"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buSzPct val="75000"/>
            </a:pPr>
            <a:r>
              <a:rPr lang="zh-CN" altLang="en-US" sz="2000">
                <a:solidFill>
                  <a:srgbClr val="000000"/>
                </a:solidFill>
                <a:latin typeface="+mn-lt"/>
                <a:ea typeface="+mn-ea"/>
                <a:cs typeface="+mn-cs"/>
              </a:rPr>
              <a:t>语法</a:t>
            </a:r>
          </a:p>
          <a:p>
            <a:pPr lvl="1" eaLnBrk="1" hangingPunct="1">
              <a:buSzPct val="75000"/>
            </a:pPr>
            <a:r>
              <a:rPr lang="en-US" altLang="zh-CN" sz="2000">
                <a:solidFill>
                  <a:srgbClr val="000000"/>
                </a:solidFill>
                <a:latin typeface="+mn-lt"/>
                <a:ea typeface="华文仿宋" panose="02010600040101010101" pitchFamily="2" charset="-122"/>
              </a:rPr>
              <a:t>CLOSE cursor_variable; </a:t>
            </a:r>
          </a:p>
        </p:txBody>
      </p:sp>
      <p:sp>
        <p:nvSpPr>
          <p:cNvPr id="92162"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88</a:t>
            </a:fld>
            <a:endParaRPr lang="en-US" altLang="zh-CN">
              <a:solidFill>
                <a:srgbClr val="898989"/>
              </a:solidFill>
              <a:ea typeface="宋体" panose="02010600030101010101" pitchFamily="2" charset="-122"/>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6" name="Picture 75">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3187" name="Rectangle 3"/>
          <p:cNvSpPr>
            <a:spLocks noGrp="1"/>
          </p:cNvSpPr>
          <p:nvPr>
            <p:ph idx="1"/>
          </p:nvPr>
        </p:nvSpPr>
        <p:spPr>
          <a:xfrm>
            <a:off x="6090574" y="801866"/>
            <a:ext cx="5306084" cy="5230634"/>
          </a:xfrm>
        </p:spPr>
        <p:txBody>
          <a:bodyPr vert="horz" lIns="121920" tIns="60960" rIns="121920" bIns="60960" anchor="ctr">
            <a:normAutofit/>
          </a:bodyPr>
          <a:lstStyle/>
          <a:p>
            <a:pPr eaLnBrk="1" hangingPunct="1">
              <a:lnSpc>
                <a:spcPct val="90000"/>
              </a:lnSpc>
              <a:buSzPct val="75000"/>
            </a:pPr>
            <a:r>
              <a:rPr lang="en-US" altLang="zh-CN" sz="1300">
                <a:solidFill>
                  <a:srgbClr val="000000"/>
                </a:solidFill>
                <a:latin typeface="+mn-lt"/>
                <a:ea typeface="+mn-ea"/>
                <a:cs typeface="+mn-cs"/>
              </a:rPr>
              <a:t>DECLARE</a:t>
            </a:r>
          </a:p>
          <a:p>
            <a:pPr eaLnBrk="1" hangingPunct="1">
              <a:lnSpc>
                <a:spcPct val="90000"/>
              </a:lnSpc>
              <a:buSzPct val="75000"/>
            </a:pPr>
            <a:r>
              <a:rPr lang="en-US" altLang="zh-CN" sz="1300">
                <a:solidFill>
                  <a:srgbClr val="000000"/>
                </a:solidFill>
                <a:latin typeface="+mn-lt"/>
                <a:ea typeface="+mn-ea"/>
                <a:cs typeface="+mn-cs"/>
              </a:rPr>
              <a:t>  TYPE emp_cursor_type IS REF CURSOR </a:t>
            </a:r>
          </a:p>
          <a:p>
            <a:pPr eaLnBrk="1" hangingPunct="1">
              <a:lnSpc>
                <a:spcPct val="90000"/>
              </a:lnSpc>
              <a:buSzPct val="75000"/>
            </a:pPr>
            <a:r>
              <a:rPr lang="en-US" altLang="zh-CN" sz="1300">
                <a:solidFill>
                  <a:srgbClr val="000000"/>
                </a:solidFill>
                <a:latin typeface="+mn-lt"/>
                <a:ea typeface="+mn-ea"/>
                <a:cs typeface="+mn-cs"/>
              </a:rPr>
              <a:t>  RETURN employees%ROWTYPE;</a:t>
            </a:r>
          </a:p>
          <a:p>
            <a:pPr eaLnBrk="1" hangingPunct="1">
              <a:lnSpc>
                <a:spcPct val="90000"/>
              </a:lnSpc>
              <a:buSzPct val="75000"/>
            </a:pPr>
            <a:r>
              <a:rPr lang="en-US" altLang="zh-CN" sz="1300">
                <a:solidFill>
                  <a:srgbClr val="000000"/>
                </a:solidFill>
                <a:latin typeface="+mn-lt"/>
                <a:ea typeface="+mn-ea"/>
                <a:cs typeface="+mn-cs"/>
              </a:rPr>
              <a:t>  TYPE general_cursor_type IS REF CURSOR;</a:t>
            </a:r>
          </a:p>
          <a:p>
            <a:pPr eaLnBrk="1" hangingPunct="1">
              <a:lnSpc>
                <a:spcPct val="90000"/>
              </a:lnSpc>
              <a:buSzPct val="75000"/>
            </a:pPr>
            <a:r>
              <a:rPr lang="en-US" altLang="zh-CN" sz="1300">
                <a:solidFill>
                  <a:srgbClr val="000000"/>
                </a:solidFill>
                <a:latin typeface="+mn-lt"/>
                <a:ea typeface="+mn-ea"/>
                <a:cs typeface="+mn-cs"/>
              </a:rPr>
              <a:t>  v_emp emp_cursor_type;</a:t>
            </a:r>
          </a:p>
          <a:p>
            <a:pPr eaLnBrk="1" hangingPunct="1">
              <a:lnSpc>
                <a:spcPct val="90000"/>
              </a:lnSpc>
              <a:buSzPct val="75000"/>
            </a:pPr>
            <a:r>
              <a:rPr lang="en-US" altLang="zh-CN" sz="1300">
                <a:solidFill>
                  <a:srgbClr val="000000"/>
                </a:solidFill>
                <a:latin typeface="+mn-lt"/>
                <a:ea typeface="+mn-ea"/>
                <a:cs typeface="+mn-cs"/>
              </a:rPr>
              <a:t>  v_general general_cursor_type;</a:t>
            </a:r>
          </a:p>
          <a:p>
            <a:pPr eaLnBrk="1" hangingPunct="1">
              <a:lnSpc>
                <a:spcPct val="90000"/>
              </a:lnSpc>
              <a:buSzPct val="75000"/>
            </a:pPr>
            <a:r>
              <a:rPr lang="en-US" altLang="zh-CN" sz="1300">
                <a:solidFill>
                  <a:srgbClr val="000000"/>
                </a:solidFill>
                <a:latin typeface="+mn-lt"/>
                <a:ea typeface="+mn-ea"/>
                <a:cs typeface="+mn-cs"/>
              </a:rPr>
              <a:t>  my_cursor SYS_REFCURSOR;</a:t>
            </a:r>
          </a:p>
          <a:p>
            <a:pPr eaLnBrk="1" hangingPunct="1">
              <a:lnSpc>
                <a:spcPct val="90000"/>
              </a:lnSpc>
              <a:buSzPct val="75000"/>
            </a:pPr>
            <a:r>
              <a:rPr lang="en-US" altLang="zh-CN" sz="1300">
                <a:solidFill>
                  <a:srgbClr val="000000"/>
                </a:solidFill>
                <a:latin typeface="+mn-lt"/>
                <a:ea typeface="+mn-ea"/>
                <a:cs typeface="+mn-cs"/>
              </a:rPr>
              <a:t>  v_empinfo employees%ROWTYPE;</a:t>
            </a:r>
          </a:p>
          <a:p>
            <a:pPr eaLnBrk="1" hangingPunct="1">
              <a:lnSpc>
                <a:spcPct val="90000"/>
              </a:lnSpc>
              <a:buSzPct val="75000"/>
            </a:pPr>
            <a:r>
              <a:rPr lang="en-US" altLang="zh-CN" sz="1300">
                <a:solidFill>
                  <a:srgbClr val="000000"/>
                </a:solidFill>
                <a:latin typeface="+mn-lt"/>
                <a:ea typeface="+mn-ea"/>
                <a:cs typeface="+mn-cs"/>
              </a:rPr>
              <a:t>  v_deptinfo departments%ROWTYPE;</a:t>
            </a:r>
          </a:p>
          <a:p>
            <a:pPr eaLnBrk="1" hangingPunct="1">
              <a:lnSpc>
                <a:spcPct val="90000"/>
              </a:lnSpc>
              <a:buSzPct val="75000"/>
            </a:pPr>
            <a:r>
              <a:rPr lang="en-US" altLang="zh-CN" sz="1300">
                <a:solidFill>
                  <a:srgbClr val="000000"/>
                </a:solidFill>
                <a:latin typeface="+mn-lt"/>
                <a:ea typeface="+mn-ea"/>
                <a:cs typeface="+mn-cs"/>
              </a:rPr>
              <a:t>BEGIN</a:t>
            </a:r>
          </a:p>
          <a:p>
            <a:pPr eaLnBrk="1" hangingPunct="1">
              <a:lnSpc>
                <a:spcPct val="90000"/>
              </a:lnSpc>
              <a:buSzPct val="75000"/>
            </a:pPr>
            <a:r>
              <a:rPr lang="en-US" altLang="zh-CN" sz="1300">
                <a:solidFill>
                  <a:srgbClr val="000000"/>
                </a:solidFill>
                <a:latin typeface="+mn-lt"/>
                <a:ea typeface="+mn-ea"/>
                <a:cs typeface="+mn-cs"/>
              </a:rPr>
              <a:t>  OPEN v_emp FOR SELECT * FROM employees;</a:t>
            </a:r>
          </a:p>
          <a:p>
            <a:pPr eaLnBrk="1" hangingPunct="1">
              <a:lnSpc>
                <a:spcPct val="90000"/>
              </a:lnSpc>
              <a:buSzPct val="75000"/>
            </a:pPr>
            <a:r>
              <a:rPr lang="en-US" altLang="zh-CN" sz="1300">
                <a:solidFill>
                  <a:srgbClr val="000000"/>
                </a:solidFill>
                <a:latin typeface="+mn-lt"/>
                <a:ea typeface="+mn-ea"/>
                <a:cs typeface="+mn-cs"/>
              </a:rPr>
              <a:t>  LOOP </a:t>
            </a:r>
          </a:p>
          <a:p>
            <a:pPr eaLnBrk="1" hangingPunct="1">
              <a:lnSpc>
                <a:spcPct val="90000"/>
              </a:lnSpc>
              <a:buSzPct val="75000"/>
            </a:pPr>
            <a:r>
              <a:rPr lang="en-US" altLang="zh-CN" sz="1300">
                <a:solidFill>
                  <a:srgbClr val="000000"/>
                </a:solidFill>
                <a:latin typeface="+mn-lt"/>
                <a:ea typeface="+mn-ea"/>
                <a:cs typeface="+mn-cs"/>
              </a:rPr>
              <a:t>    FETCH v_emp INTO v_empinfo;  </a:t>
            </a:r>
          </a:p>
          <a:p>
            <a:pPr eaLnBrk="1" hangingPunct="1">
              <a:lnSpc>
                <a:spcPct val="90000"/>
              </a:lnSpc>
              <a:buSzPct val="75000"/>
            </a:pPr>
            <a:r>
              <a:rPr lang="en-US" altLang="zh-CN" sz="1300">
                <a:solidFill>
                  <a:srgbClr val="000000"/>
                </a:solidFill>
                <a:latin typeface="+mn-lt"/>
                <a:ea typeface="+mn-ea"/>
                <a:cs typeface="+mn-cs"/>
              </a:rPr>
              <a:t>    EXIT WHEN v_emp%NOTFOUND;</a:t>
            </a:r>
          </a:p>
          <a:p>
            <a:pPr eaLnBrk="1" hangingPunct="1">
              <a:lnSpc>
                <a:spcPct val="90000"/>
              </a:lnSpc>
              <a:buSzPct val="75000"/>
            </a:pPr>
            <a:r>
              <a:rPr lang="en-US" altLang="zh-CN" sz="1300">
                <a:solidFill>
                  <a:srgbClr val="000000"/>
                </a:solidFill>
                <a:latin typeface="+mn-lt"/>
                <a:ea typeface="+mn-ea"/>
                <a:cs typeface="+mn-cs"/>
              </a:rPr>
              <a:t>    DBMS_OUTPUT.PUT_LINE(v_empinfo.employee_id||' '||</a:t>
            </a:r>
          </a:p>
          <a:p>
            <a:pPr eaLnBrk="1" hangingPunct="1">
              <a:lnSpc>
                <a:spcPct val="90000"/>
              </a:lnSpc>
              <a:buSzPct val="75000"/>
            </a:pPr>
            <a:r>
              <a:rPr lang="en-US" altLang="zh-CN" sz="1300">
                <a:solidFill>
                  <a:srgbClr val="000000"/>
                </a:solidFill>
                <a:latin typeface="+mn-lt"/>
                <a:ea typeface="+mn-ea"/>
                <a:cs typeface="+mn-cs"/>
              </a:rPr>
              <a:t>      v_empinfo.first_name||' '||v_empinfo.last_name||' '||</a:t>
            </a:r>
          </a:p>
          <a:p>
            <a:pPr eaLnBrk="1" hangingPunct="1">
              <a:lnSpc>
                <a:spcPct val="90000"/>
              </a:lnSpc>
              <a:buSzPct val="75000"/>
            </a:pPr>
            <a:r>
              <a:rPr lang="en-US" altLang="zh-CN" sz="1300">
                <a:solidFill>
                  <a:srgbClr val="000000"/>
                </a:solidFill>
                <a:latin typeface="+mn-lt"/>
                <a:ea typeface="+mn-ea"/>
                <a:cs typeface="+mn-cs"/>
              </a:rPr>
              <a:t>      v_empinfo.salary);</a:t>
            </a:r>
          </a:p>
          <a:p>
            <a:pPr eaLnBrk="1" hangingPunct="1">
              <a:lnSpc>
                <a:spcPct val="90000"/>
              </a:lnSpc>
              <a:buSzPct val="75000"/>
            </a:pPr>
            <a:r>
              <a:rPr lang="en-US" altLang="zh-CN" sz="1300">
                <a:solidFill>
                  <a:srgbClr val="000000"/>
                </a:solidFill>
                <a:latin typeface="+mn-lt"/>
                <a:ea typeface="+mn-ea"/>
                <a:cs typeface="+mn-cs"/>
              </a:rPr>
              <a:t>  END LOOP;</a:t>
            </a:r>
          </a:p>
          <a:p>
            <a:pPr eaLnBrk="1" hangingPunct="1">
              <a:lnSpc>
                <a:spcPct val="90000"/>
              </a:lnSpc>
              <a:buSzPct val="75000"/>
            </a:pPr>
            <a:r>
              <a:rPr lang="en-US" altLang="zh-CN" sz="1300">
                <a:solidFill>
                  <a:srgbClr val="000000"/>
                </a:solidFill>
                <a:latin typeface="+mn-lt"/>
                <a:ea typeface="+mn-ea"/>
                <a:cs typeface="+mn-cs"/>
              </a:rPr>
              <a:t>  CLOSE v_emp;   </a:t>
            </a:r>
          </a:p>
        </p:txBody>
      </p:sp>
      <p:sp>
        <p:nvSpPr>
          <p:cNvPr id="93186"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89</a:t>
            </a:fld>
            <a:endParaRPr lang="en-US" altLang="zh-CN">
              <a:solidFill>
                <a:srgbClr val="898989"/>
              </a:solidFill>
              <a:ea typeface="宋体" panose="02010600030101010101" pitchFamily="2" charset="-122"/>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7" name="Picture 76">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4211" name="Rectangle 2"/>
          <p:cNvSpPr>
            <a:spLocks noGrp="1"/>
          </p:cNvSpPr>
          <p:nvPr>
            <p:ph type="title"/>
          </p:nvPr>
        </p:nvSpPr>
        <p:spPr>
          <a:xfrm>
            <a:off x="640079" y="2053641"/>
            <a:ext cx="3669161" cy="2760098"/>
          </a:xfrm>
        </p:spPr>
        <p:txBody>
          <a:bodyPr vert="horz" lIns="121920" tIns="60960" rIns="121920" bIns="60960">
            <a:normAutofit/>
          </a:bodyPr>
          <a:lstStyle/>
          <a:p>
            <a:pPr eaLnBrk="1" hangingPunct="1"/>
            <a:endParaRPr lang="zh-CN" altLang="zh-CN">
              <a:solidFill>
                <a:srgbClr val="FFFFFF"/>
              </a:solidFill>
              <a:latin typeface="+mj-lt"/>
              <a:ea typeface="+mj-ea"/>
              <a:cs typeface="+mj-cs"/>
            </a:endParaRPr>
          </a:p>
        </p:txBody>
      </p:sp>
      <p:sp>
        <p:nvSpPr>
          <p:cNvPr id="94212" name="Rectangle 3"/>
          <p:cNvSpPr>
            <a:spLocks noGrp="1"/>
          </p:cNvSpPr>
          <p:nvPr>
            <p:ph idx="1"/>
          </p:nvPr>
        </p:nvSpPr>
        <p:spPr>
          <a:xfrm>
            <a:off x="6090574" y="801866"/>
            <a:ext cx="5306084" cy="5230634"/>
          </a:xfrm>
        </p:spPr>
        <p:txBody>
          <a:bodyPr vert="horz" lIns="121920" tIns="60960" rIns="121920" bIns="60960" anchor="ctr">
            <a:normAutofit/>
          </a:bodyPr>
          <a:lstStyle/>
          <a:p>
            <a:pPr eaLnBrk="1" hangingPunct="1">
              <a:lnSpc>
                <a:spcPct val="90000"/>
              </a:lnSpc>
              <a:buSzPct val="75000"/>
            </a:pPr>
            <a:r>
              <a:rPr lang="en-US" altLang="zh-CN" sz="1700">
                <a:solidFill>
                  <a:srgbClr val="000000"/>
                </a:solidFill>
                <a:latin typeface="+mn-lt"/>
                <a:ea typeface="+mn-ea"/>
                <a:cs typeface="+mn-cs"/>
              </a:rPr>
              <a:t> OPEN my_cursor FOR SELECT * FROM departments;</a:t>
            </a:r>
          </a:p>
          <a:p>
            <a:pPr eaLnBrk="1" hangingPunct="1">
              <a:lnSpc>
                <a:spcPct val="90000"/>
              </a:lnSpc>
              <a:buSzPct val="75000"/>
            </a:pPr>
            <a:r>
              <a:rPr lang="en-US" altLang="zh-CN" sz="1700">
                <a:solidFill>
                  <a:srgbClr val="000000"/>
                </a:solidFill>
                <a:latin typeface="+mn-lt"/>
                <a:ea typeface="+mn-ea"/>
                <a:cs typeface="+mn-cs"/>
              </a:rPr>
              <a:t>  LOOP </a:t>
            </a:r>
          </a:p>
          <a:p>
            <a:pPr eaLnBrk="1" hangingPunct="1">
              <a:lnSpc>
                <a:spcPct val="90000"/>
              </a:lnSpc>
              <a:buSzPct val="75000"/>
            </a:pPr>
            <a:r>
              <a:rPr lang="en-US" altLang="zh-CN" sz="1700">
                <a:solidFill>
                  <a:srgbClr val="000000"/>
                </a:solidFill>
                <a:latin typeface="+mn-lt"/>
                <a:ea typeface="+mn-ea"/>
                <a:cs typeface="+mn-cs"/>
              </a:rPr>
              <a:t>    FETCH my_cursor INTO v_deptinfo;  </a:t>
            </a:r>
          </a:p>
          <a:p>
            <a:pPr eaLnBrk="1" hangingPunct="1">
              <a:lnSpc>
                <a:spcPct val="90000"/>
              </a:lnSpc>
              <a:buSzPct val="75000"/>
            </a:pPr>
            <a:r>
              <a:rPr lang="en-US" altLang="zh-CN" sz="1700">
                <a:solidFill>
                  <a:srgbClr val="000000"/>
                </a:solidFill>
                <a:latin typeface="+mn-lt"/>
                <a:ea typeface="+mn-ea"/>
                <a:cs typeface="+mn-cs"/>
              </a:rPr>
              <a:t>    EXIT WHEN my_cursor%NOTFOUND;</a:t>
            </a:r>
          </a:p>
          <a:p>
            <a:pPr eaLnBrk="1" hangingPunct="1">
              <a:lnSpc>
                <a:spcPct val="90000"/>
              </a:lnSpc>
              <a:buSzPct val="75000"/>
            </a:pPr>
            <a:r>
              <a:rPr lang="en-US" altLang="zh-CN" sz="1700">
                <a:solidFill>
                  <a:srgbClr val="000000"/>
                </a:solidFill>
                <a:latin typeface="+mn-lt"/>
                <a:ea typeface="+mn-ea"/>
                <a:cs typeface="+mn-cs"/>
              </a:rPr>
              <a:t>    DBMS_OUTPUT.PUT_LINE(v_deptinfo.department_id||' '||</a:t>
            </a:r>
          </a:p>
          <a:p>
            <a:pPr eaLnBrk="1" hangingPunct="1">
              <a:lnSpc>
                <a:spcPct val="90000"/>
              </a:lnSpc>
              <a:buSzPct val="75000"/>
            </a:pPr>
            <a:r>
              <a:rPr lang="en-US" altLang="zh-CN" sz="1700">
                <a:solidFill>
                  <a:srgbClr val="000000"/>
                </a:solidFill>
                <a:latin typeface="+mn-lt"/>
                <a:ea typeface="+mn-ea"/>
                <a:cs typeface="+mn-cs"/>
              </a:rPr>
              <a:t>    v_deptinfo.department_name);</a:t>
            </a:r>
          </a:p>
          <a:p>
            <a:pPr eaLnBrk="1" hangingPunct="1">
              <a:lnSpc>
                <a:spcPct val="90000"/>
              </a:lnSpc>
              <a:buSzPct val="75000"/>
            </a:pPr>
            <a:r>
              <a:rPr lang="en-US" altLang="zh-CN" sz="1700">
                <a:solidFill>
                  <a:srgbClr val="000000"/>
                </a:solidFill>
                <a:latin typeface="+mn-lt"/>
                <a:ea typeface="+mn-ea"/>
                <a:cs typeface="+mn-cs"/>
              </a:rPr>
              <a:t>  END LOOP;</a:t>
            </a:r>
          </a:p>
          <a:p>
            <a:pPr eaLnBrk="1" hangingPunct="1">
              <a:lnSpc>
                <a:spcPct val="90000"/>
              </a:lnSpc>
              <a:buSzPct val="75000"/>
            </a:pPr>
            <a:r>
              <a:rPr lang="en-US" altLang="zh-CN" sz="1700">
                <a:solidFill>
                  <a:srgbClr val="000000"/>
                </a:solidFill>
                <a:latin typeface="+mn-lt"/>
                <a:ea typeface="+mn-ea"/>
                <a:cs typeface="+mn-cs"/>
              </a:rPr>
              <a:t>  CLOSE my_cursor;</a:t>
            </a:r>
          </a:p>
          <a:p>
            <a:pPr eaLnBrk="1" hangingPunct="1">
              <a:lnSpc>
                <a:spcPct val="90000"/>
              </a:lnSpc>
              <a:buSzPct val="75000"/>
            </a:pPr>
            <a:r>
              <a:rPr lang="en-US" altLang="zh-CN" sz="1700">
                <a:solidFill>
                  <a:srgbClr val="000000"/>
                </a:solidFill>
                <a:latin typeface="+mn-lt"/>
                <a:ea typeface="+mn-ea"/>
                <a:cs typeface="+mn-cs"/>
              </a:rPr>
              <a:t>   --OPEN v_general FOR SELECT </a:t>
            </a:r>
          </a:p>
          <a:p>
            <a:pPr eaLnBrk="1" hangingPunct="1">
              <a:lnSpc>
                <a:spcPct val="90000"/>
              </a:lnSpc>
              <a:buSzPct val="75000"/>
            </a:pPr>
            <a:r>
              <a:rPr lang="en-US" altLang="zh-CN" sz="1700">
                <a:solidFill>
                  <a:srgbClr val="000000"/>
                </a:solidFill>
                <a:latin typeface="+mn-lt"/>
                <a:ea typeface="+mn-ea"/>
                <a:cs typeface="+mn-cs"/>
              </a:rPr>
              <a:t>  employee_id,first_name,last_name,salary,</a:t>
            </a:r>
          </a:p>
          <a:p>
            <a:pPr eaLnBrk="1" hangingPunct="1">
              <a:lnSpc>
                <a:spcPct val="90000"/>
              </a:lnSpc>
              <a:buSzPct val="75000"/>
            </a:pPr>
            <a:r>
              <a:rPr lang="en-US" altLang="zh-CN" sz="1700">
                <a:solidFill>
                  <a:srgbClr val="000000"/>
                </a:solidFill>
                <a:latin typeface="+mn-lt"/>
                <a:ea typeface="+mn-ea"/>
                <a:cs typeface="+mn-cs"/>
              </a:rPr>
              <a:t>  --department_id FROM emp; </a:t>
            </a:r>
          </a:p>
          <a:p>
            <a:pPr eaLnBrk="1" hangingPunct="1">
              <a:lnSpc>
                <a:spcPct val="90000"/>
              </a:lnSpc>
              <a:buSzPct val="75000"/>
            </a:pPr>
            <a:r>
              <a:rPr lang="en-US" altLang="zh-CN" sz="1700">
                <a:solidFill>
                  <a:srgbClr val="000000"/>
                </a:solidFill>
                <a:latin typeface="+mn-lt"/>
                <a:ea typeface="+mn-ea"/>
                <a:cs typeface="+mn-cs"/>
              </a:rPr>
              <a:t>END;</a:t>
            </a:r>
          </a:p>
        </p:txBody>
      </p:sp>
      <p:sp>
        <p:nvSpPr>
          <p:cNvPr id="94210"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90</a:t>
            </a:fld>
            <a:endParaRPr lang="en-US" altLang="zh-CN">
              <a:solidFill>
                <a:srgbClr val="898989"/>
              </a:solidFill>
              <a:ea typeface="宋体" panose="02010600030101010101" pitchFamily="2" charset="-122"/>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5235"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endParaRPr lang="zh-CN" altLang="zh-CN">
              <a:solidFill>
                <a:srgbClr val="FFFFFF"/>
              </a:solidFill>
              <a:latin typeface="+mj-lt"/>
              <a:ea typeface="+mj-ea"/>
              <a:cs typeface="+mj-cs"/>
            </a:endParaRPr>
          </a:p>
        </p:txBody>
      </p:sp>
      <p:sp>
        <p:nvSpPr>
          <p:cNvPr id="95236"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buSzPct val="75000"/>
            </a:pPr>
            <a:r>
              <a:rPr lang="zh-CN" altLang="en-US" sz="2000">
                <a:solidFill>
                  <a:srgbClr val="000000"/>
                </a:solidFill>
                <a:latin typeface="+mn-lt"/>
                <a:ea typeface="+mn-ea"/>
                <a:cs typeface="+mn-cs"/>
              </a:rPr>
              <a:t>根据输入的不同表名进行不同处理，若表名为</a:t>
            </a:r>
            <a:r>
              <a:rPr lang="en-US" altLang="zh-CN" sz="2000">
                <a:solidFill>
                  <a:srgbClr val="000000"/>
                </a:solidFill>
                <a:latin typeface="+mn-lt"/>
                <a:ea typeface="+mn-ea"/>
                <a:cs typeface="+mn-cs"/>
              </a:rPr>
              <a:t>employees</a:t>
            </a:r>
            <a:r>
              <a:rPr lang="zh-CN" altLang="en-US" sz="2000">
                <a:solidFill>
                  <a:srgbClr val="000000"/>
                </a:solidFill>
                <a:latin typeface="+mn-lt"/>
                <a:ea typeface="+mn-ea"/>
                <a:cs typeface="+mn-cs"/>
              </a:rPr>
              <a:t>，则显示高于</a:t>
            </a:r>
            <a:r>
              <a:rPr lang="en-US" altLang="zh-CN" sz="2000">
                <a:solidFill>
                  <a:srgbClr val="000000"/>
                </a:solidFill>
                <a:latin typeface="+mn-lt"/>
                <a:ea typeface="+mn-ea"/>
                <a:cs typeface="+mn-cs"/>
              </a:rPr>
              <a:t>10</a:t>
            </a:r>
            <a:r>
              <a:rPr lang="zh-CN" altLang="en-US" sz="2000">
                <a:solidFill>
                  <a:srgbClr val="000000"/>
                </a:solidFill>
                <a:latin typeface="+mn-lt"/>
                <a:ea typeface="+mn-ea"/>
                <a:cs typeface="+mn-cs"/>
              </a:rPr>
              <a:t>号部门平均工资的员工信息；若表名为</a:t>
            </a:r>
            <a:r>
              <a:rPr lang="en-US" altLang="zh-CN" sz="2000">
                <a:solidFill>
                  <a:srgbClr val="000000"/>
                </a:solidFill>
                <a:latin typeface="+mn-lt"/>
                <a:ea typeface="+mn-ea"/>
                <a:cs typeface="+mn-cs"/>
              </a:rPr>
              <a:t>departments</a:t>
            </a:r>
            <a:r>
              <a:rPr lang="zh-CN" altLang="en-US" sz="2000">
                <a:solidFill>
                  <a:srgbClr val="000000"/>
                </a:solidFill>
                <a:latin typeface="+mn-lt"/>
                <a:ea typeface="+mn-ea"/>
                <a:cs typeface="+mn-cs"/>
              </a:rPr>
              <a:t>，则显示各个部门的人数。 </a:t>
            </a:r>
          </a:p>
        </p:txBody>
      </p:sp>
      <p:sp>
        <p:nvSpPr>
          <p:cNvPr id="95234"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91</a:t>
            </a:fld>
            <a:endParaRPr lang="en-US" altLang="zh-CN">
              <a:solidFill>
                <a:srgbClr val="898989"/>
              </a:solidFill>
              <a:ea typeface="宋体" panose="02010600030101010101" pitchFamily="2" charset="-122"/>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6" name="Picture 75">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6259" name="Rectangle 3"/>
          <p:cNvSpPr>
            <a:spLocks noGrp="1"/>
          </p:cNvSpPr>
          <p:nvPr>
            <p:ph idx="1"/>
          </p:nvPr>
        </p:nvSpPr>
        <p:spPr>
          <a:xfrm>
            <a:off x="6090574" y="801866"/>
            <a:ext cx="5306084" cy="5230634"/>
          </a:xfrm>
        </p:spPr>
        <p:txBody>
          <a:bodyPr vert="horz" lIns="121920" tIns="60960" rIns="121920" bIns="60960" anchor="ctr">
            <a:normAutofit/>
          </a:bodyPr>
          <a:lstStyle/>
          <a:p>
            <a:pPr eaLnBrk="1" hangingPunct="1">
              <a:lnSpc>
                <a:spcPct val="90000"/>
              </a:lnSpc>
              <a:buSzPct val="75000"/>
            </a:pPr>
            <a:r>
              <a:rPr lang="en-US" altLang="zh-CN" sz="1300">
                <a:solidFill>
                  <a:srgbClr val="000000"/>
                </a:solidFill>
                <a:latin typeface="+mn-lt"/>
                <a:ea typeface="+mn-ea"/>
                <a:cs typeface="+mn-cs"/>
              </a:rPr>
              <a:t>DECLARE</a:t>
            </a:r>
          </a:p>
          <a:p>
            <a:pPr eaLnBrk="1" hangingPunct="1">
              <a:lnSpc>
                <a:spcPct val="90000"/>
              </a:lnSpc>
              <a:buSzPct val="75000"/>
            </a:pPr>
            <a:r>
              <a:rPr lang="en-US" altLang="zh-CN" sz="1300">
                <a:solidFill>
                  <a:srgbClr val="000000"/>
                </a:solidFill>
                <a:latin typeface="+mn-lt"/>
                <a:ea typeface="+mn-ea"/>
                <a:cs typeface="+mn-cs"/>
              </a:rPr>
              <a:t>  v_table CHAR(20);</a:t>
            </a:r>
          </a:p>
          <a:p>
            <a:pPr eaLnBrk="1" hangingPunct="1">
              <a:lnSpc>
                <a:spcPct val="90000"/>
              </a:lnSpc>
              <a:buSzPct val="75000"/>
            </a:pPr>
            <a:r>
              <a:rPr lang="en-US" altLang="zh-CN" sz="1300">
                <a:solidFill>
                  <a:srgbClr val="000000"/>
                </a:solidFill>
                <a:latin typeface="+mn-lt"/>
                <a:ea typeface="+mn-ea"/>
                <a:cs typeface="+mn-cs"/>
              </a:rPr>
              <a:t>  TYPE type_cursor IS REF CURSOR;</a:t>
            </a:r>
          </a:p>
          <a:p>
            <a:pPr eaLnBrk="1" hangingPunct="1">
              <a:lnSpc>
                <a:spcPct val="90000"/>
              </a:lnSpc>
              <a:buSzPct val="75000"/>
            </a:pPr>
            <a:r>
              <a:rPr lang="en-US" altLang="zh-CN" sz="1300">
                <a:solidFill>
                  <a:srgbClr val="000000"/>
                </a:solidFill>
                <a:latin typeface="+mn-lt"/>
                <a:ea typeface="+mn-ea"/>
                <a:cs typeface="+mn-cs"/>
              </a:rPr>
              <a:t>  v_cursor type_cursor;</a:t>
            </a:r>
          </a:p>
          <a:p>
            <a:pPr eaLnBrk="1" hangingPunct="1">
              <a:lnSpc>
                <a:spcPct val="90000"/>
              </a:lnSpc>
              <a:buSzPct val="75000"/>
            </a:pPr>
            <a:r>
              <a:rPr lang="en-US" altLang="zh-CN" sz="1300">
                <a:solidFill>
                  <a:srgbClr val="000000"/>
                </a:solidFill>
                <a:latin typeface="+mn-lt"/>
                <a:ea typeface="+mn-ea"/>
                <a:cs typeface="+mn-cs"/>
              </a:rPr>
              <a:t>  v_emp employees%ROWTYPE;</a:t>
            </a:r>
          </a:p>
          <a:p>
            <a:pPr eaLnBrk="1" hangingPunct="1">
              <a:lnSpc>
                <a:spcPct val="90000"/>
              </a:lnSpc>
              <a:buSzPct val="75000"/>
            </a:pPr>
            <a:r>
              <a:rPr lang="en-US" altLang="zh-CN" sz="1300">
                <a:solidFill>
                  <a:srgbClr val="000000"/>
                </a:solidFill>
                <a:latin typeface="+mn-lt"/>
                <a:ea typeface="+mn-ea"/>
                <a:cs typeface="+mn-cs"/>
              </a:rPr>
              <a:t>  v_deptno employees.department_id%TYPE;</a:t>
            </a:r>
          </a:p>
          <a:p>
            <a:pPr eaLnBrk="1" hangingPunct="1">
              <a:lnSpc>
                <a:spcPct val="90000"/>
              </a:lnSpc>
              <a:buSzPct val="75000"/>
            </a:pPr>
            <a:r>
              <a:rPr lang="en-US" altLang="zh-CN" sz="1300">
                <a:solidFill>
                  <a:srgbClr val="000000"/>
                </a:solidFill>
                <a:latin typeface="+mn-lt"/>
                <a:ea typeface="+mn-ea"/>
                <a:cs typeface="+mn-cs"/>
              </a:rPr>
              <a:t>  v_num NUMBER;</a:t>
            </a:r>
          </a:p>
          <a:p>
            <a:pPr eaLnBrk="1" hangingPunct="1">
              <a:lnSpc>
                <a:spcPct val="90000"/>
              </a:lnSpc>
              <a:buSzPct val="75000"/>
            </a:pPr>
            <a:r>
              <a:rPr lang="en-US" altLang="zh-CN" sz="1300">
                <a:solidFill>
                  <a:srgbClr val="000000"/>
                </a:solidFill>
                <a:latin typeface="+mn-lt"/>
                <a:ea typeface="+mn-ea"/>
                <a:cs typeface="+mn-cs"/>
              </a:rPr>
              <a:t>BEGIN</a:t>
            </a:r>
          </a:p>
          <a:p>
            <a:pPr eaLnBrk="1" hangingPunct="1">
              <a:lnSpc>
                <a:spcPct val="90000"/>
              </a:lnSpc>
              <a:buSzPct val="75000"/>
            </a:pPr>
            <a:r>
              <a:rPr lang="en-US" altLang="zh-CN" sz="1300">
                <a:solidFill>
                  <a:srgbClr val="000000"/>
                </a:solidFill>
                <a:latin typeface="+mn-lt"/>
                <a:ea typeface="+mn-ea"/>
                <a:cs typeface="+mn-cs"/>
              </a:rPr>
              <a:t>  v_table:='&amp;table_name';</a:t>
            </a:r>
          </a:p>
          <a:p>
            <a:pPr eaLnBrk="1" hangingPunct="1">
              <a:lnSpc>
                <a:spcPct val="90000"/>
              </a:lnSpc>
              <a:buSzPct val="75000"/>
            </a:pPr>
            <a:r>
              <a:rPr lang="en-US" altLang="zh-CN" sz="1300">
                <a:solidFill>
                  <a:srgbClr val="000000"/>
                </a:solidFill>
                <a:latin typeface="+mn-lt"/>
                <a:ea typeface="+mn-ea"/>
                <a:cs typeface="+mn-cs"/>
              </a:rPr>
              <a:t>  IF v_table = 'employees' THEN</a:t>
            </a:r>
          </a:p>
          <a:p>
            <a:pPr eaLnBrk="1" hangingPunct="1">
              <a:lnSpc>
                <a:spcPct val="90000"/>
              </a:lnSpc>
              <a:buSzPct val="75000"/>
            </a:pPr>
            <a:r>
              <a:rPr lang="en-US" altLang="zh-CN" sz="1300">
                <a:solidFill>
                  <a:srgbClr val="000000"/>
                </a:solidFill>
                <a:latin typeface="+mn-lt"/>
                <a:ea typeface="+mn-ea"/>
                <a:cs typeface="+mn-cs"/>
              </a:rPr>
              <a:t>    OPEN v_cursor FOR SELECT * FROM employees </a:t>
            </a:r>
          </a:p>
          <a:p>
            <a:pPr eaLnBrk="1" hangingPunct="1">
              <a:lnSpc>
                <a:spcPct val="90000"/>
              </a:lnSpc>
              <a:buSzPct val="75000"/>
            </a:pPr>
            <a:r>
              <a:rPr lang="en-US" altLang="zh-CN" sz="1300">
                <a:solidFill>
                  <a:srgbClr val="000000"/>
                </a:solidFill>
                <a:latin typeface="+mn-lt"/>
                <a:ea typeface="+mn-ea"/>
                <a:cs typeface="+mn-cs"/>
              </a:rPr>
              <a:t>    WHERE salary&gt;(SELECT AVG(salary) FROM employees </a:t>
            </a:r>
          </a:p>
          <a:p>
            <a:pPr eaLnBrk="1" hangingPunct="1">
              <a:lnSpc>
                <a:spcPct val="90000"/>
              </a:lnSpc>
              <a:buSzPct val="75000"/>
            </a:pPr>
            <a:r>
              <a:rPr lang="en-US" altLang="zh-CN" sz="1300">
                <a:solidFill>
                  <a:srgbClr val="000000"/>
                </a:solidFill>
                <a:latin typeface="+mn-lt"/>
                <a:ea typeface="+mn-ea"/>
                <a:cs typeface="+mn-cs"/>
              </a:rPr>
              <a:t>    WHERE department_id=10);</a:t>
            </a:r>
          </a:p>
          <a:p>
            <a:pPr eaLnBrk="1" hangingPunct="1">
              <a:lnSpc>
                <a:spcPct val="90000"/>
              </a:lnSpc>
              <a:buSzPct val="75000"/>
            </a:pPr>
            <a:r>
              <a:rPr lang="en-US" altLang="zh-CN" sz="1300">
                <a:solidFill>
                  <a:srgbClr val="000000"/>
                </a:solidFill>
                <a:latin typeface="+mn-lt"/>
                <a:ea typeface="+mn-ea"/>
                <a:cs typeface="+mn-cs"/>
              </a:rPr>
              <a:t>  ELSIF v_table = 'departments' THEN</a:t>
            </a:r>
          </a:p>
          <a:p>
            <a:pPr eaLnBrk="1" hangingPunct="1">
              <a:lnSpc>
                <a:spcPct val="90000"/>
              </a:lnSpc>
              <a:buSzPct val="75000"/>
            </a:pPr>
            <a:r>
              <a:rPr lang="en-US" altLang="zh-CN" sz="1300">
                <a:solidFill>
                  <a:srgbClr val="000000"/>
                </a:solidFill>
                <a:latin typeface="+mn-lt"/>
                <a:ea typeface="+mn-ea"/>
                <a:cs typeface="+mn-cs"/>
              </a:rPr>
              <a:t>    OPEN v_cursor FOR SELECT department_id,count(*) num </a:t>
            </a:r>
          </a:p>
          <a:p>
            <a:pPr eaLnBrk="1" hangingPunct="1">
              <a:lnSpc>
                <a:spcPct val="90000"/>
              </a:lnSpc>
              <a:buSzPct val="75000"/>
            </a:pPr>
            <a:r>
              <a:rPr lang="en-US" altLang="zh-CN" sz="1300">
                <a:solidFill>
                  <a:srgbClr val="000000"/>
                </a:solidFill>
                <a:latin typeface="+mn-lt"/>
                <a:ea typeface="+mn-ea"/>
                <a:cs typeface="+mn-cs"/>
              </a:rPr>
              <a:t>    FROM employees GROUP BY department_id;</a:t>
            </a:r>
          </a:p>
          <a:p>
            <a:pPr eaLnBrk="1" hangingPunct="1">
              <a:lnSpc>
                <a:spcPct val="90000"/>
              </a:lnSpc>
              <a:buSzPct val="75000"/>
            </a:pPr>
            <a:r>
              <a:rPr lang="en-US" altLang="zh-CN" sz="1300">
                <a:solidFill>
                  <a:srgbClr val="000000"/>
                </a:solidFill>
                <a:latin typeface="+mn-lt"/>
                <a:ea typeface="+mn-ea"/>
                <a:cs typeface="+mn-cs"/>
              </a:rPr>
              <a:t>  ELSE</a:t>
            </a:r>
          </a:p>
          <a:p>
            <a:pPr eaLnBrk="1" hangingPunct="1">
              <a:lnSpc>
                <a:spcPct val="90000"/>
              </a:lnSpc>
              <a:buSzPct val="75000"/>
            </a:pPr>
            <a:r>
              <a:rPr lang="en-US" altLang="zh-CN" sz="1300">
                <a:solidFill>
                  <a:srgbClr val="000000"/>
                </a:solidFill>
                <a:latin typeface="+mn-lt"/>
                <a:ea typeface="+mn-ea"/>
                <a:cs typeface="+mn-cs"/>
              </a:rPr>
              <a:t>    RAISE_APPLICATION_ERROR(-20000,</a:t>
            </a:r>
          </a:p>
          <a:p>
            <a:pPr eaLnBrk="1" hangingPunct="1">
              <a:lnSpc>
                <a:spcPct val="90000"/>
              </a:lnSpc>
              <a:buSzPct val="75000"/>
            </a:pPr>
            <a:r>
              <a:rPr lang="en-US" altLang="zh-CN" sz="1300">
                <a:solidFill>
                  <a:srgbClr val="000000"/>
                </a:solidFill>
                <a:latin typeface="+mn-lt"/>
                <a:ea typeface="+mn-ea"/>
                <a:cs typeface="+mn-cs"/>
              </a:rPr>
              <a:t>         'Input must be ''emp'' or ''dept''');</a:t>
            </a:r>
          </a:p>
          <a:p>
            <a:pPr eaLnBrk="1" hangingPunct="1">
              <a:lnSpc>
                <a:spcPct val="90000"/>
              </a:lnSpc>
              <a:buSzPct val="75000"/>
            </a:pPr>
            <a:r>
              <a:rPr lang="en-US" altLang="zh-CN" sz="1300">
                <a:solidFill>
                  <a:srgbClr val="000000"/>
                </a:solidFill>
                <a:latin typeface="+mn-lt"/>
                <a:ea typeface="+mn-ea"/>
                <a:cs typeface="+mn-cs"/>
              </a:rPr>
              <a:t>  END IF; </a:t>
            </a:r>
          </a:p>
        </p:txBody>
      </p:sp>
      <p:sp>
        <p:nvSpPr>
          <p:cNvPr id="96258"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92</a:t>
            </a:fld>
            <a:endParaRPr lang="en-US" altLang="zh-CN">
              <a:solidFill>
                <a:srgbClr val="898989"/>
              </a:solidFill>
              <a:ea typeface="宋体" panose="02010600030101010101" pitchFamily="2" charset="-122"/>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6" name="Picture 75">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7283" name="Rectangle 3"/>
          <p:cNvSpPr>
            <a:spLocks noGrp="1"/>
          </p:cNvSpPr>
          <p:nvPr>
            <p:ph idx="1"/>
          </p:nvPr>
        </p:nvSpPr>
        <p:spPr>
          <a:xfrm>
            <a:off x="6090574" y="801866"/>
            <a:ext cx="5306084" cy="5230634"/>
          </a:xfrm>
        </p:spPr>
        <p:txBody>
          <a:bodyPr vert="horz" lIns="121920" tIns="60960" rIns="121920" bIns="60960" anchor="ctr">
            <a:normAutofit/>
          </a:bodyPr>
          <a:lstStyle/>
          <a:p>
            <a:pPr eaLnBrk="1" hangingPunct="1">
              <a:lnSpc>
                <a:spcPct val="90000"/>
              </a:lnSpc>
              <a:buSzPct val="75000"/>
            </a:pPr>
            <a:r>
              <a:rPr lang="en-US" altLang="zh-CN" sz="1500">
                <a:solidFill>
                  <a:srgbClr val="000000"/>
                </a:solidFill>
                <a:latin typeface="+mn-lt"/>
                <a:ea typeface="+mn-ea"/>
                <a:cs typeface="+mn-cs"/>
              </a:rPr>
              <a:t>  LOOP</a:t>
            </a:r>
          </a:p>
          <a:p>
            <a:pPr eaLnBrk="1" hangingPunct="1">
              <a:lnSpc>
                <a:spcPct val="90000"/>
              </a:lnSpc>
              <a:buSzPct val="75000"/>
            </a:pPr>
            <a:r>
              <a:rPr lang="en-US" altLang="zh-CN" sz="1500">
                <a:solidFill>
                  <a:srgbClr val="000000"/>
                </a:solidFill>
                <a:latin typeface="+mn-lt"/>
                <a:ea typeface="+mn-ea"/>
                <a:cs typeface="+mn-cs"/>
              </a:rPr>
              <a:t>    IF v_table = 'employees' THEN</a:t>
            </a:r>
          </a:p>
          <a:p>
            <a:pPr eaLnBrk="1" hangingPunct="1">
              <a:lnSpc>
                <a:spcPct val="90000"/>
              </a:lnSpc>
              <a:buSzPct val="75000"/>
            </a:pPr>
            <a:r>
              <a:rPr lang="en-US" altLang="zh-CN" sz="1500">
                <a:solidFill>
                  <a:srgbClr val="000000"/>
                </a:solidFill>
                <a:latin typeface="+mn-lt"/>
                <a:ea typeface="+mn-ea"/>
                <a:cs typeface="+mn-cs"/>
              </a:rPr>
              <a:t>      FETCH v_cursor INTO v_emp;</a:t>
            </a:r>
          </a:p>
          <a:p>
            <a:pPr eaLnBrk="1" hangingPunct="1">
              <a:lnSpc>
                <a:spcPct val="90000"/>
              </a:lnSpc>
              <a:buSzPct val="75000"/>
            </a:pPr>
            <a:r>
              <a:rPr lang="en-US" altLang="zh-CN" sz="1500">
                <a:solidFill>
                  <a:srgbClr val="000000"/>
                </a:solidFill>
                <a:latin typeface="+mn-lt"/>
                <a:ea typeface="+mn-ea"/>
                <a:cs typeface="+mn-cs"/>
              </a:rPr>
              <a:t>      EXIT WHEN v_cursor%NOTFOUND;</a:t>
            </a:r>
          </a:p>
          <a:p>
            <a:pPr eaLnBrk="1" hangingPunct="1">
              <a:lnSpc>
                <a:spcPct val="90000"/>
              </a:lnSpc>
              <a:buSzPct val="75000"/>
            </a:pPr>
            <a:r>
              <a:rPr lang="en-US" altLang="zh-CN" sz="1500">
                <a:solidFill>
                  <a:srgbClr val="000000"/>
                </a:solidFill>
                <a:latin typeface="+mn-lt"/>
                <a:ea typeface="+mn-ea"/>
                <a:cs typeface="+mn-cs"/>
              </a:rPr>
              <a:t>      DBMS_OUTPUT.PUT_LINE(v_emp.employee_id||' '||</a:t>
            </a:r>
          </a:p>
          <a:p>
            <a:pPr eaLnBrk="1" hangingPunct="1">
              <a:lnSpc>
                <a:spcPct val="90000"/>
              </a:lnSpc>
              <a:buSzPct val="75000"/>
            </a:pPr>
            <a:r>
              <a:rPr lang="en-US" altLang="zh-CN" sz="1500">
                <a:solidFill>
                  <a:srgbClr val="000000"/>
                </a:solidFill>
                <a:latin typeface="+mn-lt"/>
                <a:ea typeface="+mn-ea"/>
                <a:cs typeface="+mn-cs"/>
              </a:rPr>
              <a:t>        v_emp.first_name||' '|| v_emp.last_name||' '||</a:t>
            </a:r>
          </a:p>
          <a:p>
            <a:pPr eaLnBrk="1" hangingPunct="1">
              <a:lnSpc>
                <a:spcPct val="90000"/>
              </a:lnSpc>
              <a:buSzPct val="75000"/>
            </a:pPr>
            <a:r>
              <a:rPr lang="en-US" altLang="zh-CN" sz="1500">
                <a:solidFill>
                  <a:srgbClr val="000000"/>
                </a:solidFill>
                <a:latin typeface="+mn-lt"/>
                <a:ea typeface="+mn-ea"/>
                <a:cs typeface="+mn-cs"/>
              </a:rPr>
              <a:t>        v_emp.salary||' '||v_emp.department_id);</a:t>
            </a:r>
          </a:p>
          <a:p>
            <a:pPr eaLnBrk="1" hangingPunct="1">
              <a:lnSpc>
                <a:spcPct val="90000"/>
              </a:lnSpc>
              <a:buSzPct val="75000"/>
            </a:pPr>
            <a:r>
              <a:rPr lang="en-US" altLang="zh-CN" sz="1500">
                <a:solidFill>
                  <a:srgbClr val="000000"/>
                </a:solidFill>
                <a:latin typeface="+mn-lt"/>
                <a:ea typeface="+mn-ea"/>
                <a:cs typeface="+mn-cs"/>
              </a:rPr>
              <a:t>    ELSE</a:t>
            </a:r>
          </a:p>
          <a:p>
            <a:pPr eaLnBrk="1" hangingPunct="1">
              <a:lnSpc>
                <a:spcPct val="90000"/>
              </a:lnSpc>
              <a:buSzPct val="75000"/>
            </a:pPr>
            <a:r>
              <a:rPr lang="en-US" altLang="zh-CN" sz="1500">
                <a:solidFill>
                  <a:srgbClr val="000000"/>
                </a:solidFill>
                <a:latin typeface="+mn-lt"/>
                <a:ea typeface="+mn-ea"/>
                <a:cs typeface="+mn-cs"/>
              </a:rPr>
              <a:t>      FETCH v_cursor INTO v_deptno,v_num;</a:t>
            </a:r>
          </a:p>
          <a:p>
            <a:pPr eaLnBrk="1" hangingPunct="1">
              <a:lnSpc>
                <a:spcPct val="90000"/>
              </a:lnSpc>
              <a:buSzPct val="75000"/>
            </a:pPr>
            <a:r>
              <a:rPr lang="en-US" altLang="zh-CN" sz="1500">
                <a:solidFill>
                  <a:srgbClr val="000000"/>
                </a:solidFill>
                <a:latin typeface="+mn-lt"/>
                <a:ea typeface="+mn-ea"/>
                <a:cs typeface="+mn-cs"/>
              </a:rPr>
              <a:t>      EXIT WHEN v_cursor%NOTFOUND;</a:t>
            </a:r>
          </a:p>
          <a:p>
            <a:pPr eaLnBrk="1" hangingPunct="1">
              <a:lnSpc>
                <a:spcPct val="90000"/>
              </a:lnSpc>
              <a:buSzPct val="75000"/>
            </a:pPr>
            <a:r>
              <a:rPr lang="en-US" altLang="zh-CN" sz="1500">
                <a:solidFill>
                  <a:srgbClr val="000000"/>
                </a:solidFill>
                <a:latin typeface="+mn-lt"/>
                <a:ea typeface="+mn-ea"/>
                <a:cs typeface="+mn-cs"/>
              </a:rPr>
              <a:t>      DBMS_OUTPUT.PUT_LINE(v_deptno||' '||v_num);</a:t>
            </a:r>
          </a:p>
          <a:p>
            <a:pPr eaLnBrk="1" hangingPunct="1">
              <a:lnSpc>
                <a:spcPct val="90000"/>
              </a:lnSpc>
              <a:buSzPct val="75000"/>
            </a:pPr>
            <a:r>
              <a:rPr lang="en-US" altLang="zh-CN" sz="1500">
                <a:solidFill>
                  <a:srgbClr val="000000"/>
                </a:solidFill>
                <a:latin typeface="+mn-lt"/>
                <a:ea typeface="+mn-ea"/>
                <a:cs typeface="+mn-cs"/>
              </a:rPr>
              <a:t>    END IF;</a:t>
            </a:r>
          </a:p>
          <a:p>
            <a:pPr eaLnBrk="1" hangingPunct="1">
              <a:lnSpc>
                <a:spcPct val="90000"/>
              </a:lnSpc>
              <a:buSzPct val="75000"/>
            </a:pPr>
            <a:r>
              <a:rPr lang="en-US" altLang="zh-CN" sz="1500">
                <a:solidFill>
                  <a:srgbClr val="000000"/>
                </a:solidFill>
                <a:latin typeface="+mn-lt"/>
                <a:ea typeface="+mn-ea"/>
                <a:cs typeface="+mn-cs"/>
              </a:rPr>
              <a:t>  END LOOP;</a:t>
            </a:r>
          </a:p>
          <a:p>
            <a:pPr eaLnBrk="1" hangingPunct="1">
              <a:lnSpc>
                <a:spcPct val="90000"/>
              </a:lnSpc>
              <a:buSzPct val="75000"/>
            </a:pPr>
            <a:r>
              <a:rPr lang="en-US" altLang="zh-CN" sz="1500">
                <a:solidFill>
                  <a:srgbClr val="000000"/>
                </a:solidFill>
                <a:latin typeface="+mn-lt"/>
                <a:ea typeface="+mn-ea"/>
                <a:cs typeface="+mn-cs"/>
              </a:rPr>
              <a:t>  CLOSE v_cursor;</a:t>
            </a:r>
          </a:p>
          <a:p>
            <a:pPr eaLnBrk="1" hangingPunct="1">
              <a:lnSpc>
                <a:spcPct val="90000"/>
              </a:lnSpc>
              <a:buSzPct val="75000"/>
            </a:pPr>
            <a:r>
              <a:rPr lang="en-US" altLang="zh-CN" sz="1500">
                <a:solidFill>
                  <a:srgbClr val="000000"/>
                </a:solidFill>
                <a:latin typeface="+mn-lt"/>
                <a:ea typeface="+mn-ea"/>
                <a:cs typeface="+mn-cs"/>
              </a:rPr>
              <a:t>END;</a:t>
            </a:r>
          </a:p>
        </p:txBody>
      </p:sp>
      <p:sp>
        <p:nvSpPr>
          <p:cNvPr id="97282"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93</a:t>
            </a:fld>
            <a:endParaRPr lang="en-US" altLang="zh-CN">
              <a:solidFill>
                <a:srgbClr val="898989"/>
              </a:solidFill>
              <a:ea typeface="宋体" panose="02010600030101010101" pitchFamily="2" charset="-122"/>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76EFD3D9-44F0-4267-BCC1-1613E79D82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Freeform 6">
            <a:extLst>
              <a:ext uri="{FF2B5EF4-FFF2-40B4-BE49-F238E27FC236}">
                <a16:creationId xmlns:a16="http://schemas.microsoft.com/office/drawing/2014/main" id="{A779A851-95D6-41AF-937A-B0E4B7F6FA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2164" y="900814"/>
            <a:ext cx="759618"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7">
            <a:extLst>
              <a:ext uri="{FF2B5EF4-FFF2-40B4-BE49-F238E27FC236}">
                <a16:creationId xmlns:a16="http://schemas.microsoft.com/office/drawing/2014/main" id="{953FB2E7-B6CB-429C-81EB-D9516D6D5C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4437" y="633165"/>
            <a:ext cx="482654"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Shape 78">
            <a:extLst>
              <a:ext uri="{FF2B5EF4-FFF2-40B4-BE49-F238E27FC236}">
                <a16:creationId xmlns:a16="http://schemas.microsoft.com/office/drawing/2014/main" id="{2EC40DB1-B719-4A13-9A4D-0966B4B278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4621" y="636723"/>
            <a:ext cx="4000062" cy="5257799"/>
          </a:xfrm>
          <a:custGeom>
            <a:avLst/>
            <a:gdLst>
              <a:gd name="connsiteX0" fmla="*/ 0 w 4634682"/>
              <a:gd name="connsiteY0" fmla="*/ 0 h 5257799"/>
              <a:gd name="connsiteX1" fmla="*/ 4634682 w 4634682"/>
              <a:gd name="connsiteY1" fmla="*/ 0 h 5257799"/>
              <a:gd name="connsiteX2" fmla="*/ 4634682 w 4634682"/>
              <a:gd name="connsiteY2" fmla="*/ 5257799 h 5257799"/>
              <a:gd name="connsiteX3" fmla="*/ 0 w 4634682"/>
              <a:gd name="connsiteY3" fmla="*/ 5257799 h 5257799"/>
            </a:gdLst>
            <a:ahLst/>
            <a:cxnLst>
              <a:cxn ang="0">
                <a:pos x="connsiteX0" y="connsiteY0"/>
              </a:cxn>
              <a:cxn ang="0">
                <a:pos x="connsiteX1" y="connsiteY1"/>
              </a:cxn>
              <a:cxn ang="0">
                <a:pos x="connsiteX2" y="connsiteY2"/>
              </a:cxn>
              <a:cxn ang="0">
                <a:pos x="connsiteX3" y="connsiteY3"/>
              </a:cxn>
            </a:cxnLst>
            <a:rect l="l" t="t" r="r" b="b"/>
            <a:pathLst>
              <a:path w="4634682" h="5257799">
                <a:moveTo>
                  <a:pt x="0" y="0"/>
                </a:moveTo>
                <a:lnTo>
                  <a:pt x="4634682" y="0"/>
                </a:lnTo>
                <a:lnTo>
                  <a:pt x="4634682" y="5257799"/>
                </a:lnTo>
                <a:lnTo>
                  <a:pt x="0" y="5257799"/>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8307" name="Rectangle 2"/>
          <p:cNvSpPr>
            <a:spLocks noGrp="1"/>
          </p:cNvSpPr>
          <p:nvPr>
            <p:ph type="title"/>
          </p:nvPr>
        </p:nvSpPr>
        <p:spPr>
          <a:xfrm>
            <a:off x="934872" y="982272"/>
            <a:ext cx="3388419" cy="4560970"/>
          </a:xfrm>
        </p:spPr>
        <p:txBody>
          <a:bodyPr vert="horz" lIns="121920" tIns="60960" rIns="121920" bIns="60960">
            <a:normAutofit/>
          </a:bodyPr>
          <a:lstStyle/>
          <a:p>
            <a:r>
              <a:rPr lang="en-US" altLang="zh-CN">
                <a:solidFill>
                  <a:srgbClr val="FFFFFF"/>
                </a:solidFill>
                <a:latin typeface="+mj-lt"/>
                <a:ea typeface="+mj-ea"/>
                <a:cs typeface="+mj-cs"/>
              </a:rPr>
              <a:t>9.8  </a:t>
            </a:r>
            <a:r>
              <a:rPr lang="zh-CN" altLang="zh-CN">
                <a:solidFill>
                  <a:srgbClr val="FFFFFF"/>
                </a:solidFill>
                <a:latin typeface="+mj-lt"/>
                <a:ea typeface="+mj-ea"/>
                <a:cs typeface="+mj-cs"/>
              </a:rPr>
              <a:t>异 常 处 理</a:t>
            </a:r>
          </a:p>
        </p:txBody>
      </p:sp>
      <p:sp>
        <p:nvSpPr>
          <p:cNvPr id="81" name="Rectangle 8">
            <a:extLst>
              <a:ext uri="{FF2B5EF4-FFF2-40B4-BE49-F238E27FC236}">
                <a16:creationId xmlns:a16="http://schemas.microsoft.com/office/drawing/2014/main" id="{82211336-CFF3-412D-868A-6679C1004C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01782" y="1352302"/>
            <a:ext cx="6655597"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98308" name="Rectangle 3"/>
          <p:cNvSpPr>
            <a:spLocks noGrp="1"/>
          </p:cNvSpPr>
          <p:nvPr>
            <p:ph idx="1"/>
          </p:nvPr>
        </p:nvSpPr>
        <p:spPr>
          <a:xfrm>
            <a:off x="5221862" y="1719618"/>
            <a:ext cx="5948831" cy="4334629"/>
          </a:xfrm>
        </p:spPr>
        <p:txBody>
          <a:bodyPr vert="horz" lIns="121920" tIns="60960" rIns="121920" bIns="60960" anchor="ctr">
            <a:normAutofit/>
          </a:bodyPr>
          <a:lstStyle/>
          <a:p>
            <a:pPr eaLnBrk="1" hangingPunct="1">
              <a:buSzPct val="75000"/>
            </a:pPr>
            <a:r>
              <a:rPr lang="zh-CN" altLang="en-US" sz="2400">
                <a:solidFill>
                  <a:srgbClr val="FEFFFF"/>
                </a:solidFill>
                <a:latin typeface="+mn-lt"/>
                <a:ea typeface="+mn-ea"/>
                <a:cs typeface="+mn-cs"/>
              </a:rPr>
              <a:t>异常概述</a:t>
            </a:r>
          </a:p>
          <a:p>
            <a:pPr eaLnBrk="1" hangingPunct="1">
              <a:buSzPct val="75000"/>
            </a:pPr>
            <a:r>
              <a:rPr lang="zh-CN" altLang="en-GB" sz="2400">
                <a:solidFill>
                  <a:srgbClr val="FEFFFF"/>
                </a:solidFill>
                <a:latin typeface="+mn-lt"/>
                <a:ea typeface="+mn-ea"/>
                <a:cs typeface="+mn-cs"/>
              </a:rPr>
              <a:t>异常处理过程 </a:t>
            </a:r>
            <a:endParaRPr lang="zh-CN" altLang="en-US" sz="2400">
              <a:solidFill>
                <a:srgbClr val="FEFFFF"/>
              </a:solidFill>
              <a:latin typeface="+mn-lt"/>
              <a:ea typeface="+mn-ea"/>
              <a:cs typeface="+mn-cs"/>
            </a:endParaRPr>
          </a:p>
          <a:p>
            <a:pPr eaLnBrk="1" hangingPunct="1">
              <a:buSzPct val="75000"/>
            </a:pPr>
            <a:r>
              <a:rPr lang="zh-CN" altLang="en-US" sz="2400">
                <a:solidFill>
                  <a:srgbClr val="FEFFFF"/>
                </a:solidFill>
                <a:latin typeface="+mn-lt"/>
                <a:ea typeface="+mn-ea"/>
                <a:cs typeface="+mn-cs"/>
              </a:rPr>
              <a:t>异常的传播</a:t>
            </a:r>
          </a:p>
        </p:txBody>
      </p:sp>
      <p:sp>
        <p:nvSpPr>
          <p:cNvPr id="98306" name="灯片编号占位符 5"/>
          <p:cNvSpPr txBox="1">
            <a:spLocks noGrp="1"/>
          </p:cNvSpPr>
          <p:nvPr>
            <p:ph type="sldNum" sz="quarter" idx="12"/>
          </p:nvPr>
        </p:nvSpPr>
        <p:spPr>
          <a:xfrm>
            <a:off x="10707624" y="6175188"/>
            <a:ext cx="685800" cy="320040"/>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FFFFFF"/>
                </a:solidFill>
                <a:ea typeface="宋体" panose="02010600030101010101" pitchFamily="2" charset="-122"/>
              </a:rPr>
              <a:pPr marL="0" indent="0" eaLnBrk="1" hangingPunct="1">
                <a:spcBef>
                  <a:spcPct val="0"/>
                </a:spcBef>
                <a:spcAft>
                  <a:spcPts val="600"/>
                </a:spcAft>
                <a:buClrTx/>
                <a:buSzTx/>
                <a:buFontTx/>
                <a:buNone/>
              </a:pPr>
              <a:t>94</a:t>
            </a:fld>
            <a:endParaRPr lang="en-US" altLang="zh-CN">
              <a:solidFill>
                <a:srgbClr val="FFFFFF"/>
              </a:solidFill>
              <a:ea typeface="宋体" panose="02010600030101010101" pitchFamily="2" charset="-122"/>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933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9337"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9338"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3" name="Rectangle 82">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99331" name="Rectangle 2"/>
          <p:cNvSpPr>
            <a:spLocks noGrp="1"/>
          </p:cNvSpPr>
          <p:nvPr>
            <p:ph type="title"/>
          </p:nvPr>
        </p:nvSpPr>
        <p:spPr>
          <a:xfrm>
            <a:off x="958506" y="800392"/>
            <a:ext cx="10264697" cy="1212102"/>
          </a:xfrm>
        </p:spPr>
        <p:txBody>
          <a:bodyPr vert="horz" lIns="121920" tIns="60960" rIns="121920" bIns="60960">
            <a:normAutofit/>
          </a:bodyPr>
          <a:lstStyle/>
          <a:p>
            <a:r>
              <a:rPr lang="en-US" altLang="zh-CN">
                <a:solidFill>
                  <a:srgbClr val="FFFFFF"/>
                </a:solidFill>
                <a:latin typeface="+mj-lt"/>
                <a:ea typeface="+mj-ea"/>
                <a:cs typeface="+mj-cs"/>
              </a:rPr>
              <a:t>9.8.1  </a:t>
            </a:r>
            <a:r>
              <a:rPr lang="zh-CN" altLang="zh-CN">
                <a:solidFill>
                  <a:srgbClr val="FFFFFF"/>
                </a:solidFill>
                <a:latin typeface="+mj-lt"/>
                <a:ea typeface="+mj-ea"/>
                <a:cs typeface="+mj-cs"/>
              </a:rPr>
              <a:t>异常概述</a:t>
            </a:r>
          </a:p>
        </p:txBody>
      </p:sp>
      <p:sp>
        <p:nvSpPr>
          <p:cNvPr id="99332" name="Rectangle 3"/>
          <p:cNvSpPr>
            <a:spLocks noGrp="1"/>
          </p:cNvSpPr>
          <p:nvPr>
            <p:ph idx="1"/>
          </p:nvPr>
        </p:nvSpPr>
        <p:spPr>
          <a:xfrm>
            <a:off x="1367624" y="2490436"/>
            <a:ext cx="9708995" cy="3567173"/>
          </a:xfrm>
        </p:spPr>
        <p:txBody>
          <a:bodyPr vert="horz" lIns="121920" tIns="60960" rIns="121920" bIns="60960" anchor="ctr">
            <a:normAutofit/>
          </a:bodyPr>
          <a:lstStyle/>
          <a:p>
            <a:pPr marL="609600" indent="-609600" eaLnBrk="1" hangingPunct="1">
              <a:buSzPct val="75000"/>
            </a:pPr>
            <a:r>
              <a:rPr lang="en-US" altLang="zh-CN" sz="2400">
                <a:latin typeface="+mn-lt"/>
                <a:ea typeface="+mn-ea"/>
                <a:cs typeface="+mn-cs"/>
              </a:rPr>
              <a:t>Oracle</a:t>
            </a:r>
            <a:r>
              <a:rPr lang="zh-CN" altLang="en-US" sz="2400">
                <a:latin typeface="+mn-lt"/>
                <a:ea typeface="+mn-ea"/>
                <a:cs typeface="+mn-cs"/>
              </a:rPr>
              <a:t>错误处理机制</a:t>
            </a:r>
          </a:p>
          <a:p>
            <a:pPr marL="609600" indent="-609600" eaLnBrk="1" hangingPunct="1">
              <a:buSzPct val="75000"/>
            </a:pPr>
            <a:r>
              <a:rPr lang="zh-CN" altLang="en-US" sz="2400">
                <a:latin typeface="+mn-lt"/>
                <a:ea typeface="+mn-ea"/>
                <a:cs typeface="+mn-cs"/>
              </a:rPr>
              <a:t>异常的类型</a:t>
            </a:r>
          </a:p>
        </p:txBody>
      </p:sp>
      <p:sp>
        <p:nvSpPr>
          <p:cNvPr id="99330" name="灯片编号占位符 5"/>
          <p:cNvSpPr txBox="1">
            <a:spLocks noGrp="1"/>
          </p:cNvSpPr>
          <p:nvPr>
            <p:ph type="sldNum" sz="quarter" idx="12"/>
          </p:nvPr>
        </p:nvSpPr>
        <p:spPr>
          <a:xfrm>
            <a:off x="10707624" y="6382512"/>
            <a:ext cx="685800" cy="320040"/>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ea typeface="宋体" panose="02010600030101010101" pitchFamily="2" charset="-122"/>
              </a:rPr>
              <a:pPr marL="0" indent="0" eaLnBrk="1" hangingPunct="1">
                <a:spcBef>
                  <a:spcPct val="0"/>
                </a:spcBef>
                <a:spcAft>
                  <a:spcPts val="600"/>
                </a:spcAft>
                <a:buClrTx/>
                <a:buSzTx/>
                <a:buFontTx/>
                <a:buNone/>
              </a:pPr>
              <a:t>95</a:t>
            </a:fld>
            <a:endParaRPr lang="en-US" altLang="zh-CN">
              <a:ea typeface="宋体" panose="02010600030101010101" pitchFamily="2" charset="-122"/>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0355"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r>
              <a:rPr lang="zh-CN" altLang="en-US">
                <a:solidFill>
                  <a:srgbClr val="FFFFFF"/>
                </a:solidFill>
                <a:latin typeface="+mj-lt"/>
                <a:ea typeface="+mj-ea"/>
                <a:cs typeface="+mj-cs"/>
              </a:rPr>
              <a:t>（</a:t>
            </a:r>
            <a:r>
              <a:rPr lang="en-US" altLang="zh-CN">
                <a:solidFill>
                  <a:srgbClr val="FFFFFF"/>
                </a:solidFill>
                <a:latin typeface="+mj-lt"/>
                <a:ea typeface="+mj-ea"/>
                <a:cs typeface="+mj-cs"/>
              </a:rPr>
              <a:t>1</a:t>
            </a:r>
            <a:r>
              <a:rPr lang="zh-CN" altLang="en-US">
                <a:solidFill>
                  <a:srgbClr val="FFFFFF"/>
                </a:solidFill>
                <a:latin typeface="+mj-lt"/>
                <a:ea typeface="+mj-ea"/>
                <a:cs typeface="+mj-cs"/>
              </a:rPr>
              <a:t>） </a:t>
            </a:r>
            <a:r>
              <a:rPr lang="en-US" altLang="zh-CN">
                <a:solidFill>
                  <a:srgbClr val="FFFFFF"/>
                </a:solidFill>
                <a:latin typeface="+mj-lt"/>
                <a:ea typeface="+mj-ea"/>
                <a:cs typeface="+mj-cs"/>
              </a:rPr>
              <a:t>Oracle</a:t>
            </a:r>
            <a:r>
              <a:rPr lang="zh-CN" altLang="en-US">
                <a:solidFill>
                  <a:srgbClr val="FFFFFF"/>
                </a:solidFill>
                <a:latin typeface="+mj-lt"/>
                <a:ea typeface="+mj-ea"/>
                <a:cs typeface="+mj-cs"/>
              </a:rPr>
              <a:t>错误处理机制</a:t>
            </a:r>
          </a:p>
        </p:txBody>
      </p:sp>
      <p:sp>
        <p:nvSpPr>
          <p:cNvPr id="100356" name="Rectangle 3"/>
          <p:cNvSpPr>
            <a:spLocks noGrp="1"/>
          </p:cNvSpPr>
          <p:nvPr>
            <p:ph idx="1"/>
          </p:nvPr>
        </p:nvSpPr>
        <p:spPr>
          <a:xfrm>
            <a:off x="1179226" y="3092970"/>
            <a:ext cx="9833548" cy="2693976"/>
          </a:xfrm>
        </p:spPr>
        <p:txBody>
          <a:bodyPr vert="horz" lIns="121920" tIns="60960" rIns="121920" bIns="60960">
            <a:normAutofit/>
          </a:bodyPr>
          <a:lstStyle/>
          <a:p>
            <a:pPr marL="609600" indent="-609600" eaLnBrk="1" hangingPunct="1">
              <a:buSzPct val="75000"/>
            </a:pPr>
            <a:r>
              <a:rPr lang="en-US" altLang="zh-CN" sz="2000">
                <a:solidFill>
                  <a:srgbClr val="000000"/>
                </a:solidFill>
                <a:latin typeface="+mn-lt"/>
                <a:ea typeface="+mn-ea"/>
                <a:cs typeface="+mn-cs"/>
              </a:rPr>
              <a:t>Oracle</a:t>
            </a:r>
            <a:r>
              <a:rPr lang="zh-CN" altLang="en-US" sz="2000">
                <a:solidFill>
                  <a:srgbClr val="000000"/>
                </a:solidFill>
                <a:latin typeface="+mn-lt"/>
                <a:ea typeface="+mn-ea"/>
                <a:cs typeface="+mn-cs"/>
              </a:rPr>
              <a:t>中对运行时错误的处理采用了异常处理机制。 </a:t>
            </a:r>
          </a:p>
          <a:p>
            <a:pPr marL="609600" indent="-609600" eaLnBrk="1" hangingPunct="1">
              <a:buSzPct val="75000"/>
            </a:pPr>
            <a:r>
              <a:rPr lang="zh-CN" altLang="en-US" sz="2000">
                <a:solidFill>
                  <a:srgbClr val="000000"/>
                </a:solidFill>
                <a:latin typeface="+mn-lt"/>
                <a:ea typeface="+mn-ea"/>
                <a:cs typeface="+mn-cs"/>
              </a:rPr>
              <a:t>一个错误对应一个异常，当错误产生时抛出相应的异常，并被异常处理器捕获，程序控制权传递给异常处理器，由异常处理器来处理运行时错误。 </a:t>
            </a:r>
          </a:p>
        </p:txBody>
      </p:sp>
      <p:sp>
        <p:nvSpPr>
          <p:cNvPr id="100354"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96</a:t>
            </a:fld>
            <a:endParaRPr lang="en-US" altLang="zh-CN">
              <a:solidFill>
                <a:srgbClr val="898989"/>
              </a:solidFill>
              <a:ea typeface="宋体" panose="02010600030101010101" pitchFamily="2" charset="-122"/>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1379" name="Rectangle 5"/>
          <p:cNvSpPr>
            <a:spLocks noGrp="1"/>
          </p:cNvSpPr>
          <p:nvPr>
            <p:ph type="title"/>
          </p:nvPr>
        </p:nvSpPr>
        <p:spPr>
          <a:xfrm>
            <a:off x="1179226" y="826680"/>
            <a:ext cx="9833548" cy="1325563"/>
          </a:xfrm>
        </p:spPr>
        <p:txBody>
          <a:bodyPr vert="horz" lIns="91440" tIns="45720" rIns="91440" bIns="45720" rtlCol="0" anchor="ctr">
            <a:normAutofit/>
          </a:bodyPr>
          <a:lstStyle/>
          <a:p>
            <a:pPr eaLnBrk="1" hangingPunct="1">
              <a:lnSpc>
                <a:spcPct val="90000"/>
              </a:lnSpc>
            </a:pPr>
            <a:r>
              <a:rPr lang="zh-CN" altLang="en-US" kern="1200">
                <a:solidFill>
                  <a:srgbClr val="FFFFFF"/>
                </a:solidFill>
                <a:latin typeface="+mj-lt"/>
                <a:ea typeface="+mj-ea"/>
                <a:cs typeface="+mj-cs"/>
              </a:rPr>
              <a:t>（</a:t>
            </a:r>
            <a:r>
              <a:rPr lang="en-US" altLang="zh-CN" kern="1200">
                <a:solidFill>
                  <a:srgbClr val="FFFFFF"/>
                </a:solidFill>
                <a:latin typeface="+mj-lt"/>
                <a:ea typeface="+mj-ea"/>
                <a:cs typeface="+mj-cs"/>
              </a:rPr>
              <a:t>2</a:t>
            </a:r>
            <a:r>
              <a:rPr lang="zh-CN" altLang="en-US" kern="1200">
                <a:solidFill>
                  <a:srgbClr val="FFFFFF"/>
                </a:solidFill>
                <a:latin typeface="+mj-lt"/>
                <a:ea typeface="+mj-ea"/>
                <a:cs typeface="+mj-cs"/>
              </a:rPr>
              <a:t>）异常的类型</a:t>
            </a:r>
          </a:p>
        </p:txBody>
      </p:sp>
      <p:sp>
        <p:nvSpPr>
          <p:cNvPr id="101380" name="Rectangle 3"/>
          <p:cNvSpPr>
            <a:spLocks noGrp="1"/>
          </p:cNvSpPr>
          <p:nvPr>
            <p:ph type="body"/>
          </p:nvPr>
        </p:nvSpPr>
        <p:spPr>
          <a:xfrm>
            <a:off x="1179226" y="3092970"/>
            <a:ext cx="9833548" cy="2693976"/>
          </a:xfrm>
        </p:spPr>
        <p:txBody>
          <a:bodyPr vert="horz" lIns="91440" tIns="45720" rIns="91440" bIns="45720" rtlCol="0">
            <a:normAutofit/>
          </a:bodyPr>
          <a:lstStyle/>
          <a:p>
            <a:pPr marL="609600" indent="-228600" algn="l" eaLnBrk="1" hangingPunct="1">
              <a:lnSpc>
                <a:spcPct val="90000"/>
              </a:lnSpc>
              <a:spcAft>
                <a:spcPts val="600"/>
              </a:spcAft>
              <a:buFont typeface="Arial" panose="020B0604020202020204" pitchFamily="34" charset="0"/>
              <a:buChar char="•"/>
            </a:pPr>
            <a:r>
              <a:rPr lang="zh-CN" altLang="en-US" sz="2000" kern="1200">
                <a:solidFill>
                  <a:srgbClr val="000000"/>
                </a:solidFill>
                <a:latin typeface="+mn-lt"/>
                <a:ea typeface="+mn-ea"/>
                <a:cs typeface="+mn-cs"/>
              </a:rPr>
              <a:t>预定义的</a:t>
            </a:r>
            <a:r>
              <a:rPr lang="en-US" altLang="zh-CN" sz="2000" kern="1200">
                <a:solidFill>
                  <a:srgbClr val="000000"/>
                </a:solidFill>
                <a:latin typeface="+mn-lt"/>
                <a:ea typeface="+mn-ea"/>
                <a:cs typeface="+mn-cs"/>
              </a:rPr>
              <a:t>Oracle</a:t>
            </a:r>
            <a:r>
              <a:rPr lang="zh-CN" altLang="en-US" sz="2000" kern="1200">
                <a:solidFill>
                  <a:srgbClr val="000000"/>
                </a:solidFill>
                <a:latin typeface="+mn-lt"/>
                <a:ea typeface="+mn-ea"/>
                <a:cs typeface="+mn-cs"/>
              </a:rPr>
              <a:t>异常（ </a:t>
            </a:r>
            <a:r>
              <a:rPr lang="en-US" altLang="zh-CN" sz="2000" kern="1200">
                <a:solidFill>
                  <a:srgbClr val="000000"/>
                </a:solidFill>
                <a:latin typeface="+mn-lt"/>
                <a:ea typeface="+mn-ea"/>
                <a:cs typeface="+mn-cs"/>
              </a:rPr>
              <a:t>Oracle</a:t>
            </a:r>
            <a:r>
              <a:rPr lang="zh-CN" altLang="en-US" sz="2000" kern="1200">
                <a:solidFill>
                  <a:srgbClr val="000000"/>
                </a:solidFill>
                <a:latin typeface="+mn-lt"/>
                <a:ea typeface="+mn-ea"/>
                <a:cs typeface="+mn-cs"/>
              </a:rPr>
              <a:t>错误）</a:t>
            </a:r>
          </a:p>
          <a:p>
            <a:pPr marL="609600" indent="-228600" algn="l" eaLnBrk="1" hangingPunct="1">
              <a:lnSpc>
                <a:spcPct val="90000"/>
              </a:lnSpc>
              <a:spcAft>
                <a:spcPts val="600"/>
              </a:spcAft>
              <a:buFont typeface="Arial" panose="020B0604020202020204" pitchFamily="34" charset="0"/>
              <a:buChar char="•"/>
            </a:pPr>
            <a:r>
              <a:rPr lang="zh-CN" altLang="en-US" sz="2000" kern="1200">
                <a:solidFill>
                  <a:srgbClr val="000000"/>
                </a:solidFill>
                <a:latin typeface="+mn-lt"/>
                <a:ea typeface="+mn-ea"/>
                <a:cs typeface="+mn-cs"/>
              </a:rPr>
              <a:t>非预定义的</a:t>
            </a:r>
            <a:r>
              <a:rPr lang="en-US" altLang="zh-CN" sz="2000" kern="1200">
                <a:solidFill>
                  <a:srgbClr val="000000"/>
                </a:solidFill>
                <a:latin typeface="+mn-lt"/>
                <a:ea typeface="+mn-ea"/>
                <a:cs typeface="+mn-cs"/>
              </a:rPr>
              <a:t>Oracle</a:t>
            </a:r>
            <a:r>
              <a:rPr lang="zh-CN" altLang="en-US" sz="2000" kern="1200">
                <a:solidFill>
                  <a:srgbClr val="000000"/>
                </a:solidFill>
                <a:latin typeface="+mn-lt"/>
                <a:ea typeface="+mn-ea"/>
                <a:cs typeface="+mn-cs"/>
              </a:rPr>
              <a:t>异常（ </a:t>
            </a:r>
            <a:r>
              <a:rPr lang="en-US" altLang="zh-CN" sz="2000" kern="1200">
                <a:solidFill>
                  <a:srgbClr val="000000"/>
                </a:solidFill>
                <a:latin typeface="+mn-lt"/>
                <a:ea typeface="+mn-ea"/>
                <a:cs typeface="+mn-cs"/>
              </a:rPr>
              <a:t>Oracle</a:t>
            </a:r>
            <a:r>
              <a:rPr lang="zh-CN" altLang="en-US" sz="2000" kern="1200">
                <a:solidFill>
                  <a:srgbClr val="000000"/>
                </a:solidFill>
                <a:latin typeface="+mn-lt"/>
                <a:ea typeface="+mn-ea"/>
                <a:cs typeface="+mn-cs"/>
              </a:rPr>
              <a:t>错误）</a:t>
            </a:r>
          </a:p>
          <a:p>
            <a:pPr marL="609600" indent="-228600" algn="l" eaLnBrk="1" hangingPunct="1">
              <a:lnSpc>
                <a:spcPct val="90000"/>
              </a:lnSpc>
              <a:spcAft>
                <a:spcPts val="600"/>
              </a:spcAft>
              <a:buFont typeface="Arial" panose="020B0604020202020204" pitchFamily="34" charset="0"/>
              <a:buChar char="•"/>
            </a:pPr>
            <a:r>
              <a:rPr lang="zh-CN" altLang="en-US" sz="2000" kern="1200">
                <a:solidFill>
                  <a:srgbClr val="000000"/>
                </a:solidFill>
                <a:latin typeface="+mn-lt"/>
                <a:ea typeface="+mn-ea"/>
                <a:cs typeface="+mn-cs"/>
              </a:rPr>
              <a:t>用户定义的异常（用户定义错误）</a:t>
            </a:r>
          </a:p>
        </p:txBody>
      </p:sp>
      <p:sp>
        <p:nvSpPr>
          <p:cNvPr id="101378" name="灯片编号占位符 4"/>
          <p:cNvSpPr txBox="1">
            <a:spLocks noGrp="1"/>
          </p:cNvSpPr>
          <p:nvPr>
            <p:ph type="sldNum" sz="quarter" idx="12"/>
          </p:nvPr>
        </p:nvSpPr>
        <p:spPr>
          <a:xfrm>
            <a:off x="10825930" y="6223702"/>
            <a:ext cx="570728" cy="314067"/>
          </a:xfrm>
        </p:spPr>
        <p:txBody>
          <a:bodyPr vert="horz" lIns="91440" tIns="45720" rIns="91440" bIns="45720" rtlCol="0" anchor="ctr">
            <a:normAutofit/>
          </a:bodyPr>
          <a:lstStyle/>
          <a:p>
            <a:pPr indent="0">
              <a:spcBef>
                <a:spcPct val="0"/>
              </a:spcBef>
              <a:spcAft>
                <a:spcPts val="600"/>
              </a:spcAft>
              <a:buClrTx/>
              <a:buSzTx/>
              <a:buFontTx/>
              <a:buNone/>
            </a:pPr>
            <a:fld id="{9A0DB2DC-4C9A-4742-B13C-FB6460FD3503}" type="slidenum">
              <a:rPr lang="en-US" altLang="zh-CN">
                <a:solidFill>
                  <a:srgbClr val="898989"/>
                </a:solidFill>
                <a:latin typeface="+mn-lt"/>
                <a:ea typeface="+mn-ea"/>
              </a:rPr>
              <a:pPr indent="0">
                <a:spcBef>
                  <a:spcPct val="0"/>
                </a:spcBef>
                <a:spcAft>
                  <a:spcPts val="600"/>
                </a:spcAft>
                <a:buClrTx/>
                <a:buSzTx/>
                <a:buFontTx/>
                <a:buNone/>
              </a:pPr>
              <a:t>97</a:t>
            </a:fld>
            <a:endParaRPr lang="en-US" altLang="zh-CN">
              <a:solidFill>
                <a:srgbClr val="898989"/>
              </a:solidFill>
              <a:latin typeface="+mn-lt"/>
              <a:ea typeface="+mn-ea"/>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2403"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endParaRPr lang="zh-CN" altLang="zh-CN">
              <a:solidFill>
                <a:srgbClr val="FFFFFF"/>
              </a:solidFill>
              <a:latin typeface="+mj-lt"/>
              <a:ea typeface="+mj-ea"/>
              <a:cs typeface="+mj-cs"/>
            </a:endParaRPr>
          </a:p>
        </p:txBody>
      </p:sp>
      <p:sp>
        <p:nvSpPr>
          <p:cNvPr id="102404"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buSzPct val="75000"/>
            </a:pPr>
            <a:r>
              <a:rPr lang="zh-CN" altLang="en-US" sz="2000">
                <a:solidFill>
                  <a:srgbClr val="000000"/>
                </a:solidFill>
                <a:latin typeface="+mn-lt"/>
                <a:ea typeface="+mn-ea"/>
                <a:cs typeface="+mn-cs"/>
              </a:rPr>
              <a:t>预定义的</a:t>
            </a:r>
            <a:r>
              <a:rPr lang="en-US" altLang="zh-CN" sz="2000">
                <a:solidFill>
                  <a:srgbClr val="000000"/>
                </a:solidFill>
                <a:latin typeface="+mn-lt"/>
                <a:ea typeface="+mn-ea"/>
                <a:cs typeface="+mn-cs"/>
              </a:rPr>
              <a:t>Oracle</a:t>
            </a:r>
            <a:r>
              <a:rPr lang="zh-CN" altLang="en-US" sz="2000">
                <a:solidFill>
                  <a:srgbClr val="000000"/>
                </a:solidFill>
                <a:latin typeface="+mn-lt"/>
                <a:ea typeface="+mn-ea"/>
                <a:cs typeface="+mn-cs"/>
              </a:rPr>
              <a:t>异常</a:t>
            </a:r>
          </a:p>
          <a:p>
            <a:pPr lvl="1" eaLnBrk="1" hangingPunct="1">
              <a:buSzPct val="75000"/>
            </a:pPr>
            <a:r>
              <a:rPr lang="zh-CN" altLang="en-US" sz="2000">
                <a:solidFill>
                  <a:srgbClr val="000000"/>
                </a:solidFill>
                <a:latin typeface="+mn-lt"/>
                <a:ea typeface="华文仿宋" panose="02010600040101010101" pitchFamily="2" charset="-122"/>
              </a:rPr>
              <a:t>当</a:t>
            </a:r>
            <a:r>
              <a:rPr lang="en-US" altLang="zh-CN" sz="2000">
                <a:solidFill>
                  <a:srgbClr val="000000"/>
                </a:solidFill>
                <a:latin typeface="+mn-lt"/>
                <a:ea typeface="华文仿宋" panose="02010600040101010101" pitchFamily="2" charset="-122"/>
              </a:rPr>
              <a:t>Oracle</a:t>
            </a:r>
            <a:r>
              <a:rPr lang="zh-CN" altLang="en-US" sz="2000">
                <a:solidFill>
                  <a:srgbClr val="000000"/>
                </a:solidFill>
                <a:latin typeface="+mn-lt"/>
                <a:ea typeface="华文仿宋" panose="02010600040101010101" pitchFamily="2" charset="-122"/>
              </a:rPr>
              <a:t>错误产生时，与错误对应的预定义异常被自动抛出，通过捕获该异常可以对错误进行处理。</a:t>
            </a:r>
          </a:p>
          <a:p>
            <a:pPr lvl="1" eaLnBrk="1" hangingPunct="1">
              <a:buSzPct val="75000"/>
            </a:pPr>
            <a:r>
              <a:rPr lang="zh-CN" altLang="en-US" sz="2000">
                <a:solidFill>
                  <a:srgbClr val="000000"/>
                </a:solidFill>
                <a:latin typeface="+mn-lt"/>
                <a:ea typeface="华文仿宋" panose="02010600040101010101" pitchFamily="2" charset="-122"/>
              </a:rPr>
              <a:t>常用预定义异常包括：</a:t>
            </a:r>
          </a:p>
        </p:txBody>
      </p:sp>
      <p:sp>
        <p:nvSpPr>
          <p:cNvPr id="102402"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98</a:t>
            </a:fld>
            <a:endParaRPr lang="en-US" altLang="zh-CN">
              <a:solidFill>
                <a:srgbClr val="898989"/>
              </a:solidFill>
              <a:ea typeface="宋体" panose="02010600030101010101" pitchFamily="2" charset="-122"/>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7" name="Rectangle 116">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426" name="灯片编号占位符 5"/>
          <p:cNvSpPr txBox="1">
            <a:spLocks noGrp="1"/>
          </p:cNvSpPr>
          <p:nvPr>
            <p:ph type="sldNum" sz="quarter" idx="12"/>
          </p:nvPr>
        </p:nvSpPr>
        <p:spPr>
          <a:xfrm>
            <a:off x="8610600" y="6356350"/>
            <a:ext cx="2743200" cy="365125"/>
          </a:xfrm>
        </p:spPr>
        <p:txBody>
          <a:bodyPr vert="horz" lIns="91440" tIns="45720" rIns="91440" bIns="45720" rtlCol="0" anchor="ctr">
            <a:normAutofit/>
          </a:bodyPr>
          <a:lstStyle/>
          <a:p>
            <a:pPr indent="0">
              <a:spcBef>
                <a:spcPct val="0"/>
              </a:spcBef>
              <a:spcAft>
                <a:spcPts val="600"/>
              </a:spcAft>
              <a:buClrTx/>
              <a:buSzTx/>
              <a:buFontTx/>
              <a:buNone/>
            </a:pPr>
            <a:fld id="{9A0DB2DC-4C9A-4742-B13C-FB6460FD3503}" type="slidenum">
              <a:rPr lang="en-US" altLang="zh-CN" sz="1200">
                <a:solidFill>
                  <a:srgbClr val="FFFFFF"/>
                </a:solidFill>
                <a:latin typeface="+mn-lt"/>
                <a:ea typeface="+mn-ea"/>
              </a:rPr>
              <a:pPr indent="0">
                <a:spcBef>
                  <a:spcPct val="0"/>
                </a:spcBef>
                <a:spcAft>
                  <a:spcPts val="600"/>
                </a:spcAft>
                <a:buClrTx/>
                <a:buSzTx/>
                <a:buFontTx/>
                <a:buNone/>
              </a:pPr>
              <a:t>99</a:t>
            </a:fld>
            <a:endParaRPr lang="en-US" altLang="zh-CN" sz="1200">
              <a:solidFill>
                <a:srgbClr val="FFFFFF"/>
              </a:solidFill>
              <a:latin typeface="+mn-lt"/>
              <a:ea typeface="+mn-ea"/>
            </a:endParaRPr>
          </a:p>
        </p:txBody>
      </p:sp>
      <p:graphicFrame>
        <p:nvGraphicFramePr>
          <p:cNvPr id="217135" name="Group 47"/>
          <p:cNvGraphicFramePr>
            <a:graphicFrameLocks noGrp="1"/>
          </p:cNvGraphicFramePr>
          <p:nvPr>
            <p:extLst>
              <p:ext uri="{D42A27DB-BD31-4B8C-83A1-F6EECF244321}">
                <p14:modId xmlns:p14="http://schemas.microsoft.com/office/powerpoint/2010/main" val="2473212757"/>
              </p:ext>
            </p:extLst>
          </p:nvPr>
        </p:nvGraphicFramePr>
        <p:xfrm>
          <a:off x="643467" y="780670"/>
          <a:ext cx="10905067" cy="5296662"/>
        </p:xfrm>
        <a:graphic>
          <a:graphicData uri="http://schemas.openxmlformats.org/drawingml/2006/table">
            <a:tbl>
              <a:tblPr>
                <a:noFill/>
              </a:tblPr>
              <a:tblGrid>
                <a:gridCol w="3559649">
                  <a:extLst>
                    <a:ext uri="{9D8B030D-6E8A-4147-A177-3AD203B41FA5}">
                      <a16:colId xmlns:a16="http://schemas.microsoft.com/office/drawing/2014/main" val="20000"/>
                    </a:ext>
                  </a:extLst>
                </a:gridCol>
                <a:gridCol w="1856203">
                  <a:extLst>
                    <a:ext uri="{9D8B030D-6E8A-4147-A177-3AD203B41FA5}">
                      <a16:colId xmlns:a16="http://schemas.microsoft.com/office/drawing/2014/main" val="20001"/>
                    </a:ext>
                  </a:extLst>
                </a:gridCol>
                <a:gridCol w="5489215">
                  <a:extLst>
                    <a:ext uri="{9D8B030D-6E8A-4147-A177-3AD203B41FA5}">
                      <a16:colId xmlns:a16="http://schemas.microsoft.com/office/drawing/2014/main" val="20002"/>
                    </a:ext>
                  </a:extLst>
                </a:gridCol>
              </a:tblGrid>
              <a:tr h="588518">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900" b="0" i="0" u="none" strike="noStrike" cap="none" spc="0" normalizeH="0" baseline="0">
                          <a:ln>
                            <a:noFill/>
                          </a:ln>
                          <a:solidFill>
                            <a:schemeClr val="tx1"/>
                          </a:solidFill>
                          <a:effectLst/>
                          <a:latin typeface="Verdana" panose="020B0604030504040204" pitchFamily="34" charset="0"/>
                          <a:ea typeface="黑体" panose="02010609060101010101" pitchFamily="49" charset="-122"/>
                        </a:rPr>
                        <a:t>异常情况名</a:t>
                      </a:r>
                    </a:p>
                  </a:txBody>
                  <a:tcPr marL="72359" marR="72359" marT="96478" marB="144717" horzOverflow="overflow">
                    <a:lnL w="12700" cmpd="sng">
                      <a:noFill/>
                      <a:prstDash val="solid"/>
                    </a:lnL>
                    <a:lnR w="12700" cmpd="sng">
                      <a:noFill/>
                      <a:prstDash val="solid"/>
                    </a:lnR>
                    <a:lnT w="12700" cap="flat" cmpd="sng" algn="ctr">
                      <a:solidFill>
                        <a:schemeClr val="accent1"/>
                      </a:solidFill>
                      <a:prstDash val="solid"/>
                    </a:lnT>
                    <a:lnB w="12700" cmpd="sng">
                      <a:noFill/>
                      <a:prstDash val="soli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900" b="0" i="0" u="none" strike="noStrike" cap="none" spc="0" normalizeH="0" baseline="0">
                          <a:ln>
                            <a:noFill/>
                          </a:ln>
                          <a:solidFill>
                            <a:schemeClr val="tx1"/>
                          </a:solidFill>
                          <a:effectLst/>
                          <a:latin typeface="Verdana" panose="020B0604030504040204" pitchFamily="34" charset="0"/>
                          <a:ea typeface="黑体" panose="02010609060101010101" pitchFamily="49" charset="-122"/>
                        </a:rPr>
                        <a:t>错误代码</a:t>
                      </a:r>
                    </a:p>
                  </a:txBody>
                  <a:tcPr marL="72359" marR="72359" marT="96478" marB="144717" horzOverflow="overflow">
                    <a:lnL w="12700" cmpd="sng">
                      <a:noFill/>
                      <a:prstDash val="solid"/>
                    </a:lnL>
                    <a:lnR w="12700" cmpd="sng">
                      <a:noFill/>
                      <a:prstDash val="solid"/>
                    </a:lnR>
                    <a:lnT w="12700" cap="flat" cmpd="sng" algn="ctr">
                      <a:solidFill>
                        <a:schemeClr val="accent1"/>
                      </a:solidFill>
                      <a:prstDash val="solid"/>
                    </a:lnT>
                    <a:lnB w="12700" cmpd="sng">
                      <a:noFill/>
                      <a:prstDash val="soli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900" b="0" i="0" u="none" strike="noStrike" cap="none" spc="0" normalizeH="0" baseline="0">
                          <a:ln>
                            <a:noFill/>
                          </a:ln>
                          <a:solidFill>
                            <a:schemeClr val="tx1"/>
                          </a:solidFill>
                          <a:effectLst/>
                          <a:latin typeface="Verdana" panose="020B0604030504040204" pitchFamily="34" charset="0"/>
                          <a:ea typeface="黑体" panose="02010609060101010101" pitchFamily="49" charset="-122"/>
                        </a:rPr>
                        <a:t>描述</a:t>
                      </a:r>
                    </a:p>
                  </a:txBody>
                  <a:tcPr marL="72359" marR="72359" marT="96478" marB="144717" horzOverflow="overflow">
                    <a:lnL w="12700" cmpd="sng">
                      <a:noFill/>
                      <a:prstDash val="solid"/>
                    </a:lnL>
                    <a:lnR w="12700" cmpd="sng">
                      <a:noFill/>
                      <a:prstDash val="solid"/>
                    </a:lnR>
                    <a:lnT w="12700" cap="flat" cmpd="sng" algn="ctr">
                      <a:solidFill>
                        <a:schemeClr val="accent1"/>
                      </a:solidFill>
                      <a:prstDash val="solid"/>
                    </a:lnT>
                    <a:lnB w="12700" cmpd="sng">
                      <a:noFill/>
                      <a:prstDash val="solid"/>
                    </a:lnB>
                    <a:lnTlToBr>
                      <a:noFill/>
                    </a:lnTlToBr>
                    <a:lnBlToTr>
                      <a:noFill/>
                    </a:lnBlToTr>
                    <a:noFill/>
                  </a:tcPr>
                </a:tc>
                <a:extLst>
                  <a:ext uri="{0D108BD9-81ED-4DB2-BD59-A6C34878D82A}">
                    <a16:rowId xmlns:a16="http://schemas.microsoft.com/office/drawing/2014/main" val="10000"/>
                  </a:ext>
                </a:extLst>
              </a:tr>
              <a:tr h="588518">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900" b="0" i="0" u="none" strike="noStrike" cap="none" spc="0" normalizeH="0" baseline="0">
                          <a:ln>
                            <a:noFill/>
                          </a:ln>
                          <a:solidFill>
                            <a:schemeClr val="tx1"/>
                          </a:solidFill>
                          <a:effectLst/>
                          <a:latin typeface="Verdana" panose="020B0604030504040204" pitchFamily="34" charset="0"/>
                          <a:ea typeface="黑体" panose="02010609060101010101" pitchFamily="49" charset="-122"/>
                        </a:rPr>
                        <a:t>CURSOR_ALREADY_OPEN </a:t>
                      </a:r>
                    </a:p>
                  </a:txBody>
                  <a:tcPr marL="72359" marR="72359" marT="96478" marB="144717"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900" b="0" i="0" u="none" strike="noStrike" cap="none" spc="0" normalizeH="0" baseline="0">
                          <a:ln>
                            <a:noFill/>
                          </a:ln>
                          <a:solidFill>
                            <a:schemeClr val="tx1"/>
                          </a:solidFill>
                          <a:effectLst/>
                          <a:latin typeface="Courier" charset="0"/>
                          <a:ea typeface="黑体" panose="02010609060101010101" pitchFamily="49" charset="-122"/>
                        </a:rPr>
                        <a:t>ORA-06511 </a:t>
                      </a:r>
                    </a:p>
                  </a:txBody>
                  <a:tcPr marL="72359" marR="72359" marT="96478" marB="144717"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900" b="0" i="0" u="none" strike="noStrike" cap="none" spc="0" normalizeH="0" baseline="0">
                          <a:ln>
                            <a:noFill/>
                          </a:ln>
                          <a:solidFill>
                            <a:schemeClr val="tx1"/>
                          </a:solidFill>
                          <a:effectLst/>
                          <a:latin typeface="宋体" panose="02010600030101010101" pitchFamily="2" charset="-122"/>
                          <a:ea typeface="黑体" panose="02010609060101010101" pitchFamily="49" charset="-122"/>
                        </a:rPr>
                        <a:t>尝试打开已经打开的游标</a:t>
                      </a:r>
                      <a:r>
                        <a:rPr kumimoji="0" lang="zh-CN" altLang="en-US" sz="1900" b="0" i="0" u="none" strike="noStrike" cap="none" spc="0" normalizeH="0" baseline="0">
                          <a:ln>
                            <a:noFill/>
                          </a:ln>
                          <a:solidFill>
                            <a:schemeClr val="tx1"/>
                          </a:solidFill>
                          <a:effectLst/>
                          <a:latin typeface="Verdana" panose="020B0604030504040204" pitchFamily="34" charset="0"/>
                          <a:ea typeface="黑体" panose="02010609060101010101" pitchFamily="49" charset="-122"/>
                        </a:rPr>
                        <a:t> </a:t>
                      </a:r>
                    </a:p>
                  </a:txBody>
                  <a:tcPr marL="72359" marR="72359" marT="96478" marB="144717"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noFill/>
                  </a:tcPr>
                </a:tc>
                <a:extLst>
                  <a:ext uri="{0D108BD9-81ED-4DB2-BD59-A6C34878D82A}">
                    <a16:rowId xmlns:a16="http://schemas.microsoft.com/office/drawing/2014/main" val="10001"/>
                  </a:ext>
                </a:extLst>
              </a:tr>
              <a:tr h="588518">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900" b="0" i="0" u="none" strike="noStrike" cap="none" spc="0" normalizeH="0" baseline="0">
                          <a:ln>
                            <a:noFill/>
                          </a:ln>
                          <a:solidFill>
                            <a:schemeClr val="tx1"/>
                          </a:solidFill>
                          <a:effectLst/>
                          <a:latin typeface="Courier" charset="0"/>
                          <a:ea typeface="黑体" panose="02010609060101010101" pitchFamily="49" charset="-122"/>
                        </a:rPr>
                        <a:t>INVALID_CURSOR</a:t>
                      </a:r>
                      <a:endParaRPr kumimoji="0" lang="en-US" altLang="zh-CN" sz="1900" b="0" i="0" u="none" strike="noStrike" cap="none" spc="0" normalizeH="0" baseline="0">
                        <a:ln>
                          <a:noFill/>
                        </a:ln>
                        <a:solidFill>
                          <a:schemeClr val="tx1"/>
                        </a:solidFill>
                        <a:effectLst/>
                        <a:latin typeface="Verdana" panose="020B0604030504040204" pitchFamily="34" charset="0"/>
                        <a:ea typeface="黑体" panose="02010609060101010101" pitchFamily="49" charset="-122"/>
                      </a:endParaRPr>
                    </a:p>
                  </a:txBody>
                  <a:tcPr marL="72359" marR="72359" marT="96478" marB="144717"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900" b="0" i="0" u="none" strike="noStrike" cap="none" spc="0" normalizeH="0" baseline="0">
                          <a:ln>
                            <a:noFill/>
                          </a:ln>
                          <a:solidFill>
                            <a:schemeClr val="tx1"/>
                          </a:solidFill>
                          <a:effectLst/>
                          <a:latin typeface="Courier" charset="0"/>
                          <a:ea typeface="黑体" panose="02010609060101010101" pitchFamily="49" charset="-122"/>
                        </a:rPr>
                        <a:t>ORA-01001</a:t>
                      </a:r>
                    </a:p>
                  </a:txBody>
                  <a:tcPr marL="72359" marR="72359" marT="96478" marB="144717"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900" b="0" i="0" u="none" strike="noStrike" cap="none" spc="0" normalizeH="0" baseline="0">
                          <a:ln>
                            <a:noFill/>
                          </a:ln>
                          <a:solidFill>
                            <a:schemeClr val="tx1"/>
                          </a:solidFill>
                          <a:effectLst/>
                          <a:latin typeface="宋体" panose="02010600030101010101" pitchFamily="2" charset="-122"/>
                          <a:ea typeface="黑体" panose="02010609060101010101" pitchFamily="49" charset="-122"/>
                        </a:rPr>
                        <a:t>不合法的游标操作（如要打开已经关闭的游标）</a:t>
                      </a:r>
                      <a:r>
                        <a:rPr kumimoji="0" lang="zh-CN" altLang="en-US" sz="1900" b="0" i="0" u="none" strike="noStrike" cap="none" spc="0" normalizeH="0" baseline="0">
                          <a:ln>
                            <a:noFill/>
                          </a:ln>
                          <a:solidFill>
                            <a:schemeClr val="tx1"/>
                          </a:solidFill>
                          <a:effectLst/>
                          <a:latin typeface="Verdana" panose="020B0604030504040204" pitchFamily="34" charset="0"/>
                          <a:ea typeface="黑体" panose="02010609060101010101" pitchFamily="49" charset="-122"/>
                        </a:rPr>
                        <a:t> </a:t>
                      </a:r>
                    </a:p>
                  </a:txBody>
                  <a:tcPr marL="72359" marR="72359" marT="96478" marB="144717"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noFill/>
                  </a:tcPr>
                </a:tc>
                <a:extLst>
                  <a:ext uri="{0D108BD9-81ED-4DB2-BD59-A6C34878D82A}">
                    <a16:rowId xmlns:a16="http://schemas.microsoft.com/office/drawing/2014/main" val="10002"/>
                  </a:ext>
                </a:extLst>
              </a:tr>
              <a:tr h="588518">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900" b="0" i="0" u="none" strike="noStrike" cap="none" spc="0" normalizeH="0" baseline="0">
                          <a:ln>
                            <a:noFill/>
                          </a:ln>
                          <a:solidFill>
                            <a:schemeClr val="tx1"/>
                          </a:solidFill>
                          <a:effectLst/>
                          <a:latin typeface="Courier" charset="0"/>
                          <a:ea typeface="黑体" panose="02010609060101010101" pitchFamily="49" charset="-122"/>
                        </a:rPr>
                        <a:t>NO_DATA_FOUND</a:t>
                      </a:r>
                      <a:endParaRPr kumimoji="0" lang="en-US" altLang="zh-CN" sz="1900" b="0" i="0" u="none" strike="noStrike" cap="none" spc="0" normalizeH="0" baseline="0">
                        <a:ln>
                          <a:noFill/>
                        </a:ln>
                        <a:solidFill>
                          <a:schemeClr val="tx1"/>
                        </a:solidFill>
                        <a:effectLst/>
                        <a:latin typeface="Verdana" panose="020B0604030504040204" pitchFamily="34" charset="0"/>
                        <a:ea typeface="黑体" panose="02010609060101010101" pitchFamily="49" charset="-122"/>
                      </a:endParaRPr>
                    </a:p>
                  </a:txBody>
                  <a:tcPr marL="72359" marR="72359" marT="96478" marB="144717"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900" b="0" i="0" u="none" strike="noStrike" cap="none" spc="0" normalizeH="0" baseline="0">
                          <a:ln>
                            <a:noFill/>
                          </a:ln>
                          <a:solidFill>
                            <a:schemeClr val="tx1"/>
                          </a:solidFill>
                          <a:effectLst/>
                          <a:latin typeface="Courier" charset="0"/>
                          <a:ea typeface="黑体" panose="02010609060101010101" pitchFamily="49" charset="-122"/>
                        </a:rPr>
                        <a:t>ORA-01403</a:t>
                      </a:r>
                    </a:p>
                  </a:txBody>
                  <a:tcPr marL="72359" marR="72359" marT="96478" marB="144717"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900" b="0" i="0" u="none" strike="noStrike" cap="none" spc="0" normalizeH="0" baseline="0">
                          <a:ln>
                            <a:noFill/>
                          </a:ln>
                          <a:solidFill>
                            <a:schemeClr val="tx1"/>
                          </a:solidFill>
                          <a:effectLst/>
                          <a:latin typeface="宋体" panose="02010600030101010101" pitchFamily="2" charset="-122"/>
                          <a:ea typeface="黑体" panose="02010609060101010101" pitchFamily="49" charset="-122"/>
                        </a:rPr>
                        <a:t>没有发现数据</a:t>
                      </a:r>
                      <a:r>
                        <a:rPr kumimoji="0" lang="zh-CN" altLang="en-US" sz="1900" b="0" i="0" u="none" strike="noStrike" cap="none" spc="0" normalizeH="0" baseline="0">
                          <a:ln>
                            <a:noFill/>
                          </a:ln>
                          <a:solidFill>
                            <a:schemeClr val="tx1"/>
                          </a:solidFill>
                          <a:effectLst/>
                          <a:latin typeface="Verdana" panose="020B0604030504040204" pitchFamily="34" charset="0"/>
                          <a:ea typeface="黑体" panose="02010609060101010101" pitchFamily="49" charset="-122"/>
                        </a:rPr>
                        <a:t> </a:t>
                      </a:r>
                    </a:p>
                  </a:txBody>
                  <a:tcPr marL="72359" marR="72359" marT="96478" marB="144717"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noFill/>
                  </a:tcPr>
                </a:tc>
                <a:extLst>
                  <a:ext uri="{0D108BD9-81ED-4DB2-BD59-A6C34878D82A}">
                    <a16:rowId xmlns:a16="http://schemas.microsoft.com/office/drawing/2014/main" val="10003"/>
                  </a:ext>
                </a:extLst>
              </a:tr>
              <a:tr h="588518">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900" b="0" i="0" u="none" strike="noStrike" cap="none" spc="0" normalizeH="0" baseline="0">
                          <a:ln>
                            <a:noFill/>
                          </a:ln>
                          <a:solidFill>
                            <a:schemeClr val="tx1"/>
                          </a:solidFill>
                          <a:effectLst/>
                          <a:latin typeface="Courier" charset="0"/>
                          <a:ea typeface="黑体" panose="02010609060101010101" pitchFamily="49" charset="-122"/>
                        </a:rPr>
                        <a:t>TOO_MANY_ROWS</a:t>
                      </a:r>
                      <a:endParaRPr kumimoji="0" lang="en-US" altLang="zh-CN" sz="1900" b="0" i="0" u="none" strike="noStrike" cap="none" spc="0" normalizeH="0" baseline="0">
                        <a:ln>
                          <a:noFill/>
                        </a:ln>
                        <a:solidFill>
                          <a:schemeClr val="tx1"/>
                        </a:solidFill>
                        <a:effectLst/>
                        <a:latin typeface="Verdana" panose="020B0604030504040204" pitchFamily="34" charset="0"/>
                        <a:ea typeface="黑体" panose="02010609060101010101" pitchFamily="49" charset="-122"/>
                      </a:endParaRPr>
                    </a:p>
                  </a:txBody>
                  <a:tcPr marL="72359" marR="72359" marT="96478" marB="144717"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900" b="0" i="0" u="none" strike="noStrike" cap="none" spc="0" normalizeH="0" baseline="0">
                          <a:ln>
                            <a:noFill/>
                          </a:ln>
                          <a:solidFill>
                            <a:schemeClr val="tx1"/>
                          </a:solidFill>
                          <a:effectLst/>
                          <a:latin typeface="Courier" charset="0"/>
                          <a:ea typeface="黑体" panose="02010609060101010101" pitchFamily="49" charset="-122"/>
                        </a:rPr>
                        <a:t>ORA-01422</a:t>
                      </a:r>
                    </a:p>
                  </a:txBody>
                  <a:tcPr marL="72359" marR="72359" marT="96478" marB="144717"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900" b="0" i="0" u="none" strike="noStrike" cap="none" spc="0" normalizeH="0" baseline="0">
                          <a:ln>
                            <a:noFill/>
                          </a:ln>
                          <a:solidFill>
                            <a:schemeClr val="tx1"/>
                          </a:solidFill>
                          <a:effectLst/>
                          <a:latin typeface="宋体" panose="02010600030101010101" pitchFamily="2" charset="-122"/>
                          <a:ea typeface="黑体" panose="02010609060101010101" pitchFamily="49" charset="-122"/>
                        </a:rPr>
                        <a:t>一个</a:t>
                      </a:r>
                      <a:r>
                        <a:rPr kumimoji="0" lang="en-US" altLang="zh-CN" sz="1900" b="0" i="0" u="none" strike="noStrike" cap="none" spc="0" normalizeH="0" baseline="0">
                          <a:ln>
                            <a:noFill/>
                          </a:ln>
                          <a:solidFill>
                            <a:schemeClr val="tx1"/>
                          </a:solidFill>
                          <a:effectLst/>
                          <a:latin typeface="Courier" charset="0"/>
                          <a:ea typeface="黑体" panose="02010609060101010101" pitchFamily="49" charset="-122"/>
                        </a:rPr>
                        <a:t>SELECT  INTO</a:t>
                      </a:r>
                      <a:r>
                        <a:rPr kumimoji="0" lang="zh-CN" altLang="en-US" sz="1900" b="0" i="0" u="none" strike="noStrike" cap="none" spc="0" normalizeH="0" baseline="0">
                          <a:ln>
                            <a:noFill/>
                          </a:ln>
                          <a:solidFill>
                            <a:schemeClr val="tx1"/>
                          </a:solidFill>
                          <a:effectLst/>
                          <a:latin typeface="宋体" panose="02010600030101010101" pitchFamily="2" charset="-122"/>
                          <a:ea typeface="黑体" panose="02010609060101010101" pitchFamily="49" charset="-122"/>
                        </a:rPr>
                        <a:t>语句匹配多个数据行</a:t>
                      </a:r>
                    </a:p>
                  </a:txBody>
                  <a:tcPr marL="72359" marR="72359" marT="96478" marB="144717"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noFill/>
                  </a:tcPr>
                </a:tc>
                <a:extLst>
                  <a:ext uri="{0D108BD9-81ED-4DB2-BD59-A6C34878D82A}">
                    <a16:rowId xmlns:a16="http://schemas.microsoft.com/office/drawing/2014/main" val="10004"/>
                  </a:ext>
                </a:extLst>
              </a:tr>
              <a:tr h="588518">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900" b="0" i="0" u="none" strike="noStrike" cap="none" spc="0" normalizeH="0" baseline="0">
                          <a:ln>
                            <a:noFill/>
                          </a:ln>
                          <a:solidFill>
                            <a:schemeClr val="tx1"/>
                          </a:solidFill>
                          <a:effectLst/>
                          <a:latin typeface="Courier" charset="0"/>
                          <a:ea typeface="黑体" panose="02010609060101010101" pitchFamily="49" charset="-122"/>
                        </a:rPr>
                        <a:t>INVALID_NUMBER</a:t>
                      </a:r>
                      <a:endParaRPr kumimoji="0" lang="en-US" altLang="zh-CN" sz="1900" b="0" i="0" u="none" strike="noStrike" cap="none" spc="0" normalizeH="0" baseline="0">
                        <a:ln>
                          <a:noFill/>
                        </a:ln>
                        <a:solidFill>
                          <a:schemeClr val="tx1"/>
                        </a:solidFill>
                        <a:effectLst/>
                        <a:latin typeface="Verdana" panose="020B0604030504040204" pitchFamily="34" charset="0"/>
                        <a:ea typeface="黑体" panose="02010609060101010101" pitchFamily="49" charset="-122"/>
                      </a:endParaRPr>
                    </a:p>
                  </a:txBody>
                  <a:tcPr marL="72359" marR="72359" marT="96478" marB="144717"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900" b="0" i="0" u="none" strike="noStrike" cap="none" spc="0" normalizeH="0" baseline="0">
                          <a:ln>
                            <a:noFill/>
                          </a:ln>
                          <a:solidFill>
                            <a:schemeClr val="tx1"/>
                          </a:solidFill>
                          <a:effectLst/>
                          <a:latin typeface="Courier" charset="0"/>
                          <a:ea typeface="黑体" panose="02010609060101010101" pitchFamily="49" charset="-122"/>
                        </a:rPr>
                        <a:t>ORA-01722</a:t>
                      </a:r>
                    </a:p>
                  </a:txBody>
                  <a:tcPr marL="72359" marR="72359" marT="96478" marB="144717"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900" b="0" i="0" u="none" strike="noStrike" cap="none" spc="0" normalizeH="0" baseline="0">
                          <a:ln>
                            <a:noFill/>
                          </a:ln>
                          <a:solidFill>
                            <a:schemeClr val="tx1"/>
                          </a:solidFill>
                          <a:effectLst/>
                          <a:latin typeface="宋体" panose="02010600030101010101" pitchFamily="2" charset="-122"/>
                          <a:ea typeface="黑体" panose="02010609060101010101" pitchFamily="49" charset="-122"/>
                        </a:rPr>
                        <a:t>转换成数字失败</a:t>
                      </a:r>
                      <a:r>
                        <a:rPr kumimoji="0" lang="zh-CN" altLang="en-US" sz="1900" b="0" i="0" u="none" strike="noStrike" cap="none" spc="0" normalizeH="0" baseline="0">
                          <a:ln>
                            <a:noFill/>
                          </a:ln>
                          <a:solidFill>
                            <a:schemeClr val="tx1"/>
                          </a:solidFill>
                          <a:effectLst/>
                          <a:latin typeface="Courier" charset="0"/>
                          <a:ea typeface="黑体" panose="02010609060101010101" pitchFamily="49" charset="-122"/>
                        </a:rPr>
                        <a:t> </a:t>
                      </a:r>
                      <a:r>
                        <a:rPr kumimoji="0" lang="zh-CN" altLang="en-US" sz="1900" b="0" i="0" u="none" strike="noStrike" cap="none" spc="0" normalizeH="0" baseline="0">
                          <a:ln>
                            <a:noFill/>
                          </a:ln>
                          <a:solidFill>
                            <a:schemeClr val="tx1"/>
                          </a:solidFill>
                          <a:effectLst/>
                          <a:latin typeface="宋体" panose="02010600030101010101" pitchFamily="2" charset="-122"/>
                          <a:ea typeface="黑体" panose="02010609060101010101" pitchFamily="49" charset="-122"/>
                        </a:rPr>
                        <a:t>（</a:t>
                      </a:r>
                      <a:r>
                        <a:rPr kumimoji="0" lang="zh-CN" altLang="en-US" sz="1900" b="0" i="0" u="none" strike="noStrike" cap="none" spc="0" normalizeH="0" baseline="0">
                          <a:ln>
                            <a:noFill/>
                          </a:ln>
                          <a:solidFill>
                            <a:schemeClr val="tx1"/>
                          </a:solidFill>
                          <a:effectLst/>
                          <a:latin typeface="Courier"/>
                          <a:ea typeface="黑体" panose="02010609060101010101" pitchFamily="49" charset="-122"/>
                        </a:rPr>
                        <a:t>‘</a:t>
                      </a:r>
                      <a:r>
                        <a:rPr kumimoji="0" lang="en-US" altLang="zh-CN" sz="1900" b="0" i="0" u="none" strike="noStrike" cap="none" spc="0" normalizeH="0" baseline="0">
                          <a:ln>
                            <a:noFill/>
                          </a:ln>
                          <a:solidFill>
                            <a:schemeClr val="tx1"/>
                          </a:solidFill>
                          <a:effectLst/>
                          <a:latin typeface="Courier" charset="0"/>
                          <a:ea typeface="黑体" panose="02010609060101010101" pitchFamily="49" charset="-122"/>
                        </a:rPr>
                        <a:t>X</a:t>
                      </a:r>
                      <a:r>
                        <a:rPr kumimoji="0" lang="en-US" altLang="zh-CN" sz="1900" b="0" i="0" u="none" strike="noStrike" cap="none" spc="0" normalizeH="0" baseline="0">
                          <a:ln>
                            <a:noFill/>
                          </a:ln>
                          <a:solidFill>
                            <a:schemeClr val="tx1"/>
                          </a:solidFill>
                          <a:effectLst/>
                          <a:latin typeface="Courier"/>
                          <a:ea typeface="黑体" panose="02010609060101010101" pitchFamily="49" charset="-122"/>
                        </a:rPr>
                        <a:t>’</a:t>
                      </a:r>
                      <a:r>
                        <a:rPr kumimoji="0" lang="zh-CN" altLang="en-US" sz="1900" b="0" i="0" u="none" strike="noStrike" cap="none" spc="0" normalizeH="0" baseline="0">
                          <a:ln>
                            <a:noFill/>
                          </a:ln>
                          <a:solidFill>
                            <a:schemeClr val="tx1"/>
                          </a:solidFill>
                          <a:effectLst/>
                          <a:latin typeface="宋体" panose="02010600030101010101" pitchFamily="2" charset="-122"/>
                          <a:ea typeface="黑体" panose="02010609060101010101" pitchFamily="49" charset="-122"/>
                        </a:rPr>
                        <a:t>）</a:t>
                      </a:r>
                      <a:r>
                        <a:rPr kumimoji="0" lang="zh-CN" altLang="en-US" sz="1900" b="0" i="0" u="none" strike="noStrike" cap="none" spc="0" normalizeH="0" baseline="0">
                          <a:ln>
                            <a:noFill/>
                          </a:ln>
                          <a:solidFill>
                            <a:schemeClr val="tx1"/>
                          </a:solidFill>
                          <a:effectLst/>
                          <a:latin typeface="Verdana" panose="020B0604030504040204" pitchFamily="34" charset="0"/>
                          <a:ea typeface="黑体" panose="02010609060101010101" pitchFamily="49" charset="-122"/>
                        </a:rPr>
                        <a:t> </a:t>
                      </a:r>
                    </a:p>
                  </a:txBody>
                  <a:tcPr marL="72359" marR="72359" marT="96478" marB="144717"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noFill/>
                  </a:tcPr>
                </a:tc>
                <a:extLst>
                  <a:ext uri="{0D108BD9-81ED-4DB2-BD59-A6C34878D82A}">
                    <a16:rowId xmlns:a16="http://schemas.microsoft.com/office/drawing/2014/main" val="10005"/>
                  </a:ext>
                </a:extLst>
              </a:tr>
              <a:tr h="588518">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900" b="0" i="0" u="none" strike="noStrike" cap="none" spc="0" normalizeH="0" baseline="0">
                          <a:ln>
                            <a:noFill/>
                          </a:ln>
                          <a:solidFill>
                            <a:schemeClr val="tx1"/>
                          </a:solidFill>
                          <a:effectLst/>
                          <a:latin typeface="Courier" charset="0"/>
                          <a:ea typeface="黑体" panose="02010609060101010101" pitchFamily="49" charset="-122"/>
                        </a:rPr>
                        <a:t>VALUE_ERROR</a:t>
                      </a:r>
                      <a:endParaRPr kumimoji="0" lang="en-US" altLang="zh-CN" sz="1900" b="0" i="0" u="none" strike="noStrike" cap="none" spc="0" normalizeH="0" baseline="0">
                        <a:ln>
                          <a:noFill/>
                        </a:ln>
                        <a:solidFill>
                          <a:schemeClr val="tx1"/>
                        </a:solidFill>
                        <a:effectLst/>
                        <a:latin typeface="Verdana" panose="020B0604030504040204" pitchFamily="34" charset="0"/>
                        <a:ea typeface="黑体" panose="02010609060101010101" pitchFamily="49" charset="-122"/>
                      </a:endParaRPr>
                    </a:p>
                  </a:txBody>
                  <a:tcPr marL="72359" marR="72359" marT="96478" marB="144717"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900" b="0" i="0" u="none" strike="noStrike" cap="none" spc="0" normalizeH="0" baseline="0">
                          <a:ln>
                            <a:noFill/>
                          </a:ln>
                          <a:solidFill>
                            <a:schemeClr val="tx1"/>
                          </a:solidFill>
                          <a:effectLst/>
                          <a:latin typeface="Courier" charset="0"/>
                          <a:ea typeface="黑体" panose="02010609060101010101" pitchFamily="49" charset="-122"/>
                        </a:rPr>
                        <a:t>ORA-06502</a:t>
                      </a:r>
                    </a:p>
                  </a:txBody>
                  <a:tcPr marL="72359" marR="72359" marT="96478" marB="144717"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900" b="0" i="0" u="none" strike="noStrike" cap="none" spc="0" normalizeH="0" baseline="0">
                          <a:ln>
                            <a:noFill/>
                          </a:ln>
                          <a:solidFill>
                            <a:schemeClr val="tx1"/>
                          </a:solidFill>
                          <a:effectLst/>
                          <a:latin typeface="宋体" panose="02010600030101010101" pitchFamily="2" charset="-122"/>
                          <a:ea typeface="黑体" panose="02010609060101010101" pitchFamily="49" charset="-122"/>
                        </a:rPr>
                        <a:t>截断、算法或转换错误，通常出现在赋值错误</a:t>
                      </a:r>
                      <a:r>
                        <a:rPr kumimoji="0" lang="zh-CN" altLang="en-US" sz="1900" b="0" i="0" u="none" strike="noStrike" cap="none" spc="0" normalizeH="0" baseline="0">
                          <a:ln>
                            <a:noFill/>
                          </a:ln>
                          <a:solidFill>
                            <a:schemeClr val="tx1"/>
                          </a:solidFill>
                          <a:effectLst/>
                          <a:latin typeface="Verdana" panose="020B0604030504040204" pitchFamily="34" charset="0"/>
                          <a:ea typeface="黑体" panose="02010609060101010101" pitchFamily="49" charset="-122"/>
                        </a:rPr>
                        <a:t> </a:t>
                      </a:r>
                    </a:p>
                  </a:txBody>
                  <a:tcPr marL="72359" marR="72359" marT="96478" marB="144717"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noFill/>
                  </a:tcPr>
                </a:tc>
                <a:extLst>
                  <a:ext uri="{0D108BD9-81ED-4DB2-BD59-A6C34878D82A}">
                    <a16:rowId xmlns:a16="http://schemas.microsoft.com/office/drawing/2014/main" val="10006"/>
                  </a:ext>
                </a:extLst>
              </a:tr>
              <a:tr h="588518">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900" b="0" i="0" u="none" strike="noStrike" cap="none" spc="0" normalizeH="0" baseline="0">
                          <a:ln>
                            <a:noFill/>
                          </a:ln>
                          <a:solidFill>
                            <a:schemeClr val="tx1"/>
                          </a:solidFill>
                          <a:effectLst/>
                          <a:latin typeface="Courier" charset="0"/>
                          <a:ea typeface="黑体" panose="02010609060101010101" pitchFamily="49" charset="-122"/>
                        </a:rPr>
                        <a:t>ZERO_DIVIDE</a:t>
                      </a:r>
                      <a:endParaRPr kumimoji="0" lang="en-US" altLang="zh-CN" sz="1900" b="0" i="0" u="none" strike="noStrike" cap="none" spc="0" normalizeH="0" baseline="0">
                        <a:ln>
                          <a:noFill/>
                        </a:ln>
                        <a:solidFill>
                          <a:schemeClr val="tx1"/>
                        </a:solidFill>
                        <a:effectLst/>
                        <a:latin typeface="Verdana" panose="020B0604030504040204" pitchFamily="34" charset="0"/>
                        <a:ea typeface="黑体" panose="02010609060101010101" pitchFamily="49" charset="-122"/>
                      </a:endParaRPr>
                    </a:p>
                  </a:txBody>
                  <a:tcPr marL="72359" marR="72359" marT="96478" marB="144717"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900" b="0" i="0" u="none" strike="noStrike" cap="none" spc="0" normalizeH="0" baseline="0">
                          <a:ln>
                            <a:noFill/>
                          </a:ln>
                          <a:solidFill>
                            <a:schemeClr val="tx1"/>
                          </a:solidFill>
                          <a:effectLst/>
                          <a:latin typeface="Courier" charset="0"/>
                          <a:ea typeface="黑体" panose="02010609060101010101" pitchFamily="49" charset="-122"/>
                        </a:rPr>
                        <a:t>ORA-01476</a:t>
                      </a:r>
                    </a:p>
                  </a:txBody>
                  <a:tcPr marL="72359" marR="72359" marT="96478" marB="144717"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900" b="0" i="0" u="none" strike="noStrike" cap="none" spc="0" normalizeH="0" baseline="0">
                          <a:ln>
                            <a:noFill/>
                          </a:ln>
                          <a:solidFill>
                            <a:schemeClr val="tx1"/>
                          </a:solidFill>
                          <a:effectLst/>
                          <a:latin typeface="宋体" panose="02010600030101010101" pitchFamily="2" charset="-122"/>
                          <a:ea typeface="黑体" panose="02010609060101010101" pitchFamily="49" charset="-122"/>
                        </a:rPr>
                        <a:t>除数为</a:t>
                      </a:r>
                      <a:r>
                        <a:rPr kumimoji="0" lang="en-US" altLang="zh-CN" sz="1900" b="0" i="0" u="none" strike="noStrike" cap="none" spc="0" normalizeH="0" baseline="0">
                          <a:ln>
                            <a:noFill/>
                          </a:ln>
                          <a:solidFill>
                            <a:schemeClr val="tx1"/>
                          </a:solidFill>
                          <a:effectLst/>
                          <a:latin typeface="Courier" charset="0"/>
                          <a:ea typeface="黑体" panose="02010609060101010101" pitchFamily="49" charset="-122"/>
                        </a:rPr>
                        <a:t>0</a:t>
                      </a:r>
                      <a:r>
                        <a:rPr kumimoji="0" lang="en-US" altLang="zh-CN" sz="1900" b="0" i="0" u="none" strike="noStrike" cap="none" spc="0" normalizeH="0" baseline="0">
                          <a:ln>
                            <a:noFill/>
                          </a:ln>
                          <a:solidFill>
                            <a:schemeClr val="tx1"/>
                          </a:solidFill>
                          <a:effectLst/>
                          <a:latin typeface="Verdana" panose="020B0604030504040204" pitchFamily="34" charset="0"/>
                          <a:ea typeface="黑体" panose="02010609060101010101" pitchFamily="49" charset="-122"/>
                        </a:rPr>
                        <a:t> </a:t>
                      </a:r>
                    </a:p>
                  </a:txBody>
                  <a:tcPr marL="72359" marR="72359" marT="96478" marB="144717"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noFill/>
                  </a:tcPr>
                </a:tc>
                <a:extLst>
                  <a:ext uri="{0D108BD9-81ED-4DB2-BD59-A6C34878D82A}">
                    <a16:rowId xmlns:a16="http://schemas.microsoft.com/office/drawing/2014/main" val="10007"/>
                  </a:ext>
                </a:extLst>
              </a:tr>
              <a:tr h="588518">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900" b="0" i="0" u="none" strike="noStrike" cap="none" spc="0" normalizeH="0" baseline="0">
                          <a:ln>
                            <a:noFill/>
                          </a:ln>
                          <a:solidFill>
                            <a:schemeClr val="tx1"/>
                          </a:solidFill>
                          <a:effectLst/>
                          <a:latin typeface="Courier" charset="0"/>
                          <a:ea typeface="黑体" panose="02010609060101010101" pitchFamily="49" charset="-122"/>
                        </a:rPr>
                        <a:t>ROWTYPE_MISMATCH</a:t>
                      </a:r>
                      <a:endParaRPr kumimoji="0" lang="en-US" altLang="zh-CN" sz="1900" b="0" i="0" u="none" strike="noStrike" cap="none" spc="0" normalizeH="0" baseline="0">
                        <a:ln>
                          <a:noFill/>
                        </a:ln>
                        <a:solidFill>
                          <a:schemeClr val="tx1"/>
                        </a:solidFill>
                        <a:effectLst/>
                        <a:latin typeface="Verdana" panose="020B0604030504040204" pitchFamily="34" charset="0"/>
                        <a:ea typeface="黑体" panose="02010609060101010101" pitchFamily="49" charset="-122"/>
                      </a:endParaRPr>
                    </a:p>
                  </a:txBody>
                  <a:tcPr marL="72359" marR="72359" marT="96478" marB="144717"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900" b="0" i="0" u="none" strike="noStrike" cap="none" spc="0" normalizeH="0" baseline="0">
                          <a:ln>
                            <a:noFill/>
                          </a:ln>
                          <a:solidFill>
                            <a:schemeClr val="tx1"/>
                          </a:solidFill>
                          <a:effectLst/>
                          <a:latin typeface="Courier" charset="0"/>
                          <a:ea typeface="黑体" panose="02010609060101010101" pitchFamily="49" charset="-122"/>
                        </a:rPr>
                        <a:t>ORA-06504</a:t>
                      </a:r>
                    </a:p>
                  </a:txBody>
                  <a:tcPr marL="72359" marR="72359" marT="96478" marB="144717"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900" b="0" i="0" u="none" strike="noStrike" cap="none" spc="0" normalizeH="0" baseline="0">
                          <a:ln>
                            <a:noFill/>
                          </a:ln>
                          <a:solidFill>
                            <a:schemeClr val="tx1"/>
                          </a:solidFill>
                          <a:effectLst/>
                          <a:latin typeface="宋体" panose="02010600030101010101" pitchFamily="2" charset="-122"/>
                          <a:ea typeface="黑体" panose="02010609060101010101" pitchFamily="49" charset="-122"/>
                        </a:rPr>
                        <a:t>主机游标变量与</a:t>
                      </a:r>
                      <a:r>
                        <a:rPr kumimoji="0" lang="en-US" altLang="zh-CN" sz="1900" b="0" i="0" u="none" strike="noStrike" cap="none" spc="0" normalizeH="0" baseline="0">
                          <a:ln>
                            <a:noFill/>
                          </a:ln>
                          <a:solidFill>
                            <a:schemeClr val="tx1"/>
                          </a:solidFill>
                          <a:effectLst/>
                          <a:latin typeface="Courier" charset="0"/>
                          <a:ea typeface="黑体" panose="02010609060101010101" pitchFamily="49" charset="-122"/>
                        </a:rPr>
                        <a:t>PL/SQL</a:t>
                      </a:r>
                      <a:r>
                        <a:rPr kumimoji="0" lang="zh-CN" altLang="en-US" sz="1900" b="0" i="0" u="none" strike="noStrike" cap="none" spc="0" normalizeH="0" baseline="0">
                          <a:ln>
                            <a:noFill/>
                          </a:ln>
                          <a:solidFill>
                            <a:schemeClr val="tx1"/>
                          </a:solidFill>
                          <a:effectLst/>
                          <a:latin typeface="宋体" panose="02010600030101010101" pitchFamily="2" charset="-122"/>
                          <a:ea typeface="黑体" panose="02010609060101010101" pitchFamily="49" charset="-122"/>
                        </a:rPr>
                        <a:t>游标变量类型不匹配</a:t>
                      </a:r>
                    </a:p>
                  </a:txBody>
                  <a:tcPr marL="72359" marR="72359" marT="96478" marB="144717"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3" name="Rectangle 182">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ectangle 184">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450" name="灯片编号占位符 3"/>
          <p:cNvSpPr txBox="1">
            <a:spLocks noGrp="1"/>
          </p:cNvSpPr>
          <p:nvPr>
            <p:ph type="sldNum" sz="quarter" idx="12"/>
          </p:nvPr>
        </p:nvSpPr>
        <p:spPr>
          <a:xfrm>
            <a:off x="8610600" y="6356350"/>
            <a:ext cx="2743200" cy="365125"/>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FFFFFF"/>
                </a:solidFill>
                <a:ea typeface="宋体" panose="02010600030101010101" pitchFamily="2" charset="-122"/>
              </a:rPr>
              <a:pPr marL="0" indent="0" eaLnBrk="1" hangingPunct="1">
                <a:spcBef>
                  <a:spcPct val="0"/>
                </a:spcBef>
                <a:spcAft>
                  <a:spcPts val="600"/>
                </a:spcAft>
                <a:buClrTx/>
                <a:buSzTx/>
                <a:buFontTx/>
                <a:buNone/>
              </a:pPr>
              <a:t>100</a:t>
            </a:fld>
            <a:endParaRPr lang="en-US" altLang="zh-CN">
              <a:solidFill>
                <a:srgbClr val="FFFFFF"/>
              </a:solidFill>
              <a:ea typeface="宋体" panose="02010600030101010101" pitchFamily="2" charset="-122"/>
            </a:endParaRPr>
          </a:p>
        </p:txBody>
      </p:sp>
      <p:graphicFrame>
        <p:nvGraphicFramePr>
          <p:cNvPr id="218162" name="Group 50"/>
          <p:cNvGraphicFramePr>
            <a:graphicFrameLocks noGrp="1"/>
          </p:cNvGraphicFramePr>
          <p:nvPr>
            <p:extLst>
              <p:ext uri="{D42A27DB-BD31-4B8C-83A1-F6EECF244321}">
                <p14:modId xmlns:p14="http://schemas.microsoft.com/office/powerpoint/2010/main" val="2362408956"/>
              </p:ext>
            </p:extLst>
          </p:nvPr>
        </p:nvGraphicFramePr>
        <p:xfrm>
          <a:off x="643467" y="1152724"/>
          <a:ext cx="10905067" cy="4552554"/>
        </p:xfrm>
        <a:graphic>
          <a:graphicData uri="http://schemas.openxmlformats.org/drawingml/2006/table">
            <a:tbl>
              <a:tblPr>
                <a:solidFill>
                  <a:schemeClr val="bg1">
                    <a:lumMod val="95000"/>
                  </a:schemeClr>
                </a:solidFill>
              </a:tblPr>
              <a:tblGrid>
                <a:gridCol w="4191025">
                  <a:extLst>
                    <a:ext uri="{9D8B030D-6E8A-4147-A177-3AD203B41FA5}">
                      <a16:colId xmlns:a16="http://schemas.microsoft.com/office/drawing/2014/main" val="20000"/>
                    </a:ext>
                  </a:extLst>
                </a:gridCol>
                <a:gridCol w="2399461">
                  <a:extLst>
                    <a:ext uri="{9D8B030D-6E8A-4147-A177-3AD203B41FA5}">
                      <a16:colId xmlns:a16="http://schemas.microsoft.com/office/drawing/2014/main" val="20001"/>
                    </a:ext>
                  </a:extLst>
                </a:gridCol>
                <a:gridCol w="4314581">
                  <a:extLst>
                    <a:ext uri="{9D8B030D-6E8A-4147-A177-3AD203B41FA5}">
                      <a16:colId xmlns:a16="http://schemas.microsoft.com/office/drawing/2014/main" val="20002"/>
                    </a:ext>
                  </a:extLst>
                </a:gridCol>
              </a:tblGrid>
              <a:tr h="447192">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400" b="0" i="0" u="none" strike="noStrike" cap="none" spc="0" normalizeH="0" baseline="0">
                          <a:ln>
                            <a:noFill/>
                          </a:ln>
                          <a:solidFill>
                            <a:schemeClr val="tx1"/>
                          </a:solidFill>
                          <a:effectLst/>
                          <a:latin typeface="Verdana" panose="020B0604030504040204" pitchFamily="34" charset="0"/>
                          <a:ea typeface="黑体" panose="02010609060101010101" pitchFamily="49" charset="-122"/>
                        </a:rPr>
                        <a:t>异常情况名</a:t>
                      </a:r>
                    </a:p>
                  </a:txBody>
                  <a:tcPr marL="146618" marR="146618" marT="109963" marB="73316" horzOverflow="overflow">
                    <a:lnL w="12700" cmpd="sng">
                      <a:noFill/>
                      <a:prstDash val="solid"/>
                    </a:lnL>
                    <a:lnR w="12700" cmpd="sng">
                      <a:noFill/>
                      <a:prstDash val="solid"/>
                    </a:lnR>
                    <a:lnT w="12700" cap="flat" cmpd="sng" algn="ctr">
                      <a:noFill/>
                      <a:prstDash val="solid"/>
                    </a:lnT>
                    <a:lnB w="12700" cmpd="sng">
                      <a:noFill/>
                      <a:prstDash val="solid"/>
                    </a:lnB>
                    <a:lnTlToBr>
                      <a:noFill/>
                    </a:lnTlToBr>
                    <a:lnBlToTr>
                      <a:noFill/>
                    </a:lnBlToTr>
                    <a:solidFill>
                      <a:schemeClr val="bg1">
                        <a:lumMod val="95000"/>
                      </a:schemeClr>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400" b="0" i="0" u="none" strike="noStrike" cap="none" spc="0" normalizeH="0" baseline="0">
                          <a:ln>
                            <a:noFill/>
                          </a:ln>
                          <a:solidFill>
                            <a:schemeClr val="tx1"/>
                          </a:solidFill>
                          <a:effectLst/>
                          <a:latin typeface="Verdana" panose="020B0604030504040204" pitchFamily="34" charset="0"/>
                          <a:ea typeface="黑体" panose="02010609060101010101" pitchFamily="49" charset="-122"/>
                        </a:rPr>
                        <a:t>错误代码</a:t>
                      </a:r>
                    </a:p>
                  </a:txBody>
                  <a:tcPr marL="146618" marR="146618" marT="109963" marB="73316" horzOverflow="overflow">
                    <a:lnL w="12700" cmpd="sng">
                      <a:noFill/>
                      <a:prstDash val="solid"/>
                    </a:lnL>
                    <a:lnR w="12700" cmpd="sng">
                      <a:noFill/>
                      <a:prstDash val="solid"/>
                    </a:lnR>
                    <a:lnT w="12700" cap="flat" cmpd="sng" algn="ctr">
                      <a:noFill/>
                      <a:prstDash val="solid"/>
                    </a:lnT>
                    <a:lnB w="12700" cmpd="sng">
                      <a:noFill/>
                      <a:prstDash val="solid"/>
                    </a:lnB>
                    <a:lnTlToBr>
                      <a:noFill/>
                    </a:lnTlToBr>
                    <a:lnBlToTr>
                      <a:noFill/>
                    </a:lnBlToTr>
                    <a:solidFill>
                      <a:schemeClr val="bg1">
                        <a:lumMod val="95000"/>
                      </a:schemeClr>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400" b="0" i="0" u="none" strike="noStrike" cap="none" spc="0" normalizeH="0" baseline="0">
                          <a:ln>
                            <a:noFill/>
                          </a:ln>
                          <a:solidFill>
                            <a:schemeClr val="tx1"/>
                          </a:solidFill>
                          <a:effectLst/>
                          <a:latin typeface="Verdana" panose="020B0604030504040204" pitchFamily="34" charset="0"/>
                          <a:ea typeface="黑体" panose="02010609060101010101" pitchFamily="49" charset="-122"/>
                        </a:rPr>
                        <a:t>描述</a:t>
                      </a:r>
                    </a:p>
                  </a:txBody>
                  <a:tcPr marL="146618" marR="146618" marT="109963" marB="73316" horzOverflow="overflow">
                    <a:lnL w="12700" cmpd="sng">
                      <a:noFill/>
                      <a:prstDash val="solid"/>
                    </a:lnL>
                    <a:lnR w="12700" cmpd="sng">
                      <a:noFill/>
                      <a:prstDash val="solid"/>
                    </a:lnR>
                    <a:lnT w="12700" cap="flat" cmpd="sng" algn="ctr">
                      <a:noFill/>
                      <a:prstDash val="solid"/>
                    </a:lnT>
                    <a:lnB w="12700" cmpd="sng">
                      <a:no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447192">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400" b="0" i="0" u="none" strike="noStrike" cap="none" spc="0" normalizeH="0" baseline="0">
                          <a:ln>
                            <a:noFill/>
                          </a:ln>
                          <a:solidFill>
                            <a:schemeClr val="tx1"/>
                          </a:solidFill>
                          <a:effectLst/>
                          <a:latin typeface="Courier" charset="0"/>
                          <a:ea typeface="黑体" panose="02010609060101010101" pitchFamily="49" charset="-122"/>
                        </a:rPr>
                        <a:t>DUP_VAL_ON_INDEX</a:t>
                      </a:r>
                    </a:p>
                  </a:txBody>
                  <a:tcPr marL="146618" marR="146618" marT="109963" marB="73316"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solidFill>
                      <a:schemeClr val="bg1">
                        <a:lumMod val="95000"/>
                      </a:schemeClr>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400" b="0" i="0" u="none" strike="noStrike" cap="none" spc="0" normalizeH="0" baseline="0">
                          <a:ln>
                            <a:noFill/>
                          </a:ln>
                          <a:solidFill>
                            <a:schemeClr val="tx1"/>
                          </a:solidFill>
                          <a:effectLst/>
                          <a:latin typeface="Courier" charset="0"/>
                          <a:ea typeface="黑体" panose="02010609060101010101" pitchFamily="49" charset="-122"/>
                        </a:rPr>
                        <a:t>ORA-00001</a:t>
                      </a:r>
                    </a:p>
                  </a:txBody>
                  <a:tcPr marL="146618" marR="146618" marT="109963" marB="73316"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solidFill>
                      <a:schemeClr val="bg1">
                        <a:lumMod val="95000"/>
                      </a:schemeClr>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400" b="0" i="0" u="none" strike="noStrike" cap="none" spc="0" normalizeH="0" baseline="0">
                          <a:ln>
                            <a:noFill/>
                          </a:ln>
                          <a:solidFill>
                            <a:schemeClr val="tx1"/>
                          </a:solidFill>
                          <a:effectLst/>
                          <a:latin typeface="宋体" panose="02010600030101010101" pitchFamily="2" charset="-122"/>
                          <a:ea typeface="黑体" panose="02010609060101010101" pitchFamily="49" charset="-122"/>
                        </a:rPr>
                        <a:t>违反唯一性约束或主键约束</a:t>
                      </a:r>
                    </a:p>
                  </a:txBody>
                  <a:tcPr marL="146618" marR="146618" marT="109963" marB="73316"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711105">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400" b="0" i="0" u="none" strike="noStrike" cap="none" spc="0" normalizeH="0" baseline="0">
                          <a:ln>
                            <a:noFill/>
                          </a:ln>
                          <a:solidFill>
                            <a:schemeClr val="tx1"/>
                          </a:solidFill>
                          <a:effectLst/>
                          <a:latin typeface="Courier" charset="0"/>
                          <a:ea typeface="黑体" panose="02010609060101010101" pitchFamily="49" charset="-122"/>
                        </a:rPr>
                        <a:t>SYS_INVALID_ROWID</a:t>
                      </a:r>
                    </a:p>
                  </a:txBody>
                  <a:tcPr marL="146618" marR="146618" marT="109963" marB="73316"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solidFill>
                      <a:schemeClr val="bg1">
                        <a:lumMod val="95000"/>
                      </a:schemeClr>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400" b="0" i="0" u="none" strike="noStrike" cap="none" spc="0" normalizeH="0" baseline="0">
                          <a:ln>
                            <a:noFill/>
                          </a:ln>
                          <a:solidFill>
                            <a:schemeClr val="tx1"/>
                          </a:solidFill>
                          <a:effectLst/>
                          <a:latin typeface="Courier" charset="0"/>
                          <a:ea typeface="黑体" panose="02010609060101010101" pitchFamily="49" charset="-122"/>
                        </a:rPr>
                        <a:t>ORA-01410</a:t>
                      </a:r>
                    </a:p>
                  </a:txBody>
                  <a:tcPr marL="146618" marR="146618" marT="109963" marB="73316"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solidFill>
                      <a:schemeClr val="bg1">
                        <a:lumMod val="95000"/>
                      </a:schemeClr>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400" b="0" i="0" u="none" strike="noStrike" cap="none" spc="0" normalizeH="0" baseline="0">
                          <a:ln>
                            <a:noFill/>
                          </a:ln>
                          <a:solidFill>
                            <a:schemeClr val="tx1"/>
                          </a:solidFill>
                          <a:effectLst/>
                          <a:latin typeface="宋体" panose="02010600030101010101" pitchFamily="2" charset="-122"/>
                          <a:ea typeface="黑体" panose="02010609060101010101" pitchFamily="49" charset="-122"/>
                        </a:rPr>
                        <a:t>转换成</a:t>
                      </a:r>
                      <a:r>
                        <a:rPr kumimoji="0" lang="en-US" altLang="zh-CN" sz="1400" b="0" i="0" u="none" strike="noStrike" cap="none" spc="0" normalizeH="0" baseline="0">
                          <a:ln>
                            <a:noFill/>
                          </a:ln>
                          <a:solidFill>
                            <a:schemeClr val="tx1"/>
                          </a:solidFill>
                          <a:effectLst/>
                          <a:latin typeface="Courier" charset="0"/>
                          <a:ea typeface="黑体" panose="02010609060101010101" pitchFamily="49" charset="-122"/>
                        </a:rPr>
                        <a:t>ROWID</a:t>
                      </a:r>
                      <a:r>
                        <a:rPr kumimoji="0" lang="zh-CN" altLang="en-US" sz="1400" b="0" i="0" u="none" strike="noStrike" cap="none" spc="0" normalizeH="0" baseline="0">
                          <a:ln>
                            <a:noFill/>
                          </a:ln>
                          <a:solidFill>
                            <a:schemeClr val="tx1"/>
                          </a:solidFill>
                          <a:effectLst/>
                          <a:latin typeface="宋体" panose="02010600030101010101" pitchFamily="2" charset="-122"/>
                          <a:ea typeface="黑体" panose="02010609060101010101" pitchFamily="49" charset="-122"/>
                        </a:rPr>
                        <a:t>失败</a:t>
                      </a:r>
                      <a:endParaRPr kumimoji="0" lang="zh-CN" altLang="en-US" sz="1400" b="0" i="0" u="none" strike="noStrike" cap="none" spc="0" normalizeH="0" baseline="0">
                        <a:ln>
                          <a:noFill/>
                        </a:ln>
                        <a:solidFill>
                          <a:schemeClr val="tx1"/>
                        </a:solidFill>
                        <a:effectLst/>
                        <a:latin typeface="宋体" panose="02010600030101010101" pitchFamily="2" charset="-122"/>
                        <a:ea typeface="黑体" panose="020106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en-US" altLang="zh-CN" sz="1400" b="0" i="0" u="none" strike="noStrike" cap="none" spc="0" normalizeH="0" baseline="0">
                        <a:ln>
                          <a:noFill/>
                        </a:ln>
                        <a:solidFill>
                          <a:schemeClr val="tx1"/>
                        </a:solidFill>
                        <a:effectLst/>
                        <a:latin typeface="Verdana" panose="020B0604030504040204" pitchFamily="34" charset="0"/>
                        <a:ea typeface="黑体" panose="02010609060101010101" pitchFamily="49" charset="-122"/>
                      </a:endParaRPr>
                    </a:p>
                  </a:txBody>
                  <a:tcPr marL="146618" marR="146618" marT="109963" marB="73316"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447192">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400" b="0" i="0" u="none" strike="noStrike" cap="none" spc="0" normalizeH="0" baseline="0">
                          <a:ln>
                            <a:noFill/>
                          </a:ln>
                          <a:solidFill>
                            <a:schemeClr val="tx1"/>
                          </a:solidFill>
                          <a:effectLst/>
                          <a:latin typeface="Courier" charset="0"/>
                          <a:ea typeface="黑体" panose="02010609060101010101" pitchFamily="49" charset="-122"/>
                        </a:rPr>
                        <a:t>TIMEOUT_ON_RESOURCE</a:t>
                      </a:r>
                    </a:p>
                  </a:txBody>
                  <a:tcPr marL="146618" marR="146618" marT="109963" marB="73316"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solidFill>
                      <a:schemeClr val="bg1">
                        <a:lumMod val="95000"/>
                      </a:schemeClr>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400" b="0" i="0" u="none" strike="noStrike" cap="none" spc="0" normalizeH="0" baseline="0">
                          <a:ln>
                            <a:noFill/>
                          </a:ln>
                          <a:solidFill>
                            <a:schemeClr val="tx1"/>
                          </a:solidFill>
                          <a:effectLst/>
                          <a:latin typeface="Courier" charset="0"/>
                          <a:ea typeface="黑体" panose="02010609060101010101" pitchFamily="49" charset="-122"/>
                        </a:rPr>
                        <a:t>ORA-00051</a:t>
                      </a:r>
                    </a:p>
                  </a:txBody>
                  <a:tcPr marL="146618" marR="146618" marT="109963" marB="73316"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solidFill>
                      <a:schemeClr val="bg1">
                        <a:lumMod val="95000"/>
                      </a:schemeClr>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400" b="0" i="0" u="none" strike="noStrike" cap="none" spc="0" normalizeH="0" baseline="0">
                          <a:ln>
                            <a:noFill/>
                          </a:ln>
                          <a:solidFill>
                            <a:schemeClr val="tx1"/>
                          </a:solidFill>
                          <a:effectLst/>
                          <a:latin typeface="宋体" panose="02010600030101010101" pitchFamily="2" charset="-122"/>
                          <a:ea typeface="黑体" panose="02010609060101010101" pitchFamily="49" charset="-122"/>
                        </a:rPr>
                        <a:t>在等待资源中出现超时</a:t>
                      </a:r>
                    </a:p>
                  </a:txBody>
                  <a:tcPr marL="146618" marR="146618" marT="109963" marB="73316"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447192">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400" b="0" i="0" u="none" strike="noStrike" cap="none" spc="0" normalizeH="0" baseline="0">
                          <a:ln>
                            <a:noFill/>
                          </a:ln>
                          <a:solidFill>
                            <a:schemeClr val="tx1"/>
                          </a:solidFill>
                          <a:effectLst/>
                          <a:latin typeface="Courier" charset="0"/>
                          <a:ea typeface="黑体" panose="02010609060101010101" pitchFamily="49" charset="-122"/>
                        </a:rPr>
                        <a:t>LOGIN_DENIED</a:t>
                      </a:r>
                      <a:endParaRPr kumimoji="0" lang="en-US" altLang="zh-CN" sz="1400" b="0" i="0" u="none" strike="noStrike" cap="none" spc="0" normalizeH="0" baseline="0">
                        <a:ln>
                          <a:noFill/>
                        </a:ln>
                        <a:solidFill>
                          <a:schemeClr val="tx1"/>
                        </a:solidFill>
                        <a:effectLst/>
                        <a:latin typeface="Verdana" panose="020B0604030504040204" pitchFamily="34" charset="0"/>
                        <a:ea typeface="黑体" panose="02010609060101010101" pitchFamily="49" charset="-122"/>
                      </a:endParaRPr>
                    </a:p>
                  </a:txBody>
                  <a:tcPr marL="146618" marR="146618" marT="109963" marB="73316"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solidFill>
                      <a:schemeClr val="bg1">
                        <a:lumMod val="95000"/>
                      </a:schemeClr>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400" b="0" i="0" u="none" strike="noStrike" cap="none" spc="0" normalizeH="0" baseline="0">
                          <a:ln>
                            <a:noFill/>
                          </a:ln>
                          <a:solidFill>
                            <a:schemeClr val="tx1"/>
                          </a:solidFill>
                          <a:effectLst/>
                          <a:latin typeface="Courier" charset="0"/>
                          <a:ea typeface="黑体" panose="02010609060101010101" pitchFamily="49" charset="-122"/>
                        </a:rPr>
                        <a:t>ORA-01017</a:t>
                      </a:r>
                    </a:p>
                  </a:txBody>
                  <a:tcPr marL="146618" marR="146618" marT="109963" marB="73316"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solidFill>
                      <a:schemeClr val="bg1">
                        <a:lumMod val="95000"/>
                      </a:schemeClr>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400" b="0" i="0" u="none" strike="noStrike" cap="none" spc="0" normalizeH="0" baseline="0">
                          <a:ln>
                            <a:noFill/>
                          </a:ln>
                          <a:solidFill>
                            <a:schemeClr val="tx1"/>
                          </a:solidFill>
                          <a:effectLst/>
                          <a:latin typeface="宋体" panose="02010600030101010101" pitchFamily="2" charset="-122"/>
                          <a:ea typeface="黑体" panose="02010609060101010101" pitchFamily="49" charset="-122"/>
                        </a:rPr>
                        <a:t>无效用户名</a:t>
                      </a:r>
                      <a:r>
                        <a:rPr kumimoji="0" lang="en-US" altLang="zh-CN" sz="1400" b="0" i="0" u="none" strike="noStrike" cap="none" spc="0" normalizeH="0" baseline="0">
                          <a:ln>
                            <a:noFill/>
                          </a:ln>
                          <a:solidFill>
                            <a:schemeClr val="tx1"/>
                          </a:solidFill>
                          <a:effectLst/>
                          <a:latin typeface="Courier" charset="0"/>
                          <a:ea typeface="黑体" panose="02010609060101010101" pitchFamily="49" charset="-122"/>
                        </a:rPr>
                        <a:t>/</a:t>
                      </a:r>
                      <a:r>
                        <a:rPr kumimoji="0" lang="zh-CN" altLang="en-US" sz="1400" b="0" i="0" u="none" strike="noStrike" cap="none" spc="0" normalizeH="0" baseline="0">
                          <a:ln>
                            <a:noFill/>
                          </a:ln>
                          <a:solidFill>
                            <a:schemeClr val="tx1"/>
                          </a:solidFill>
                          <a:effectLst/>
                          <a:latin typeface="宋体" panose="02010600030101010101" pitchFamily="2" charset="-122"/>
                          <a:ea typeface="黑体" panose="02010609060101010101" pitchFamily="49" charset="-122"/>
                        </a:rPr>
                        <a:t>密码</a:t>
                      </a:r>
                      <a:endParaRPr kumimoji="0" lang="zh-CN" altLang="en-US" sz="1400" b="0" i="0" u="none" strike="noStrike" cap="none" spc="0" normalizeH="0" baseline="0">
                        <a:ln>
                          <a:noFill/>
                        </a:ln>
                        <a:solidFill>
                          <a:schemeClr val="tx1"/>
                        </a:solidFill>
                        <a:effectLst/>
                        <a:latin typeface="Verdana" panose="020B0604030504040204" pitchFamily="34" charset="0"/>
                        <a:ea typeface="黑体" panose="02010609060101010101" pitchFamily="49" charset="-122"/>
                      </a:endParaRPr>
                    </a:p>
                  </a:txBody>
                  <a:tcPr marL="146618" marR="146618" marT="109963" marB="73316"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4"/>
                  </a:ext>
                </a:extLst>
              </a:tr>
              <a:tr h="447192">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400" b="0" i="0" u="none" strike="noStrike" cap="none" spc="0" normalizeH="0" baseline="0">
                          <a:ln>
                            <a:noFill/>
                          </a:ln>
                          <a:solidFill>
                            <a:schemeClr val="tx1"/>
                          </a:solidFill>
                          <a:effectLst/>
                          <a:latin typeface="Courier" charset="0"/>
                          <a:ea typeface="黑体" panose="02010609060101010101" pitchFamily="49" charset="-122"/>
                        </a:rPr>
                        <a:t>CASE_NOT_FOUND</a:t>
                      </a:r>
                    </a:p>
                  </a:txBody>
                  <a:tcPr marL="146618" marR="146618" marT="109963" marB="73316"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solidFill>
                      <a:schemeClr val="bg1">
                        <a:lumMod val="95000"/>
                      </a:schemeClr>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400" b="0" i="0" u="none" strike="noStrike" cap="none" spc="0" normalizeH="0" baseline="0">
                          <a:ln>
                            <a:noFill/>
                          </a:ln>
                          <a:solidFill>
                            <a:schemeClr val="tx1"/>
                          </a:solidFill>
                          <a:effectLst/>
                          <a:latin typeface="Courier" charset="0"/>
                          <a:ea typeface="黑体" panose="02010609060101010101" pitchFamily="49" charset="-122"/>
                        </a:rPr>
                        <a:t>ORA-06592</a:t>
                      </a:r>
                    </a:p>
                  </a:txBody>
                  <a:tcPr marL="146618" marR="146618" marT="109963" marB="73316"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solidFill>
                      <a:schemeClr val="bg1">
                        <a:lumMod val="95000"/>
                      </a:schemeClr>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400" b="0" i="0" u="none" strike="noStrike" cap="none" spc="0" normalizeH="0" baseline="0">
                          <a:ln>
                            <a:noFill/>
                          </a:ln>
                          <a:solidFill>
                            <a:schemeClr val="tx1"/>
                          </a:solidFill>
                          <a:effectLst/>
                          <a:latin typeface="宋体" panose="02010600030101010101" pitchFamily="2" charset="-122"/>
                          <a:ea typeface="黑体" panose="02010609060101010101" pitchFamily="49" charset="-122"/>
                        </a:rPr>
                        <a:t>没有匹配的</a:t>
                      </a:r>
                      <a:r>
                        <a:rPr kumimoji="0" lang="en-US" altLang="zh-CN" sz="1400" b="0" i="0" u="none" strike="noStrike" cap="none" spc="0" normalizeH="0" baseline="0">
                          <a:ln>
                            <a:noFill/>
                          </a:ln>
                          <a:solidFill>
                            <a:schemeClr val="tx1"/>
                          </a:solidFill>
                          <a:effectLst/>
                          <a:latin typeface="Courier" charset="0"/>
                          <a:ea typeface="黑体" panose="02010609060101010101" pitchFamily="49" charset="-122"/>
                        </a:rPr>
                        <a:t>WHEN</a:t>
                      </a:r>
                      <a:r>
                        <a:rPr kumimoji="0" lang="zh-CN" altLang="en-US" sz="1400" b="0" i="0" u="none" strike="noStrike" cap="none" spc="0" normalizeH="0" baseline="0">
                          <a:ln>
                            <a:noFill/>
                          </a:ln>
                          <a:solidFill>
                            <a:schemeClr val="tx1"/>
                          </a:solidFill>
                          <a:effectLst/>
                          <a:latin typeface="宋体" panose="02010600030101010101" pitchFamily="2" charset="-122"/>
                          <a:ea typeface="黑体" panose="02010609060101010101" pitchFamily="49" charset="-122"/>
                        </a:rPr>
                        <a:t>子句</a:t>
                      </a:r>
                    </a:p>
                  </a:txBody>
                  <a:tcPr marL="146618" marR="146618" marT="109963" marB="73316"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5"/>
                  </a:ext>
                </a:extLst>
              </a:tr>
              <a:tr h="447192">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400" b="0" i="0" u="none" strike="noStrike" cap="none" spc="0" normalizeH="0" baseline="0">
                          <a:ln>
                            <a:noFill/>
                          </a:ln>
                          <a:solidFill>
                            <a:schemeClr val="tx1"/>
                          </a:solidFill>
                          <a:effectLst/>
                          <a:latin typeface="Courier" charset="0"/>
                          <a:ea typeface="黑体" panose="02010609060101010101" pitchFamily="49" charset="-122"/>
                        </a:rPr>
                        <a:t>NOT_LOGGED_ON</a:t>
                      </a:r>
                    </a:p>
                  </a:txBody>
                  <a:tcPr marL="146618" marR="146618" marT="109963" marB="73316"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solidFill>
                      <a:schemeClr val="bg1">
                        <a:lumMod val="95000"/>
                      </a:schemeClr>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400" b="0" i="0" u="none" strike="noStrike" cap="none" spc="0" normalizeH="0" baseline="0">
                          <a:ln>
                            <a:noFill/>
                          </a:ln>
                          <a:solidFill>
                            <a:schemeClr val="tx1"/>
                          </a:solidFill>
                          <a:effectLst/>
                          <a:latin typeface="Courier" charset="0"/>
                          <a:ea typeface="黑体" panose="02010609060101010101" pitchFamily="49" charset="-122"/>
                        </a:rPr>
                        <a:t>ORA-01012</a:t>
                      </a:r>
                    </a:p>
                  </a:txBody>
                  <a:tcPr marL="146618" marR="146618" marT="109963" marB="73316"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solidFill>
                      <a:schemeClr val="bg1">
                        <a:lumMod val="95000"/>
                      </a:schemeClr>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400" b="0" i="0" u="none" strike="noStrike" cap="none" spc="0" normalizeH="0" baseline="0">
                          <a:ln>
                            <a:noFill/>
                          </a:ln>
                          <a:solidFill>
                            <a:schemeClr val="tx1"/>
                          </a:solidFill>
                          <a:effectLst/>
                          <a:latin typeface="宋体" panose="02010600030101010101" pitchFamily="2" charset="-122"/>
                          <a:ea typeface="黑体" panose="02010609060101010101" pitchFamily="49" charset="-122"/>
                        </a:rPr>
                        <a:t>没有与数据库建立连接</a:t>
                      </a:r>
                      <a:endParaRPr kumimoji="0" lang="zh-CN" altLang="en-US" sz="1400" b="0" i="0" u="none" strike="noStrike" cap="none" spc="0" normalizeH="0" baseline="0">
                        <a:ln>
                          <a:noFill/>
                        </a:ln>
                        <a:solidFill>
                          <a:schemeClr val="tx1"/>
                        </a:solidFill>
                        <a:effectLst/>
                        <a:latin typeface="Verdana" panose="020B0604030504040204" pitchFamily="34" charset="0"/>
                        <a:ea typeface="黑体" panose="02010609060101010101" pitchFamily="49" charset="-122"/>
                      </a:endParaRPr>
                    </a:p>
                  </a:txBody>
                  <a:tcPr marL="146618" marR="146618" marT="109963" marB="73316"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6"/>
                  </a:ext>
                </a:extLst>
              </a:tr>
              <a:tr h="711105">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400" b="0" i="0" u="none" strike="noStrike" cap="none" spc="0" normalizeH="0" baseline="0">
                          <a:ln>
                            <a:noFill/>
                          </a:ln>
                          <a:solidFill>
                            <a:schemeClr val="tx1"/>
                          </a:solidFill>
                          <a:effectLst/>
                          <a:latin typeface="Courier" charset="0"/>
                          <a:ea typeface="黑体" panose="02010609060101010101" pitchFamily="49" charset="-122"/>
                        </a:rPr>
                        <a:t>STORAGE_ERROR</a:t>
                      </a:r>
                      <a:endParaRPr kumimoji="0" lang="en-US" altLang="zh-CN" sz="1400" b="0" i="0" u="none" strike="noStrike" cap="none" spc="0" normalizeH="0" baseline="0">
                        <a:ln>
                          <a:noFill/>
                        </a:ln>
                        <a:solidFill>
                          <a:schemeClr val="tx1"/>
                        </a:solidFill>
                        <a:effectLst/>
                        <a:latin typeface="Verdana" panose="020B0604030504040204" pitchFamily="34" charset="0"/>
                        <a:ea typeface="黑体" panose="02010609060101010101" pitchFamily="49" charset="-122"/>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en-US" altLang="zh-CN" sz="1400" b="0" i="0" u="none" strike="noStrike" cap="none" spc="0" normalizeH="0" baseline="0">
                        <a:ln>
                          <a:noFill/>
                        </a:ln>
                        <a:solidFill>
                          <a:schemeClr val="tx1"/>
                        </a:solidFill>
                        <a:effectLst/>
                        <a:latin typeface="Verdana" panose="020B0604030504040204" pitchFamily="34" charset="0"/>
                        <a:ea typeface="黑体" panose="02010609060101010101" pitchFamily="49" charset="-122"/>
                      </a:endParaRPr>
                    </a:p>
                  </a:txBody>
                  <a:tcPr marL="146618" marR="146618" marT="109963" marB="73316"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solidFill>
                      <a:schemeClr val="bg1">
                        <a:lumMod val="95000"/>
                      </a:schemeClr>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400" b="0" i="0" u="none" strike="noStrike" cap="none" spc="0" normalizeH="0" baseline="0">
                          <a:ln>
                            <a:noFill/>
                          </a:ln>
                          <a:solidFill>
                            <a:schemeClr val="tx1"/>
                          </a:solidFill>
                          <a:effectLst/>
                          <a:latin typeface="Courier" charset="0"/>
                          <a:ea typeface="黑体" panose="02010609060101010101" pitchFamily="49" charset="-122"/>
                        </a:rPr>
                        <a:t>ORA-06500</a:t>
                      </a:r>
                    </a:p>
                  </a:txBody>
                  <a:tcPr marL="146618" marR="146618" marT="109963" marB="73316"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solidFill>
                      <a:schemeClr val="bg1">
                        <a:lumMod val="95000"/>
                      </a:schemeClr>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400" b="0" i="0" u="none" strike="noStrike" cap="none" spc="0" normalizeH="0" baseline="0">
                          <a:ln>
                            <a:noFill/>
                          </a:ln>
                          <a:solidFill>
                            <a:schemeClr val="tx1"/>
                          </a:solidFill>
                          <a:effectLst/>
                          <a:latin typeface="Courier" charset="0"/>
                          <a:ea typeface="黑体" panose="02010609060101010101" pitchFamily="49" charset="-122"/>
                        </a:rPr>
                        <a:t>PL/SQL</a:t>
                      </a:r>
                      <a:r>
                        <a:rPr kumimoji="0" lang="zh-CN" altLang="en-US" sz="1400" b="0" i="0" u="none" strike="noStrike" cap="none" spc="0" normalizeH="0" baseline="0">
                          <a:ln>
                            <a:noFill/>
                          </a:ln>
                          <a:solidFill>
                            <a:schemeClr val="tx1"/>
                          </a:solidFill>
                          <a:effectLst/>
                          <a:latin typeface="宋体" panose="02010600030101010101" pitchFamily="2" charset="-122"/>
                          <a:ea typeface="黑体" panose="02010609060101010101" pitchFamily="49" charset="-122"/>
                        </a:rPr>
                        <a:t>内部错误</a:t>
                      </a:r>
                      <a:endParaRPr kumimoji="0" lang="zh-CN" altLang="en-US" sz="1400" b="0" i="0" u="none" strike="noStrike" cap="none" spc="0" normalizeH="0" baseline="0">
                        <a:ln>
                          <a:noFill/>
                        </a:ln>
                        <a:solidFill>
                          <a:schemeClr val="tx1"/>
                        </a:solidFill>
                        <a:effectLst/>
                        <a:latin typeface="Verdana" panose="020B0604030504040204" pitchFamily="34" charset="0"/>
                        <a:ea typeface="黑体" panose="02010609060101010101" pitchFamily="49" charset="-122"/>
                      </a:endParaRPr>
                    </a:p>
                  </a:txBody>
                  <a:tcPr marL="146618" marR="146618" marT="109963" marB="73316"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7"/>
                  </a:ext>
                </a:extLst>
              </a:tr>
              <a:tr h="447192">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400" b="0" i="0" u="none" strike="noStrike" cap="none" spc="0" normalizeH="0" baseline="0">
                          <a:ln>
                            <a:noFill/>
                          </a:ln>
                          <a:solidFill>
                            <a:schemeClr val="tx1"/>
                          </a:solidFill>
                          <a:effectLst/>
                          <a:latin typeface="Courier" charset="0"/>
                          <a:ea typeface="黑体" panose="02010609060101010101" pitchFamily="49" charset="-122"/>
                        </a:rPr>
                        <a:t>PROGRAM_ERROR</a:t>
                      </a:r>
                    </a:p>
                  </a:txBody>
                  <a:tcPr marL="146618" marR="146618" marT="109963" marB="73316"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solidFill>
                      <a:schemeClr val="bg1">
                        <a:lumMod val="95000"/>
                      </a:schemeClr>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400" b="0" i="0" u="none" strike="noStrike" cap="none" spc="0" normalizeH="0" baseline="0">
                          <a:ln>
                            <a:noFill/>
                          </a:ln>
                          <a:solidFill>
                            <a:schemeClr val="tx1"/>
                          </a:solidFill>
                          <a:effectLst/>
                          <a:latin typeface="Courier" charset="0"/>
                          <a:ea typeface="黑体" panose="02010609060101010101" pitchFamily="49" charset="-122"/>
                        </a:rPr>
                        <a:t>ORA-06501</a:t>
                      </a:r>
                    </a:p>
                  </a:txBody>
                  <a:tcPr marL="146618" marR="146618" marT="109963" marB="73316"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solidFill>
                      <a:schemeClr val="bg1">
                        <a:lumMod val="95000"/>
                      </a:schemeClr>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400" b="0" i="0" u="none" strike="noStrike" cap="none" spc="0" normalizeH="0" baseline="0">
                          <a:ln>
                            <a:noFill/>
                          </a:ln>
                          <a:solidFill>
                            <a:schemeClr val="tx1"/>
                          </a:solidFill>
                          <a:effectLst/>
                          <a:latin typeface="Courier" charset="0"/>
                          <a:ea typeface="黑体" panose="02010609060101010101" pitchFamily="49" charset="-122"/>
                        </a:rPr>
                        <a:t>PL/SQL</a:t>
                      </a:r>
                      <a:r>
                        <a:rPr kumimoji="0" lang="zh-CN" altLang="en-US" sz="1400" b="0" i="0" u="none" strike="noStrike" cap="none" spc="0" normalizeH="0" baseline="0">
                          <a:ln>
                            <a:noFill/>
                          </a:ln>
                          <a:solidFill>
                            <a:schemeClr val="tx1"/>
                          </a:solidFill>
                          <a:effectLst/>
                          <a:latin typeface="宋体" panose="02010600030101010101" pitchFamily="2" charset="-122"/>
                          <a:ea typeface="黑体" panose="02010609060101010101" pitchFamily="49" charset="-122"/>
                        </a:rPr>
                        <a:t>内部错误</a:t>
                      </a:r>
                    </a:p>
                  </a:txBody>
                  <a:tcPr marL="146618" marR="146618" marT="109963" marB="73316" horzOverflow="overflow">
                    <a:lnL w="12700" cmpd="sng">
                      <a:noFill/>
                      <a:prstDash val="solid"/>
                    </a:lnL>
                    <a:lnR w="12700" cmpd="sng">
                      <a:noFill/>
                      <a:prstDash val="solid"/>
                    </a:lnR>
                    <a:lnT w="12700" cmpd="sng">
                      <a:noFill/>
                      <a:prstDash val="solid"/>
                    </a:lnT>
                    <a:lnB w="12700" cmpd="sng">
                      <a:no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9172" name="Rectangle 103">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173" name="Rectangle 105">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474" name="灯片编号占位符 5"/>
          <p:cNvSpPr txBox="1">
            <a:spLocks noGrp="1"/>
          </p:cNvSpPr>
          <p:nvPr>
            <p:ph type="sldNum" sz="quarter" idx="12"/>
          </p:nvPr>
        </p:nvSpPr>
        <p:spPr>
          <a:xfrm>
            <a:off x="8610600" y="6356350"/>
            <a:ext cx="2743200" cy="365125"/>
          </a:xfrm>
        </p:spPr>
        <p:txBody>
          <a:bodyPr vert="horz" lIns="91440" tIns="45720" rIns="91440" bIns="45720" rtlCol="0" anchor="ctr">
            <a:normAutofit/>
          </a:bodyPr>
          <a:lstStyle/>
          <a:p>
            <a:pPr indent="0">
              <a:spcBef>
                <a:spcPct val="0"/>
              </a:spcBef>
              <a:spcAft>
                <a:spcPts val="600"/>
              </a:spcAft>
              <a:buClrTx/>
              <a:buSzTx/>
              <a:buFontTx/>
              <a:buNone/>
            </a:pPr>
            <a:fld id="{9A0DB2DC-4C9A-4742-B13C-FB6460FD3503}" type="slidenum">
              <a:rPr lang="en-US" altLang="zh-CN" sz="1200">
                <a:solidFill>
                  <a:srgbClr val="FFFFFF"/>
                </a:solidFill>
                <a:latin typeface="+mn-lt"/>
                <a:ea typeface="+mn-ea"/>
              </a:rPr>
              <a:pPr indent="0">
                <a:spcBef>
                  <a:spcPct val="0"/>
                </a:spcBef>
                <a:spcAft>
                  <a:spcPts val="600"/>
                </a:spcAft>
                <a:buClrTx/>
                <a:buSzTx/>
                <a:buFontTx/>
                <a:buNone/>
              </a:pPr>
              <a:t>101</a:t>
            </a:fld>
            <a:endParaRPr lang="en-US" altLang="zh-CN" sz="1200">
              <a:solidFill>
                <a:srgbClr val="FFFFFF"/>
              </a:solidFill>
              <a:latin typeface="+mn-lt"/>
              <a:ea typeface="+mn-ea"/>
            </a:endParaRPr>
          </a:p>
        </p:txBody>
      </p:sp>
      <p:graphicFrame>
        <p:nvGraphicFramePr>
          <p:cNvPr id="219170" name="Group 34"/>
          <p:cNvGraphicFramePr>
            <a:graphicFrameLocks noGrp="1"/>
          </p:cNvGraphicFramePr>
          <p:nvPr>
            <p:extLst>
              <p:ext uri="{D42A27DB-BD31-4B8C-83A1-F6EECF244321}">
                <p14:modId xmlns:p14="http://schemas.microsoft.com/office/powerpoint/2010/main" val="3712411867"/>
              </p:ext>
            </p:extLst>
          </p:nvPr>
        </p:nvGraphicFramePr>
        <p:xfrm>
          <a:off x="643467" y="673302"/>
          <a:ext cx="10905067" cy="5511399"/>
        </p:xfrm>
        <a:graphic>
          <a:graphicData uri="http://schemas.openxmlformats.org/drawingml/2006/table">
            <a:tbl>
              <a:tblPr/>
              <a:tblGrid>
                <a:gridCol w="4996503">
                  <a:extLst>
                    <a:ext uri="{9D8B030D-6E8A-4147-A177-3AD203B41FA5}">
                      <a16:colId xmlns:a16="http://schemas.microsoft.com/office/drawing/2014/main" val="20000"/>
                    </a:ext>
                  </a:extLst>
                </a:gridCol>
                <a:gridCol w="2218265">
                  <a:extLst>
                    <a:ext uri="{9D8B030D-6E8A-4147-A177-3AD203B41FA5}">
                      <a16:colId xmlns:a16="http://schemas.microsoft.com/office/drawing/2014/main" val="20001"/>
                    </a:ext>
                  </a:extLst>
                </a:gridCol>
                <a:gridCol w="3690299">
                  <a:extLst>
                    <a:ext uri="{9D8B030D-6E8A-4147-A177-3AD203B41FA5}">
                      <a16:colId xmlns:a16="http://schemas.microsoft.com/office/drawing/2014/main" val="20002"/>
                    </a:ext>
                  </a:extLst>
                </a:gridCol>
              </a:tblGrid>
              <a:tr h="534276">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500" b="0" i="0" u="none" strike="noStrike" cap="none" normalizeH="0" baseline="0">
                          <a:ln>
                            <a:noFill/>
                          </a:ln>
                          <a:solidFill>
                            <a:schemeClr val="tx1"/>
                          </a:solidFill>
                          <a:effectLst/>
                          <a:latin typeface="Verdana" panose="020B0604030504040204" pitchFamily="34" charset="0"/>
                          <a:ea typeface="黑体" panose="02010609060101010101" pitchFamily="49" charset="-122"/>
                        </a:rPr>
                        <a:t>异常情况名</a:t>
                      </a:r>
                    </a:p>
                  </a:txBody>
                  <a:tcPr marL="115359" marR="115359" marT="57688" marB="5768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500" b="0" i="0" u="none" strike="noStrike" cap="none" normalizeH="0" baseline="0">
                          <a:ln>
                            <a:noFill/>
                          </a:ln>
                          <a:solidFill>
                            <a:schemeClr val="tx1"/>
                          </a:solidFill>
                          <a:effectLst/>
                          <a:latin typeface="Verdana" panose="020B0604030504040204" pitchFamily="34" charset="0"/>
                          <a:ea typeface="黑体" panose="02010609060101010101" pitchFamily="49" charset="-122"/>
                        </a:rPr>
                        <a:t>错误代码</a:t>
                      </a:r>
                    </a:p>
                  </a:txBody>
                  <a:tcPr marL="115359" marR="115359" marT="57688" marB="57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500" b="0" i="0" u="none" strike="noStrike" cap="none" normalizeH="0" baseline="0">
                          <a:ln>
                            <a:noFill/>
                          </a:ln>
                          <a:solidFill>
                            <a:schemeClr val="tx1"/>
                          </a:solidFill>
                          <a:effectLst/>
                          <a:latin typeface="Verdana" panose="020B0604030504040204" pitchFamily="34" charset="0"/>
                          <a:ea typeface="黑体" panose="02010609060101010101" pitchFamily="49" charset="-122"/>
                        </a:rPr>
                        <a:t>描述</a:t>
                      </a:r>
                    </a:p>
                  </a:txBody>
                  <a:tcPr marL="115359" marR="115359" marT="57688" marB="5768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4276">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0" i="0" u="none" strike="noStrike" cap="none" normalizeH="0" baseline="0">
                          <a:ln>
                            <a:noFill/>
                          </a:ln>
                          <a:solidFill>
                            <a:schemeClr val="tx1"/>
                          </a:solidFill>
                          <a:effectLst/>
                          <a:latin typeface="Courier" charset="0"/>
                          <a:ea typeface="黑体" panose="02010609060101010101" pitchFamily="49" charset="-122"/>
                        </a:rPr>
                        <a:t>ACCESS_INTO_NULL</a:t>
                      </a:r>
                    </a:p>
                  </a:txBody>
                  <a:tcPr marL="115359" marR="115359" marT="57688" marB="5768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0" i="0" u="none" strike="noStrike" cap="none" normalizeH="0" baseline="0">
                          <a:ln>
                            <a:noFill/>
                          </a:ln>
                          <a:solidFill>
                            <a:schemeClr val="tx1"/>
                          </a:solidFill>
                          <a:effectLst/>
                          <a:latin typeface="Courier" charset="0"/>
                          <a:ea typeface="黑体" panose="02010609060101010101" pitchFamily="49" charset="-122"/>
                        </a:rPr>
                        <a:t>ORA-06530</a:t>
                      </a:r>
                    </a:p>
                  </a:txBody>
                  <a:tcPr marL="115359" marR="115359" marT="57688" marB="57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500" b="0" i="0" u="none" strike="noStrike" cap="none" normalizeH="0" baseline="0">
                          <a:ln>
                            <a:noFill/>
                          </a:ln>
                          <a:solidFill>
                            <a:schemeClr val="tx1"/>
                          </a:solidFill>
                          <a:effectLst/>
                          <a:latin typeface="宋体" panose="02010600030101010101" pitchFamily="2" charset="-122"/>
                          <a:ea typeface="黑体" panose="02010609060101010101" pitchFamily="49" charset="-122"/>
                        </a:rPr>
                        <a:t>给空对象属性赋值</a:t>
                      </a:r>
                    </a:p>
                  </a:txBody>
                  <a:tcPr marL="115359" marR="115359" marT="57688" marB="5768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302857">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0" i="0" u="none" strike="noStrike" cap="none" normalizeH="0" baseline="0">
                          <a:ln>
                            <a:noFill/>
                          </a:ln>
                          <a:solidFill>
                            <a:schemeClr val="tx1"/>
                          </a:solidFill>
                          <a:effectLst/>
                          <a:latin typeface="Courier" charset="0"/>
                          <a:ea typeface="黑体" panose="02010609060101010101" pitchFamily="49" charset="-122"/>
                        </a:rPr>
                        <a:t>COLLECTION_IS_NULL</a:t>
                      </a:r>
                    </a:p>
                  </a:txBody>
                  <a:tcPr marL="115359" marR="115359" marT="57688" marB="5768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0" i="0" u="none" strike="noStrike" cap="none" normalizeH="0" baseline="0">
                          <a:ln>
                            <a:noFill/>
                          </a:ln>
                          <a:solidFill>
                            <a:schemeClr val="tx1"/>
                          </a:solidFill>
                          <a:effectLst/>
                          <a:latin typeface="Courier" charset="0"/>
                          <a:ea typeface="黑体" panose="02010609060101010101" pitchFamily="49" charset="-122"/>
                        </a:rPr>
                        <a:t>ORA-06531</a:t>
                      </a:r>
                      <a:endParaRPr kumimoji="0" lang="en-US" altLang="zh-CN" sz="2500" b="0" i="0" u="none" strike="noStrike" cap="none" normalizeH="0" baseline="0">
                        <a:ln>
                          <a:noFill/>
                        </a:ln>
                        <a:solidFill>
                          <a:schemeClr val="tx1"/>
                        </a:solidFill>
                        <a:effectLst/>
                        <a:latin typeface="Verdana" panose="020B0604030504040204" pitchFamily="34" charset="0"/>
                        <a:ea typeface="黑体" panose="02010609060101010101" pitchFamily="49" charset="-122"/>
                      </a:endParaRPr>
                    </a:p>
                  </a:txBody>
                  <a:tcPr marL="115359" marR="115359" marT="57688" marB="57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500" b="0" i="0" u="none" strike="noStrike" cap="none" normalizeH="0" baseline="0">
                          <a:ln>
                            <a:noFill/>
                          </a:ln>
                          <a:solidFill>
                            <a:schemeClr val="tx1"/>
                          </a:solidFill>
                          <a:effectLst/>
                          <a:latin typeface="宋体" panose="02010600030101010101" pitchFamily="2" charset="-122"/>
                          <a:ea typeface="黑体" panose="02010609060101010101" pitchFamily="49" charset="-122"/>
                        </a:rPr>
                        <a:t>对某</a:t>
                      </a:r>
                      <a:r>
                        <a:rPr kumimoji="0" lang="en-US" altLang="zh-CN" sz="2500" b="0" i="0" u="none" strike="noStrike" cap="none" normalizeH="0" baseline="0">
                          <a:ln>
                            <a:noFill/>
                          </a:ln>
                          <a:solidFill>
                            <a:schemeClr val="tx1"/>
                          </a:solidFill>
                          <a:effectLst/>
                          <a:latin typeface="Courier" charset="0"/>
                          <a:ea typeface="黑体" panose="02010609060101010101" pitchFamily="49" charset="-122"/>
                        </a:rPr>
                        <a:t>NULL PL/SQL</a:t>
                      </a:r>
                      <a:r>
                        <a:rPr kumimoji="0" lang="zh-CN" altLang="en-US" sz="2500" b="0" i="0" u="none" strike="noStrike" cap="none" normalizeH="0" baseline="0">
                          <a:ln>
                            <a:noFill/>
                          </a:ln>
                          <a:solidFill>
                            <a:schemeClr val="tx1"/>
                          </a:solidFill>
                          <a:effectLst/>
                          <a:latin typeface="宋体" panose="02010600030101010101" pitchFamily="2" charset="-122"/>
                          <a:ea typeface="黑体" panose="02010609060101010101" pitchFamily="49" charset="-122"/>
                        </a:rPr>
                        <a:t>表或可变数组试图应用集合方法，而不是</a:t>
                      </a:r>
                      <a:r>
                        <a:rPr kumimoji="0" lang="en-US" altLang="zh-CN" sz="2500" b="0" i="0" u="none" strike="noStrike" cap="none" normalizeH="0" baseline="0">
                          <a:ln>
                            <a:noFill/>
                          </a:ln>
                          <a:solidFill>
                            <a:schemeClr val="tx1"/>
                          </a:solidFill>
                          <a:effectLst/>
                          <a:latin typeface="Courier" charset="0"/>
                          <a:ea typeface="黑体" panose="02010609060101010101" pitchFamily="49" charset="-122"/>
                        </a:rPr>
                        <a:t>EXISTS</a:t>
                      </a:r>
                      <a:r>
                        <a:rPr kumimoji="0" lang="en-US" altLang="zh-CN" sz="2500" b="0" i="0" u="none" strike="noStrike" cap="none" normalizeH="0" baseline="0">
                          <a:ln>
                            <a:noFill/>
                          </a:ln>
                          <a:solidFill>
                            <a:schemeClr val="tx1"/>
                          </a:solidFill>
                          <a:effectLst/>
                          <a:latin typeface="Verdana" panose="020B0604030504040204" pitchFamily="34" charset="0"/>
                          <a:ea typeface="黑体" panose="02010609060101010101" pitchFamily="49" charset="-122"/>
                        </a:rPr>
                        <a:t> </a:t>
                      </a:r>
                    </a:p>
                  </a:txBody>
                  <a:tcPr marL="115359" marR="115359" marT="57688" marB="5768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34276">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0" i="0" u="none" strike="noStrike" cap="none" normalizeH="0" baseline="0">
                          <a:ln>
                            <a:noFill/>
                          </a:ln>
                          <a:solidFill>
                            <a:schemeClr val="tx1"/>
                          </a:solidFill>
                          <a:effectLst/>
                          <a:latin typeface="Courier" charset="0"/>
                          <a:ea typeface="黑体" panose="02010609060101010101" pitchFamily="49" charset="-122"/>
                        </a:rPr>
                        <a:t>SELF_IS_NULL</a:t>
                      </a:r>
                    </a:p>
                  </a:txBody>
                  <a:tcPr marL="115359" marR="115359" marT="57688" marB="5768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0" i="0" u="none" strike="noStrike" cap="none" normalizeH="0" baseline="0">
                          <a:ln>
                            <a:noFill/>
                          </a:ln>
                          <a:solidFill>
                            <a:schemeClr val="tx1"/>
                          </a:solidFill>
                          <a:effectLst/>
                          <a:latin typeface="Courier" charset="0"/>
                          <a:ea typeface="黑体" panose="02010609060101010101" pitchFamily="49" charset="-122"/>
                        </a:rPr>
                        <a:t>ORA-30625</a:t>
                      </a:r>
                    </a:p>
                  </a:txBody>
                  <a:tcPr marL="115359" marR="115359" marT="57688" marB="57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500" b="0" i="0" u="none" strike="noStrike" cap="none" normalizeH="0" baseline="0">
                          <a:ln>
                            <a:noFill/>
                          </a:ln>
                          <a:solidFill>
                            <a:schemeClr val="tx1"/>
                          </a:solidFill>
                          <a:effectLst/>
                          <a:latin typeface="宋体" panose="02010600030101010101" pitchFamily="2" charset="-122"/>
                          <a:ea typeface="黑体" panose="02010609060101010101" pitchFamily="49" charset="-122"/>
                        </a:rPr>
                        <a:t>调用空对象实例的方法</a:t>
                      </a:r>
                      <a:endParaRPr kumimoji="0" lang="zh-CN" altLang="en-US" sz="2500" b="0" i="0" u="none" strike="noStrike" cap="none" normalizeH="0" baseline="0">
                        <a:ln>
                          <a:noFill/>
                        </a:ln>
                        <a:solidFill>
                          <a:schemeClr val="tx1"/>
                        </a:solidFill>
                        <a:effectLst/>
                        <a:latin typeface="Verdana" panose="020B0604030504040204" pitchFamily="34" charset="0"/>
                        <a:ea typeface="黑体" panose="02010609060101010101" pitchFamily="49" charset="-122"/>
                      </a:endParaRPr>
                    </a:p>
                  </a:txBody>
                  <a:tcPr marL="115359" marR="115359" marT="57688" marB="5768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302857">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0" i="0" u="none" strike="noStrike" cap="none" normalizeH="0" baseline="0">
                          <a:ln>
                            <a:noFill/>
                          </a:ln>
                          <a:solidFill>
                            <a:schemeClr val="tx1"/>
                          </a:solidFill>
                          <a:effectLst/>
                          <a:latin typeface="Courier" charset="0"/>
                          <a:ea typeface="黑体" panose="02010609060101010101" pitchFamily="49" charset="-122"/>
                        </a:rPr>
                        <a:t>SUBSCRIPT_BEYOND_COUNT</a:t>
                      </a:r>
                    </a:p>
                  </a:txBody>
                  <a:tcPr marL="115359" marR="115359" marT="57688" marB="5768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0" i="0" u="none" strike="noStrike" cap="none" normalizeH="0" baseline="0">
                          <a:ln>
                            <a:noFill/>
                          </a:ln>
                          <a:solidFill>
                            <a:schemeClr val="tx1"/>
                          </a:solidFill>
                          <a:effectLst/>
                          <a:latin typeface="Courier" charset="0"/>
                          <a:ea typeface="黑体" panose="02010609060101010101" pitchFamily="49" charset="-122"/>
                        </a:rPr>
                        <a:t>ORA-06533</a:t>
                      </a:r>
                    </a:p>
                  </a:txBody>
                  <a:tcPr marL="115359" marR="115359" marT="57688" marB="57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500" b="0" i="0" u="none" strike="noStrike" cap="none" normalizeH="0" baseline="0">
                          <a:ln>
                            <a:noFill/>
                          </a:ln>
                          <a:solidFill>
                            <a:schemeClr val="tx1"/>
                          </a:solidFill>
                          <a:effectLst/>
                          <a:latin typeface="宋体" panose="02010600030101010101" pitchFamily="2" charset="-122"/>
                          <a:ea typeface="黑体" panose="02010609060101010101" pitchFamily="49" charset="-122"/>
                        </a:rPr>
                        <a:t>对嵌套表或数组索引引用时超出集合中元素的数量</a:t>
                      </a:r>
                    </a:p>
                  </a:txBody>
                  <a:tcPr marL="115359" marR="115359" marT="57688" marB="5768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302857">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0" i="0" u="none" strike="noStrike" cap="none" normalizeH="0" baseline="0">
                          <a:ln>
                            <a:noFill/>
                          </a:ln>
                          <a:solidFill>
                            <a:schemeClr val="tx1"/>
                          </a:solidFill>
                          <a:effectLst/>
                          <a:latin typeface="Courier" charset="0"/>
                          <a:ea typeface="黑体" panose="02010609060101010101" pitchFamily="49" charset="-122"/>
                        </a:rPr>
                        <a:t>SUBSCRIPT_OUTSIDE_LIMIT</a:t>
                      </a:r>
                    </a:p>
                  </a:txBody>
                  <a:tcPr marL="115359" marR="115359" marT="57688" marB="5768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500" b="0" i="0" u="none" strike="noStrike" cap="none" normalizeH="0" baseline="0">
                          <a:ln>
                            <a:noFill/>
                          </a:ln>
                          <a:solidFill>
                            <a:schemeClr val="tx1"/>
                          </a:solidFill>
                          <a:effectLst/>
                          <a:latin typeface="Courier" charset="0"/>
                          <a:ea typeface="黑体" panose="02010609060101010101" pitchFamily="49" charset="-122"/>
                        </a:rPr>
                        <a:t>ORA-06532</a:t>
                      </a:r>
                    </a:p>
                  </a:txBody>
                  <a:tcPr marL="115359" marR="115359" marT="57688" marB="57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Verdana" panose="020B0604030504040204" pitchFamily="34" charset="0"/>
                          <a:ea typeface="黑体" panose="02010609060101010101" pitchFamily="49" charset="-122"/>
                        </a:defRPr>
                      </a:lvl1pPr>
                      <a:lvl2pPr>
                        <a:spcBef>
                          <a:spcPct val="20000"/>
                        </a:spcBef>
                        <a:buClr>
                          <a:schemeClr val="tx2"/>
                        </a:buClr>
                        <a:buSzPct val="75000"/>
                        <a:buFont typeface="Wingdings" panose="05000000000000000000" pitchFamily="2" charset="2"/>
                        <a:defRPr sz="2400" b="1">
                          <a:solidFill>
                            <a:schemeClr val="tx1"/>
                          </a:solidFill>
                          <a:latin typeface="Verdana" panose="020B0604030504040204" pitchFamily="34" charset="0"/>
                          <a:ea typeface="华文仿宋" panose="0201060004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Verdana" panose="020B0604030504040204" pitchFamily="34" charset="0"/>
                          <a:ea typeface="华文隶书" panose="02010800040101010101" pitchFamily="2" charset="-122"/>
                        </a:defRPr>
                      </a:lvl3pPr>
                      <a:lvl4pPr>
                        <a:spcBef>
                          <a:spcPct val="20000"/>
                        </a:spcBef>
                        <a:buClr>
                          <a:schemeClr val="bg2"/>
                        </a:buClr>
                        <a:buFont typeface="Wingdings" panose="05000000000000000000" pitchFamily="2" charset="2"/>
                        <a:defRPr>
                          <a:solidFill>
                            <a:schemeClr val="tx1"/>
                          </a:solidFill>
                          <a:latin typeface="Verdana" panose="020B0604030504040204" pitchFamily="34" charset="0"/>
                          <a:ea typeface="宋体" panose="02010600030101010101" pitchFamily="2" charset="-122"/>
                        </a:defRPr>
                      </a:lvl4pPr>
                      <a:lvl5pPr>
                        <a:spcBef>
                          <a:spcPct val="20000"/>
                        </a:spcBef>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5pPr>
                      <a:lvl6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6pPr>
                      <a:lvl7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7pPr>
                      <a:lvl8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8pPr>
                      <a:lvl9pPr fontAlgn="base">
                        <a:spcBef>
                          <a:spcPct val="20000"/>
                        </a:spcBef>
                        <a:spcAft>
                          <a:spcPct val="0"/>
                        </a:spcAft>
                        <a:buClr>
                          <a:schemeClr val="tx2"/>
                        </a:buClr>
                        <a:buSzPct val="80000"/>
                        <a:buFont typeface="Wingdings" panose="05000000000000000000" pitchFamily="2" charset="2"/>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500" b="0" i="0" u="none" strike="noStrike" cap="none" normalizeH="0" baseline="0">
                          <a:ln>
                            <a:noFill/>
                          </a:ln>
                          <a:solidFill>
                            <a:schemeClr val="tx1"/>
                          </a:solidFill>
                          <a:effectLst/>
                          <a:latin typeface="宋体" panose="02010600030101010101" pitchFamily="2" charset="-122"/>
                          <a:ea typeface="黑体" panose="02010609060101010101" pitchFamily="49" charset="-122"/>
                        </a:rPr>
                        <a:t>对嵌套表或可变数组索引的引用超出声明的范围</a:t>
                      </a:r>
                    </a:p>
                  </a:txBody>
                  <a:tcPr marL="115359" marR="115359" marT="57688" marB="5768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6499"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endParaRPr lang="zh-CN" altLang="zh-CN">
              <a:solidFill>
                <a:srgbClr val="FFFFFF"/>
              </a:solidFill>
              <a:latin typeface="+mj-lt"/>
              <a:ea typeface="+mj-ea"/>
              <a:cs typeface="+mj-cs"/>
            </a:endParaRPr>
          </a:p>
        </p:txBody>
      </p:sp>
      <p:sp>
        <p:nvSpPr>
          <p:cNvPr id="106500"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buSzPct val="75000"/>
            </a:pPr>
            <a:r>
              <a:rPr lang="zh-CN" altLang="en-US" sz="2000">
                <a:solidFill>
                  <a:srgbClr val="000000"/>
                </a:solidFill>
                <a:latin typeface="+mn-lt"/>
                <a:ea typeface="+mn-ea"/>
                <a:cs typeface="+mn-cs"/>
              </a:rPr>
              <a:t>非预定义异常</a:t>
            </a:r>
          </a:p>
          <a:p>
            <a:pPr lvl="1" eaLnBrk="1" hangingPunct="1">
              <a:buSzPct val="75000"/>
            </a:pPr>
            <a:r>
              <a:rPr lang="zh-CN" altLang="en-US" sz="2000">
                <a:solidFill>
                  <a:srgbClr val="000000"/>
                </a:solidFill>
                <a:latin typeface="+mn-lt"/>
                <a:ea typeface="华文仿宋" panose="02010600040101010101" pitchFamily="2" charset="-122"/>
              </a:rPr>
              <a:t>有一些</a:t>
            </a:r>
            <a:r>
              <a:rPr lang="en-US" altLang="zh-CN" sz="2000">
                <a:solidFill>
                  <a:srgbClr val="000000"/>
                </a:solidFill>
                <a:latin typeface="+mn-lt"/>
                <a:ea typeface="华文仿宋" panose="02010600040101010101" pitchFamily="2" charset="-122"/>
              </a:rPr>
              <a:t>Oracle</a:t>
            </a:r>
            <a:r>
              <a:rPr lang="zh-CN" altLang="en-US" sz="2000">
                <a:solidFill>
                  <a:srgbClr val="000000"/>
                </a:solidFill>
                <a:latin typeface="+mn-lt"/>
                <a:ea typeface="华文仿宋" panose="02010600040101010101" pitchFamily="2" charset="-122"/>
              </a:rPr>
              <a:t>错误没有预定义异常与其关联，需要在语句块的声明部分声明一个异常名称，然后通过编译指示</a:t>
            </a:r>
            <a:r>
              <a:rPr lang="en-US" altLang="zh-CN" sz="2000">
                <a:solidFill>
                  <a:srgbClr val="000000"/>
                </a:solidFill>
                <a:latin typeface="+mn-lt"/>
                <a:ea typeface="华文仿宋" panose="02010600040101010101" pitchFamily="2" charset="-122"/>
              </a:rPr>
              <a:t>PRAGMA EXCEPTION_INIT</a:t>
            </a:r>
            <a:r>
              <a:rPr lang="zh-CN" altLang="en-US" sz="2000">
                <a:solidFill>
                  <a:srgbClr val="000000"/>
                </a:solidFill>
                <a:latin typeface="+mn-lt"/>
                <a:ea typeface="华文仿宋" panose="02010600040101010101" pitchFamily="2" charset="-122"/>
              </a:rPr>
              <a:t>将该异常名称与一个</a:t>
            </a:r>
            <a:r>
              <a:rPr lang="en-US" altLang="zh-CN" sz="2000">
                <a:solidFill>
                  <a:srgbClr val="000000"/>
                </a:solidFill>
                <a:latin typeface="+mn-lt"/>
                <a:ea typeface="华文仿宋" panose="02010600040101010101" pitchFamily="2" charset="-122"/>
              </a:rPr>
              <a:t>Oracle</a:t>
            </a:r>
            <a:r>
              <a:rPr lang="zh-CN" altLang="en-US" sz="2000">
                <a:solidFill>
                  <a:srgbClr val="000000"/>
                </a:solidFill>
                <a:latin typeface="+mn-lt"/>
                <a:ea typeface="华文仿宋" panose="02010600040101010101" pitchFamily="2" charset="-122"/>
              </a:rPr>
              <a:t>错误相关联。此后，当执行过程出现该错误时将自动抛出该异常。</a:t>
            </a:r>
          </a:p>
          <a:p>
            <a:pPr lvl="1" eaLnBrk="1" hangingPunct="1">
              <a:buSzPct val="75000"/>
            </a:pPr>
            <a:endParaRPr lang="en-US" altLang="zh-CN" sz="2000">
              <a:solidFill>
                <a:srgbClr val="000000"/>
              </a:solidFill>
              <a:latin typeface="+mn-lt"/>
              <a:ea typeface="华文仿宋" panose="02010600040101010101" pitchFamily="2" charset="-122"/>
            </a:endParaRPr>
          </a:p>
        </p:txBody>
      </p:sp>
      <p:sp>
        <p:nvSpPr>
          <p:cNvPr id="106498"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102</a:t>
            </a:fld>
            <a:endParaRPr lang="en-US" altLang="zh-CN">
              <a:solidFill>
                <a:srgbClr val="898989"/>
              </a:solidFill>
              <a:ea typeface="宋体" panose="02010600030101010101" pitchFamily="2" charset="-122"/>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2" name="Rectangle 71">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4" name="Picture 73">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7523"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lnSpc>
                <a:spcPct val="90000"/>
              </a:lnSpc>
              <a:buSzPct val="75000"/>
            </a:pPr>
            <a:r>
              <a:rPr lang="zh-CN" altLang="en-US" sz="1100">
                <a:solidFill>
                  <a:srgbClr val="000000"/>
                </a:solidFill>
                <a:latin typeface="宋体" panose="02010600030101010101" pitchFamily="2" charset="-122"/>
                <a:ea typeface="+mn-ea"/>
                <a:cs typeface="+mn-cs"/>
              </a:rPr>
              <a:t>声明一个异常名称</a:t>
            </a:r>
          </a:p>
          <a:p>
            <a:pPr lvl="1" eaLnBrk="1" hangingPunct="1">
              <a:lnSpc>
                <a:spcPct val="90000"/>
              </a:lnSpc>
              <a:buSzPct val="75000"/>
            </a:pPr>
            <a:r>
              <a:rPr lang="en-US" altLang="zh-CN" sz="1100" b="0">
                <a:solidFill>
                  <a:srgbClr val="000000"/>
                </a:solidFill>
                <a:latin typeface="+mn-lt"/>
                <a:ea typeface="华文仿宋" panose="02010600040101010101" pitchFamily="2" charset="-122"/>
              </a:rPr>
              <a:t>e_integrity EXCEPTION;</a:t>
            </a:r>
          </a:p>
          <a:p>
            <a:pPr eaLnBrk="1" hangingPunct="1">
              <a:lnSpc>
                <a:spcPct val="90000"/>
              </a:lnSpc>
              <a:buSzPct val="75000"/>
            </a:pPr>
            <a:r>
              <a:rPr lang="zh-CN" altLang="en-US" sz="1100">
                <a:solidFill>
                  <a:srgbClr val="000000"/>
                </a:solidFill>
                <a:latin typeface="宋体" panose="02010600030101010101" pitchFamily="2" charset="-122"/>
                <a:ea typeface="+mn-ea"/>
                <a:cs typeface="+mn-cs"/>
              </a:rPr>
              <a:t>将异常与一个</a:t>
            </a:r>
            <a:r>
              <a:rPr lang="en-US" altLang="zh-CN" sz="1100">
                <a:solidFill>
                  <a:srgbClr val="000000"/>
                </a:solidFill>
                <a:latin typeface="宋体" panose="02010600030101010101" pitchFamily="2" charset="-122"/>
                <a:ea typeface="+mn-ea"/>
                <a:cs typeface="+mn-cs"/>
              </a:rPr>
              <a:t>Oracle</a:t>
            </a:r>
            <a:r>
              <a:rPr lang="zh-CN" altLang="en-US" sz="1100">
                <a:solidFill>
                  <a:srgbClr val="000000"/>
                </a:solidFill>
                <a:latin typeface="宋体" panose="02010600030101010101" pitchFamily="2" charset="-122"/>
                <a:ea typeface="+mn-ea"/>
                <a:cs typeface="+mn-cs"/>
              </a:rPr>
              <a:t>错误号相绑定</a:t>
            </a:r>
          </a:p>
          <a:p>
            <a:pPr lvl="1" eaLnBrk="1" hangingPunct="1">
              <a:lnSpc>
                <a:spcPct val="90000"/>
              </a:lnSpc>
              <a:buSzPct val="75000"/>
            </a:pPr>
            <a:r>
              <a:rPr lang="en-US" altLang="zh-CN" sz="1100" b="0">
                <a:solidFill>
                  <a:srgbClr val="000000"/>
                </a:solidFill>
                <a:latin typeface="+mn-lt"/>
                <a:ea typeface="华文仿宋" panose="02010600040101010101" pitchFamily="2" charset="-122"/>
              </a:rPr>
              <a:t>PRAGMA EXCEPTION-INIT(e_integrity.-2291)</a:t>
            </a:r>
          </a:p>
          <a:p>
            <a:pPr eaLnBrk="1" hangingPunct="1">
              <a:lnSpc>
                <a:spcPct val="90000"/>
              </a:lnSpc>
              <a:buSzPct val="75000"/>
            </a:pPr>
            <a:r>
              <a:rPr lang="zh-CN" altLang="en-US" sz="1100">
                <a:solidFill>
                  <a:srgbClr val="000000"/>
                </a:solidFill>
                <a:latin typeface="宋体" panose="02010600030101010101" pitchFamily="2" charset="-122"/>
                <a:ea typeface="+mn-ea"/>
                <a:cs typeface="+mn-cs"/>
              </a:rPr>
              <a:t>示例</a:t>
            </a:r>
          </a:p>
          <a:p>
            <a:pPr lvl="1" eaLnBrk="1" hangingPunct="1">
              <a:lnSpc>
                <a:spcPct val="90000"/>
              </a:lnSpc>
              <a:buSzPct val="75000"/>
            </a:pPr>
            <a:r>
              <a:rPr lang="en-US" altLang="zh-CN" sz="1100">
                <a:solidFill>
                  <a:srgbClr val="000000"/>
                </a:solidFill>
                <a:latin typeface="+mn-lt"/>
                <a:ea typeface="华文仿宋" panose="02010600040101010101" pitchFamily="2" charset="-122"/>
              </a:rPr>
              <a:t>DECLARE</a:t>
            </a:r>
          </a:p>
          <a:p>
            <a:pPr lvl="1" eaLnBrk="1" hangingPunct="1">
              <a:lnSpc>
                <a:spcPct val="90000"/>
              </a:lnSpc>
              <a:buSzPct val="75000"/>
            </a:pPr>
            <a:r>
              <a:rPr lang="en-US" altLang="zh-CN" sz="1100">
                <a:solidFill>
                  <a:srgbClr val="000000"/>
                </a:solidFill>
                <a:latin typeface="+mn-lt"/>
                <a:ea typeface="华文仿宋" panose="02010600040101010101" pitchFamily="2" charset="-122"/>
              </a:rPr>
              <a:t>  e_deptno_fk EXCEPTION;</a:t>
            </a:r>
          </a:p>
          <a:p>
            <a:pPr lvl="1" eaLnBrk="1" hangingPunct="1">
              <a:lnSpc>
                <a:spcPct val="90000"/>
              </a:lnSpc>
              <a:buSzPct val="75000"/>
            </a:pPr>
            <a:r>
              <a:rPr lang="en-US" altLang="zh-CN" sz="1100">
                <a:solidFill>
                  <a:srgbClr val="000000"/>
                </a:solidFill>
                <a:latin typeface="+mn-lt"/>
                <a:ea typeface="华文仿宋" panose="02010600040101010101" pitchFamily="2" charset="-122"/>
              </a:rPr>
              <a:t>  PRAGMA EXCEPTION_INIT(e_deptno_fk,-2292);</a:t>
            </a:r>
          </a:p>
          <a:p>
            <a:pPr lvl="1" eaLnBrk="1" hangingPunct="1">
              <a:lnSpc>
                <a:spcPct val="90000"/>
              </a:lnSpc>
              <a:buSzPct val="75000"/>
            </a:pPr>
            <a:r>
              <a:rPr lang="en-US" altLang="zh-CN" sz="1100">
                <a:solidFill>
                  <a:srgbClr val="000000"/>
                </a:solidFill>
                <a:latin typeface="+mn-lt"/>
                <a:ea typeface="华文仿宋" panose="02010600040101010101" pitchFamily="2" charset="-122"/>
              </a:rPr>
              <a:t>BEGIN</a:t>
            </a:r>
            <a:endParaRPr lang="en-GB" altLang="zh-CN" sz="1100">
              <a:solidFill>
                <a:srgbClr val="000000"/>
              </a:solidFill>
              <a:latin typeface="+mn-lt"/>
              <a:ea typeface="华文仿宋" panose="02010600040101010101" pitchFamily="2" charset="-122"/>
            </a:endParaRPr>
          </a:p>
          <a:p>
            <a:pPr lvl="1" eaLnBrk="1" hangingPunct="1">
              <a:lnSpc>
                <a:spcPct val="90000"/>
              </a:lnSpc>
              <a:buSzPct val="75000"/>
            </a:pPr>
            <a:r>
              <a:rPr lang="en-GB" altLang="zh-CN" sz="1100">
                <a:solidFill>
                  <a:srgbClr val="000000"/>
                </a:solidFill>
                <a:latin typeface="华文仿宋" panose="02010600040101010101" pitchFamily="2" charset="-122"/>
                <a:ea typeface="华文仿宋" panose="02010600040101010101" pitchFamily="2" charset="-122"/>
              </a:rPr>
              <a:t>……</a:t>
            </a:r>
            <a:endParaRPr lang="en-US" altLang="zh-CN" sz="1100">
              <a:solidFill>
                <a:srgbClr val="000000"/>
              </a:solidFill>
              <a:latin typeface="+mn-lt"/>
              <a:ea typeface="华文仿宋" panose="02010600040101010101" pitchFamily="2" charset="-122"/>
            </a:endParaRPr>
          </a:p>
          <a:p>
            <a:pPr lvl="1" eaLnBrk="1" hangingPunct="1">
              <a:lnSpc>
                <a:spcPct val="90000"/>
              </a:lnSpc>
              <a:buSzPct val="75000"/>
            </a:pPr>
            <a:r>
              <a:rPr lang="en-US" altLang="zh-CN" sz="1100">
                <a:solidFill>
                  <a:srgbClr val="000000"/>
                </a:solidFill>
                <a:latin typeface="+mn-lt"/>
                <a:ea typeface="华文仿宋" panose="02010600040101010101" pitchFamily="2" charset="-122"/>
              </a:rPr>
              <a:t>EXCEPTION</a:t>
            </a:r>
            <a:endParaRPr lang="en-GB" altLang="zh-CN" sz="1100">
              <a:solidFill>
                <a:srgbClr val="000000"/>
              </a:solidFill>
              <a:latin typeface="+mn-lt"/>
              <a:ea typeface="华文仿宋" panose="02010600040101010101" pitchFamily="2" charset="-122"/>
            </a:endParaRPr>
          </a:p>
          <a:p>
            <a:pPr lvl="1" eaLnBrk="1" hangingPunct="1">
              <a:lnSpc>
                <a:spcPct val="90000"/>
              </a:lnSpc>
              <a:buSzPct val="75000"/>
            </a:pPr>
            <a:r>
              <a:rPr lang="en-GB" altLang="zh-CN" sz="1100">
                <a:solidFill>
                  <a:srgbClr val="000000"/>
                </a:solidFill>
                <a:latin typeface="华文仿宋" panose="02010600040101010101" pitchFamily="2" charset="-122"/>
                <a:ea typeface="华文仿宋" panose="02010600040101010101" pitchFamily="2" charset="-122"/>
              </a:rPr>
              <a:t>……</a:t>
            </a:r>
            <a:endParaRPr lang="en-US" altLang="zh-CN" sz="1100">
              <a:solidFill>
                <a:srgbClr val="000000"/>
              </a:solidFill>
              <a:latin typeface="+mn-lt"/>
              <a:ea typeface="华文仿宋" panose="02010600040101010101" pitchFamily="2" charset="-122"/>
            </a:endParaRPr>
          </a:p>
          <a:p>
            <a:pPr lvl="1" eaLnBrk="1" hangingPunct="1">
              <a:lnSpc>
                <a:spcPct val="90000"/>
              </a:lnSpc>
              <a:buSzPct val="75000"/>
            </a:pPr>
            <a:r>
              <a:rPr lang="en-US" altLang="zh-CN" sz="1100">
                <a:solidFill>
                  <a:srgbClr val="000000"/>
                </a:solidFill>
                <a:latin typeface="+mn-lt"/>
                <a:ea typeface="华文仿宋" panose="02010600040101010101" pitchFamily="2" charset="-122"/>
              </a:rPr>
              <a:t>END;</a:t>
            </a:r>
          </a:p>
        </p:txBody>
      </p:sp>
      <p:sp>
        <p:nvSpPr>
          <p:cNvPr id="107522"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103</a:t>
            </a:fld>
            <a:endParaRPr lang="en-US" altLang="zh-CN">
              <a:solidFill>
                <a:srgbClr val="898989"/>
              </a:solidFill>
              <a:ea typeface="宋体" panose="02010600030101010101" pitchFamily="2" charset="-122"/>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8547"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endParaRPr lang="zh-CN" altLang="zh-CN">
              <a:solidFill>
                <a:srgbClr val="FFFFFF"/>
              </a:solidFill>
              <a:latin typeface="+mj-lt"/>
              <a:ea typeface="+mj-ea"/>
              <a:cs typeface="+mj-cs"/>
            </a:endParaRPr>
          </a:p>
        </p:txBody>
      </p:sp>
      <p:sp>
        <p:nvSpPr>
          <p:cNvPr id="108548"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buSzPct val="75000"/>
            </a:pPr>
            <a:r>
              <a:rPr lang="zh-CN" altLang="en-US" sz="2000">
                <a:solidFill>
                  <a:srgbClr val="000000"/>
                </a:solidFill>
                <a:latin typeface="+mn-lt"/>
                <a:ea typeface="+mn-ea"/>
                <a:cs typeface="+mn-cs"/>
              </a:rPr>
              <a:t>用户自定义的异常</a:t>
            </a:r>
          </a:p>
          <a:p>
            <a:pPr lvl="1" eaLnBrk="1" hangingPunct="1">
              <a:buSzPct val="75000"/>
            </a:pPr>
            <a:r>
              <a:rPr lang="zh-CN" altLang="en-US" sz="2000">
                <a:solidFill>
                  <a:srgbClr val="000000"/>
                </a:solidFill>
                <a:latin typeface="+mn-lt"/>
                <a:ea typeface="华文仿宋" panose="02010600040101010101" pitchFamily="2" charset="-122"/>
              </a:rPr>
              <a:t>用户定义错误是指，有些操作并不会产生</a:t>
            </a:r>
            <a:r>
              <a:rPr lang="en-US" altLang="zh-CN" sz="2000">
                <a:solidFill>
                  <a:srgbClr val="000000"/>
                </a:solidFill>
                <a:latin typeface="+mn-lt"/>
                <a:ea typeface="华文仿宋" panose="02010600040101010101" pitchFamily="2" charset="-122"/>
              </a:rPr>
              <a:t>Oracle</a:t>
            </a:r>
            <a:r>
              <a:rPr lang="zh-CN" altLang="en-US" sz="2000">
                <a:solidFill>
                  <a:srgbClr val="000000"/>
                </a:solidFill>
                <a:latin typeface="+mn-lt"/>
                <a:ea typeface="华文仿宋" panose="02010600040101010101" pitchFamily="2" charset="-122"/>
              </a:rPr>
              <a:t>错误，但是从业务规则角度考虑，认为是一种错误。</a:t>
            </a:r>
          </a:p>
          <a:p>
            <a:pPr lvl="1" eaLnBrk="1" hangingPunct="1">
              <a:buSzPct val="75000"/>
            </a:pPr>
            <a:r>
              <a:rPr lang="zh-CN" altLang="en-US" sz="2000">
                <a:solidFill>
                  <a:srgbClr val="000000"/>
                </a:solidFill>
                <a:latin typeface="+mn-lt"/>
                <a:ea typeface="华文仿宋" panose="02010600040101010101" pitchFamily="2" charset="-122"/>
              </a:rPr>
              <a:t>用户自定义异常必须在声明部分进行声明。</a:t>
            </a:r>
          </a:p>
          <a:p>
            <a:pPr lvl="1" eaLnBrk="1" hangingPunct="1">
              <a:buSzPct val="75000"/>
            </a:pPr>
            <a:r>
              <a:rPr lang="zh-CN" altLang="en-US" sz="2000">
                <a:solidFill>
                  <a:srgbClr val="000000"/>
                </a:solidFill>
                <a:latin typeface="+mn-lt"/>
                <a:ea typeface="华文仿宋" panose="02010600040101010101" pitchFamily="2" charset="-122"/>
              </a:rPr>
              <a:t>当异常发生时，系统不能自动触发，需要用户使用</a:t>
            </a:r>
            <a:r>
              <a:rPr lang="en-US" altLang="zh-CN" sz="2000">
                <a:solidFill>
                  <a:srgbClr val="000000"/>
                </a:solidFill>
                <a:latin typeface="+mn-lt"/>
                <a:ea typeface="华文仿宋" panose="02010600040101010101" pitchFamily="2" charset="-122"/>
              </a:rPr>
              <a:t>RAISE</a:t>
            </a:r>
            <a:r>
              <a:rPr lang="zh-CN" altLang="en-US" sz="2000">
                <a:solidFill>
                  <a:srgbClr val="000000"/>
                </a:solidFill>
                <a:latin typeface="+mn-lt"/>
                <a:ea typeface="华文仿宋" panose="02010600040101010101" pitchFamily="2" charset="-122"/>
              </a:rPr>
              <a:t>语句。</a:t>
            </a:r>
          </a:p>
          <a:p>
            <a:pPr lvl="1" eaLnBrk="1" hangingPunct="1">
              <a:buSzPct val="75000"/>
            </a:pPr>
            <a:r>
              <a:rPr lang="zh-CN" altLang="en-US" sz="2000">
                <a:solidFill>
                  <a:srgbClr val="000000"/>
                </a:solidFill>
                <a:latin typeface="+mn-lt"/>
                <a:ea typeface="华文仿宋" panose="02010600040101010101" pitchFamily="2" charset="-122"/>
              </a:rPr>
              <a:t>在异常处理部分捕捉并处理异常。</a:t>
            </a:r>
          </a:p>
        </p:txBody>
      </p:sp>
      <p:sp>
        <p:nvSpPr>
          <p:cNvPr id="108546"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104</a:t>
            </a:fld>
            <a:endParaRPr lang="en-US" altLang="zh-CN">
              <a:solidFill>
                <a:srgbClr val="898989"/>
              </a:solidFill>
              <a:ea typeface="宋体" panose="02010600030101010101" pitchFamily="2" charset="-122"/>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9571"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r>
              <a:rPr lang="en-GB" altLang="zh-CN">
                <a:solidFill>
                  <a:srgbClr val="FFFFFF"/>
                </a:solidFill>
                <a:latin typeface="+mj-lt"/>
                <a:ea typeface="+mj-ea"/>
                <a:cs typeface="+mj-cs"/>
              </a:rPr>
              <a:t>9.8.2 </a:t>
            </a:r>
            <a:r>
              <a:rPr lang="zh-CN" altLang="en-GB">
                <a:solidFill>
                  <a:srgbClr val="FFFFFF"/>
                </a:solidFill>
                <a:latin typeface="+mj-lt"/>
                <a:ea typeface="+mj-ea"/>
                <a:cs typeface="+mj-cs"/>
              </a:rPr>
              <a:t>异常处理过程</a:t>
            </a:r>
            <a:endParaRPr lang="zh-CN" altLang="en-US">
              <a:solidFill>
                <a:srgbClr val="FFFFFF"/>
              </a:solidFill>
              <a:latin typeface="+mj-lt"/>
              <a:ea typeface="+mj-ea"/>
              <a:cs typeface="+mj-cs"/>
            </a:endParaRPr>
          </a:p>
        </p:txBody>
      </p:sp>
      <p:sp>
        <p:nvSpPr>
          <p:cNvPr id="109572"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buSzPct val="75000"/>
            </a:pPr>
            <a:r>
              <a:rPr lang="zh-CN" altLang="en-US" sz="2000">
                <a:solidFill>
                  <a:srgbClr val="000000"/>
                </a:solidFill>
                <a:latin typeface="+mn-lt"/>
                <a:ea typeface="+mn-ea"/>
                <a:cs typeface="+mn-cs"/>
              </a:rPr>
              <a:t>异常的定义</a:t>
            </a:r>
          </a:p>
          <a:p>
            <a:pPr eaLnBrk="1" hangingPunct="1">
              <a:buSzPct val="75000"/>
            </a:pPr>
            <a:r>
              <a:rPr lang="zh-CN" altLang="en-US" sz="2000">
                <a:solidFill>
                  <a:srgbClr val="000000"/>
                </a:solidFill>
                <a:latin typeface="+mn-lt"/>
                <a:ea typeface="+mn-ea"/>
                <a:cs typeface="+mn-cs"/>
              </a:rPr>
              <a:t>异常的抛出</a:t>
            </a:r>
          </a:p>
          <a:p>
            <a:pPr eaLnBrk="1" hangingPunct="1">
              <a:buSzPct val="75000"/>
            </a:pPr>
            <a:r>
              <a:rPr lang="zh-CN" altLang="en-US" sz="2000">
                <a:solidFill>
                  <a:srgbClr val="000000"/>
                </a:solidFill>
                <a:latin typeface="+mn-lt"/>
                <a:ea typeface="+mn-ea"/>
                <a:cs typeface="+mn-cs"/>
              </a:rPr>
              <a:t>异常的捕获与处理</a:t>
            </a:r>
          </a:p>
          <a:p>
            <a:pPr eaLnBrk="1" hangingPunct="1">
              <a:buSzPct val="75000"/>
            </a:pPr>
            <a:r>
              <a:rPr lang="en-US" altLang="zh-CN" sz="2000">
                <a:solidFill>
                  <a:srgbClr val="000000"/>
                </a:solidFill>
                <a:latin typeface="+mn-lt"/>
                <a:ea typeface="+mn-ea"/>
                <a:cs typeface="+mn-cs"/>
              </a:rPr>
              <a:t>OTHERS</a:t>
            </a:r>
            <a:r>
              <a:rPr lang="zh-CN" altLang="en-US" sz="2000">
                <a:solidFill>
                  <a:srgbClr val="000000"/>
                </a:solidFill>
                <a:latin typeface="+mn-lt"/>
                <a:ea typeface="+mn-ea"/>
                <a:cs typeface="+mn-cs"/>
              </a:rPr>
              <a:t>异常处理器</a:t>
            </a:r>
          </a:p>
        </p:txBody>
      </p:sp>
      <p:sp>
        <p:nvSpPr>
          <p:cNvPr id="109570"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105</a:t>
            </a:fld>
            <a:endParaRPr lang="en-US" altLang="zh-CN">
              <a:solidFill>
                <a:srgbClr val="898989"/>
              </a:solidFill>
              <a:ea typeface="宋体" panose="02010600030101010101" pitchFamily="2" charset="-122"/>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0595"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endParaRPr lang="zh-CN" altLang="zh-CN">
              <a:solidFill>
                <a:srgbClr val="FFFFFF"/>
              </a:solidFill>
              <a:latin typeface="+mj-lt"/>
              <a:ea typeface="+mj-ea"/>
              <a:cs typeface="+mj-cs"/>
            </a:endParaRPr>
          </a:p>
        </p:txBody>
      </p:sp>
      <p:sp>
        <p:nvSpPr>
          <p:cNvPr id="110596"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buSzPct val="75000"/>
            </a:pPr>
            <a:r>
              <a:rPr lang="zh-CN" altLang="en-US" sz="2000">
                <a:solidFill>
                  <a:srgbClr val="000000"/>
                </a:solidFill>
                <a:latin typeface="+mn-lt"/>
                <a:ea typeface="+mn-ea"/>
                <a:cs typeface="+mn-cs"/>
              </a:rPr>
              <a:t>异常处理分</a:t>
            </a:r>
            <a:r>
              <a:rPr lang="en-US" altLang="zh-CN" sz="2000">
                <a:solidFill>
                  <a:srgbClr val="000000"/>
                </a:solidFill>
                <a:latin typeface="+mn-lt"/>
                <a:ea typeface="+mn-ea"/>
                <a:cs typeface="+mn-cs"/>
              </a:rPr>
              <a:t>3</a:t>
            </a:r>
            <a:r>
              <a:rPr lang="zh-CN" altLang="en-US" sz="2000">
                <a:solidFill>
                  <a:srgbClr val="000000"/>
                </a:solidFill>
                <a:latin typeface="+mn-lt"/>
                <a:ea typeface="+mn-ea"/>
                <a:cs typeface="+mn-cs"/>
              </a:rPr>
              <a:t>个步骤进行：</a:t>
            </a:r>
            <a:endParaRPr lang="zh-CN" altLang="en-US" sz="2000">
              <a:solidFill>
                <a:srgbClr val="000000"/>
              </a:solidFill>
              <a:latin typeface="+mn-lt"/>
              <a:ea typeface="+mn-ea"/>
              <a:cs typeface="+mn-cs"/>
              <a:sym typeface="Wingdings" panose="05000000000000000000" pitchFamily="2" charset="2"/>
            </a:endParaRPr>
          </a:p>
          <a:p>
            <a:pPr lvl="1" eaLnBrk="1" hangingPunct="1">
              <a:buSzPct val="75000"/>
            </a:pPr>
            <a:r>
              <a:rPr lang="zh-CN" altLang="en-US" sz="2000">
                <a:solidFill>
                  <a:srgbClr val="000000"/>
                </a:solidFill>
                <a:latin typeface="+mn-lt"/>
                <a:ea typeface="华文仿宋" panose="02010600040101010101" pitchFamily="2" charset="-122"/>
              </a:rPr>
              <a:t>在声明部分为错误定义异常，包括非预定义异常和用户定义异常。</a:t>
            </a:r>
            <a:endParaRPr lang="zh-CN" altLang="en-US" sz="2000">
              <a:solidFill>
                <a:srgbClr val="000000"/>
              </a:solidFill>
              <a:latin typeface="+mn-lt"/>
              <a:ea typeface="华文仿宋" panose="02010600040101010101" pitchFamily="2" charset="-122"/>
              <a:sym typeface="Wingdings" panose="05000000000000000000" pitchFamily="2" charset="2"/>
            </a:endParaRPr>
          </a:p>
          <a:p>
            <a:pPr lvl="1" eaLnBrk="1" hangingPunct="1">
              <a:buSzPct val="75000"/>
            </a:pPr>
            <a:r>
              <a:rPr lang="zh-CN" altLang="en-US" sz="2000">
                <a:solidFill>
                  <a:srgbClr val="000000"/>
                </a:solidFill>
                <a:latin typeface="+mn-lt"/>
                <a:ea typeface="华文仿宋" panose="02010600040101010101" pitchFamily="2" charset="-122"/>
              </a:rPr>
              <a:t>在执行过程中当错误产生时抛出与错误对应的异常。</a:t>
            </a:r>
            <a:endParaRPr lang="zh-CN" altLang="en-US" sz="2000">
              <a:solidFill>
                <a:srgbClr val="000000"/>
              </a:solidFill>
              <a:latin typeface="+mn-lt"/>
              <a:ea typeface="华文仿宋" panose="02010600040101010101" pitchFamily="2" charset="-122"/>
              <a:sym typeface="Wingdings" panose="05000000000000000000" pitchFamily="2" charset="2"/>
            </a:endParaRPr>
          </a:p>
          <a:p>
            <a:pPr lvl="1" eaLnBrk="1" hangingPunct="1">
              <a:buSzPct val="75000"/>
            </a:pPr>
            <a:r>
              <a:rPr lang="zh-CN" altLang="en-US" sz="2000">
                <a:solidFill>
                  <a:srgbClr val="000000"/>
                </a:solidFill>
                <a:latin typeface="+mn-lt"/>
                <a:ea typeface="华文仿宋" panose="02010600040101010101" pitchFamily="2" charset="-122"/>
              </a:rPr>
              <a:t>在异常处理部分通过异常处理器捕获异常，并进行异常处理。</a:t>
            </a:r>
          </a:p>
        </p:txBody>
      </p:sp>
      <p:sp>
        <p:nvSpPr>
          <p:cNvPr id="110594"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106</a:t>
            </a:fld>
            <a:endParaRPr lang="en-US" altLang="zh-CN">
              <a:solidFill>
                <a:srgbClr val="898989"/>
              </a:solidFill>
              <a:ea typeface="宋体" panose="02010600030101010101" pitchFamily="2" charset="-122"/>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1619"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r>
              <a:rPr lang="zh-CN" altLang="en-US">
                <a:solidFill>
                  <a:srgbClr val="FFFFFF"/>
                </a:solidFill>
                <a:latin typeface="+mj-lt"/>
                <a:ea typeface="+mj-ea"/>
                <a:cs typeface="+mj-cs"/>
              </a:rPr>
              <a:t>（</a:t>
            </a:r>
            <a:r>
              <a:rPr lang="en-US" altLang="zh-CN">
                <a:solidFill>
                  <a:srgbClr val="FFFFFF"/>
                </a:solidFill>
                <a:latin typeface="+mj-lt"/>
                <a:ea typeface="+mj-ea"/>
                <a:cs typeface="+mj-cs"/>
              </a:rPr>
              <a:t>1</a:t>
            </a:r>
            <a:r>
              <a:rPr lang="zh-CN" altLang="en-US">
                <a:solidFill>
                  <a:srgbClr val="FFFFFF"/>
                </a:solidFill>
                <a:latin typeface="+mj-lt"/>
                <a:ea typeface="+mj-ea"/>
                <a:cs typeface="+mj-cs"/>
              </a:rPr>
              <a:t>）异常的定义</a:t>
            </a:r>
          </a:p>
        </p:txBody>
      </p:sp>
      <p:sp>
        <p:nvSpPr>
          <p:cNvPr id="111620"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lnSpc>
                <a:spcPct val="90000"/>
              </a:lnSpc>
              <a:buSzPct val="75000"/>
            </a:pPr>
            <a:r>
              <a:rPr lang="en-US" altLang="zh-CN" sz="1900">
                <a:solidFill>
                  <a:srgbClr val="000000"/>
                </a:solidFill>
                <a:latin typeface="+mn-lt"/>
                <a:ea typeface="+mn-ea"/>
                <a:cs typeface="+mn-cs"/>
              </a:rPr>
              <a:t>Oracle</a:t>
            </a:r>
            <a:r>
              <a:rPr lang="zh-CN" altLang="en-US" sz="1900">
                <a:solidFill>
                  <a:srgbClr val="000000"/>
                </a:solidFill>
                <a:latin typeface="+mn-lt"/>
                <a:ea typeface="+mn-ea"/>
                <a:cs typeface="+mn-cs"/>
              </a:rPr>
              <a:t>中的</a:t>
            </a:r>
            <a:r>
              <a:rPr lang="en-US" altLang="zh-CN" sz="1900">
                <a:solidFill>
                  <a:srgbClr val="000000"/>
                </a:solidFill>
                <a:latin typeface="+mn-lt"/>
                <a:ea typeface="+mn-ea"/>
                <a:cs typeface="+mn-cs"/>
              </a:rPr>
              <a:t>3</a:t>
            </a:r>
            <a:r>
              <a:rPr lang="zh-CN" altLang="en-US" sz="1900">
                <a:solidFill>
                  <a:srgbClr val="000000"/>
                </a:solidFill>
                <a:latin typeface="+mn-lt"/>
                <a:ea typeface="+mn-ea"/>
                <a:cs typeface="+mn-cs"/>
              </a:rPr>
              <a:t>种异常，其中预定义异常由系统定义，而其他两种异常则需要用户定义。</a:t>
            </a:r>
          </a:p>
          <a:p>
            <a:pPr eaLnBrk="1" hangingPunct="1">
              <a:lnSpc>
                <a:spcPct val="90000"/>
              </a:lnSpc>
              <a:buSzPct val="75000"/>
            </a:pPr>
            <a:r>
              <a:rPr lang="zh-CN" altLang="en-US" sz="1900">
                <a:solidFill>
                  <a:srgbClr val="000000"/>
                </a:solidFill>
                <a:latin typeface="+mn-lt"/>
                <a:ea typeface="+mn-ea"/>
                <a:cs typeface="+mn-cs"/>
              </a:rPr>
              <a:t>定义异常方法</a:t>
            </a:r>
          </a:p>
          <a:p>
            <a:pPr lvl="1" eaLnBrk="1" hangingPunct="1">
              <a:lnSpc>
                <a:spcPct val="90000"/>
              </a:lnSpc>
              <a:buSzPct val="75000"/>
            </a:pPr>
            <a:r>
              <a:rPr lang="en-US" altLang="zh-CN" sz="1900">
                <a:solidFill>
                  <a:srgbClr val="000000"/>
                </a:solidFill>
                <a:latin typeface="+mn-lt"/>
                <a:ea typeface="华文仿宋" panose="02010600040101010101" pitchFamily="2" charset="-122"/>
              </a:rPr>
              <a:t>e_exception EXCEPTION;</a:t>
            </a:r>
          </a:p>
          <a:p>
            <a:pPr eaLnBrk="1" hangingPunct="1">
              <a:lnSpc>
                <a:spcPct val="90000"/>
              </a:lnSpc>
              <a:buSzPct val="75000"/>
            </a:pPr>
            <a:r>
              <a:rPr lang="zh-CN" altLang="en-US" sz="1900">
                <a:solidFill>
                  <a:srgbClr val="000000"/>
                </a:solidFill>
                <a:latin typeface="+mn-lt"/>
                <a:ea typeface="+mn-ea"/>
                <a:cs typeface="+mn-cs"/>
              </a:rPr>
              <a:t>如果是非预定义的异常，需要将异常与一个</a:t>
            </a:r>
            <a:r>
              <a:rPr lang="en-US" altLang="zh-CN" sz="1900">
                <a:solidFill>
                  <a:srgbClr val="000000"/>
                </a:solidFill>
                <a:latin typeface="+mn-lt"/>
                <a:ea typeface="+mn-ea"/>
                <a:cs typeface="+mn-cs"/>
              </a:rPr>
              <a:t>Oracle</a:t>
            </a:r>
            <a:r>
              <a:rPr lang="zh-CN" altLang="en-US" sz="1900">
                <a:solidFill>
                  <a:srgbClr val="000000"/>
                </a:solidFill>
                <a:latin typeface="+mn-lt"/>
                <a:ea typeface="+mn-ea"/>
                <a:cs typeface="+mn-cs"/>
              </a:rPr>
              <a:t>错误相关联，其语法为：</a:t>
            </a:r>
          </a:p>
          <a:p>
            <a:pPr lvl="1" eaLnBrk="1" hangingPunct="1">
              <a:lnSpc>
                <a:spcPct val="90000"/>
              </a:lnSpc>
              <a:buSzPct val="75000"/>
            </a:pPr>
            <a:r>
              <a:rPr lang="en-US" altLang="zh-CN" sz="1900">
                <a:solidFill>
                  <a:srgbClr val="000000"/>
                </a:solidFill>
                <a:latin typeface="+mn-lt"/>
                <a:ea typeface="华文仿宋" panose="02010600040101010101" pitchFamily="2" charset="-122"/>
              </a:rPr>
              <a:t>PRAGMA EXCEPTION_INIT(e_exception, -#####);</a:t>
            </a:r>
          </a:p>
          <a:p>
            <a:pPr eaLnBrk="1" hangingPunct="1">
              <a:lnSpc>
                <a:spcPct val="90000"/>
              </a:lnSpc>
              <a:buSzPct val="75000"/>
            </a:pPr>
            <a:r>
              <a:rPr lang="zh-CN" altLang="en-US" sz="1900">
                <a:solidFill>
                  <a:srgbClr val="000000"/>
                </a:solidFill>
                <a:latin typeface="+mn-lt"/>
                <a:ea typeface="+mn-ea"/>
                <a:cs typeface="+mn-cs"/>
              </a:rPr>
              <a:t>注意</a:t>
            </a:r>
          </a:p>
          <a:p>
            <a:pPr lvl="1" eaLnBrk="1" hangingPunct="1">
              <a:lnSpc>
                <a:spcPct val="90000"/>
              </a:lnSpc>
              <a:buSzPct val="75000"/>
            </a:pPr>
            <a:r>
              <a:rPr lang="en-US" altLang="zh-CN" sz="1900">
                <a:solidFill>
                  <a:srgbClr val="000000"/>
                </a:solidFill>
                <a:latin typeface="+mn-lt"/>
                <a:ea typeface="华文仿宋" panose="02010600040101010101" pitchFamily="2" charset="-122"/>
              </a:rPr>
              <a:t>Oracle</a:t>
            </a:r>
            <a:r>
              <a:rPr lang="zh-CN" altLang="en-US" sz="1900">
                <a:solidFill>
                  <a:srgbClr val="000000"/>
                </a:solidFill>
                <a:latin typeface="+mn-lt"/>
                <a:ea typeface="华文仿宋" panose="02010600040101010101" pitchFamily="2" charset="-122"/>
              </a:rPr>
              <a:t>内部错误号用一个负的</a:t>
            </a:r>
            <a:r>
              <a:rPr lang="en-US" altLang="zh-CN" sz="1900">
                <a:solidFill>
                  <a:srgbClr val="000000"/>
                </a:solidFill>
                <a:latin typeface="+mn-lt"/>
                <a:ea typeface="华文仿宋" panose="02010600040101010101" pitchFamily="2" charset="-122"/>
              </a:rPr>
              <a:t>5</a:t>
            </a:r>
            <a:r>
              <a:rPr lang="zh-CN" altLang="en-US" sz="1900">
                <a:solidFill>
                  <a:srgbClr val="000000"/>
                </a:solidFill>
                <a:latin typeface="+mn-lt"/>
                <a:ea typeface="华文仿宋" panose="02010600040101010101" pitchFamily="2" charset="-122"/>
              </a:rPr>
              <a:t>位数表示，如</a:t>
            </a:r>
            <a:r>
              <a:rPr lang="en-US" altLang="zh-CN" sz="1900">
                <a:solidFill>
                  <a:srgbClr val="000000"/>
                </a:solidFill>
                <a:latin typeface="+mn-lt"/>
                <a:ea typeface="华文仿宋" panose="02010600040101010101" pitchFamily="2" charset="-122"/>
              </a:rPr>
              <a:t>-02292</a:t>
            </a:r>
            <a:r>
              <a:rPr lang="zh-CN" altLang="en-US" sz="1900">
                <a:solidFill>
                  <a:srgbClr val="000000"/>
                </a:solidFill>
                <a:latin typeface="+mn-lt"/>
                <a:ea typeface="华文仿宋" panose="02010600040101010101" pitchFamily="2" charset="-122"/>
              </a:rPr>
              <a:t>。其中</a:t>
            </a:r>
          </a:p>
          <a:p>
            <a:pPr lvl="1" eaLnBrk="1" hangingPunct="1">
              <a:lnSpc>
                <a:spcPct val="90000"/>
              </a:lnSpc>
              <a:buSzPct val="75000"/>
              <a:buFont typeface="Wingdings" panose="05000000000000000000" pitchFamily="2" charset="2"/>
              <a:buNone/>
            </a:pPr>
            <a:r>
              <a:rPr lang="zh-CN" altLang="en-US" sz="1900">
                <a:solidFill>
                  <a:srgbClr val="000000"/>
                </a:solidFill>
                <a:latin typeface="+mn-lt"/>
                <a:ea typeface="华文仿宋" panose="02010600040101010101" pitchFamily="2" charset="-122"/>
              </a:rPr>
              <a:t>   </a:t>
            </a:r>
            <a:r>
              <a:rPr lang="en-US" altLang="zh-CN" sz="1900">
                <a:solidFill>
                  <a:srgbClr val="000000"/>
                </a:solidFill>
                <a:latin typeface="+mn-lt"/>
                <a:ea typeface="华文仿宋" panose="02010600040101010101" pitchFamily="2" charset="-122"/>
              </a:rPr>
              <a:t>-20999</a:t>
            </a:r>
            <a:r>
              <a:rPr lang="zh-CN" altLang="en-US" sz="1900">
                <a:solidFill>
                  <a:srgbClr val="000000"/>
                </a:solidFill>
                <a:latin typeface="+mn-lt"/>
                <a:ea typeface="华文仿宋" panose="02010600040101010101" pitchFamily="2" charset="-122"/>
              </a:rPr>
              <a:t>～</a:t>
            </a:r>
            <a:r>
              <a:rPr lang="en-US" altLang="zh-CN" sz="1900">
                <a:solidFill>
                  <a:srgbClr val="000000"/>
                </a:solidFill>
                <a:latin typeface="+mn-lt"/>
                <a:ea typeface="华文仿宋" panose="02010600040101010101" pitchFamily="2" charset="-122"/>
              </a:rPr>
              <a:t>-20000</a:t>
            </a:r>
            <a:r>
              <a:rPr lang="zh-CN" altLang="en-US" sz="1900">
                <a:solidFill>
                  <a:srgbClr val="000000"/>
                </a:solidFill>
                <a:latin typeface="+mn-lt"/>
                <a:ea typeface="华文仿宋" panose="02010600040101010101" pitchFamily="2" charset="-122"/>
              </a:rPr>
              <a:t>为用户定义错误的保留号。</a:t>
            </a:r>
          </a:p>
        </p:txBody>
      </p:sp>
      <p:sp>
        <p:nvSpPr>
          <p:cNvPr id="111618"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107</a:t>
            </a:fld>
            <a:endParaRPr lang="en-US" altLang="zh-CN">
              <a:solidFill>
                <a:srgbClr val="898989"/>
              </a:solidFill>
              <a:ea typeface="宋体" panose="02010600030101010101" pitchFamily="2" charset="-122"/>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2643"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r>
              <a:rPr lang="zh-CN" altLang="en-US">
                <a:solidFill>
                  <a:srgbClr val="FFFFFF"/>
                </a:solidFill>
                <a:latin typeface="+mj-lt"/>
                <a:ea typeface="+mj-ea"/>
                <a:cs typeface="+mj-cs"/>
              </a:rPr>
              <a:t>（</a:t>
            </a:r>
            <a:r>
              <a:rPr lang="en-US" altLang="zh-CN">
                <a:solidFill>
                  <a:srgbClr val="FFFFFF"/>
                </a:solidFill>
                <a:latin typeface="+mj-lt"/>
                <a:ea typeface="+mj-ea"/>
                <a:cs typeface="+mj-cs"/>
              </a:rPr>
              <a:t>2</a:t>
            </a:r>
            <a:r>
              <a:rPr lang="zh-CN" altLang="en-US">
                <a:solidFill>
                  <a:srgbClr val="FFFFFF"/>
                </a:solidFill>
                <a:latin typeface="+mj-lt"/>
                <a:ea typeface="+mj-ea"/>
                <a:cs typeface="+mj-cs"/>
              </a:rPr>
              <a:t>）异常的抛出</a:t>
            </a:r>
          </a:p>
        </p:txBody>
      </p:sp>
      <p:sp>
        <p:nvSpPr>
          <p:cNvPr id="112644"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buSzPct val="75000"/>
            </a:pPr>
            <a:r>
              <a:rPr lang="zh-CN" altLang="en-US" sz="2000">
                <a:solidFill>
                  <a:srgbClr val="000000"/>
                </a:solidFill>
                <a:latin typeface="+mn-lt"/>
                <a:ea typeface="+mn-ea"/>
                <a:cs typeface="+mn-cs"/>
              </a:rPr>
              <a:t>由于系统可以自动识别</a:t>
            </a:r>
            <a:r>
              <a:rPr lang="en-US" altLang="zh-CN" sz="2000">
                <a:solidFill>
                  <a:srgbClr val="000000"/>
                </a:solidFill>
                <a:latin typeface="+mn-lt"/>
                <a:ea typeface="+mn-ea"/>
                <a:cs typeface="+mn-cs"/>
              </a:rPr>
              <a:t>Oracle</a:t>
            </a:r>
            <a:r>
              <a:rPr lang="zh-CN" altLang="en-US" sz="2000">
                <a:solidFill>
                  <a:srgbClr val="000000"/>
                </a:solidFill>
                <a:latin typeface="+mn-lt"/>
                <a:ea typeface="+mn-ea"/>
                <a:cs typeface="+mn-cs"/>
              </a:rPr>
              <a:t>内部错误，因此当错误产生时系统会自动抛出与之对应的预定义异常或非预定义异常。但是，系统无法识别用户定义错误，因此当用户定义错误产生时，需要用户手动抛出与之对应的异常。</a:t>
            </a:r>
          </a:p>
          <a:p>
            <a:pPr eaLnBrk="1" hangingPunct="1">
              <a:buSzPct val="75000"/>
            </a:pPr>
            <a:r>
              <a:rPr lang="zh-CN" altLang="en-US" sz="2000">
                <a:solidFill>
                  <a:srgbClr val="000000"/>
                </a:solidFill>
                <a:latin typeface="+mn-lt"/>
                <a:ea typeface="+mn-ea"/>
                <a:cs typeface="+mn-cs"/>
              </a:rPr>
              <a:t>用户定义异常的抛出语法为</a:t>
            </a:r>
          </a:p>
          <a:p>
            <a:pPr lvl="1" eaLnBrk="1" hangingPunct="1">
              <a:buSzPct val="75000"/>
            </a:pPr>
            <a:r>
              <a:rPr lang="en-US" altLang="zh-CN" sz="2000">
                <a:solidFill>
                  <a:srgbClr val="000000"/>
                </a:solidFill>
                <a:latin typeface="+mn-lt"/>
                <a:ea typeface="华文仿宋" panose="02010600040101010101" pitchFamily="2" charset="-122"/>
              </a:rPr>
              <a:t>RAISE user_define_exception</a:t>
            </a:r>
            <a:r>
              <a:rPr lang="zh-CN" altLang="en-GB" sz="2000">
                <a:solidFill>
                  <a:srgbClr val="000000"/>
                </a:solidFill>
                <a:latin typeface="+mn-lt"/>
                <a:ea typeface="华文仿宋" panose="02010600040101010101" pitchFamily="2" charset="-122"/>
              </a:rPr>
              <a:t>； </a:t>
            </a:r>
            <a:endParaRPr lang="zh-CN" altLang="en-US" sz="2000">
              <a:solidFill>
                <a:srgbClr val="000000"/>
              </a:solidFill>
              <a:latin typeface="+mn-lt"/>
              <a:ea typeface="华文仿宋" panose="02010600040101010101" pitchFamily="2" charset="-122"/>
            </a:endParaRPr>
          </a:p>
        </p:txBody>
      </p:sp>
      <p:sp>
        <p:nvSpPr>
          <p:cNvPr id="112642"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108</a:t>
            </a:fld>
            <a:endParaRPr lang="en-US" altLang="zh-CN">
              <a:solidFill>
                <a:srgbClr val="898989"/>
              </a:solidFill>
              <a:ea typeface="宋体" panose="02010600030101010101" pitchFamily="2" charset="-122"/>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3667"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r>
              <a:rPr lang="zh-CN" altLang="en-US">
                <a:solidFill>
                  <a:srgbClr val="FFFFFF"/>
                </a:solidFill>
                <a:latin typeface="+mj-lt"/>
                <a:ea typeface="+mj-ea"/>
                <a:cs typeface="+mj-cs"/>
              </a:rPr>
              <a:t>（</a:t>
            </a:r>
            <a:r>
              <a:rPr lang="en-US" altLang="zh-CN">
                <a:solidFill>
                  <a:srgbClr val="FFFFFF"/>
                </a:solidFill>
                <a:latin typeface="+mj-lt"/>
                <a:ea typeface="+mj-ea"/>
                <a:cs typeface="+mj-cs"/>
              </a:rPr>
              <a:t>3</a:t>
            </a:r>
            <a:r>
              <a:rPr lang="zh-CN" altLang="en-US">
                <a:solidFill>
                  <a:srgbClr val="FFFFFF"/>
                </a:solidFill>
                <a:latin typeface="+mj-lt"/>
                <a:ea typeface="+mj-ea"/>
                <a:cs typeface="+mj-cs"/>
              </a:rPr>
              <a:t>）异常的捕获与处理</a:t>
            </a:r>
          </a:p>
        </p:txBody>
      </p:sp>
      <p:sp>
        <p:nvSpPr>
          <p:cNvPr id="113668"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lnSpc>
                <a:spcPct val="90000"/>
              </a:lnSpc>
              <a:buSzPct val="75000"/>
            </a:pPr>
            <a:r>
              <a:rPr lang="zh-CN" altLang="en-US" sz="1100">
                <a:solidFill>
                  <a:srgbClr val="000000"/>
                </a:solidFill>
                <a:latin typeface="+mn-lt"/>
                <a:ea typeface="+mn-ea"/>
                <a:cs typeface="+mn-cs"/>
              </a:rPr>
              <a:t>异常处理器的基本形式为</a:t>
            </a:r>
          </a:p>
          <a:p>
            <a:pPr lvl="1" eaLnBrk="1" hangingPunct="1">
              <a:lnSpc>
                <a:spcPct val="90000"/>
              </a:lnSpc>
              <a:buSzPct val="75000"/>
            </a:pPr>
            <a:r>
              <a:rPr lang="en-US" altLang="zh-CN" sz="1100">
                <a:solidFill>
                  <a:srgbClr val="000000"/>
                </a:solidFill>
                <a:latin typeface="+mn-lt"/>
                <a:ea typeface="华文仿宋" panose="02010600040101010101" pitchFamily="2" charset="-122"/>
              </a:rPr>
              <a:t>EXCEPTION</a:t>
            </a:r>
          </a:p>
          <a:p>
            <a:pPr lvl="1" eaLnBrk="1" hangingPunct="1">
              <a:lnSpc>
                <a:spcPct val="90000"/>
              </a:lnSpc>
              <a:buSzPct val="75000"/>
            </a:pPr>
            <a:r>
              <a:rPr lang="en-US" altLang="zh-CN" sz="1100">
                <a:solidFill>
                  <a:srgbClr val="000000"/>
                </a:solidFill>
                <a:latin typeface="+mn-lt"/>
                <a:ea typeface="华文仿宋" panose="02010600040101010101" pitchFamily="2" charset="-122"/>
              </a:rPr>
              <a:t>WHEN exception1[OR excetpion2</a:t>
            </a:r>
            <a:r>
              <a:rPr lang="en-GB" altLang="zh-CN" sz="1100">
                <a:solidFill>
                  <a:srgbClr val="000000"/>
                </a:solidFill>
                <a:latin typeface="华文仿宋" panose="02010600040101010101" pitchFamily="2" charset="-122"/>
                <a:ea typeface="华文仿宋" panose="02010600040101010101" pitchFamily="2" charset="-122"/>
              </a:rPr>
              <a:t>…</a:t>
            </a:r>
            <a:r>
              <a:rPr lang="en-US" altLang="zh-CN" sz="1100">
                <a:solidFill>
                  <a:srgbClr val="000000"/>
                </a:solidFill>
                <a:latin typeface="+mn-lt"/>
                <a:ea typeface="华文仿宋" panose="02010600040101010101" pitchFamily="2" charset="-122"/>
              </a:rPr>
              <a:t>]THEN </a:t>
            </a:r>
          </a:p>
          <a:p>
            <a:pPr lvl="1" eaLnBrk="1" hangingPunct="1">
              <a:lnSpc>
                <a:spcPct val="90000"/>
              </a:lnSpc>
              <a:buSzPct val="75000"/>
            </a:pPr>
            <a:r>
              <a:rPr lang="en-US" altLang="zh-CN" sz="1100">
                <a:solidFill>
                  <a:srgbClr val="000000"/>
                </a:solidFill>
                <a:latin typeface="+mn-lt"/>
                <a:ea typeface="华文仿宋" panose="02010600040101010101" pitchFamily="2" charset="-122"/>
              </a:rPr>
              <a:t>   sequence_of_statements1;</a:t>
            </a:r>
          </a:p>
          <a:p>
            <a:pPr lvl="1" eaLnBrk="1" hangingPunct="1">
              <a:lnSpc>
                <a:spcPct val="90000"/>
              </a:lnSpc>
              <a:buSzPct val="75000"/>
            </a:pPr>
            <a:r>
              <a:rPr lang="en-US" altLang="zh-CN" sz="1100">
                <a:solidFill>
                  <a:srgbClr val="000000"/>
                </a:solidFill>
                <a:latin typeface="+mn-lt"/>
                <a:ea typeface="华文仿宋" panose="02010600040101010101" pitchFamily="2" charset="-122"/>
              </a:rPr>
              <a:t>WHEN exception3[OR exception4</a:t>
            </a:r>
            <a:r>
              <a:rPr lang="en-GB" altLang="zh-CN" sz="1100">
                <a:solidFill>
                  <a:srgbClr val="000000"/>
                </a:solidFill>
                <a:latin typeface="华文仿宋" panose="02010600040101010101" pitchFamily="2" charset="-122"/>
                <a:ea typeface="华文仿宋" panose="02010600040101010101" pitchFamily="2" charset="-122"/>
              </a:rPr>
              <a:t>…</a:t>
            </a:r>
            <a:r>
              <a:rPr lang="en-US" altLang="zh-CN" sz="1100">
                <a:solidFill>
                  <a:srgbClr val="000000"/>
                </a:solidFill>
                <a:latin typeface="+mn-lt"/>
                <a:ea typeface="华文仿宋" panose="02010600040101010101" pitchFamily="2" charset="-122"/>
              </a:rPr>
              <a:t>]THEN </a:t>
            </a:r>
          </a:p>
          <a:p>
            <a:pPr lvl="1" eaLnBrk="1" hangingPunct="1">
              <a:lnSpc>
                <a:spcPct val="90000"/>
              </a:lnSpc>
              <a:buSzPct val="75000"/>
            </a:pPr>
            <a:r>
              <a:rPr lang="en-US" altLang="zh-CN" sz="1100">
                <a:solidFill>
                  <a:srgbClr val="000000"/>
                </a:solidFill>
                <a:latin typeface="+mn-lt"/>
                <a:ea typeface="华文仿宋" panose="02010600040101010101" pitchFamily="2" charset="-122"/>
              </a:rPr>
              <a:t>   sequence_of_statements2;</a:t>
            </a:r>
            <a:endParaRPr lang="en-GB" altLang="zh-CN" sz="1100">
              <a:solidFill>
                <a:srgbClr val="000000"/>
              </a:solidFill>
              <a:latin typeface="+mn-lt"/>
              <a:ea typeface="华文仿宋" panose="02010600040101010101" pitchFamily="2" charset="-122"/>
            </a:endParaRPr>
          </a:p>
          <a:p>
            <a:pPr lvl="1" eaLnBrk="1" hangingPunct="1">
              <a:lnSpc>
                <a:spcPct val="90000"/>
              </a:lnSpc>
              <a:buSzPct val="75000"/>
            </a:pPr>
            <a:r>
              <a:rPr lang="en-GB" altLang="zh-CN" sz="1100">
                <a:solidFill>
                  <a:srgbClr val="000000"/>
                </a:solidFill>
                <a:latin typeface="华文仿宋" panose="02010600040101010101" pitchFamily="2" charset="-122"/>
                <a:ea typeface="华文仿宋" panose="02010600040101010101" pitchFamily="2" charset="-122"/>
              </a:rPr>
              <a:t>……</a:t>
            </a:r>
            <a:endParaRPr lang="en-US" altLang="zh-CN" sz="1100">
              <a:solidFill>
                <a:srgbClr val="000000"/>
              </a:solidFill>
              <a:latin typeface="+mn-lt"/>
              <a:ea typeface="华文仿宋" panose="02010600040101010101" pitchFamily="2" charset="-122"/>
            </a:endParaRPr>
          </a:p>
          <a:p>
            <a:pPr lvl="1" eaLnBrk="1" hangingPunct="1">
              <a:lnSpc>
                <a:spcPct val="90000"/>
              </a:lnSpc>
              <a:buSzPct val="75000"/>
            </a:pPr>
            <a:r>
              <a:rPr lang="en-US" altLang="zh-CN" sz="1100">
                <a:solidFill>
                  <a:srgbClr val="000000"/>
                </a:solidFill>
                <a:latin typeface="+mn-lt"/>
                <a:ea typeface="华文仿宋" panose="02010600040101010101" pitchFamily="2" charset="-122"/>
              </a:rPr>
              <a:t>WHEN OTHERS THEN </a:t>
            </a:r>
          </a:p>
          <a:p>
            <a:pPr lvl="1" eaLnBrk="1" hangingPunct="1">
              <a:lnSpc>
                <a:spcPct val="90000"/>
              </a:lnSpc>
              <a:buSzPct val="75000"/>
            </a:pPr>
            <a:r>
              <a:rPr lang="en-US" altLang="zh-CN" sz="1100">
                <a:solidFill>
                  <a:srgbClr val="000000"/>
                </a:solidFill>
                <a:latin typeface="+mn-lt"/>
                <a:ea typeface="华文仿宋" panose="02010600040101010101" pitchFamily="2" charset="-122"/>
              </a:rPr>
              <a:t>   sequence_of_statementsn;</a:t>
            </a:r>
          </a:p>
          <a:p>
            <a:pPr lvl="1" eaLnBrk="1" hangingPunct="1">
              <a:lnSpc>
                <a:spcPct val="90000"/>
              </a:lnSpc>
              <a:buSzPct val="75000"/>
            </a:pPr>
            <a:r>
              <a:rPr lang="en-US" altLang="zh-CN" sz="1100">
                <a:solidFill>
                  <a:srgbClr val="000000"/>
                </a:solidFill>
                <a:latin typeface="+mn-lt"/>
                <a:ea typeface="华文仿宋" panose="02010600040101010101" pitchFamily="2" charset="-122"/>
              </a:rPr>
              <a:t>END;</a:t>
            </a:r>
          </a:p>
          <a:p>
            <a:pPr eaLnBrk="1" hangingPunct="1">
              <a:lnSpc>
                <a:spcPct val="90000"/>
              </a:lnSpc>
              <a:buSzPct val="75000"/>
            </a:pPr>
            <a:r>
              <a:rPr lang="zh-CN" altLang="en-US" sz="1100">
                <a:solidFill>
                  <a:srgbClr val="000000"/>
                </a:solidFill>
                <a:latin typeface="+mn-lt"/>
                <a:ea typeface="+mn-ea"/>
                <a:cs typeface="+mn-cs"/>
              </a:rPr>
              <a:t>注意</a:t>
            </a:r>
            <a:r>
              <a:rPr lang="zh-CN" altLang="en-GB" sz="1100">
                <a:solidFill>
                  <a:srgbClr val="000000"/>
                </a:solidFill>
                <a:latin typeface="+mn-lt"/>
                <a:ea typeface="+mn-ea"/>
                <a:cs typeface="+mn-cs"/>
              </a:rPr>
              <a:t>：</a:t>
            </a:r>
          </a:p>
          <a:p>
            <a:pPr lvl="1" eaLnBrk="1" hangingPunct="1">
              <a:lnSpc>
                <a:spcPct val="90000"/>
              </a:lnSpc>
              <a:buSzPct val="75000"/>
            </a:pPr>
            <a:r>
              <a:rPr lang="zh-CN" altLang="en-GB" sz="1100">
                <a:solidFill>
                  <a:srgbClr val="000000"/>
                </a:solidFill>
                <a:latin typeface="+mn-lt"/>
                <a:ea typeface="华文仿宋" panose="02010600040101010101" pitchFamily="2" charset="-122"/>
              </a:rPr>
              <a:t>一个异常处理器可以捕获多个异常，只需在</a:t>
            </a:r>
            <a:r>
              <a:rPr lang="en-US" altLang="zh-CN" sz="1100">
                <a:solidFill>
                  <a:srgbClr val="000000"/>
                </a:solidFill>
                <a:latin typeface="+mn-lt"/>
                <a:ea typeface="华文仿宋" panose="02010600040101010101" pitchFamily="2" charset="-122"/>
              </a:rPr>
              <a:t>WHEN</a:t>
            </a:r>
            <a:r>
              <a:rPr lang="zh-CN" altLang="en-US" sz="1100">
                <a:solidFill>
                  <a:srgbClr val="000000"/>
                </a:solidFill>
                <a:latin typeface="+mn-lt"/>
                <a:ea typeface="华文仿宋" panose="02010600040101010101" pitchFamily="2" charset="-122"/>
              </a:rPr>
              <a:t>子句中用</a:t>
            </a:r>
          </a:p>
          <a:p>
            <a:pPr lvl="1" eaLnBrk="1" hangingPunct="1">
              <a:lnSpc>
                <a:spcPct val="90000"/>
              </a:lnSpc>
              <a:buSzPct val="75000"/>
              <a:buFont typeface="Wingdings" panose="05000000000000000000" pitchFamily="2" charset="2"/>
              <a:buNone/>
            </a:pPr>
            <a:r>
              <a:rPr lang="zh-CN" altLang="en-US" sz="1100">
                <a:solidFill>
                  <a:srgbClr val="000000"/>
                </a:solidFill>
                <a:latin typeface="+mn-lt"/>
                <a:ea typeface="华文仿宋" panose="02010600040101010101" pitchFamily="2" charset="-122"/>
              </a:rPr>
              <a:t>    </a:t>
            </a:r>
            <a:r>
              <a:rPr lang="en-US" altLang="zh-CN" sz="1100">
                <a:solidFill>
                  <a:srgbClr val="000000"/>
                </a:solidFill>
                <a:latin typeface="+mn-lt"/>
                <a:ea typeface="华文仿宋" panose="02010600040101010101" pitchFamily="2" charset="-122"/>
              </a:rPr>
              <a:t>OR</a:t>
            </a:r>
            <a:r>
              <a:rPr lang="zh-CN" altLang="en-US" sz="1100">
                <a:solidFill>
                  <a:srgbClr val="000000"/>
                </a:solidFill>
                <a:latin typeface="+mn-lt"/>
                <a:ea typeface="华文仿宋" panose="02010600040101010101" pitchFamily="2" charset="-122"/>
              </a:rPr>
              <a:t>连接即可；</a:t>
            </a:r>
          </a:p>
          <a:p>
            <a:pPr lvl="1" eaLnBrk="1" hangingPunct="1">
              <a:lnSpc>
                <a:spcPct val="90000"/>
              </a:lnSpc>
              <a:buSzPct val="75000"/>
            </a:pPr>
            <a:r>
              <a:rPr lang="zh-CN" altLang="en-US" sz="1100">
                <a:solidFill>
                  <a:srgbClr val="000000"/>
                </a:solidFill>
                <a:latin typeface="+mn-lt"/>
                <a:ea typeface="华文仿宋" panose="02010600040101010101" pitchFamily="2" charset="-122"/>
              </a:rPr>
              <a:t>一个异常只能被一个异常处理器捕获，并进行处理。 </a:t>
            </a:r>
          </a:p>
        </p:txBody>
      </p:sp>
      <p:sp>
        <p:nvSpPr>
          <p:cNvPr id="113666"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109</a:t>
            </a:fld>
            <a:endParaRPr lang="en-US" altLang="zh-CN">
              <a:solidFill>
                <a:srgbClr val="898989"/>
              </a:solidFill>
              <a:ea typeface="宋体" panose="02010600030101010101" pitchFamily="2" charset="-122"/>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6" name="Picture 75">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4691" name="Rectangle 3"/>
          <p:cNvSpPr>
            <a:spLocks noGrp="1"/>
          </p:cNvSpPr>
          <p:nvPr>
            <p:ph idx="1"/>
          </p:nvPr>
        </p:nvSpPr>
        <p:spPr>
          <a:xfrm>
            <a:off x="6090574" y="801866"/>
            <a:ext cx="5306084" cy="5230634"/>
          </a:xfrm>
        </p:spPr>
        <p:txBody>
          <a:bodyPr vert="horz" lIns="121920" tIns="60960" rIns="121920" bIns="60960" anchor="ctr">
            <a:normAutofit/>
          </a:bodyPr>
          <a:lstStyle/>
          <a:p>
            <a:pPr eaLnBrk="1" hangingPunct="1">
              <a:lnSpc>
                <a:spcPct val="90000"/>
              </a:lnSpc>
              <a:buSzPct val="75000"/>
            </a:pPr>
            <a:r>
              <a:rPr lang="zh-CN" altLang="en-US" sz="1300">
                <a:solidFill>
                  <a:srgbClr val="000000"/>
                </a:solidFill>
                <a:latin typeface="+mn-lt"/>
                <a:ea typeface="+mn-ea"/>
                <a:cs typeface="+mn-cs"/>
              </a:rPr>
              <a:t>查询名为</a:t>
            </a:r>
            <a:r>
              <a:rPr lang="en-US" altLang="zh-CN" sz="1300">
                <a:solidFill>
                  <a:srgbClr val="000000"/>
                </a:solidFill>
                <a:latin typeface="+mn-lt"/>
                <a:ea typeface="+mn-ea"/>
                <a:cs typeface="+mn-cs"/>
              </a:rPr>
              <a:t>SMITH</a:t>
            </a:r>
            <a:r>
              <a:rPr lang="zh-CN" altLang="en-US" sz="1300">
                <a:solidFill>
                  <a:srgbClr val="000000"/>
                </a:solidFill>
                <a:latin typeface="+mn-lt"/>
                <a:ea typeface="+mn-ea"/>
                <a:cs typeface="+mn-cs"/>
              </a:rPr>
              <a:t>的员工工资，如果该员工不存在，则输出</a:t>
            </a:r>
            <a:r>
              <a:rPr lang="zh-CN" altLang="en-US" sz="1300">
                <a:solidFill>
                  <a:srgbClr val="000000"/>
                </a:solidFill>
                <a:latin typeface="Arial" panose="020B0604020202020204" pitchFamily="34" charset="0"/>
                <a:ea typeface="+mn-ea"/>
                <a:cs typeface="+mn-cs"/>
              </a:rPr>
              <a:t>“</a:t>
            </a:r>
            <a:r>
              <a:rPr lang="en-US" altLang="zh-CN" sz="1300">
                <a:solidFill>
                  <a:srgbClr val="000000"/>
                </a:solidFill>
                <a:latin typeface="+mn-lt"/>
                <a:ea typeface="+mn-ea"/>
                <a:cs typeface="+mn-cs"/>
              </a:rPr>
              <a:t>There is not such an employee!</a:t>
            </a:r>
            <a:r>
              <a:rPr lang="en-US" altLang="zh-CN" sz="1300">
                <a:solidFill>
                  <a:srgbClr val="000000"/>
                </a:solidFill>
                <a:latin typeface="Arial" panose="020B0604020202020204" pitchFamily="34" charset="0"/>
                <a:ea typeface="+mn-ea"/>
                <a:cs typeface="+mn-cs"/>
              </a:rPr>
              <a:t>”</a:t>
            </a:r>
            <a:r>
              <a:rPr lang="zh-CN" altLang="en-US" sz="1300">
                <a:solidFill>
                  <a:srgbClr val="000000"/>
                </a:solidFill>
                <a:latin typeface="+mn-lt"/>
                <a:ea typeface="+mn-ea"/>
                <a:cs typeface="+mn-cs"/>
              </a:rPr>
              <a:t>；如果存在多个同名的员工，则输出其员工号和工资。</a:t>
            </a:r>
          </a:p>
          <a:p>
            <a:pPr eaLnBrk="1" hangingPunct="1">
              <a:lnSpc>
                <a:spcPct val="90000"/>
              </a:lnSpc>
              <a:buSzPct val="75000"/>
            </a:pPr>
            <a:r>
              <a:rPr lang="en-US" altLang="zh-CN" sz="1300">
                <a:solidFill>
                  <a:srgbClr val="000000"/>
                </a:solidFill>
                <a:latin typeface="+mn-lt"/>
                <a:ea typeface="+mn-ea"/>
                <a:cs typeface="+mn-cs"/>
              </a:rPr>
              <a:t>DECLARE</a:t>
            </a:r>
          </a:p>
          <a:p>
            <a:pPr eaLnBrk="1" hangingPunct="1">
              <a:lnSpc>
                <a:spcPct val="90000"/>
              </a:lnSpc>
              <a:buSzPct val="75000"/>
            </a:pPr>
            <a:r>
              <a:rPr lang="en-US" altLang="zh-CN" sz="1300">
                <a:solidFill>
                  <a:srgbClr val="000000"/>
                </a:solidFill>
                <a:latin typeface="+mn-lt"/>
                <a:ea typeface="+mn-ea"/>
                <a:cs typeface="+mn-cs"/>
              </a:rPr>
              <a:t>  v_sal employees.salary%type;</a:t>
            </a:r>
          </a:p>
          <a:p>
            <a:pPr eaLnBrk="1" hangingPunct="1">
              <a:lnSpc>
                <a:spcPct val="90000"/>
              </a:lnSpc>
              <a:buSzPct val="75000"/>
            </a:pPr>
            <a:r>
              <a:rPr lang="en-US" altLang="zh-CN" sz="1300">
                <a:solidFill>
                  <a:srgbClr val="000000"/>
                </a:solidFill>
                <a:latin typeface="+mn-lt"/>
                <a:ea typeface="+mn-ea"/>
                <a:cs typeface="+mn-cs"/>
              </a:rPr>
              <a:t>BEGIN</a:t>
            </a:r>
          </a:p>
          <a:p>
            <a:pPr eaLnBrk="1" hangingPunct="1">
              <a:lnSpc>
                <a:spcPct val="90000"/>
              </a:lnSpc>
              <a:buSzPct val="75000"/>
            </a:pPr>
            <a:r>
              <a:rPr lang="en-US" altLang="zh-CN" sz="1300">
                <a:solidFill>
                  <a:srgbClr val="000000"/>
                </a:solidFill>
                <a:latin typeface="+mn-lt"/>
                <a:ea typeface="+mn-ea"/>
                <a:cs typeface="+mn-cs"/>
              </a:rPr>
              <a:t>  SELECT salary INTO v_sal FROM employees </a:t>
            </a:r>
          </a:p>
          <a:p>
            <a:pPr eaLnBrk="1" hangingPunct="1">
              <a:lnSpc>
                <a:spcPct val="90000"/>
              </a:lnSpc>
              <a:buSzPct val="75000"/>
            </a:pPr>
            <a:r>
              <a:rPr lang="en-US" altLang="zh-CN" sz="1300">
                <a:solidFill>
                  <a:srgbClr val="000000"/>
                </a:solidFill>
                <a:latin typeface="+mn-lt"/>
                <a:ea typeface="+mn-ea"/>
                <a:cs typeface="+mn-cs"/>
              </a:rPr>
              <a:t>  WHERE last_name='Smith';</a:t>
            </a:r>
          </a:p>
          <a:p>
            <a:pPr eaLnBrk="1" hangingPunct="1">
              <a:lnSpc>
                <a:spcPct val="90000"/>
              </a:lnSpc>
              <a:buSzPct val="75000"/>
            </a:pPr>
            <a:r>
              <a:rPr lang="en-US" altLang="zh-CN" sz="1300">
                <a:solidFill>
                  <a:srgbClr val="000000"/>
                </a:solidFill>
                <a:latin typeface="+mn-lt"/>
                <a:ea typeface="+mn-ea"/>
                <a:cs typeface="+mn-cs"/>
              </a:rPr>
              <a:t>  DBMS_OUTPUT.PUT_LINE(v_sal);</a:t>
            </a:r>
          </a:p>
          <a:p>
            <a:pPr eaLnBrk="1" hangingPunct="1">
              <a:lnSpc>
                <a:spcPct val="90000"/>
              </a:lnSpc>
              <a:buSzPct val="75000"/>
            </a:pPr>
            <a:r>
              <a:rPr lang="en-US" altLang="zh-CN" sz="1300">
                <a:solidFill>
                  <a:srgbClr val="000000"/>
                </a:solidFill>
                <a:latin typeface="+mn-lt"/>
                <a:ea typeface="+mn-ea"/>
                <a:cs typeface="+mn-cs"/>
              </a:rPr>
              <a:t>EXCEPTION</a:t>
            </a:r>
          </a:p>
          <a:p>
            <a:pPr eaLnBrk="1" hangingPunct="1">
              <a:lnSpc>
                <a:spcPct val="90000"/>
              </a:lnSpc>
              <a:buSzPct val="75000"/>
            </a:pPr>
            <a:r>
              <a:rPr lang="en-US" altLang="zh-CN" sz="1300">
                <a:solidFill>
                  <a:srgbClr val="000000"/>
                </a:solidFill>
                <a:latin typeface="+mn-lt"/>
                <a:ea typeface="+mn-ea"/>
                <a:cs typeface="+mn-cs"/>
              </a:rPr>
              <a:t>  WHEN NO_DATA_FOUND THEN </a:t>
            </a:r>
          </a:p>
          <a:p>
            <a:pPr eaLnBrk="1" hangingPunct="1">
              <a:lnSpc>
                <a:spcPct val="90000"/>
              </a:lnSpc>
              <a:buSzPct val="75000"/>
            </a:pPr>
            <a:r>
              <a:rPr lang="en-US" altLang="zh-CN" sz="1300">
                <a:solidFill>
                  <a:srgbClr val="000000"/>
                </a:solidFill>
                <a:latin typeface="+mn-lt"/>
                <a:ea typeface="+mn-ea"/>
                <a:cs typeface="+mn-cs"/>
              </a:rPr>
              <a:t>    DBMS_OUTPUT.PUT_LINE('There is not such an emplyee! ');</a:t>
            </a:r>
          </a:p>
          <a:p>
            <a:pPr eaLnBrk="1" hangingPunct="1">
              <a:lnSpc>
                <a:spcPct val="90000"/>
              </a:lnSpc>
              <a:buSzPct val="75000"/>
            </a:pPr>
            <a:r>
              <a:rPr lang="en-US" altLang="zh-CN" sz="1300">
                <a:solidFill>
                  <a:srgbClr val="000000"/>
                </a:solidFill>
                <a:latin typeface="+mn-lt"/>
                <a:ea typeface="+mn-ea"/>
                <a:cs typeface="+mn-cs"/>
              </a:rPr>
              <a:t>  WHEN TOO_MANY_ROWS THEN</a:t>
            </a:r>
          </a:p>
          <a:p>
            <a:pPr eaLnBrk="1" hangingPunct="1">
              <a:lnSpc>
                <a:spcPct val="90000"/>
              </a:lnSpc>
              <a:buSzPct val="75000"/>
            </a:pPr>
            <a:r>
              <a:rPr lang="en-US" altLang="zh-CN" sz="1300">
                <a:solidFill>
                  <a:srgbClr val="000000"/>
                </a:solidFill>
                <a:latin typeface="+mn-lt"/>
                <a:ea typeface="+mn-ea"/>
                <a:cs typeface="+mn-cs"/>
              </a:rPr>
              <a:t>    FOR v_emp IN (SELECT * FROM employees </a:t>
            </a:r>
          </a:p>
          <a:p>
            <a:pPr eaLnBrk="1" hangingPunct="1">
              <a:lnSpc>
                <a:spcPct val="90000"/>
              </a:lnSpc>
              <a:buSzPct val="75000"/>
            </a:pPr>
            <a:r>
              <a:rPr lang="en-US" altLang="zh-CN" sz="1300">
                <a:solidFill>
                  <a:srgbClr val="000000"/>
                </a:solidFill>
                <a:latin typeface="+mn-lt"/>
                <a:ea typeface="+mn-ea"/>
                <a:cs typeface="+mn-cs"/>
              </a:rPr>
              <a:t>             WHERE last_name='Smith') LOOP</a:t>
            </a:r>
          </a:p>
          <a:p>
            <a:pPr eaLnBrk="1" hangingPunct="1">
              <a:lnSpc>
                <a:spcPct val="90000"/>
              </a:lnSpc>
              <a:buSzPct val="75000"/>
            </a:pPr>
            <a:r>
              <a:rPr lang="en-US" altLang="zh-CN" sz="1300">
                <a:solidFill>
                  <a:srgbClr val="000000"/>
                </a:solidFill>
                <a:latin typeface="+mn-lt"/>
                <a:ea typeface="+mn-ea"/>
                <a:cs typeface="+mn-cs"/>
              </a:rPr>
              <a:t>       DBMS_OUTPUT.PUT_LINE(v_emp.employee_id||''||</a:t>
            </a:r>
          </a:p>
          <a:p>
            <a:pPr eaLnBrk="1" hangingPunct="1">
              <a:lnSpc>
                <a:spcPct val="90000"/>
              </a:lnSpc>
              <a:buSzPct val="75000"/>
            </a:pPr>
            <a:r>
              <a:rPr lang="en-US" altLang="zh-CN" sz="1300">
                <a:solidFill>
                  <a:srgbClr val="000000"/>
                </a:solidFill>
                <a:latin typeface="+mn-lt"/>
                <a:ea typeface="+mn-ea"/>
                <a:cs typeface="+mn-cs"/>
              </a:rPr>
              <a:t>  v_emp.first_name||''|| v_emp.last_name||' '||v_emp.salary);</a:t>
            </a:r>
          </a:p>
          <a:p>
            <a:pPr eaLnBrk="1" hangingPunct="1">
              <a:lnSpc>
                <a:spcPct val="90000"/>
              </a:lnSpc>
              <a:buSzPct val="75000"/>
            </a:pPr>
            <a:r>
              <a:rPr lang="en-US" altLang="zh-CN" sz="1300">
                <a:solidFill>
                  <a:srgbClr val="000000"/>
                </a:solidFill>
                <a:latin typeface="+mn-lt"/>
                <a:ea typeface="+mn-ea"/>
                <a:cs typeface="+mn-cs"/>
              </a:rPr>
              <a:t>    END LOOP;</a:t>
            </a:r>
          </a:p>
          <a:p>
            <a:pPr eaLnBrk="1" hangingPunct="1">
              <a:lnSpc>
                <a:spcPct val="90000"/>
              </a:lnSpc>
              <a:buSzPct val="75000"/>
            </a:pPr>
            <a:r>
              <a:rPr lang="en-US" altLang="zh-CN" sz="1300">
                <a:solidFill>
                  <a:srgbClr val="000000"/>
                </a:solidFill>
                <a:latin typeface="+mn-lt"/>
                <a:ea typeface="+mn-ea"/>
                <a:cs typeface="+mn-cs"/>
              </a:rPr>
              <a:t>END;</a:t>
            </a:r>
          </a:p>
        </p:txBody>
      </p:sp>
      <p:sp>
        <p:nvSpPr>
          <p:cNvPr id="114690"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110</a:t>
            </a:fld>
            <a:endParaRPr lang="en-US" altLang="zh-CN">
              <a:solidFill>
                <a:srgbClr val="898989"/>
              </a:solidFill>
              <a:ea typeface="宋体" panose="02010600030101010101" pitchFamily="2" charset="-122"/>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6" name="Picture 75">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5715" name="Rectangle 3"/>
          <p:cNvSpPr>
            <a:spLocks noGrp="1"/>
          </p:cNvSpPr>
          <p:nvPr>
            <p:ph idx="1"/>
          </p:nvPr>
        </p:nvSpPr>
        <p:spPr>
          <a:xfrm>
            <a:off x="6090574" y="801866"/>
            <a:ext cx="5306084" cy="5230634"/>
          </a:xfrm>
        </p:spPr>
        <p:txBody>
          <a:bodyPr vert="horz" lIns="121920" tIns="60960" rIns="121920" bIns="60960" anchor="ctr">
            <a:normAutofit/>
          </a:bodyPr>
          <a:lstStyle/>
          <a:p>
            <a:pPr eaLnBrk="1" hangingPunct="1">
              <a:lnSpc>
                <a:spcPct val="90000"/>
              </a:lnSpc>
              <a:buSzPct val="75000"/>
            </a:pPr>
            <a:r>
              <a:rPr lang="zh-CN" altLang="en-US" sz="1900">
                <a:solidFill>
                  <a:srgbClr val="000000"/>
                </a:solidFill>
                <a:latin typeface="+mn-lt"/>
                <a:ea typeface="+mn-ea"/>
                <a:cs typeface="+mn-cs"/>
              </a:rPr>
              <a:t>删除</a:t>
            </a:r>
            <a:r>
              <a:rPr lang="en-US" altLang="zh-CN" sz="1900">
                <a:solidFill>
                  <a:srgbClr val="000000"/>
                </a:solidFill>
                <a:latin typeface="+mn-lt"/>
                <a:ea typeface="+mn-ea"/>
                <a:cs typeface="+mn-cs"/>
              </a:rPr>
              <a:t>dept</a:t>
            </a:r>
            <a:r>
              <a:rPr lang="zh-CN" altLang="en-US" sz="1900">
                <a:solidFill>
                  <a:srgbClr val="000000"/>
                </a:solidFill>
                <a:latin typeface="+mn-lt"/>
                <a:ea typeface="+mn-ea"/>
                <a:cs typeface="+mn-cs"/>
              </a:rPr>
              <a:t>表中部门号为</a:t>
            </a:r>
            <a:r>
              <a:rPr lang="en-US" altLang="zh-CN" sz="1900">
                <a:solidFill>
                  <a:srgbClr val="000000"/>
                </a:solidFill>
                <a:latin typeface="+mn-lt"/>
                <a:ea typeface="+mn-ea"/>
                <a:cs typeface="+mn-cs"/>
              </a:rPr>
              <a:t>50</a:t>
            </a:r>
            <a:r>
              <a:rPr lang="zh-CN" altLang="en-US" sz="1900">
                <a:solidFill>
                  <a:srgbClr val="000000"/>
                </a:solidFill>
                <a:latin typeface="+mn-lt"/>
                <a:ea typeface="+mn-ea"/>
                <a:cs typeface="+mn-cs"/>
              </a:rPr>
              <a:t>的部门信息，如果不能删除则</a:t>
            </a:r>
          </a:p>
          <a:p>
            <a:pPr eaLnBrk="1" hangingPunct="1">
              <a:lnSpc>
                <a:spcPct val="90000"/>
              </a:lnSpc>
              <a:buSzPct val="75000"/>
            </a:pPr>
            <a:r>
              <a:rPr lang="zh-CN" altLang="en-US" sz="1900">
                <a:solidFill>
                  <a:srgbClr val="000000"/>
                </a:solidFill>
                <a:latin typeface="+mn-lt"/>
                <a:ea typeface="+mn-ea"/>
                <a:cs typeface="+mn-cs"/>
              </a:rPr>
              <a:t>输出</a:t>
            </a:r>
            <a:r>
              <a:rPr lang="zh-CN" altLang="en-US" sz="1900">
                <a:solidFill>
                  <a:srgbClr val="000000"/>
                </a:solidFill>
                <a:latin typeface="Arial" panose="020B0604020202020204" pitchFamily="34" charset="0"/>
                <a:ea typeface="+mn-ea"/>
                <a:cs typeface="+mn-cs"/>
              </a:rPr>
              <a:t>“</a:t>
            </a:r>
            <a:r>
              <a:rPr lang="en-US" altLang="zh-CN" sz="1900">
                <a:solidFill>
                  <a:srgbClr val="000000"/>
                </a:solidFill>
                <a:latin typeface="+mn-lt"/>
                <a:ea typeface="+mn-ea"/>
                <a:cs typeface="+mn-cs"/>
              </a:rPr>
              <a:t>There are subrecords in employees table!</a:t>
            </a:r>
            <a:r>
              <a:rPr lang="en-US" altLang="zh-CN" sz="1900">
                <a:solidFill>
                  <a:srgbClr val="000000"/>
                </a:solidFill>
                <a:latin typeface="Arial" panose="020B0604020202020204" pitchFamily="34" charset="0"/>
                <a:ea typeface="+mn-ea"/>
                <a:cs typeface="+mn-cs"/>
              </a:rPr>
              <a:t>”</a:t>
            </a:r>
            <a:r>
              <a:rPr lang="zh-CN" altLang="en-US" sz="1900">
                <a:solidFill>
                  <a:srgbClr val="000000"/>
                </a:solidFill>
                <a:latin typeface="+mn-lt"/>
                <a:ea typeface="+mn-ea"/>
                <a:cs typeface="+mn-cs"/>
              </a:rPr>
              <a:t>。</a:t>
            </a:r>
          </a:p>
          <a:p>
            <a:pPr eaLnBrk="1" hangingPunct="1">
              <a:lnSpc>
                <a:spcPct val="90000"/>
              </a:lnSpc>
              <a:buSzPct val="75000"/>
            </a:pPr>
            <a:r>
              <a:rPr lang="en-US" altLang="zh-CN" sz="1900">
                <a:solidFill>
                  <a:srgbClr val="000000"/>
                </a:solidFill>
                <a:latin typeface="+mn-lt"/>
                <a:ea typeface="+mn-ea"/>
                <a:cs typeface="+mn-cs"/>
              </a:rPr>
              <a:t>DECLARE</a:t>
            </a:r>
          </a:p>
          <a:p>
            <a:pPr eaLnBrk="1" hangingPunct="1">
              <a:lnSpc>
                <a:spcPct val="90000"/>
              </a:lnSpc>
              <a:buSzPct val="75000"/>
            </a:pPr>
            <a:r>
              <a:rPr lang="en-US" altLang="zh-CN" sz="1900">
                <a:solidFill>
                  <a:srgbClr val="000000"/>
                </a:solidFill>
                <a:latin typeface="+mn-lt"/>
                <a:ea typeface="+mn-ea"/>
                <a:cs typeface="+mn-cs"/>
              </a:rPr>
              <a:t>  e_deptno_fk EXCEPTION;</a:t>
            </a:r>
          </a:p>
          <a:p>
            <a:pPr eaLnBrk="1" hangingPunct="1">
              <a:lnSpc>
                <a:spcPct val="90000"/>
              </a:lnSpc>
              <a:buSzPct val="75000"/>
            </a:pPr>
            <a:r>
              <a:rPr lang="en-US" altLang="zh-CN" sz="1900">
                <a:solidFill>
                  <a:srgbClr val="000000"/>
                </a:solidFill>
                <a:latin typeface="+mn-lt"/>
                <a:ea typeface="+mn-ea"/>
                <a:cs typeface="+mn-cs"/>
              </a:rPr>
              <a:t>  PRAGMA EXCEPTION_INIT(e_deptno_fk,-2292);</a:t>
            </a:r>
          </a:p>
          <a:p>
            <a:pPr eaLnBrk="1" hangingPunct="1">
              <a:lnSpc>
                <a:spcPct val="90000"/>
              </a:lnSpc>
              <a:buSzPct val="75000"/>
            </a:pPr>
            <a:r>
              <a:rPr lang="en-US" altLang="zh-CN" sz="1900">
                <a:solidFill>
                  <a:srgbClr val="000000"/>
                </a:solidFill>
                <a:latin typeface="+mn-lt"/>
                <a:ea typeface="+mn-ea"/>
                <a:cs typeface="+mn-cs"/>
              </a:rPr>
              <a:t>BEGIN</a:t>
            </a:r>
          </a:p>
          <a:p>
            <a:pPr eaLnBrk="1" hangingPunct="1">
              <a:lnSpc>
                <a:spcPct val="90000"/>
              </a:lnSpc>
              <a:buSzPct val="75000"/>
            </a:pPr>
            <a:r>
              <a:rPr lang="en-US" altLang="zh-CN" sz="1900">
                <a:solidFill>
                  <a:srgbClr val="000000"/>
                </a:solidFill>
                <a:latin typeface="+mn-lt"/>
                <a:ea typeface="+mn-ea"/>
                <a:cs typeface="+mn-cs"/>
              </a:rPr>
              <a:t>  DELETE FROM departments </a:t>
            </a:r>
          </a:p>
          <a:p>
            <a:pPr eaLnBrk="1" hangingPunct="1">
              <a:lnSpc>
                <a:spcPct val="90000"/>
              </a:lnSpc>
              <a:buSzPct val="75000"/>
            </a:pPr>
            <a:r>
              <a:rPr lang="en-US" altLang="zh-CN" sz="1900">
                <a:solidFill>
                  <a:srgbClr val="000000"/>
                </a:solidFill>
                <a:latin typeface="+mn-lt"/>
                <a:ea typeface="+mn-ea"/>
                <a:cs typeface="+mn-cs"/>
              </a:rPr>
              <a:t>  WHERE department_id=50;</a:t>
            </a:r>
          </a:p>
          <a:p>
            <a:pPr eaLnBrk="1" hangingPunct="1">
              <a:lnSpc>
                <a:spcPct val="90000"/>
              </a:lnSpc>
              <a:buSzPct val="75000"/>
            </a:pPr>
            <a:r>
              <a:rPr lang="en-US" altLang="zh-CN" sz="1900">
                <a:solidFill>
                  <a:srgbClr val="000000"/>
                </a:solidFill>
                <a:latin typeface="+mn-lt"/>
                <a:ea typeface="+mn-ea"/>
                <a:cs typeface="+mn-cs"/>
              </a:rPr>
              <a:t>EXCEPTION</a:t>
            </a:r>
          </a:p>
          <a:p>
            <a:pPr eaLnBrk="1" hangingPunct="1">
              <a:lnSpc>
                <a:spcPct val="90000"/>
              </a:lnSpc>
              <a:buSzPct val="75000"/>
            </a:pPr>
            <a:r>
              <a:rPr lang="en-US" altLang="zh-CN" sz="1900">
                <a:solidFill>
                  <a:srgbClr val="000000"/>
                </a:solidFill>
                <a:latin typeface="+mn-lt"/>
                <a:ea typeface="+mn-ea"/>
                <a:cs typeface="+mn-cs"/>
              </a:rPr>
              <a:t>  WHEN e_deptno_fk THEN</a:t>
            </a:r>
          </a:p>
          <a:p>
            <a:pPr eaLnBrk="1" hangingPunct="1">
              <a:lnSpc>
                <a:spcPct val="90000"/>
              </a:lnSpc>
              <a:buSzPct val="75000"/>
            </a:pPr>
            <a:r>
              <a:rPr lang="en-US" altLang="zh-CN" sz="1900">
                <a:solidFill>
                  <a:srgbClr val="000000"/>
                </a:solidFill>
                <a:latin typeface="+mn-lt"/>
                <a:ea typeface="+mn-ea"/>
                <a:cs typeface="+mn-cs"/>
              </a:rPr>
              <a:t>     DBMS_OUTPUT.PUT_LINE(' There are subrecords in employees table! ');</a:t>
            </a:r>
          </a:p>
          <a:p>
            <a:pPr eaLnBrk="1" hangingPunct="1">
              <a:lnSpc>
                <a:spcPct val="90000"/>
              </a:lnSpc>
              <a:buSzPct val="75000"/>
            </a:pPr>
            <a:r>
              <a:rPr lang="en-US" altLang="zh-CN" sz="1900">
                <a:solidFill>
                  <a:srgbClr val="000000"/>
                </a:solidFill>
                <a:latin typeface="+mn-lt"/>
                <a:ea typeface="+mn-ea"/>
                <a:cs typeface="+mn-cs"/>
              </a:rPr>
              <a:t>END; </a:t>
            </a:r>
          </a:p>
        </p:txBody>
      </p:sp>
      <p:sp>
        <p:nvSpPr>
          <p:cNvPr id="115714"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111</a:t>
            </a:fld>
            <a:endParaRPr lang="en-US" altLang="zh-CN">
              <a:solidFill>
                <a:srgbClr val="898989"/>
              </a:solidFill>
              <a:ea typeface="宋体" panose="02010600030101010101" pitchFamily="2" charset="-122"/>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6" name="Picture 75">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6739" name="Rectangle 3"/>
          <p:cNvSpPr>
            <a:spLocks noGrp="1"/>
          </p:cNvSpPr>
          <p:nvPr>
            <p:ph idx="1"/>
          </p:nvPr>
        </p:nvSpPr>
        <p:spPr>
          <a:xfrm>
            <a:off x="6090574" y="801866"/>
            <a:ext cx="5306084" cy="5230634"/>
          </a:xfrm>
        </p:spPr>
        <p:txBody>
          <a:bodyPr vert="horz" lIns="121920" tIns="60960" rIns="121920" bIns="60960" anchor="ctr">
            <a:normAutofit/>
          </a:bodyPr>
          <a:lstStyle/>
          <a:p>
            <a:pPr eaLnBrk="1" hangingPunct="1">
              <a:lnSpc>
                <a:spcPct val="90000"/>
              </a:lnSpc>
              <a:buSzPct val="75000"/>
            </a:pPr>
            <a:r>
              <a:rPr lang="zh-CN" altLang="en-US" sz="1500">
                <a:solidFill>
                  <a:srgbClr val="000000"/>
                </a:solidFill>
                <a:latin typeface="+mn-lt"/>
                <a:ea typeface="+mn-ea"/>
                <a:cs typeface="+mn-cs"/>
              </a:rPr>
              <a:t>修改</a:t>
            </a:r>
            <a:r>
              <a:rPr lang="en-US" altLang="zh-CN" sz="1500">
                <a:solidFill>
                  <a:srgbClr val="000000"/>
                </a:solidFill>
                <a:latin typeface="+mn-lt"/>
                <a:ea typeface="+mn-ea"/>
                <a:cs typeface="+mn-cs"/>
              </a:rPr>
              <a:t>108</a:t>
            </a:r>
            <a:r>
              <a:rPr lang="zh-CN" altLang="en-US" sz="1500">
                <a:solidFill>
                  <a:srgbClr val="000000"/>
                </a:solidFill>
                <a:latin typeface="+mn-lt"/>
                <a:ea typeface="+mn-ea"/>
                <a:cs typeface="+mn-cs"/>
              </a:rPr>
              <a:t>员工的工资，保证修改后工资不超过</a:t>
            </a:r>
            <a:r>
              <a:rPr lang="en-US" altLang="zh-CN" sz="1500">
                <a:solidFill>
                  <a:srgbClr val="000000"/>
                </a:solidFill>
                <a:latin typeface="+mn-lt"/>
                <a:ea typeface="+mn-ea"/>
                <a:cs typeface="+mn-cs"/>
              </a:rPr>
              <a:t>6000</a:t>
            </a:r>
            <a:r>
              <a:rPr lang="zh-CN" altLang="en-US" sz="1500">
                <a:solidFill>
                  <a:srgbClr val="000000"/>
                </a:solidFill>
                <a:latin typeface="+mn-lt"/>
                <a:ea typeface="+mn-ea"/>
                <a:cs typeface="+mn-cs"/>
              </a:rPr>
              <a:t>。</a:t>
            </a:r>
          </a:p>
          <a:p>
            <a:pPr eaLnBrk="1" hangingPunct="1">
              <a:lnSpc>
                <a:spcPct val="90000"/>
              </a:lnSpc>
              <a:buSzPct val="75000"/>
            </a:pPr>
            <a:r>
              <a:rPr lang="en-US" altLang="zh-CN" sz="1500">
                <a:solidFill>
                  <a:srgbClr val="000000"/>
                </a:solidFill>
                <a:latin typeface="+mn-lt"/>
                <a:ea typeface="+mn-ea"/>
                <a:cs typeface="+mn-cs"/>
              </a:rPr>
              <a:t>DECLARE</a:t>
            </a:r>
          </a:p>
          <a:p>
            <a:pPr eaLnBrk="1" hangingPunct="1">
              <a:lnSpc>
                <a:spcPct val="90000"/>
              </a:lnSpc>
              <a:buSzPct val="75000"/>
            </a:pPr>
            <a:r>
              <a:rPr lang="en-US" altLang="zh-CN" sz="1500">
                <a:solidFill>
                  <a:srgbClr val="000000"/>
                </a:solidFill>
                <a:latin typeface="+mn-lt"/>
                <a:ea typeface="+mn-ea"/>
                <a:cs typeface="+mn-cs"/>
              </a:rPr>
              <a:t>  e_highlimit EXCEPTION;</a:t>
            </a:r>
          </a:p>
          <a:p>
            <a:pPr eaLnBrk="1" hangingPunct="1">
              <a:lnSpc>
                <a:spcPct val="90000"/>
              </a:lnSpc>
              <a:buSzPct val="75000"/>
            </a:pPr>
            <a:r>
              <a:rPr lang="en-US" altLang="zh-CN" sz="1500">
                <a:solidFill>
                  <a:srgbClr val="000000"/>
                </a:solidFill>
                <a:latin typeface="+mn-lt"/>
                <a:ea typeface="+mn-ea"/>
                <a:cs typeface="+mn-cs"/>
              </a:rPr>
              <a:t>  v_sal employees.salary%TYPE;</a:t>
            </a:r>
          </a:p>
          <a:p>
            <a:pPr eaLnBrk="1" hangingPunct="1">
              <a:lnSpc>
                <a:spcPct val="90000"/>
              </a:lnSpc>
              <a:buSzPct val="75000"/>
            </a:pPr>
            <a:r>
              <a:rPr lang="en-US" altLang="zh-CN" sz="1500">
                <a:solidFill>
                  <a:srgbClr val="000000"/>
                </a:solidFill>
                <a:latin typeface="+mn-lt"/>
                <a:ea typeface="+mn-ea"/>
                <a:cs typeface="+mn-cs"/>
              </a:rPr>
              <a:t>BEGIN</a:t>
            </a:r>
          </a:p>
          <a:p>
            <a:pPr eaLnBrk="1" hangingPunct="1">
              <a:lnSpc>
                <a:spcPct val="90000"/>
              </a:lnSpc>
              <a:buSzPct val="75000"/>
            </a:pPr>
            <a:r>
              <a:rPr lang="en-US" altLang="zh-CN" sz="1500">
                <a:solidFill>
                  <a:srgbClr val="000000"/>
                </a:solidFill>
                <a:latin typeface="+mn-lt"/>
                <a:ea typeface="+mn-ea"/>
                <a:cs typeface="+mn-cs"/>
              </a:rPr>
              <a:t>  UPDATE employees SET salary=salary+100 </a:t>
            </a:r>
          </a:p>
          <a:p>
            <a:pPr eaLnBrk="1" hangingPunct="1">
              <a:lnSpc>
                <a:spcPct val="90000"/>
              </a:lnSpc>
              <a:buSzPct val="75000"/>
            </a:pPr>
            <a:r>
              <a:rPr lang="en-US" altLang="zh-CN" sz="1500">
                <a:solidFill>
                  <a:srgbClr val="000000"/>
                </a:solidFill>
                <a:latin typeface="+mn-lt"/>
                <a:ea typeface="+mn-ea"/>
                <a:cs typeface="+mn-cs"/>
              </a:rPr>
              <a:t> WHERE employee_id=108 RETURNING salary INTO v_sal;</a:t>
            </a:r>
          </a:p>
          <a:p>
            <a:pPr eaLnBrk="1" hangingPunct="1">
              <a:lnSpc>
                <a:spcPct val="90000"/>
              </a:lnSpc>
              <a:buSzPct val="75000"/>
            </a:pPr>
            <a:r>
              <a:rPr lang="en-US" altLang="zh-CN" sz="1500">
                <a:solidFill>
                  <a:srgbClr val="000000"/>
                </a:solidFill>
                <a:latin typeface="+mn-lt"/>
                <a:ea typeface="+mn-ea"/>
                <a:cs typeface="+mn-cs"/>
              </a:rPr>
              <a:t>  IF v_sal&gt;6000 THEN </a:t>
            </a:r>
          </a:p>
          <a:p>
            <a:pPr eaLnBrk="1" hangingPunct="1">
              <a:lnSpc>
                <a:spcPct val="90000"/>
              </a:lnSpc>
              <a:buSzPct val="75000"/>
            </a:pPr>
            <a:r>
              <a:rPr lang="en-US" altLang="zh-CN" sz="1500">
                <a:solidFill>
                  <a:srgbClr val="000000"/>
                </a:solidFill>
                <a:latin typeface="+mn-lt"/>
                <a:ea typeface="+mn-ea"/>
                <a:cs typeface="+mn-cs"/>
              </a:rPr>
              <a:t>     RAISE e_highlimit;</a:t>
            </a:r>
          </a:p>
          <a:p>
            <a:pPr eaLnBrk="1" hangingPunct="1">
              <a:lnSpc>
                <a:spcPct val="90000"/>
              </a:lnSpc>
              <a:buSzPct val="75000"/>
            </a:pPr>
            <a:r>
              <a:rPr lang="en-US" altLang="zh-CN" sz="1500">
                <a:solidFill>
                  <a:srgbClr val="000000"/>
                </a:solidFill>
                <a:latin typeface="+mn-lt"/>
                <a:ea typeface="+mn-ea"/>
                <a:cs typeface="+mn-cs"/>
              </a:rPr>
              <a:t>  END IF;</a:t>
            </a:r>
          </a:p>
          <a:p>
            <a:pPr eaLnBrk="1" hangingPunct="1">
              <a:lnSpc>
                <a:spcPct val="90000"/>
              </a:lnSpc>
              <a:buSzPct val="75000"/>
            </a:pPr>
            <a:r>
              <a:rPr lang="en-US" altLang="zh-CN" sz="1500">
                <a:solidFill>
                  <a:srgbClr val="000000"/>
                </a:solidFill>
                <a:latin typeface="+mn-lt"/>
                <a:ea typeface="+mn-ea"/>
                <a:cs typeface="+mn-cs"/>
              </a:rPr>
              <a:t>EXCEPTION</a:t>
            </a:r>
          </a:p>
          <a:p>
            <a:pPr eaLnBrk="1" hangingPunct="1">
              <a:lnSpc>
                <a:spcPct val="90000"/>
              </a:lnSpc>
              <a:buSzPct val="75000"/>
            </a:pPr>
            <a:r>
              <a:rPr lang="en-US" altLang="zh-CN" sz="1500">
                <a:solidFill>
                  <a:srgbClr val="000000"/>
                </a:solidFill>
                <a:latin typeface="+mn-lt"/>
                <a:ea typeface="+mn-ea"/>
                <a:cs typeface="+mn-cs"/>
              </a:rPr>
              <a:t>  WHEN e_highlimit THEN</a:t>
            </a:r>
          </a:p>
          <a:p>
            <a:pPr eaLnBrk="1" hangingPunct="1">
              <a:lnSpc>
                <a:spcPct val="90000"/>
              </a:lnSpc>
              <a:buSzPct val="75000"/>
            </a:pPr>
            <a:r>
              <a:rPr lang="en-US" altLang="zh-CN" sz="1500">
                <a:solidFill>
                  <a:srgbClr val="000000"/>
                </a:solidFill>
                <a:latin typeface="+mn-lt"/>
                <a:ea typeface="+mn-ea"/>
                <a:cs typeface="+mn-cs"/>
              </a:rPr>
              <a:t>    DBMS_OUTPUT.PUT_LINE('The salary is too large! ');</a:t>
            </a:r>
          </a:p>
          <a:p>
            <a:pPr eaLnBrk="1" hangingPunct="1">
              <a:lnSpc>
                <a:spcPct val="90000"/>
              </a:lnSpc>
              <a:buSzPct val="75000"/>
            </a:pPr>
            <a:r>
              <a:rPr lang="en-US" altLang="zh-CN" sz="1500">
                <a:solidFill>
                  <a:srgbClr val="000000"/>
                </a:solidFill>
                <a:latin typeface="+mn-lt"/>
                <a:ea typeface="+mn-ea"/>
                <a:cs typeface="+mn-cs"/>
              </a:rPr>
              <a:t>    ROLLBACK;</a:t>
            </a:r>
          </a:p>
          <a:p>
            <a:pPr eaLnBrk="1" hangingPunct="1">
              <a:lnSpc>
                <a:spcPct val="90000"/>
              </a:lnSpc>
              <a:buSzPct val="75000"/>
            </a:pPr>
            <a:r>
              <a:rPr lang="en-US" altLang="zh-CN" sz="1500">
                <a:solidFill>
                  <a:srgbClr val="000000"/>
                </a:solidFill>
                <a:latin typeface="+mn-lt"/>
                <a:ea typeface="+mn-ea"/>
                <a:cs typeface="+mn-cs"/>
              </a:rPr>
              <a:t>END; </a:t>
            </a:r>
          </a:p>
        </p:txBody>
      </p:sp>
      <p:sp>
        <p:nvSpPr>
          <p:cNvPr id="116738"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112</a:t>
            </a:fld>
            <a:endParaRPr lang="en-US" altLang="zh-CN">
              <a:solidFill>
                <a:srgbClr val="898989"/>
              </a:solidFill>
              <a:ea typeface="宋体" panose="02010600030101010101" pitchFamily="2" charset="-122"/>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7763"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r>
              <a:rPr lang="zh-CN" altLang="en-US">
                <a:solidFill>
                  <a:srgbClr val="FFFFFF"/>
                </a:solidFill>
                <a:latin typeface="+mj-lt"/>
                <a:ea typeface="+mj-ea"/>
                <a:cs typeface="+mj-cs"/>
              </a:rPr>
              <a:t>（</a:t>
            </a:r>
            <a:r>
              <a:rPr lang="en-US" altLang="zh-CN">
                <a:solidFill>
                  <a:srgbClr val="FFFFFF"/>
                </a:solidFill>
                <a:latin typeface="+mj-lt"/>
                <a:ea typeface="+mj-ea"/>
                <a:cs typeface="+mj-cs"/>
              </a:rPr>
              <a:t>4</a:t>
            </a:r>
            <a:r>
              <a:rPr lang="zh-CN" altLang="en-US">
                <a:solidFill>
                  <a:srgbClr val="FFFFFF"/>
                </a:solidFill>
                <a:latin typeface="+mj-lt"/>
                <a:ea typeface="+mj-ea"/>
                <a:cs typeface="+mj-cs"/>
              </a:rPr>
              <a:t>）</a:t>
            </a:r>
            <a:r>
              <a:rPr lang="en-US" altLang="zh-CN">
                <a:solidFill>
                  <a:srgbClr val="FFFFFF"/>
                </a:solidFill>
                <a:latin typeface="+mj-lt"/>
                <a:ea typeface="+mj-ea"/>
                <a:cs typeface="+mj-cs"/>
              </a:rPr>
              <a:t>OTHERS</a:t>
            </a:r>
            <a:r>
              <a:rPr lang="zh-CN" altLang="en-US">
                <a:solidFill>
                  <a:srgbClr val="FFFFFF"/>
                </a:solidFill>
                <a:latin typeface="+mj-lt"/>
                <a:ea typeface="+mj-ea"/>
                <a:cs typeface="+mj-cs"/>
              </a:rPr>
              <a:t>异常处理器</a:t>
            </a:r>
          </a:p>
        </p:txBody>
      </p:sp>
      <p:sp>
        <p:nvSpPr>
          <p:cNvPr id="117764"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buSzPct val="75000"/>
            </a:pPr>
            <a:r>
              <a:rPr lang="en-US" altLang="zh-CN" sz="2000">
                <a:solidFill>
                  <a:srgbClr val="000000"/>
                </a:solidFill>
                <a:latin typeface="+mn-lt"/>
                <a:ea typeface="+mn-ea"/>
                <a:cs typeface="+mn-cs"/>
              </a:rPr>
              <a:t>OTHERS</a:t>
            </a:r>
            <a:r>
              <a:rPr lang="zh-CN" altLang="en-US" sz="2000">
                <a:solidFill>
                  <a:srgbClr val="000000"/>
                </a:solidFill>
                <a:latin typeface="+mn-lt"/>
                <a:ea typeface="+mn-ea"/>
                <a:cs typeface="+mn-cs"/>
              </a:rPr>
              <a:t>异常处理器是一个特殊的异常处理器，可以捕获所有的异常。</a:t>
            </a:r>
          </a:p>
          <a:p>
            <a:pPr eaLnBrk="1" hangingPunct="1">
              <a:buSzPct val="75000"/>
            </a:pPr>
            <a:r>
              <a:rPr lang="zh-CN" altLang="en-US" sz="2000">
                <a:solidFill>
                  <a:srgbClr val="000000"/>
                </a:solidFill>
                <a:latin typeface="+mn-lt"/>
                <a:ea typeface="+mn-ea"/>
                <a:cs typeface="+mn-cs"/>
              </a:rPr>
              <a:t>通常，</a:t>
            </a:r>
            <a:r>
              <a:rPr lang="en-US" altLang="zh-CN" sz="2000">
                <a:solidFill>
                  <a:srgbClr val="000000"/>
                </a:solidFill>
                <a:latin typeface="+mn-lt"/>
                <a:ea typeface="+mn-ea"/>
                <a:cs typeface="+mn-cs"/>
              </a:rPr>
              <a:t>OTHERS</a:t>
            </a:r>
            <a:r>
              <a:rPr lang="zh-CN" altLang="en-US" sz="2000">
                <a:solidFill>
                  <a:srgbClr val="000000"/>
                </a:solidFill>
                <a:latin typeface="+mn-lt"/>
                <a:ea typeface="+mn-ea"/>
                <a:cs typeface="+mn-cs"/>
              </a:rPr>
              <a:t>异常处理器总是作为异常处理部分的最后一个异常处理器，负责处理那些没有被其他异常处理器捕获的异常。 </a:t>
            </a:r>
          </a:p>
        </p:txBody>
      </p:sp>
      <p:sp>
        <p:nvSpPr>
          <p:cNvPr id="117762"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113</a:t>
            </a:fld>
            <a:endParaRPr lang="en-US" altLang="zh-CN">
              <a:solidFill>
                <a:srgbClr val="898989"/>
              </a:solidFill>
              <a:ea typeface="宋体" panose="02010600030101010101" pitchFamily="2" charset="-122"/>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2" name="Rectangle 71">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4" name="Picture 73">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8787"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lnSpc>
                <a:spcPct val="90000"/>
              </a:lnSpc>
              <a:buSzPct val="75000"/>
            </a:pPr>
            <a:r>
              <a:rPr lang="en-US" altLang="zh-CN" sz="800">
                <a:solidFill>
                  <a:srgbClr val="000000"/>
                </a:solidFill>
                <a:latin typeface="+mn-lt"/>
                <a:ea typeface="+mn-ea"/>
                <a:cs typeface="+mn-cs"/>
              </a:rPr>
              <a:t>DECLARE</a:t>
            </a:r>
          </a:p>
          <a:p>
            <a:pPr eaLnBrk="1" hangingPunct="1">
              <a:lnSpc>
                <a:spcPct val="90000"/>
              </a:lnSpc>
              <a:buSzPct val="75000"/>
            </a:pPr>
            <a:r>
              <a:rPr lang="en-US" altLang="zh-CN" sz="800">
                <a:solidFill>
                  <a:srgbClr val="000000"/>
                </a:solidFill>
                <a:latin typeface="+mn-lt"/>
                <a:ea typeface="+mn-ea"/>
                <a:cs typeface="+mn-cs"/>
              </a:rPr>
              <a:t>  v_sal employees.salary%TYPE;</a:t>
            </a:r>
          </a:p>
          <a:p>
            <a:pPr eaLnBrk="1" hangingPunct="1">
              <a:lnSpc>
                <a:spcPct val="90000"/>
              </a:lnSpc>
              <a:buSzPct val="75000"/>
            </a:pPr>
            <a:r>
              <a:rPr lang="en-US" altLang="zh-CN" sz="800">
                <a:solidFill>
                  <a:srgbClr val="000000"/>
                </a:solidFill>
                <a:latin typeface="+mn-lt"/>
                <a:ea typeface="+mn-ea"/>
                <a:cs typeface="+mn-cs"/>
              </a:rPr>
              <a:t>  e_highlimit EXCEPTION;</a:t>
            </a:r>
          </a:p>
          <a:p>
            <a:pPr eaLnBrk="1" hangingPunct="1">
              <a:lnSpc>
                <a:spcPct val="90000"/>
              </a:lnSpc>
              <a:buSzPct val="75000"/>
            </a:pPr>
            <a:r>
              <a:rPr lang="en-US" altLang="zh-CN" sz="800">
                <a:solidFill>
                  <a:srgbClr val="000000"/>
                </a:solidFill>
                <a:latin typeface="+mn-lt"/>
                <a:ea typeface="+mn-ea"/>
                <a:cs typeface="+mn-cs"/>
              </a:rPr>
              <a:t>BEGIN</a:t>
            </a:r>
          </a:p>
          <a:p>
            <a:pPr eaLnBrk="1" hangingPunct="1">
              <a:lnSpc>
                <a:spcPct val="90000"/>
              </a:lnSpc>
              <a:buSzPct val="75000"/>
            </a:pPr>
            <a:r>
              <a:rPr lang="en-US" altLang="zh-CN" sz="800">
                <a:solidFill>
                  <a:srgbClr val="000000"/>
                </a:solidFill>
                <a:latin typeface="+mn-lt"/>
                <a:ea typeface="+mn-ea"/>
                <a:cs typeface="+mn-cs"/>
              </a:rPr>
              <a:t>  SELECT salary INTO v_sal FROM employees </a:t>
            </a:r>
          </a:p>
          <a:p>
            <a:pPr eaLnBrk="1" hangingPunct="1">
              <a:lnSpc>
                <a:spcPct val="90000"/>
              </a:lnSpc>
              <a:buSzPct val="75000"/>
            </a:pPr>
            <a:r>
              <a:rPr lang="en-US" altLang="zh-CN" sz="800">
                <a:solidFill>
                  <a:srgbClr val="000000"/>
                </a:solidFill>
                <a:latin typeface="+mn-lt"/>
                <a:ea typeface="+mn-ea"/>
                <a:cs typeface="+mn-cs"/>
              </a:rPr>
              <a:t>  WHERE last_name='Smith';</a:t>
            </a:r>
          </a:p>
          <a:p>
            <a:pPr eaLnBrk="1" hangingPunct="1">
              <a:lnSpc>
                <a:spcPct val="90000"/>
              </a:lnSpc>
              <a:buSzPct val="75000"/>
            </a:pPr>
            <a:r>
              <a:rPr lang="en-US" altLang="zh-CN" sz="800">
                <a:solidFill>
                  <a:srgbClr val="000000"/>
                </a:solidFill>
                <a:latin typeface="+mn-lt"/>
                <a:ea typeface="+mn-ea"/>
                <a:cs typeface="+mn-cs"/>
              </a:rPr>
              <a:t>  UPDATE employees SET salary=salary+100 </a:t>
            </a:r>
          </a:p>
          <a:p>
            <a:pPr eaLnBrk="1" hangingPunct="1">
              <a:lnSpc>
                <a:spcPct val="90000"/>
              </a:lnSpc>
              <a:buSzPct val="75000"/>
            </a:pPr>
            <a:r>
              <a:rPr lang="en-US" altLang="zh-CN" sz="800">
                <a:solidFill>
                  <a:srgbClr val="000000"/>
                </a:solidFill>
                <a:latin typeface="+mn-lt"/>
                <a:ea typeface="+mn-ea"/>
                <a:cs typeface="+mn-cs"/>
              </a:rPr>
              <a:t>  WHERE employee_id=200;</a:t>
            </a:r>
          </a:p>
          <a:p>
            <a:pPr eaLnBrk="1" hangingPunct="1">
              <a:lnSpc>
                <a:spcPct val="90000"/>
              </a:lnSpc>
              <a:buSzPct val="75000"/>
            </a:pPr>
            <a:r>
              <a:rPr lang="en-US" altLang="zh-CN" sz="800">
                <a:solidFill>
                  <a:srgbClr val="000000"/>
                </a:solidFill>
                <a:latin typeface="+mn-lt"/>
                <a:ea typeface="+mn-ea"/>
                <a:cs typeface="+mn-cs"/>
              </a:rPr>
              <a:t>  IF v_sal&gt;6000 THEN </a:t>
            </a:r>
          </a:p>
          <a:p>
            <a:pPr eaLnBrk="1" hangingPunct="1">
              <a:lnSpc>
                <a:spcPct val="90000"/>
              </a:lnSpc>
              <a:buSzPct val="75000"/>
            </a:pPr>
            <a:r>
              <a:rPr lang="en-US" altLang="zh-CN" sz="800">
                <a:solidFill>
                  <a:srgbClr val="000000"/>
                </a:solidFill>
                <a:latin typeface="+mn-lt"/>
                <a:ea typeface="+mn-ea"/>
                <a:cs typeface="+mn-cs"/>
              </a:rPr>
              <a:t>    RAISE e_highlimit;</a:t>
            </a:r>
          </a:p>
          <a:p>
            <a:pPr eaLnBrk="1" hangingPunct="1">
              <a:lnSpc>
                <a:spcPct val="90000"/>
              </a:lnSpc>
              <a:buSzPct val="75000"/>
            </a:pPr>
            <a:r>
              <a:rPr lang="en-US" altLang="zh-CN" sz="800">
                <a:solidFill>
                  <a:srgbClr val="000000"/>
                </a:solidFill>
                <a:latin typeface="+mn-lt"/>
                <a:ea typeface="+mn-ea"/>
                <a:cs typeface="+mn-cs"/>
              </a:rPr>
              <a:t>  END IF;</a:t>
            </a:r>
          </a:p>
          <a:p>
            <a:pPr eaLnBrk="1" hangingPunct="1">
              <a:lnSpc>
                <a:spcPct val="90000"/>
              </a:lnSpc>
              <a:buSzPct val="75000"/>
            </a:pPr>
            <a:r>
              <a:rPr lang="en-US" altLang="zh-CN" sz="800">
                <a:solidFill>
                  <a:srgbClr val="000000"/>
                </a:solidFill>
                <a:latin typeface="+mn-lt"/>
                <a:ea typeface="+mn-ea"/>
                <a:cs typeface="+mn-cs"/>
              </a:rPr>
              <a:t>EXCEPTION</a:t>
            </a:r>
          </a:p>
          <a:p>
            <a:pPr eaLnBrk="1" hangingPunct="1">
              <a:lnSpc>
                <a:spcPct val="90000"/>
              </a:lnSpc>
              <a:buSzPct val="75000"/>
            </a:pPr>
            <a:r>
              <a:rPr lang="en-US" altLang="zh-CN" sz="800">
                <a:solidFill>
                  <a:srgbClr val="000000"/>
                </a:solidFill>
                <a:latin typeface="+mn-lt"/>
                <a:ea typeface="+mn-ea"/>
                <a:cs typeface="+mn-cs"/>
              </a:rPr>
              <a:t>  WHEN e_highlimit THEN</a:t>
            </a:r>
          </a:p>
          <a:p>
            <a:pPr eaLnBrk="1" hangingPunct="1">
              <a:lnSpc>
                <a:spcPct val="90000"/>
              </a:lnSpc>
              <a:buSzPct val="75000"/>
            </a:pPr>
            <a:r>
              <a:rPr lang="en-US" altLang="zh-CN" sz="800">
                <a:solidFill>
                  <a:srgbClr val="000000"/>
                </a:solidFill>
                <a:latin typeface="+mn-lt"/>
                <a:ea typeface="+mn-ea"/>
                <a:cs typeface="+mn-cs"/>
              </a:rPr>
              <a:t>    DBMS_OUTPUT.PUT_LINE('The salary is too large! ');</a:t>
            </a:r>
          </a:p>
          <a:p>
            <a:pPr eaLnBrk="1" hangingPunct="1">
              <a:lnSpc>
                <a:spcPct val="90000"/>
              </a:lnSpc>
              <a:buSzPct val="75000"/>
            </a:pPr>
            <a:r>
              <a:rPr lang="en-US" altLang="zh-CN" sz="800">
                <a:solidFill>
                  <a:srgbClr val="000000"/>
                </a:solidFill>
                <a:latin typeface="+mn-lt"/>
                <a:ea typeface="+mn-ea"/>
                <a:cs typeface="+mn-cs"/>
              </a:rPr>
              <a:t>   ROLLBACK;</a:t>
            </a:r>
          </a:p>
          <a:p>
            <a:pPr eaLnBrk="1" hangingPunct="1">
              <a:lnSpc>
                <a:spcPct val="90000"/>
              </a:lnSpc>
              <a:buSzPct val="75000"/>
            </a:pPr>
            <a:r>
              <a:rPr lang="en-US" altLang="zh-CN" sz="800">
                <a:solidFill>
                  <a:srgbClr val="000000"/>
                </a:solidFill>
                <a:latin typeface="+mn-lt"/>
                <a:ea typeface="+mn-ea"/>
                <a:cs typeface="+mn-cs"/>
              </a:rPr>
              <a:t>  WHEN OTHERS THEN</a:t>
            </a:r>
          </a:p>
          <a:p>
            <a:pPr eaLnBrk="1" hangingPunct="1">
              <a:lnSpc>
                <a:spcPct val="90000"/>
              </a:lnSpc>
              <a:buSzPct val="75000"/>
            </a:pPr>
            <a:r>
              <a:rPr lang="en-US" altLang="zh-CN" sz="800">
                <a:solidFill>
                  <a:srgbClr val="000000"/>
                </a:solidFill>
                <a:latin typeface="+mn-lt"/>
                <a:ea typeface="+mn-ea"/>
                <a:cs typeface="+mn-cs"/>
              </a:rPr>
              <a:t>   DBMS_OUTPUT.PUT_LINE('There is some wrong in selecting! ');</a:t>
            </a:r>
          </a:p>
          <a:p>
            <a:pPr eaLnBrk="1" hangingPunct="1">
              <a:lnSpc>
                <a:spcPct val="90000"/>
              </a:lnSpc>
              <a:buSzPct val="75000"/>
            </a:pPr>
            <a:r>
              <a:rPr lang="en-US" altLang="zh-CN" sz="800">
                <a:solidFill>
                  <a:srgbClr val="000000"/>
                </a:solidFill>
                <a:latin typeface="+mn-lt"/>
                <a:ea typeface="+mn-ea"/>
                <a:cs typeface="+mn-cs"/>
              </a:rPr>
              <a:t>END; </a:t>
            </a:r>
          </a:p>
        </p:txBody>
      </p:sp>
      <p:sp>
        <p:nvSpPr>
          <p:cNvPr id="118786"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114</a:t>
            </a:fld>
            <a:endParaRPr lang="en-US" altLang="zh-CN">
              <a:solidFill>
                <a:srgbClr val="898989"/>
              </a:solidFill>
              <a:ea typeface="宋体" panose="02010600030101010101" pitchFamily="2" charset="-122"/>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9811"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endParaRPr lang="zh-CN" altLang="zh-CN">
              <a:solidFill>
                <a:srgbClr val="FFFFFF"/>
              </a:solidFill>
              <a:latin typeface="+mj-lt"/>
              <a:ea typeface="+mj-ea"/>
              <a:cs typeface="+mj-cs"/>
            </a:endParaRPr>
          </a:p>
        </p:txBody>
      </p:sp>
      <p:sp>
        <p:nvSpPr>
          <p:cNvPr id="119812"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lnSpc>
                <a:spcPct val="90000"/>
              </a:lnSpc>
              <a:buSzPct val="75000"/>
            </a:pPr>
            <a:r>
              <a:rPr lang="zh-CN" altLang="en-US" sz="1900">
                <a:solidFill>
                  <a:srgbClr val="000000"/>
                </a:solidFill>
                <a:latin typeface="+mn-lt"/>
                <a:ea typeface="+mn-ea"/>
                <a:cs typeface="+mn-cs"/>
              </a:rPr>
              <a:t>可以通过两个函数来获取错误相关信息。</a:t>
            </a:r>
          </a:p>
          <a:p>
            <a:pPr lvl="1" eaLnBrk="1" hangingPunct="1">
              <a:lnSpc>
                <a:spcPct val="90000"/>
              </a:lnSpc>
              <a:buSzPct val="75000"/>
            </a:pPr>
            <a:r>
              <a:rPr lang="en-US" altLang="zh-CN" sz="1900" b="0">
                <a:solidFill>
                  <a:srgbClr val="000000"/>
                </a:solidFill>
                <a:latin typeface="+mn-lt"/>
                <a:ea typeface="华文仿宋" panose="02010600040101010101" pitchFamily="2" charset="-122"/>
              </a:rPr>
              <a:t>SQLCODE</a:t>
            </a:r>
            <a:r>
              <a:rPr lang="zh-CN" altLang="en-US" sz="1900" b="0">
                <a:solidFill>
                  <a:srgbClr val="000000"/>
                </a:solidFill>
                <a:latin typeface="+mn-lt"/>
                <a:ea typeface="华文仿宋" panose="02010600040101010101" pitchFamily="2" charset="-122"/>
              </a:rPr>
              <a:t>：</a:t>
            </a:r>
            <a:r>
              <a:rPr lang="zh-CN" altLang="en-US" sz="1900" b="0">
                <a:solidFill>
                  <a:srgbClr val="000000"/>
                </a:solidFill>
                <a:latin typeface="+mn-lt"/>
                <a:ea typeface="黑体" panose="02010609060101010101" pitchFamily="49" charset="-122"/>
              </a:rPr>
              <a:t>返回当前错误代码。</a:t>
            </a:r>
          </a:p>
          <a:p>
            <a:pPr lvl="2" eaLnBrk="1" hangingPunct="1">
              <a:lnSpc>
                <a:spcPct val="90000"/>
              </a:lnSpc>
              <a:buChar char="p"/>
            </a:pPr>
            <a:r>
              <a:rPr lang="zh-CN" altLang="en-US" sz="1900">
                <a:solidFill>
                  <a:srgbClr val="000000"/>
                </a:solidFill>
                <a:ea typeface="黑体" panose="02010609060101010101" pitchFamily="49" charset="-122"/>
              </a:rPr>
              <a:t>如果是用户定义错误返回值为</a:t>
            </a:r>
            <a:r>
              <a:rPr lang="en-US" altLang="zh-CN" sz="1900">
                <a:solidFill>
                  <a:srgbClr val="000000"/>
                </a:solidFill>
                <a:ea typeface="黑体" panose="02010609060101010101" pitchFamily="49" charset="-122"/>
              </a:rPr>
              <a:t>1</a:t>
            </a:r>
            <a:r>
              <a:rPr lang="zh-CN" altLang="en-US" sz="1900">
                <a:solidFill>
                  <a:srgbClr val="000000"/>
                </a:solidFill>
                <a:ea typeface="黑体" panose="02010609060101010101" pitchFamily="49" charset="-122"/>
              </a:rPr>
              <a:t>；</a:t>
            </a:r>
          </a:p>
          <a:p>
            <a:pPr lvl="2" eaLnBrk="1" hangingPunct="1">
              <a:lnSpc>
                <a:spcPct val="90000"/>
              </a:lnSpc>
              <a:buChar char="p"/>
            </a:pPr>
            <a:r>
              <a:rPr lang="zh-CN" altLang="en-US" sz="1900">
                <a:solidFill>
                  <a:srgbClr val="000000"/>
                </a:solidFill>
                <a:ea typeface="黑体" panose="02010609060101010101" pitchFamily="49" charset="-122"/>
              </a:rPr>
              <a:t>如果是</a:t>
            </a:r>
            <a:r>
              <a:rPr lang="en-US" altLang="zh-CN" sz="1900">
                <a:solidFill>
                  <a:srgbClr val="000000"/>
                </a:solidFill>
                <a:ea typeface="黑体" panose="02010609060101010101" pitchFamily="49" charset="-122"/>
              </a:rPr>
              <a:t>ORA-1403</a:t>
            </a:r>
            <a:r>
              <a:rPr lang="zh-CN" altLang="en-US" sz="1900">
                <a:solidFill>
                  <a:srgbClr val="000000"/>
                </a:solidFill>
                <a:ea typeface="黑体" panose="02010609060101010101" pitchFamily="49" charset="-122"/>
              </a:rPr>
              <a:t>：</a:t>
            </a:r>
            <a:r>
              <a:rPr lang="en-US" altLang="zh-CN" sz="1900">
                <a:solidFill>
                  <a:srgbClr val="000000"/>
                </a:solidFill>
                <a:ea typeface="黑体" panose="02010609060101010101" pitchFamily="49" charset="-122"/>
              </a:rPr>
              <a:t>NO DATA FOUND</a:t>
            </a:r>
            <a:r>
              <a:rPr lang="zh-CN" altLang="en-US" sz="1900">
                <a:solidFill>
                  <a:srgbClr val="000000"/>
                </a:solidFill>
                <a:ea typeface="黑体" panose="02010609060101010101" pitchFamily="49" charset="-122"/>
              </a:rPr>
              <a:t>错误，返回值为</a:t>
            </a:r>
            <a:r>
              <a:rPr lang="en-US" altLang="zh-CN" sz="1900">
                <a:solidFill>
                  <a:srgbClr val="000000"/>
                </a:solidFill>
                <a:ea typeface="黑体" panose="02010609060101010101" pitchFamily="49" charset="-122"/>
              </a:rPr>
              <a:t>100</a:t>
            </a:r>
          </a:p>
          <a:p>
            <a:pPr lvl="2" eaLnBrk="1" hangingPunct="1">
              <a:lnSpc>
                <a:spcPct val="90000"/>
              </a:lnSpc>
              <a:buChar char="p"/>
            </a:pPr>
            <a:r>
              <a:rPr lang="zh-CN" altLang="en-US" sz="1900">
                <a:solidFill>
                  <a:srgbClr val="000000"/>
                </a:solidFill>
                <a:ea typeface="黑体" panose="02010609060101010101" pitchFamily="49" charset="-122"/>
              </a:rPr>
              <a:t>其他</a:t>
            </a:r>
            <a:r>
              <a:rPr lang="en-US" altLang="zh-CN" sz="1900">
                <a:solidFill>
                  <a:srgbClr val="000000"/>
                </a:solidFill>
                <a:ea typeface="黑体" panose="02010609060101010101" pitchFamily="49" charset="-122"/>
              </a:rPr>
              <a:t>Oracle</a:t>
            </a:r>
            <a:r>
              <a:rPr lang="zh-CN" altLang="en-US" sz="1900">
                <a:solidFill>
                  <a:srgbClr val="000000"/>
                </a:solidFill>
                <a:ea typeface="黑体" panose="02010609060101010101" pitchFamily="49" charset="-122"/>
              </a:rPr>
              <a:t>内部错误返回相应的错误号。</a:t>
            </a:r>
            <a:r>
              <a:rPr lang="zh-CN" altLang="en-US" sz="1900">
                <a:solidFill>
                  <a:srgbClr val="000000"/>
                </a:solidFill>
              </a:rPr>
              <a:t> </a:t>
            </a:r>
          </a:p>
          <a:p>
            <a:pPr lvl="1" eaLnBrk="1" hangingPunct="1">
              <a:lnSpc>
                <a:spcPct val="90000"/>
              </a:lnSpc>
              <a:buSzPct val="75000"/>
            </a:pPr>
            <a:r>
              <a:rPr lang="en-US" altLang="zh-CN" sz="1900" b="0">
                <a:solidFill>
                  <a:srgbClr val="000000"/>
                </a:solidFill>
                <a:latin typeface="+mn-lt"/>
                <a:ea typeface="华文仿宋" panose="02010600040101010101" pitchFamily="2" charset="-122"/>
              </a:rPr>
              <a:t>SQLERRM</a:t>
            </a:r>
            <a:r>
              <a:rPr lang="zh-CN" altLang="en-US" sz="1900" b="0">
                <a:solidFill>
                  <a:srgbClr val="000000"/>
                </a:solidFill>
                <a:latin typeface="+mn-lt"/>
                <a:ea typeface="华文仿宋" panose="02010600040101010101" pitchFamily="2" charset="-122"/>
              </a:rPr>
              <a:t>：</a:t>
            </a:r>
            <a:r>
              <a:rPr lang="zh-CN" altLang="en-US" sz="1900" b="0">
                <a:solidFill>
                  <a:srgbClr val="000000"/>
                </a:solidFill>
                <a:latin typeface="+mn-lt"/>
                <a:ea typeface="黑体" panose="02010609060101010101" pitchFamily="49" charset="-122"/>
              </a:rPr>
              <a:t>返回当前错误的消息文本。</a:t>
            </a:r>
          </a:p>
          <a:p>
            <a:pPr lvl="2" eaLnBrk="1" hangingPunct="1">
              <a:lnSpc>
                <a:spcPct val="90000"/>
              </a:lnSpc>
            </a:pPr>
            <a:r>
              <a:rPr lang="zh-CN" altLang="en-US" sz="1900">
                <a:solidFill>
                  <a:srgbClr val="000000"/>
                </a:solidFill>
                <a:ea typeface="黑体" panose="02010609060101010101" pitchFamily="49" charset="-122"/>
              </a:rPr>
              <a:t>如果是</a:t>
            </a:r>
            <a:r>
              <a:rPr lang="en-US" altLang="zh-CN" sz="1900">
                <a:solidFill>
                  <a:srgbClr val="000000"/>
                </a:solidFill>
                <a:ea typeface="黑体" panose="02010609060101010101" pitchFamily="49" charset="-122"/>
              </a:rPr>
              <a:t>Oracle</a:t>
            </a:r>
            <a:r>
              <a:rPr lang="zh-CN" altLang="en-US" sz="1900">
                <a:solidFill>
                  <a:srgbClr val="000000"/>
                </a:solidFill>
                <a:ea typeface="黑体" panose="02010609060101010101" pitchFamily="49" charset="-122"/>
              </a:rPr>
              <a:t>内部错误，返回系统内部的错误描述；</a:t>
            </a:r>
          </a:p>
          <a:p>
            <a:pPr lvl="2" eaLnBrk="1" hangingPunct="1">
              <a:lnSpc>
                <a:spcPct val="90000"/>
              </a:lnSpc>
            </a:pPr>
            <a:r>
              <a:rPr lang="zh-CN" altLang="en-US" sz="1900">
                <a:solidFill>
                  <a:srgbClr val="000000"/>
                </a:solidFill>
                <a:ea typeface="黑体" panose="02010609060101010101" pitchFamily="49" charset="-122"/>
              </a:rPr>
              <a:t>如果是用户定义错误，则返回信息文本为“</a:t>
            </a:r>
            <a:r>
              <a:rPr lang="en-US" altLang="zh-CN" sz="1900">
                <a:solidFill>
                  <a:srgbClr val="000000"/>
                </a:solidFill>
                <a:ea typeface="黑体" panose="02010609060101010101" pitchFamily="49" charset="-122"/>
              </a:rPr>
              <a:t>User-defined Exception”</a:t>
            </a:r>
            <a:r>
              <a:rPr lang="zh-CN" altLang="en-US" sz="1900">
                <a:solidFill>
                  <a:srgbClr val="000000"/>
                </a:solidFill>
                <a:ea typeface="黑体" panose="02010609060101010101" pitchFamily="49" charset="-122"/>
              </a:rPr>
              <a:t>。 </a:t>
            </a:r>
          </a:p>
        </p:txBody>
      </p:sp>
      <p:sp>
        <p:nvSpPr>
          <p:cNvPr id="119810"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115</a:t>
            </a:fld>
            <a:endParaRPr lang="en-US" altLang="zh-CN">
              <a:solidFill>
                <a:srgbClr val="898989"/>
              </a:solidFill>
              <a:ea typeface="宋体" panose="02010600030101010101" pitchFamily="2" charset="-122"/>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6" name="Picture 75">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0835" name="Rectangle 3"/>
          <p:cNvSpPr>
            <a:spLocks noGrp="1"/>
          </p:cNvSpPr>
          <p:nvPr>
            <p:ph idx="1"/>
          </p:nvPr>
        </p:nvSpPr>
        <p:spPr>
          <a:xfrm>
            <a:off x="6090574" y="801866"/>
            <a:ext cx="5306084" cy="5230634"/>
          </a:xfrm>
        </p:spPr>
        <p:txBody>
          <a:bodyPr vert="horz" lIns="121920" tIns="60960" rIns="121920" bIns="60960" anchor="ctr">
            <a:normAutofit/>
          </a:bodyPr>
          <a:lstStyle/>
          <a:p>
            <a:pPr eaLnBrk="1" hangingPunct="1">
              <a:lnSpc>
                <a:spcPct val="90000"/>
              </a:lnSpc>
              <a:buSzPct val="75000"/>
            </a:pPr>
            <a:r>
              <a:rPr lang="en-US" altLang="zh-CN" sz="1300">
                <a:solidFill>
                  <a:srgbClr val="000000"/>
                </a:solidFill>
                <a:latin typeface="+mn-lt"/>
                <a:ea typeface="+mn-ea"/>
                <a:cs typeface="+mn-cs"/>
              </a:rPr>
              <a:t>DECLARE</a:t>
            </a:r>
          </a:p>
          <a:p>
            <a:pPr eaLnBrk="1" hangingPunct="1">
              <a:lnSpc>
                <a:spcPct val="90000"/>
              </a:lnSpc>
              <a:buSzPct val="75000"/>
            </a:pPr>
            <a:r>
              <a:rPr lang="en-US" altLang="zh-CN" sz="1300">
                <a:solidFill>
                  <a:srgbClr val="000000"/>
                </a:solidFill>
                <a:latin typeface="+mn-lt"/>
                <a:ea typeface="+mn-ea"/>
                <a:cs typeface="+mn-cs"/>
              </a:rPr>
              <a:t>  v_sal employees.salary%TYPE;</a:t>
            </a:r>
          </a:p>
          <a:p>
            <a:pPr eaLnBrk="1" hangingPunct="1">
              <a:lnSpc>
                <a:spcPct val="90000"/>
              </a:lnSpc>
              <a:buSzPct val="75000"/>
            </a:pPr>
            <a:r>
              <a:rPr lang="en-US" altLang="zh-CN" sz="1300">
                <a:solidFill>
                  <a:srgbClr val="000000"/>
                </a:solidFill>
                <a:latin typeface="+mn-lt"/>
                <a:ea typeface="+mn-ea"/>
                <a:cs typeface="+mn-cs"/>
              </a:rPr>
              <a:t>  e_highlimit EXCEPTION;</a:t>
            </a:r>
          </a:p>
          <a:p>
            <a:pPr eaLnBrk="1" hangingPunct="1">
              <a:lnSpc>
                <a:spcPct val="90000"/>
              </a:lnSpc>
              <a:buSzPct val="75000"/>
            </a:pPr>
            <a:r>
              <a:rPr lang="en-US" altLang="zh-CN" sz="1300">
                <a:solidFill>
                  <a:srgbClr val="000000"/>
                </a:solidFill>
                <a:latin typeface="+mn-lt"/>
                <a:ea typeface="+mn-ea"/>
                <a:cs typeface="+mn-cs"/>
              </a:rPr>
              <a:t>  v_code NUMBER(6);</a:t>
            </a:r>
          </a:p>
          <a:p>
            <a:pPr eaLnBrk="1" hangingPunct="1">
              <a:lnSpc>
                <a:spcPct val="90000"/>
              </a:lnSpc>
              <a:buSzPct val="75000"/>
            </a:pPr>
            <a:r>
              <a:rPr lang="en-US" altLang="zh-CN" sz="1300">
                <a:solidFill>
                  <a:srgbClr val="000000"/>
                </a:solidFill>
                <a:latin typeface="+mn-lt"/>
                <a:ea typeface="+mn-ea"/>
                <a:cs typeface="+mn-cs"/>
              </a:rPr>
              <a:t>  v_text VARCHAR2(200);</a:t>
            </a:r>
          </a:p>
          <a:p>
            <a:pPr eaLnBrk="1" hangingPunct="1">
              <a:lnSpc>
                <a:spcPct val="90000"/>
              </a:lnSpc>
              <a:buSzPct val="75000"/>
            </a:pPr>
            <a:r>
              <a:rPr lang="en-US" altLang="zh-CN" sz="1300">
                <a:solidFill>
                  <a:srgbClr val="000000"/>
                </a:solidFill>
                <a:latin typeface="+mn-lt"/>
                <a:ea typeface="+mn-ea"/>
                <a:cs typeface="+mn-cs"/>
              </a:rPr>
              <a:t>BEGIN</a:t>
            </a:r>
          </a:p>
          <a:p>
            <a:pPr eaLnBrk="1" hangingPunct="1">
              <a:lnSpc>
                <a:spcPct val="90000"/>
              </a:lnSpc>
              <a:buSzPct val="75000"/>
            </a:pPr>
            <a:r>
              <a:rPr lang="en-US" altLang="zh-CN" sz="1300">
                <a:solidFill>
                  <a:srgbClr val="000000"/>
                </a:solidFill>
                <a:latin typeface="+mn-lt"/>
                <a:ea typeface="+mn-ea"/>
                <a:cs typeface="+mn-cs"/>
              </a:rPr>
              <a:t>  SELECT salary INTO v_sal FROM employees WHERE last_name='Smith';</a:t>
            </a:r>
          </a:p>
          <a:p>
            <a:pPr eaLnBrk="1" hangingPunct="1">
              <a:lnSpc>
                <a:spcPct val="90000"/>
              </a:lnSpc>
              <a:buSzPct val="75000"/>
            </a:pPr>
            <a:r>
              <a:rPr lang="en-US" altLang="zh-CN" sz="1300">
                <a:solidFill>
                  <a:srgbClr val="000000"/>
                </a:solidFill>
                <a:latin typeface="+mn-lt"/>
                <a:ea typeface="+mn-ea"/>
                <a:cs typeface="+mn-cs"/>
              </a:rPr>
              <a:t>  UPDATE employees SET salary=salary+100 WHERE employee_id=200;</a:t>
            </a:r>
          </a:p>
          <a:p>
            <a:pPr eaLnBrk="1" hangingPunct="1">
              <a:lnSpc>
                <a:spcPct val="90000"/>
              </a:lnSpc>
              <a:buSzPct val="75000"/>
            </a:pPr>
            <a:r>
              <a:rPr lang="en-US" altLang="zh-CN" sz="1300">
                <a:solidFill>
                  <a:srgbClr val="000000"/>
                </a:solidFill>
                <a:latin typeface="+mn-lt"/>
                <a:ea typeface="+mn-ea"/>
                <a:cs typeface="+mn-cs"/>
              </a:rPr>
              <a:t>  IF v_sal&gt;6000 THEN </a:t>
            </a:r>
          </a:p>
          <a:p>
            <a:pPr eaLnBrk="1" hangingPunct="1">
              <a:lnSpc>
                <a:spcPct val="90000"/>
              </a:lnSpc>
              <a:buSzPct val="75000"/>
            </a:pPr>
            <a:r>
              <a:rPr lang="en-US" altLang="zh-CN" sz="1300">
                <a:solidFill>
                  <a:srgbClr val="000000"/>
                </a:solidFill>
                <a:latin typeface="+mn-lt"/>
                <a:ea typeface="+mn-ea"/>
                <a:cs typeface="+mn-cs"/>
              </a:rPr>
              <a:t>    RAISE e_highlimit;</a:t>
            </a:r>
          </a:p>
          <a:p>
            <a:pPr eaLnBrk="1" hangingPunct="1">
              <a:lnSpc>
                <a:spcPct val="90000"/>
              </a:lnSpc>
              <a:buSzPct val="75000"/>
            </a:pPr>
            <a:r>
              <a:rPr lang="en-US" altLang="zh-CN" sz="1300">
                <a:solidFill>
                  <a:srgbClr val="000000"/>
                </a:solidFill>
                <a:latin typeface="+mn-lt"/>
                <a:ea typeface="+mn-ea"/>
                <a:cs typeface="+mn-cs"/>
              </a:rPr>
              <a:t>  END IF;</a:t>
            </a:r>
          </a:p>
          <a:p>
            <a:pPr eaLnBrk="1" hangingPunct="1">
              <a:lnSpc>
                <a:spcPct val="90000"/>
              </a:lnSpc>
              <a:buSzPct val="75000"/>
            </a:pPr>
            <a:r>
              <a:rPr lang="en-US" altLang="zh-CN" sz="1300">
                <a:solidFill>
                  <a:srgbClr val="000000"/>
                </a:solidFill>
                <a:latin typeface="+mn-lt"/>
                <a:ea typeface="+mn-ea"/>
                <a:cs typeface="+mn-cs"/>
              </a:rPr>
              <a:t>EXCEPTION</a:t>
            </a:r>
          </a:p>
          <a:p>
            <a:pPr eaLnBrk="1" hangingPunct="1">
              <a:lnSpc>
                <a:spcPct val="90000"/>
              </a:lnSpc>
              <a:buSzPct val="75000"/>
            </a:pPr>
            <a:r>
              <a:rPr lang="en-US" altLang="zh-CN" sz="1300">
                <a:solidFill>
                  <a:srgbClr val="000000"/>
                </a:solidFill>
                <a:latin typeface="+mn-lt"/>
                <a:ea typeface="+mn-ea"/>
                <a:cs typeface="+mn-cs"/>
              </a:rPr>
              <a:t>  WHEN e_highlimit THEN</a:t>
            </a:r>
          </a:p>
          <a:p>
            <a:pPr eaLnBrk="1" hangingPunct="1">
              <a:lnSpc>
                <a:spcPct val="90000"/>
              </a:lnSpc>
              <a:buSzPct val="75000"/>
            </a:pPr>
            <a:r>
              <a:rPr lang="en-US" altLang="zh-CN" sz="1300">
                <a:solidFill>
                  <a:srgbClr val="000000"/>
                </a:solidFill>
                <a:latin typeface="+mn-lt"/>
                <a:ea typeface="+mn-ea"/>
                <a:cs typeface="+mn-cs"/>
              </a:rPr>
              <a:t>    DBMS_OUTPUT.PUT_LINE('The salary is too large! ');</a:t>
            </a:r>
          </a:p>
          <a:p>
            <a:pPr eaLnBrk="1" hangingPunct="1">
              <a:lnSpc>
                <a:spcPct val="90000"/>
              </a:lnSpc>
              <a:buSzPct val="75000"/>
            </a:pPr>
            <a:r>
              <a:rPr lang="en-US" altLang="zh-CN" sz="1300">
                <a:solidFill>
                  <a:srgbClr val="000000"/>
                </a:solidFill>
                <a:latin typeface="+mn-lt"/>
                <a:ea typeface="+mn-ea"/>
                <a:cs typeface="+mn-cs"/>
              </a:rPr>
              <a:t>    ROLLBACK;</a:t>
            </a:r>
          </a:p>
          <a:p>
            <a:pPr eaLnBrk="1" hangingPunct="1">
              <a:lnSpc>
                <a:spcPct val="90000"/>
              </a:lnSpc>
              <a:buSzPct val="75000"/>
            </a:pPr>
            <a:r>
              <a:rPr lang="en-US" altLang="zh-CN" sz="1300">
                <a:solidFill>
                  <a:srgbClr val="000000"/>
                </a:solidFill>
                <a:latin typeface="+mn-lt"/>
                <a:ea typeface="+mn-ea"/>
                <a:cs typeface="+mn-cs"/>
              </a:rPr>
              <a:t>  WHEN OTHERS THEN</a:t>
            </a:r>
          </a:p>
          <a:p>
            <a:pPr eaLnBrk="1" hangingPunct="1">
              <a:lnSpc>
                <a:spcPct val="90000"/>
              </a:lnSpc>
              <a:buSzPct val="75000"/>
            </a:pPr>
            <a:r>
              <a:rPr lang="en-US" altLang="zh-CN" sz="1300">
                <a:solidFill>
                  <a:srgbClr val="000000"/>
                </a:solidFill>
                <a:latin typeface="+mn-lt"/>
                <a:ea typeface="+mn-ea"/>
                <a:cs typeface="+mn-cs"/>
              </a:rPr>
              <a:t>    v_code:=SQLCODE;</a:t>
            </a:r>
          </a:p>
          <a:p>
            <a:pPr eaLnBrk="1" hangingPunct="1">
              <a:lnSpc>
                <a:spcPct val="90000"/>
              </a:lnSpc>
              <a:buSzPct val="75000"/>
            </a:pPr>
            <a:r>
              <a:rPr lang="en-US" altLang="zh-CN" sz="1300">
                <a:solidFill>
                  <a:srgbClr val="000000"/>
                </a:solidFill>
                <a:latin typeface="+mn-lt"/>
                <a:ea typeface="+mn-ea"/>
                <a:cs typeface="+mn-cs"/>
              </a:rPr>
              <a:t>    v_text:=SQLERRM;   </a:t>
            </a:r>
          </a:p>
          <a:p>
            <a:pPr eaLnBrk="1" hangingPunct="1">
              <a:lnSpc>
                <a:spcPct val="90000"/>
              </a:lnSpc>
              <a:buSzPct val="75000"/>
            </a:pPr>
            <a:r>
              <a:rPr lang="en-US" altLang="zh-CN" sz="1300">
                <a:solidFill>
                  <a:srgbClr val="000000"/>
                </a:solidFill>
                <a:latin typeface="+mn-lt"/>
                <a:ea typeface="+mn-ea"/>
                <a:cs typeface="+mn-cs"/>
              </a:rPr>
              <a:t>    DBMS_OUTPUT.PUT_LINE(v_code||' '||v_text);</a:t>
            </a:r>
          </a:p>
          <a:p>
            <a:pPr eaLnBrk="1" hangingPunct="1">
              <a:lnSpc>
                <a:spcPct val="90000"/>
              </a:lnSpc>
              <a:buSzPct val="75000"/>
            </a:pPr>
            <a:r>
              <a:rPr lang="en-US" altLang="zh-CN" sz="1300">
                <a:solidFill>
                  <a:srgbClr val="000000"/>
                </a:solidFill>
                <a:latin typeface="+mn-lt"/>
                <a:ea typeface="+mn-ea"/>
                <a:cs typeface="+mn-cs"/>
              </a:rPr>
              <a:t>END; </a:t>
            </a:r>
          </a:p>
        </p:txBody>
      </p:sp>
      <p:sp>
        <p:nvSpPr>
          <p:cNvPr id="120834"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116</a:t>
            </a:fld>
            <a:endParaRPr lang="en-US" altLang="zh-CN">
              <a:solidFill>
                <a:srgbClr val="898989"/>
              </a:solidFill>
              <a:ea typeface="宋体" panose="02010600030101010101" pitchFamily="2" charset="-122"/>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1859"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r>
              <a:rPr lang="en-GB" altLang="zh-CN">
                <a:solidFill>
                  <a:srgbClr val="FFFFFF"/>
                </a:solidFill>
                <a:latin typeface="+mj-lt"/>
                <a:ea typeface="+mj-ea"/>
                <a:cs typeface="+mj-cs"/>
              </a:rPr>
              <a:t>9.8.3</a:t>
            </a:r>
            <a:r>
              <a:rPr lang="zh-CN" altLang="en-GB">
                <a:solidFill>
                  <a:srgbClr val="FFFFFF"/>
                </a:solidFill>
                <a:latin typeface="+mj-lt"/>
                <a:ea typeface="+mj-ea"/>
                <a:cs typeface="+mj-cs"/>
              </a:rPr>
              <a:t>异常的传播</a:t>
            </a:r>
            <a:endParaRPr lang="zh-CN" altLang="en-US">
              <a:solidFill>
                <a:srgbClr val="FFFFFF"/>
              </a:solidFill>
              <a:latin typeface="+mj-lt"/>
              <a:ea typeface="+mj-ea"/>
              <a:cs typeface="+mj-cs"/>
            </a:endParaRPr>
          </a:p>
        </p:txBody>
      </p:sp>
      <p:sp>
        <p:nvSpPr>
          <p:cNvPr id="121860"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buSzPct val="75000"/>
            </a:pPr>
            <a:r>
              <a:rPr lang="zh-CN" altLang="en-US" sz="2000">
                <a:solidFill>
                  <a:srgbClr val="000000"/>
                </a:solidFill>
                <a:latin typeface="+mn-lt"/>
                <a:ea typeface="+mn-ea"/>
                <a:cs typeface="+mn-cs"/>
              </a:rPr>
              <a:t>执行部分的异常 </a:t>
            </a:r>
          </a:p>
          <a:p>
            <a:pPr eaLnBrk="1" hangingPunct="1">
              <a:buSzPct val="75000"/>
            </a:pPr>
            <a:r>
              <a:rPr lang="zh-CN" altLang="en-US" sz="2000">
                <a:solidFill>
                  <a:srgbClr val="000000"/>
                </a:solidFill>
                <a:latin typeface="+mn-lt"/>
                <a:ea typeface="+mn-ea"/>
                <a:cs typeface="+mn-cs"/>
              </a:rPr>
              <a:t>声明部分和异常处理部分的异常 </a:t>
            </a:r>
          </a:p>
        </p:txBody>
      </p:sp>
      <p:sp>
        <p:nvSpPr>
          <p:cNvPr id="121858"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117</a:t>
            </a:fld>
            <a:endParaRPr lang="en-US" altLang="zh-CN">
              <a:solidFill>
                <a:srgbClr val="898989"/>
              </a:solidFill>
              <a:ea typeface="宋体" panose="02010600030101010101" pitchFamily="2" charset="-122"/>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2883"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r>
              <a:rPr lang="zh-CN" altLang="en-US">
                <a:solidFill>
                  <a:srgbClr val="FFFFFF"/>
                </a:solidFill>
                <a:latin typeface="+mj-lt"/>
                <a:ea typeface="+mj-ea"/>
                <a:cs typeface="+mj-cs"/>
              </a:rPr>
              <a:t>（</a:t>
            </a:r>
            <a:r>
              <a:rPr lang="en-US" altLang="zh-CN">
                <a:solidFill>
                  <a:srgbClr val="FFFFFF"/>
                </a:solidFill>
                <a:latin typeface="+mj-lt"/>
                <a:ea typeface="+mj-ea"/>
                <a:cs typeface="+mj-cs"/>
              </a:rPr>
              <a:t>1</a:t>
            </a:r>
            <a:r>
              <a:rPr lang="zh-CN" altLang="en-US">
                <a:solidFill>
                  <a:srgbClr val="FFFFFF"/>
                </a:solidFill>
                <a:latin typeface="+mj-lt"/>
                <a:ea typeface="+mj-ea"/>
                <a:cs typeface="+mj-cs"/>
              </a:rPr>
              <a:t>）执行部分异常的传播</a:t>
            </a:r>
          </a:p>
        </p:txBody>
      </p:sp>
      <p:sp>
        <p:nvSpPr>
          <p:cNvPr id="122884"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buSzPct val="75000"/>
            </a:pPr>
            <a:r>
              <a:rPr lang="zh-CN" altLang="en-US" sz="2000">
                <a:solidFill>
                  <a:srgbClr val="000000"/>
                </a:solidFill>
                <a:latin typeface="宋体" panose="02010600030101010101" pitchFamily="2" charset="-122"/>
                <a:ea typeface="+mn-ea"/>
                <a:cs typeface="+mn-cs"/>
              </a:rPr>
              <a:t>如果当前语句块有该异常的处理器，则执行之，并且成功完成该语句块。然后，控制权传递到外层语句块。</a:t>
            </a:r>
            <a:r>
              <a:rPr lang="zh-CN" altLang="en-US" sz="2000">
                <a:solidFill>
                  <a:srgbClr val="000000"/>
                </a:solidFill>
                <a:latin typeface="+mn-lt"/>
                <a:ea typeface="+mn-ea"/>
                <a:cs typeface="+mn-cs"/>
              </a:rPr>
              <a:t> </a:t>
            </a:r>
          </a:p>
          <a:p>
            <a:pPr eaLnBrk="1" hangingPunct="1">
              <a:buSzPct val="75000"/>
            </a:pPr>
            <a:r>
              <a:rPr lang="zh-CN" altLang="en-US" sz="2000">
                <a:solidFill>
                  <a:srgbClr val="000000"/>
                </a:solidFill>
                <a:latin typeface="宋体" panose="02010600030101010101" pitchFamily="2" charset="-122"/>
                <a:ea typeface="+mn-ea"/>
                <a:cs typeface="+mn-cs"/>
              </a:rPr>
              <a:t>如果当前语句块没有该异常的处理器，则通过在外层语句块中产生该异常来传播该异常。然后，执行对外层语句块执行步骤</a:t>
            </a:r>
            <a:r>
              <a:rPr lang="en-US" altLang="zh-CN" sz="2000">
                <a:solidFill>
                  <a:srgbClr val="000000"/>
                </a:solidFill>
                <a:latin typeface="+mn-lt"/>
                <a:ea typeface="+mn-ea"/>
                <a:cs typeface="+mn-cs"/>
              </a:rPr>
              <a:t>1</a:t>
            </a:r>
            <a:r>
              <a:rPr lang="zh-CN" altLang="en-US" sz="2000">
                <a:solidFill>
                  <a:srgbClr val="000000"/>
                </a:solidFill>
                <a:latin typeface="宋体" panose="02010600030101010101" pitchFamily="2" charset="-122"/>
                <a:ea typeface="+mn-ea"/>
                <a:cs typeface="+mn-cs"/>
              </a:rPr>
              <a:t>。如果没有外层语句块，则该异常将传播到调用环境。</a:t>
            </a:r>
            <a:r>
              <a:rPr lang="zh-CN" altLang="en-US" sz="2000">
                <a:solidFill>
                  <a:srgbClr val="000000"/>
                </a:solidFill>
                <a:latin typeface="+mn-lt"/>
                <a:ea typeface="+mn-ea"/>
                <a:cs typeface="+mn-cs"/>
              </a:rPr>
              <a:t> </a:t>
            </a:r>
          </a:p>
        </p:txBody>
      </p:sp>
      <p:sp>
        <p:nvSpPr>
          <p:cNvPr id="122882"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118</a:t>
            </a:fld>
            <a:endParaRPr lang="en-US" altLang="zh-CN">
              <a:solidFill>
                <a:srgbClr val="898989"/>
              </a:solidFill>
              <a:ea typeface="宋体" panose="02010600030101010101" pitchFamily="2" charset="-122"/>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6" name="Picture 75">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3907" name="Rectangle 3"/>
          <p:cNvSpPr>
            <a:spLocks noGrp="1"/>
          </p:cNvSpPr>
          <p:nvPr>
            <p:ph idx="1"/>
          </p:nvPr>
        </p:nvSpPr>
        <p:spPr>
          <a:xfrm>
            <a:off x="6090574" y="801866"/>
            <a:ext cx="5306084" cy="5230634"/>
          </a:xfrm>
        </p:spPr>
        <p:txBody>
          <a:bodyPr vert="horz" lIns="121920" tIns="60960" rIns="121920" bIns="60960" anchor="ctr">
            <a:normAutofit/>
          </a:bodyPr>
          <a:lstStyle/>
          <a:p>
            <a:pPr eaLnBrk="1" hangingPunct="1">
              <a:lnSpc>
                <a:spcPct val="90000"/>
              </a:lnSpc>
              <a:buSzPct val="75000"/>
            </a:pPr>
            <a:r>
              <a:rPr lang="en-US" altLang="zh-CN" sz="2000">
                <a:solidFill>
                  <a:srgbClr val="000000"/>
                </a:solidFill>
                <a:latin typeface="+mn-lt"/>
                <a:ea typeface="+mn-ea"/>
                <a:cs typeface="+mn-cs"/>
              </a:rPr>
              <a:t>DECLARE</a:t>
            </a:r>
          </a:p>
          <a:p>
            <a:pPr eaLnBrk="1" hangingPunct="1">
              <a:lnSpc>
                <a:spcPct val="90000"/>
              </a:lnSpc>
              <a:buSzPct val="75000"/>
            </a:pPr>
            <a:r>
              <a:rPr lang="en-US" altLang="zh-CN" sz="2000">
                <a:solidFill>
                  <a:srgbClr val="000000"/>
                </a:solidFill>
                <a:latin typeface="+mn-lt"/>
                <a:ea typeface="+mn-ea"/>
                <a:cs typeface="+mn-cs"/>
              </a:rPr>
              <a:t>  v_sal employees.salary%TYPE;</a:t>
            </a:r>
          </a:p>
          <a:p>
            <a:pPr eaLnBrk="1" hangingPunct="1">
              <a:lnSpc>
                <a:spcPct val="90000"/>
              </a:lnSpc>
              <a:buSzPct val="75000"/>
            </a:pPr>
            <a:r>
              <a:rPr lang="en-US" altLang="zh-CN" sz="2000">
                <a:solidFill>
                  <a:srgbClr val="000000"/>
                </a:solidFill>
                <a:latin typeface="+mn-lt"/>
                <a:ea typeface="+mn-ea"/>
                <a:cs typeface="+mn-cs"/>
              </a:rPr>
              <a:t>BEGIN</a:t>
            </a:r>
          </a:p>
          <a:p>
            <a:pPr eaLnBrk="1" hangingPunct="1">
              <a:lnSpc>
                <a:spcPct val="90000"/>
              </a:lnSpc>
              <a:buSzPct val="75000"/>
            </a:pPr>
            <a:r>
              <a:rPr lang="en-US" altLang="zh-CN" sz="2000">
                <a:solidFill>
                  <a:srgbClr val="000000"/>
                </a:solidFill>
                <a:latin typeface="+mn-lt"/>
                <a:ea typeface="+mn-ea"/>
                <a:cs typeface="+mn-cs"/>
              </a:rPr>
              <a:t>  BEGIN  </a:t>
            </a:r>
          </a:p>
          <a:p>
            <a:pPr eaLnBrk="1" hangingPunct="1">
              <a:lnSpc>
                <a:spcPct val="90000"/>
              </a:lnSpc>
              <a:buSzPct val="75000"/>
            </a:pPr>
            <a:r>
              <a:rPr lang="en-US" altLang="zh-CN" sz="2000">
                <a:solidFill>
                  <a:srgbClr val="000000"/>
                </a:solidFill>
                <a:latin typeface="+mn-lt"/>
                <a:ea typeface="+mn-ea"/>
                <a:cs typeface="+mn-cs"/>
              </a:rPr>
              <a:t>    SELECT salary INTO v_sal FROM employees </a:t>
            </a:r>
          </a:p>
          <a:p>
            <a:pPr eaLnBrk="1" hangingPunct="1">
              <a:lnSpc>
                <a:spcPct val="90000"/>
              </a:lnSpc>
              <a:buSzPct val="75000"/>
            </a:pPr>
            <a:r>
              <a:rPr lang="en-US" altLang="zh-CN" sz="2000">
                <a:solidFill>
                  <a:srgbClr val="000000"/>
                </a:solidFill>
                <a:latin typeface="+mn-lt"/>
                <a:ea typeface="+mn-ea"/>
                <a:cs typeface="+mn-cs"/>
              </a:rPr>
              <a:t>    WHERE last_name='Joan';</a:t>
            </a:r>
          </a:p>
          <a:p>
            <a:pPr eaLnBrk="1" hangingPunct="1">
              <a:lnSpc>
                <a:spcPct val="90000"/>
              </a:lnSpc>
              <a:buSzPct val="75000"/>
            </a:pPr>
            <a:r>
              <a:rPr lang="en-US" altLang="zh-CN" sz="2000">
                <a:solidFill>
                  <a:srgbClr val="000000"/>
                </a:solidFill>
                <a:latin typeface="+mn-lt"/>
                <a:ea typeface="+mn-ea"/>
                <a:cs typeface="+mn-cs"/>
              </a:rPr>
              <a:t>  EXCEPTION</a:t>
            </a:r>
          </a:p>
          <a:p>
            <a:pPr eaLnBrk="1" hangingPunct="1">
              <a:lnSpc>
                <a:spcPct val="90000"/>
              </a:lnSpc>
              <a:buSzPct val="75000"/>
            </a:pPr>
            <a:r>
              <a:rPr lang="en-US" altLang="zh-CN" sz="2000">
                <a:solidFill>
                  <a:srgbClr val="000000"/>
                </a:solidFill>
                <a:latin typeface="+mn-lt"/>
                <a:ea typeface="+mn-ea"/>
                <a:cs typeface="+mn-cs"/>
              </a:rPr>
              <a:t>    WHEN NO_DATA_FOUND THEN </a:t>
            </a:r>
          </a:p>
          <a:p>
            <a:pPr eaLnBrk="1" hangingPunct="1">
              <a:lnSpc>
                <a:spcPct val="90000"/>
              </a:lnSpc>
              <a:buSzPct val="75000"/>
            </a:pPr>
            <a:r>
              <a:rPr lang="en-US" altLang="zh-CN" sz="2000">
                <a:solidFill>
                  <a:srgbClr val="000000"/>
                </a:solidFill>
                <a:latin typeface="+mn-lt"/>
                <a:ea typeface="+mn-ea"/>
                <a:cs typeface="+mn-cs"/>
              </a:rPr>
              <a:t>      DBMS_OUTPUT.PUT_LINE('There is not such an employee! ');</a:t>
            </a:r>
          </a:p>
          <a:p>
            <a:pPr eaLnBrk="1" hangingPunct="1">
              <a:lnSpc>
                <a:spcPct val="90000"/>
              </a:lnSpc>
              <a:buSzPct val="75000"/>
            </a:pPr>
            <a:r>
              <a:rPr lang="en-US" altLang="zh-CN" sz="2000">
                <a:solidFill>
                  <a:srgbClr val="000000"/>
                </a:solidFill>
                <a:latin typeface="+mn-lt"/>
                <a:ea typeface="+mn-ea"/>
                <a:cs typeface="+mn-cs"/>
              </a:rPr>
              <a:t>  END;</a:t>
            </a:r>
          </a:p>
          <a:p>
            <a:pPr eaLnBrk="1" hangingPunct="1">
              <a:lnSpc>
                <a:spcPct val="90000"/>
              </a:lnSpc>
              <a:buSzPct val="75000"/>
            </a:pPr>
            <a:r>
              <a:rPr lang="en-US" altLang="zh-CN" sz="2000">
                <a:solidFill>
                  <a:srgbClr val="000000"/>
                </a:solidFill>
                <a:latin typeface="+mn-lt"/>
                <a:ea typeface="+mn-ea"/>
                <a:cs typeface="+mn-cs"/>
              </a:rPr>
              <a:t>  DBMS_OUTPUT.PUT_LINE('Now this is outputted by outer block! ');</a:t>
            </a:r>
          </a:p>
          <a:p>
            <a:pPr eaLnBrk="1" hangingPunct="1">
              <a:lnSpc>
                <a:spcPct val="90000"/>
              </a:lnSpc>
              <a:buSzPct val="75000"/>
            </a:pPr>
            <a:r>
              <a:rPr lang="en-US" altLang="zh-CN" sz="2000">
                <a:solidFill>
                  <a:srgbClr val="000000"/>
                </a:solidFill>
                <a:latin typeface="+mn-lt"/>
                <a:ea typeface="+mn-ea"/>
                <a:cs typeface="+mn-cs"/>
              </a:rPr>
              <a:t>END; </a:t>
            </a:r>
          </a:p>
          <a:p>
            <a:pPr eaLnBrk="1" hangingPunct="1">
              <a:lnSpc>
                <a:spcPct val="90000"/>
              </a:lnSpc>
              <a:buSzPct val="75000"/>
            </a:pPr>
            <a:endParaRPr lang="en-US" altLang="zh-CN" sz="2000">
              <a:solidFill>
                <a:srgbClr val="000000"/>
              </a:solidFill>
              <a:latin typeface="+mn-lt"/>
              <a:ea typeface="+mn-ea"/>
              <a:cs typeface="+mn-cs"/>
            </a:endParaRPr>
          </a:p>
        </p:txBody>
      </p:sp>
      <p:sp>
        <p:nvSpPr>
          <p:cNvPr id="123906"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119</a:t>
            </a:fld>
            <a:endParaRPr lang="en-US" altLang="zh-CN">
              <a:solidFill>
                <a:srgbClr val="898989"/>
              </a:solidFill>
              <a:ea typeface="宋体" panose="02010600030101010101" pitchFamily="2" charset="-122"/>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6" name="Picture 75">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4931" name="Rectangle 3"/>
          <p:cNvSpPr>
            <a:spLocks noGrp="1"/>
          </p:cNvSpPr>
          <p:nvPr>
            <p:ph idx="1"/>
          </p:nvPr>
        </p:nvSpPr>
        <p:spPr>
          <a:xfrm>
            <a:off x="6090574" y="801866"/>
            <a:ext cx="5306084" cy="5230634"/>
          </a:xfrm>
        </p:spPr>
        <p:txBody>
          <a:bodyPr vert="horz" lIns="121920" tIns="60960" rIns="121920" bIns="60960" anchor="ctr">
            <a:normAutofit/>
          </a:bodyPr>
          <a:lstStyle/>
          <a:p>
            <a:pPr eaLnBrk="1" hangingPunct="1">
              <a:lnSpc>
                <a:spcPct val="90000"/>
              </a:lnSpc>
              <a:buSzPct val="75000"/>
            </a:pPr>
            <a:r>
              <a:rPr lang="en-US" altLang="zh-CN" sz="1500">
                <a:solidFill>
                  <a:srgbClr val="000000"/>
                </a:solidFill>
                <a:latin typeface="+mn-lt"/>
                <a:ea typeface="+mn-ea"/>
                <a:cs typeface="+mn-cs"/>
              </a:rPr>
              <a:t>DECLARE</a:t>
            </a:r>
          </a:p>
          <a:p>
            <a:pPr eaLnBrk="1" hangingPunct="1">
              <a:lnSpc>
                <a:spcPct val="90000"/>
              </a:lnSpc>
              <a:buSzPct val="75000"/>
            </a:pPr>
            <a:r>
              <a:rPr lang="en-US" altLang="zh-CN" sz="1500">
                <a:solidFill>
                  <a:srgbClr val="000000"/>
                </a:solidFill>
                <a:latin typeface="+mn-lt"/>
                <a:ea typeface="+mn-ea"/>
                <a:cs typeface="+mn-cs"/>
              </a:rPr>
              <a:t>  v_sal employees.salary%TYPE;</a:t>
            </a:r>
          </a:p>
          <a:p>
            <a:pPr eaLnBrk="1" hangingPunct="1">
              <a:lnSpc>
                <a:spcPct val="90000"/>
              </a:lnSpc>
              <a:buSzPct val="75000"/>
            </a:pPr>
            <a:r>
              <a:rPr lang="en-US" altLang="zh-CN" sz="1500">
                <a:solidFill>
                  <a:srgbClr val="000000"/>
                </a:solidFill>
                <a:latin typeface="+mn-lt"/>
                <a:ea typeface="+mn-ea"/>
                <a:cs typeface="+mn-cs"/>
              </a:rPr>
              <a:t>BEGIN</a:t>
            </a:r>
          </a:p>
          <a:p>
            <a:pPr eaLnBrk="1" hangingPunct="1">
              <a:lnSpc>
                <a:spcPct val="90000"/>
              </a:lnSpc>
              <a:buSzPct val="75000"/>
            </a:pPr>
            <a:r>
              <a:rPr lang="en-US" altLang="zh-CN" sz="1500">
                <a:solidFill>
                  <a:srgbClr val="000000"/>
                </a:solidFill>
                <a:latin typeface="+mn-lt"/>
                <a:ea typeface="+mn-ea"/>
                <a:cs typeface="+mn-cs"/>
              </a:rPr>
              <a:t>  BEGIN  </a:t>
            </a:r>
          </a:p>
          <a:p>
            <a:pPr eaLnBrk="1" hangingPunct="1">
              <a:lnSpc>
                <a:spcPct val="90000"/>
              </a:lnSpc>
              <a:buSzPct val="75000"/>
            </a:pPr>
            <a:r>
              <a:rPr lang="en-US" altLang="zh-CN" sz="1500">
                <a:solidFill>
                  <a:srgbClr val="000000"/>
                </a:solidFill>
                <a:latin typeface="+mn-lt"/>
                <a:ea typeface="+mn-ea"/>
                <a:cs typeface="+mn-cs"/>
              </a:rPr>
              <a:t>    SELECT salary INTO v_sal FROM employees</a:t>
            </a:r>
          </a:p>
          <a:p>
            <a:pPr eaLnBrk="1" hangingPunct="1">
              <a:lnSpc>
                <a:spcPct val="90000"/>
              </a:lnSpc>
              <a:buSzPct val="75000"/>
            </a:pPr>
            <a:r>
              <a:rPr lang="en-US" altLang="zh-CN" sz="1500">
                <a:solidFill>
                  <a:srgbClr val="000000"/>
                </a:solidFill>
                <a:latin typeface="+mn-lt"/>
                <a:ea typeface="+mn-ea"/>
                <a:cs typeface="+mn-cs"/>
              </a:rPr>
              <a:t>    WHERE department_id=50;</a:t>
            </a:r>
          </a:p>
          <a:p>
            <a:pPr eaLnBrk="1" hangingPunct="1">
              <a:lnSpc>
                <a:spcPct val="90000"/>
              </a:lnSpc>
              <a:buSzPct val="75000"/>
            </a:pPr>
            <a:r>
              <a:rPr lang="en-US" altLang="zh-CN" sz="1500">
                <a:solidFill>
                  <a:srgbClr val="000000"/>
                </a:solidFill>
                <a:latin typeface="+mn-lt"/>
                <a:ea typeface="+mn-ea"/>
                <a:cs typeface="+mn-cs"/>
              </a:rPr>
              <a:t>  EXCEPTION</a:t>
            </a:r>
          </a:p>
          <a:p>
            <a:pPr eaLnBrk="1" hangingPunct="1">
              <a:lnSpc>
                <a:spcPct val="90000"/>
              </a:lnSpc>
              <a:buSzPct val="75000"/>
            </a:pPr>
            <a:r>
              <a:rPr lang="en-US" altLang="zh-CN" sz="1500">
                <a:solidFill>
                  <a:srgbClr val="000000"/>
                </a:solidFill>
                <a:latin typeface="+mn-lt"/>
                <a:ea typeface="+mn-ea"/>
                <a:cs typeface="+mn-cs"/>
              </a:rPr>
              <a:t>    WHEN NO_DATA_FOUND THEN </a:t>
            </a:r>
          </a:p>
          <a:p>
            <a:pPr eaLnBrk="1" hangingPunct="1">
              <a:lnSpc>
                <a:spcPct val="90000"/>
              </a:lnSpc>
              <a:buSzPct val="75000"/>
            </a:pPr>
            <a:r>
              <a:rPr lang="en-US" altLang="zh-CN" sz="1500">
                <a:solidFill>
                  <a:srgbClr val="000000"/>
                </a:solidFill>
                <a:latin typeface="+mn-lt"/>
                <a:ea typeface="+mn-ea"/>
                <a:cs typeface="+mn-cs"/>
              </a:rPr>
              <a:t>      DBMS_OUTPUT.PUT_LINE('There is not such an employee! ');</a:t>
            </a:r>
          </a:p>
          <a:p>
            <a:pPr eaLnBrk="1" hangingPunct="1">
              <a:lnSpc>
                <a:spcPct val="90000"/>
              </a:lnSpc>
              <a:buSzPct val="75000"/>
            </a:pPr>
            <a:r>
              <a:rPr lang="en-US" altLang="zh-CN" sz="1500">
                <a:solidFill>
                  <a:srgbClr val="000000"/>
                </a:solidFill>
                <a:latin typeface="+mn-lt"/>
                <a:ea typeface="+mn-ea"/>
                <a:cs typeface="+mn-cs"/>
              </a:rPr>
              <a:t>  END;</a:t>
            </a:r>
          </a:p>
          <a:p>
            <a:pPr eaLnBrk="1" hangingPunct="1">
              <a:lnSpc>
                <a:spcPct val="90000"/>
              </a:lnSpc>
              <a:buSzPct val="75000"/>
            </a:pPr>
            <a:r>
              <a:rPr lang="en-US" altLang="zh-CN" sz="1500">
                <a:solidFill>
                  <a:srgbClr val="000000"/>
                </a:solidFill>
                <a:latin typeface="+mn-lt"/>
                <a:ea typeface="+mn-ea"/>
                <a:cs typeface="+mn-cs"/>
              </a:rPr>
              <a:t>  DBMS_OUTPUT.PUT_LINE('This is outputted by outer block! ');</a:t>
            </a:r>
          </a:p>
          <a:p>
            <a:pPr eaLnBrk="1" hangingPunct="1">
              <a:lnSpc>
                <a:spcPct val="90000"/>
              </a:lnSpc>
              <a:buSzPct val="75000"/>
            </a:pPr>
            <a:r>
              <a:rPr lang="en-US" altLang="zh-CN" sz="1500">
                <a:solidFill>
                  <a:srgbClr val="000000"/>
                </a:solidFill>
                <a:latin typeface="+mn-lt"/>
                <a:ea typeface="+mn-ea"/>
                <a:cs typeface="+mn-cs"/>
              </a:rPr>
              <a:t>EXCEPTION</a:t>
            </a:r>
          </a:p>
          <a:p>
            <a:pPr eaLnBrk="1" hangingPunct="1">
              <a:lnSpc>
                <a:spcPct val="90000"/>
              </a:lnSpc>
              <a:buSzPct val="75000"/>
            </a:pPr>
            <a:r>
              <a:rPr lang="en-US" altLang="zh-CN" sz="1500">
                <a:solidFill>
                  <a:srgbClr val="000000"/>
                </a:solidFill>
                <a:latin typeface="+mn-lt"/>
                <a:ea typeface="+mn-ea"/>
                <a:cs typeface="+mn-cs"/>
              </a:rPr>
              <a:t>  WHEN TOO_MANY_ROWS THEN</a:t>
            </a:r>
          </a:p>
          <a:p>
            <a:pPr eaLnBrk="1" hangingPunct="1">
              <a:lnSpc>
                <a:spcPct val="90000"/>
              </a:lnSpc>
              <a:buSzPct val="75000"/>
            </a:pPr>
            <a:r>
              <a:rPr lang="en-US" altLang="zh-CN" sz="1500">
                <a:solidFill>
                  <a:srgbClr val="000000"/>
                </a:solidFill>
                <a:latin typeface="+mn-lt"/>
                <a:ea typeface="+mn-ea"/>
                <a:cs typeface="+mn-cs"/>
              </a:rPr>
              <a:t>    DBMS_OUTPUT.PUT_LINE('There are more than one employee! ');</a:t>
            </a:r>
          </a:p>
          <a:p>
            <a:pPr eaLnBrk="1" hangingPunct="1">
              <a:lnSpc>
                <a:spcPct val="90000"/>
              </a:lnSpc>
              <a:buSzPct val="75000"/>
            </a:pPr>
            <a:r>
              <a:rPr lang="en-US" altLang="zh-CN" sz="1500">
                <a:solidFill>
                  <a:srgbClr val="000000"/>
                </a:solidFill>
                <a:latin typeface="+mn-lt"/>
                <a:ea typeface="+mn-ea"/>
                <a:cs typeface="+mn-cs"/>
              </a:rPr>
              <a:t>END;</a:t>
            </a:r>
          </a:p>
        </p:txBody>
      </p:sp>
      <p:sp>
        <p:nvSpPr>
          <p:cNvPr id="124930"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120</a:t>
            </a:fld>
            <a:endParaRPr lang="en-US" altLang="zh-CN">
              <a:solidFill>
                <a:srgbClr val="898989"/>
              </a:solidFill>
              <a:ea typeface="宋体" panose="02010600030101010101" pitchFamily="2" charset="-122"/>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5956" name="Rectangle 6"/>
          <p:cNvSpPr>
            <a:spLocks noGrp="1"/>
          </p:cNvSpPr>
          <p:nvPr>
            <p:ph type="title"/>
          </p:nvPr>
        </p:nvSpPr>
        <p:spPr>
          <a:xfrm>
            <a:off x="1179226" y="826680"/>
            <a:ext cx="9833548" cy="1325563"/>
          </a:xfrm>
        </p:spPr>
        <p:txBody>
          <a:bodyPr vert="horz" lIns="121920" tIns="60960" rIns="121920" bIns="60960">
            <a:normAutofit/>
          </a:bodyPr>
          <a:lstStyle/>
          <a:p>
            <a:pPr eaLnBrk="1" hangingPunct="1"/>
            <a:r>
              <a:rPr lang="zh-CN" altLang="en-US">
                <a:solidFill>
                  <a:srgbClr val="FFFFFF"/>
                </a:solidFill>
                <a:latin typeface="+mj-lt"/>
                <a:ea typeface="+mj-ea"/>
                <a:cs typeface="+mj-cs"/>
              </a:rPr>
              <a:t>（</a:t>
            </a:r>
            <a:r>
              <a:rPr lang="en-US" altLang="zh-CN">
                <a:solidFill>
                  <a:srgbClr val="FFFFFF"/>
                </a:solidFill>
                <a:latin typeface="+mj-lt"/>
                <a:ea typeface="+mj-ea"/>
                <a:cs typeface="+mj-cs"/>
              </a:rPr>
              <a:t>2</a:t>
            </a:r>
            <a:r>
              <a:rPr lang="zh-CN" altLang="en-US">
                <a:solidFill>
                  <a:srgbClr val="FFFFFF"/>
                </a:solidFill>
                <a:latin typeface="+mj-lt"/>
                <a:ea typeface="+mj-ea"/>
                <a:cs typeface="+mj-cs"/>
              </a:rPr>
              <a:t>）声明部分和异常处理部分的异常</a:t>
            </a:r>
          </a:p>
        </p:txBody>
      </p:sp>
      <p:sp>
        <p:nvSpPr>
          <p:cNvPr id="125955" name="Rectangle 2"/>
          <p:cNvSpPr>
            <a:spLocks noGrp="1"/>
          </p:cNvSpPr>
          <p:nvPr>
            <p:ph idx="1"/>
          </p:nvPr>
        </p:nvSpPr>
        <p:spPr>
          <a:xfrm>
            <a:off x="1179226" y="3092970"/>
            <a:ext cx="9833548" cy="2693976"/>
          </a:xfrm>
        </p:spPr>
        <p:txBody>
          <a:bodyPr vert="horz" lIns="121920" tIns="60960" rIns="121920" bIns="60960">
            <a:normAutofit/>
          </a:bodyPr>
          <a:lstStyle/>
          <a:p>
            <a:pPr eaLnBrk="1" hangingPunct="1">
              <a:buSzPct val="75000"/>
            </a:pPr>
            <a:r>
              <a:rPr lang="zh-CN" altLang="en-US" sz="2000">
                <a:solidFill>
                  <a:srgbClr val="000000"/>
                </a:solidFill>
                <a:latin typeface="+mn-lt"/>
                <a:ea typeface="+mn-ea"/>
                <a:cs typeface="+mn-cs"/>
              </a:rPr>
              <a:t>声明部分和异常处理部分的异常会立刻传播到外层语句块的异常处理部分，即使当前语句块有该异常的异常处理器。 </a:t>
            </a:r>
          </a:p>
          <a:p>
            <a:pPr eaLnBrk="1" hangingPunct="1">
              <a:buSzPct val="75000"/>
            </a:pPr>
            <a:endParaRPr lang="en-US" altLang="zh-CN" sz="2000">
              <a:solidFill>
                <a:srgbClr val="000000"/>
              </a:solidFill>
              <a:latin typeface="+mn-lt"/>
              <a:ea typeface="+mn-ea"/>
              <a:cs typeface="+mn-cs"/>
            </a:endParaRPr>
          </a:p>
        </p:txBody>
      </p:sp>
      <p:sp>
        <p:nvSpPr>
          <p:cNvPr id="125954"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121</a:t>
            </a:fld>
            <a:endParaRPr lang="en-US" altLang="zh-CN">
              <a:solidFill>
                <a:srgbClr val="898989"/>
              </a:solidFill>
              <a:ea typeface="宋体" panose="02010600030101010101" pitchFamily="2" charset="-122"/>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6981" name="Rectangle 71">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6" name="Picture 75">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6979" name="Rectangle 3"/>
          <p:cNvSpPr>
            <a:spLocks noGrp="1"/>
          </p:cNvSpPr>
          <p:nvPr>
            <p:ph idx="1"/>
          </p:nvPr>
        </p:nvSpPr>
        <p:spPr>
          <a:xfrm>
            <a:off x="6090574" y="801866"/>
            <a:ext cx="5306084" cy="5230634"/>
          </a:xfrm>
        </p:spPr>
        <p:txBody>
          <a:bodyPr vert="horz" lIns="121920" tIns="60960" rIns="121920" bIns="60960" anchor="ctr">
            <a:normAutofit/>
          </a:bodyPr>
          <a:lstStyle/>
          <a:p>
            <a:pPr eaLnBrk="1" hangingPunct="1">
              <a:lnSpc>
                <a:spcPct val="90000"/>
              </a:lnSpc>
              <a:buSzPct val="75000"/>
            </a:pPr>
            <a:r>
              <a:rPr lang="en-US" altLang="zh-CN" sz="2000">
                <a:solidFill>
                  <a:srgbClr val="000000"/>
                </a:solidFill>
                <a:latin typeface="+mn-lt"/>
                <a:ea typeface="+mn-ea"/>
                <a:cs typeface="+mn-cs"/>
              </a:rPr>
              <a:t>BEGIN</a:t>
            </a:r>
          </a:p>
          <a:p>
            <a:pPr eaLnBrk="1" hangingPunct="1">
              <a:lnSpc>
                <a:spcPct val="90000"/>
              </a:lnSpc>
              <a:buSzPct val="75000"/>
            </a:pPr>
            <a:r>
              <a:rPr lang="en-US" altLang="zh-CN" sz="2000">
                <a:solidFill>
                  <a:srgbClr val="000000"/>
                </a:solidFill>
                <a:latin typeface="+mn-lt"/>
                <a:ea typeface="+mn-ea"/>
                <a:cs typeface="+mn-cs"/>
              </a:rPr>
              <a:t>  DECLARE</a:t>
            </a:r>
          </a:p>
          <a:p>
            <a:pPr eaLnBrk="1" hangingPunct="1">
              <a:lnSpc>
                <a:spcPct val="90000"/>
              </a:lnSpc>
              <a:buSzPct val="75000"/>
            </a:pPr>
            <a:r>
              <a:rPr lang="en-US" altLang="zh-CN" sz="2000">
                <a:solidFill>
                  <a:srgbClr val="000000"/>
                </a:solidFill>
                <a:latin typeface="+mn-lt"/>
                <a:ea typeface="+mn-ea"/>
                <a:cs typeface="+mn-cs"/>
              </a:rPr>
              <a:t>v_number NUMBER(6) := 'ABC';</a:t>
            </a:r>
          </a:p>
          <a:p>
            <a:pPr eaLnBrk="1" hangingPunct="1">
              <a:lnSpc>
                <a:spcPct val="90000"/>
              </a:lnSpc>
              <a:buSzPct val="75000"/>
            </a:pPr>
            <a:r>
              <a:rPr lang="en-US" altLang="zh-CN" sz="2000">
                <a:solidFill>
                  <a:srgbClr val="000000"/>
                </a:solidFill>
                <a:latin typeface="+mn-lt"/>
                <a:ea typeface="+mn-ea"/>
                <a:cs typeface="+mn-cs"/>
              </a:rPr>
              <a:t>BEGIN</a:t>
            </a:r>
          </a:p>
          <a:p>
            <a:pPr eaLnBrk="1" hangingPunct="1">
              <a:lnSpc>
                <a:spcPct val="90000"/>
              </a:lnSpc>
              <a:buSzPct val="75000"/>
            </a:pPr>
            <a:r>
              <a:rPr lang="en-US" altLang="zh-CN" sz="2000">
                <a:solidFill>
                  <a:srgbClr val="000000"/>
                </a:solidFill>
                <a:latin typeface="+mn-lt"/>
                <a:ea typeface="+mn-ea"/>
                <a:cs typeface="+mn-cs"/>
              </a:rPr>
              <a:t>    v_number:=10;</a:t>
            </a:r>
          </a:p>
          <a:p>
            <a:pPr eaLnBrk="1" hangingPunct="1">
              <a:lnSpc>
                <a:spcPct val="90000"/>
              </a:lnSpc>
              <a:buSzPct val="75000"/>
            </a:pPr>
            <a:r>
              <a:rPr lang="en-US" altLang="zh-CN" sz="2000">
                <a:solidFill>
                  <a:srgbClr val="000000"/>
                </a:solidFill>
                <a:latin typeface="+mn-lt"/>
                <a:ea typeface="+mn-ea"/>
                <a:cs typeface="+mn-cs"/>
              </a:rPr>
              <a:t>EXCEPTION</a:t>
            </a:r>
          </a:p>
          <a:p>
            <a:pPr eaLnBrk="1" hangingPunct="1">
              <a:lnSpc>
                <a:spcPct val="90000"/>
              </a:lnSpc>
              <a:buSzPct val="75000"/>
            </a:pPr>
            <a:r>
              <a:rPr lang="en-US" altLang="zh-CN" sz="2000">
                <a:solidFill>
                  <a:srgbClr val="000000"/>
                </a:solidFill>
                <a:latin typeface="+mn-lt"/>
                <a:ea typeface="+mn-ea"/>
                <a:cs typeface="+mn-cs"/>
              </a:rPr>
              <a:t>    WHEN OTHERS THEN</a:t>
            </a:r>
          </a:p>
          <a:p>
            <a:pPr eaLnBrk="1" hangingPunct="1">
              <a:lnSpc>
                <a:spcPct val="90000"/>
              </a:lnSpc>
              <a:buSzPct val="75000"/>
            </a:pPr>
            <a:r>
              <a:rPr lang="en-US" altLang="zh-CN" sz="2000">
                <a:solidFill>
                  <a:srgbClr val="000000"/>
                </a:solidFill>
                <a:latin typeface="+mn-lt"/>
                <a:ea typeface="+mn-ea"/>
                <a:cs typeface="+mn-cs"/>
              </a:rPr>
              <a:t>      DBMS_OUTPUT.PUT_LINE('This is outputted by inner block! ');</a:t>
            </a:r>
          </a:p>
          <a:p>
            <a:pPr eaLnBrk="1" hangingPunct="1">
              <a:lnSpc>
                <a:spcPct val="90000"/>
              </a:lnSpc>
              <a:buSzPct val="75000"/>
            </a:pPr>
            <a:r>
              <a:rPr lang="en-US" altLang="zh-CN" sz="2000">
                <a:solidFill>
                  <a:srgbClr val="000000"/>
                </a:solidFill>
                <a:latin typeface="+mn-lt"/>
                <a:ea typeface="+mn-ea"/>
                <a:cs typeface="+mn-cs"/>
              </a:rPr>
              <a:t>  END;</a:t>
            </a:r>
          </a:p>
          <a:p>
            <a:pPr eaLnBrk="1" hangingPunct="1">
              <a:lnSpc>
                <a:spcPct val="90000"/>
              </a:lnSpc>
              <a:buSzPct val="75000"/>
            </a:pPr>
            <a:r>
              <a:rPr lang="en-US" altLang="zh-CN" sz="2000">
                <a:solidFill>
                  <a:srgbClr val="000000"/>
                </a:solidFill>
                <a:latin typeface="+mn-lt"/>
                <a:ea typeface="+mn-ea"/>
                <a:cs typeface="+mn-cs"/>
              </a:rPr>
              <a:t>EXCEPTION</a:t>
            </a:r>
          </a:p>
          <a:p>
            <a:pPr eaLnBrk="1" hangingPunct="1">
              <a:lnSpc>
                <a:spcPct val="90000"/>
              </a:lnSpc>
              <a:buSzPct val="75000"/>
            </a:pPr>
            <a:r>
              <a:rPr lang="en-US" altLang="zh-CN" sz="2000">
                <a:solidFill>
                  <a:srgbClr val="000000"/>
                </a:solidFill>
                <a:latin typeface="+mn-lt"/>
                <a:ea typeface="+mn-ea"/>
                <a:cs typeface="+mn-cs"/>
              </a:rPr>
              <a:t>WHEN OTHERS THEN</a:t>
            </a:r>
          </a:p>
          <a:p>
            <a:pPr eaLnBrk="1" hangingPunct="1">
              <a:lnSpc>
                <a:spcPct val="90000"/>
              </a:lnSpc>
              <a:buSzPct val="75000"/>
            </a:pPr>
            <a:r>
              <a:rPr lang="en-US" altLang="zh-CN" sz="2000">
                <a:solidFill>
                  <a:srgbClr val="000000"/>
                </a:solidFill>
                <a:latin typeface="+mn-lt"/>
                <a:ea typeface="+mn-ea"/>
                <a:cs typeface="+mn-cs"/>
              </a:rPr>
              <a:t>    DBMS_OUTPUT.PUT_LINE('This is outputted by outer block! ');</a:t>
            </a:r>
          </a:p>
          <a:p>
            <a:pPr eaLnBrk="1" hangingPunct="1">
              <a:lnSpc>
                <a:spcPct val="90000"/>
              </a:lnSpc>
              <a:buSzPct val="75000"/>
            </a:pPr>
            <a:r>
              <a:rPr lang="en-US" altLang="zh-CN" sz="2000">
                <a:solidFill>
                  <a:srgbClr val="000000"/>
                </a:solidFill>
                <a:latin typeface="+mn-lt"/>
                <a:ea typeface="+mn-ea"/>
                <a:cs typeface="+mn-cs"/>
              </a:rPr>
              <a:t>END; </a:t>
            </a:r>
          </a:p>
        </p:txBody>
      </p:sp>
      <p:sp>
        <p:nvSpPr>
          <p:cNvPr id="126978"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122</a:t>
            </a:fld>
            <a:endParaRPr lang="en-US" altLang="zh-CN">
              <a:solidFill>
                <a:srgbClr val="898989"/>
              </a:solidFill>
              <a:ea typeface="宋体" panose="02010600030101010101" pitchFamily="2" charset="-122"/>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8003" name="Rectangle 2"/>
          <p:cNvSpPr>
            <a:spLocks noGrp="1"/>
          </p:cNvSpPr>
          <p:nvPr>
            <p:ph type="title"/>
          </p:nvPr>
        </p:nvSpPr>
        <p:spPr>
          <a:xfrm>
            <a:off x="1179226" y="826680"/>
            <a:ext cx="9833548" cy="1325563"/>
          </a:xfrm>
        </p:spPr>
        <p:txBody>
          <a:bodyPr vert="horz" lIns="121920" tIns="60960" rIns="121920" bIns="60960">
            <a:normAutofit/>
          </a:bodyPr>
          <a:lstStyle/>
          <a:p>
            <a:pPr eaLnBrk="1" hangingPunct="1"/>
            <a:endParaRPr lang="zh-CN" altLang="zh-CN">
              <a:solidFill>
                <a:srgbClr val="FFFFFF"/>
              </a:solidFill>
              <a:latin typeface="+mj-lt"/>
              <a:ea typeface="+mj-ea"/>
              <a:cs typeface="+mj-cs"/>
            </a:endParaRPr>
          </a:p>
        </p:txBody>
      </p:sp>
      <p:sp>
        <p:nvSpPr>
          <p:cNvPr id="128004" name="Rectangle 3"/>
          <p:cNvSpPr>
            <a:spLocks noGrp="1"/>
          </p:cNvSpPr>
          <p:nvPr>
            <p:ph idx="1"/>
          </p:nvPr>
        </p:nvSpPr>
        <p:spPr>
          <a:xfrm>
            <a:off x="1179226" y="3092970"/>
            <a:ext cx="9833548" cy="2693976"/>
          </a:xfrm>
        </p:spPr>
        <p:txBody>
          <a:bodyPr vert="horz" lIns="121920" tIns="60960" rIns="121920" bIns="60960">
            <a:normAutofit/>
          </a:bodyPr>
          <a:lstStyle/>
          <a:p>
            <a:pPr eaLnBrk="1" hangingPunct="1">
              <a:buSzPct val="75000"/>
            </a:pPr>
            <a:r>
              <a:rPr lang="zh-CN" altLang="en-US" sz="2000">
                <a:solidFill>
                  <a:srgbClr val="000000"/>
                </a:solidFill>
                <a:latin typeface="+mn-lt"/>
                <a:ea typeface="+mn-ea"/>
                <a:cs typeface="+mn-cs"/>
              </a:rPr>
              <a:t>结论</a:t>
            </a:r>
          </a:p>
          <a:p>
            <a:pPr lvl="1" eaLnBrk="1" hangingPunct="1">
              <a:buSzPct val="75000"/>
            </a:pPr>
            <a:r>
              <a:rPr lang="zh-CN" altLang="en-US" sz="2000">
                <a:solidFill>
                  <a:srgbClr val="000000"/>
                </a:solidFill>
                <a:latin typeface="+mn-lt"/>
                <a:ea typeface="华文仿宋" panose="02010600040101010101" pitchFamily="2" charset="-122"/>
              </a:rPr>
              <a:t>无论是执行部分的异常，还是声明部分或异常处理部分的异常，如果在本块中没有处理，最终都将向外层块中传播。</a:t>
            </a:r>
          </a:p>
          <a:p>
            <a:pPr lvl="1" eaLnBrk="1" hangingPunct="1">
              <a:buSzPct val="75000"/>
            </a:pPr>
            <a:r>
              <a:rPr lang="zh-CN" altLang="en-US" sz="2000">
                <a:solidFill>
                  <a:srgbClr val="000000"/>
                </a:solidFill>
                <a:latin typeface="+mn-lt"/>
                <a:ea typeface="华文仿宋" panose="02010600040101010101" pitchFamily="2" charset="-122"/>
              </a:rPr>
              <a:t>通常在程序最外层块的异常处理部分放置</a:t>
            </a:r>
            <a:r>
              <a:rPr lang="en-US" altLang="zh-CN" sz="2000">
                <a:solidFill>
                  <a:srgbClr val="000000"/>
                </a:solidFill>
                <a:latin typeface="+mn-lt"/>
                <a:ea typeface="华文仿宋" panose="02010600040101010101" pitchFamily="2" charset="-122"/>
              </a:rPr>
              <a:t>OTHERS</a:t>
            </a:r>
            <a:r>
              <a:rPr lang="zh-CN" altLang="en-US" sz="2000">
                <a:solidFill>
                  <a:srgbClr val="000000"/>
                </a:solidFill>
                <a:latin typeface="+mn-lt"/>
                <a:ea typeface="华文仿宋" panose="02010600040101010101" pitchFamily="2" charset="-122"/>
              </a:rPr>
              <a:t>异常处理器，以保证没有错误被漏掉检测，否则错误将传递到调用环境</a:t>
            </a:r>
            <a:r>
              <a:rPr lang="zh-CN" altLang="en-US" sz="2000" b="0">
                <a:solidFill>
                  <a:srgbClr val="000000"/>
                </a:solidFill>
                <a:latin typeface="+mn-lt"/>
                <a:ea typeface="华文仿宋" panose="02010600040101010101" pitchFamily="2" charset="-122"/>
              </a:rPr>
              <a:t>。</a:t>
            </a:r>
          </a:p>
        </p:txBody>
      </p:sp>
      <p:sp>
        <p:nvSpPr>
          <p:cNvPr id="128002"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a:solidFill>
                  <a:srgbClr val="898989"/>
                </a:solidFill>
                <a:ea typeface="宋体" panose="02010600030101010101" pitchFamily="2" charset="-122"/>
              </a:rPr>
              <a:pPr marL="0" indent="0" eaLnBrk="1" hangingPunct="1">
                <a:spcBef>
                  <a:spcPct val="0"/>
                </a:spcBef>
                <a:spcAft>
                  <a:spcPts val="600"/>
                </a:spcAft>
                <a:buClrTx/>
                <a:buSzTx/>
                <a:buFontTx/>
                <a:buNone/>
              </a:pPr>
              <a:t>123</a:t>
            </a:fld>
            <a:endParaRPr lang="en-US" altLang="zh-CN">
              <a:solidFill>
                <a:srgbClr val="898989"/>
              </a:solidFill>
              <a:ea typeface="宋体" panose="02010600030101010101" pitchFamily="2" charset="-122"/>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9032" name="Rectangle 73">
            <a:extLst>
              <a:ext uri="{FF2B5EF4-FFF2-40B4-BE49-F238E27FC236}">
                <a16:creationId xmlns:a16="http://schemas.microsoft.com/office/drawing/2014/main" id="{49CD2D09-B1BB-4DF5-9E1C-3D21B21EDE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20431" y="0"/>
            <a:ext cx="6271569" cy="6858000"/>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9033" name="Picture 75">
            <a:extLst>
              <a:ext uri="{FF2B5EF4-FFF2-40B4-BE49-F238E27FC236}">
                <a16:creationId xmlns:a16="http://schemas.microsoft.com/office/drawing/2014/main" id="{83355637-BA71-4F63-94C9-E77BF81BDFC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129027" name="Rectangle 2"/>
          <p:cNvSpPr>
            <a:spLocks noGrp="1"/>
          </p:cNvSpPr>
          <p:nvPr>
            <p:ph type="title"/>
          </p:nvPr>
        </p:nvSpPr>
        <p:spPr>
          <a:xfrm>
            <a:off x="804998" y="798445"/>
            <a:ext cx="4803636" cy="1311664"/>
          </a:xfrm>
        </p:spPr>
        <p:txBody>
          <a:bodyPr vert="horz" lIns="121920" tIns="60960" rIns="121920" bIns="60960">
            <a:normAutofit/>
          </a:bodyPr>
          <a:lstStyle/>
          <a:p>
            <a:pPr eaLnBrk="1" hangingPunct="1"/>
            <a:r>
              <a:rPr lang="zh-CN" altLang="en-US">
                <a:solidFill>
                  <a:srgbClr val="000000"/>
                </a:solidFill>
                <a:latin typeface="+mj-lt"/>
                <a:ea typeface="+mj-ea"/>
                <a:cs typeface="+mj-cs"/>
              </a:rPr>
              <a:t>总结</a:t>
            </a:r>
          </a:p>
        </p:txBody>
      </p:sp>
      <p:sp>
        <p:nvSpPr>
          <p:cNvPr id="129028" name="Rectangle 3"/>
          <p:cNvSpPr>
            <a:spLocks noGrp="1"/>
          </p:cNvSpPr>
          <p:nvPr>
            <p:ph idx="1"/>
          </p:nvPr>
        </p:nvSpPr>
        <p:spPr>
          <a:xfrm>
            <a:off x="804997" y="2272143"/>
            <a:ext cx="4706803" cy="3788830"/>
          </a:xfrm>
        </p:spPr>
        <p:txBody>
          <a:bodyPr vert="horz" lIns="121920" tIns="60960" rIns="121920" bIns="60960" anchor="ctr">
            <a:normAutofit/>
          </a:bodyPr>
          <a:lstStyle/>
          <a:p>
            <a:pPr eaLnBrk="1" hangingPunct="1">
              <a:buSzPct val="75000"/>
            </a:pPr>
            <a:r>
              <a:rPr lang="en-US" altLang="zh-CN" sz="2000">
                <a:solidFill>
                  <a:srgbClr val="000000"/>
                </a:solidFill>
                <a:latin typeface="+mn-lt"/>
                <a:ea typeface="+mn-ea"/>
                <a:cs typeface="+mn-cs"/>
              </a:rPr>
              <a:t>PL/SQL</a:t>
            </a:r>
            <a:r>
              <a:rPr lang="zh-CN" altLang="en-US" sz="2000">
                <a:solidFill>
                  <a:srgbClr val="000000"/>
                </a:solidFill>
                <a:latin typeface="+mn-lt"/>
                <a:ea typeface="+mn-ea"/>
                <a:cs typeface="+mn-cs"/>
              </a:rPr>
              <a:t>程序结构</a:t>
            </a:r>
          </a:p>
          <a:p>
            <a:pPr eaLnBrk="1" hangingPunct="1">
              <a:buSzPct val="75000"/>
            </a:pPr>
            <a:r>
              <a:rPr lang="zh-CN" altLang="en-US" sz="2000">
                <a:solidFill>
                  <a:srgbClr val="000000"/>
                </a:solidFill>
                <a:latin typeface="+mn-lt"/>
                <a:ea typeface="+mn-ea"/>
                <a:cs typeface="+mn-cs"/>
              </a:rPr>
              <a:t>词法单元</a:t>
            </a:r>
            <a:endParaRPr lang="en-US" altLang="zh-CN" sz="2000">
              <a:solidFill>
                <a:srgbClr val="000000"/>
              </a:solidFill>
              <a:latin typeface="+mn-lt"/>
              <a:ea typeface="+mn-ea"/>
              <a:cs typeface="+mn-cs"/>
            </a:endParaRPr>
          </a:p>
          <a:p>
            <a:pPr eaLnBrk="1" hangingPunct="1">
              <a:buSzPct val="75000"/>
            </a:pPr>
            <a:r>
              <a:rPr lang="zh-CN" altLang="en-US" sz="2000">
                <a:solidFill>
                  <a:srgbClr val="000000"/>
                </a:solidFill>
                <a:latin typeface="+mn-lt"/>
                <a:ea typeface="+mn-ea"/>
                <a:cs typeface="+mn-cs"/>
              </a:rPr>
              <a:t>数据类型、常量与变量</a:t>
            </a:r>
            <a:endParaRPr lang="en-US" altLang="zh-CN" sz="2000">
              <a:solidFill>
                <a:srgbClr val="000000"/>
              </a:solidFill>
              <a:latin typeface="+mn-lt"/>
              <a:ea typeface="+mn-ea"/>
              <a:cs typeface="+mn-cs"/>
            </a:endParaRPr>
          </a:p>
          <a:p>
            <a:pPr eaLnBrk="1" hangingPunct="1">
              <a:buSzPct val="75000"/>
            </a:pPr>
            <a:r>
              <a:rPr lang="zh-CN" altLang="en-US" sz="2000">
                <a:solidFill>
                  <a:srgbClr val="000000"/>
                </a:solidFill>
                <a:latin typeface="+mn-lt"/>
                <a:ea typeface="+mn-ea"/>
                <a:cs typeface="+mn-cs"/>
              </a:rPr>
              <a:t>控制结构</a:t>
            </a:r>
            <a:endParaRPr lang="en-US" altLang="zh-CN" sz="2000">
              <a:solidFill>
                <a:srgbClr val="000000"/>
              </a:solidFill>
              <a:latin typeface="+mn-lt"/>
              <a:ea typeface="+mn-ea"/>
              <a:cs typeface="+mn-cs"/>
            </a:endParaRPr>
          </a:p>
          <a:p>
            <a:pPr eaLnBrk="1" hangingPunct="1">
              <a:buSzPct val="75000"/>
            </a:pPr>
            <a:r>
              <a:rPr lang="zh-CN" altLang="en-US" sz="2000">
                <a:solidFill>
                  <a:srgbClr val="000000"/>
                </a:solidFill>
                <a:latin typeface="+mn-lt"/>
                <a:ea typeface="+mn-ea"/>
                <a:cs typeface="+mn-cs"/>
              </a:rPr>
              <a:t>游标</a:t>
            </a:r>
            <a:endParaRPr lang="en-US" altLang="zh-CN" sz="2000">
              <a:solidFill>
                <a:srgbClr val="000000"/>
              </a:solidFill>
              <a:latin typeface="+mn-lt"/>
              <a:ea typeface="+mn-ea"/>
              <a:cs typeface="+mn-cs"/>
            </a:endParaRPr>
          </a:p>
          <a:p>
            <a:pPr eaLnBrk="1" hangingPunct="1">
              <a:buSzPct val="75000"/>
            </a:pPr>
            <a:r>
              <a:rPr lang="zh-CN" altLang="en-US" sz="2000">
                <a:solidFill>
                  <a:srgbClr val="000000"/>
                </a:solidFill>
                <a:latin typeface="+mn-lt"/>
                <a:ea typeface="+mn-ea"/>
                <a:cs typeface="+mn-cs"/>
              </a:rPr>
              <a:t>异常处理</a:t>
            </a:r>
          </a:p>
          <a:p>
            <a:pPr eaLnBrk="1" hangingPunct="1">
              <a:buSzPct val="75000"/>
            </a:pPr>
            <a:endParaRPr lang="en-US" altLang="zh-CN" sz="2000">
              <a:solidFill>
                <a:srgbClr val="000000"/>
              </a:solidFill>
              <a:latin typeface="+mn-lt"/>
              <a:ea typeface="+mn-ea"/>
              <a:cs typeface="+mn-cs"/>
            </a:endParaRPr>
          </a:p>
        </p:txBody>
      </p:sp>
      <p:sp>
        <p:nvSpPr>
          <p:cNvPr id="129034" name="Freeform 49">
            <a:extLst>
              <a:ext uri="{FF2B5EF4-FFF2-40B4-BE49-F238E27FC236}">
                <a16:creationId xmlns:a16="http://schemas.microsoft.com/office/drawing/2014/main" id="{967C29FE-FD32-4AFB-AD20-DBDF5864B2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13915" y="590635"/>
            <a:ext cx="5478085" cy="6276841"/>
          </a:xfrm>
          <a:custGeom>
            <a:avLst/>
            <a:gdLst>
              <a:gd name="connsiteX0" fmla="*/ 2178155 w 5478085"/>
              <a:gd name="connsiteY0" fmla="*/ 0 h 6276841"/>
              <a:gd name="connsiteX1" fmla="*/ 5478085 w 5478085"/>
              <a:gd name="connsiteY1" fmla="*/ 3299930 h 6276841"/>
              <a:gd name="connsiteX2" fmla="*/ 3751098 w 5478085"/>
              <a:gd name="connsiteY2" fmla="*/ 6201577 h 6276841"/>
              <a:gd name="connsiteX3" fmla="*/ 3594858 w 5478085"/>
              <a:gd name="connsiteY3" fmla="*/ 6276841 h 6276841"/>
              <a:gd name="connsiteX4" fmla="*/ 761453 w 5478085"/>
              <a:gd name="connsiteY4" fmla="*/ 6276841 h 6276841"/>
              <a:gd name="connsiteX5" fmla="*/ 605213 w 5478085"/>
              <a:gd name="connsiteY5" fmla="*/ 6201577 h 6276841"/>
              <a:gd name="connsiteX6" fmla="*/ 79093 w 5478085"/>
              <a:gd name="connsiteY6" fmla="*/ 5846317 h 6276841"/>
              <a:gd name="connsiteX7" fmla="*/ 0 w 5478085"/>
              <a:gd name="connsiteY7" fmla="*/ 5774432 h 6276841"/>
              <a:gd name="connsiteX8" fmla="*/ 0 w 5478085"/>
              <a:gd name="connsiteY8" fmla="*/ 825429 h 6276841"/>
              <a:gd name="connsiteX9" fmla="*/ 79093 w 5478085"/>
              <a:gd name="connsiteY9" fmla="*/ 753544 h 6276841"/>
              <a:gd name="connsiteX10" fmla="*/ 2178155 w 5478085"/>
              <a:gd name="connsiteY10" fmla="*/ 0 h 627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8085" h="6276841">
                <a:moveTo>
                  <a:pt x="2178155" y="0"/>
                </a:moveTo>
                <a:cubicBezTo>
                  <a:pt x="4000656" y="0"/>
                  <a:pt x="5478085" y="1477429"/>
                  <a:pt x="5478085" y="3299930"/>
                </a:cubicBezTo>
                <a:cubicBezTo>
                  <a:pt x="5478085" y="4552900"/>
                  <a:pt x="4779769" y="5642769"/>
                  <a:pt x="3751098" y="6201577"/>
                </a:cubicBezTo>
                <a:lnTo>
                  <a:pt x="3594858" y="6276841"/>
                </a:lnTo>
                <a:lnTo>
                  <a:pt x="761453" y="6276841"/>
                </a:lnTo>
                <a:lnTo>
                  <a:pt x="605213" y="6201577"/>
                </a:lnTo>
                <a:cubicBezTo>
                  <a:pt x="418182" y="6099975"/>
                  <a:pt x="242071" y="5980818"/>
                  <a:pt x="79093" y="5846317"/>
                </a:cubicBezTo>
                <a:lnTo>
                  <a:pt x="0" y="5774432"/>
                </a:lnTo>
                <a:lnTo>
                  <a:pt x="0" y="825429"/>
                </a:lnTo>
                <a:lnTo>
                  <a:pt x="79093" y="753544"/>
                </a:lnTo>
                <a:cubicBezTo>
                  <a:pt x="649516" y="282789"/>
                  <a:pt x="1380811" y="0"/>
                  <a:pt x="2178155" y="0"/>
                </a:cubicBezTo>
                <a:close/>
              </a:path>
            </a:pathLst>
          </a:custGeom>
          <a:solidFill>
            <a:srgbClr val="FFFFFF"/>
          </a:solidFill>
          <a:ln>
            <a:gradFill>
              <a:gsLst>
                <a:gs pos="0">
                  <a:schemeClr val="accent1"/>
                </a:gs>
                <a:gs pos="23000">
                  <a:schemeClr val="accent1"/>
                </a:gs>
                <a:gs pos="83000">
                  <a:schemeClr val="accent5"/>
                </a:gs>
                <a:gs pos="100000">
                  <a:schemeClr val="accent5"/>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29035" name="Picture 129029">
            <a:extLst>
              <a:ext uri="{FF2B5EF4-FFF2-40B4-BE49-F238E27FC236}">
                <a16:creationId xmlns:a16="http://schemas.microsoft.com/office/drawing/2014/main" id="{9F4C069A-882B-4B02-8E64-5E37E7B4B99A}"/>
              </a:ext>
            </a:extLst>
          </p:cNvPr>
          <p:cNvPicPr>
            <a:picLocks noChangeAspect="1"/>
          </p:cNvPicPr>
          <p:nvPr/>
        </p:nvPicPr>
        <p:blipFill rotWithShape="1">
          <a:blip r:embed="rId3"/>
          <a:srcRect l="36912" r="5083" b="1"/>
          <a:stretch/>
        </p:blipFill>
        <p:spPr>
          <a:xfrm>
            <a:off x="6893318" y="770037"/>
            <a:ext cx="5298683" cy="6097438"/>
          </a:xfrm>
          <a:custGeom>
            <a:avLst/>
            <a:gdLst/>
            <a:ahLst/>
            <a:cxnLst/>
            <a:rect l="l" t="t" r="r" b="b"/>
            <a:pathLst>
              <a:path w="5298683" h="6097438">
                <a:moveTo>
                  <a:pt x="3120528" y="0"/>
                </a:moveTo>
                <a:cubicBezTo>
                  <a:pt x="3874524" y="0"/>
                  <a:pt x="4566062" y="267415"/>
                  <a:pt x="5105473" y="712577"/>
                </a:cubicBezTo>
                <a:lnTo>
                  <a:pt x="5298683" y="888178"/>
                </a:lnTo>
                <a:lnTo>
                  <a:pt x="5298683" y="5352876"/>
                </a:lnTo>
                <a:lnTo>
                  <a:pt x="5105473" y="5528477"/>
                </a:lnTo>
                <a:cubicBezTo>
                  <a:pt x="4874296" y="5719261"/>
                  <a:pt x="4615179" y="5877397"/>
                  <a:pt x="4335177" y="5995828"/>
                </a:cubicBezTo>
                <a:lnTo>
                  <a:pt x="4057556" y="6097438"/>
                </a:lnTo>
                <a:lnTo>
                  <a:pt x="2183499" y="6097438"/>
                </a:lnTo>
                <a:lnTo>
                  <a:pt x="1905878" y="5995828"/>
                </a:lnTo>
                <a:cubicBezTo>
                  <a:pt x="785873" y="5522106"/>
                  <a:pt x="0" y="4413092"/>
                  <a:pt x="0" y="3120527"/>
                </a:cubicBezTo>
                <a:cubicBezTo>
                  <a:pt x="0" y="1397108"/>
                  <a:pt x="1397108" y="0"/>
                  <a:pt x="3120528" y="0"/>
                </a:cubicBezTo>
                <a:close/>
              </a:path>
            </a:pathLst>
          </a:custGeom>
        </p:spPr>
      </p:pic>
      <p:sp>
        <p:nvSpPr>
          <p:cNvPr id="129026" name="灯片编号占位符 5"/>
          <p:cNvSpPr txBox="1">
            <a:spLocks noGrp="1"/>
          </p:cNvSpPr>
          <p:nvPr>
            <p:ph type="sldNum" sz="quarter" idx="12"/>
          </p:nvPr>
        </p:nvSpPr>
        <p:spPr>
          <a:xfrm>
            <a:off x="10825930" y="6223702"/>
            <a:ext cx="570728" cy="314067"/>
          </a:xfrm>
        </p:spPr>
        <p:txBody>
          <a:bodyPr>
            <a:normAutofit/>
          </a:bodyPr>
          <a:lstStyle/>
          <a:p>
            <a:pPr marL="0" indent="0" eaLnBrk="1" hangingPunct="1">
              <a:spcBef>
                <a:spcPct val="0"/>
              </a:spcBef>
              <a:spcAft>
                <a:spcPts val="600"/>
              </a:spcAft>
              <a:buClrTx/>
              <a:buSzTx/>
              <a:buFontTx/>
              <a:buNone/>
            </a:pPr>
            <a:fld id="{9A0DB2DC-4C9A-4742-B13C-FB6460FD3503}" type="slidenum">
              <a:rPr lang="en-US" altLang="zh-CN" sz="1100">
                <a:solidFill>
                  <a:srgbClr val="FFFFFF"/>
                </a:solidFill>
                <a:ea typeface="宋体" panose="02010600030101010101" pitchFamily="2" charset="-122"/>
              </a:rPr>
              <a:pPr marL="0" indent="0" eaLnBrk="1" hangingPunct="1">
                <a:spcBef>
                  <a:spcPct val="0"/>
                </a:spcBef>
                <a:spcAft>
                  <a:spcPts val="600"/>
                </a:spcAft>
                <a:buClrTx/>
                <a:buSzTx/>
                <a:buFontTx/>
                <a:buNone/>
              </a:pPr>
              <a:t>124</a:t>
            </a:fld>
            <a:endParaRPr lang="en-US" altLang="zh-CN" sz="1100">
              <a:solidFill>
                <a:srgbClr val="FFFFFF"/>
              </a:solidFill>
              <a:ea typeface="宋体" panose="02010600030101010101" pitchFamily="2" charset="-122"/>
            </a:endParaRPr>
          </a:p>
        </p:txBody>
      </p:sp>
    </p:spTree>
  </p:cSld>
  <p:clrMapOvr>
    <a:masterClrMapping/>
  </p:clrMapOvr>
</p:sld>
</file>

<file path=ppt/theme/theme1.xml><?xml version="1.0" encoding="utf-8"?>
<a:theme xmlns:a="http://schemas.openxmlformats.org/drawingml/2006/main" name="Level">
  <a:themeElements>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Level">
      <a:majorFont>
        <a:latin typeface="Garamond"/>
        <a:ea typeface="宋体"/>
        <a:cs typeface=""/>
      </a:majorFont>
      <a:minorFont>
        <a:latin typeface="Verdana"/>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9054</Words>
  <Application>Microsoft Office PowerPoint</Application>
  <PresentationFormat>宽屏</PresentationFormat>
  <Paragraphs>1238</Paragraphs>
  <Slides>124</Slides>
  <Notes>4</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124</vt:i4>
      </vt:variant>
    </vt:vector>
  </HeadingPairs>
  <TitlesOfParts>
    <vt:vector size="135" baseType="lpstr">
      <vt:lpstr>Courier</vt:lpstr>
      <vt:lpstr>黑体</vt:lpstr>
      <vt:lpstr>华文仿宋</vt:lpstr>
      <vt:lpstr>宋体</vt:lpstr>
      <vt:lpstr>Arial</vt:lpstr>
      <vt:lpstr>Calibri</vt:lpstr>
      <vt:lpstr>Garamond</vt:lpstr>
      <vt:lpstr>Times New Roman</vt:lpstr>
      <vt:lpstr>Verdana</vt:lpstr>
      <vt:lpstr>Wingdings</vt:lpstr>
      <vt:lpstr>Level</vt:lpstr>
      <vt:lpstr>第9章  PL/SQL语言基础</vt:lpstr>
      <vt:lpstr>主要内容</vt:lpstr>
      <vt:lpstr>9.1  PL/SQL语言简介</vt:lpstr>
      <vt:lpstr>9.2  PL/SQL程序结构</vt:lpstr>
      <vt:lpstr>（1）PL/SQL块的组成</vt:lpstr>
      <vt:lpstr>PowerPoint 演示文稿</vt:lpstr>
      <vt:lpstr>PowerPoint 演示文稿</vt:lpstr>
      <vt:lpstr>PowerPoint 演示文稿</vt:lpstr>
      <vt:lpstr>PowerPoint 演示文稿</vt:lpstr>
      <vt:lpstr>PowerPoint 演示文稿</vt:lpstr>
      <vt:lpstr>（2）PL/SQL块分类</vt:lpstr>
      <vt:lpstr>PowerPoint 演示文稿</vt:lpstr>
      <vt:lpstr>9.3 词法单元</vt:lpstr>
      <vt:lpstr>（1）字符集</vt:lpstr>
      <vt:lpstr>（2）标识符</vt:lpstr>
      <vt:lpstr>（3）分隔符</vt:lpstr>
      <vt:lpstr>（4）常量值</vt:lpstr>
      <vt:lpstr>（5）注释</vt:lpstr>
      <vt:lpstr>9.4  数据类型、变量与常量</vt:lpstr>
      <vt:lpstr>PowerPoint 演示文稿</vt:lpstr>
      <vt:lpstr>PowerPoint 演示文稿</vt:lpstr>
      <vt:lpstr>PowerPoint 演示文稿</vt:lpstr>
      <vt:lpstr>PowerPoint 演示文稿</vt:lpstr>
      <vt:lpstr>9.4.2 变量与常量</vt:lpstr>
      <vt:lpstr>（1）变量与常量的定义</vt:lpstr>
      <vt:lpstr>PowerPoint 演示文稿</vt:lpstr>
      <vt:lpstr>（2）变量的作用域</vt:lpstr>
      <vt:lpstr>PowerPoint 演示文稿</vt:lpstr>
      <vt:lpstr>9.5 PL/SQL中SQL语句</vt:lpstr>
      <vt:lpstr>PowerPoint 演示文稿</vt:lpstr>
      <vt:lpstr>PowerPoint 演示文稿</vt:lpstr>
      <vt:lpstr>PowerPoint 演示文稿</vt:lpstr>
      <vt:lpstr>PowerPoint 演示文稿</vt:lpstr>
      <vt:lpstr>PowerPoint 演示文稿</vt:lpstr>
      <vt:lpstr>PowerPoint 演示文稿</vt:lpstr>
      <vt:lpstr>9.6控制结构 </vt:lpstr>
      <vt:lpstr>9.6.1选择结构</vt:lpstr>
      <vt:lpstr>（1）IF语句</vt:lpstr>
      <vt:lpstr>PowerPoint 演示文稿</vt:lpstr>
      <vt:lpstr>PowerPoint 演示文稿</vt:lpstr>
      <vt:lpstr>PowerPoint 演示文稿</vt:lpstr>
      <vt:lpstr>PowerPoint 演示文稿</vt:lpstr>
      <vt:lpstr>PowerPoint 演示文稿</vt:lpstr>
      <vt:lpstr>（2）CASE语句</vt:lpstr>
      <vt:lpstr>PowerPoint 演示文稿</vt:lpstr>
      <vt:lpstr>PowerPoint 演示文稿</vt:lpstr>
      <vt:lpstr>PowerPoint 演示文稿</vt:lpstr>
      <vt:lpstr>PowerPoint 演示文稿</vt:lpstr>
      <vt:lpstr>9.6.2循环结构</vt:lpstr>
      <vt:lpstr>（1）简单循环</vt:lpstr>
      <vt:lpstr>PowerPoint 演示文稿</vt:lpstr>
      <vt:lpstr>（2）WHILE循环</vt:lpstr>
      <vt:lpstr>PowerPoint 演示文稿</vt:lpstr>
      <vt:lpstr>（3）FOR循环</vt:lpstr>
      <vt:lpstr>PowerPoint 演示文稿</vt:lpstr>
      <vt:lpstr>9.6.3跳转结构</vt:lpstr>
      <vt:lpstr>PowerPoint 演示文稿</vt:lpstr>
      <vt:lpstr>9.7 游标</vt:lpstr>
      <vt:lpstr>9.7.1  游标的概念与分类</vt:lpstr>
      <vt:lpstr>PowerPoint 演示文稿</vt:lpstr>
      <vt:lpstr>9.7.2  显式游标操作过程</vt:lpstr>
      <vt:lpstr>PowerPoint 演示文稿</vt:lpstr>
      <vt:lpstr>PowerPoint 演示文稿</vt:lpstr>
      <vt:lpstr>PowerPoint 演示文稿</vt:lpstr>
      <vt:lpstr>PowerPoint 演示文稿</vt:lpstr>
      <vt:lpstr>PowerPoint 演示文稿</vt:lpstr>
      <vt:lpstr>PowerPoint 演示文稿</vt:lpstr>
      <vt:lpstr>9.7.3  显式游标属性</vt:lpstr>
      <vt:lpstr>9.7.4  显式游标的检索</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9.7.5 隐式游标</vt:lpstr>
      <vt:lpstr>PowerPoint 演示文稿</vt:lpstr>
      <vt:lpstr>PowerPoint 演示文稿</vt:lpstr>
      <vt:lpstr>PowerPoint 演示文稿</vt:lpstr>
      <vt:lpstr>PowerPoint 演示文稿</vt:lpstr>
      <vt:lpstr>9.7.6  游标变量</vt:lpstr>
      <vt:lpstr>（1）定义游标引用类型及游标变量 </vt:lpstr>
      <vt:lpstr>PowerPoint 演示文稿</vt:lpstr>
      <vt:lpstr>（2）打开游标变量</vt:lpstr>
      <vt:lpstr>（3）检索游标变量</vt:lpstr>
      <vt:lpstr>（4）关闭游标变量</vt:lpstr>
      <vt:lpstr>PowerPoint 演示文稿</vt:lpstr>
      <vt:lpstr>PowerPoint 演示文稿</vt:lpstr>
      <vt:lpstr>PowerPoint 演示文稿</vt:lpstr>
      <vt:lpstr>PowerPoint 演示文稿</vt:lpstr>
      <vt:lpstr>PowerPoint 演示文稿</vt:lpstr>
      <vt:lpstr>9.8  异 常 处 理</vt:lpstr>
      <vt:lpstr>9.8.1  异常概述</vt:lpstr>
      <vt:lpstr>（1） Oracle错误处理机制</vt:lpstr>
      <vt:lpstr>（2）异常的类型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9.8.2 异常处理过程</vt:lpstr>
      <vt:lpstr>PowerPoint 演示文稿</vt:lpstr>
      <vt:lpstr>（1）异常的定义</vt:lpstr>
      <vt:lpstr>（2）异常的抛出</vt:lpstr>
      <vt:lpstr>（3）异常的捕获与处理</vt:lpstr>
      <vt:lpstr>PowerPoint 演示文稿</vt:lpstr>
      <vt:lpstr>PowerPoint 演示文稿</vt:lpstr>
      <vt:lpstr>PowerPoint 演示文稿</vt:lpstr>
      <vt:lpstr>（4）OTHERS异常处理器</vt:lpstr>
      <vt:lpstr>PowerPoint 演示文稿</vt:lpstr>
      <vt:lpstr>PowerPoint 演示文稿</vt:lpstr>
      <vt:lpstr>PowerPoint 演示文稿</vt:lpstr>
      <vt:lpstr>9.8.3异常的传播</vt:lpstr>
      <vt:lpstr>（1）执行部分异常的传播</vt:lpstr>
      <vt:lpstr>PowerPoint 演示文稿</vt:lpstr>
      <vt:lpstr>PowerPoint 演示文稿</vt:lpstr>
      <vt:lpstr>（2）声明部分和异常处理部分的异常</vt:lpstr>
      <vt:lpstr>PowerPoint 演示文稿</vt:lpstr>
      <vt:lpstr>PowerPoint 演示文稿</vt:lpstr>
      <vt:lpstr>总结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第9章  PL/SQL语言基础</dc:title>
  <dc:creator>乔 淋漓的冷汗</dc:creator>
  <cp:lastModifiedBy>乔 淋漓的冷汗</cp:lastModifiedBy>
  <cp:revision>1</cp:revision>
  <dcterms:created xsi:type="dcterms:W3CDTF">2020-11-29T13:34:50Z</dcterms:created>
  <dcterms:modified xsi:type="dcterms:W3CDTF">2020-11-29T13:34:59Z</dcterms:modified>
</cp:coreProperties>
</file>